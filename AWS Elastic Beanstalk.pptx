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603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3.xml.rels><?xml version="1.0" encoding="UTF-8" standalone="yes"?>
<Relationships xmlns="http://schemas.openxmlformats.org/package/2006/relationships"><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9" Type="http://schemas.openxmlformats.org/officeDocument/2006/relationships/image" Target="../media/image28.png"/><Relationship Id="rId21" Type="http://schemas.openxmlformats.org/officeDocument/2006/relationships/image" Target="../media/image46.png"/><Relationship Id="rId34" Type="http://schemas.openxmlformats.org/officeDocument/2006/relationships/image" Target="../media/image59.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33" Type="http://schemas.openxmlformats.org/officeDocument/2006/relationships/image" Target="../media/image58.png"/><Relationship Id="rId38"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36.png"/><Relationship Id="rId24" Type="http://schemas.openxmlformats.org/officeDocument/2006/relationships/image" Target="../media/image49.png"/><Relationship Id="rId32" Type="http://schemas.openxmlformats.org/officeDocument/2006/relationships/image" Target="../media/image57.png"/><Relationship Id="rId37" Type="http://schemas.openxmlformats.org/officeDocument/2006/relationships/image" Target="../media/image62.png"/><Relationship Id="rId5" Type="http://schemas.openxmlformats.org/officeDocument/2006/relationships/image" Target="../media/image31.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36" Type="http://schemas.openxmlformats.org/officeDocument/2006/relationships/image" Target="../media/image61.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 Id="rId35" Type="http://schemas.openxmlformats.org/officeDocument/2006/relationships/image" Target="../media/image60.png"/><Relationship Id="rId8" Type="http://schemas.openxmlformats.org/officeDocument/2006/relationships/image" Target="../media/image33.png"/><Relationship Id="rId3"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0.png"/><Relationship Id="rId18" Type="http://schemas.openxmlformats.org/officeDocument/2006/relationships/image" Target="../media/image74.png"/><Relationship Id="rId26" Type="http://schemas.openxmlformats.org/officeDocument/2006/relationships/image" Target="../media/image81.png"/><Relationship Id="rId3" Type="http://schemas.openxmlformats.org/officeDocument/2006/relationships/image" Target="../media/image63.png"/><Relationship Id="rId21" Type="http://schemas.openxmlformats.org/officeDocument/2006/relationships/image" Target="../media/image77.png"/><Relationship Id="rId7" Type="http://schemas.openxmlformats.org/officeDocument/2006/relationships/image" Target="../media/image66.png"/><Relationship Id="rId12" Type="http://schemas.openxmlformats.org/officeDocument/2006/relationships/image" Target="../media/image38.png"/><Relationship Id="rId17" Type="http://schemas.openxmlformats.org/officeDocument/2006/relationships/image" Target="../media/image73.png"/><Relationship Id="rId25" Type="http://schemas.openxmlformats.org/officeDocument/2006/relationships/image" Target="../media/image8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76.png"/><Relationship Id="rId29" Type="http://schemas.openxmlformats.org/officeDocument/2006/relationships/image" Target="../media/image84.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69.png"/><Relationship Id="rId24" Type="http://schemas.openxmlformats.org/officeDocument/2006/relationships/image" Target="../media/image79.png"/><Relationship Id="rId5" Type="http://schemas.openxmlformats.org/officeDocument/2006/relationships/image" Target="../media/image65.png"/><Relationship Id="rId15" Type="http://schemas.openxmlformats.org/officeDocument/2006/relationships/image" Target="../media/image72.png"/><Relationship Id="rId23" Type="http://schemas.openxmlformats.org/officeDocument/2006/relationships/image" Target="../media/image43.png"/><Relationship Id="rId28" Type="http://schemas.openxmlformats.org/officeDocument/2006/relationships/image" Target="../media/image83.png"/><Relationship Id="rId10" Type="http://schemas.openxmlformats.org/officeDocument/2006/relationships/image" Target="../media/image68.png"/><Relationship Id="rId19" Type="http://schemas.openxmlformats.org/officeDocument/2006/relationships/image" Target="../media/image75.png"/><Relationship Id="rId31"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image" Target="../media/image35.png"/><Relationship Id="rId14" Type="http://schemas.openxmlformats.org/officeDocument/2006/relationships/image" Target="../media/image71.png"/><Relationship Id="rId22" Type="http://schemas.openxmlformats.org/officeDocument/2006/relationships/image" Target="../media/image78.png"/><Relationship Id="rId27" Type="http://schemas.openxmlformats.org/officeDocument/2006/relationships/image" Target="../media/image82.png"/><Relationship Id="rId30"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2.png"/><Relationship Id="rId18" Type="http://schemas.openxmlformats.org/officeDocument/2006/relationships/image" Target="../media/image97.png"/><Relationship Id="rId3" Type="http://schemas.openxmlformats.org/officeDocument/2006/relationships/image" Target="../media/image1.png"/><Relationship Id="rId21" Type="http://schemas.openxmlformats.org/officeDocument/2006/relationships/image" Target="../media/image100.png"/><Relationship Id="rId7" Type="http://schemas.openxmlformats.org/officeDocument/2006/relationships/image" Target="../media/image87.png"/><Relationship Id="rId12" Type="http://schemas.openxmlformats.org/officeDocument/2006/relationships/image" Target="../media/image91.png"/><Relationship Id="rId17" Type="http://schemas.openxmlformats.org/officeDocument/2006/relationships/image" Target="../media/image96.png"/><Relationship Id="rId2" Type="http://schemas.openxmlformats.org/officeDocument/2006/relationships/notesSlide" Target="../notesSlides/notesSlide5.xml"/><Relationship Id="rId16" Type="http://schemas.openxmlformats.org/officeDocument/2006/relationships/image" Target="../media/image95.png"/><Relationship Id="rId20" Type="http://schemas.openxmlformats.org/officeDocument/2006/relationships/image" Target="../media/image9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90.png"/><Relationship Id="rId24" Type="http://schemas.openxmlformats.org/officeDocument/2006/relationships/image" Target="../media/image27.png"/><Relationship Id="rId5" Type="http://schemas.openxmlformats.org/officeDocument/2006/relationships/image" Target="../media/image86.png"/><Relationship Id="rId15" Type="http://schemas.openxmlformats.org/officeDocument/2006/relationships/image" Target="../media/image94.png"/><Relationship Id="rId23" Type="http://schemas.openxmlformats.org/officeDocument/2006/relationships/image" Target="../media/image102.png"/><Relationship Id="rId10" Type="http://schemas.openxmlformats.org/officeDocument/2006/relationships/image" Target="../media/image89.png"/><Relationship Id="rId19" Type="http://schemas.openxmlformats.org/officeDocument/2006/relationships/image" Target="../media/image98.png"/><Relationship Id="rId4" Type="http://schemas.openxmlformats.org/officeDocument/2006/relationships/image" Target="../media/image85.png"/><Relationship Id="rId9" Type="http://schemas.openxmlformats.org/officeDocument/2006/relationships/image" Target="../media/image41.png"/><Relationship Id="rId14" Type="http://schemas.openxmlformats.org/officeDocument/2006/relationships/image" Target="../media/image93.png"/><Relationship Id="rId22" Type="http://schemas.openxmlformats.org/officeDocument/2006/relationships/image" Target="../media/image101.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35.png"/><Relationship Id="rId26" Type="http://schemas.openxmlformats.org/officeDocument/2006/relationships/image" Target="../media/image122.png"/><Relationship Id="rId3" Type="http://schemas.openxmlformats.org/officeDocument/2006/relationships/image" Target="../media/image103.png"/><Relationship Id="rId21" Type="http://schemas.openxmlformats.org/officeDocument/2006/relationships/image" Target="../media/image118.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1.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09.png"/><Relationship Id="rId24" Type="http://schemas.openxmlformats.org/officeDocument/2006/relationships/image" Target="../media/image120.png"/><Relationship Id="rId5" Type="http://schemas.openxmlformats.org/officeDocument/2006/relationships/image" Target="../media/image104.png"/><Relationship Id="rId15" Type="http://schemas.openxmlformats.org/officeDocument/2006/relationships/image" Target="../media/image113.png"/><Relationship Id="rId23" Type="http://schemas.openxmlformats.org/officeDocument/2006/relationships/image" Target="../media/image119.png"/><Relationship Id="rId28" Type="http://schemas.openxmlformats.org/officeDocument/2006/relationships/image" Target="../media/image124.png"/><Relationship Id="rId10" Type="http://schemas.openxmlformats.org/officeDocument/2006/relationships/image" Target="../media/image108.png"/><Relationship Id="rId19" Type="http://schemas.openxmlformats.org/officeDocument/2006/relationships/image" Target="../media/image116.png"/><Relationship Id="rId4" Type="http://schemas.openxmlformats.org/officeDocument/2006/relationships/image" Target="../media/image64.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90.png"/><Relationship Id="rId27" Type="http://schemas.openxmlformats.org/officeDocument/2006/relationships/image" Target="../media/image123.png"/></Relationships>
</file>

<file path=ppt/slides/_rels/slide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0.png"/><Relationship Id="rId18" Type="http://schemas.openxmlformats.org/officeDocument/2006/relationships/image" Target="../media/image134.png"/><Relationship Id="rId3" Type="http://schemas.openxmlformats.org/officeDocument/2006/relationships/image" Target="../media/image125.png"/><Relationship Id="rId7" Type="http://schemas.openxmlformats.org/officeDocument/2006/relationships/image" Target="../media/image126.png"/><Relationship Id="rId12" Type="http://schemas.openxmlformats.org/officeDocument/2006/relationships/image" Target="../media/image129.png"/><Relationship Id="rId17" Type="http://schemas.openxmlformats.org/officeDocument/2006/relationships/image" Target="../media/image133.png"/><Relationship Id="rId2" Type="http://schemas.openxmlformats.org/officeDocument/2006/relationships/notesSlide" Target="../notesSlides/notesSlide7.xml"/><Relationship Id="rId16" Type="http://schemas.openxmlformats.org/officeDocument/2006/relationships/image" Target="../media/image132.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92.png"/><Relationship Id="rId5" Type="http://schemas.openxmlformats.org/officeDocument/2006/relationships/image" Target="../media/image104.png"/><Relationship Id="rId15" Type="http://schemas.openxmlformats.org/officeDocument/2006/relationships/image" Target="../media/image131.png"/><Relationship Id="rId10" Type="http://schemas.openxmlformats.org/officeDocument/2006/relationships/image" Target="../media/image128.png"/><Relationship Id="rId19" Type="http://schemas.openxmlformats.org/officeDocument/2006/relationships/image" Target="../media/image27.png"/><Relationship Id="rId4" Type="http://schemas.openxmlformats.org/officeDocument/2006/relationships/image" Target="../media/image64.png"/><Relationship Id="rId9" Type="http://schemas.openxmlformats.org/officeDocument/2006/relationships/image" Target="../media/image41.png"/><Relationship Id="rId14" Type="http://schemas.openxmlformats.org/officeDocument/2006/relationships/image" Target="../media/image94.png"/></Relationships>
</file>

<file path=ppt/slides/_rels/slide8.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18" Type="http://schemas.openxmlformats.org/officeDocument/2006/relationships/image" Target="../media/image148.png"/><Relationship Id="rId26" Type="http://schemas.openxmlformats.org/officeDocument/2006/relationships/image" Target="../media/image156.png"/><Relationship Id="rId3" Type="http://schemas.openxmlformats.org/officeDocument/2006/relationships/image" Target="../media/image135.png"/><Relationship Id="rId21" Type="http://schemas.openxmlformats.org/officeDocument/2006/relationships/image" Target="../media/image151.png"/><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7.png"/><Relationship Id="rId25" Type="http://schemas.openxmlformats.org/officeDocument/2006/relationships/image" Target="../media/image155.png"/><Relationship Id="rId2" Type="http://schemas.openxmlformats.org/officeDocument/2006/relationships/notesSlide" Target="../notesSlides/notesSlide8.xml"/><Relationship Id="rId16" Type="http://schemas.openxmlformats.org/officeDocument/2006/relationships/image" Target="../media/image146.png"/><Relationship Id="rId20" Type="http://schemas.openxmlformats.org/officeDocument/2006/relationships/image" Target="../media/image150.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41.png"/><Relationship Id="rId24" Type="http://schemas.openxmlformats.org/officeDocument/2006/relationships/image" Target="../media/image154.png"/><Relationship Id="rId5" Type="http://schemas.openxmlformats.org/officeDocument/2006/relationships/image" Target="../media/image31.png"/><Relationship Id="rId15" Type="http://schemas.openxmlformats.org/officeDocument/2006/relationships/image" Target="../media/image145.png"/><Relationship Id="rId23" Type="http://schemas.openxmlformats.org/officeDocument/2006/relationships/image" Target="../media/image153.png"/><Relationship Id="rId10" Type="http://schemas.openxmlformats.org/officeDocument/2006/relationships/image" Target="../media/image140.png"/><Relationship Id="rId19" Type="http://schemas.openxmlformats.org/officeDocument/2006/relationships/image" Target="../media/image149.png"/><Relationship Id="rId4" Type="http://schemas.openxmlformats.org/officeDocument/2006/relationships/image" Target="../media/image136.png"/><Relationship Id="rId9" Type="http://schemas.openxmlformats.org/officeDocument/2006/relationships/image" Target="../media/image139.png"/><Relationship Id="rId14" Type="http://schemas.openxmlformats.org/officeDocument/2006/relationships/image" Target="../media/image144.png"/><Relationship Id="rId22" Type="http://schemas.openxmlformats.org/officeDocument/2006/relationships/image" Target="../media/image152.png"/><Relationship Id="rId27" Type="http://schemas.openxmlformats.org/officeDocument/2006/relationships/image" Target="../media/image157.png"/></Relationships>
</file>

<file path=ppt/slides/_rels/slide9.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65.png"/><Relationship Id="rId18" Type="http://schemas.openxmlformats.org/officeDocument/2006/relationships/image" Target="../media/image169.png"/><Relationship Id="rId3" Type="http://schemas.openxmlformats.org/officeDocument/2006/relationships/image" Target="../media/image158.png"/><Relationship Id="rId21" Type="http://schemas.openxmlformats.org/officeDocument/2006/relationships/image" Target="../media/image171.png"/><Relationship Id="rId7" Type="http://schemas.openxmlformats.org/officeDocument/2006/relationships/image" Target="../media/image161.png"/><Relationship Id="rId12" Type="http://schemas.openxmlformats.org/officeDocument/2006/relationships/image" Target="../media/image164.png"/><Relationship Id="rId17" Type="http://schemas.openxmlformats.org/officeDocument/2006/relationships/image" Target="../media/image168.png"/><Relationship Id="rId2" Type="http://schemas.openxmlformats.org/officeDocument/2006/relationships/notesSlide" Target="../notesSlides/notesSlide9.xml"/><Relationship Id="rId16" Type="http://schemas.openxmlformats.org/officeDocument/2006/relationships/image" Target="../media/image38.png"/><Relationship Id="rId20"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54.png"/><Relationship Id="rId5" Type="http://schemas.openxmlformats.org/officeDocument/2006/relationships/image" Target="../media/image160.png"/><Relationship Id="rId15" Type="http://schemas.openxmlformats.org/officeDocument/2006/relationships/image" Target="../media/image167.png"/><Relationship Id="rId10" Type="http://schemas.openxmlformats.org/officeDocument/2006/relationships/image" Target="../media/image163.png"/><Relationship Id="rId19" Type="http://schemas.openxmlformats.org/officeDocument/2006/relationships/image" Target="../media/image170.png"/><Relationship Id="rId4" Type="http://schemas.openxmlformats.org/officeDocument/2006/relationships/image" Target="../media/image159.png"/><Relationship Id="rId9" Type="http://schemas.openxmlformats.org/officeDocument/2006/relationships/image" Target="../media/image162.png"/><Relationship Id="rId14" Type="http://schemas.openxmlformats.org/officeDocument/2006/relationships/image" Target="../media/image166.png"/></Relationships>
</file>

<file path=ppt/slides/_rels/slide10.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23.png"/><Relationship Id="rId18" Type="http://schemas.openxmlformats.org/officeDocument/2006/relationships/image" Target="../media/image182.png"/><Relationship Id="rId3" Type="http://schemas.openxmlformats.org/officeDocument/2006/relationships/image" Target="../media/image1.png"/><Relationship Id="rId7" Type="http://schemas.openxmlformats.org/officeDocument/2006/relationships/image" Target="../media/image172.png"/><Relationship Id="rId12" Type="http://schemas.openxmlformats.org/officeDocument/2006/relationships/image" Target="../media/image177.png"/><Relationship Id="rId17" Type="http://schemas.openxmlformats.org/officeDocument/2006/relationships/image" Target="../media/image181.png"/><Relationship Id="rId2" Type="http://schemas.openxmlformats.org/officeDocument/2006/relationships/notesSlide" Target="../notesSlides/notesSlide10.xml"/><Relationship Id="rId16"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76.png"/><Relationship Id="rId5" Type="http://schemas.openxmlformats.org/officeDocument/2006/relationships/image" Target="../media/image86.png"/><Relationship Id="rId15" Type="http://schemas.openxmlformats.org/officeDocument/2006/relationships/image" Target="../media/image179.png"/><Relationship Id="rId10" Type="http://schemas.openxmlformats.org/officeDocument/2006/relationships/image" Target="../media/image175.png"/><Relationship Id="rId19" Type="http://schemas.openxmlformats.org/officeDocument/2006/relationships/image" Target="../media/image183.png"/><Relationship Id="rId4" Type="http://schemas.openxmlformats.org/officeDocument/2006/relationships/image" Target="../media/image85.png"/><Relationship Id="rId9" Type="http://schemas.openxmlformats.org/officeDocument/2006/relationships/image" Target="../media/image174.png"/><Relationship Id="rId14" Type="http://schemas.openxmlformats.org/officeDocument/2006/relationships/image" Target="../media/image178.png"/></Relationships>
</file>

<file path=ppt/slides/_rels/slide11.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89.png"/><Relationship Id="rId18" Type="http://schemas.openxmlformats.org/officeDocument/2006/relationships/image" Target="../media/image194.png"/><Relationship Id="rId26" Type="http://schemas.openxmlformats.org/officeDocument/2006/relationships/image" Target="../media/image202.png"/><Relationship Id="rId3" Type="http://schemas.openxmlformats.org/officeDocument/2006/relationships/image" Target="../media/image1.png"/><Relationship Id="rId21" Type="http://schemas.openxmlformats.org/officeDocument/2006/relationships/image" Target="../media/image197.png"/><Relationship Id="rId7" Type="http://schemas.openxmlformats.org/officeDocument/2006/relationships/image" Target="../media/image184.png"/><Relationship Id="rId12" Type="http://schemas.openxmlformats.org/officeDocument/2006/relationships/image" Target="../media/image188.png"/><Relationship Id="rId17" Type="http://schemas.openxmlformats.org/officeDocument/2006/relationships/image" Target="../media/image193.png"/><Relationship Id="rId25" Type="http://schemas.openxmlformats.org/officeDocument/2006/relationships/image" Target="../media/image201.png"/><Relationship Id="rId2" Type="http://schemas.openxmlformats.org/officeDocument/2006/relationships/notesSlide" Target="../notesSlides/notesSlide11.xml"/><Relationship Id="rId16" Type="http://schemas.openxmlformats.org/officeDocument/2006/relationships/image" Target="../media/image192.png"/><Relationship Id="rId20" Type="http://schemas.openxmlformats.org/officeDocument/2006/relationships/image" Target="../media/image196.png"/><Relationship Id="rId29" Type="http://schemas.openxmlformats.org/officeDocument/2006/relationships/image" Target="../media/image205.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7.png"/><Relationship Id="rId24" Type="http://schemas.openxmlformats.org/officeDocument/2006/relationships/image" Target="../media/image200.png"/><Relationship Id="rId5" Type="http://schemas.openxmlformats.org/officeDocument/2006/relationships/image" Target="../media/image86.png"/><Relationship Id="rId15" Type="http://schemas.openxmlformats.org/officeDocument/2006/relationships/image" Target="../media/image191.png"/><Relationship Id="rId23" Type="http://schemas.openxmlformats.org/officeDocument/2006/relationships/image" Target="../media/image199.png"/><Relationship Id="rId28" Type="http://schemas.openxmlformats.org/officeDocument/2006/relationships/image" Target="../media/image204.png"/><Relationship Id="rId10" Type="http://schemas.openxmlformats.org/officeDocument/2006/relationships/image" Target="../media/image186.png"/><Relationship Id="rId19" Type="http://schemas.openxmlformats.org/officeDocument/2006/relationships/image" Target="../media/image195.png"/><Relationship Id="rId31" Type="http://schemas.openxmlformats.org/officeDocument/2006/relationships/image" Target="../media/image207.png"/><Relationship Id="rId4" Type="http://schemas.openxmlformats.org/officeDocument/2006/relationships/image" Target="../media/image64.png"/><Relationship Id="rId9" Type="http://schemas.openxmlformats.org/officeDocument/2006/relationships/image" Target="../media/image174.png"/><Relationship Id="rId14" Type="http://schemas.openxmlformats.org/officeDocument/2006/relationships/image" Target="../media/image190.png"/><Relationship Id="rId22" Type="http://schemas.openxmlformats.org/officeDocument/2006/relationships/image" Target="../media/image198.png"/><Relationship Id="rId27" Type="http://schemas.openxmlformats.org/officeDocument/2006/relationships/image" Target="../media/image203.png"/><Relationship Id="rId30" Type="http://schemas.openxmlformats.org/officeDocument/2006/relationships/image" Target="../media/image206.png"/></Relationships>
</file>

<file path=ppt/slides/_rels/slide12.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14.png"/><Relationship Id="rId18" Type="http://schemas.openxmlformats.org/officeDocument/2006/relationships/image" Target="../media/image217.png"/><Relationship Id="rId3" Type="http://schemas.openxmlformats.org/officeDocument/2006/relationships/image" Target="../media/image1.png"/><Relationship Id="rId21" Type="http://schemas.openxmlformats.org/officeDocument/2006/relationships/image" Target="../media/image107.png"/><Relationship Id="rId7" Type="http://schemas.openxmlformats.org/officeDocument/2006/relationships/image" Target="../media/image209.png"/><Relationship Id="rId12" Type="http://schemas.openxmlformats.org/officeDocument/2006/relationships/image" Target="../media/image16.png"/><Relationship Id="rId17" Type="http://schemas.openxmlformats.org/officeDocument/2006/relationships/image" Target="../media/image92.png"/><Relationship Id="rId2" Type="http://schemas.openxmlformats.org/officeDocument/2006/relationships/notesSlide" Target="../notesSlides/notesSlide12.xml"/><Relationship Id="rId16" Type="http://schemas.openxmlformats.org/officeDocument/2006/relationships/image" Target="../media/image216.png"/><Relationship Id="rId20" Type="http://schemas.openxmlformats.org/officeDocument/2006/relationships/image" Target="../media/image218.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13.png"/><Relationship Id="rId5" Type="http://schemas.openxmlformats.org/officeDocument/2006/relationships/image" Target="../media/image86.png"/><Relationship Id="rId15" Type="http://schemas.openxmlformats.org/officeDocument/2006/relationships/image" Target="../media/image41.png"/><Relationship Id="rId10" Type="http://schemas.openxmlformats.org/officeDocument/2006/relationships/image" Target="../media/image212.png"/><Relationship Id="rId19" Type="http://schemas.openxmlformats.org/officeDocument/2006/relationships/image" Target="../media/image90.png"/><Relationship Id="rId4" Type="http://schemas.openxmlformats.org/officeDocument/2006/relationships/image" Target="../media/image208.png"/><Relationship Id="rId9" Type="http://schemas.openxmlformats.org/officeDocument/2006/relationships/image" Target="../media/image211.png"/><Relationship Id="rId14" Type="http://schemas.openxmlformats.org/officeDocument/2006/relationships/image" Target="../media/image215.png"/></Relationships>
</file>

<file path=ppt/slides/_rels/slide13.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225.png"/><Relationship Id="rId18" Type="http://schemas.openxmlformats.org/officeDocument/2006/relationships/image" Target="../media/image229.png"/><Relationship Id="rId3" Type="http://schemas.openxmlformats.org/officeDocument/2006/relationships/image" Target="../media/image219.png"/><Relationship Id="rId7" Type="http://schemas.openxmlformats.org/officeDocument/2006/relationships/image" Target="../media/image209.png"/><Relationship Id="rId12" Type="http://schemas.openxmlformats.org/officeDocument/2006/relationships/image" Target="../media/image224.png"/><Relationship Id="rId17" Type="http://schemas.openxmlformats.org/officeDocument/2006/relationships/image" Target="../media/image228.png"/><Relationship Id="rId2" Type="http://schemas.openxmlformats.org/officeDocument/2006/relationships/notesSlide" Target="../notesSlides/notesSlide13.xml"/><Relationship Id="rId16" Type="http://schemas.openxmlformats.org/officeDocument/2006/relationships/image" Target="../media/image90.png"/><Relationship Id="rId20" Type="http://schemas.openxmlformats.org/officeDocument/2006/relationships/image" Target="../media/image231.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23.png"/><Relationship Id="rId5" Type="http://schemas.openxmlformats.org/officeDocument/2006/relationships/image" Target="../media/image220.png"/><Relationship Id="rId15" Type="http://schemas.openxmlformats.org/officeDocument/2006/relationships/image" Target="../media/image227.png"/><Relationship Id="rId10" Type="http://schemas.openxmlformats.org/officeDocument/2006/relationships/image" Target="../media/image176.png"/><Relationship Id="rId19" Type="http://schemas.openxmlformats.org/officeDocument/2006/relationships/image" Target="../media/image230.png"/><Relationship Id="rId4" Type="http://schemas.openxmlformats.org/officeDocument/2006/relationships/image" Target="../media/image11.png"/><Relationship Id="rId9" Type="http://schemas.openxmlformats.org/officeDocument/2006/relationships/image" Target="../media/image222.png"/><Relationship Id="rId14" Type="http://schemas.openxmlformats.org/officeDocument/2006/relationships/image" Target="../media/image226.png"/></Relationships>
</file>

<file path=ppt/slides/_rels/slide14.xml.rels><?xml version="1.0" encoding="UTF-8" standalone="yes"?>
<Relationships xmlns="http://schemas.openxmlformats.org/package/2006/relationships"><Relationship Id="rId8" Type="http://schemas.openxmlformats.org/officeDocument/2006/relationships/image" Target="../media/image234.png"/><Relationship Id="rId13" Type="http://schemas.openxmlformats.org/officeDocument/2006/relationships/image" Target="../media/image239.png"/><Relationship Id="rId18" Type="http://schemas.openxmlformats.org/officeDocument/2006/relationships/image" Target="../media/image244.png"/><Relationship Id="rId3" Type="http://schemas.openxmlformats.org/officeDocument/2006/relationships/image" Target="../media/image232.png"/><Relationship Id="rId7" Type="http://schemas.openxmlformats.org/officeDocument/2006/relationships/image" Target="../media/image209.png"/><Relationship Id="rId12" Type="http://schemas.openxmlformats.org/officeDocument/2006/relationships/image" Target="../media/image238.png"/><Relationship Id="rId17" Type="http://schemas.openxmlformats.org/officeDocument/2006/relationships/image" Target="../media/image243.png"/><Relationship Id="rId2" Type="http://schemas.openxmlformats.org/officeDocument/2006/relationships/notesSlide" Target="../notesSlides/notesSlide14.xml"/><Relationship Id="rId16" Type="http://schemas.openxmlformats.org/officeDocument/2006/relationships/image" Target="../media/image242.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37.png"/><Relationship Id="rId5" Type="http://schemas.openxmlformats.org/officeDocument/2006/relationships/image" Target="../media/image233.png"/><Relationship Id="rId15" Type="http://schemas.openxmlformats.org/officeDocument/2006/relationships/image" Target="../media/image241.png"/><Relationship Id="rId10" Type="http://schemas.openxmlformats.org/officeDocument/2006/relationships/image" Target="../media/image236.png"/><Relationship Id="rId4" Type="http://schemas.openxmlformats.org/officeDocument/2006/relationships/image" Target="../media/image159.png"/><Relationship Id="rId9" Type="http://schemas.openxmlformats.org/officeDocument/2006/relationships/image" Target="../media/image235.png"/><Relationship Id="rId14" Type="http://schemas.openxmlformats.org/officeDocument/2006/relationships/image" Target="../media/image24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219200" y="685800"/>
            <a:ext cx="1714500" cy="1714500"/>
          </a:xfrm>
          <a:prstGeom prst="rect">
            <a:avLst/>
          </a:prstGeom>
        </p:spPr>
      </p:pic>
      <p:pic>
        <p:nvPicPr>
          <p:cNvPr id="4" name="Image 2" descr="preencoded.png"/>
          <p:cNvPicPr>
            <a:picLocks noChangeAspect="1"/>
          </p:cNvPicPr>
          <p:nvPr/>
        </p:nvPicPr>
        <p:blipFill>
          <a:blip r:embed="rId5"/>
          <a:stretch>
            <a:fillRect/>
          </a:stretch>
        </p:blipFill>
        <p:spPr>
          <a:xfrm>
            <a:off x="9220200" y="4686300"/>
            <a:ext cx="1143000" cy="1143000"/>
          </a:xfrm>
          <a:prstGeom prst="rect">
            <a:avLst/>
          </a:prstGeom>
        </p:spPr>
      </p:pic>
      <p:pic>
        <p:nvPicPr>
          <p:cNvPr id="5" name="Image 3" descr="preencoded.png"/>
          <p:cNvPicPr>
            <a:picLocks noChangeAspect="1"/>
          </p:cNvPicPr>
          <p:nvPr/>
        </p:nvPicPr>
        <p:blipFill>
          <a:blip r:embed="rId6"/>
          <a:stretch>
            <a:fillRect/>
          </a:stretch>
        </p:blipFill>
        <p:spPr>
          <a:xfrm>
            <a:off x="2438400" y="3714750"/>
            <a:ext cx="1428750" cy="1428750"/>
          </a:xfrm>
          <a:prstGeom prst="rect">
            <a:avLst/>
          </a:prstGeom>
        </p:spPr>
      </p:pic>
      <p:pic>
        <p:nvPicPr>
          <p:cNvPr id="6" name="Image 4" descr="preencoded.png"/>
          <p:cNvPicPr>
            <a:picLocks noChangeAspect="1"/>
          </p:cNvPicPr>
          <p:nvPr/>
        </p:nvPicPr>
        <p:blipFill>
          <a:blip r:embed="rId7"/>
          <a:stretch>
            <a:fillRect/>
          </a:stretch>
        </p:blipFill>
        <p:spPr>
          <a:xfrm>
            <a:off x="8224185" y="4642785"/>
            <a:ext cx="1077631" cy="1077631"/>
          </a:xfrm>
          <a:prstGeom prst="rect">
            <a:avLst/>
          </a:prstGeom>
        </p:spPr>
      </p:pic>
      <p:pic>
        <p:nvPicPr>
          <p:cNvPr id="7" name="Image 5" descr="preencoded.png"/>
          <p:cNvPicPr>
            <a:picLocks noChangeAspect="1"/>
          </p:cNvPicPr>
          <p:nvPr/>
        </p:nvPicPr>
        <p:blipFill>
          <a:blip r:embed="rId8"/>
          <a:stretch>
            <a:fillRect/>
          </a:stretch>
        </p:blipFill>
        <p:spPr>
          <a:xfrm>
            <a:off x="2929638" y="1596138"/>
            <a:ext cx="808223" cy="808223"/>
          </a:xfrm>
          <a:prstGeom prst="rect">
            <a:avLst/>
          </a:prstGeom>
        </p:spPr>
      </p:pic>
      <p:pic>
        <p:nvPicPr>
          <p:cNvPr id="8" name="Image 6" descr="preencoded.png"/>
          <p:cNvPicPr>
            <a:picLocks noChangeAspect="1"/>
          </p:cNvPicPr>
          <p:nvPr/>
        </p:nvPicPr>
        <p:blipFill>
          <a:blip r:embed="rId9"/>
          <a:stretch>
            <a:fillRect/>
          </a:stretch>
        </p:blipFill>
        <p:spPr>
          <a:xfrm>
            <a:off x="5381625" y="3105150"/>
            <a:ext cx="1428750" cy="38100"/>
          </a:xfrm>
          <a:prstGeom prst="rect">
            <a:avLst/>
          </a:prstGeom>
        </p:spPr>
      </p:pic>
      <p:pic>
        <p:nvPicPr>
          <p:cNvPr id="9" name="Image 7" descr="preencoded.png"/>
          <p:cNvPicPr>
            <a:picLocks noChangeAspect="1"/>
          </p:cNvPicPr>
          <p:nvPr/>
        </p:nvPicPr>
        <p:blipFill>
          <a:blip r:embed="rId10"/>
          <a:stretch>
            <a:fillRect/>
          </a:stretch>
        </p:blipFill>
        <p:spPr>
          <a:xfrm>
            <a:off x="9522619" y="6096000"/>
            <a:ext cx="381000" cy="381000"/>
          </a:xfrm>
          <a:prstGeom prst="rect">
            <a:avLst/>
          </a:prstGeom>
        </p:spPr>
      </p:pic>
      <p:pic>
        <p:nvPicPr>
          <p:cNvPr id="11" name="Image 9" descr="preencoded.png"/>
          <p:cNvPicPr>
            <a:picLocks noChangeAspect="1"/>
          </p:cNvPicPr>
          <p:nvPr/>
        </p:nvPicPr>
        <p:blipFill>
          <a:blip r:embed="rId11"/>
          <a:stretch>
            <a:fillRect/>
          </a:stretch>
        </p:blipFill>
        <p:spPr>
          <a:xfrm>
            <a:off x="381000" y="381000"/>
            <a:ext cx="285750" cy="304800"/>
          </a:xfrm>
          <a:prstGeom prst="rect">
            <a:avLst/>
          </a:prstGeom>
        </p:spPr>
      </p:pic>
      <p:sp>
        <p:nvSpPr>
          <p:cNvPr id="12" name="Text 0"/>
          <p:cNvSpPr/>
          <p:nvPr/>
        </p:nvSpPr>
        <p:spPr>
          <a:xfrm>
            <a:off x="9595098" y="1028700"/>
            <a:ext cx="952500" cy="952500"/>
          </a:xfrm>
          <a:prstGeom prst="rect">
            <a:avLst/>
          </a:prstGeom>
          <a:noFill/>
          <a:ln/>
        </p:spPr>
        <p:txBody>
          <a:bodyPr vert="horz" wrap="square" lIns="0" tIns="0" rIns="0" bIns="0" rtlCol="0" anchor="t"/>
          <a:lstStyle/>
          <a:p>
            <a:pPr marL="0" indent="0">
              <a:lnSpc>
                <a:spcPts val="2700"/>
              </a:lnSpc>
              <a:buNone/>
            </a:pPr>
            <a:r>
              <a:rPr lang="en-US" sz="1800" b="1" dirty="0">
                <a:solidFill>
                  <a:srgbClr val="FFFFFF"/>
                </a:solidFill>
                <a:latin typeface="ui-sans-serif" pitchFamily="34" charset="0"/>
                <a:ea typeface="ui-sans-serif" pitchFamily="34" charset="-122"/>
                <a:cs typeface="ui-sans-serif" pitchFamily="34" charset="-120"/>
              </a:rPr>
              <a:t>AWS</a:t>
            </a:r>
            <a:endParaRPr lang="en-US" sz="1800" dirty="0"/>
          </a:p>
        </p:txBody>
      </p:sp>
      <p:sp>
        <p:nvSpPr>
          <p:cNvPr id="13" name="Text 1"/>
          <p:cNvSpPr/>
          <p:nvPr/>
        </p:nvSpPr>
        <p:spPr>
          <a:xfrm>
            <a:off x="1647379" y="4533900"/>
            <a:ext cx="952500" cy="952500"/>
          </a:xfrm>
          <a:prstGeom prst="rect">
            <a:avLst/>
          </a:prstGeom>
          <a:noFill/>
          <a:ln/>
        </p:spPr>
        <p:txBody>
          <a:bodyPr vert="horz" wrap="square" lIns="0" tIns="0" rIns="0" bIns="0" rtlCol="0" anchor="t"/>
          <a:lstStyle/>
          <a:p>
            <a:pPr marL="0" indent="0">
              <a:lnSpc>
                <a:spcPts val="2700"/>
              </a:lnSpc>
              <a:buNone/>
            </a:pPr>
            <a:r>
              <a:rPr lang="en-US" sz="1800" b="1" dirty="0">
                <a:solidFill>
                  <a:srgbClr val="FFFFFF"/>
                </a:solidFill>
                <a:latin typeface="ui-sans-serif" pitchFamily="34" charset="0"/>
                <a:ea typeface="ui-sans-serif" pitchFamily="34" charset="-122"/>
                <a:cs typeface="ui-sans-serif" pitchFamily="34" charset="-120"/>
              </a:rPr>
              <a:t>AWS</a:t>
            </a:r>
            <a:endParaRPr lang="en-US" sz="1800" dirty="0"/>
          </a:p>
        </p:txBody>
      </p:sp>
      <p:sp>
        <p:nvSpPr>
          <p:cNvPr id="14" name="Text 2"/>
          <p:cNvSpPr/>
          <p:nvPr/>
        </p:nvSpPr>
        <p:spPr>
          <a:xfrm>
            <a:off x="1795641" y="2343150"/>
            <a:ext cx="8600718" cy="571500"/>
          </a:xfrm>
          <a:prstGeom prst="rect">
            <a:avLst/>
          </a:prstGeom>
          <a:noFill/>
          <a:ln/>
        </p:spPr>
        <p:txBody>
          <a:bodyPr vert="horz" wrap="square" lIns="0" tIns="0" rIns="0" bIns="0" rtlCol="0" anchor="t"/>
          <a:lstStyle/>
          <a:p>
            <a:pPr marL="0" indent="0" algn="ctr">
              <a:lnSpc>
                <a:spcPts val="4500"/>
              </a:lnSpc>
              <a:buNone/>
            </a:pPr>
            <a:r>
              <a:rPr lang="en-US" sz="4500" b="1" dirty="0">
                <a:solidFill>
                  <a:srgbClr val="1F2937"/>
                </a:solidFill>
                <a:latin typeface="ui-sans-serif" pitchFamily="34" charset="0"/>
                <a:ea typeface="ui-sans-serif" pitchFamily="34" charset="-122"/>
                <a:cs typeface="ui-sans-serif" pitchFamily="34" charset="-120"/>
              </a:rPr>
              <a:t>AWS Elastic Beanstalk</a:t>
            </a:r>
            <a:endParaRPr lang="en-US" sz="4500" dirty="0"/>
          </a:p>
        </p:txBody>
      </p:sp>
      <p:sp>
        <p:nvSpPr>
          <p:cNvPr id="15" name="Text 3"/>
          <p:cNvSpPr/>
          <p:nvPr/>
        </p:nvSpPr>
        <p:spPr>
          <a:xfrm>
            <a:off x="1795641" y="3333750"/>
            <a:ext cx="8600718"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Platform-as-a-Service for Rapid Application Deployment</a:t>
            </a:r>
            <a:endParaRPr lang="en-US" sz="1800" dirty="0"/>
          </a:p>
        </p:txBody>
      </p:sp>
      <p:sp>
        <p:nvSpPr>
          <p:cNvPr id="18" name="Text 6"/>
          <p:cNvSpPr/>
          <p:nvPr/>
        </p:nvSpPr>
        <p:spPr>
          <a:xfrm>
            <a:off x="742950" y="419100"/>
            <a:ext cx="226439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Amazon Web Services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77050"/>
          </a:xfrm>
          <a:prstGeom prst="rect">
            <a:avLst/>
          </a:prstGeom>
        </p:spPr>
      </p:pic>
      <p:pic>
        <p:nvPicPr>
          <p:cNvPr id="3" name="Image 1" descr="preencoded.png"/>
          <p:cNvPicPr>
            <a:picLocks noChangeAspect="1"/>
          </p:cNvPicPr>
          <p:nvPr/>
        </p:nvPicPr>
        <p:blipFill>
          <a:blip r:embed="rId4"/>
          <a:stretch>
            <a:fillRect/>
          </a:stretch>
        </p:blipFill>
        <p:spPr>
          <a:xfrm>
            <a:off x="9677400" y="444624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741015"/>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2667000"/>
            <a:ext cx="952500" cy="28575"/>
          </a:xfrm>
          <a:prstGeom prst="rect">
            <a:avLst/>
          </a:prstGeom>
        </p:spPr>
      </p:pic>
      <p:pic>
        <p:nvPicPr>
          <p:cNvPr id="7" name="Image 5" descr="preencoded.png"/>
          <p:cNvPicPr>
            <a:picLocks noChangeAspect="1"/>
          </p:cNvPicPr>
          <p:nvPr/>
        </p:nvPicPr>
        <p:blipFill>
          <a:blip r:embed="rId8"/>
          <a:stretch>
            <a:fillRect/>
          </a:stretch>
        </p:blipFill>
        <p:spPr>
          <a:xfrm>
            <a:off x="457200" y="4105275"/>
            <a:ext cx="5334000" cy="1524000"/>
          </a:xfrm>
          <a:prstGeom prst="rect">
            <a:avLst/>
          </a:prstGeom>
        </p:spPr>
      </p:pic>
      <p:pic>
        <p:nvPicPr>
          <p:cNvPr id="8" name="Image 6" descr="preencoded.png"/>
          <p:cNvPicPr>
            <a:picLocks noChangeAspect="1"/>
          </p:cNvPicPr>
          <p:nvPr/>
        </p:nvPicPr>
        <p:blipFill>
          <a:blip r:embed="rId9"/>
          <a:stretch>
            <a:fillRect/>
          </a:stretch>
        </p:blipFill>
        <p:spPr>
          <a:xfrm>
            <a:off x="685800" y="4362450"/>
            <a:ext cx="133350" cy="171450"/>
          </a:xfrm>
          <a:prstGeom prst="rect">
            <a:avLst/>
          </a:prstGeom>
        </p:spPr>
      </p:pic>
      <p:pic>
        <p:nvPicPr>
          <p:cNvPr id="9" name="Image 7" descr="preencoded.png"/>
          <p:cNvPicPr>
            <a:picLocks noChangeAspect="1"/>
          </p:cNvPicPr>
          <p:nvPr/>
        </p:nvPicPr>
        <p:blipFill>
          <a:blip r:embed="rId10"/>
          <a:stretch>
            <a:fillRect/>
          </a:stretch>
        </p:blipFill>
        <p:spPr>
          <a:xfrm>
            <a:off x="6096000" y="1219200"/>
            <a:ext cx="2705100" cy="2619375"/>
          </a:xfrm>
          <a:prstGeom prst="rect">
            <a:avLst/>
          </a:prstGeom>
        </p:spPr>
      </p:pic>
      <p:pic>
        <p:nvPicPr>
          <p:cNvPr id="10" name="Image 8" descr="preencoded.png"/>
          <p:cNvPicPr>
            <a:picLocks noChangeAspect="1"/>
          </p:cNvPicPr>
          <p:nvPr/>
        </p:nvPicPr>
        <p:blipFill>
          <a:blip r:embed="rId11"/>
          <a:stretch>
            <a:fillRect/>
          </a:stretch>
        </p:blipFill>
        <p:spPr>
          <a:xfrm>
            <a:off x="6286500" y="1409700"/>
            <a:ext cx="571500" cy="571500"/>
          </a:xfrm>
          <a:prstGeom prst="rect">
            <a:avLst/>
          </a:prstGeom>
        </p:spPr>
      </p:pic>
      <p:pic>
        <p:nvPicPr>
          <p:cNvPr id="11" name="Image 9" descr="preencoded.png"/>
          <p:cNvPicPr>
            <a:picLocks noChangeAspect="1"/>
          </p:cNvPicPr>
          <p:nvPr/>
        </p:nvPicPr>
        <p:blipFill>
          <a:blip r:embed="rId12"/>
          <a:stretch>
            <a:fillRect/>
          </a:stretch>
        </p:blipFill>
        <p:spPr>
          <a:xfrm>
            <a:off x="6457950" y="1543050"/>
            <a:ext cx="228600" cy="304800"/>
          </a:xfrm>
          <a:prstGeom prst="rect">
            <a:avLst/>
          </a:prstGeom>
        </p:spPr>
      </p:pic>
      <p:pic>
        <p:nvPicPr>
          <p:cNvPr id="12" name="Image 10" descr="preencoded.png"/>
          <p:cNvPicPr>
            <a:picLocks noChangeAspect="1"/>
          </p:cNvPicPr>
          <p:nvPr/>
        </p:nvPicPr>
        <p:blipFill>
          <a:blip r:embed="rId10"/>
          <a:stretch>
            <a:fillRect/>
          </a:stretch>
        </p:blipFill>
        <p:spPr>
          <a:xfrm>
            <a:off x="9029700" y="1219200"/>
            <a:ext cx="2705100" cy="2619375"/>
          </a:xfrm>
          <a:prstGeom prst="rect">
            <a:avLst/>
          </a:prstGeom>
        </p:spPr>
      </p:pic>
      <p:pic>
        <p:nvPicPr>
          <p:cNvPr id="13" name="Image 11" descr="preencoded.png"/>
          <p:cNvPicPr>
            <a:picLocks noChangeAspect="1"/>
          </p:cNvPicPr>
          <p:nvPr/>
        </p:nvPicPr>
        <p:blipFill>
          <a:blip r:embed="rId13"/>
          <a:stretch>
            <a:fillRect/>
          </a:stretch>
        </p:blipFill>
        <p:spPr>
          <a:xfrm>
            <a:off x="9220200" y="1409700"/>
            <a:ext cx="571500" cy="571500"/>
          </a:xfrm>
          <a:prstGeom prst="rect">
            <a:avLst/>
          </a:prstGeom>
        </p:spPr>
      </p:pic>
      <p:pic>
        <p:nvPicPr>
          <p:cNvPr id="14" name="Image 12" descr="preencoded.png"/>
          <p:cNvPicPr>
            <a:picLocks noChangeAspect="1"/>
          </p:cNvPicPr>
          <p:nvPr/>
        </p:nvPicPr>
        <p:blipFill>
          <a:blip r:embed="rId14"/>
          <a:stretch>
            <a:fillRect/>
          </a:stretch>
        </p:blipFill>
        <p:spPr>
          <a:xfrm>
            <a:off x="9391650" y="1543050"/>
            <a:ext cx="228600" cy="304800"/>
          </a:xfrm>
          <a:prstGeom prst="rect">
            <a:avLst/>
          </a:prstGeom>
        </p:spPr>
      </p:pic>
      <p:pic>
        <p:nvPicPr>
          <p:cNvPr id="15" name="Image 13" descr="preencoded.png"/>
          <p:cNvPicPr>
            <a:picLocks noChangeAspect="1"/>
          </p:cNvPicPr>
          <p:nvPr/>
        </p:nvPicPr>
        <p:blipFill>
          <a:blip r:embed="rId15"/>
          <a:stretch>
            <a:fillRect/>
          </a:stretch>
        </p:blipFill>
        <p:spPr>
          <a:xfrm>
            <a:off x="6096000" y="4067175"/>
            <a:ext cx="2705100" cy="2352675"/>
          </a:xfrm>
          <a:prstGeom prst="rect">
            <a:avLst/>
          </a:prstGeom>
        </p:spPr>
      </p:pic>
      <p:pic>
        <p:nvPicPr>
          <p:cNvPr id="16" name="Image 14" descr="preencoded.png"/>
          <p:cNvPicPr>
            <a:picLocks noChangeAspect="1"/>
          </p:cNvPicPr>
          <p:nvPr/>
        </p:nvPicPr>
        <p:blipFill>
          <a:blip r:embed="rId16"/>
          <a:stretch>
            <a:fillRect/>
          </a:stretch>
        </p:blipFill>
        <p:spPr>
          <a:xfrm>
            <a:off x="6286500" y="4257675"/>
            <a:ext cx="571500" cy="571500"/>
          </a:xfrm>
          <a:prstGeom prst="rect">
            <a:avLst/>
          </a:prstGeom>
        </p:spPr>
      </p:pic>
      <p:pic>
        <p:nvPicPr>
          <p:cNvPr id="17" name="Image 15" descr="preencoded.png"/>
          <p:cNvPicPr>
            <a:picLocks noChangeAspect="1"/>
          </p:cNvPicPr>
          <p:nvPr/>
        </p:nvPicPr>
        <p:blipFill>
          <a:blip r:embed="rId17"/>
          <a:stretch>
            <a:fillRect/>
          </a:stretch>
        </p:blipFill>
        <p:spPr>
          <a:xfrm>
            <a:off x="6429375" y="4391025"/>
            <a:ext cx="285750" cy="304800"/>
          </a:xfrm>
          <a:prstGeom prst="rect">
            <a:avLst/>
          </a:prstGeom>
        </p:spPr>
      </p:pic>
      <p:pic>
        <p:nvPicPr>
          <p:cNvPr id="18" name="Image 16" descr="preencoded.png"/>
          <p:cNvPicPr>
            <a:picLocks noChangeAspect="1"/>
          </p:cNvPicPr>
          <p:nvPr/>
        </p:nvPicPr>
        <p:blipFill>
          <a:blip r:embed="rId15"/>
          <a:stretch>
            <a:fillRect/>
          </a:stretch>
        </p:blipFill>
        <p:spPr>
          <a:xfrm>
            <a:off x="9029700" y="4067175"/>
            <a:ext cx="2705100" cy="2352675"/>
          </a:xfrm>
          <a:prstGeom prst="rect">
            <a:avLst/>
          </a:prstGeom>
        </p:spPr>
      </p:pic>
      <p:pic>
        <p:nvPicPr>
          <p:cNvPr id="19" name="Image 17" descr="preencoded.png"/>
          <p:cNvPicPr>
            <a:picLocks noChangeAspect="1"/>
          </p:cNvPicPr>
          <p:nvPr/>
        </p:nvPicPr>
        <p:blipFill>
          <a:blip r:embed="rId18"/>
          <a:stretch>
            <a:fillRect/>
          </a:stretch>
        </p:blipFill>
        <p:spPr>
          <a:xfrm>
            <a:off x="9220200" y="4257675"/>
            <a:ext cx="571500" cy="571500"/>
          </a:xfrm>
          <a:prstGeom prst="rect">
            <a:avLst/>
          </a:prstGeom>
        </p:spPr>
      </p:pic>
      <p:pic>
        <p:nvPicPr>
          <p:cNvPr id="20" name="Image 18" descr="preencoded.png"/>
          <p:cNvPicPr>
            <a:picLocks noChangeAspect="1"/>
          </p:cNvPicPr>
          <p:nvPr/>
        </p:nvPicPr>
        <p:blipFill>
          <a:blip r:embed="rId19"/>
          <a:stretch>
            <a:fillRect/>
          </a:stretch>
        </p:blipFill>
        <p:spPr>
          <a:xfrm>
            <a:off x="9391650" y="4391025"/>
            <a:ext cx="228600" cy="304800"/>
          </a:xfrm>
          <a:prstGeom prst="rect">
            <a:avLst/>
          </a:prstGeom>
        </p:spPr>
      </p:pic>
      <p:pic>
        <p:nvPicPr>
          <p:cNvPr id="21" name="Image 19" descr="preencoded.png"/>
          <p:cNvPicPr>
            <a:picLocks noChangeAspect="1"/>
          </p:cNvPicPr>
          <p:nvPr/>
        </p:nvPicPr>
        <p:blipFill>
          <a:blip r:embed="rId20"/>
          <a:stretch>
            <a:fillRect/>
          </a:stretch>
        </p:blipFill>
        <p:spPr>
          <a:xfrm>
            <a:off x="0" y="6877050"/>
            <a:ext cx="12192000" cy="533400"/>
          </a:xfrm>
          <a:prstGeom prst="rect">
            <a:avLst/>
          </a:prstGeom>
        </p:spPr>
      </p:pic>
      <p:pic>
        <p:nvPicPr>
          <p:cNvPr id="22" name="Image 20" descr="preencoded.png"/>
          <p:cNvPicPr>
            <a:picLocks noChangeAspect="1"/>
          </p:cNvPicPr>
          <p:nvPr/>
        </p:nvPicPr>
        <p:blipFill>
          <a:blip r:embed="rId21"/>
          <a:stretch>
            <a:fillRect/>
          </a:stretch>
        </p:blipFill>
        <p:spPr>
          <a:xfrm>
            <a:off x="457200" y="7067550"/>
            <a:ext cx="152400" cy="152400"/>
          </a:xfrm>
          <a:prstGeom prst="rect">
            <a:avLst/>
          </a:prstGeom>
        </p:spPr>
      </p:pic>
      <p:sp>
        <p:nvSpPr>
          <p:cNvPr id="23" name="Text 0"/>
          <p:cNvSpPr/>
          <p:nvPr/>
        </p:nvSpPr>
        <p:spPr>
          <a:xfrm>
            <a:off x="457200" y="209550"/>
            <a:ext cx="6338292"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Introduction to Elastic Beanstalk</a:t>
            </a:r>
            <a:endParaRPr lang="en-US" sz="2250" dirty="0"/>
          </a:p>
        </p:txBody>
      </p:sp>
      <p:sp>
        <p:nvSpPr>
          <p:cNvPr id="24" name="Text 1"/>
          <p:cNvSpPr/>
          <p:nvPr/>
        </p:nvSpPr>
        <p:spPr>
          <a:xfrm>
            <a:off x="457200" y="1219200"/>
            <a:ext cx="5334000" cy="1219200"/>
          </a:xfrm>
          <a:prstGeom prst="rect">
            <a:avLst/>
          </a:prstGeom>
          <a:noFill/>
          <a:ln/>
        </p:spPr>
        <p:txBody>
          <a:bodyPr vert="horz" wrap="square" lIns="0" tIns="0" rIns="0" bIns="0" rtlCol="0" anchor="t"/>
          <a:lstStyle/>
          <a:p>
            <a:pPr marL="0" indent="0">
              <a:lnSpc>
                <a:spcPts val="2400"/>
              </a:lnSpc>
              <a:buNone/>
            </a:pPr>
            <a:r>
              <a:rPr lang="en-US" sz="1800" dirty="0">
                <a:solidFill>
                  <a:srgbClr val="1F2937"/>
                </a:solidFill>
                <a:latin typeface="ui-sans-serif" pitchFamily="34" charset="0"/>
                <a:ea typeface="ui-sans-serif" pitchFamily="34" charset="-122"/>
                <a:cs typeface="ui-sans-serif" pitchFamily="34" charset="-120"/>
              </a:rPr>
              <a:t>AWS Elastic Beanstalk is a Platform-as-a-Service (PaaS) offering that simplifies the deployment and management of applications in the cloud.</a:t>
            </a:r>
            <a:endParaRPr lang="en-US" sz="1800" dirty="0"/>
          </a:p>
        </p:txBody>
      </p:sp>
      <p:sp>
        <p:nvSpPr>
          <p:cNvPr id="25" name="Text 2"/>
          <p:cNvSpPr/>
          <p:nvPr/>
        </p:nvSpPr>
        <p:spPr>
          <a:xfrm>
            <a:off x="457200" y="2924175"/>
            <a:ext cx="5334000" cy="8001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It automates the provisioning, load balancing, auto-scaling, and monitoring of infrastructure, allowing developers to focus on writing code.</a:t>
            </a:r>
            <a:endParaRPr lang="en-US" sz="1500" dirty="0"/>
          </a:p>
        </p:txBody>
      </p:sp>
      <p:sp>
        <p:nvSpPr>
          <p:cNvPr id="26" name="Text 3"/>
          <p:cNvSpPr/>
          <p:nvPr/>
        </p:nvSpPr>
        <p:spPr>
          <a:xfrm>
            <a:off x="895350" y="4333875"/>
            <a:ext cx="4876800"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 Elastic Beanstalk functions by orchestrating a suite of underlying AWS services, seamlessly integrating them to establish a cohesive and fully functional application environment.</a:t>
            </a:r>
            <a:endParaRPr lang="en-US" sz="1350" dirty="0"/>
          </a:p>
        </p:txBody>
      </p:sp>
      <p:sp>
        <p:nvSpPr>
          <p:cNvPr id="27" name="Text 4"/>
          <p:cNvSpPr/>
          <p:nvPr/>
        </p:nvSpPr>
        <p:spPr>
          <a:xfrm>
            <a:off x="6286500" y="2124075"/>
            <a:ext cx="23241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Simplified Deployment</a:t>
            </a:r>
            <a:endParaRPr lang="en-US" sz="1500" dirty="0"/>
          </a:p>
        </p:txBody>
      </p:sp>
      <p:sp>
        <p:nvSpPr>
          <p:cNvPr id="28" name="Text 5"/>
          <p:cNvSpPr/>
          <p:nvPr/>
        </p:nvSpPr>
        <p:spPr>
          <a:xfrm>
            <a:off x="6286500" y="2733675"/>
            <a:ext cx="23241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Deploy and manage applications without deep involvement in infrastructure provisioning</a:t>
            </a:r>
            <a:endParaRPr lang="en-US" sz="1200" dirty="0"/>
          </a:p>
        </p:txBody>
      </p:sp>
      <p:sp>
        <p:nvSpPr>
          <p:cNvPr id="29" name="Text 6"/>
          <p:cNvSpPr/>
          <p:nvPr/>
        </p:nvSpPr>
        <p:spPr>
          <a:xfrm>
            <a:off x="9220200" y="2124075"/>
            <a:ext cx="23241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Infrastructure Abstraction</a:t>
            </a:r>
            <a:endParaRPr lang="en-US" sz="1500" dirty="0"/>
          </a:p>
        </p:txBody>
      </p:sp>
      <p:sp>
        <p:nvSpPr>
          <p:cNvPr id="30" name="Text 7"/>
          <p:cNvSpPr/>
          <p:nvPr/>
        </p:nvSpPr>
        <p:spPr>
          <a:xfrm>
            <a:off x="9220200" y="2733675"/>
            <a:ext cx="23241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Abstracts away operational complexities of underlying AWS resources</a:t>
            </a:r>
            <a:endParaRPr lang="en-US" sz="1200" dirty="0"/>
          </a:p>
        </p:txBody>
      </p:sp>
      <p:sp>
        <p:nvSpPr>
          <p:cNvPr id="31" name="Text 8"/>
          <p:cNvSpPr/>
          <p:nvPr/>
        </p:nvSpPr>
        <p:spPr>
          <a:xfrm>
            <a:off x="6286500" y="4972050"/>
            <a:ext cx="27889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Developer Focus</a:t>
            </a:r>
            <a:endParaRPr lang="en-US" sz="1500" dirty="0"/>
          </a:p>
        </p:txBody>
      </p:sp>
      <p:sp>
        <p:nvSpPr>
          <p:cNvPr id="32" name="Text 9"/>
          <p:cNvSpPr/>
          <p:nvPr/>
        </p:nvSpPr>
        <p:spPr>
          <a:xfrm>
            <a:off x="6286500" y="5314950"/>
            <a:ext cx="23241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Allows teams to focus on application development rather than infrastructure management</a:t>
            </a:r>
            <a:endParaRPr lang="en-US" sz="1200" dirty="0"/>
          </a:p>
        </p:txBody>
      </p:sp>
      <p:sp>
        <p:nvSpPr>
          <p:cNvPr id="33" name="Text 10"/>
          <p:cNvSpPr/>
          <p:nvPr/>
        </p:nvSpPr>
        <p:spPr>
          <a:xfrm>
            <a:off x="9220200" y="4972050"/>
            <a:ext cx="27889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Pay-As-You-Go</a:t>
            </a:r>
            <a:endParaRPr lang="en-US" sz="1500" dirty="0"/>
          </a:p>
        </p:txBody>
      </p:sp>
      <p:sp>
        <p:nvSpPr>
          <p:cNvPr id="34" name="Text 11"/>
          <p:cNvSpPr/>
          <p:nvPr/>
        </p:nvSpPr>
        <p:spPr>
          <a:xfrm>
            <a:off x="9220200" y="5314950"/>
            <a:ext cx="23241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Only pay for the underlying AWS resources consumed by your application</a:t>
            </a:r>
            <a:endParaRPr lang="en-US" sz="1200" dirty="0"/>
          </a:p>
        </p:txBody>
      </p:sp>
      <p:sp>
        <p:nvSpPr>
          <p:cNvPr id="36" name="Text 13"/>
          <p:cNvSpPr/>
          <p:nvPr/>
        </p:nvSpPr>
        <p:spPr>
          <a:xfrm>
            <a:off x="11392495" y="7029450"/>
            <a:ext cx="41076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8067675"/>
          </a:xfrm>
          <a:prstGeom prst="rect">
            <a:avLst/>
          </a:prstGeom>
        </p:spPr>
      </p:pic>
      <p:pic>
        <p:nvPicPr>
          <p:cNvPr id="3" name="Image 1" descr="preencoded.png"/>
          <p:cNvPicPr>
            <a:picLocks noChangeAspect="1"/>
          </p:cNvPicPr>
          <p:nvPr/>
        </p:nvPicPr>
        <p:blipFill>
          <a:blip r:embed="rId4"/>
          <a:stretch>
            <a:fillRect/>
          </a:stretch>
        </p:blipFill>
        <p:spPr>
          <a:xfrm>
            <a:off x="9677400" y="4840486"/>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806648"/>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2095500"/>
            <a:ext cx="952500" cy="28575"/>
          </a:xfrm>
          <a:prstGeom prst="rect">
            <a:avLst/>
          </a:prstGeom>
        </p:spPr>
      </p:pic>
      <p:pic>
        <p:nvPicPr>
          <p:cNvPr id="7" name="Image 5" descr="preencoded.png"/>
          <p:cNvPicPr>
            <a:picLocks noChangeAspect="1"/>
          </p:cNvPicPr>
          <p:nvPr/>
        </p:nvPicPr>
        <p:blipFill>
          <a:blip r:embed="rId8"/>
          <a:stretch>
            <a:fillRect/>
          </a:stretch>
        </p:blipFill>
        <p:spPr>
          <a:xfrm>
            <a:off x="381000" y="2223285"/>
            <a:ext cx="5486400" cy="990600"/>
          </a:xfrm>
          <a:prstGeom prst="rect">
            <a:avLst/>
          </a:prstGeom>
        </p:spPr>
      </p:pic>
      <p:pic>
        <p:nvPicPr>
          <p:cNvPr id="8" name="Image 6" descr="preencoded.png"/>
          <p:cNvPicPr>
            <a:picLocks noChangeAspect="1"/>
          </p:cNvPicPr>
          <p:nvPr/>
        </p:nvPicPr>
        <p:blipFill>
          <a:blip r:embed="rId9"/>
          <a:stretch>
            <a:fillRect/>
          </a:stretch>
        </p:blipFill>
        <p:spPr>
          <a:xfrm>
            <a:off x="533400" y="2427441"/>
            <a:ext cx="476250" cy="476250"/>
          </a:xfrm>
          <a:prstGeom prst="rect">
            <a:avLst/>
          </a:prstGeom>
        </p:spPr>
      </p:pic>
      <p:pic>
        <p:nvPicPr>
          <p:cNvPr id="9" name="Image 7" descr="preencoded.png"/>
          <p:cNvPicPr>
            <a:picLocks noChangeAspect="1"/>
          </p:cNvPicPr>
          <p:nvPr/>
        </p:nvPicPr>
        <p:blipFill>
          <a:blip r:embed="rId10"/>
          <a:stretch>
            <a:fillRect/>
          </a:stretch>
        </p:blipFill>
        <p:spPr>
          <a:xfrm>
            <a:off x="661988" y="2523590"/>
            <a:ext cx="219075" cy="266700"/>
          </a:xfrm>
          <a:prstGeom prst="rect">
            <a:avLst/>
          </a:prstGeom>
        </p:spPr>
      </p:pic>
      <p:pic>
        <p:nvPicPr>
          <p:cNvPr id="10" name="Image 8" descr="preencoded.png"/>
          <p:cNvPicPr>
            <a:picLocks noChangeAspect="1"/>
          </p:cNvPicPr>
          <p:nvPr/>
        </p:nvPicPr>
        <p:blipFill>
          <a:blip r:embed="rId11"/>
          <a:stretch>
            <a:fillRect/>
          </a:stretch>
        </p:blipFill>
        <p:spPr>
          <a:xfrm>
            <a:off x="381000" y="3340406"/>
            <a:ext cx="5486400" cy="907744"/>
          </a:xfrm>
          <a:prstGeom prst="rect">
            <a:avLst/>
          </a:prstGeom>
        </p:spPr>
      </p:pic>
      <p:pic>
        <p:nvPicPr>
          <p:cNvPr id="11" name="Image 9" descr="preencoded.png"/>
          <p:cNvPicPr>
            <a:picLocks noChangeAspect="1"/>
          </p:cNvPicPr>
          <p:nvPr/>
        </p:nvPicPr>
        <p:blipFill>
          <a:blip r:embed="rId12"/>
          <a:stretch>
            <a:fillRect/>
          </a:stretch>
        </p:blipFill>
        <p:spPr>
          <a:xfrm>
            <a:off x="533400" y="3535937"/>
            <a:ext cx="476250" cy="476250"/>
          </a:xfrm>
          <a:prstGeom prst="rect">
            <a:avLst/>
          </a:prstGeom>
        </p:spPr>
      </p:pic>
      <p:pic>
        <p:nvPicPr>
          <p:cNvPr id="12" name="Image 10" descr="preencoded.png"/>
          <p:cNvPicPr>
            <a:picLocks noChangeAspect="1"/>
          </p:cNvPicPr>
          <p:nvPr/>
        </p:nvPicPr>
        <p:blipFill>
          <a:blip r:embed="rId13"/>
          <a:stretch>
            <a:fillRect/>
          </a:stretch>
        </p:blipFill>
        <p:spPr>
          <a:xfrm>
            <a:off x="685800" y="3675216"/>
            <a:ext cx="171450" cy="266700"/>
          </a:xfrm>
          <a:prstGeom prst="rect">
            <a:avLst/>
          </a:prstGeom>
        </p:spPr>
      </p:pic>
      <p:pic>
        <p:nvPicPr>
          <p:cNvPr id="13" name="Image 11" descr="preencoded.png"/>
          <p:cNvPicPr>
            <a:picLocks noChangeAspect="1"/>
          </p:cNvPicPr>
          <p:nvPr/>
        </p:nvPicPr>
        <p:blipFill>
          <a:blip r:embed="rId14"/>
          <a:stretch>
            <a:fillRect/>
          </a:stretch>
        </p:blipFill>
        <p:spPr>
          <a:xfrm>
            <a:off x="381000" y="4362634"/>
            <a:ext cx="5486400" cy="969238"/>
          </a:xfrm>
          <a:prstGeom prst="rect">
            <a:avLst/>
          </a:prstGeom>
        </p:spPr>
      </p:pic>
      <p:pic>
        <p:nvPicPr>
          <p:cNvPr id="14" name="Image 12" descr="preencoded.png"/>
          <p:cNvPicPr>
            <a:picLocks noChangeAspect="1"/>
          </p:cNvPicPr>
          <p:nvPr/>
        </p:nvPicPr>
        <p:blipFill>
          <a:blip r:embed="rId15"/>
          <a:stretch>
            <a:fillRect/>
          </a:stretch>
        </p:blipFill>
        <p:spPr>
          <a:xfrm>
            <a:off x="533400" y="4454656"/>
            <a:ext cx="476250" cy="476250"/>
          </a:xfrm>
          <a:prstGeom prst="rect">
            <a:avLst/>
          </a:prstGeom>
        </p:spPr>
      </p:pic>
      <p:pic>
        <p:nvPicPr>
          <p:cNvPr id="15" name="Image 13" descr="preencoded.png"/>
          <p:cNvPicPr>
            <a:picLocks noChangeAspect="1"/>
          </p:cNvPicPr>
          <p:nvPr/>
        </p:nvPicPr>
        <p:blipFill>
          <a:blip r:embed="rId16"/>
          <a:stretch>
            <a:fillRect/>
          </a:stretch>
        </p:blipFill>
        <p:spPr>
          <a:xfrm>
            <a:off x="676275" y="4542170"/>
            <a:ext cx="190500" cy="266700"/>
          </a:xfrm>
          <a:prstGeom prst="rect">
            <a:avLst/>
          </a:prstGeom>
        </p:spPr>
      </p:pic>
      <p:pic>
        <p:nvPicPr>
          <p:cNvPr id="16" name="Image 14" descr="preencoded.png"/>
          <p:cNvPicPr>
            <a:picLocks noChangeAspect="1"/>
          </p:cNvPicPr>
          <p:nvPr/>
        </p:nvPicPr>
        <p:blipFill>
          <a:blip r:embed="rId14"/>
          <a:stretch>
            <a:fillRect/>
          </a:stretch>
        </p:blipFill>
        <p:spPr>
          <a:xfrm>
            <a:off x="381000" y="5463223"/>
            <a:ext cx="5486400" cy="889952"/>
          </a:xfrm>
          <a:prstGeom prst="rect">
            <a:avLst/>
          </a:prstGeom>
        </p:spPr>
      </p:pic>
      <p:pic>
        <p:nvPicPr>
          <p:cNvPr id="17" name="Image 15" descr="preencoded.png"/>
          <p:cNvPicPr>
            <a:picLocks noChangeAspect="1"/>
          </p:cNvPicPr>
          <p:nvPr/>
        </p:nvPicPr>
        <p:blipFill>
          <a:blip r:embed="rId17"/>
          <a:stretch>
            <a:fillRect/>
          </a:stretch>
        </p:blipFill>
        <p:spPr>
          <a:xfrm>
            <a:off x="533400" y="5589748"/>
            <a:ext cx="476250" cy="476250"/>
          </a:xfrm>
          <a:prstGeom prst="rect">
            <a:avLst/>
          </a:prstGeom>
        </p:spPr>
      </p:pic>
      <p:pic>
        <p:nvPicPr>
          <p:cNvPr id="18" name="Image 16" descr="preencoded.png"/>
          <p:cNvPicPr>
            <a:picLocks noChangeAspect="1"/>
          </p:cNvPicPr>
          <p:nvPr/>
        </p:nvPicPr>
        <p:blipFill>
          <a:blip r:embed="rId18"/>
          <a:stretch>
            <a:fillRect/>
          </a:stretch>
        </p:blipFill>
        <p:spPr>
          <a:xfrm>
            <a:off x="676275" y="5694518"/>
            <a:ext cx="190500" cy="266700"/>
          </a:xfrm>
          <a:prstGeom prst="rect">
            <a:avLst/>
          </a:prstGeom>
        </p:spPr>
      </p:pic>
      <p:pic>
        <p:nvPicPr>
          <p:cNvPr id="19" name="Image 17" descr="preencoded.png"/>
          <p:cNvPicPr>
            <a:picLocks noChangeAspect="1"/>
          </p:cNvPicPr>
          <p:nvPr/>
        </p:nvPicPr>
        <p:blipFill>
          <a:blip r:embed="rId19"/>
          <a:stretch>
            <a:fillRect/>
          </a:stretch>
        </p:blipFill>
        <p:spPr>
          <a:xfrm>
            <a:off x="6324600" y="1143001"/>
            <a:ext cx="5486400" cy="5505449"/>
          </a:xfrm>
          <a:prstGeom prst="rect">
            <a:avLst/>
          </a:prstGeom>
        </p:spPr>
      </p:pic>
      <p:pic>
        <p:nvPicPr>
          <p:cNvPr id="20" name="Image 18" descr="preencoded.png"/>
          <p:cNvPicPr>
            <a:picLocks noChangeAspect="1"/>
          </p:cNvPicPr>
          <p:nvPr/>
        </p:nvPicPr>
        <p:blipFill>
          <a:blip r:embed="rId20"/>
          <a:stretch>
            <a:fillRect/>
          </a:stretch>
        </p:blipFill>
        <p:spPr>
          <a:xfrm>
            <a:off x="6553200" y="1971675"/>
            <a:ext cx="952500" cy="28575"/>
          </a:xfrm>
          <a:prstGeom prst="rect">
            <a:avLst/>
          </a:prstGeom>
        </p:spPr>
      </p:pic>
      <p:pic>
        <p:nvPicPr>
          <p:cNvPr id="21" name="Image 19" descr="preencoded.png"/>
          <p:cNvPicPr>
            <a:picLocks noChangeAspect="1"/>
          </p:cNvPicPr>
          <p:nvPr/>
        </p:nvPicPr>
        <p:blipFill>
          <a:blip r:embed="rId21"/>
          <a:stretch>
            <a:fillRect/>
          </a:stretch>
        </p:blipFill>
        <p:spPr>
          <a:xfrm>
            <a:off x="7848600" y="2457450"/>
            <a:ext cx="2438400" cy="457200"/>
          </a:xfrm>
          <a:prstGeom prst="rect">
            <a:avLst/>
          </a:prstGeom>
        </p:spPr>
      </p:pic>
      <p:pic>
        <p:nvPicPr>
          <p:cNvPr id="22" name="Image 20" descr="preencoded.png"/>
          <p:cNvPicPr>
            <a:picLocks noChangeAspect="1"/>
          </p:cNvPicPr>
          <p:nvPr/>
        </p:nvPicPr>
        <p:blipFill>
          <a:blip r:embed="rId22"/>
          <a:stretch>
            <a:fillRect/>
          </a:stretch>
        </p:blipFill>
        <p:spPr>
          <a:xfrm>
            <a:off x="8280648" y="2600325"/>
            <a:ext cx="152400" cy="152400"/>
          </a:xfrm>
          <a:prstGeom prst="rect">
            <a:avLst/>
          </a:prstGeom>
        </p:spPr>
      </p:pic>
      <p:pic>
        <p:nvPicPr>
          <p:cNvPr id="23" name="Image 21" descr="preencoded.png"/>
          <p:cNvPicPr>
            <a:picLocks noChangeAspect="1"/>
          </p:cNvPicPr>
          <p:nvPr/>
        </p:nvPicPr>
        <p:blipFill>
          <a:blip r:embed="rId23"/>
          <a:stretch>
            <a:fillRect/>
          </a:stretch>
        </p:blipFill>
        <p:spPr>
          <a:xfrm>
            <a:off x="9058275" y="3067050"/>
            <a:ext cx="19050" cy="609600"/>
          </a:xfrm>
          <a:prstGeom prst="rect">
            <a:avLst/>
          </a:prstGeom>
        </p:spPr>
      </p:pic>
      <p:pic>
        <p:nvPicPr>
          <p:cNvPr id="24" name="Image 22" descr="preencoded.png"/>
          <p:cNvPicPr>
            <a:picLocks noChangeAspect="1"/>
          </p:cNvPicPr>
          <p:nvPr/>
        </p:nvPicPr>
        <p:blipFill>
          <a:blip r:embed="rId24"/>
          <a:stretch>
            <a:fillRect/>
          </a:stretch>
        </p:blipFill>
        <p:spPr>
          <a:xfrm>
            <a:off x="8032700" y="3676650"/>
            <a:ext cx="414635" cy="571500"/>
          </a:xfrm>
          <a:prstGeom prst="rect">
            <a:avLst/>
          </a:prstGeom>
        </p:spPr>
      </p:pic>
      <p:pic>
        <p:nvPicPr>
          <p:cNvPr id="25" name="Image 23" descr="preencoded.png"/>
          <p:cNvPicPr>
            <a:picLocks noChangeAspect="1"/>
          </p:cNvPicPr>
          <p:nvPr/>
        </p:nvPicPr>
        <p:blipFill>
          <a:blip r:embed="rId25"/>
          <a:stretch>
            <a:fillRect/>
          </a:stretch>
        </p:blipFill>
        <p:spPr>
          <a:xfrm>
            <a:off x="8144768" y="3781425"/>
            <a:ext cx="190500" cy="152400"/>
          </a:xfrm>
          <a:prstGeom prst="rect">
            <a:avLst/>
          </a:prstGeom>
        </p:spPr>
      </p:pic>
      <p:pic>
        <p:nvPicPr>
          <p:cNvPr id="26" name="Image 24" descr="preencoded.png"/>
          <p:cNvPicPr>
            <a:picLocks noChangeAspect="1"/>
          </p:cNvPicPr>
          <p:nvPr/>
        </p:nvPicPr>
        <p:blipFill>
          <a:blip r:embed="rId26"/>
          <a:stretch>
            <a:fillRect/>
          </a:stretch>
        </p:blipFill>
        <p:spPr>
          <a:xfrm>
            <a:off x="8599736" y="3676650"/>
            <a:ext cx="402431" cy="571500"/>
          </a:xfrm>
          <a:prstGeom prst="rect">
            <a:avLst/>
          </a:prstGeom>
        </p:spPr>
      </p:pic>
      <p:pic>
        <p:nvPicPr>
          <p:cNvPr id="27" name="Image 25" descr="preencoded.png"/>
          <p:cNvPicPr>
            <a:picLocks noChangeAspect="1"/>
          </p:cNvPicPr>
          <p:nvPr/>
        </p:nvPicPr>
        <p:blipFill>
          <a:blip r:embed="rId27"/>
          <a:stretch>
            <a:fillRect/>
          </a:stretch>
        </p:blipFill>
        <p:spPr>
          <a:xfrm>
            <a:off x="8705701" y="3781425"/>
            <a:ext cx="190500" cy="152400"/>
          </a:xfrm>
          <a:prstGeom prst="rect">
            <a:avLst/>
          </a:prstGeom>
        </p:spPr>
      </p:pic>
      <p:pic>
        <p:nvPicPr>
          <p:cNvPr id="28" name="Image 26" descr="preencoded.png"/>
          <p:cNvPicPr>
            <a:picLocks noChangeAspect="1"/>
          </p:cNvPicPr>
          <p:nvPr/>
        </p:nvPicPr>
        <p:blipFill>
          <a:blip r:embed="rId28"/>
          <a:stretch>
            <a:fillRect/>
          </a:stretch>
        </p:blipFill>
        <p:spPr>
          <a:xfrm>
            <a:off x="9154567" y="3676650"/>
            <a:ext cx="948482" cy="571500"/>
          </a:xfrm>
          <a:prstGeom prst="rect">
            <a:avLst/>
          </a:prstGeom>
        </p:spPr>
      </p:pic>
      <p:pic>
        <p:nvPicPr>
          <p:cNvPr id="29" name="Image 27" descr="preencoded.png"/>
          <p:cNvPicPr>
            <a:picLocks noChangeAspect="1"/>
          </p:cNvPicPr>
          <p:nvPr/>
        </p:nvPicPr>
        <p:blipFill>
          <a:blip r:embed="rId29"/>
          <a:stretch>
            <a:fillRect/>
          </a:stretch>
        </p:blipFill>
        <p:spPr>
          <a:xfrm>
            <a:off x="9543008" y="3781425"/>
            <a:ext cx="171450" cy="152400"/>
          </a:xfrm>
          <a:prstGeom prst="rect">
            <a:avLst/>
          </a:prstGeom>
        </p:spPr>
      </p:pic>
      <p:pic>
        <p:nvPicPr>
          <p:cNvPr id="30" name="Image 28" descr="preencoded.png"/>
          <p:cNvPicPr>
            <a:picLocks noChangeAspect="1"/>
          </p:cNvPicPr>
          <p:nvPr/>
        </p:nvPicPr>
        <p:blipFill>
          <a:blip r:embed="rId23"/>
          <a:stretch>
            <a:fillRect/>
          </a:stretch>
        </p:blipFill>
        <p:spPr>
          <a:xfrm>
            <a:off x="9058275" y="4286250"/>
            <a:ext cx="19050" cy="609600"/>
          </a:xfrm>
          <a:prstGeom prst="rect">
            <a:avLst/>
          </a:prstGeom>
        </p:spPr>
      </p:pic>
      <p:pic>
        <p:nvPicPr>
          <p:cNvPr id="31" name="Image 29" descr="preencoded.png"/>
          <p:cNvPicPr>
            <a:picLocks noChangeAspect="1"/>
          </p:cNvPicPr>
          <p:nvPr/>
        </p:nvPicPr>
        <p:blipFill>
          <a:blip r:embed="rId23"/>
          <a:stretch>
            <a:fillRect/>
          </a:stretch>
        </p:blipFill>
        <p:spPr>
          <a:xfrm>
            <a:off x="9058275" y="4286250"/>
            <a:ext cx="19050" cy="609600"/>
          </a:xfrm>
          <a:prstGeom prst="rect">
            <a:avLst/>
          </a:prstGeom>
        </p:spPr>
      </p:pic>
      <p:pic>
        <p:nvPicPr>
          <p:cNvPr id="32" name="Image 30" descr="preencoded.png"/>
          <p:cNvPicPr>
            <a:picLocks noChangeAspect="1"/>
          </p:cNvPicPr>
          <p:nvPr/>
        </p:nvPicPr>
        <p:blipFill>
          <a:blip r:embed="rId23"/>
          <a:stretch>
            <a:fillRect/>
          </a:stretch>
        </p:blipFill>
        <p:spPr>
          <a:xfrm>
            <a:off x="9058275" y="4286250"/>
            <a:ext cx="19050" cy="609600"/>
          </a:xfrm>
          <a:prstGeom prst="rect">
            <a:avLst/>
          </a:prstGeom>
        </p:spPr>
      </p:pic>
      <p:pic>
        <p:nvPicPr>
          <p:cNvPr id="33" name="Image 31" descr="preencoded.png"/>
          <p:cNvPicPr>
            <a:picLocks noChangeAspect="1"/>
          </p:cNvPicPr>
          <p:nvPr/>
        </p:nvPicPr>
        <p:blipFill>
          <a:blip r:embed="rId30"/>
          <a:stretch>
            <a:fillRect/>
          </a:stretch>
        </p:blipFill>
        <p:spPr>
          <a:xfrm>
            <a:off x="8144321" y="4972050"/>
            <a:ext cx="445145" cy="533400"/>
          </a:xfrm>
          <a:prstGeom prst="rect">
            <a:avLst/>
          </a:prstGeom>
        </p:spPr>
      </p:pic>
      <p:pic>
        <p:nvPicPr>
          <p:cNvPr id="34" name="Image 32" descr="preencoded.png"/>
          <p:cNvPicPr>
            <a:picLocks noChangeAspect="1"/>
          </p:cNvPicPr>
          <p:nvPr/>
        </p:nvPicPr>
        <p:blipFill>
          <a:blip r:embed="rId31"/>
          <a:stretch>
            <a:fillRect/>
          </a:stretch>
        </p:blipFill>
        <p:spPr>
          <a:xfrm>
            <a:off x="8271570" y="5076825"/>
            <a:ext cx="190500" cy="152400"/>
          </a:xfrm>
          <a:prstGeom prst="rect">
            <a:avLst/>
          </a:prstGeom>
        </p:spPr>
      </p:pic>
      <p:pic>
        <p:nvPicPr>
          <p:cNvPr id="35" name="Image 33" descr="preencoded.png"/>
          <p:cNvPicPr>
            <a:picLocks noChangeAspect="1"/>
          </p:cNvPicPr>
          <p:nvPr/>
        </p:nvPicPr>
        <p:blipFill>
          <a:blip r:embed="rId32"/>
          <a:stretch>
            <a:fillRect/>
          </a:stretch>
        </p:blipFill>
        <p:spPr>
          <a:xfrm>
            <a:off x="8818066" y="4972050"/>
            <a:ext cx="425351" cy="533400"/>
          </a:xfrm>
          <a:prstGeom prst="rect">
            <a:avLst/>
          </a:prstGeom>
        </p:spPr>
      </p:pic>
      <p:pic>
        <p:nvPicPr>
          <p:cNvPr id="36" name="Image 34" descr="preencoded.png"/>
          <p:cNvPicPr>
            <a:picLocks noChangeAspect="1"/>
          </p:cNvPicPr>
          <p:nvPr/>
        </p:nvPicPr>
        <p:blipFill>
          <a:blip r:embed="rId33"/>
          <a:stretch>
            <a:fillRect/>
          </a:stretch>
        </p:blipFill>
        <p:spPr>
          <a:xfrm>
            <a:off x="8964067" y="5076825"/>
            <a:ext cx="133350" cy="152400"/>
          </a:xfrm>
          <a:prstGeom prst="rect">
            <a:avLst/>
          </a:prstGeom>
        </p:spPr>
      </p:pic>
      <p:pic>
        <p:nvPicPr>
          <p:cNvPr id="37" name="Image 35" descr="preencoded.png"/>
          <p:cNvPicPr>
            <a:picLocks noChangeAspect="1"/>
          </p:cNvPicPr>
          <p:nvPr/>
        </p:nvPicPr>
        <p:blipFill>
          <a:blip r:embed="rId34"/>
          <a:stretch>
            <a:fillRect/>
          </a:stretch>
        </p:blipFill>
        <p:spPr>
          <a:xfrm>
            <a:off x="9472017" y="4972050"/>
            <a:ext cx="519261" cy="533400"/>
          </a:xfrm>
          <a:prstGeom prst="rect">
            <a:avLst/>
          </a:prstGeom>
        </p:spPr>
      </p:pic>
      <p:pic>
        <p:nvPicPr>
          <p:cNvPr id="38" name="Image 36" descr="preencoded.png"/>
          <p:cNvPicPr>
            <a:picLocks noChangeAspect="1"/>
          </p:cNvPicPr>
          <p:nvPr/>
        </p:nvPicPr>
        <p:blipFill>
          <a:blip r:embed="rId35"/>
          <a:stretch>
            <a:fillRect/>
          </a:stretch>
        </p:blipFill>
        <p:spPr>
          <a:xfrm>
            <a:off x="9636323" y="5076825"/>
            <a:ext cx="190500" cy="152400"/>
          </a:xfrm>
          <a:prstGeom prst="rect">
            <a:avLst/>
          </a:prstGeom>
        </p:spPr>
      </p:pic>
      <p:pic>
        <p:nvPicPr>
          <p:cNvPr id="39" name="Image 37" descr="preencoded.png"/>
          <p:cNvPicPr>
            <a:picLocks noChangeAspect="1"/>
          </p:cNvPicPr>
          <p:nvPr/>
        </p:nvPicPr>
        <p:blipFill>
          <a:blip r:embed="rId36"/>
          <a:stretch>
            <a:fillRect/>
          </a:stretch>
        </p:blipFill>
        <p:spPr>
          <a:xfrm>
            <a:off x="6553200" y="5734050"/>
            <a:ext cx="5029200" cy="876300"/>
          </a:xfrm>
          <a:prstGeom prst="rect">
            <a:avLst/>
          </a:prstGeom>
        </p:spPr>
      </p:pic>
      <p:pic>
        <p:nvPicPr>
          <p:cNvPr id="40" name="Image 38" descr="preencoded.png"/>
          <p:cNvPicPr>
            <a:picLocks noChangeAspect="1"/>
          </p:cNvPicPr>
          <p:nvPr/>
        </p:nvPicPr>
        <p:blipFill>
          <a:blip r:embed="rId37"/>
          <a:stretch>
            <a:fillRect/>
          </a:stretch>
        </p:blipFill>
        <p:spPr>
          <a:xfrm>
            <a:off x="6705600" y="5905500"/>
            <a:ext cx="133350" cy="133350"/>
          </a:xfrm>
          <a:prstGeom prst="rect">
            <a:avLst/>
          </a:prstGeom>
        </p:spPr>
      </p:pic>
      <p:pic>
        <p:nvPicPr>
          <p:cNvPr id="41" name="Image 39" descr="preencoded.png"/>
          <p:cNvPicPr>
            <a:picLocks noChangeAspect="1"/>
          </p:cNvPicPr>
          <p:nvPr/>
        </p:nvPicPr>
        <p:blipFill>
          <a:blip r:embed="rId38"/>
          <a:stretch>
            <a:fillRect/>
          </a:stretch>
        </p:blipFill>
        <p:spPr>
          <a:xfrm>
            <a:off x="0" y="7534275"/>
            <a:ext cx="12192000" cy="533400"/>
          </a:xfrm>
          <a:prstGeom prst="rect">
            <a:avLst/>
          </a:prstGeom>
        </p:spPr>
      </p:pic>
      <p:pic>
        <p:nvPicPr>
          <p:cNvPr id="42" name="Image 40" descr="preencoded.png"/>
          <p:cNvPicPr>
            <a:picLocks noChangeAspect="1"/>
          </p:cNvPicPr>
          <p:nvPr/>
        </p:nvPicPr>
        <p:blipFill>
          <a:blip r:embed="rId39"/>
          <a:stretch>
            <a:fillRect/>
          </a:stretch>
        </p:blipFill>
        <p:spPr>
          <a:xfrm>
            <a:off x="457200" y="7724775"/>
            <a:ext cx="152400" cy="152400"/>
          </a:xfrm>
          <a:prstGeom prst="rect">
            <a:avLst/>
          </a:prstGeom>
        </p:spPr>
      </p:pic>
      <p:sp>
        <p:nvSpPr>
          <p:cNvPr id="43" name="Text 0"/>
          <p:cNvSpPr/>
          <p:nvPr/>
        </p:nvSpPr>
        <p:spPr>
          <a:xfrm>
            <a:off x="457200" y="209550"/>
            <a:ext cx="6157555"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Core Concepts and Architecture</a:t>
            </a:r>
            <a:endParaRPr lang="en-US" sz="2250" dirty="0"/>
          </a:p>
        </p:txBody>
      </p:sp>
      <p:sp>
        <p:nvSpPr>
          <p:cNvPr id="44" name="Text 1"/>
          <p:cNvSpPr/>
          <p:nvPr/>
        </p:nvSpPr>
        <p:spPr>
          <a:xfrm>
            <a:off x="381000" y="1143000"/>
            <a:ext cx="5486400" cy="800100"/>
          </a:xfrm>
          <a:prstGeom prst="rect">
            <a:avLst/>
          </a:prstGeom>
          <a:noFill/>
          <a:ln/>
        </p:spPr>
        <p:txBody>
          <a:bodyPr vert="horz" wrap="square" lIns="0" tIns="0" rIns="0" bIns="0" rtlCol="0" anchor="t"/>
          <a:lstStyle/>
          <a:p>
            <a:pPr marL="0" indent="0">
              <a:lnSpc>
                <a:spcPts val="2100"/>
              </a:lnSpc>
              <a:buNone/>
            </a:pPr>
            <a:r>
              <a:rPr lang="en-US" sz="1500" dirty="0">
                <a:solidFill>
                  <a:srgbClr val="1F2937"/>
                </a:solidFill>
                <a:latin typeface="ui-sans-serif" pitchFamily="34" charset="0"/>
                <a:ea typeface="ui-sans-serif" pitchFamily="34" charset="-122"/>
                <a:cs typeface="ui-sans-serif" pitchFamily="34" charset="-120"/>
              </a:rPr>
              <a:t>Elastic Beanstalk organizes deployments around several logical components that work together to establish a cohesive application environment.</a:t>
            </a:r>
            <a:endParaRPr lang="en-US" sz="1500" dirty="0"/>
          </a:p>
        </p:txBody>
      </p:sp>
      <p:sp>
        <p:nvSpPr>
          <p:cNvPr id="45" name="Text 2"/>
          <p:cNvSpPr/>
          <p:nvPr/>
        </p:nvSpPr>
        <p:spPr>
          <a:xfrm>
            <a:off x="1162050" y="2418815"/>
            <a:ext cx="45529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Application</a:t>
            </a:r>
            <a:endParaRPr lang="en-US" sz="1350" dirty="0"/>
          </a:p>
        </p:txBody>
      </p:sp>
      <p:sp>
        <p:nvSpPr>
          <p:cNvPr id="46" name="Text 3"/>
          <p:cNvSpPr/>
          <p:nvPr/>
        </p:nvSpPr>
        <p:spPr>
          <a:xfrm>
            <a:off x="1162050" y="2706363"/>
            <a:ext cx="45529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 logical collection representing a software project, encompassing environments, versions, and configurations.</a:t>
            </a:r>
            <a:endParaRPr lang="en-US" sz="1050" dirty="0"/>
          </a:p>
        </p:txBody>
      </p:sp>
      <p:sp>
        <p:nvSpPr>
          <p:cNvPr id="47" name="Text 4"/>
          <p:cNvSpPr/>
          <p:nvPr/>
        </p:nvSpPr>
        <p:spPr>
          <a:xfrm>
            <a:off x="1162050" y="3510059"/>
            <a:ext cx="45529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Application Version</a:t>
            </a:r>
            <a:endParaRPr lang="en-US" sz="1350" dirty="0"/>
          </a:p>
        </p:txBody>
      </p:sp>
      <p:sp>
        <p:nvSpPr>
          <p:cNvPr id="48" name="Text 5"/>
          <p:cNvSpPr/>
          <p:nvPr/>
        </p:nvSpPr>
        <p:spPr>
          <a:xfrm>
            <a:off x="1162050" y="3814859"/>
            <a:ext cx="45529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 specific, labeled iteration of deployable code, stored in Amazon S3, enabling version control and rollbacks.</a:t>
            </a:r>
            <a:endParaRPr lang="en-US" sz="1050" dirty="0"/>
          </a:p>
        </p:txBody>
      </p:sp>
      <p:sp>
        <p:nvSpPr>
          <p:cNvPr id="49" name="Text 6"/>
          <p:cNvSpPr/>
          <p:nvPr/>
        </p:nvSpPr>
        <p:spPr>
          <a:xfrm>
            <a:off x="1162050" y="4480525"/>
            <a:ext cx="45529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Environment</a:t>
            </a:r>
            <a:endParaRPr lang="en-US" sz="1350" dirty="0"/>
          </a:p>
        </p:txBody>
      </p:sp>
      <p:sp>
        <p:nvSpPr>
          <p:cNvPr id="50" name="Text 7"/>
          <p:cNvSpPr/>
          <p:nvPr/>
        </p:nvSpPr>
        <p:spPr>
          <a:xfrm>
            <a:off x="1162050" y="4716317"/>
            <a:ext cx="455295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 collection of AWS resources running a particular application version. Environments are isolated, facilitating distinct development, staging, and production stages.</a:t>
            </a:r>
            <a:endParaRPr lang="en-US" sz="1050" dirty="0"/>
          </a:p>
        </p:txBody>
      </p:sp>
      <p:sp>
        <p:nvSpPr>
          <p:cNvPr id="51" name="Text 8"/>
          <p:cNvSpPr/>
          <p:nvPr/>
        </p:nvSpPr>
        <p:spPr>
          <a:xfrm>
            <a:off x="1162050" y="5529363"/>
            <a:ext cx="45529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Platform</a:t>
            </a:r>
            <a:endParaRPr lang="en-US" sz="1350" dirty="0"/>
          </a:p>
        </p:txBody>
      </p:sp>
      <p:sp>
        <p:nvSpPr>
          <p:cNvPr id="52" name="Text 9"/>
          <p:cNvSpPr/>
          <p:nvPr/>
        </p:nvSpPr>
        <p:spPr>
          <a:xfrm>
            <a:off x="1162050" y="5765146"/>
            <a:ext cx="455295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 predefined combination of an operating system, programming language runtime, web server, application server, and Elastic Beanstalk components.</a:t>
            </a:r>
            <a:endParaRPr lang="en-US" sz="1050" dirty="0"/>
          </a:p>
        </p:txBody>
      </p:sp>
      <p:sp>
        <p:nvSpPr>
          <p:cNvPr id="53" name="Text 10"/>
          <p:cNvSpPr/>
          <p:nvPr/>
        </p:nvSpPr>
        <p:spPr>
          <a:xfrm>
            <a:off x="6553200" y="1371600"/>
            <a:ext cx="60350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Architecture Overview</a:t>
            </a:r>
            <a:endParaRPr lang="en-US" sz="1800" dirty="0"/>
          </a:p>
        </p:txBody>
      </p:sp>
      <p:sp>
        <p:nvSpPr>
          <p:cNvPr id="54" name="Text 11"/>
          <p:cNvSpPr/>
          <p:nvPr/>
        </p:nvSpPr>
        <p:spPr>
          <a:xfrm>
            <a:off x="7604760" y="2457450"/>
            <a:ext cx="292608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 Elastic Beanstalk</a:t>
            </a:r>
            <a:endParaRPr lang="en-US" sz="1200" dirty="0"/>
          </a:p>
        </p:txBody>
      </p:sp>
      <p:sp>
        <p:nvSpPr>
          <p:cNvPr id="55" name="Text 12"/>
          <p:cNvSpPr/>
          <p:nvPr/>
        </p:nvSpPr>
        <p:spPr>
          <a:xfrm>
            <a:off x="8082677" y="3981450"/>
            <a:ext cx="31468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EC2</a:t>
            </a:r>
            <a:endParaRPr lang="en-US" sz="1050" dirty="0"/>
          </a:p>
        </p:txBody>
      </p:sp>
      <p:sp>
        <p:nvSpPr>
          <p:cNvPr id="56" name="Text 13"/>
          <p:cNvSpPr/>
          <p:nvPr/>
        </p:nvSpPr>
        <p:spPr>
          <a:xfrm>
            <a:off x="8650932" y="3981450"/>
            <a:ext cx="30003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ELB</a:t>
            </a:r>
            <a:endParaRPr lang="en-US" sz="1050" dirty="0"/>
          </a:p>
        </p:txBody>
      </p:sp>
      <p:sp>
        <p:nvSpPr>
          <p:cNvPr id="57" name="Text 14"/>
          <p:cNvSpPr/>
          <p:nvPr/>
        </p:nvSpPr>
        <p:spPr>
          <a:xfrm>
            <a:off x="9151159" y="3981450"/>
            <a:ext cx="95529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CloudWatch</a:t>
            </a:r>
            <a:endParaRPr lang="en-US" sz="1050" dirty="0"/>
          </a:p>
        </p:txBody>
      </p:sp>
      <p:sp>
        <p:nvSpPr>
          <p:cNvPr id="58" name="Text 15"/>
          <p:cNvSpPr/>
          <p:nvPr/>
        </p:nvSpPr>
        <p:spPr>
          <a:xfrm>
            <a:off x="8191247" y="5276850"/>
            <a:ext cx="351294"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000000"/>
                </a:solidFill>
                <a:latin typeface="ui-sans-serif" pitchFamily="34" charset="0"/>
                <a:ea typeface="ui-sans-serif" pitchFamily="34" charset="-122"/>
                <a:cs typeface="ui-sans-serif" pitchFamily="34" charset="-120"/>
              </a:rPr>
              <a:t>Code</a:t>
            </a:r>
            <a:endParaRPr lang="en-US" sz="900" dirty="0"/>
          </a:p>
        </p:txBody>
      </p:sp>
      <p:sp>
        <p:nvSpPr>
          <p:cNvPr id="59" name="Text 16"/>
          <p:cNvSpPr/>
          <p:nvPr/>
        </p:nvSpPr>
        <p:spPr>
          <a:xfrm>
            <a:off x="8866971" y="5276850"/>
            <a:ext cx="327541"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000000"/>
                </a:solidFill>
                <a:latin typeface="ui-sans-serif" pitchFamily="34" charset="0"/>
                <a:ea typeface="ui-sans-serif" pitchFamily="34" charset="-122"/>
                <a:cs typeface="ui-sans-serif" pitchFamily="34" charset="-120"/>
              </a:rPr>
              <a:t>Data</a:t>
            </a:r>
            <a:endParaRPr lang="en-US" sz="900" dirty="0"/>
          </a:p>
        </p:txBody>
      </p:sp>
      <p:sp>
        <p:nvSpPr>
          <p:cNvPr id="60" name="Text 17"/>
          <p:cNvSpPr/>
          <p:nvPr/>
        </p:nvSpPr>
        <p:spPr>
          <a:xfrm>
            <a:off x="9511531" y="5276850"/>
            <a:ext cx="440234"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000000"/>
                </a:solidFill>
                <a:latin typeface="ui-sans-serif" pitchFamily="34" charset="0"/>
                <a:ea typeface="ui-sans-serif" pitchFamily="34" charset="-122"/>
                <a:cs typeface="ui-sans-serif" pitchFamily="34" charset="-120"/>
              </a:rPr>
              <a:t>Config</a:t>
            </a:r>
            <a:endParaRPr lang="en-US" sz="900" dirty="0"/>
          </a:p>
        </p:txBody>
      </p:sp>
      <p:sp>
        <p:nvSpPr>
          <p:cNvPr id="61" name="Text 18"/>
          <p:cNvSpPr/>
          <p:nvPr/>
        </p:nvSpPr>
        <p:spPr>
          <a:xfrm>
            <a:off x="6915150" y="5886450"/>
            <a:ext cx="4724400" cy="571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Elastic Beanstalk leverages a combination of core AWS services to deliver its managed application environment, allowing developers to deploy applications without deep infrastructure involvement.</a:t>
            </a:r>
            <a:endParaRPr lang="en-US" sz="1050" dirty="0"/>
          </a:p>
        </p:txBody>
      </p:sp>
      <p:sp>
        <p:nvSpPr>
          <p:cNvPr id="62" name="Text 19"/>
          <p:cNvSpPr/>
          <p:nvPr/>
        </p:nvSpPr>
        <p:spPr>
          <a:xfrm>
            <a:off x="685800" y="7686675"/>
            <a:ext cx="20268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Elastic Beanstalk</a:t>
            </a:r>
            <a:endParaRPr lang="en-US" sz="1200" dirty="0"/>
          </a:p>
        </p:txBody>
      </p:sp>
      <p:sp>
        <p:nvSpPr>
          <p:cNvPr id="63" name="Text 20"/>
          <p:cNvSpPr/>
          <p:nvPr/>
        </p:nvSpPr>
        <p:spPr>
          <a:xfrm>
            <a:off x="11392495" y="7686675"/>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258050"/>
          </a:xfrm>
          <a:prstGeom prst="rect">
            <a:avLst/>
          </a:prstGeom>
        </p:spPr>
      </p:pic>
      <p:pic>
        <p:nvPicPr>
          <p:cNvPr id="3" name="Image 1" descr="preencoded.png"/>
          <p:cNvPicPr>
            <a:picLocks noChangeAspect="1"/>
          </p:cNvPicPr>
          <p:nvPr/>
        </p:nvPicPr>
        <p:blipFill>
          <a:blip r:embed="rId4"/>
          <a:stretch>
            <a:fillRect/>
          </a:stretch>
        </p:blipFill>
        <p:spPr>
          <a:xfrm>
            <a:off x="9677400" y="4990207"/>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725686"/>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1143000"/>
            <a:ext cx="5562600" cy="1495425"/>
          </a:xfrm>
          <a:prstGeom prst="rect">
            <a:avLst/>
          </a:prstGeom>
        </p:spPr>
      </p:pic>
      <p:pic>
        <p:nvPicPr>
          <p:cNvPr id="7" name="Image 5" descr="preencoded.png"/>
          <p:cNvPicPr>
            <a:picLocks noChangeAspect="1"/>
          </p:cNvPicPr>
          <p:nvPr/>
        </p:nvPicPr>
        <p:blipFill>
          <a:blip r:embed="rId8"/>
          <a:stretch>
            <a:fillRect/>
          </a:stretch>
        </p:blipFill>
        <p:spPr>
          <a:xfrm>
            <a:off x="609600" y="1371600"/>
            <a:ext cx="263723" cy="476250"/>
          </a:xfrm>
          <a:prstGeom prst="rect">
            <a:avLst/>
          </a:prstGeom>
        </p:spPr>
      </p:pic>
      <p:pic>
        <p:nvPicPr>
          <p:cNvPr id="8" name="Image 6" descr="preencoded.png"/>
          <p:cNvPicPr>
            <a:picLocks noChangeAspect="1"/>
          </p:cNvPicPr>
          <p:nvPr/>
        </p:nvPicPr>
        <p:blipFill>
          <a:blip r:embed="rId9"/>
          <a:stretch>
            <a:fillRect/>
          </a:stretch>
        </p:blipFill>
        <p:spPr>
          <a:xfrm>
            <a:off x="631924" y="1476375"/>
            <a:ext cx="219075" cy="266700"/>
          </a:xfrm>
          <a:prstGeom prst="rect">
            <a:avLst/>
          </a:prstGeom>
        </p:spPr>
      </p:pic>
      <p:pic>
        <p:nvPicPr>
          <p:cNvPr id="9" name="Image 7" descr="preencoded.png"/>
          <p:cNvPicPr>
            <a:picLocks noChangeAspect="1"/>
          </p:cNvPicPr>
          <p:nvPr/>
        </p:nvPicPr>
        <p:blipFill>
          <a:blip r:embed="rId10"/>
          <a:stretch>
            <a:fillRect/>
          </a:stretch>
        </p:blipFill>
        <p:spPr>
          <a:xfrm>
            <a:off x="1025723" y="1781175"/>
            <a:ext cx="952500" cy="28575"/>
          </a:xfrm>
          <a:prstGeom prst="rect">
            <a:avLst/>
          </a:prstGeom>
        </p:spPr>
      </p:pic>
      <p:pic>
        <p:nvPicPr>
          <p:cNvPr id="10" name="Image 8" descr="preencoded.png"/>
          <p:cNvPicPr>
            <a:picLocks noChangeAspect="1"/>
          </p:cNvPicPr>
          <p:nvPr/>
        </p:nvPicPr>
        <p:blipFill>
          <a:blip r:embed="rId7"/>
          <a:stretch>
            <a:fillRect/>
          </a:stretch>
        </p:blipFill>
        <p:spPr>
          <a:xfrm>
            <a:off x="6248400" y="1143000"/>
            <a:ext cx="5562600" cy="1495425"/>
          </a:xfrm>
          <a:prstGeom prst="rect">
            <a:avLst/>
          </a:prstGeom>
        </p:spPr>
      </p:pic>
      <p:pic>
        <p:nvPicPr>
          <p:cNvPr id="11" name="Image 9" descr="preencoded.png"/>
          <p:cNvPicPr>
            <a:picLocks noChangeAspect="1"/>
          </p:cNvPicPr>
          <p:nvPr/>
        </p:nvPicPr>
        <p:blipFill>
          <a:blip r:embed="rId11"/>
          <a:stretch>
            <a:fillRect/>
          </a:stretch>
        </p:blipFill>
        <p:spPr>
          <a:xfrm>
            <a:off x="6477000" y="1371600"/>
            <a:ext cx="268784" cy="476250"/>
          </a:xfrm>
          <a:prstGeom prst="rect">
            <a:avLst/>
          </a:prstGeom>
        </p:spPr>
      </p:pic>
      <p:pic>
        <p:nvPicPr>
          <p:cNvPr id="12" name="Image 10" descr="preencoded.png"/>
          <p:cNvPicPr>
            <a:picLocks noChangeAspect="1"/>
          </p:cNvPicPr>
          <p:nvPr/>
        </p:nvPicPr>
        <p:blipFill>
          <a:blip r:embed="rId12"/>
          <a:stretch>
            <a:fillRect/>
          </a:stretch>
        </p:blipFill>
        <p:spPr>
          <a:xfrm>
            <a:off x="6525667" y="1476375"/>
            <a:ext cx="171450" cy="266700"/>
          </a:xfrm>
          <a:prstGeom prst="rect">
            <a:avLst/>
          </a:prstGeom>
        </p:spPr>
      </p:pic>
      <p:pic>
        <p:nvPicPr>
          <p:cNvPr id="13" name="Image 11" descr="preencoded.png"/>
          <p:cNvPicPr>
            <a:picLocks noChangeAspect="1"/>
          </p:cNvPicPr>
          <p:nvPr/>
        </p:nvPicPr>
        <p:blipFill>
          <a:blip r:embed="rId13"/>
          <a:stretch>
            <a:fillRect/>
          </a:stretch>
        </p:blipFill>
        <p:spPr>
          <a:xfrm>
            <a:off x="6898184" y="1781175"/>
            <a:ext cx="952500" cy="28575"/>
          </a:xfrm>
          <a:prstGeom prst="rect">
            <a:avLst/>
          </a:prstGeom>
        </p:spPr>
      </p:pic>
      <p:pic>
        <p:nvPicPr>
          <p:cNvPr id="14" name="Image 12" descr="preencoded.png"/>
          <p:cNvPicPr>
            <a:picLocks noChangeAspect="1"/>
          </p:cNvPicPr>
          <p:nvPr/>
        </p:nvPicPr>
        <p:blipFill>
          <a:blip r:embed="rId14"/>
          <a:stretch>
            <a:fillRect/>
          </a:stretch>
        </p:blipFill>
        <p:spPr>
          <a:xfrm>
            <a:off x="381000" y="2943225"/>
            <a:ext cx="5562600" cy="3400425"/>
          </a:xfrm>
          <a:prstGeom prst="rect">
            <a:avLst/>
          </a:prstGeom>
        </p:spPr>
      </p:pic>
      <p:pic>
        <p:nvPicPr>
          <p:cNvPr id="15" name="Image 13" descr="preencoded.png"/>
          <p:cNvPicPr>
            <a:picLocks noChangeAspect="1"/>
          </p:cNvPicPr>
          <p:nvPr/>
        </p:nvPicPr>
        <p:blipFill>
          <a:blip r:embed="rId15"/>
          <a:stretch>
            <a:fillRect/>
          </a:stretch>
        </p:blipFill>
        <p:spPr>
          <a:xfrm>
            <a:off x="609600" y="3171825"/>
            <a:ext cx="190500" cy="476250"/>
          </a:xfrm>
          <a:prstGeom prst="rect">
            <a:avLst/>
          </a:prstGeom>
        </p:spPr>
      </p:pic>
      <p:pic>
        <p:nvPicPr>
          <p:cNvPr id="16" name="Image 14" descr="preencoded.png"/>
          <p:cNvPicPr>
            <a:picLocks noChangeAspect="1"/>
          </p:cNvPicPr>
          <p:nvPr/>
        </p:nvPicPr>
        <p:blipFill>
          <a:blip r:embed="rId16"/>
          <a:stretch>
            <a:fillRect/>
          </a:stretch>
        </p:blipFill>
        <p:spPr>
          <a:xfrm>
            <a:off x="609600" y="3276600"/>
            <a:ext cx="190500" cy="266700"/>
          </a:xfrm>
          <a:prstGeom prst="rect">
            <a:avLst/>
          </a:prstGeom>
        </p:spPr>
      </p:pic>
      <p:pic>
        <p:nvPicPr>
          <p:cNvPr id="17" name="Image 15" descr="preencoded.png"/>
          <p:cNvPicPr>
            <a:picLocks noChangeAspect="1"/>
          </p:cNvPicPr>
          <p:nvPr/>
        </p:nvPicPr>
        <p:blipFill>
          <a:blip r:embed="rId17"/>
          <a:stretch>
            <a:fillRect/>
          </a:stretch>
        </p:blipFill>
        <p:spPr>
          <a:xfrm>
            <a:off x="952500" y="3581400"/>
            <a:ext cx="952500" cy="28575"/>
          </a:xfrm>
          <a:prstGeom prst="rect">
            <a:avLst/>
          </a:prstGeom>
        </p:spPr>
      </p:pic>
      <p:pic>
        <p:nvPicPr>
          <p:cNvPr id="18" name="Image 16" descr="preencoded.png"/>
          <p:cNvPicPr>
            <a:picLocks noChangeAspect="1"/>
          </p:cNvPicPr>
          <p:nvPr/>
        </p:nvPicPr>
        <p:blipFill>
          <a:blip r:embed="rId18"/>
          <a:stretch>
            <a:fillRect/>
          </a:stretch>
        </p:blipFill>
        <p:spPr>
          <a:xfrm>
            <a:off x="609600" y="4667250"/>
            <a:ext cx="2476500" cy="1447800"/>
          </a:xfrm>
          <a:prstGeom prst="rect">
            <a:avLst/>
          </a:prstGeom>
        </p:spPr>
      </p:pic>
      <p:pic>
        <p:nvPicPr>
          <p:cNvPr id="19" name="Image 17" descr="preencoded.png"/>
          <p:cNvPicPr>
            <a:picLocks noChangeAspect="1"/>
          </p:cNvPicPr>
          <p:nvPr/>
        </p:nvPicPr>
        <p:blipFill>
          <a:blip r:embed="rId19"/>
          <a:stretch>
            <a:fillRect/>
          </a:stretch>
        </p:blipFill>
        <p:spPr>
          <a:xfrm>
            <a:off x="723900" y="4810125"/>
            <a:ext cx="152400" cy="152400"/>
          </a:xfrm>
          <a:prstGeom prst="rect">
            <a:avLst/>
          </a:prstGeom>
        </p:spPr>
      </p:pic>
      <p:pic>
        <p:nvPicPr>
          <p:cNvPr id="20" name="Image 18" descr="preencoded.png"/>
          <p:cNvPicPr>
            <a:picLocks noChangeAspect="1"/>
          </p:cNvPicPr>
          <p:nvPr/>
        </p:nvPicPr>
        <p:blipFill>
          <a:blip r:embed="rId20"/>
          <a:stretch>
            <a:fillRect/>
          </a:stretch>
        </p:blipFill>
        <p:spPr>
          <a:xfrm>
            <a:off x="3238500" y="4667250"/>
            <a:ext cx="2476500" cy="1447800"/>
          </a:xfrm>
          <a:prstGeom prst="rect">
            <a:avLst/>
          </a:prstGeom>
        </p:spPr>
      </p:pic>
      <p:pic>
        <p:nvPicPr>
          <p:cNvPr id="21" name="Image 19" descr="preencoded.png"/>
          <p:cNvPicPr>
            <a:picLocks noChangeAspect="1"/>
          </p:cNvPicPr>
          <p:nvPr/>
        </p:nvPicPr>
        <p:blipFill>
          <a:blip r:embed="rId21"/>
          <a:stretch>
            <a:fillRect/>
          </a:stretch>
        </p:blipFill>
        <p:spPr>
          <a:xfrm>
            <a:off x="3352800" y="4810125"/>
            <a:ext cx="190500" cy="152400"/>
          </a:xfrm>
          <a:prstGeom prst="rect">
            <a:avLst/>
          </a:prstGeom>
        </p:spPr>
      </p:pic>
      <p:pic>
        <p:nvPicPr>
          <p:cNvPr id="22" name="Image 20" descr="preencoded.png"/>
          <p:cNvPicPr>
            <a:picLocks noChangeAspect="1"/>
          </p:cNvPicPr>
          <p:nvPr/>
        </p:nvPicPr>
        <p:blipFill>
          <a:blip r:embed="rId14"/>
          <a:stretch>
            <a:fillRect/>
          </a:stretch>
        </p:blipFill>
        <p:spPr>
          <a:xfrm>
            <a:off x="6248400" y="2943225"/>
            <a:ext cx="5562600" cy="3400425"/>
          </a:xfrm>
          <a:prstGeom prst="rect">
            <a:avLst/>
          </a:prstGeom>
        </p:spPr>
      </p:pic>
      <p:pic>
        <p:nvPicPr>
          <p:cNvPr id="23" name="Image 21" descr="preencoded.png"/>
          <p:cNvPicPr>
            <a:picLocks noChangeAspect="1"/>
          </p:cNvPicPr>
          <p:nvPr/>
        </p:nvPicPr>
        <p:blipFill>
          <a:blip r:embed="rId22"/>
          <a:stretch>
            <a:fillRect/>
          </a:stretch>
        </p:blipFill>
        <p:spPr>
          <a:xfrm>
            <a:off x="6477000" y="3171825"/>
            <a:ext cx="476250" cy="476250"/>
          </a:xfrm>
          <a:prstGeom prst="rect">
            <a:avLst/>
          </a:prstGeom>
        </p:spPr>
      </p:pic>
      <p:pic>
        <p:nvPicPr>
          <p:cNvPr id="24" name="Image 22" descr="preencoded.png"/>
          <p:cNvPicPr>
            <a:picLocks noChangeAspect="1"/>
          </p:cNvPicPr>
          <p:nvPr/>
        </p:nvPicPr>
        <p:blipFill>
          <a:blip r:embed="rId23"/>
          <a:stretch>
            <a:fillRect/>
          </a:stretch>
        </p:blipFill>
        <p:spPr>
          <a:xfrm>
            <a:off x="6619875" y="3276600"/>
            <a:ext cx="190500" cy="266700"/>
          </a:xfrm>
          <a:prstGeom prst="rect">
            <a:avLst/>
          </a:prstGeom>
        </p:spPr>
      </p:pic>
      <p:pic>
        <p:nvPicPr>
          <p:cNvPr id="25" name="Image 23" descr="preencoded.png"/>
          <p:cNvPicPr>
            <a:picLocks noChangeAspect="1"/>
          </p:cNvPicPr>
          <p:nvPr/>
        </p:nvPicPr>
        <p:blipFill>
          <a:blip r:embed="rId24"/>
          <a:stretch>
            <a:fillRect/>
          </a:stretch>
        </p:blipFill>
        <p:spPr>
          <a:xfrm>
            <a:off x="7105650" y="3581400"/>
            <a:ext cx="952500" cy="28575"/>
          </a:xfrm>
          <a:prstGeom prst="rect">
            <a:avLst/>
          </a:prstGeom>
        </p:spPr>
      </p:pic>
      <p:pic>
        <p:nvPicPr>
          <p:cNvPr id="26" name="Image 24" descr="preencoded.png"/>
          <p:cNvPicPr>
            <a:picLocks noChangeAspect="1"/>
          </p:cNvPicPr>
          <p:nvPr/>
        </p:nvPicPr>
        <p:blipFill>
          <a:blip r:embed="rId25"/>
          <a:stretch>
            <a:fillRect/>
          </a:stretch>
        </p:blipFill>
        <p:spPr>
          <a:xfrm>
            <a:off x="6477000" y="4248150"/>
            <a:ext cx="171450" cy="152400"/>
          </a:xfrm>
          <a:prstGeom prst="rect">
            <a:avLst/>
          </a:prstGeom>
        </p:spPr>
      </p:pic>
      <p:pic>
        <p:nvPicPr>
          <p:cNvPr id="27" name="Image 25" descr="preencoded.png"/>
          <p:cNvPicPr>
            <a:picLocks noChangeAspect="1"/>
          </p:cNvPicPr>
          <p:nvPr/>
        </p:nvPicPr>
        <p:blipFill>
          <a:blip r:embed="rId26"/>
          <a:stretch>
            <a:fillRect/>
          </a:stretch>
        </p:blipFill>
        <p:spPr>
          <a:xfrm>
            <a:off x="9086850" y="4248150"/>
            <a:ext cx="190500" cy="152400"/>
          </a:xfrm>
          <a:prstGeom prst="rect">
            <a:avLst/>
          </a:prstGeom>
        </p:spPr>
      </p:pic>
      <p:pic>
        <p:nvPicPr>
          <p:cNvPr id="28" name="Image 26" descr="preencoded.png"/>
          <p:cNvPicPr>
            <a:picLocks noChangeAspect="1"/>
          </p:cNvPicPr>
          <p:nvPr/>
        </p:nvPicPr>
        <p:blipFill>
          <a:blip r:embed="rId27"/>
          <a:stretch>
            <a:fillRect/>
          </a:stretch>
        </p:blipFill>
        <p:spPr>
          <a:xfrm>
            <a:off x="6477000" y="4705350"/>
            <a:ext cx="190500" cy="152400"/>
          </a:xfrm>
          <a:prstGeom prst="rect">
            <a:avLst/>
          </a:prstGeom>
        </p:spPr>
      </p:pic>
      <p:pic>
        <p:nvPicPr>
          <p:cNvPr id="29" name="Image 27" descr="preencoded.png"/>
          <p:cNvPicPr>
            <a:picLocks noChangeAspect="1"/>
          </p:cNvPicPr>
          <p:nvPr/>
        </p:nvPicPr>
        <p:blipFill>
          <a:blip r:embed="rId28"/>
          <a:stretch>
            <a:fillRect/>
          </a:stretch>
        </p:blipFill>
        <p:spPr>
          <a:xfrm>
            <a:off x="9086850" y="4705350"/>
            <a:ext cx="133350" cy="152400"/>
          </a:xfrm>
          <a:prstGeom prst="rect">
            <a:avLst/>
          </a:prstGeom>
        </p:spPr>
      </p:pic>
      <p:pic>
        <p:nvPicPr>
          <p:cNvPr id="30" name="Image 28" descr="preencoded.png"/>
          <p:cNvPicPr>
            <a:picLocks noChangeAspect="1"/>
          </p:cNvPicPr>
          <p:nvPr/>
        </p:nvPicPr>
        <p:blipFill>
          <a:blip r:embed="rId29"/>
          <a:stretch>
            <a:fillRect/>
          </a:stretch>
        </p:blipFill>
        <p:spPr>
          <a:xfrm>
            <a:off x="6477000" y="5162550"/>
            <a:ext cx="152400" cy="152400"/>
          </a:xfrm>
          <a:prstGeom prst="rect">
            <a:avLst/>
          </a:prstGeom>
        </p:spPr>
      </p:pic>
      <p:pic>
        <p:nvPicPr>
          <p:cNvPr id="31" name="Image 29" descr="preencoded.png"/>
          <p:cNvPicPr>
            <a:picLocks noChangeAspect="1"/>
          </p:cNvPicPr>
          <p:nvPr/>
        </p:nvPicPr>
        <p:blipFill>
          <a:blip r:embed="rId30"/>
          <a:stretch>
            <a:fillRect/>
          </a:stretch>
        </p:blipFill>
        <p:spPr>
          <a:xfrm>
            <a:off x="0" y="6724650"/>
            <a:ext cx="12192000" cy="533400"/>
          </a:xfrm>
          <a:prstGeom prst="rect">
            <a:avLst/>
          </a:prstGeom>
        </p:spPr>
      </p:pic>
      <p:pic>
        <p:nvPicPr>
          <p:cNvPr id="32" name="Image 30" descr="preencoded.png"/>
          <p:cNvPicPr>
            <a:picLocks noChangeAspect="1"/>
          </p:cNvPicPr>
          <p:nvPr/>
        </p:nvPicPr>
        <p:blipFill>
          <a:blip r:embed="rId31"/>
          <a:stretch>
            <a:fillRect/>
          </a:stretch>
        </p:blipFill>
        <p:spPr>
          <a:xfrm>
            <a:off x="457200" y="6915150"/>
            <a:ext cx="152400" cy="152400"/>
          </a:xfrm>
          <a:prstGeom prst="rect">
            <a:avLst/>
          </a:prstGeom>
        </p:spPr>
      </p:pic>
      <p:sp>
        <p:nvSpPr>
          <p:cNvPr id="33" name="Text 0"/>
          <p:cNvSpPr/>
          <p:nvPr/>
        </p:nvSpPr>
        <p:spPr>
          <a:xfrm>
            <a:off x="457200" y="209550"/>
            <a:ext cx="3249513"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Key Components</a:t>
            </a:r>
            <a:endParaRPr lang="en-US" sz="2250" dirty="0"/>
          </a:p>
        </p:txBody>
      </p:sp>
      <p:sp>
        <p:nvSpPr>
          <p:cNvPr id="34" name="Text 1"/>
          <p:cNvSpPr/>
          <p:nvPr/>
        </p:nvSpPr>
        <p:spPr>
          <a:xfrm>
            <a:off x="1025723" y="1371600"/>
            <a:ext cx="468927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Application</a:t>
            </a:r>
            <a:endParaRPr lang="en-US" sz="1500" dirty="0"/>
          </a:p>
        </p:txBody>
      </p:sp>
      <p:sp>
        <p:nvSpPr>
          <p:cNvPr id="35" name="Text 2"/>
          <p:cNvSpPr/>
          <p:nvPr/>
        </p:nvSpPr>
        <p:spPr>
          <a:xfrm>
            <a:off x="1025723" y="1952625"/>
            <a:ext cx="4689277"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logical collection representing a software project, encompassing environments, versions, and configurations.</a:t>
            </a:r>
            <a:endParaRPr lang="en-US" sz="1200" dirty="0"/>
          </a:p>
        </p:txBody>
      </p:sp>
      <p:sp>
        <p:nvSpPr>
          <p:cNvPr id="36" name="Text 3"/>
          <p:cNvSpPr/>
          <p:nvPr/>
        </p:nvSpPr>
        <p:spPr>
          <a:xfrm>
            <a:off x="6898184" y="1371600"/>
            <a:ext cx="4684216"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Application Version</a:t>
            </a:r>
            <a:endParaRPr lang="en-US" sz="1500" dirty="0"/>
          </a:p>
        </p:txBody>
      </p:sp>
      <p:sp>
        <p:nvSpPr>
          <p:cNvPr id="37" name="Text 4"/>
          <p:cNvSpPr/>
          <p:nvPr/>
        </p:nvSpPr>
        <p:spPr>
          <a:xfrm>
            <a:off x="6898184" y="1952625"/>
            <a:ext cx="4684216"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specific, labeled iteration of deployable code, stored in Amazon S3, enabling version control and rollbacks.</a:t>
            </a:r>
            <a:endParaRPr lang="en-US" sz="1200" dirty="0"/>
          </a:p>
        </p:txBody>
      </p:sp>
      <p:sp>
        <p:nvSpPr>
          <p:cNvPr id="38" name="Text 5"/>
          <p:cNvSpPr/>
          <p:nvPr/>
        </p:nvSpPr>
        <p:spPr>
          <a:xfrm>
            <a:off x="952500" y="3171825"/>
            <a:ext cx="47625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Environment</a:t>
            </a:r>
            <a:endParaRPr lang="en-US" sz="1500" dirty="0"/>
          </a:p>
        </p:txBody>
      </p:sp>
      <p:sp>
        <p:nvSpPr>
          <p:cNvPr id="39" name="Text 6"/>
          <p:cNvSpPr/>
          <p:nvPr/>
        </p:nvSpPr>
        <p:spPr>
          <a:xfrm>
            <a:off x="952500" y="3752850"/>
            <a:ext cx="47625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collection of AWS resources running a particular application version. Environments are isolated, facilitating distinct development, staging, and production stages.</a:t>
            </a:r>
            <a:endParaRPr lang="en-US" sz="1200" dirty="0"/>
          </a:p>
        </p:txBody>
      </p:sp>
      <p:sp>
        <p:nvSpPr>
          <p:cNvPr id="40" name="Text 7"/>
          <p:cNvSpPr/>
          <p:nvPr/>
        </p:nvSpPr>
        <p:spPr>
          <a:xfrm>
            <a:off x="952500" y="4781550"/>
            <a:ext cx="2247900" cy="4572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Web Server Environment</a:t>
            </a:r>
            <a:endParaRPr lang="en-US" sz="1200" dirty="0"/>
          </a:p>
        </p:txBody>
      </p:sp>
      <p:sp>
        <p:nvSpPr>
          <p:cNvPr id="41" name="Text 8"/>
          <p:cNvSpPr/>
          <p:nvPr/>
        </p:nvSpPr>
        <p:spPr>
          <a:xfrm>
            <a:off x="723900" y="5238750"/>
            <a:ext cx="22479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Designed for applications serving HTTP requests, provisioning EC2 instances with a web server and load balancer.</a:t>
            </a:r>
            <a:endParaRPr lang="en-US" sz="1050" dirty="0"/>
          </a:p>
        </p:txBody>
      </p:sp>
      <p:sp>
        <p:nvSpPr>
          <p:cNvPr id="42" name="Text 9"/>
          <p:cNvSpPr/>
          <p:nvPr/>
        </p:nvSpPr>
        <p:spPr>
          <a:xfrm>
            <a:off x="3619500" y="4781550"/>
            <a:ext cx="26974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Worker Environment</a:t>
            </a:r>
            <a:endParaRPr lang="en-US" sz="1200" dirty="0"/>
          </a:p>
        </p:txBody>
      </p:sp>
      <p:sp>
        <p:nvSpPr>
          <p:cNvPr id="43" name="Text 10"/>
          <p:cNvSpPr/>
          <p:nvPr/>
        </p:nvSpPr>
        <p:spPr>
          <a:xfrm>
            <a:off x="3352800" y="5010150"/>
            <a:ext cx="22479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Tailored for asynchronous background jobs, processing tasks from an Amazon SQS queue using EC2 instances.</a:t>
            </a:r>
            <a:endParaRPr lang="en-US" sz="1050" dirty="0"/>
          </a:p>
        </p:txBody>
      </p:sp>
      <p:sp>
        <p:nvSpPr>
          <p:cNvPr id="44" name="Text 11"/>
          <p:cNvSpPr/>
          <p:nvPr/>
        </p:nvSpPr>
        <p:spPr>
          <a:xfrm>
            <a:off x="7105650" y="3171825"/>
            <a:ext cx="221233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Platform</a:t>
            </a:r>
            <a:endParaRPr lang="en-US" sz="1500" dirty="0"/>
          </a:p>
        </p:txBody>
      </p:sp>
      <p:sp>
        <p:nvSpPr>
          <p:cNvPr id="45" name="Text 12"/>
          <p:cNvSpPr/>
          <p:nvPr/>
        </p:nvSpPr>
        <p:spPr>
          <a:xfrm>
            <a:off x="7105650" y="3752850"/>
            <a:ext cx="265479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predefined combination of:</a:t>
            </a:r>
            <a:endParaRPr lang="en-US" sz="1200" dirty="0"/>
          </a:p>
        </p:txBody>
      </p:sp>
      <p:sp>
        <p:nvSpPr>
          <p:cNvPr id="46" name="Text 13"/>
          <p:cNvSpPr/>
          <p:nvPr/>
        </p:nvSpPr>
        <p:spPr>
          <a:xfrm>
            <a:off x="6724650" y="4210050"/>
            <a:ext cx="1654493"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Operating System</a:t>
            </a:r>
            <a:endParaRPr lang="en-US" sz="1200" dirty="0"/>
          </a:p>
        </p:txBody>
      </p:sp>
      <p:sp>
        <p:nvSpPr>
          <p:cNvPr id="47" name="Text 14"/>
          <p:cNvSpPr/>
          <p:nvPr/>
        </p:nvSpPr>
        <p:spPr>
          <a:xfrm>
            <a:off x="9353550" y="4095750"/>
            <a:ext cx="22288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Programming Language Runtime</a:t>
            </a:r>
            <a:endParaRPr lang="en-US" sz="1200" dirty="0"/>
          </a:p>
        </p:txBody>
      </p:sp>
      <p:sp>
        <p:nvSpPr>
          <p:cNvPr id="48" name="Text 15"/>
          <p:cNvSpPr/>
          <p:nvPr/>
        </p:nvSpPr>
        <p:spPr>
          <a:xfrm>
            <a:off x="6743700" y="4667250"/>
            <a:ext cx="105656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Web Server</a:t>
            </a:r>
            <a:endParaRPr lang="en-US" sz="1200" dirty="0"/>
          </a:p>
        </p:txBody>
      </p:sp>
      <p:sp>
        <p:nvSpPr>
          <p:cNvPr id="49" name="Text 16"/>
          <p:cNvSpPr/>
          <p:nvPr/>
        </p:nvSpPr>
        <p:spPr>
          <a:xfrm>
            <a:off x="9296400" y="4667250"/>
            <a:ext cx="167967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Application Server</a:t>
            </a:r>
            <a:endParaRPr lang="en-US" sz="1200" dirty="0"/>
          </a:p>
        </p:txBody>
      </p:sp>
      <p:sp>
        <p:nvSpPr>
          <p:cNvPr id="50" name="Text 17"/>
          <p:cNvSpPr/>
          <p:nvPr/>
        </p:nvSpPr>
        <p:spPr>
          <a:xfrm>
            <a:off x="6705600" y="5010150"/>
            <a:ext cx="22669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Elastic Beanstalk Components</a:t>
            </a:r>
            <a:endParaRPr lang="en-US" sz="1200" dirty="0"/>
          </a:p>
        </p:txBody>
      </p:sp>
      <p:sp>
        <p:nvSpPr>
          <p:cNvPr id="51" name="Text 18"/>
          <p:cNvSpPr/>
          <p:nvPr/>
        </p:nvSpPr>
        <p:spPr>
          <a:xfrm>
            <a:off x="685800" y="6877050"/>
            <a:ext cx="20268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Elastic Beanstalk</a:t>
            </a:r>
            <a:endParaRPr lang="en-US" sz="1200" dirty="0"/>
          </a:p>
        </p:txBody>
      </p:sp>
      <p:sp>
        <p:nvSpPr>
          <p:cNvPr id="52" name="Text 19"/>
          <p:cNvSpPr/>
          <p:nvPr/>
        </p:nvSpPr>
        <p:spPr>
          <a:xfrm>
            <a:off x="11392495" y="687705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677400" y="461010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68580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1714500"/>
            <a:ext cx="2686050" cy="1752600"/>
          </a:xfrm>
          <a:prstGeom prst="rect">
            <a:avLst/>
          </a:prstGeom>
        </p:spPr>
      </p:pic>
      <p:pic>
        <p:nvPicPr>
          <p:cNvPr id="7" name="Image 5" descr="preencoded.png"/>
          <p:cNvPicPr>
            <a:picLocks noChangeAspect="1"/>
          </p:cNvPicPr>
          <p:nvPr/>
        </p:nvPicPr>
        <p:blipFill>
          <a:blip r:embed="rId8"/>
          <a:stretch>
            <a:fillRect/>
          </a:stretch>
        </p:blipFill>
        <p:spPr>
          <a:xfrm>
            <a:off x="571500" y="1905000"/>
            <a:ext cx="476250" cy="476250"/>
          </a:xfrm>
          <a:prstGeom prst="rect">
            <a:avLst/>
          </a:prstGeom>
        </p:spPr>
      </p:pic>
      <p:pic>
        <p:nvPicPr>
          <p:cNvPr id="8" name="Image 6" descr="preencoded.png"/>
          <p:cNvPicPr>
            <a:picLocks noChangeAspect="1"/>
          </p:cNvPicPr>
          <p:nvPr/>
        </p:nvPicPr>
        <p:blipFill>
          <a:blip r:embed="rId9"/>
          <a:stretch>
            <a:fillRect/>
          </a:stretch>
        </p:blipFill>
        <p:spPr>
          <a:xfrm>
            <a:off x="714375" y="2009775"/>
            <a:ext cx="190500" cy="266700"/>
          </a:xfrm>
          <a:prstGeom prst="rect">
            <a:avLst/>
          </a:prstGeom>
        </p:spPr>
      </p:pic>
      <p:pic>
        <p:nvPicPr>
          <p:cNvPr id="9" name="Image 7" descr="preencoded.png"/>
          <p:cNvPicPr>
            <a:picLocks noChangeAspect="1"/>
          </p:cNvPicPr>
          <p:nvPr/>
        </p:nvPicPr>
        <p:blipFill>
          <a:blip r:embed="rId7"/>
          <a:stretch>
            <a:fillRect/>
          </a:stretch>
        </p:blipFill>
        <p:spPr>
          <a:xfrm>
            <a:off x="3295650" y="1714500"/>
            <a:ext cx="2686050" cy="1752600"/>
          </a:xfrm>
          <a:prstGeom prst="rect">
            <a:avLst/>
          </a:prstGeom>
        </p:spPr>
      </p:pic>
      <p:pic>
        <p:nvPicPr>
          <p:cNvPr id="10" name="Image 8" descr="preencoded.png"/>
          <p:cNvPicPr>
            <a:picLocks noChangeAspect="1"/>
          </p:cNvPicPr>
          <p:nvPr/>
        </p:nvPicPr>
        <p:blipFill>
          <a:blip r:embed="rId10"/>
          <a:stretch>
            <a:fillRect/>
          </a:stretch>
        </p:blipFill>
        <p:spPr>
          <a:xfrm>
            <a:off x="3486150" y="1905000"/>
            <a:ext cx="476250" cy="476250"/>
          </a:xfrm>
          <a:prstGeom prst="rect">
            <a:avLst/>
          </a:prstGeom>
        </p:spPr>
      </p:pic>
      <p:pic>
        <p:nvPicPr>
          <p:cNvPr id="11" name="Image 9" descr="preencoded.png"/>
          <p:cNvPicPr>
            <a:picLocks noChangeAspect="1"/>
          </p:cNvPicPr>
          <p:nvPr/>
        </p:nvPicPr>
        <p:blipFill>
          <a:blip r:embed="rId11"/>
          <a:stretch>
            <a:fillRect/>
          </a:stretch>
        </p:blipFill>
        <p:spPr>
          <a:xfrm>
            <a:off x="3605213" y="2009775"/>
            <a:ext cx="238125" cy="266700"/>
          </a:xfrm>
          <a:prstGeom prst="rect">
            <a:avLst/>
          </a:prstGeom>
        </p:spPr>
      </p:pic>
      <p:pic>
        <p:nvPicPr>
          <p:cNvPr id="12" name="Image 10" descr="preencoded.png"/>
          <p:cNvPicPr>
            <a:picLocks noChangeAspect="1"/>
          </p:cNvPicPr>
          <p:nvPr/>
        </p:nvPicPr>
        <p:blipFill>
          <a:blip r:embed="rId7"/>
          <a:stretch>
            <a:fillRect/>
          </a:stretch>
        </p:blipFill>
        <p:spPr>
          <a:xfrm>
            <a:off x="6210300" y="1714500"/>
            <a:ext cx="2686050" cy="1752600"/>
          </a:xfrm>
          <a:prstGeom prst="rect">
            <a:avLst/>
          </a:prstGeom>
        </p:spPr>
      </p:pic>
      <p:pic>
        <p:nvPicPr>
          <p:cNvPr id="13" name="Image 11" descr="preencoded.png"/>
          <p:cNvPicPr>
            <a:picLocks noChangeAspect="1"/>
          </p:cNvPicPr>
          <p:nvPr/>
        </p:nvPicPr>
        <p:blipFill>
          <a:blip r:embed="rId12"/>
          <a:stretch>
            <a:fillRect/>
          </a:stretch>
        </p:blipFill>
        <p:spPr>
          <a:xfrm>
            <a:off x="6400800" y="1933575"/>
            <a:ext cx="355253" cy="476250"/>
          </a:xfrm>
          <a:prstGeom prst="rect">
            <a:avLst/>
          </a:prstGeom>
        </p:spPr>
      </p:pic>
      <p:pic>
        <p:nvPicPr>
          <p:cNvPr id="14" name="Image 12" descr="preencoded.png"/>
          <p:cNvPicPr>
            <a:picLocks noChangeAspect="1"/>
          </p:cNvPicPr>
          <p:nvPr/>
        </p:nvPicPr>
        <p:blipFill>
          <a:blip r:embed="rId13"/>
          <a:stretch>
            <a:fillRect/>
          </a:stretch>
        </p:blipFill>
        <p:spPr>
          <a:xfrm>
            <a:off x="6459289" y="2038350"/>
            <a:ext cx="238125" cy="266700"/>
          </a:xfrm>
          <a:prstGeom prst="rect">
            <a:avLst/>
          </a:prstGeom>
        </p:spPr>
      </p:pic>
      <p:pic>
        <p:nvPicPr>
          <p:cNvPr id="15" name="Image 13" descr="preencoded.png"/>
          <p:cNvPicPr>
            <a:picLocks noChangeAspect="1"/>
          </p:cNvPicPr>
          <p:nvPr/>
        </p:nvPicPr>
        <p:blipFill>
          <a:blip r:embed="rId7"/>
          <a:stretch>
            <a:fillRect/>
          </a:stretch>
        </p:blipFill>
        <p:spPr>
          <a:xfrm>
            <a:off x="9124950" y="1714500"/>
            <a:ext cx="2686050" cy="1752600"/>
          </a:xfrm>
          <a:prstGeom prst="rect">
            <a:avLst/>
          </a:prstGeom>
        </p:spPr>
      </p:pic>
      <p:pic>
        <p:nvPicPr>
          <p:cNvPr id="16" name="Image 14" descr="preencoded.png"/>
          <p:cNvPicPr>
            <a:picLocks noChangeAspect="1"/>
          </p:cNvPicPr>
          <p:nvPr/>
        </p:nvPicPr>
        <p:blipFill>
          <a:blip r:embed="rId14"/>
          <a:stretch>
            <a:fillRect/>
          </a:stretch>
        </p:blipFill>
        <p:spPr>
          <a:xfrm>
            <a:off x="9315450" y="1905000"/>
            <a:ext cx="476250" cy="476250"/>
          </a:xfrm>
          <a:prstGeom prst="rect">
            <a:avLst/>
          </a:prstGeom>
        </p:spPr>
      </p:pic>
      <p:pic>
        <p:nvPicPr>
          <p:cNvPr id="17" name="Image 15" descr="preencoded.png"/>
          <p:cNvPicPr>
            <a:picLocks noChangeAspect="1"/>
          </p:cNvPicPr>
          <p:nvPr/>
        </p:nvPicPr>
        <p:blipFill>
          <a:blip r:embed="rId15"/>
          <a:stretch>
            <a:fillRect/>
          </a:stretch>
        </p:blipFill>
        <p:spPr>
          <a:xfrm>
            <a:off x="9505950" y="2009775"/>
            <a:ext cx="95250" cy="266700"/>
          </a:xfrm>
          <a:prstGeom prst="rect">
            <a:avLst/>
          </a:prstGeom>
        </p:spPr>
      </p:pic>
      <p:pic>
        <p:nvPicPr>
          <p:cNvPr id="18" name="Image 16" descr="preencoded.png"/>
          <p:cNvPicPr>
            <a:picLocks noChangeAspect="1"/>
          </p:cNvPicPr>
          <p:nvPr/>
        </p:nvPicPr>
        <p:blipFill>
          <a:blip r:embed="rId7"/>
          <a:stretch>
            <a:fillRect/>
          </a:stretch>
        </p:blipFill>
        <p:spPr>
          <a:xfrm>
            <a:off x="381000" y="3695700"/>
            <a:ext cx="2686050" cy="1752600"/>
          </a:xfrm>
          <a:prstGeom prst="rect">
            <a:avLst/>
          </a:prstGeom>
        </p:spPr>
      </p:pic>
      <p:pic>
        <p:nvPicPr>
          <p:cNvPr id="19" name="Image 17" descr="preencoded.png"/>
          <p:cNvPicPr>
            <a:picLocks noChangeAspect="1"/>
          </p:cNvPicPr>
          <p:nvPr/>
        </p:nvPicPr>
        <p:blipFill>
          <a:blip r:embed="rId16"/>
          <a:stretch>
            <a:fillRect/>
          </a:stretch>
        </p:blipFill>
        <p:spPr>
          <a:xfrm>
            <a:off x="571500" y="3914775"/>
            <a:ext cx="383381" cy="476250"/>
          </a:xfrm>
          <a:prstGeom prst="rect">
            <a:avLst/>
          </a:prstGeom>
        </p:spPr>
      </p:pic>
      <p:pic>
        <p:nvPicPr>
          <p:cNvPr id="20" name="Image 18" descr="preencoded.png"/>
          <p:cNvPicPr>
            <a:picLocks noChangeAspect="1"/>
          </p:cNvPicPr>
          <p:nvPr/>
        </p:nvPicPr>
        <p:blipFill>
          <a:blip r:embed="rId17"/>
          <a:stretch>
            <a:fillRect/>
          </a:stretch>
        </p:blipFill>
        <p:spPr>
          <a:xfrm>
            <a:off x="667941" y="4019550"/>
            <a:ext cx="190500" cy="266700"/>
          </a:xfrm>
          <a:prstGeom prst="rect">
            <a:avLst/>
          </a:prstGeom>
        </p:spPr>
      </p:pic>
      <p:pic>
        <p:nvPicPr>
          <p:cNvPr id="21" name="Image 19" descr="preencoded.png"/>
          <p:cNvPicPr>
            <a:picLocks noChangeAspect="1"/>
          </p:cNvPicPr>
          <p:nvPr/>
        </p:nvPicPr>
        <p:blipFill>
          <a:blip r:embed="rId7"/>
          <a:stretch>
            <a:fillRect/>
          </a:stretch>
        </p:blipFill>
        <p:spPr>
          <a:xfrm>
            <a:off x="3295650" y="3695700"/>
            <a:ext cx="2686050" cy="1752600"/>
          </a:xfrm>
          <a:prstGeom prst="rect">
            <a:avLst/>
          </a:prstGeom>
        </p:spPr>
      </p:pic>
      <p:pic>
        <p:nvPicPr>
          <p:cNvPr id="22" name="Image 20" descr="preencoded.png"/>
          <p:cNvPicPr>
            <a:picLocks noChangeAspect="1"/>
          </p:cNvPicPr>
          <p:nvPr/>
        </p:nvPicPr>
        <p:blipFill>
          <a:blip r:embed="rId18"/>
          <a:stretch>
            <a:fillRect/>
          </a:stretch>
        </p:blipFill>
        <p:spPr>
          <a:xfrm>
            <a:off x="3486150" y="3914775"/>
            <a:ext cx="375047" cy="476250"/>
          </a:xfrm>
          <a:prstGeom prst="rect">
            <a:avLst/>
          </a:prstGeom>
        </p:spPr>
      </p:pic>
      <p:pic>
        <p:nvPicPr>
          <p:cNvPr id="23" name="Image 21" descr="preencoded.png"/>
          <p:cNvPicPr>
            <a:picLocks noChangeAspect="1"/>
          </p:cNvPicPr>
          <p:nvPr/>
        </p:nvPicPr>
        <p:blipFill>
          <a:blip r:embed="rId19"/>
          <a:stretch>
            <a:fillRect/>
          </a:stretch>
        </p:blipFill>
        <p:spPr>
          <a:xfrm>
            <a:off x="3554611" y="4019550"/>
            <a:ext cx="238125" cy="266700"/>
          </a:xfrm>
          <a:prstGeom prst="rect">
            <a:avLst/>
          </a:prstGeom>
        </p:spPr>
      </p:pic>
      <p:pic>
        <p:nvPicPr>
          <p:cNvPr id="24" name="Image 22" descr="preencoded.png"/>
          <p:cNvPicPr>
            <a:picLocks noChangeAspect="1"/>
          </p:cNvPicPr>
          <p:nvPr/>
        </p:nvPicPr>
        <p:blipFill>
          <a:blip r:embed="rId7"/>
          <a:stretch>
            <a:fillRect/>
          </a:stretch>
        </p:blipFill>
        <p:spPr>
          <a:xfrm>
            <a:off x="6210300" y="3695700"/>
            <a:ext cx="2686050" cy="1752600"/>
          </a:xfrm>
          <a:prstGeom prst="rect">
            <a:avLst/>
          </a:prstGeom>
        </p:spPr>
      </p:pic>
      <p:pic>
        <p:nvPicPr>
          <p:cNvPr id="25" name="Image 23" descr="preencoded.png"/>
          <p:cNvPicPr>
            <a:picLocks noChangeAspect="1"/>
          </p:cNvPicPr>
          <p:nvPr/>
        </p:nvPicPr>
        <p:blipFill>
          <a:blip r:embed="rId20"/>
          <a:stretch>
            <a:fillRect/>
          </a:stretch>
        </p:blipFill>
        <p:spPr>
          <a:xfrm>
            <a:off x="6400800" y="3886200"/>
            <a:ext cx="476250" cy="476250"/>
          </a:xfrm>
          <a:prstGeom prst="rect">
            <a:avLst/>
          </a:prstGeom>
        </p:spPr>
      </p:pic>
      <p:pic>
        <p:nvPicPr>
          <p:cNvPr id="26" name="Image 24" descr="preencoded.png"/>
          <p:cNvPicPr>
            <a:picLocks noChangeAspect="1"/>
          </p:cNvPicPr>
          <p:nvPr/>
        </p:nvPicPr>
        <p:blipFill>
          <a:blip r:embed="rId21"/>
          <a:stretch>
            <a:fillRect/>
          </a:stretch>
        </p:blipFill>
        <p:spPr>
          <a:xfrm>
            <a:off x="6543675" y="3990975"/>
            <a:ext cx="190500" cy="266700"/>
          </a:xfrm>
          <a:prstGeom prst="rect">
            <a:avLst/>
          </a:prstGeom>
        </p:spPr>
      </p:pic>
      <p:pic>
        <p:nvPicPr>
          <p:cNvPr id="27" name="Image 25" descr="preencoded.png"/>
          <p:cNvPicPr>
            <a:picLocks noChangeAspect="1"/>
          </p:cNvPicPr>
          <p:nvPr/>
        </p:nvPicPr>
        <p:blipFill>
          <a:blip r:embed="rId7"/>
          <a:stretch>
            <a:fillRect/>
          </a:stretch>
        </p:blipFill>
        <p:spPr>
          <a:xfrm>
            <a:off x="9124950" y="3695700"/>
            <a:ext cx="2686050" cy="1752600"/>
          </a:xfrm>
          <a:prstGeom prst="rect">
            <a:avLst/>
          </a:prstGeom>
        </p:spPr>
      </p:pic>
      <p:pic>
        <p:nvPicPr>
          <p:cNvPr id="28" name="Image 26" descr="preencoded.png"/>
          <p:cNvPicPr>
            <a:picLocks noChangeAspect="1"/>
          </p:cNvPicPr>
          <p:nvPr/>
        </p:nvPicPr>
        <p:blipFill>
          <a:blip r:embed="rId22"/>
          <a:stretch>
            <a:fillRect/>
          </a:stretch>
        </p:blipFill>
        <p:spPr>
          <a:xfrm>
            <a:off x="9315450" y="3886200"/>
            <a:ext cx="476250" cy="476250"/>
          </a:xfrm>
          <a:prstGeom prst="rect">
            <a:avLst/>
          </a:prstGeom>
        </p:spPr>
      </p:pic>
      <p:pic>
        <p:nvPicPr>
          <p:cNvPr id="29" name="Image 27" descr="preencoded.png"/>
          <p:cNvPicPr>
            <a:picLocks noChangeAspect="1"/>
          </p:cNvPicPr>
          <p:nvPr/>
        </p:nvPicPr>
        <p:blipFill>
          <a:blip r:embed="rId23"/>
          <a:stretch>
            <a:fillRect/>
          </a:stretch>
        </p:blipFill>
        <p:spPr>
          <a:xfrm>
            <a:off x="9434513" y="3990975"/>
            <a:ext cx="238125" cy="266700"/>
          </a:xfrm>
          <a:prstGeom prst="rect">
            <a:avLst/>
          </a:prstGeom>
        </p:spPr>
      </p:pic>
      <p:pic>
        <p:nvPicPr>
          <p:cNvPr id="30" name="Image 28" descr="preencoded.png"/>
          <p:cNvPicPr>
            <a:picLocks noChangeAspect="1"/>
          </p:cNvPicPr>
          <p:nvPr/>
        </p:nvPicPr>
        <p:blipFill>
          <a:blip r:embed="rId24"/>
          <a:stretch>
            <a:fillRect/>
          </a:stretch>
        </p:blipFill>
        <p:spPr>
          <a:xfrm>
            <a:off x="0" y="6324600"/>
            <a:ext cx="12192000" cy="533400"/>
          </a:xfrm>
          <a:prstGeom prst="rect">
            <a:avLst/>
          </a:prstGeom>
        </p:spPr>
      </p:pic>
      <p:sp>
        <p:nvSpPr>
          <p:cNvPr id="32" name="Text 0"/>
          <p:cNvSpPr/>
          <p:nvPr/>
        </p:nvSpPr>
        <p:spPr>
          <a:xfrm>
            <a:off x="457200" y="209550"/>
            <a:ext cx="4861500"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Underlying AWS Services</a:t>
            </a:r>
            <a:endParaRPr lang="en-US" sz="2250" dirty="0"/>
          </a:p>
        </p:txBody>
      </p:sp>
      <p:sp>
        <p:nvSpPr>
          <p:cNvPr id="33" name="Text 1"/>
          <p:cNvSpPr/>
          <p:nvPr/>
        </p:nvSpPr>
        <p:spPr>
          <a:xfrm>
            <a:off x="381000" y="1143000"/>
            <a:ext cx="13716000" cy="266700"/>
          </a:xfrm>
          <a:prstGeom prst="rect">
            <a:avLst/>
          </a:prstGeom>
          <a:noFill/>
          <a:ln/>
        </p:spPr>
        <p:txBody>
          <a:bodyPr vert="horz" wrap="square" lIns="0" tIns="0" rIns="0" bIns="0" rtlCol="0" anchor="t"/>
          <a:lstStyle/>
          <a:p>
            <a:pPr marL="0" indent="0">
              <a:lnSpc>
                <a:spcPts val="2100"/>
              </a:lnSpc>
              <a:buNone/>
            </a:pPr>
            <a:r>
              <a:rPr lang="en-US" sz="1500" dirty="0">
                <a:solidFill>
                  <a:srgbClr val="1F2937"/>
                </a:solidFill>
                <a:latin typeface="ui-sans-serif" pitchFamily="34" charset="0"/>
                <a:ea typeface="ui-sans-serif" pitchFamily="34" charset="-122"/>
                <a:cs typeface="ui-sans-serif" pitchFamily="34" charset="-120"/>
              </a:rPr>
              <a:t>Elastic Beanstalk leverages a combination of core AWS services to deliver its managed application environment:</a:t>
            </a:r>
            <a:endParaRPr lang="en-US" sz="1500" dirty="0"/>
          </a:p>
        </p:txBody>
      </p:sp>
      <p:sp>
        <p:nvSpPr>
          <p:cNvPr id="34" name="Text 2"/>
          <p:cNvSpPr/>
          <p:nvPr/>
        </p:nvSpPr>
        <p:spPr>
          <a:xfrm>
            <a:off x="1200150" y="2009775"/>
            <a:ext cx="15848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EC2</a:t>
            </a:r>
            <a:endParaRPr lang="en-US" sz="1500" dirty="0"/>
          </a:p>
        </p:txBody>
      </p:sp>
      <p:sp>
        <p:nvSpPr>
          <p:cNvPr id="35" name="Text 3"/>
          <p:cNvSpPr/>
          <p:nvPr/>
        </p:nvSpPr>
        <p:spPr>
          <a:xfrm>
            <a:off x="571500" y="253365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the virtual servers (instances) that host and run the application</a:t>
            </a:r>
            <a:endParaRPr lang="en-US" sz="1200" dirty="0"/>
          </a:p>
        </p:txBody>
      </p:sp>
      <p:sp>
        <p:nvSpPr>
          <p:cNvPr id="36" name="Text 4"/>
          <p:cNvSpPr/>
          <p:nvPr/>
        </p:nvSpPr>
        <p:spPr>
          <a:xfrm>
            <a:off x="4114800" y="2009775"/>
            <a:ext cx="142553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S3</a:t>
            </a:r>
            <a:endParaRPr lang="en-US" sz="1500" dirty="0"/>
          </a:p>
        </p:txBody>
      </p:sp>
      <p:sp>
        <p:nvSpPr>
          <p:cNvPr id="37" name="Text 5"/>
          <p:cNvSpPr/>
          <p:nvPr/>
        </p:nvSpPr>
        <p:spPr>
          <a:xfrm>
            <a:off x="3486150" y="2533650"/>
            <a:ext cx="23050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Used for storing application source bundles and logs</a:t>
            </a:r>
            <a:endParaRPr lang="en-US" sz="1200" dirty="0"/>
          </a:p>
        </p:txBody>
      </p:sp>
      <p:sp>
        <p:nvSpPr>
          <p:cNvPr id="38" name="Text 6"/>
          <p:cNvSpPr/>
          <p:nvPr/>
        </p:nvSpPr>
        <p:spPr>
          <a:xfrm>
            <a:off x="6908453" y="1905000"/>
            <a:ext cx="1797397"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Elastic Load Balancing</a:t>
            </a:r>
            <a:endParaRPr lang="en-US" sz="1500" dirty="0"/>
          </a:p>
        </p:txBody>
      </p:sp>
      <p:sp>
        <p:nvSpPr>
          <p:cNvPr id="39" name="Text 7"/>
          <p:cNvSpPr/>
          <p:nvPr/>
        </p:nvSpPr>
        <p:spPr>
          <a:xfrm>
            <a:off x="6400800" y="259080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Distributes incoming application traffic across multiple EC2 instances</a:t>
            </a:r>
            <a:endParaRPr lang="en-US" sz="1200" dirty="0"/>
          </a:p>
        </p:txBody>
      </p:sp>
      <p:sp>
        <p:nvSpPr>
          <p:cNvPr id="40" name="Text 8"/>
          <p:cNvSpPr/>
          <p:nvPr/>
        </p:nvSpPr>
        <p:spPr>
          <a:xfrm>
            <a:off x="9944100" y="2009775"/>
            <a:ext cx="162323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 Scaling</a:t>
            </a:r>
            <a:endParaRPr lang="en-US" sz="1500" dirty="0"/>
          </a:p>
        </p:txBody>
      </p:sp>
      <p:sp>
        <p:nvSpPr>
          <p:cNvPr id="41" name="Text 9"/>
          <p:cNvSpPr/>
          <p:nvPr/>
        </p:nvSpPr>
        <p:spPr>
          <a:xfrm>
            <a:off x="9315450" y="253365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adjusts the number of EC2 instances based on demand</a:t>
            </a:r>
            <a:endParaRPr lang="en-US" sz="1200" dirty="0"/>
          </a:p>
        </p:txBody>
      </p:sp>
      <p:sp>
        <p:nvSpPr>
          <p:cNvPr id="42" name="Text 10"/>
          <p:cNvSpPr/>
          <p:nvPr/>
        </p:nvSpPr>
        <p:spPr>
          <a:xfrm>
            <a:off x="1107281" y="3886200"/>
            <a:ext cx="1769269"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CloudWatch</a:t>
            </a:r>
            <a:endParaRPr lang="en-US" sz="1500" dirty="0"/>
          </a:p>
        </p:txBody>
      </p:sp>
      <p:sp>
        <p:nvSpPr>
          <p:cNvPr id="43" name="Text 11"/>
          <p:cNvSpPr/>
          <p:nvPr/>
        </p:nvSpPr>
        <p:spPr>
          <a:xfrm>
            <a:off x="571500" y="457200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Offers monitoring and logging capabilities for application health</a:t>
            </a:r>
            <a:endParaRPr lang="en-US" sz="1200" dirty="0"/>
          </a:p>
        </p:txBody>
      </p:sp>
      <p:sp>
        <p:nvSpPr>
          <p:cNvPr id="44" name="Text 12"/>
          <p:cNvSpPr/>
          <p:nvPr/>
        </p:nvSpPr>
        <p:spPr>
          <a:xfrm>
            <a:off x="4013597" y="3886200"/>
            <a:ext cx="1777603"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AWS CloudFormation</a:t>
            </a:r>
            <a:endParaRPr lang="en-US" sz="1500" dirty="0"/>
          </a:p>
        </p:txBody>
      </p:sp>
      <p:sp>
        <p:nvSpPr>
          <p:cNvPr id="45" name="Text 13"/>
          <p:cNvSpPr/>
          <p:nvPr/>
        </p:nvSpPr>
        <p:spPr>
          <a:xfrm>
            <a:off x="3486150" y="457200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Utilized to provision and manage underlying AWS resources for an environment</a:t>
            </a:r>
            <a:endParaRPr lang="en-US" sz="1200" dirty="0"/>
          </a:p>
        </p:txBody>
      </p:sp>
      <p:sp>
        <p:nvSpPr>
          <p:cNvPr id="46" name="Text 14"/>
          <p:cNvSpPr/>
          <p:nvPr/>
        </p:nvSpPr>
        <p:spPr>
          <a:xfrm>
            <a:off x="7029450" y="3990975"/>
            <a:ext cx="16255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SQS</a:t>
            </a:r>
            <a:endParaRPr lang="en-US" sz="1500" dirty="0"/>
          </a:p>
        </p:txBody>
      </p:sp>
      <p:sp>
        <p:nvSpPr>
          <p:cNvPr id="47" name="Text 15"/>
          <p:cNvSpPr/>
          <p:nvPr/>
        </p:nvSpPr>
        <p:spPr>
          <a:xfrm>
            <a:off x="6400800" y="451485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Employed by worker environments for queuing background tasks</a:t>
            </a:r>
            <a:endParaRPr lang="en-US" sz="1200" dirty="0"/>
          </a:p>
        </p:txBody>
      </p:sp>
      <p:sp>
        <p:nvSpPr>
          <p:cNvPr id="48" name="Text 16"/>
          <p:cNvSpPr/>
          <p:nvPr/>
        </p:nvSpPr>
        <p:spPr>
          <a:xfrm>
            <a:off x="9944100" y="3990975"/>
            <a:ext cx="115264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AWS IAM</a:t>
            </a:r>
            <a:endParaRPr lang="en-US" sz="1500" dirty="0"/>
          </a:p>
        </p:txBody>
      </p:sp>
      <p:sp>
        <p:nvSpPr>
          <p:cNvPr id="49" name="Text 17"/>
          <p:cNvSpPr/>
          <p:nvPr/>
        </p:nvSpPr>
        <p:spPr>
          <a:xfrm>
            <a:off x="9315450" y="4514850"/>
            <a:ext cx="23050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Manages permissions for Elastic Beanstalk to interact with other AWS services</a:t>
            </a:r>
            <a:endParaRPr lang="en-US" sz="1200" dirty="0"/>
          </a:p>
        </p:txBody>
      </p:sp>
      <p:sp>
        <p:nvSpPr>
          <p:cNvPr id="50" name="Text 18"/>
          <p:cNvSpPr/>
          <p:nvPr/>
        </p:nvSpPr>
        <p:spPr>
          <a:xfrm>
            <a:off x="685800" y="6477000"/>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51" name="Text 19"/>
          <p:cNvSpPr/>
          <p:nvPr/>
        </p:nvSpPr>
        <p:spPr>
          <a:xfrm>
            <a:off x="11392495" y="6477000"/>
            <a:ext cx="41076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8626"/>
            <a:ext cx="12192000" cy="7643003"/>
          </a:xfrm>
          <a:prstGeom prst="rect">
            <a:avLst/>
          </a:prstGeom>
        </p:spPr>
      </p:pic>
      <p:pic>
        <p:nvPicPr>
          <p:cNvPr id="3" name="Image 1" descr="preencoded.png"/>
          <p:cNvPicPr>
            <a:picLocks noChangeAspect="1"/>
          </p:cNvPicPr>
          <p:nvPr/>
        </p:nvPicPr>
        <p:blipFill>
          <a:blip r:embed="rId4"/>
          <a:stretch>
            <a:fillRect/>
          </a:stretch>
        </p:blipFill>
        <p:spPr>
          <a:xfrm>
            <a:off x="9677400" y="520065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866775"/>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1971140"/>
            <a:ext cx="3606701" cy="2486025"/>
          </a:xfrm>
          <a:prstGeom prst="rect">
            <a:avLst/>
          </a:prstGeom>
        </p:spPr>
      </p:pic>
      <p:pic>
        <p:nvPicPr>
          <p:cNvPr id="7" name="Image 5" descr="preencoded.png"/>
          <p:cNvPicPr>
            <a:picLocks noChangeAspect="1"/>
          </p:cNvPicPr>
          <p:nvPr/>
        </p:nvPicPr>
        <p:blipFill>
          <a:blip r:embed="rId8"/>
          <a:stretch>
            <a:fillRect/>
          </a:stretch>
        </p:blipFill>
        <p:spPr>
          <a:xfrm>
            <a:off x="685800" y="2286000"/>
            <a:ext cx="476250" cy="476250"/>
          </a:xfrm>
          <a:prstGeom prst="rect">
            <a:avLst/>
          </a:prstGeom>
        </p:spPr>
      </p:pic>
      <p:pic>
        <p:nvPicPr>
          <p:cNvPr id="8" name="Image 6" descr="preencoded.png"/>
          <p:cNvPicPr>
            <a:picLocks noChangeAspect="1"/>
          </p:cNvPicPr>
          <p:nvPr/>
        </p:nvPicPr>
        <p:blipFill>
          <a:blip r:embed="rId9"/>
          <a:stretch>
            <a:fillRect/>
          </a:stretch>
        </p:blipFill>
        <p:spPr>
          <a:xfrm>
            <a:off x="838200" y="2390775"/>
            <a:ext cx="171450" cy="266700"/>
          </a:xfrm>
          <a:prstGeom prst="rect">
            <a:avLst/>
          </a:prstGeom>
        </p:spPr>
      </p:pic>
      <p:pic>
        <p:nvPicPr>
          <p:cNvPr id="9" name="Image 7" descr="preencoded.png"/>
          <p:cNvPicPr>
            <a:picLocks noChangeAspect="1"/>
          </p:cNvPicPr>
          <p:nvPr/>
        </p:nvPicPr>
        <p:blipFill>
          <a:blip r:embed="rId10"/>
          <a:stretch>
            <a:fillRect/>
          </a:stretch>
        </p:blipFill>
        <p:spPr>
          <a:xfrm>
            <a:off x="685800" y="3895725"/>
            <a:ext cx="3149501" cy="419100"/>
          </a:xfrm>
          <a:prstGeom prst="rect">
            <a:avLst/>
          </a:prstGeom>
        </p:spPr>
      </p:pic>
      <p:pic>
        <p:nvPicPr>
          <p:cNvPr id="10" name="Image 8" descr="preencoded.png"/>
          <p:cNvPicPr>
            <a:picLocks noChangeAspect="1"/>
          </p:cNvPicPr>
          <p:nvPr/>
        </p:nvPicPr>
        <p:blipFill>
          <a:blip r:embed="rId11"/>
          <a:stretch>
            <a:fillRect/>
          </a:stretch>
        </p:blipFill>
        <p:spPr>
          <a:xfrm>
            <a:off x="800100" y="4029075"/>
            <a:ext cx="133350" cy="133350"/>
          </a:xfrm>
          <a:prstGeom prst="rect">
            <a:avLst/>
          </a:prstGeom>
        </p:spPr>
      </p:pic>
      <p:pic>
        <p:nvPicPr>
          <p:cNvPr id="11" name="Image 9" descr="preencoded.png"/>
          <p:cNvPicPr>
            <a:picLocks noChangeAspect="1"/>
          </p:cNvPicPr>
          <p:nvPr/>
        </p:nvPicPr>
        <p:blipFill>
          <a:blip r:embed="rId12"/>
          <a:stretch>
            <a:fillRect/>
          </a:stretch>
        </p:blipFill>
        <p:spPr>
          <a:xfrm>
            <a:off x="4292501" y="1971140"/>
            <a:ext cx="3606850" cy="2486025"/>
          </a:xfrm>
          <a:prstGeom prst="rect">
            <a:avLst/>
          </a:prstGeom>
        </p:spPr>
      </p:pic>
      <p:pic>
        <p:nvPicPr>
          <p:cNvPr id="12" name="Image 10" descr="preencoded.png"/>
          <p:cNvPicPr>
            <a:picLocks noChangeAspect="1"/>
          </p:cNvPicPr>
          <p:nvPr/>
        </p:nvPicPr>
        <p:blipFill>
          <a:blip r:embed="rId13"/>
          <a:stretch>
            <a:fillRect/>
          </a:stretch>
        </p:blipFill>
        <p:spPr>
          <a:xfrm>
            <a:off x="4521101" y="2286000"/>
            <a:ext cx="476250" cy="476250"/>
          </a:xfrm>
          <a:prstGeom prst="rect">
            <a:avLst/>
          </a:prstGeom>
        </p:spPr>
      </p:pic>
      <p:pic>
        <p:nvPicPr>
          <p:cNvPr id="13" name="Image 11" descr="preencoded.png"/>
          <p:cNvPicPr>
            <a:picLocks noChangeAspect="1"/>
          </p:cNvPicPr>
          <p:nvPr/>
        </p:nvPicPr>
        <p:blipFill>
          <a:blip r:embed="rId14"/>
          <a:stretch>
            <a:fillRect/>
          </a:stretch>
        </p:blipFill>
        <p:spPr>
          <a:xfrm>
            <a:off x="4687788" y="2390775"/>
            <a:ext cx="142875" cy="266700"/>
          </a:xfrm>
          <a:prstGeom prst="rect">
            <a:avLst/>
          </a:prstGeom>
        </p:spPr>
      </p:pic>
      <p:pic>
        <p:nvPicPr>
          <p:cNvPr id="14" name="Image 12" descr="preencoded.png"/>
          <p:cNvPicPr>
            <a:picLocks noChangeAspect="1"/>
          </p:cNvPicPr>
          <p:nvPr/>
        </p:nvPicPr>
        <p:blipFill>
          <a:blip r:embed="rId15"/>
          <a:stretch>
            <a:fillRect/>
          </a:stretch>
        </p:blipFill>
        <p:spPr>
          <a:xfrm>
            <a:off x="4521101" y="3895725"/>
            <a:ext cx="3149650" cy="419100"/>
          </a:xfrm>
          <a:prstGeom prst="rect">
            <a:avLst/>
          </a:prstGeom>
        </p:spPr>
      </p:pic>
      <p:pic>
        <p:nvPicPr>
          <p:cNvPr id="15" name="Image 13" descr="preencoded.png"/>
          <p:cNvPicPr>
            <a:picLocks noChangeAspect="1"/>
          </p:cNvPicPr>
          <p:nvPr/>
        </p:nvPicPr>
        <p:blipFill>
          <a:blip r:embed="rId11"/>
          <a:stretch>
            <a:fillRect/>
          </a:stretch>
        </p:blipFill>
        <p:spPr>
          <a:xfrm>
            <a:off x="4635401" y="4029075"/>
            <a:ext cx="133350" cy="133350"/>
          </a:xfrm>
          <a:prstGeom prst="rect">
            <a:avLst/>
          </a:prstGeom>
        </p:spPr>
      </p:pic>
      <p:pic>
        <p:nvPicPr>
          <p:cNvPr id="16" name="Image 14" descr="preencoded.png"/>
          <p:cNvPicPr>
            <a:picLocks noChangeAspect="1"/>
          </p:cNvPicPr>
          <p:nvPr/>
        </p:nvPicPr>
        <p:blipFill>
          <a:blip r:embed="rId16"/>
          <a:stretch>
            <a:fillRect/>
          </a:stretch>
        </p:blipFill>
        <p:spPr>
          <a:xfrm>
            <a:off x="8127950" y="1971140"/>
            <a:ext cx="3606701" cy="2486025"/>
          </a:xfrm>
          <a:prstGeom prst="rect">
            <a:avLst/>
          </a:prstGeom>
        </p:spPr>
      </p:pic>
      <p:pic>
        <p:nvPicPr>
          <p:cNvPr id="17" name="Image 15" descr="preencoded.png"/>
          <p:cNvPicPr>
            <a:picLocks noChangeAspect="1"/>
          </p:cNvPicPr>
          <p:nvPr/>
        </p:nvPicPr>
        <p:blipFill>
          <a:blip r:embed="rId17"/>
          <a:stretch>
            <a:fillRect/>
          </a:stretch>
        </p:blipFill>
        <p:spPr>
          <a:xfrm>
            <a:off x="8356550" y="2286000"/>
            <a:ext cx="476250" cy="476250"/>
          </a:xfrm>
          <a:prstGeom prst="rect">
            <a:avLst/>
          </a:prstGeom>
        </p:spPr>
      </p:pic>
      <p:pic>
        <p:nvPicPr>
          <p:cNvPr id="18" name="Image 16" descr="preencoded.png"/>
          <p:cNvPicPr>
            <a:picLocks noChangeAspect="1"/>
          </p:cNvPicPr>
          <p:nvPr/>
        </p:nvPicPr>
        <p:blipFill>
          <a:blip r:embed="rId18"/>
          <a:stretch>
            <a:fillRect/>
          </a:stretch>
        </p:blipFill>
        <p:spPr>
          <a:xfrm>
            <a:off x="8485138" y="2390775"/>
            <a:ext cx="219075" cy="266700"/>
          </a:xfrm>
          <a:prstGeom prst="rect">
            <a:avLst/>
          </a:prstGeom>
        </p:spPr>
      </p:pic>
      <p:pic>
        <p:nvPicPr>
          <p:cNvPr id="19" name="Image 17" descr="preencoded.png"/>
          <p:cNvPicPr>
            <a:picLocks noChangeAspect="1"/>
          </p:cNvPicPr>
          <p:nvPr/>
        </p:nvPicPr>
        <p:blipFill>
          <a:blip r:embed="rId19"/>
          <a:stretch>
            <a:fillRect/>
          </a:stretch>
        </p:blipFill>
        <p:spPr>
          <a:xfrm>
            <a:off x="8356550" y="3895725"/>
            <a:ext cx="3149501" cy="419100"/>
          </a:xfrm>
          <a:prstGeom prst="rect">
            <a:avLst/>
          </a:prstGeom>
        </p:spPr>
      </p:pic>
      <p:pic>
        <p:nvPicPr>
          <p:cNvPr id="20" name="Image 18" descr="preencoded.png"/>
          <p:cNvPicPr>
            <a:picLocks noChangeAspect="1"/>
          </p:cNvPicPr>
          <p:nvPr/>
        </p:nvPicPr>
        <p:blipFill>
          <a:blip r:embed="rId11"/>
          <a:stretch>
            <a:fillRect/>
          </a:stretch>
        </p:blipFill>
        <p:spPr>
          <a:xfrm>
            <a:off x="8470850" y="4029075"/>
            <a:ext cx="133350" cy="133350"/>
          </a:xfrm>
          <a:prstGeom prst="rect">
            <a:avLst/>
          </a:prstGeom>
        </p:spPr>
      </p:pic>
      <p:pic>
        <p:nvPicPr>
          <p:cNvPr id="21" name="Image 19" descr="preencoded.png"/>
          <p:cNvPicPr>
            <a:picLocks noChangeAspect="1"/>
          </p:cNvPicPr>
          <p:nvPr/>
        </p:nvPicPr>
        <p:blipFill>
          <a:blip r:embed="rId20"/>
          <a:stretch>
            <a:fillRect/>
          </a:stretch>
        </p:blipFill>
        <p:spPr>
          <a:xfrm>
            <a:off x="457200" y="4582253"/>
            <a:ext cx="3606701" cy="2905125"/>
          </a:xfrm>
          <a:prstGeom prst="rect">
            <a:avLst/>
          </a:prstGeom>
        </p:spPr>
      </p:pic>
      <p:pic>
        <p:nvPicPr>
          <p:cNvPr id="22" name="Image 20" descr="preencoded.png"/>
          <p:cNvPicPr>
            <a:picLocks noChangeAspect="1"/>
          </p:cNvPicPr>
          <p:nvPr/>
        </p:nvPicPr>
        <p:blipFill>
          <a:blip r:embed="rId21"/>
          <a:stretch>
            <a:fillRect/>
          </a:stretch>
        </p:blipFill>
        <p:spPr>
          <a:xfrm>
            <a:off x="685800" y="5000625"/>
            <a:ext cx="476250" cy="476250"/>
          </a:xfrm>
          <a:prstGeom prst="rect">
            <a:avLst/>
          </a:prstGeom>
        </p:spPr>
      </p:pic>
      <p:pic>
        <p:nvPicPr>
          <p:cNvPr id="23" name="Image 21" descr="preencoded.png"/>
          <p:cNvPicPr>
            <a:picLocks noChangeAspect="1"/>
          </p:cNvPicPr>
          <p:nvPr/>
        </p:nvPicPr>
        <p:blipFill>
          <a:blip r:embed="rId22"/>
          <a:stretch>
            <a:fillRect/>
          </a:stretch>
        </p:blipFill>
        <p:spPr>
          <a:xfrm>
            <a:off x="804863" y="5105400"/>
            <a:ext cx="238125" cy="266700"/>
          </a:xfrm>
          <a:prstGeom prst="rect">
            <a:avLst/>
          </a:prstGeom>
        </p:spPr>
      </p:pic>
      <p:pic>
        <p:nvPicPr>
          <p:cNvPr id="24" name="Image 22" descr="preencoded.png"/>
          <p:cNvPicPr>
            <a:picLocks noChangeAspect="1"/>
          </p:cNvPicPr>
          <p:nvPr/>
        </p:nvPicPr>
        <p:blipFill>
          <a:blip r:embed="rId10"/>
          <a:stretch>
            <a:fillRect/>
          </a:stretch>
        </p:blipFill>
        <p:spPr>
          <a:xfrm>
            <a:off x="695250" y="6329994"/>
            <a:ext cx="3149501" cy="419100"/>
          </a:xfrm>
          <a:prstGeom prst="rect">
            <a:avLst/>
          </a:prstGeom>
        </p:spPr>
      </p:pic>
      <p:pic>
        <p:nvPicPr>
          <p:cNvPr id="25" name="Image 23" descr="preencoded.png"/>
          <p:cNvPicPr>
            <a:picLocks noChangeAspect="1"/>
          </p:cNvPicPr>
          <p:nvPr/>
        </p:nvPicPr>
        <p:blipFill>
          <a:blip r:embed="rId11"/>
          <a:stretch>
            <a:fillRect/>
          </a:stretch>
        </p:blipFill>
        <p:spPr>
          <a:xfrm>
            <a:off x="800100" y="6464057"/>
            <a:ext cx="133350" cy="133350"/>
          </a:xfrm>
          <a:prstGeom prst="rect">
            <a:avLst/>
          </a:prstGeom>
        </p:spPr>
      </p:pic>
      <p:pic>
        <p:nvPicPr>
          <p:cNvPr id="26" name="Image 24" descr="preencoded.png"/>
          <p:cNvPicPr>
            <a:picLocks noChangeAspect="1"/>
          </p:cNvPicPr>
          <p:nvPr/>
        </p:nvPicPr>
        <p:blipFill>
          <a:blip r:embed="rId23"/>
          <a:stretch>
            <a:fillRect/>
          </a:stretch>
        </p:blipFill>
        <p:spPr>
          <a:xfrm>
            <a:off x="4292501" y="4582253"/>
            <a:ext cx="3606850" cy="2905125"/>
          </a:xfrm>
          <a:prstGeom prst="rect">
            <a:avLst/>
          </a:prstGeom>
        </p:spPr>
      </p:pic>
      <p:pic>
        <p:nvPicPr>
          <p:cNvPr id="27" name="Image 25" descr="preencoded.png"/>
          <p:cNvPicPr>
            <a:picLocks noChangeAspect="1"/>
          </p:cNvPicPr>
          <p:nvPr/>
        </p:nvPicPr>
        <p:blipFill>
          <a:blip r:embed="rId24"/>
          <a:stretch>
            <a:fillRect/>
          </a:stretch>
        </p:blipFill>
        <p:spPr>
          <a:xfrm>
            <a:off x="4521101" y="5000625"/>
            <a:ext cx="476250" cy="476250"/>
          </a:xfrm>
          <a:prstGeom prst="rect">
            <a:avLst/>
          </a:prstGeom>
        </p:spPr>
      </p:pic>
      <p:pic>
        <p:nvPicPr>
          <p:cNvPr id="28" name="Image 26" descr="preencoded.png"/>
          <p:cNvPicPr>
            <a:picLocks noChangeAspect="1"/>
          </p:cNvPicPr>
          <p:nvPr/>
        </p:nvPicPr>
        <p:blipFill>
          <a:blip r:embed="rId25"/>
          <a:stretch>
            <a:fillRect/>
          </a:stretch>
        </p:blipFill>
        <p:spPr>
          <a:xfrm>
            <a:off x="4663976" y="5105400"/>
            <a:ext cx="190500" cy="266700"/>
          </a:xfrm>
          <a:prstGeom prst="rect">
            <a:avLst/>
          </a:prstGeom>
        </p:spPr>
      </p:pic>
      <p:pic>
        <p:nvPicPr>
          <p:cNvPr id="29" name="Image 27" descr="preencoded.png"/>
          <p:cNvPicPr>
            <a:picLocks noChangeAspect="1"/>
          </p:cNvPicPr>
          <p:nvPr/>
        </p:nvPicPr>
        <p:blipFill>
          <a:blip r:embed="rId15"/>
          <a:stretch>
            <a:fillRect/>
          </a:stretch>
        </p:blipFill>
        <p:spPr>
          <a:xfrm>
            <a:off x="4514731" y="6324600"/>
            <a:ext cx="3149650" cy="419100"/>
          </a:xfrm>
          <a:prstGeom prst="rect">
            <a:avLst/>
          </a:prstGeom>
        </p:spPr>
      </p:pic>
      <p:pic>
        <p:nvPicPr>
          <p:cNvPr id="30" name="Image 28" descr="preencoded.png"/>
          <p:cNvPicPr>
            <a:picLocks noChangeAspect="1"/>
          </p:cNvPicPr>
          <p:nvPr/>
        </p:nvPicPr>
        <p:blipFill>
          <a:blip r:embed="rId11"/>
          <a:stretch>
            <a:fillRect/>
          </a:stretch>
        </p:blipFill>
        <p:spPr>
          <a:xfrm>
            <a:off x="4600897" y="6472687"/>
            <a:ext cx="133350" cy="133350"/>
          </a:xfrm>
          <a:prstGeom prst="rect">
            <a:avLst/>
          </a:prstGeom>
        </p:spPr>
      </p:pic>
      <p:pic>
        <p:nvPicPr>
          <p:cNvPr id="32" name="Image 30" descr="preencoded.png"/>
          <p:cNvPicPr>
            <a:picLocks noChangeAspect="1"/>
          </p:cNvPicPr>
          <p:nvPr/>
        </p:nvPicPr>
        <p:blipFill>
          <a:blip r:embed="rId26"/>
          <a:stretch>
            <a:fillRect/>
          </a:stretch>
        </p:blipFill>
        <p:spPr>
          <a:xfrm>
            <a:off x="8356550" y="5000625"/>
            <a:ext cx="476250" cy="476250"/>
          </a:xfrm>
          <a:prstGeom prst="rect">
            <a:avLst/>
          </a:prstGeom>
        </p:spPr>
      </p:pic>
      <p:pic>
        <p:nvPicPr>
          <p:cNvPr id="33" name="Image 31" descr="preencoded.png"/>
          <p:cNvPicPr>
            <a:picLocks noChangeAspect="1"/>
          </p:cNvPicPr>
          <p:nvPr/>
        </p:nvPicPr>
        <p:blipFill>
          <a:blip r:embed="rId27"/>
          <a:stretch>
            <a:fillRect/>
          </a:stretch>
        </p:blipFill>
        <p:spPr>
          <a:xfrm>
            <a:off x="8523238" y="5105400"/>
            <a:ext cx="142875" cy="266700"/>
          </a:xfrm>
          <a:prstGeom prst="rect">
            <a:avLst/>
          </a:prstGeom>
        </p:spPr>
      </p:pic>
      <p:pic>
        <p:nvPicPr>
          <p:cNvPr id="34" name="Image 32" descr="preencoded.png"/>
          <p:cNvPicPr>
            <a:picLocks noChangeAspect="1"/>
          </p:cNvPicPr>
          <p:nvPr/>
        </p:nvPicPr>
        <p:blipFill>
          <a:blip r:embed="rId28"/>
          <a:stretch>
            <a:fillRect/>
          </a:stretch>
        </p:blipFill>
        <p:spPr>
          <a:xfrm>
            <a:off x="8356550" y="6580164"/>
            <a:ext cx="3149501" cy="356015"/>
          </a:xfrm>
          <a:prstGeom prst="rect">
            <a:avLst/>
          </a:prstGeom>
        </p:spPr>
      </p:pic>
      <p:pic>
        <p:nvPicPr>
          <p:cNvPr id="35" name="Image 33" descr="preencoded.png"/>
          <p:cNvPicPr>
            <a:picLocks noChangeAspect="1"/>
          </p:cNvPicPr>
          <p:nvPr/>
        </p:nvPicPr>
        <p:blipFill>
          <a:blip r:embed="rId11"/>
          <a:stretch>
            <a:fillRect/>
          </a:stretch>
        </p:blipFill>
        <p:spPr>
          <a:xfrm>
            <a:off x="8470850" y="6704886"/>
            <a:ext cx="133350" cy="133350"/>
          </a:xfrm>
          <a:prstGeom prst="rect">
            <a:avLst/>
          </a:prstGeom>
        </p:spPr>
      </p:pic>
      <p:sp>
        <p:nvSpPr>
          <p:cNvPr id="38" name="Text 0"/>
          <p:cNvSpPr/>
          <p:nvPr/>
        </p:nvSpPr>
        <p:spPr>
          <a:xfrm>
            <a:off x="457200" y="209550"/>
            <a:ext cx="4907578"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Data Persistence Options</a:t>
            </a:r>
            <a:endParaRPr lang="en-US" sz="2250" dirty="0"/>
          </a:p>
        </p:txBody>
      </p:sp>
      <p:sp>
        <p:nvSpPr>
          <p:cNvPr id="39" name="Text 1"/>
          <p:cNvSpPr/>
          <p:nvPr/>
        </p:nvSpPr>
        <p:spPr>
          <a:xfrm>
            <a:off x="457200" y="1219200"/>
            <a:ext cx="11277600" cy="533400"/>
          </a:xfrm>
          <a:prstGeom prst="rect">
            <a:avLst/>
          </a:prstGeom>
          <a:noFill/>
          <a:ln/>
        </p:spPr>
        <p:txBody>
          <a:bodyPr vert="horz" wrap="square" lIns="0" tIns="0" rIns="0" bIns="0" rtlCol="0" anchor="t"/>
          <a:lstStyle/>
          <a:p>
            <a:pPr marL="0" indent="0">
              <a:lnSpc>
                <a:spcPts val="2100"/>
              </a:lnSpc>
              <a:buNone/>
            </a:pPr>
            <a:r>
              <a:rPr lang="en-US" sz="1500" dirty="0">
                <a:solidFill>
                  <a:srgbClr val="1F2937"/>
                </a:solidFill>
                <a:latin typeface="ui-sans-serif" pitchFamily="34" charset="0"/>
                <a:ea typeface="ui-sans-serif" pitchFamily="34" charset="-122"/>
                <a:cs typeface="ui-sans-serif" pitchFamily="34" charset="-120"/>
              </a:rPr>
              <a:t>EC2 instances within an Elastic Beanstalk environment are inherently ephemeral. Any data stored directly on them is lost upon termination. Elastic Beanstalk integrates with dedicated AWS data storage services for persistent storage.</a:t>
            </a:r>
            <a:endParaRPr lang="en-US" sz="1500" dirty="0"/>
          </a:p>
        </p:txBody>
      </p:sp>
      <p:sp>
        <p:nvSpPr>
          <p:cNvPr id="40" name="Text 2"/>
          <p:cNvSpPr/>
          <p:nvPr/>
        </p:nvSpPr>
        <p:spPr>
          <a:xfrm>
            <a:off x="1314450" y="2462213"/>
            <a:ext cx="163234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RDS</a:t>
            </a:r>
            <a:endParaRPr lang="en-US" sz="1500" dirty="0"/>
          </a:p>
        </p:txBody>
      </p:sp>
      <p:sp>
        <p:nvSpPr>
          <p:cNvPr id="41" name="Text 3"/>
          <p:cNvSpPr/>
          <p:nvPr/>
        </p:nvSpPr>
        <p:spPr>
          <a:xfrm>
            <a:off x="685800" y="3057525"/>
            <a:ext cx="3149501"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Managed relational databases. Can be provisioned and managed by Elastic Beanstalk or separately.</a:t>
            </a:r>
            <a:endParaRPr lang="en-US" sz="1200" dirty="0"/>
          </a:p>
        </p:txBody>
      </p:sp>
      <p:sp>
        <p:nvSpPr>
          <p:cNvPr id="42" name="Text 4"/>
          <p:cNvSpPr/>
          <p:nvPr/>
        </p:nvSpPr>
        <p:spPr>
          <a:xfrm>
            <a:off x="1009650" y="4010025"/>
            <a:ext cx="3505081"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Relational data with ACID compliance</a:t>
            </a:r>
            <a:endParaRPr lang="en-US" sz="1050" dirty="0"/>
          </a:p>
        </p:txBody>
      </p:sp>
      <p:sp>
        <p:nvSpPr>
          <p:cNvPr id="43" name="Text 5"/>
          <p:cNvSpPr/>
          <p:nvPr/>
        </p:nvSpPr>
        <p:spPr>
          <a:xfrm>
            <a:off x="5149751" y="2462213"/>
            <a:ext cx="2516922"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DynamoDB</a:t>
            </a:r>
            <a:endParaRPr lang="en-US" sz="1500" dirty="0"/>
          </a:p>
        </p:txBody>
      </p:sp>
      <p:sp>
        <p:nvSpPr>
          <p:cNvPr id="44" name="Text 6"/>
          <p:cNvSpPr/>
          <p:nvPr/>
        </p:nvSpPr>
        <p:spPr>
          <a:xfrm>
            <a:off x="4521101" y="3057525"/>
            <a:ext cx="31496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Fully managed NoSQL database service for applications requiring flexible schema and high performance.</a:t>
            </a:r>
            <a:endParaRPr lang="en-US" sz="1200" dirty="0"/>
          </a:p>
        </p:txBody>
      </p:sp>
      <p:sp>
        <p:nvSpPr>
          <p:cNvPr id="45" name="Text 7"/>
          <p:cNvSpPr/>
          <p:nvPr/>
        </p:nvSpPr>
        <p:spPr>
          <a:xfrm>
            <a:off x="4844951" y="4010025"/>
            <a:ext cx="350526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Key-value and document data model</a:t>
            </a:r>
            <a:endParaRPr lang="en-US" sz="1050" dirty="0"/>
          </a:p>
        </p:txBody>
      </p:sp>
      <p:sp>
        <p:nvSpPr>
          <p:cNvPr id="46" name="Text 8"/>
          <p:cNvSpPr/>
          <p:nvPr/>
        </p:nvSpPr>
        <p:spPr>
          <a:xfrm>
            <a:off x="8985200" y="2462213"/>
            <a:ext cx="15787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EFS</a:t>
            </a:r>
            <a:endParaRPr lang="en-US" sz="1500" dirty="0"/>
          </a:p>
        </p:txBody>
      </p:sp>
      <p:sp>
        <p:nvSpPr>
          <p:cNvPr id="47" name="Text 9"/>
          <p:cNvSpPr/>
          <p:nvPr/>
        </p:nvSpPr>
        <p:spPr>
          <a:xfrm>
            <a:off x="8356550" y="3057525"/>
            <a:ext cx="3149501"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Scalable file storage that can be mounted across multiple EC2 instances, providing shared file system access.</a:t>
            </a:r>
            <a:endParaRPr lang="en-US" sz="1200" dirty="0"/>
          </a:p>
        </p:txBody>
      </p:sp>
      <p:sp>
        <p:nvSpPr>
          <p:cNvPr id="48" name="Text 10"/>
          <p:cNvSpPr/>
          <p:nvPr/>
        </p:nvSpPr>
        <p:spPr>
          <a:xfrm>
            <a:off x="8680400" y="4010025"/>
            <a:ext cx="3505081"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Shared filesystem access</a:t>
            </a:r>
            <a:endParaRPr lang="en-US" sz="1050" dirty="0"/>
          </a:p>
        </p:txBody>
      </p:sp>
      <p:sp>
        <p:nvSpPr>
          <p:cNvPr id="49" name="Text 11"/>
          <p:cNvSpPr/>
          <p:nvPr/>
        </p:nvSpPr>
        <p:spPr>
          <a:xfrm>
            <a:off x="1314450" y="5064696"/>
            <a:ext cx="142553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S3</a:t>
            </a:r>
            <a:endParaRPr lang="en-US" sz="1500" dirty="0"/>
          </a:p>
        </p:txBody>
      </p:sp>
      <p:sp>
        <p:nvSpPr>
          <p:cNvPr id="50" name="Text 12"/>
          <p:cNvSpPr/>
          <p:nvPr/>
        </p:nvSpPr>
        <p:spPr>
          <a:xfrm>
            <a:off x="685800" y="5772150"/>
            <a:ext cx="3149501" cy="65776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Object storage suitable for static assets, backups, and large files.</a:t>
            </a:r>
            <a:endParaRPr lang="en-US" sz="1200" dirty="0"/>
          </a:p>
        </p:txBody>
      </p:sp>
      <p:sp>
        <p:nvSpPr>
          <p:cNvPr id="51" name="Text 13"/>
          <p:cNvSpPr/>
          <p:nvPr/>
        </p:nvSpPr>
        <p:spPr>
          <a:xfrm>
            <a:off x="987444" y="6439435"/>
            <a:ext cx="3505081"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Scalable object storage</a:t>
            </a:r>
            <a:endParaRPr lang="en-US" sz="1050" dirty="0"/>
          </a:p>
        </p:txBody>
      </p:sp>
      <p:sp>
        <p:nvSpPr>
          <p:cNvPr id="52" name="Text 14"/>
          <p:cNvSpPr/>
          <p:nvPr/>
        </p:nvSpPr>
        <p:spPr>
          <a:xfrm>
            <a:off x="5149751" y="5116456"/>
            <a:ext cx="159698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Amazon EBS</a:t>
            </a:r>
            <a:endParaRPr lang="en-US" sz="1500" dirty="0"/>
          </a:p>
        </p:txBody>
      </p:sp>
      <p:sp>
        <p:nvSpPr>
          <p:cNvPr id="53" name="Text 15"/>
          <p:cNvSpPr/>
          <p:nvPr/>
        </p:nvSpPr>
        <p:spPr>
          <a:xfrm>
            <a:off x="4521101" y="5772151"/>
            <a:ext cx="31496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Block storage volumes that can be attached to EC2 instances, offering persistent.</a:t>
            </a:r>
            <a:endParaRPr lang="en-US" sz="1200" dirty="0"/>
          </a:p>
        </p:txBody>
      </p:sp>
      <p:sp>
        <p:nvSpPr>
          <p:cNvPr id="54" name="Text 16"/>
          <p:cNvSpPr/>
          <p:nvPr/>
        </p:nvSpPr>
        <p:spPr>
          <a:xfrm>
            <a:off x="4756101" y="6438900"/>
            <a:ext cx="350526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Block-level storage</a:t>
            </a:r>
            <a:endParaRPr lang="en-US" sz="1050" dirty="0"/>
          </a:p>
        </p:txBody>
      </p:sp>
      <p:sp>
        <p:nvSpPr>
          <p:cNvPr id="55" name="Text 17"/>
          <p:cNvSpPr/>
          <p:nvPr/>
        </p:nvSpPr>
        <p:spPr>
          <a:xfrm>
            <a:off x="8985200" y="5116456"/>
            <a:ext cx="170253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Best Practice</a:t>
            </a:r>
            <a:endParaRPr lang="en-US" sz="1500" dirty="0"/>
          </a:p>
        </p:txBody>
      </p:sp>
      <p:sp>
        <p:nvSpPr>
          <p:cNvPr id="56" name="Text 18"/>
          <p:cNvSpPr/>
          <p:nvPr/>
        </p:nvSpPr>
        <p:spPr>
          <a:xfrm>
            <a:off x="8356550" y="5772150"/>
            <a:ext cx="3149501"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For data persistence, always use dedicated AWS storage services rather than storing data directly on EC2 instances.</a:t>
            </a:r>
            <a:endParaRPr lang="en-US" sz="1200" dirty="0"/>
          </a:p>
        </p:txBody>
      </p:sp>
      <p:sp>
        <p:nvSpPr>
          <p:cNvPr id="57" name="Text 19"/>
          <p:cNvSpPr/>
          <p:nvPr/>
        </p:nvSpPr>
        <p:spPr>
          <a:xfrm>
            <a:off x="8680400" y="6659954"/>
            <a:ext cx="2920901" cy="3810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Ensures data durability across instance lifecycles</a:t>
            </a:r>
            <a:endParaRPr lang="en-US" sz="1050" dirty="0"/>
          </a:p>
        </p:txBody>
      </p:sp>
      <p:sp>
        <p:nvSpPr>
          <p:cNvPr id="58" name="Text 20"/>
          <p:cNvSpPr/>
          <p:nvPr/>
        </p:nvSpPr>
        <p:spPr>
          <a:xfrm>
            <a:off x="685800" y="8286750"/>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59" name="Text 21"/>
          <p:cNvSpPr/>
          <p:nvPr/>
        </p:nvSpPr>
        <p:spPr>
          <a:xfrm>
            <a:off x="11392495" y="8286750"/>
            <a:ext cx="41076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677400" y="533400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76200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2057400"/>
            <a:ext cx="5524500" cy="1409700"/>
          </a:xfrm>
          <a:prstGeom prst="rect">
            <a:avLst/>
          </a:prstGeom>
        </p:spPr>
      </p:pic>
      <p:pic>
        <p:nvPicPr>
          <p:cNvPr id="7" name="Image 5" descr="preencoded.png"/>
          <p:cNvPicPr>
            <a:picLocks noChangeAspect="1"/>
          </p:cNvPicPr>
          <p:nvPr/>
        </p:nvPicPr>
        <p:blipFill>
          <a:blip r:embed="rId8"/>
          <a:stretch>
            <a:fillRect/>
          </a:stretch>
        </p:blipFill>
        <p:spPr>
          <a:xfrm>
            <a:off x="647700" y="2247900"/>
            <a:ext cx="190500" cy="476250"/>
          </a:xfrm>
          <a:prstGeom prst="rect">
            <a:avLst/>
          </a:prstGeom>
        </p:spPr>
      </p:pic>
      <p:pic>
        <p:nvPicPr>
          <p:cNvPr id="8" name="Image 6" descr="preencoded.png"/>
          <p:cNvPicPr>
            <a:picLocks noChangeAspect="1"/>
          </p:cNvPicPr>
          <p:nvPr/>
        </p:nvPicPr>
        <p:blipFill>
          <a:blip r:embed="rId9"/>
          <a:stretch>
            <a:fillRect/>
          </a:stretch>
        </p:blipFill>
        <p:spPr>
          <a:xfrm>
            <a:off x="647700" y="2352675"/>
            <a:ext cx="190500" cy="266700"/>
          </a:xfrm>
          <a:prstGeom prst="rect">
            <a:avLst/>
          </a:prstGeom>
        </p:spPr>
      </p:pic>
      <p:pic>
        <p:nvPicPr>
          <p:cNvPr id="9" name="Image 7" descr="preencoded.png"/>
          <p:cNvPicPr>
            <a:picLocks noChangeAspect="1"/>
          </p:cNvPicPr>
          <p:nvPr/>
        </p:nvPicPr>
        <p:blipFill>
          <a:blip r:embed="rId7"/>
          <a:stretch>
            <a:fillRect/>
          </a:stretch>
        </p:blipFill>
        <p:spPr>
          <a:xfrm>
            <a:off x="6210300" y="2057400"/>
            <a:ext cx="5524500" cy="1409700"/>
          </a:xfrm>
          <a:prstGeom prst="rect">
            <a:avLst/>
          </a:prstGeom>
        </p:spPr>
      </p:pic>
      <p:pic>
        <p:nvPicPr>
          <p:cNvPr id="10" name="Image 8" descr="preencoded.png"/>
          <p:cNvPicPr>
            <a:picLocks noChangeAspect="1"/>
          </p:cNvPicPr>
          <p:nvPr/>
        </p:nvPicPr>
        <p:blipFill>
          <a:blip r:embed="rId10"/>
          <a:stretch>
            <a:fillRect/>
          </a:stretch>
        </p:blipFill>
        <p:spPr>
          <a:xfrm>
            <a:off x="6400800" y="2247900"/>
            <a:ext cx="238125" cy="476250"/>
          </a:xfrm>
          <a:prstGeom prst="rect">
            <a:avLst/>
          </a:prstGeom>
        </p:spPr>
      </p:pic>
      <p:pic>
        <p:nvPicPr>
          <p:cNvPr id="11" name="Image 9" descr="preencoded.png"/>
          <p:cNvPicPr>
            <a:picLocks noChangeAspect="1"/>
          </p:cNvPicPr>
          <p:nvPr/>
        </p:nvPicPr>
        <p:blipFill>
          <a:blip r:embed="rId11"/>
          <a:stretch>
            <a:fillRect/>
          </a:stretch>
        </p:blipFill>
        <p:spPr>
          <a:xfrm>
            <a:off x="6400800" y="2352675"/>
            <a:ext cx="238125" cy="266700"/>
          </a:xfrm>
          <a:prstGeom prst="rect">
            <a:avLst/>
          </a:prstGeom>
        </p:spPr>
      </p:pic>
      <p:pic>
        <p:nvPicPr>
          <p:cNvPr id="12" name="Image 10" descr="preencoded.png"/>
          <p:cNvPicPr>
            <a:picLocks noChangeAspect="1"/>
          </p:cNvPicPr>
          <p:nvPr/>
        </p:nvPicPr>
        <p:blipFill>
          <a:blip r:embed="rId12"/>
          <a:stretch>
            <a:fillRect/>
          </a:stretch>
        </p:blipFill>
        <p:spPr>
          <a:xfrm>
            <a:off x="457200" y="3695700"/>
            <a:ext cx="5524500" cy="1866900"/>
          </a:xfrm>
          <a:prstGeom prst="rect">
            <a:avLst/>
          </a:prstGeom>
        </p:spPr>
      </p:pic>
      <p:pic>
        <p:nvPicPr>
          <p:cNvPr id="13" name="Image 11" descr="preencoded.png"/>
          <p:cNvPicPr>
            <a:picLocks noChangeAspect="1"/>
          </p:cNvPicPr>
          <p:nvPr/>
        </p:nvPicPr>
        <p:blipFill>
          <a:blip r:embed="rId13"/>
          <a:stretch>
            <a:fillRect/>
          </a:stretch>
        </p:blipFill>
        <p:spPr>
          <a:xfrm>
            <a:off x="647700" y="3886200"/>
            <a:ext cx="136773" cy="476250"/>
          </a:xfrm>
          <a:prstGeom prst="rect">
            <a:avLst/>
          </a:prstGeom>
        </p:spPr>
      </p:pic>
      <p:pic>
        <p:nvPicPr>
          <p:cNvPr id="14" name="Image 12" descr="preencoded.png"/>
          <p:cNvPicPr>
            <a:picLocks noChangeAspect="1"/>
          </p:cNvPicPr>
          <p:nvPr/>
        </p:nvPicPr>
        <p:blipFill>
          <a:blip r:embed="rId14"/>
          <a:stretch>
            <a:fillRect/>
          </a:stretch>
        </p:blipFill>
        <p:spPr>
          <a:xfrm>
            <a:off x="668387" y="3990975"/>
            <a:ext cx="95250" cy="266700"/>
          </a:xfrm>
          <a:prstGeom prst="rect">
            <a:avLst/>
          </a:prstGeom>
        </p:spPr>
      </p:pic>
      <p:pic>
        <p:nvPicPr>
          <p:cNvPr id="15" name="Image 13" descr="preencoded.png"/>
          <p:cNvPicPr>
            <a:picLocks noChangeAspect="1"/>
          </p:cNvPicPr>
          <p:nvPr/>
        </p:nvPicPr>
        <p:blipFill>
          <a:blip r:embed="rId12"/>
          <a:stretch>
            <a:fillRect/>
          </a:stretch>
        </p:blipFill>
        <p:spPr>
          <a:xfrm>
            <a:off x="6210300" y="3695700"/>
            <a:ext cx="5524500" cy="1866900"/>
          </a:xfrm>
          <a:prstGeom prst="rect">
            <a:avLst/>
          </a:prstGeom>
        </p:spPr>
      </p:pic>
      <p:pic>
        <p:nvPicPr>
          <p:cNvPr id="16" name="Image 14" descr="preencoded.png"/>
          <p:cNvPicPr>
            <a:picLocks noChangeAspect="1"/>
          </p:cNvPicPr>
          <p:nvPr/>
        </p:nvPicPr>
        <p:blipFill>
          <a:blip r:embed="rId15"/>
          <a:stretch>
            <a:fillRect/>
          </a:stretch>
        </p:blipFill>
        <p:spPr>
          <a:xfrm>
            <a:off x="6400800" y="3886200"/>
            <a:ext cx="190500" cy="476250"/>
          </a:xfrm>
          <a:prstGeom prst="rect">
            <a:avLst/>
          </a:prstGeom>
        </p:spPr>
      </p:pic>
      <p:pic>
        <p:nvPicPr>
          <p:cNvPr id="17" name="Image 15" descr="preencoded.png"/>
          <p:cNvPicPr>
            <a:picLocks noChangeAspect="1"/>
          </p:cNvPicPr>
          <p:nvPr/>
        </p:nvPicPr>
        <p:blipFill>
          <a:blip r:embed="rId16"/>
          <a:stretch>
            <a:fillRect/>
          </a:stretch>
        </p:blipFill>
        <p:spPr>
          <a:xfrm>
            <a:off x="6400800" y="3990975"/>
            <a:ext cx="190500" cy="266700"/>
          </a:xfrm>
          <a:prstGeom prst="rect">
            <a:avLst/>
          </a:prstGeom>
        </p:spPr>
      </p:pic>
      <p:pic>
        <p:nvPicPr>
          <p:cNvPr id="18" name="Image 16" descr="preencoded.png"/>
          <p:cNvPicPr>
            <a:picLocks noChangeAspect="1"/>
          </p:cNvPicPr>
          <p:nvPr/>
        </p:nvPicPr>
        <p:blipFill>
          <a:blip r:embed="rId17"/>
          <a:stretch>
            <a:fillRect/>
          </a:stretch>
        </p:blipFill>
        <p:spPr>
          <a:xfrm>
            <a:off x="457200" y="5867400"/>
            <a:ext cx="11277600" cy="762000"/>
          </a:xfrm>
          <a:prstGeom prst="rect">
            <a:avLst/>
          </a:prstGeom>
        </p:spPr>
      </p:pic>
      <p:pic>
        <p:nvPicPr>
          <p:cNvPr id="19" name="Image 17" descr="preencoded.png"/>
          <p:cNvPicPr>
            <a:picLocks noChangeAspect="1"/>
          </p:cNvPicPr>
          <p:nvPr/>
        </p:nvPicPr>
        <p:blipFill>
          <a:blip r:embed="rId18"/>
          <a:stretch>
            <a:fillRect/>
          </a:stretch>
        </p:blipFill>
        <p:spPr>
          <a:xfrm>
            <a:off x="609600" y="6115050"/>
            <a:ext cx="142875" cy="266700"/>
          </a:xfrm>
          <a:prstGeom prst="rect">
            <a:avLst/>
          </a:prstGeom>
        </p:spPr>
      </p:pic>
      <p:pic>
        <p:nvPicPr>
          <p:cNvPr id="20" name="Image 18" descr="preencoded.png"/>
          <p:cNvPicPr>
            <a:picLocks noChangeAspect="1"/>
          </p:cNvPicPr>
          <p:nvPr/>
        </p:nvPicPr>
        <p:blipFill>
          <a:blip r:embed="rId19"/>
          <a:stretch>
            <a:fillRect/>
          </a:stretch>
        </p:blipFill>
        <p:spPr>
          <a:xfrm>
            <a:off x="0" y="7086600"/>
            <a:ext cx="12192000" cy="533400"/>
          </a:xfrm>
          <a:prstGeom prst="rect">
            <a:avLst/>
          </a:prstGeom>
        </p:spPr>
      </p:pic>
      <p:sp>
        <p:nvSpPr>
          <p:cNvPr id="22" name="Text 0"/>
          <p:cNvSpPr/>
          <p:nvPr/>
        </p:nvSpPr>
        <p:spPr>
          <a:xfrm>
            <a:off x="457200" y="209550"/>
            <a:ext cx="7368778"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Key Feature: Automated Management</a:t>
            </a:r>
            <a:endParaRPr lang="en-US" sz="2250" dirty="0"/>
          </a:p>
        </p:txBody>
      </p:sp>
      <p:sp>
        <p:nvSpPr>
          <p:cNvPr id="23" name="Text 1"/>
          <p:cNvSpPr/>
          <p:nvPr/>
        </p:nvSpPr>
        <p:spPr>
          <a:xfrm>
            <a:off x="457200" y="1219200"/>
            <a:ext cx="112776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Elastic Beanstalk automates many operational tasks associated with deploying and managing applications, ensuring efficiency and reliability while reducing manual effort.</a:t>
            </a:r>
            <a:endParaRPr lang="en-US" sz="1500" dirty="0"/>
          </a:p>
        </p:txBody>
      </p:sp>
      <p:sp>
        <p:nvSpPr>
          <p:cNvPr id="24" name="Text 2"/>
          <p:cNvSpPr/>
          <p:nvPr/>
        </p:nvSpPr>
        <p:spPr>
          <a:xfrm>
            <a:off x="990600" y="2247900"/>
            <a:ext cx="57607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Automated Infrastructure Provisioning</a:t>
            </a:r>
            <a:endParaRPr lang="en-US" sz="1500" dirty="0"/>
          </a:p>
        </p:txBody>
      </p:sp>
      <p:sp>
        <p:nvSpPr>
          <p:cNvPr id="25" name="Text 3"/>
          <p:cNvSpPr/>
          <p:nvPr/>
        </p:nvSpPr>
        <p:spPr>
          <a:xfrm>
            <a:off x="990600" y="2590800"/>
            <a:ext cx="4800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provisions and configures necessary AWS resources including Amazon EC2 instances, Elastic Load Balancers, Auto Scaling groups, and security groups.</a:t>
            </a:r>
            <a:endParaRPr lang="en-US" sz="1200" dirty="0"/>
          </a:p>
        </p:txBody>
      </p:sp>
      <p:sp>
        <p:nvSpPr>
          <p:cNvPr id="26" name="Text 4"/>
          <p:cNvSpPr/>
          <p:nvPr/>
        </p:nvSpPr>
        <p:spPr>
          <a:xfrm>
            <a:off x="6791325" y="2247900"/>
            <a:ext cx="47529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Load Balancing</a:t>
            </a:r>
            <a:endParaRPr lang="en-US" sz="1500" dirty="0"/>
          </a:p>
        </p:txBody>
      </p:sp>
      <p:sp>
        <p:nvSpPr>
          <p:cNvPr id="27" name="Text 5"/>
          <p:cNvSpPr/>
          <p:nvPr/>
        </p:nvSpPr>
        <p:spPr>
          <a:xfrm>
            <a:off x="6791325" y="2590800"/>
            <a:ext cx="4752975"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Integrates with Elastic Load Balancing to distribute incoming application traffic across multiple EC2 instances, ensuring high availability and responsiveness.</a:t>
            </a:r>
            <a:endParaRPr lang="en-US" sz="1200" dirty="0"/>
          </a:p>
        </p:txBody>
      </p:sp>
      <p:sp>
        <p:nvSpPr>
          <p:cNvPr id="28" name="Text 6"/>
          <p:cNvSpPr/>
          <p:nvPr/>
        </p:nvSpPr>
        <p:spPr>
          <a:xfrm>
            <a:off x="936873" y="3886200"/>
            <a:ext cx="48543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Auto-Scaling</a:t>
            </a:r>
            <a:endParaRPr lang="en-US" sz="1500" dirty="0"/>
          </a:p>
        </p:txBody>
      </p:sp>
      <p:sp>
        <p:nvSpPr>
          <p:cNvPr id="29" name="Text 7"/>
          <p:cNvSpPr/>
          <p:nvPr/>
        </p:nvSpPr>
        <p:spPr>
          <a:xfrm>
            <a:off x="936873" y="4229100"/>
            <a:ext cx="4854327"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adjusts the number of EC2 instances based on demand using configurable triggers like CPU utilization or network I/O. This optimizes costs during low-traffic periods and maintains performance during spikes.</a:t>
            </a:r>
            <a:endParaRPr lang="en-US" sz="1200" dirty="0"/>
          </a:p>
        </p:txBody>
      </p:sp>
      <p:sp>
        <p:nvSpPr>
          <p:cNvPr id="30" name="Text 8"/>
          <p:cNvSpPr/>
          <p:nvPr/>
        </p:nvSpPr>
        <p:spPr>
          <a:xfrm>
            <a:off x="6743700" y="3886200"/>
            <a:ext cx="57607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Managed Platform Updates</a:t>
            </a:r>
            <a:endParaRPr lang="en-US" sz="1500" dirty="0"/>
          </a:p>
        </p:txBody>
      </p:sp>
      <p:sp>
        <p:nvSpPr>
          <p:cNvPr id="31" name="Text 9"/>
          <p:cNvSpPr/>
          <p:nvPr/>
        </p:nvSpPr>
        <p:spPr>
          <a:xfrm>
            <a:off x="6743700" y="4229100"/>
            <a:ext cx="48006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automated updates for the underlying operating system, web/application server, and language/framework during specified maintenance windows, using an immutable deployment mechanism to minimize impact on application availability.</a:t>
            </a:r>
            <a:endParaRPr lang="en-US" sz="1200" dirty="0"/>
          </a:p>
        </p:txBody>
      </p:sp>
      <p:sp>
        <p:nvSpPr>
          <p:cNvPr id="32" name="Text 10"/>
          <p:cNvSpPr/>
          <p:nvPr/>
        </p:nvSpPr>
        <p:spPr>
          <a:xfrm>
            <a:off x="828675" y="6019800"/>
            <a:ext cx="10972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By automating these management tasks, Elastic Beanstalk allows developers to focus on application development rather than infrastructure management, accelerating time to market.</a:t>
            </a:r>
            <a:endParaRPr lang="en-US" sz="1200" dirty="0"/>
          </a:p>
        </p:txBody>
      </p:sp>
      <p:sp>
        <p:nvSpPr>
          <p:cNvPr id="34" name="Text 12"/>
          <p:cNvSpPr/>
          <p:nvPr/>
        </p:nvSpPr>
        <p:spPr>
          <a:xfrm>
            <a:off x="11392495" y="7239000"/>
            <a:ext cx="41076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677400" y="460623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767655"/>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1905000"/>
            <a:ext cx="952500" cy="28575"/>
          </a:xfrm>
          <a:prstGeom prst="rect">
            <a:avLst/>
          </a:prstGeom>
        </p:spPr>
      </p:pic>
      <p:pic>
        <p:nvPicPr>
          <p:cNvPr id="7" name="Image 5" descr="preencoded.png"/>
          <p:cNvPicPr>
            <a:picLocks noChangeAspect="1"/>
          </p:cNvPicPr>
          <p:nvPr/>
        </p:nvPicPr>
        <p:blipFill>
          <a:blip r:embed="rId8"/>
          <a:stretch>
            <a:fillRect/>
          </a:stretch>
        </p:blipFill>
        <p:spPr>
          <a:xfrm>
            <a:off x="381000" y="2162175"/>
            <a:ext cx="5562600" cy="4600575"/>
          </a:xfrm>
          <a:prstGeom prst="rect">
            <a:avLst/>
          </a:prstGeom>
        </p:spPr>
      </p:pic>
      <p:pic>
        <p:nvPicPr>
          <p:cNvPr id="8" name="Image 6" descr="preencoded.png"/>
          <p:cNvPicPr>
            <a:picLocks noChangeAspect="1"/>
          </p:cNvPicPr>
          <p:nvPr/>
        </p:nvPicPr>
        <p:blipFill>
          <a:blip r:embed="rId9"/>
          <a:stretch>
            <a:fillRect/>
          </a:stretch>
        </p:blipFill>
        <p:spPr>
          <a:xfrm>
            <a:off x="609600" y="2390775"/>
            <a:ext cx="571500" cy="571500"/>
          </a:xfrm>
          <a:prstGeom prst="rect">
            <a:avLst/>
          </a:prstGeom>
        </p:spPr>
      </p:pic>
      <p:pic>
        <p:nvPicPr>
          <p:cNvPr id="9" name="Image 7" descr="preencoded.png"/>
          <p:cNvPicPr>
            <a:picLocks noChangeAspect="1"/>
          </p:cNvPicPr>
          <p:nvPr/>
        </p:nvPicPr>
        <p:blipFill>
          <a:blip r:embed="rId10"/>
          <a:stretch>
            <a:fillRect/>
          </a:stretch>
        </p:blipFill>
        <p:spPr>
          <a:xfrm>
            <a:off x="781050" y="2524125"/>
            <a:ext cx="228600" cy="304800"/>
          </a:xfrm>
          <a:prstGeom prst="rect">
            <a:avLst/>
          </a:prstGeom>
        </p:spPr>
      </p:pic>
      <p:pic>
        <p:nvPicPr>
          <p:cNvPr id="10" name="Image 8" descr="preencoded.png"/>
          <p:cNvPicPr>
            <a:picLocks noChangeAspect="1"/>
          </p:cNvPicPr>
          <p:nvPr/>
        </p:nvPicPr>
        <p:blipFill>
          <a:blip r:embed="rId11"/>
          <a:stretch>
            <a:fillRect/>
          </a:stretch>
        </p:blipFill>
        <p:spPr>
          <a:xfrm>
            <a:off x="609600" y="3867150"/>
            <a:ext cx="5105400" cy="1600200"/>
          </a:xfrm>
          <a:prstGeom prst="rect">
            <a:avLst/>
          </a:prstGeom>
        </p:spPr>
      </p:pic>
      <p:pic>
        <p:nvPicPr>
          <p:cNvPr id="11" name="Image 9" descr="preencoded.png"/>
          <p:cNvPicPr>
            <a:picLocks noChangeAspect="1"/>
          </p:cNvPicPr>
          <p:nvPr/>
        </p:nvPicPr>
        <p:blipFill>
          <a:blip r:embed="rId12"/>
          <a:stretch>
            <a:fillRect/>
          </a:stretch>
        </p:blipFill>
        <p:spPr>
          <a:xfrm>
            <a:off x="762000" y="4019550"/>
            <a:ext cx="381000" cy="381000"/>
          </a:xfrm>
          <a:prstGeom prst="rect">
            <a:avLst/>
          </a:prstGeom>
        </p:spPr>
      </p:pic>
      <p:pic>
        <p:nvPicPr>
          <p:cNvPr id="12" name="Image 10" descr="preencoded.png"/>
          <p:cNvPicPr>
            <a:picLocks noChangeAspect="1"/>
          </p:cNvPicPr>
          <p:nvPr/>
        </p:nvPicPr>
        <p:blipFill>
          <a:blip r:embed="rId13"/>
          <a:stretch>
            <a:fillRect/>
          </a:stretch>
        </p:blipFill>
        <p:spPr>
          <a:xfrm>
            <a:off x="876300" y="4133850"/>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762000" y="4476750"/>
            <a:ext cx="381000" cy="381000"/>
          </a:xfrm>
          <a:prstGeom prst="rect">
            <a:avLst/>
          </a:prstGeom>
        </p:spPr>
      </p:pic>
      <p:pic>
        <p:nvPicPr>
          <p:cNvPr id="14" name="Image 12" descr="preencoded.png"/>
          <p:cNvPicPr>
            <a:picLocks noChangeAspect="1"/>
          </p:cNvPicPr>
          <p:nvPr/>
        </p:nvPicPr>
        <p:blipFill>
          <a:blip r:embed="rId15"/>
          <a:stretch>
            <a:fillRect/>
          </a:stretch>
        </p:blipFill>
        <p:spPr>
          <a:xfrm>
            <a:off x="876300" y="4591050"/>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762000" y="4933950"/>
            <a:ext cx="381000" cy="381000"/>
          </a:xfrm>
          <a:prstGeom prst="rect">
            <a:avLst/>
          </a:prstGeom>
        </p:spPr>
      </p:pic>
      <p:pic>
        <p:nvPicPr>
          <p:cNvPr id="16" name="Image 14" descr="preencoded.png"/>
          <p:cNvPicPr>
            <a:picLocks noChangeAspect="1"/>
          </p:cNvPicPr>
          <p:nvPr/>
        </p:nvPicPr>
        <p:blipFill>
          <a:blip r:embed="rId17"/>
          <a:stretch>
            <a:fillRect/>
          </a:stretch>
        </p:blipFill>
        <p:spPr>
          <a:xfrm>
            <a:off x="876300" y="5048250"/>
            <a:ext cx="152400" cy="152400"/>
          </a:xfrm>
          <a:prstGeom prst="rect">
            <a:avLst/>
          </a:prstGeom>
        </p:spPr>
      </p:pic>
      <p:pic>
        <p:nvPicPr>
          <p:cNvPr id="17" name="Image 15" descr="preencoded.png"/>
          <p:cNvPicPr>
            <a:picLocks noChangeAspect="1"/>
          </p:cNvPicPr>
          <p:nvPr/>
        </p:nvPicPr>
        <p:blipFill>
          <a:blip r:embed="rId18"/>
          <a:stretch>
            <a:fillRect/>
          </a:stretch>
        </p:blipFill>
        <p:spPr>
          <a:xfrm>
            <a:off x="609600" y="5619750"/>
            <a:ext cx="5105400" cy="685800"/>
          </a:xfrm>
          <a:prstGeom prst="rect">
            <a:avLst/>
          </a:prstGeom>
        </p:spPr>
      </p:pic>
      <p:pic>
        <p:nvPicPr>
          <p:cNvPr id="18" name="Image 16" descr="preencoded.png"/>
          <p:cNvPicPr>
            <a:picLocks noChangeAspect="1"/>
          </p:cNvPicPr>
          <p:nvPr/>
        </p:nvPicPr>
        <p:blipFill>
          <a:blip r:embed="rId19"/>
          <a:stretch>
            <a:fillRect/>
          </a:stretch>
        </p:blipFill>
        <p:spPr>
          <a:xfrm>
            <a:off x="723900" y="5762625"/>
            <a:ext cx="114300" cy="152400"/>
          </a:xfrm>
          <a:prstGeom prst="rect">
            <a:avLst/>
          </a:prstGeom>
        </p:spPr>
      </p:pic>
      <p:pic>
        <p:nvPicPr>
          <p:cNvPr id="19" name="Image 17" descr="preencoded.png"/>
          <p:cNvPicPr>
            <a:picLocks noChangeAspect="1"/>
          </p:cNvPicPr>
          <p:nvPr/>
        </p:nvPicPr>
        <p:blipFill>
          <a:blip r:embed="rId8"/>
          <a:stretch>
            <a:fillRect/>
          </a:stretch>
        </p:blipFill>
        <p:spPr>
          <a:xfrm>
            <a:off x="6248400" y="2162175"/>
            <a:ext cx="5562600" cy="4600575"/>
          </a:xfrm>
          <a:prstGeom prst="rect">
            <a:avLst/>
          </a:prstGeom>
        </p:spPr>
      </p:pic>
      <p:pic>
        <p:nvPicPr>
          <p:cNvPr id="20" name="Image 18" descr="preencoded.png"/>
          <p:cNvPicPr>
            <a:picLocks noChangeAspect="1"/>
          </p:cNvPicPr>
          <p:nvPr/>
        </p:nvPicPr>
        <p:blipFill>
          <a:blip r:embed="rId20"/>
          <a:stretch>
            <a:fillRect/>
          </a:stretch>
        </p:blipFill>
        <p:spPr>
          <a:xfrm>
            <a:off x="6477000" y="2390775"/>
            <a:ext cx="571500" cy="571500"/>
          </a:xfrm>
          <a:prstGeom prst="rect">
            <a:avLst/>
          </a:prstGeom>
        </p:spPr>
      </p:pic>
      <p:pic>
        <p:nvPicPr>
          <p:cNvPr id="21" name="Image 19" descr="preencoded.png"/>
          <p:cNvPicPr>
            <a:picLocks noChangeAspect="1"/>
          </p:cNvPicPr>
          <p:nvPr/>
        </p:nvPicPr>
        <p:blipFill>
          <a:blip r:embed="rId21"/>
          <a:stretch>
            <a:fillRect/>
          </a:stretch>
        </p:blipFill>
        <p:spPr>
          <a:xfrm>
            <a:off x="6648450" y="2524125"/>
            <a:ext cx="228600" cy="304800"/>
          </a:xfrm>
          <a:prstGeom prst="rect">
            <a:avLst/>
          </a:prstGeom>
        </p:spPr>
      </p:pic>
      <p:pic>
        <p:nvPicPr>
          <p:cNvPr id="22" name="Image 20" descr="preencoded.png"/>
          <p:cNvPicPr>
            <a:picLocks noChangeAspect="1"/>
          </p:cNvPicPr>
          <p:nvPr/>
        </p:nvPicPr>
        <p:blipFill>
          <a:blip r:embed="rId22"/>
          <a:stretch>
            <a:fillRect/>
          </a:stretch>
        </p:blipFill>
        <p:spPr>
          <a:xfrm>
            <a:off x="6477000" y="4095750"/>
            <a:ext cx="5105400" cy="1600200"/>
          </a:xfrm>
          <a:prstGeom prst="rect">
            <a:avLst/>
          </a:prstGeom>
        </p:spPr>
      </p:pic>
      <p:pic>
        <p:nvPicPr>
          <p:cNvPr id="23" name="Image 21" descr="preencoded.png"/>
          <p:cNvPicPr>
            <a:picLocks noChangeAspect="1"/>
          </p:cNvPicPr>
          <p:nvPr/>
        </p:nvPicPr>
        <p:blipFill>
          <a:blip r:embed="rId23"/>
          <a:stretch>
            <a:fillRect/>
          </a:stretch>
        </p:blipFill>
        <p:spPr>
          <a:xfrm>
            <a:off x="6629400" y="4248150"/>
            <a:ext cx="381000" cy="381000"/>
          </a:xfrm>
          <a:prstGeom prst="rect">
            <a:avLst/>
          </a:prstGeom>
        </p:spPr>
      </p:pic>
      <p:pic>
        <p:nvPicPr>
          <p:cNvPr id="24" name="Image 22" descr="preencoded.png"/>
          <p:cNvPicPr>
            <a:picLocks noChangeAspect="1"/>
          </p:cNvPicPr>
          <p:nvPr/>
        </p:nvPicPr>
        <p:blipFill>
          <a:blip r:embed="rId24"/>
          <a:stretch>
            <a:fillRect/>
          </a:stretch>
        </p:blipFill>
        <p:spPr>
          <a:xfrm>
            <a:off x="6743700" y="4362450"/>
            <a:ext cx="152400" cy="152400"/>
          </a:xfrm>
          <a:prstGeom prst="rect">
            <a:avLst/>
          </a:prstGeom>
        </p:spPr>
      </p:pic>
      <p:pic>
        <p:nvPicPr>
          <p:cNvPr id="25" name="Image 23" descr="preencoded.png"/>
          <p:cNvPicPr>
            <a:picLocks noChangeAspect="1"/>
          </p:cNvPicPr>
          <p:nvPr/>
        </p:nvPicPr>
        <p:blipFill>
          <a:blip r:embed="rId25"/>
          <a:stretch>
            <a:fillRect/>
          </a:stretch>
        </p:blipFill>
        <p:spPr>
          <a:xfrm>
            <a:off x="6629400" y="4705350"/>
            <a:ext cx="381000" cy="381000"/>
          </a:xfrm>
          <a:prstGeom prst="rect">
            <a:avLst/>
          </a:prstGeom>
        </p:spPr>
      </p:pic>
      <p:pic>
        <p:nvPicPr>
          <p:cNvPr id="26" name="Image 24" descr="preencoded.png"/>
          <p:cNvPicPr>
            <a:picLocks noChangeAspect="1"/>
          </p:cNvPicPr>
          <p:nvPr/>
        </p:nvPicPr>
        <p:blipFill>
          <a:blip r:embed="rId15"/>
          <a:stretch>
            <a:fillRect/>
          </a:stretch>
        </p:blipFill>
        <p:spPr>
          <a:xfrm>
            <a:off x="6743700" y="4819650"/>
            <a:ext cx="152400" cy="152400"/>
          </a:xfrm>
          <a:prstGeom prst="rect">
            <a:avLst/>
          </a:prstGeom>
        </p:spPr>
      </p:pic>
      <p:pic>
        <p:nvPicPr>
          <p:cNvPr id="27" name="Image 25" descr="preencoded.png"/>
          <p:cNvPicPr>
            <a:picLocks noChangeAspect="1"/>
          </p:cNvPicPr>
          <p:nvPr/>
        </p:nvPicPr>
        <p:blipFill>
          <a:blip r:embed="rId23"/>
          <a:stretch>
            <a:fillRect/>
          </a:stretch>
        </p:blipFill>
        <p:spPr>
          <a:xfrm>
            <a:off x="6629400" y="5162550"/>
            <a:ext cx="381000" cy="381000"/>
          </a:xfrm>
          <a:prstGeom prst="rect">
            <a:avLst/>
          </a:prstGeom>
        </p:spPr>
      </p:pic>
      <p:pic>
        <p:nvPicPr>
          <p:cNvPr id="28" name="Image 26" descr="preencoded.png"/>
          <p:cNvPicPr>
            <a:picLocks noChangeAspect="1"/>
          </p:cNvPicPr>
          <p:nvPr/>
        </p:nvPicPr>
        <p:blipFill>
          <a:blip r:embed="rId26"/>
          <a:stretch>
            <a:fillRect/>
          </a:stretch>
        </p:blipFill>
        <p:spPr>
          <a:xfrm>
            <a:off x="6743700" y="5276850"/>
            <a:ext cx="152400" cy="152400"/>
          </a:xfrm>
          <a:prstGeom prst="rect">
            <a:avLst/>
          </a:prstGeom>
        </p:spPr>
      </p:pic>
      <p:pic>
        <p:nvPicPr>
          <p:cNvPr id="29" name="Image 27" descr="preencoded.png"/>
          <p:cNvPicPr>
            <a:picLocks noChangeAspect="1"/>
          </p:cNvPicPr>
          <p:nvPr/>
        </p:nvPicPr>
        <p:blipFill>
          <a:blip r:embed="rId27"/>
          <a:stretch>
            <a:fillRect/>
          </a:stretch>
        </p:blipFill>
        <p:spPr>
          <a:xfrm>
            <a:off x="6477000" y="5848350"/>
            <a:ext cx="5105400" cy="685800"/>
          </a:xfrm>
          <a:prstGeom prst="rect">
            <a:avLst/>
          </a:prstGeom>
        </p:spPr>
      </p:pic>
      <p:pic>
        <p:nvPicPr>
          <p:cNvPr id="30" name="Image 28" descr="preencoded.png"/>
          <p:cNvPicPr>
            <a:picLocks noChangeAspect="1"/>
          </p:cNvPicPr>
          <p:nvPr/>
        </p:nvPicPr>
        <p:blipFill>
          <a:blip r:embed="rId19"/>
          <a:stretch>
            <a:fillRect/>
          </a:stretch>
        </p:blipFill>
        <p:spPr>
          <a:xfrm>
            <a:off x="6591300" y="5991225"/>
            <a:ext cx="114300" cy="152400"/>
          </a:xfrm>
          <a:prstGeom prst="rect">
            <a:avLst/>
          </a:prstGeom>
        </p:spPr>
      </p:pic>
      <p:sp>
        <p:nvSpPr>
          <p:cNvPr id="33" name="Text 0"/>
          <p:cNvSpPr/>
          <p:nvPr/>
        </p:nvSpPr>
        <p:spPr>
          <a:xfrm>
            <a:off x="457200" y="209550"/>
            <a:ext cx="7049810"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Key Feature: Deployment Strategies</a:t>
            </a:r>
            <a:endParaRPr lang="en-US" sz="2250" dirty="0"/>
          </a:p>
        </p:txBody>
      </p:sp>
      <p:sp>
        <p:nvSpPr>
          <p:cNvPr id="34" name="Text 1"/>
          <p:cNvSpPr/>
          <p:nvPr/>
        </p:nvSpPr>
        <p:spPr>
          <a:xfrm>
            <a:off x="381000" y="1143000"/>
            <a:ext cx="11430000" cy="609600"/>
          </a:xfrm>
          <a:prstGeom prst="rect">
            <a:avLst/>
          </a:prstGeom>
          <a:noFill/>
          <a:ln/>
        </p:spPr>
        <p:txBody>
          <a:bodyPr vert="horz" wrap="square" lIns="0" tIns="0" rIns="0" bIns="0" rtlCol="0" anchor="t"/>
          <a:lstStyle/>
          <a:p>
            <a:pPr marL="0" indent="0">
              <a:lnSpc>
                <a:spcPts val="2400"/>
              </a:lnSpc>
              <a:buNone/>
            </a:pPr>
            <a:r>
              <a:rPr lang="en-US" sz="1800" dirty="0">
                <a:solidFill>
                  <a:srgbClr val="1F2937"/>
                </a:solidFill>
                <a:latin typeface="ui-sans-serif" pitchFamily="34" charset="0"/>
                <a:ea typeface="ui-sans-serif" pitchFamily="34" charset="-122"/>
                <a:cs typeface="ui-sans-serif" pitchFamily="34" charset="-120"/>
              </a:rPr>
              <a:t>Elastic Beanstalk provides various deployment policies to minimize downtime and risk during application updates.</a:t>
            </a:r>
            <a:endParaRPr lang="en-US" sz="1800" dirty="0"/>
          </a:p>
        </p:txBody>
      </p:sp>
      <p:sp>
        <p:nvSpPr>
          <p:cNvPr id="35" name="Text 2"/>
          <p:cNvSpPr/>
          <p:nvPr/>
        </p:nvSpPr>
        <p:spPr>
          <a:xfrm>
            <a:off x="1333500" y="2595563"/>
            <a:ext cx="245012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Rolling Updates</a:t>
            </a:r>
            <a:endParaRPr lang="en-US" sz="1800" dirty="0"/>
          </a:p>
        </p:txBody>
      </p:sp>
      <p:sp>
        <p:nvSpPr>
          <p:cNvPr id="36" name="Text 3"/>
          <p:cNvSpPr/>
          <p:nvPr/>
        </p:nvSpPr>
        <p:spPr>
          <a:xfrm>
            <a:off x="609600" y="325755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This strategy updates a subset of instances at a time, maintaining application availability throughout the deployment process.</a:t>
            </a:r>
            <a:endParaRPr lang="en-US" sz="1200" dirty="0"/>
          </a:p>
        </p:txBody>
      </p:sp>
      <p:sp>
        <p:nvSpPr>
          <p:cNvPr id="37" name="Text 4"/>
          <p:cNvSpPr/>
          <p:nvPr/>
        </p:nvSpPr>
        <p:spPr>
          <a:xfrm>
            <a:off x="1238250" y="4095750"/>
            <a:ext cx="248977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Update subset of instances</a:t>
            </a:r>
            <a:endParaRPr lang="en-US" sz="1200" dirty="0"/>
          </a:p>
        </p:txBody>
      </p:sp>
      <p:sp>
        <p:nvSpPr>
          <p:cNvPr id="38" name="Text 5"/>
          <p:cNvSpPr/>
          <p:nvPr/>
        </p:nvSpPr>
        <p:spPr>
          <a:xfrm>
            <a:off x="1238250" y="4552950"/>
            <a:ext cx="153483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Validate updates</a:t>
            </a:r>
            <a:endParaRPr lang="en-US" sz="1200" dirty="0"/>
          </a:p>
        </p:txBody>
      </p:sp>
      <p:sp>
        <p:nvSpPr>
          <p:cNvPr id="39" name="Text 6"/>
          <p:cNvSpPr/>
          <p:nvPr/>
        </p:nvSpPr>
        <p:spPr>
          <a:xfrm>
            <a:off x="1238250" y="5010150"/>
            <a:ext cx="312556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Repeat until all instances updated</a:t>
            </a:r>
            <a:endParaRPr lang="en-US" sz="1200" dirty="0"/>
          </a:p>
        </p:txBody>
      </p:sp>
      <p:sp>
        <p:nvSpPr>
          <p:cNvPr id="40" name="Text 7"/>
          <p:cNvSpPr/>
          <p:nvPr/>
        </p:nvSpPr>
        <p:spPr>
          <a:xfrm>
            <a:off x="914400" y="573405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 </a:t>
            </a:r>
            <a:r>
              <a:rPr lang="en-US" sz="1200" b="1" dirty="0">
                <a:solidFill>
                  <a:srgbClr val="374151"/>
                </a:solidFill>
                <a:latin typeface="ui-sans-serif" pitchFamily="34" charset="0"/>
                <a:ea typeface="ui-sans-serif" pitchFamily="34" charset="-122"/>
                <a:cs typeface="ui-sans-serif" pitchFamily="34" charset="-120"/>
              </a:rPr>
              <a:t>Best for:</a:t>
            </a:r>
            <a:r>
              <a:rPr lang="en-US" sz="1200" dirty="0">
                <a:solidFill>
                  <a:srgbClr val="374151"/>
                </a:solidFill>
                <a:latin typeface="ui-sans-serif" pitchFamily="34" charset="0"/>
                <a:ea typeface="ui-sans-serif" pitchFamily="34" charset="-122"/>
                <a:cs typeface="ui-sans-serif" pitchFamily="34" charset="-120"/>
              </a:rPr>
              <a:t> Minimizing downtime while updating a portion of instances at a time</a:t>
            </a:r>
            <a:endParaRPr lang="en-US" sz="1200" dirty="0"/>
          </a:p>
        </p:txBody>
      </p:sp>
      <p:sp>
        <p:nvSpPr>
          <p:cNvPr id="41" name="Text 8"/>
          <p:cNvSpPr/>
          <p:nvPr/>
        </p:nvSpPr>
        <p:spPr>
          <a:xfrm>
            <a:off x="7200900" y="2595563"/>
            <a:ext cx="385476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Blue-Green Deployments</a:t>
            </a:r>
            <a:endParaRPr lang="en-US" sz="1800" dirty="0"/>
          </a:p>
        </p:txBody>
      </p:sp>
      <p:sp>
        <p:nvSpPr>
          <p:cNvPr id="42" name="Text 9"/>
          <p:cNvSpPr/>
          <p:nvPr/>
        </p:nvSpPr>
        <p:spPr>
          <a:xfrm>
            <a:off x="6477000" y="3257550"/>
            <a:ext cx="51054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 new version of the application is deployed to a separate, identical environment. Once validated, traffic is swapped to the new environment.</a:t>
            </a:r>
            <a:endParaRPr lang="en-US" sz="1200" dirty="0"/>
          </a:p>
        </p:txBody>
      </p:sp>
      <p:sp>
        <p:nvSpPr>
          <p:cNvPr id="43" name="Text 10"/>
          <p:cNvSpPr/>
          <p:nvPr/>
        </p:nvSpPr>
        <p:spPr>
          <a:xfrm>
            <a:off x="7105650" y="4324350"/>
            <a:ext cx="383851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Deploy new version in green environment</a:t>
            </a:r>
            <a:endParaRPr lang="en-US" sz="1200" dirty="0"/>
          </a:p>
        </p:txBody>
      </p:sp>
      <p:sp>
        <p:nvSpPr>
          <p:cNvPr id="44" name="Text 11"/>
          <p:cNvSpPr/>
          <p:nvPr/>
        </p:nvSpPr>
        <p:spPr>
          <a:xfrm>
            <a:off x="7105650" y="4781550"/>
            <a:ext cx="254621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Validate green environment</a:t>
            </a:r>
            <a:endParaRPr lang="en-US" sz="1200" dirty="0"/>
          </a:p>
        </p:txBody>
      </p:sp>
      <p:sp>
        <p:nvSpPr>
          <p:cNvPr id="45" name="Text 12"/>
          <p:cNvSpPr/>
          <p:nvPr/>
        </p:nvSpPr>
        <p:spPr>
          <a:xfrm>
            <a:off x="7105650" y="5238750"/>
            <a:ext cx="313914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Swap traffic to green environment</a:t>
            </a:r>
            <a:endParaRPr lang="en-US" sz="1200" dirty="0"/>
          </a:p>
        </p:txBody>
      </p:sp>
      <p:sp>
        <p:nvSpPr>
          <p:cNvPr id="46" name="Text 13"/>
          <p:cNvSpPr/>
          <p:nvPr/>
        </p:nvSpPr>
        <p:spPr>
          <a:xfrm>
            <a:off x="6781800" y="596265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 </a:t>
            </a:r>
            <a:r>
              <a:rPr lang="en-US" sz="1200" b="1" dirty="0">
                <a:solidFill>
                  <a:srgbClr val="374151"/>
                </a:solidFill>
                <a:latin typeface="ui-sans-serif" pitchFamily="34" charset="0"/>
                <a:ea typeface="ui-sans-serif" pitchFamily="34" charset="-122"/>
                <a:cs typeface="ui-sans-serif" pitchFamily="34" charset="-120"/>
              </a:rPr>
              <a:t>Best for:</a:t>
            </a:r>
            <a:r>
              <a:rPr lang="en-US" sz="1200" dirty="0">
                <a:solidFill>
                  <a:srgbClr val="374151"/>
                </a:solidFill>
                <a:latin typeface="ui-sans-serif" pitchFamily="34" charset="0"/>
                <a:ea typeface="ui-sans-serif" pitchFamily="34" charset="-122"/>
                <a:cs typeface="ui-sans-serif" pitchFamily="34" charset="-120"/>
              </a:rPr>
              <a:t> Minimizing risk and enabling easy rollbacks if issues arise</a:t>
            </a:r>
            <a:endParaRPr lang="en-US" sz="1200" dirty="0"/>
          </a:p>
        </p:txBody>
      </p:sp>
      <p:sp>
        <p:nvSpPr>
          <p:cNvPr id="48" name="Text 15"/>
          <p:cNvSpPr/>
          <p:nvPr/>
        </p:nvSpPr>
        <p:spPr>
          <a:xfrm>
            <a:off x="11392495" y="7296150"/>
            <a:ext cx="41076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564702"/>
          </a:xfrm>
          <a:prstGeom prst="rect">
            <a:avLst/>
          </a:prstGeom>
        </p:spPr>
      </p:pic>
      <p:pic>
        <p:nvPicPr>
          <p:cNvPr id="3" name="Image 1" descr="preencoded.png"/>
          <p:cNvPicPr>
            <a:picLocks noChangeAspect="1"/>
          </p:cNvPicPr>
          <p:nvPr/>
        </p:nvPicPr>
        <p:blipFill>
          <a:blip r:embed="rId4"/>
          <a:stretch>
            <a:fillRect/>
          </a:stretch>
        </p:blipFill>
        <p:spPr>
          <a:xfrm>
            <a:off x="9677400" y="438909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73149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04800" y="1066800"/>
            <a:ext cx="476250" cy="476250"/>
          </a:xfrm>
          <a:prstGeom prst="rect">
            <a:avLst/>
          </a:prstGeom>
        </p:spPr>
      </p:pic>
      <p:pic>
        <p:nvPicPr>
          <p:cNvPr id="7" name="Image 5" descr="preencoded.png"/>
          <p:cNvPicPr>
            <a:picLocks noChangeAspect="1"/>
          </p:cNvPicPr>
          <p:nvPr/>
        </p:nvPicPr>
        <p:blipFill>
          <a:blip r:embed="rId8"/>
          <a:stretch>
            <a:fillRect/>
          </a:stretch>
        </p:blipFill>
        <p:spPr>
          <a:xfrm>
            <a:off x="447675" y="1171575"/>
            <a:ext cx="190500" cy="266700"/>
          </a:xfrm>
          <a:prstGeom prst="rect">
            <a:avLst/>
          </a:prstGeom>
        </p:spPr>
      </p:pic>
      <p:pic>
        <p:nvPicPr>
          <p:cNvPr id="8" name="Image 6" descr="preencoded.png"/>
          <p:cNvPicPr>
            <a:picLocks noChangeAspect="1"/>
          </p:cNvPicPr>
          <p:nvPr/>
        </p:nvPicPr>
        <p:blipFill>
          <a:blip r:embed="rId9"/>
          <a:stretch>
            <a:fillRect/>
          </a:stretch>
        </p:blipFill>
        <p:spPr>
          <a:xfrm>
            <a:off x="304800" y="2790825"/>
            <a:ext cx="952500" cy="28575"/>
          </a:xfrm>
          <a:prstGeom prst="rect">
            <a:avLst/>
          </a:prstGeom>
        </p:spPr>
      </p:pic>
      <p:pic>
        <p:nvPicPr>
          <p:cNvPr id="9" name="Image 7" descr="preencoded.png"/>
          <p:cNvPicPr>
            <a:picLocks noChangeAspect="1"/>
          </p:cNvPicPr>
          <p:nvPr/>
        </p:nvPicPr>
        <p:blipFill>
          <a:blip r:embed="rId10"/>
          <a:stretch>
            <a:fillRect/>
          </a:stretch>
        </p:blipFill>
        <p:spPr>
          <a:xfrm>
            <a:off x="304800" y="3048000"/>
            <a:ext cx="2705100" cy="1333500"/>
          </a:xfrm>
          <a:prstGeom prst="rect">
            <a:avLst/>
          </a:prstGeom>
        </p:spPr>
      </p:pic>
      <p:pic>
        <p:nvPicPr>
          <p:cNvPr id="10" name="Image 8" descr="preencoded.png"/>
          <p:cNvPicPr>
            <a:picLocks noChangeAspect="1"/>
          </p:cNvPicPr>
          <p:nvPr/>
        </p:nvPicPr>
        <p:blipFill>
          <a:blip r:embed="rId11"/>
          <a:stretch>
            <a:fillRect/>
          </a:stretch>
        </p:blipFill>
        <p:spPr>
          <a:xfrm>
            <a:off x="457200" y="3257550"/>
            <a:ext cx="171450" cy="152400"/>
          </a:xfrm>
          <a:prstGeom prst="rect">
            <a:avLst/>
          </a:prstGeom>
        </p:spPr>
      </p:pic>
      <p:pic>
        <p:nvPicPr>
          <p:cNvPr id="11" name="Image 9" descr="preencoded.png"/>
          <p:cNvPicPr>
            <a:picLocks noChangeAspect="1"/>
          </p:cNvPicPr>
          <p:nvPr/>
        </p:nvPicPr>
        <p:blipFill>
          <a:blip r:embed="rId12"/>
          <a:stretch>
            <a:fillRect/>
          </a:stretch>
        </p:blipFill>
        <p:spPr>
          <a:xfrm>
            <a:off x="3162300" y="3048000"/>
            <a:ext cx="2705100" cy="1333500"/>
          </a:xfrm>
          <a:prstGeom prst="rect">
            <a:avLst/>
          </a:prstGeom>
        </p:spPr>
      </p:pic>
      <p:pic>
        <p:nvPicPr>
          <p:cNvPr id="12" name="Image 10" descr="preencoded.png"/>
          <p:cNvPicPr>
            <a:picLocks noChangeAspect="1"/>
          </p:cNvPicPr>
          <p:nvPr/>
        </p:nvPicPr>
        <p:blipFill>
          <a:blip r:embed="rId13"/>
          <a:stretch>
            <a:fillRect/>
          </a:stretch>
        </p:blipFill>
        <p:spPr>
          <a:xfrm>
            <a:off x="3314700" y="3257550"/>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304800" y="4610100"/>
            <a:ext cx="5562600" cy="1104900"/>
          </a:xfrm>
          <a:prstGeom prst="rect">
            <a:avLst/>
          </a:prstGeom>
        </p:spPr>
      </p:pic>
      <p:pic>
        <p:nvPicPr>
          <p:cNvPr id="14" name="Image 12" descr="preencoded.png"/>
          <p:cNvPicPr>
            <a:picLocks noChangeAspect="1"/>
          </p:cNvPicPr>
          <p:nvPr/>
        </p:nvPicPr>
        <p:blipFill>
          <a:blip r:embed="rId11"/>
          <a:stretch>
            <a:fillRect/>
          </a:stretch>
        </p:blipFill>
        <p:spPr>
          <a:xfrm>
            <a:off x="457200" y="4819650"/>
            <a:ext cx="171450" cy="152400"/>
          </a:xfrm>
          <a:prstGeom prst="rect">
            <a:avLst/>
          </a:prstGeom>
        </p:spPr>
      </p:pic>
      <p:pic>
        <p:nvPicPr>
          <p:cNvPr id="15" name="Image 13" descr="preencoded.png"/>
          <p:cNvPicPr>
            <a:picLocks noChangeAspect="1"/>
          </p:cNvPicPr>
          <p:nvPr/>
        </p:nvPicPr>
        <p:blipFill>
          <a:blip r:embed="rId15"/>
          <a:stretch>
            <a:fillRect/>
          </a:stretch>
        </p:blipFill>
        <p:spPr>
          <a:xfrm>
            <a:off x="6324600" y="1066800"/>
            <a:ext cx="476250" cy="476250"/>
          </a:xfrm>
          <a:prstGeom prst="rect">
            <a:avLst/>
          </a:prstGeom>
        </p:spPr>
      </p:pic>
      <p:pic>
        <p:nvPicPr>
          <p:cNvPr id="16" name="Image 14" descr="preencoded.png"/>
          <p:cNvPicPr>
            <a:picLocks noChangeAspect="1"/>
          </p:cNvPicPr>
          <p:nvPr/>
        </p:nvPicPr>
        <p:blipFill>
          <a:blip r:embed="rId16"/>
          <a:stretch>
            <a:fillRect/>
          </a:stretch>
        </p:blipFill>
        <p:spPr>
          <a:xfrm>
            <a:off x="6477000" y="1171575"/>
            <a:ext cx="171450" cy="266700"/>
          </a:xfrm>
          <a:prstGeom prst="rect">
            <a:avLst/>
          </a:prstGeom>
        </p:spPr>
      </p:pic>
      <p:pic>
        <p:nvPicPr>
          <p:cNvPr id="17" name="Image 15" descr="preencoded.png"/>
          <p:cNvPicPr>
            <a:picLocks noChangeAspect="1"/>
          </p:cNvPicPr>
          <p:nvPr/>
        </p:nvPicPr>
        <p:blipFill>
          <a:blip r:embed="rId17"/>
          <a:stretch>
            <a:fillRect/>
          </a:stretch>
        </p:blipFill>
        <p:spPr>
          <a:xfrm>
            <a:off x="6324600" y="2790825"/>
            <a:ext cx="952500" cy="28575"/>
          </a:xfrm>
          <a:prstGeom prst="rect">
            <a:avLst/>
          </a:prstGeom>
        </p:spPr>
      </p:pic>
      <p:pic>
        <p:nvPicPr>
          <p:cNvPr id="18" name="Image 16" descr="preencoded.png"/>
          <p:cNvPicPr>
            <a:picLocks noChangeAspect="1"/>
          </p:cNvPicPr>
          <p:nvPr/>
        </p:nvPicPr>
        <p:blipFill>
          <a:blip r:embed="rId18"/>
          <a:stretch>
            <a:fillRect/>
          </a:stretch>
        </p:blipFill>
        <p:spPr>
          <a:xfrm>
            <a:off x="6324600" y="3048000"/>
            <a:ext cx="5562600" cy="1828800"/>
          </a:xfrm>
          <a:prstGeom prst="rect">
            <a:avLst/>
          </a:prstGeom>
        </p:spPr>
      </p:pic>
      <p:pic>
        <p:nvPicPr>
          <p:cNvPr id="19" name="Image 17" descr="preencoded.png"/>
          <p:cNvPicPr>
            <a:picLocks noChangeAspect="1"/>
          </p:cNvPicPr>
          <p:nvPr/>
        </p:nvPicPr>
        <p:blipFill>
          <a:blip r:embed="rId19"/>
          <a:stretch>
            <a:fillRect/>
          </a:stretch>
        </p:blipFill>
        <p:spPr>
          <a:xfrm>
            <a:off x="6324600" y="5105400"/>
            <a:ext cx="2705100" cy="1371600"/>
          </a:xfrm>
          <a:prstGeom prst="rect">
            <a:avLst/>
          </a:prstGeom>
        </p:spPr>
      </p:pic>
      <p:pic>
        <p:nvPicPr>
          <p:cNvPr id="20" name="Image 18" descr="preencoded.png"/>
          <p:cNvPicPr>
            <a:picLocks noChangeAspect="1"/>
          </p:cNvPicPr>
          <p:nvPr/>
        </p:nvPicPr>
        <p:blipFill>
          <a:blip r:embed="rId20"/>
          <a:stretch>
            <a:fillRect/>
          </a:stretch>
        </p:blipFill>
        <p:spPr>
          <a:xfrm>
            <a:off x="6477000" y="5448300"/>
            <a:ext cx="190500" cy="152400"/>
          </a:xfrm>
          <a:prstGeom prst="rect">
            <a:avLst/>
          </a:prstGeom>
        </p:spPr>
      </p:pic>
      <p:pic>
        <p:nvPicPr>
          <p:cNvPr id="21" name="Image 19" descr="preencoded.png"/>
          <p:cNvPicPr>
            <a:picLocks noChangeAspect="1"/>
          </p:cNvPicPr>
          <p:nvPr/>
        </p:nvPicPr>
        <p:blipFill>
          <a:blip r:embed="rId19"/>
          <a:stretch>
            <a:fillRect/>
          </a:stretch>
        </p:blipFill>
        <p:spPr>
          <a:xfrm>
            <a:off x="9182100" y="5105400"/>
            <a:ext cx="2705100" cy="1371600"/>
          </a:xfrm>
          <a:prstGeom prst="rect">
            <a:avLst/>
          </a:prstGeom>
        </p:spPr>
      </p:pic>
      <p:pic>
        <p:nvPicPr>
          <p:cNvPr id="22" name="Image 20" descr="preencoded.png"/>
          <p:cNvPicPr>
            <a:picLocks noChangeAspect="1"/>
          </p:cNvPicPr>
          <p:nvPr/>
        </p:nvPicPr>
        <p:blipFill>
          <a:blip r:embed="rId21"/>
          <a:stretch>
            <a:fillRect/>
          </a:stretch>
        </p:blipFill>
        <p:spPr>
          <a:xfrm>
            <a:off x="9334500" y="5448300"/>
            <a:ext cx="114300" cy="152400"/>
          </a:xfrm>
          <a:prstGeom prst="rect">
            <a:avLst/>
          </a:prstGeom>
        </p:spPr>
      </p:pic>
      <p:sp>
        <p:nvSpPr>
          <p:cNvPr id="25" name="Text 0"/>
          <p:cNvSpPr/>
          <p:nvPr/>
        </p:nvSpPr>
        <p:spPr>
          <a:xfrm>
            <a:off x="457200" y="209550"/>
            <a:ext cx="84258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Key Feature: Monitoring and Customization</a:t>
            </a:r>
            <a:endParaRPr lang="en-US" sz="2250" dirty="0"/>
          </a:p>
        </p:txBody>
      </p:sp>
      <p:sp>
        <p:nvSpPr>
          <p:cNvPr id="26" name="Text 1"/>
          <p:cNvSpPr/>
          <p:nvPr/>
        </p:nvSpPr>
        <p:spPr>
          <a:xfrm>
            <a:off x="895350" y="1223963"/>
            <a:ext cx="3431679"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Integrated Monitoring</a:t>
            </a:r>
            <a:endParaRPr lang="en-US" sz="1800" dirty="0"/>
          </a:p>
        </p:txBody>
      </p:sp>
      <p:sp>
        <p:nvSpPr>
          <p:cNvPr id="27" name="Text 2"/>
          <p:cNvSpPr/>
          <p:nvPr/>
        </p:nvSpPr>
        <p:spPr>
          <a:xfrm>
            <a:off x="304800" y="1838325"/>
            <a:ext cx="55626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Elastic Beanstalk integrates with Amazon CloudWatch for comprehensive monitoring of application health and performance.</a:t>
            </a:r>
            <a:endParaRPr lang="en-US" sz="1350" dirty="0"/>
          </a:p>
        </p:txBody>
      </p:sp>
      <p:sp>
        <p:nvSpPr>
          <p:cNvPr id="28" name="Text 3"/>
          <p:cNvSpPr/>
          <p:nvPr/>
        </p:nvSpPr>
        <p:spPr>
          <a:xfrm>
            <a:off x="704850" y="3200400"/>
            <a:ext cx="2416016"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Performance Metrics</a:t>
            </a:r>
            <a:endParaRPr lang="en-US" sz="1350" dirty="0"/>
          </a:p>
        </p:txBody>
      </p:sp>
      <p:sp>
        <p:nvSpPr>
          <p:cNvPr id="29" name="Text 4"/>
          <p:cNvSpPr/>
          <p:nvPr/>
        </p:nvSpPr>
        <p:spPr>
          <a:xfrm>
            <a:off x="457200" y="3543300"/>
            <a:ext cx="24003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Latency</a:t>
            </a:r>
            <a:endParaRPr lang="en-US" sz="1200" dirty="0"/>
          </a:p>
        </p:txBody>
      </p:sp>
      <p:sp>
        <p:nvSpPr>
          <p:cNvPr id="30" name="Text 5"/>
          <p:cNvSpPr/>
          <p:nvPr/>
        </p:nvSpPr>
        <p:spPr>
          <a:xfrm>
            <a:off x="457200" y="3771900"/>
            <a:ext cx="28803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CPU utilization</a:t>
            </a:r>
            <a:endParaRPr lang="en-US" sz="1200" dirty="0"/>
          </a:p>
        </p:txBody>
      </p:sp>
      <p:sp>
        <p:nvSpPr>
          <p:cNvPr id="31" name="Text 6"/>
          <p:cNvSpPr/>
          <p:nvPr/>
        </p:nvSpPr>
        <p:spPr>
          <a:xfrm>
            <a:off x="457200" y="4000500"/>
            <a:ext cx="28803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Request count</a:t>
            </a:r>
            <a:endParaRPr lang="en-US" sz="1200" dirty="0"/>
          </a:p>
        </p:txBody>
      </p:sp>
      <p:sp>
        <p:nvSpPr>
          <p:cNvPr id="32" name="Text 7"/>
          <p:cNvSpPr/>
          <p:nvPr/>
        </p:nvSpPr>
        <p:spPr>
          <a:xfrm>
            <a:off x="3543300" y="3200400"/>
            <a:ext cx="12001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Error Logs</a:t>
            </a:r>
            <a:endParaRPr lang="en-US" sz="1350" dirty="0"/>
          </a:p>
        </p:txBody>
      </p:sp>
      <p:sp>
        <p:nvSpPr>
          <p:cNvPr id="33" name="Text 8"/>
          <p:cNvSpPr/>
          <p:nvPr/>
        </p:nvSpPr>
        <p:spPr>
          <a:xfrm>
            <a:off x="3314700" y="3543300"/>
            <a:ext cx="28803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Real-time error tracking</a:t>
            </a:r>
            <a:endParaRPr lang="en-US" sz="1200" dirty="0"/>
          </a:p>
        </p:txBody>
      </p:sp>
      <p:sp>
        <p:nvSpPr>
          <p:cNvPr id="34" name="Text 9"/>
          <p:cNvSpPr/>
          <p:nvPr/>
        </p:nvSpPr>
        <p:spPr>
          <a:xfrm>
            <a:off x="3314700" y="3771900"/>
            <a:ext cx="28803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Aggregated view of errors</a:t>
            </a:r>
            <a:endParaRPr lang="en-US" sz="1200" dirty="0"/>
          </a:p>
        </p:txBody>
      </p:sp>
      <p:sp>
        <p:nvSpPr>
          <p:cNvPr id="35" name="Text 10"/>
          <p:cNvSpPr/>
          <p:nvPr/>
        </p:nvSpPr>
        <p:spPr>
          <a:xfrm>
            <a:off x="704850" y="4762500"/>
            <a:ext cx="4147483"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Elastic Beanstalk Health Dashboard</a:t>
            </a:r>
            <a:endParaRPr lang="en-US" sz="1350" dirty="0"/>
          </a:p>
        </p:txBody>
      </p:sp>
      <p:sp>
        <p:nvSpPr>
          <p:cNvPr id="36" name="Text 11"/>
          <p:cNvSpPr/>
          <p:nvPr/>
        </p:nvSpPr>
        <p:spPr>
          <a:xfrm>
            <a:off x="457200" y="5105400"/>
            <a:ext cx="52578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an aggregated view of environment health, allowing for quick identification of issues.</a:t>
            </a:r>
            <a:endParaRPr lang="en-US" sz="1200" dirty="0"/>
          </a:p>
        </p:txBody>
      </p:sp>
      <p:sp>
        <p:nvSpPr>
          <p:cNvPr id="37" name="Text 12"/>
          <p:cNvSpPr/>
          <p:nvPr/>
        </p:nvSpPr>
        <p:spPr>
          <a:xfrm>
            <a:off x="6915150" y="1223963"/>
            <a:ext cx="524440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Customization with .ebextensions</a:t>
            </a:r>
            <a:endParaRPr lang="en-US" sz="1800" dirty="0"/>
          </a:p>
        </p:txBody>
      </p:sp>
      <p:sp>
        <p:nvSpPr>
          <p:cNvPr id="38" name="Text 13"/>
          <p:cNvSpPr/>
          <p:nvPr/>
        </p:nvSpPr>
        <p:spPr>
          <a:xfrm>
            <a:off x="6324600" y="1838325"/>
            <a:ext cx="55626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Developers can retain control over AWS resources and customize their environment using .ebextensions configuration files.</a:t>
            </a:r>
            <a:endParaRPr lang="en-US" sz="1350" dirty="0"/>
          </a:p>
        </p:txBody>
      </p:sp>
      <p:sp>
        <p:nvSpPr>
          <p:cNvPr id="39" name="Text 14"/>
          <p:cNvSpPr/>
          <p:nvPr/>
        </p:nvSpPr>
        <p:spPr>
          <a:xfrm>
            <a:off x="6477000" y="3200400"/>
            <a:ext cx="6309360" cy="190500"/>
          </a:xfrm>
          <a:prstGeom prst="rect">
            <a:avLst/>
          </a:prstGeom>
          <a:noFill/>
          <a:ln/>
        </p:spPr>
        <p:txBody>
          <a:bodyPr vert="horz" wrap="square" lIns="0" tIns="0" rIns="0" bIns="0" rtlCol="0" anchor="t"/>
          <a:lstStyle/>
          <a:p>
            <a:pPr marL="0" indent="0">
              <a:lnSpc>
                <a:spcPts val="1500"/>
              </a:lnSpc>
              <a:buNone/>
            </a:pPr>
            <a:r>
              <a:rPr lang="en-US" sz="1050" i="1" dirty="0">
                <a:solidFill>
                  <a:srgbClr val="6A9955"/>
                </a:solidFill>
                <a:latin typeface="Arial" pitchFamily="34" charset="0"/>
                <a:ea typeface="Arial" pitchFamily="34" charset="-122"/>
                <a:cs typeface="Arial" pitchFamily="34" charset="-120"/>
              </a:rPr>
              <a:t># .ebextensions configuration file</a:t>
            </a:r>
            <a:endParaRPr lang="en-US" sz="1050" dirty="0"/>
          </a:p>
        </p:txBody>
      </p:sp>
      <p:sp>
        <p:nvSpPr>
          <p:cNvPr id="40" name="Text 15"/>
          <p:cNvSpPr/>
          <p:nvPr/>
        </p:nvSpPr>
        <p:spPr>
          <a:xfrm>
            <a:off x="6477000" y="3409950"/>
            <a:ext cx="1541443" cy="1524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option_settings:</a:t>
            </a:r>
            <a:endParaRPr lang="en-US" sz="1050" dirty="0"/>
          </a:p>
        </p:txBody>
      </p:sp>
      <p:sp>
        <p:nvSpPr>
          <p:cNvPr id="41" name="Text 16"/>
          <p:cNvSpPr/>
          <p:nvPr/>
        </p:nvSpPr>
        <p:spPr>
          <a:xfrm>
            <a:off x="6629400" y="3600450"/>
            <a:ext cx="4335363" cy="1524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aws:elasticbeanstalk:application:environment:</a:t>
            </a:r>
            <a:endParaRPr lang="en-US" sz="1050" dirty="0"/>
          </a:p>
        </p:txBody>
      </p:sp>
      <p:sp>
        <p:nvSpPr>
          <p:cNvPr id="42" name="Text 17"/>
          <p:cNvSpPr/>
          <p:nvPr/>
        </p:nvSpPr>
        <p:spPr>
          <a:xfrm>
            <a:off x="6629400" y="3771900"/>
            <a:ext cx="5105400" cy="1905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NODE_ENV:</a:t>
            </a:r>
            <a:r>
              <a:rPr lang="en-US" sz="1050" dirty="0">
                <a:solidFill>
                  <a:srgbClr val="FFFFFF"/>
                </a:solidFill>
                <a:latin typeface="Arial" pitchFamily="34" charset="0"/>
                <a:ea typeface="Arial" pitchFamily="34" charset="-122"/>
                <a:cs typeface="Arial" pitchFamily="34" charset="-120"/>
              </a:rPr>
              <a:t> production</a:t>
            </a:r>
            <a:endParaRPr lang="en-US" sz="1050" dirty="0"/>
          </a:p>
        </p:txBody>
      </p:sp>
      <p:sp>
        <p:nvSpPr>
          <p:cNvPr id="43" name="Text 18"/>
          <p:cNvSpPr/>
          <p:nvPr/>
        </p:nvSpPr>
        <p:spPr>
          <a:xfrm>
            <a:off x="6477000" y="3962400"/>
            <a:ext cx="6309360" cy="190500"/>
          </a:xfrm>
          <a:prstGeom prst="rect">
            <a:avLst/>
          </a:prstGeom>
          <a:noFill/>
          <a:ln/>
        </p:spPr>
        <p:txBody>
          <a:bodyPr vert="horz" wrap="square" lIns="0" tIns="0" rIns="0" bIns="0" rtlCol="0" anchor="t"/>
          <a:lstStyle/>
          <a:p>
            <a:pPr marL="0" indent="0">
              <a:lnSpc>
                <a:spcPts val="1500"/>
              </a:lnSpc>
              <a:buNone/>
            </a:pPr>
            <a:r>
              <a:rPr lang="en-US" sz="1050" i="1" dirty="0">
                <a:solidFill>
                  <a:srgbClr val="6A9955"/>
                </a:solidFill>
                <a:latin typeface="Arial" pitchFamily="34" charset="0"/>
                <a:ea typeface="Arial" pitchFamily="34" charset="-122"/>
                <a:cs typeface="Arial" pitchFamily="34" charset="-120"/>
              </a:rPr>
              <a:t># Install additional dependencies</a:t>
            </a:r>
            <a:endParaRPr lang="en-US" sz="1050" dirty="0"/>
          </a:p>
        </p:txBody>
      </p:sp>
      <p:sp>
        <p:nvSpPr>
          <p:cNvPr id="44" name="Text 19"/>
          <p:cNvSpPr/>
          <p:nvPr/>
        </p:nvSpPr>
        <p:spPr>
          <a:xfrm>
            <a:off x="6477000" y="4171950"/>
            <a:ext cx="867073" cy="1524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packages:</a:t>
            </a:r>
            <a:endParaRPr lang="en-US" sz="1050" dirty="0"/>
          </a:p>
        </p:txBody>
      </p:sp>
      <p:sp>
        <p:nvSpPr>
          <p:cNvPr id="45" name="Text 20"/>
          <p:cNvSpPr/>
          <p:nvPr/>
        </p:nvSpPr>
        <p:spPr>
          <a:xfrm>
            <a:off x="6629400" y="4362450"/>
            <a:ext cx="385405" cy="1524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yum:</a:t>
            </a:r>
            <a:endParaRPr lang="en-US" sz="1050" dirty="0"/>
          </a:p>
        </p:txBody>
      </p:sp>
      <p:sp>
        <p:nvSpPr>
          <p:cNvPr id="46" name="Text 21"/>
          <p:cNvSpPr/>
          <p:nvPr/>
        </p:nvSpPr>
        <p:spPr>
          <a:xfrm>
            <a:off x="6629400" y="4533900"/>
            <a:ext cx="5105400" cy="190500"/>
          </a:xfrm>
          <a:prstGeom prst="rect">
            <a:avLst/>
          </a:prstGeom>
          <a:noFill/>
          <a:ln/>
        </p:spPr>
        <p:txBody>
          <a:bodyPr vert="horz" wrap="square" lIns="0" tIns="0" rIns="0" bIns="0" rtlCol="0" anchor="t"/>
          <a:lstStyle/>
          <a:p>
            <a:pPr marL="0" indent="0">
              <a:lnSpc>
                <a:spcPts val="1500"/>
              </a:lnSpc>
              <a:buNone/>
            </a:pPr>
            <a:r>
              <a:rPr lang="en-US" sz="1050" b="1" dirty="0">
                <a:solidFill>
                  <a:srgbClr val="FF9900"/>
                </a:solidFill>
                <a:latin typeface="Arial" pitchFamily="34" charset="0"/>
                <a:ea typeface="Arial" pitchFamily="34" charset="-122"/>
                <a:cs typeface="Arial" pitchFamily="34" charset="-120"/>
              </a:rPr>
              <a:t>nginx:</a:t>
            </a:r>
            <a:r>
              <a:rPr lang="en-US" sz="1050" dirty="0">
                <a:solidFill>
                  <a:srgbClr val="FFFFFF"/>
                </a:solidFill>
                <a:latin typeface="Arial" pitchFamily="34" charset="0"/>
                <a:ea typeface="Arial" pitchFamily="34" charset="-122"/>
                <a:cs typeface="Arial" pitchFamily="34" charset="-120"/>
              </a:rPr>
              <a:t> []</a:t>
            </a:r>
            <a:endParaRPr lang="en-US" sz="1050" dirty="0"/>
          </a:p>
        </p:txBody>
      </p:sp>
      <p:sp>
        <p:nvSpPr>
          <p:cNvPr id="47" name="Text 22"/>
          <p:cNvSpPr/>
          <p:nvPr/>
        </p:nvSpPr>
        <p:spPr>
          <a:xfrm>
            <a:off x="6743700" y="5257800"/>
            <a:ext cx="21336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Instance Configuration</a:t>
            </a:r>
            <a:endParaRPr lang="en-US" sz="1350" dirty="0"/>
          </a:p>
        </p:txBody>
      </p:sp>
      <p:sp>
        <p:nvSpPr>
          <p:cNvPr id="48" name="Text 23"/>
          <p:cNvSpPr/>
          <p:nvPr/>
        </p:nvSpPr>
        <p:spPr>
          <a:xfrm>
            <a:off x="6477000" y="5867400"/>
            <a:ext cx="2400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Modify instance settings and install dependencies</a:t>
            </a:r>
            <a:endParaRPr lang="en-US" sz="1200" dirty="0"/>
          </a:p>
        </p:txBody>
      </p:sp>
      <p:sp>
        <p:nvSpPr>
          <p:cNvPr id="49" name="Text 24"/>
          <p:cNvSpPr/>
          <p:nvPr/>
        </p:nvSpPr>
        <p:spPr>
          <a:xfrm>
            <a:off x="9525000" y="5257800"/>
            <a:ext cx="22098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AWS Service Integration</a:t>
            </a:r>
            <a:endParaRPr lang="en-US" sz="1350" dirty="0"/>
          </a:p>
        </p:txBody>
      </p:sp>
      <p:sp>
        <p:nvSpPr>
          <p:cNvPr id="50" name="Text 25"/>
          <p:cNvSpPr/>
          <p:nvPr/>
        </p:nvSpPr>
        <p:spPr>
          <a:xfrm>
            <a:off x="9334500" y="5867400"/>
            <a:ext cx="2400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 with other AWS services as needed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5891842"/>
          </a:xfrm>
          <a:prstGeom prst="rect">
            <a:avLst/>
          </a:prstGeom>
        </p:spPr>
      </p:pic>
      <p:pic>
        <p:nvPicPr>
          <p:cNvPr id="3" name="Image 1" descr="preencoded.png"/>
          <p:cNvPicPr>
            <a:picLocks noChangeAspect="1"/>
          </p:cNvPicPr>
          <p:nvPr/>
        </p:nvPicPr>
        <p:blipFill>
          <a:blip r:embed="rId4"/>
          <a:stretch>
            <a:fillRect/>
          </a:stretch>
        </p:blipFill>
        <p:spPr>
          <a:xfrm>
            <a:off x="9677400" y="461010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68580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1905000"/>
            <a:ext cx="3657600" cy="1638300"/>
          </a:xfrm>
          <a:prstGeom prst="rect">
            <a:avLst/>
          </a:prstGeom>
        </p:spPr>
      </p:pic>
      <p:pic>
        <p:nvPicPr>
          <p:cNvPr id="7" name="Image 5" descr="preencoded.png"/>
          <p:cNvPicPr>
            <a:picLocks noChangeAspect="1"/>
          </p:cNvPicPr>
          <p:nvPr/>
        </p:nvPicPr>
        <p:blipFill>
          <a:blip r:embed="rId8"/>
          <a:stretch>
            <a:fillRect/>
          </a:stretch>
        </p:blipFill>
        <p:spPr>
          <a:xfrm>
            <a:off x="571500" y="2095500"/>
            <a:ext cx="190500" cy="476250"/>
          </a:xfrm>
          <a:prstGeom prst="rect">
            <a:avLst/>
          </a:prstGeom>
        </p:spPr>
      </p:pic>
      <p:pic>
        <p:nvPicPr>
          <p:cNvPr id="8" name="Image 6" descr="preencoded.png"/>
          <p:cNvPicPr>
            <a:picLocks noChangeAspect="1"/>
          </p:cNvPicPr>
          <p:nvPr/>
        </p:nvPicPr>
        <p:blipFill>
          <a:blip r:embed="rId9"/>
          <a:stretch>
            <a:fillRect/>
          </a:stretch>
        </p:blipFill>
        <p:spPr>
          <a:xfrm>
            <a:off x="571500" y="2200275"/>
            <a:ext cx="190500" cy="266700"/>
          </a:xfrm>
          <a:prstGeom prst="rect">
            <a:avLst/>
          </a:prstGeom>
        </p:spPr>
      </p:pic>
      <p:pic>
        <p:nvPicPr>
          <p:cNvPr id="9" name="Image 7" descr="preencoded.png"/>
          <p:cNvPicPr>
            <a:picLocks noChangeAspect="1"/>
          </p:cNvPicPr>
          <p:nvPr/>
        </p:nvPicPr>
        <p:blipFill>
          <a:blip r:embed="rId7"/>
          <a:stretch>
            <a:fillRect/>
          </a:stretch>
        </p:blipFill>
        <p:spPr>
          <a:xfrm>
            <a:off x="4267200" y="1905000"/>
            <a:ext cx="3657600" cy="1638300"/>
          </a:xfrm>
          <a:prstGeom prst="rect">
            <a:avLst/>
          </a:prstGeom>
        </p:spPr>
      </p:pic>
      <p:pic>
        <p:nvPicPr>
          <p:cNvPr id="10" name="Image 8" descr="preencoded.png"/>
          <p:cNvPicPr>
            <a:picLocks noChangeAspect="1"/>
          </p:cNvPicPr>
          <p:nvPr/>
        </p:nvPicPr>
        <p:blipFill>
          <a:blip r:embed="rId10"/>
          <a:stretch>
            <a:fillRect/>
          </a:stretch>
        </p:blipFill>
        <p:spPr>
          <a:xfrm>
            <a:off x="4457700" y="2095500"/>
            <a:ext cx="219075" cy="476250"/>
          </a:xfrm>
          <a:prstGeom prst="rect">
            <a:avLst/>
          </a:prstGeom>
        </p:spPr>
      </p:pic>
      <p:pic>
        <p:nvPicPr>
          <p:cNvPr id="11" name="Image 9" descr="preencoded.png"/>
          <p:cNvPicPr>
            <a:picLocks noChangeAspect="1"/>
          </p:cNvPicPr>
          <p:nvPr/>
        </p:nvPicPr>
        <p:blipFill>
          <a:blip r:embed="rId11"/>
          <a:stretch>
            <a:fillRect/>
          </a:stretch>
        </p:blipFill>
        <p:spPr>
          <a:xfrm>
            <a:off x="4457700" y="2200275"/>
            <a:ext cx="219075" cy="266700"/>
          </a:xfrm>
          <a:prstGeom prst="rect">
            <a:avLst/>
          </a:prstGeom>
        </p:spPr>
      </p:pic>
      <p:pic>
        <p:nvPicPr>
          <p:cNvPr id="12" name="Image 10" descr="preencoded.png"/>
          <p:cNvPicPr>
            <a:picLocks noChangeAspect="1"/>
          </p:cNvPicPr>
          <p:nvPr/>
        </p:nvPicPr>
        <p:blipFill>
          <a:blip r:embed="rId7"/>
          <a:stretch>
            <a:fillRect/>
          </a:stretch>
        </p:blipFill>
        <p:spPr>
          <a:xfrm>
            <a:off x="8153400" y="1905000"/>
            <a:ext cx="3657600" cy="1638300"/>
          </a:xfrm>
          <a:prstGeom prst="rect">
            <a:avLst/>
          </a:prstGeom>
        </p:spPr>
      </p:pic>
      <p:pic>
        <p:nvPicPr>
          <p:cNvPr id="13" name="Image 11" descr="preencoded.png"/>
          <p:cNvPicPr>
            <a:picLocks noChangeAspect="1"/>
          </p:cNvPicPr>
          <p:nvPr/>
        </p:nvPicPr>
        <p:blipFill>
          <a:blip r:embed="rId12"/>
          <a:stretch>
            <a:fillRect/>
          </a:stretch>
        </p:blipFill>
        <p:spPr>
          <a:xfrm>
            <a:off x="8343900" y="2095500"/>
            <a:ext cx="178743" cy="476250"/>
          </a:xfrm>
          <a:prstGeom prst="rect">
            <a:avLst/>
          </a:prstGeom>
        </p:spPr>
      </p:pic>
      <p:pic>
        <p:nvPicPr>
          <p:cNvPr id="14" name="Image 12" descr="preencoded.png"/>
          <p:cNvPicPr>
            <a:picLocks noChangeAspect="1"/>
          </p:cNvPicPr>
          <p:nvPr/>
        </p:nvPicPr>
        <p:blipFill>
          <a:blip r:embed="rId13"/>
          <a:stretch>
            <a:fillRect/>
          </a:stretch>
        </p:blipFill>
        <p:spPr>
          <a:xfrm>
            <a:off x="8361759" y="2200275"/>
            <a:ext cx="142875" cy="266700"/>
          </a:xfrm>
          <a:prstGeom prst="rect">
            <a:avLst/>
          </a:prstGeom>
        </p:spPr>
      </p:pic>
      <p:pic>
        <p:nvPicPr>
          <p:cNvPr id="15" name="Image 13" descr="preencoded.png"/>
          <p:cNvPicPr>
            <a:picLocks noChangeAspect="1"/>
          </p:cNvPicPr>
          <p:nvPr/>
        </p:nvPicPr>
        <p:blipFill>
          <a:blip r:embed="rId14"/>
          <a:stretch>
            <a:fillRect/>
          </a:stretch>
        </p:blipFill>
        <p:spPr>
          <a:xfrm>
            <a:off x="381000" y="3771900"/>
            <a:ext cx="3657600" cy="1905000"/>
          </a:xfrm>
          <a:prstGeom prst="rect">
            <a:avLst/>
          </a:prstGeom>
        </p:spPr>
      </p:pic>
      <p:pic>
        <p:nvPicPr>
          <p:cNvPr id="16" name="Image 14" descr="preencoded.png"/>
          <p:cNvPicPr>
            <a:picLocks noChangeAspect="1"/>
          </p:cNvPicPr>
          <p:nvPr/>
        </p:nvPicPr>
        <p:blipFill>
          <a:blip r:embed="rId15"/>
          <a:stretch>
            <a:fillRect/>
          </a:stretch>
        </p:blipFill>
        <p:spPr>
          <a:xfrm>
            <a:off x="571500" y="3962400"/>
            <a:ext cx="145852" cy="476250"/>
          </a:xfrm>
          <a:prstGeom prst="rect">
            <a:avLst/>
          </a:prstGeom>
        </p:spPr>
      </p:pic>
      <p:pic>
        <p:nvPicPr>
          <p:cNvPr id="17" name="Image 15" descr="preencoded.png"/>
          <p:cNvPicPr>
            <a:picLocks noChangeAspect="1"/>
          </p:cNvPicPr>
          <p:nvPr/>
        </p:nvPicPr>
        <p:blipFill>
          <a:blip r:embed="rId16"/>
          <a:stretch>
            <a:fillRect/>
          </a:stretch>
        </p:blipFill>
        <p:spPr>
          <a:xfrm>
            <a:off x="572988" y="4067175"/>
            <a:ext cx="142875" cy="266700"/>
          </a:xfrm>
          <a:prstGeom prst="rect">
            <a:avLst/>
          </a:prstGeom>
        </p:spPr>
      </p:pic>
      <p:pic>
        <p:nvPicPr>
          <p:cNvPr id="18" name="Image 16" descr="preencoded.png"/>
          <p:cNvPicPr>
            <a:picLocks noChangeAspect="1"/>
          </p:cNvPicPr>
          <p:nvPr/>
        </p:nvPicPr>
        <p:blipFill>
          <a:blip r:embed="rId14"/>
          <a:stretch>
            <a:fillRect/>
          </a:stretch>
        </p:blipFill>
        <p:spPr>
          <a:xfrm>
            <a:off x="4267200" y="3771900"/>
            <a:ext cx="3657600" cy="1905000"/>
          </a:xfrm>
          <a:prstGeom prst="rect">
            <a:avLst/>
          </a:prstGeom>
        </p:spPr>
      </p:pic>
      <p:pic>
        <p:nvPicPr>
          <p:cNvPr id="19" name="Image 17" descr="preencoded.png"/>
          <p:cNvPicPr>
            <a:picLocks noChangeAspect="1"/>
          </p:cNvPicPr>
          <p:nvPr/>
        </p:nvPicPr>
        <p:blipFill>
          <a:blip r:embed="rId17"/>
          <a:stretch>
            <a:fillRect/>
          </a:stretch>
        </p:blipFill>
        <p:spPr>
          <a:xfrm>
            <a:off x="4457700" y="3962400"/>
            <a:ext cx="154781" cy="476250"/>
          </a:xfrm>
          <a:prstGeom prst="rect">
            <a:avLst/>
          </a:prstGeom>
        </p:spPr>
      </p:pic>
      <p:pic>
        <p:nvPicPr>
          <p:cNvPr id="20" name="Image 18" descr="preencoded.png"/>
          <p:cNvPicPr>
            <a:picLocks noChangeAspect="1"/>
          </p:cNvPicPr>
          <p:nvPr/>
        </p:nvPicPr>
        <p:blipFill>
          <a:blip r:embed="rId18"/>
          <a:stretch>
            <a:fillRect/>
          </a:stretch>
        </p:blipFill>
        <p:spPr>
          <a:xfrm>
            <a:off x="4463653" y="4067175"/>
            <a:ext cx="142875" cy="266700"/>
          </a:xfrm>
          <a:prstGeom prst="rect">
            <a:avLst/>
          </a:prstGeom>
        </p:spPr>
      </p:pic>
      <p:pic>
        <p:nvPicPr>
          <p:cNvPr id="21" name="Image 19" descr="preencoded.png"/>
          <p:cNvPicPr>
            <a:picLocks noChangeAspect="1"/>
          </p:cNvPicPr>
          <p:nvPr/>
        </p:nvPicPr>
        <p:blipFill>
          <a:blip r:embed="rId14"/>
          <a:stretch>
            <a:fillRect/>
          </a:stretch>
        </p:blipFill>
        <p:spPr>
          <a:xfrm>
            <a:off x="8153400" y="3771900"/>
            <a:ext cx="3657600" cy="1905000"/>
          </a:xfrm>
          <a:prstGeom prst="rect">
            <a:avLst/>
          </a:prstGeom>
        </p:spPr>
      </p:pic>
      <p:pic>
        <p:nvPicPr>
          <p:cNvPr id="22" name="Image 20" descr="preencoded.png"/>
          <p:cNvPicPr>
            <a:picLocks noChangeAspect="1"/>
          </p:cNvPicPr>
          <p:nvPr/>
        </p:nvPicPr>
        <p:blipFill>
          <a:blip r:embed="rId19"/>
          <a:stretch>
            <a:fillRect/>
          </a:stretch>
        </p:blipFill>
        <p:spPr>
          <a:xfrm>
            <a:off x="8343900" y="3962400"/>
            <a:ext cx="149423" cy="476250"/>
          </a:xfrm>
          <a:prstGeom prst="rect">
            <a:avLst/>
          </a:prstGeom>
        </p:spPr>
      </p:pic>
      <p:sp>
        <p:nvSpPr>
          <p:cNvPr id="25" name="Text 0"/>
          <p:cNvSpPr/>
          <p:nvPr/>
        </p:nvSpPr>
        <p:spPr>
          <a:xfrm>
            <a:off x="457200" y="209550"/>
            <a:ext cx="1958280"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Use Cases</a:t>
            </a:r>
            <a:endParaRPr lang="en-US" sz="2250" dirty="0"/>
          </a:p>
        </p:txBody>
      </p:sp>
      <p:sp>
        <p:nvSpPr>
          <p:cNvPr id="26" name="Text 1"/>
          <p:cNvSpPr/>
          <p:nvPr/>
        </p:nvSpPr>
        <p:spPr>
          <a:xfrm>
            <a:off x="381000" y="1143000"/>
            <a:ext cx="114300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Elastic Beanstalk is a versatile platform suitable for a wide range of applications, enabling developers to deploy and manage applications with ease.</a:t>
            </a:r>
            <a:endParaRPr lang="en-US" sz="1500" dirty="0"/>
          </a:p>
        </p:txBody>
      </p:sp>
      <p:sp>
        <p:nvSpPr>
          <p:cNvPr id="27" name="Text 2"/>
          <p:cNvSpPr/>
          <p:nvPr/>
        </p:nvSpPr>
        <p:spPr>
          <a:xfrm>
            <a:off x="914400" y="2095500"/>
            <a:ext cx="35204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Web Application Hosting</a:t>
            </a:r>
            <a:endParaRPr lang="en-US" sz="1500" dirty="0"/>
          </a:p>
        </p:txBody>
      </p:sp>
      <p:sp>
        <p:nvSpPr>
          <p:cNvPr id="28" name="Text 3"/>
          <p:cNvSpPr/>
          <p:nvPr/>
        </p:nvSpPr>
        <p:spPr>
          <a:xfrm>
            <a:off x="914400" y="2438400"/>
            <a:ext cx="29337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Ideal for deploying websites, web applications, and APIs, handling scalability and load balancing for rapid deployment.</a:t>
            </a:r>
            <a:endParaRPr lang="en-US" sz="1200" dirty="0"/>
          </a:p>
        </p:txBody>
      </p:sp>
      <p:sp>
        <p:nvSpPr>
          <p:cNvPr id="29" name="Text 4"/>
          <p:cNvSpPr/>
          <p:nvPr/>
        </p:nvSpPr>
        <p:spPr>
          <a:xfrm>
            <a:off x="4829175" y="2095500"/>
            <a:ext cx="34861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Microservices Architecture</a:t>
            </a:r>
            <a:endParaRPr lang="en-US" sz="1500" dirty="0"/>
          </a:p>
        </p:txBody>
      </p:sp>
      <p:sp>
        <p:nvSpPr>
          <p:cNvPr id="30" name="Text 5"/>
          <p:cNvSpPr/>
          <p:nvPr/>
        </p:nvSpPr>
        <p:spPr>
          <a:xfrm>
            <a:off x="4829175" y="2438400"/>
            <a:ext cx="2905125"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Facilitates deploying multiple services, each within its own environment, with AWS managing scaling and load balancing.</a:t>
            </a:r>
            <a:endParaRPr lang="en-US" sz="1200" dirty="0"/>
          </a:p>
        </p:txBody>
      </p:sp>
      <p:sp>
        <p:nvSpPr>
          <p:cNvPr id="31" name="Text 6"/>
          <p:cNvSpPr/>
          <p:nvPr/>
        </p:nvSpPr>
        <p:spPr>
          <a:xfrm>
            <a:off x="8675043" y="2095500"/>
            <a:ext cx="294545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Prototyping</a:t>
            </a:r>
            <a:endParaRPr lang="en-US" sz="1500" dirty="0"/>
          </a:p>
        </p:txBody>
      </p:sp>
      <p:sp>
        <p:nvSpPr>
          <p:cNvPr id="32" name="Text 7"/>
          <p:cNvSpPr/>
          <p:nvPr/>
        </p:nvSpPr>
        <p:spPr>
          <a:xfrm>
            <a:off x="8675043" y="2438400"/>
            <a:ext cx="2945457"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Excellent for quickly building and testing prototypes under real-world conditions due to minimal setup.</a:t>
            </a:r>
            <a:endParaRPr lang="en-US" sz="1200" dirty="0"/>
          </a:p>
        </p:txBody>
      </p:sp>
      <p:sp>
        <p:nvSpPr>
          <p:cNvPr id="33" name="Text 8"/>
          <p:cNvSpPr/>
          <p:nvPr/>
        </p:nvSpPr>
        <p:spPr>
          <a:xfrm>
            <a:off x="869752" y="3962400"/>
            <a:ext cx="357401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Enterprise Applications</a:t>
            </a:r>
            <a:endParaRPr lang="en-US" sz="1500" dirty="0"/>
          </a:p>
        </p:txBody>
      </p:sp>
      <p:sp>
        <p:nvSpPr>
          <p:cNvPr id="34" name="Text 9"/>
          <p:cNvSpPr/>
          <p:nvPr/>
        </p:nvSpPr>
        <p:spPr>
          <a:xfrm>
            <a:off x="869752" y="4305300"/>
            <a:ext cx="2978348"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Robust enough to support enterprise-level applications requiring scalability, security, and monitoring for high-traffic workloads.</a:t>
            </a:r>
            <a:endParaRPr lang="en-US" sz="1200" dirty="0"/>
          </a:p>
        </p:txBody>
      </p:sp>
      <p:sp>
        <p:nvSpPr>
          <p:cNvPr id="35" name="Text 10"/>
          <p:cNvSpPr/>
          <p:nvPr/>
        </p:nvSpPr>
        <p:spPr>
          <a:xfrm>
            <a:off x="4764881" y="3962400"/>
            <a:ext cx="356330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Lift and Shift Migration</a:t>
            </a:r>
            <a:endParaRPr lang="en-US" sz="1500" dirty="0"/>
          </a:p>
        </p:txBody>
      </p:sp>
      <p:sp>
        <p:nvSpPr>
          <p:cNvPr id="36" name="Text 11"/>
          <p:cNvSpPr/>
          <p:nvPr/>
        </p:nvSpPr>
        <p:spPr>
          <a:xfrm>
            <a:off x="4764881" y="4305300"/>
            <a:ext cx="2969419"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a straightforward path for migrating existing monolithic applications to the cloud without code re-architecture.</a:t>
            </a:r>
            <a:endParaRPr lang="en-US" sz="1200" dirty="0"/>
          </a:p>
        </p:txBody>
      </p:sp>
      <p:sp>
        <p:nvSpPr>
          <p:cNvPr id="37" name="Text 12"/>
          <p:cNvSpPr/>
          <p:nvPr/>
        </p:nvSpPr>
        <p:spPr>
          <a:xfrm>
            <a:off x="8645723" y="3962400"/>
            <a:ext cx="2974777"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Container Application Hosting</a:t>
            </a:r>
            <a:endParaRPr lang="en-US" sz="1500" dirty="0"/>
          </a:p>
        </p:txBody>
      </p:sp>
      <p:sp>
        <p:nvSpPr>
          <p:cNvPr id="38" name="Text 13"/>
          <p:cNvSpPr/>
          <p:nvPr/>
        </p:nvSpPr>
        <p:spPr>
          <a:xfrm>
            <a:off x="8645723" y="4572000"/>
            <a:ext cx="2974777"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Supports running Docker containers with built-in scaling and infrastructure management, simplifying container deployment.</a:t>
            </a:r>
            <a:endParaRPr lang="en-US" sz="1200" dirty="0"/>
          </a:p>
        </p:txBody>
      </p:sp>
      <p:sp>
        <p:nvSpPr>
          <p:cNvPr id="39" name="Text 14"/>
          <p:cNvSpPr/>
          <p:nvPr/>
        </p:nvSpPr>
        <p:spPr>
          <a:xfrm>
            <a:off x="685800" y="6477000"/>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40" name="Text 15"/>
          <p:cNvSpPr/>
          <p:nvPr/>
        </p:nvSpPr>
        <p:spPr>
          <a:xfrm>
            <a:off x="11295608" y="6477000"/>
            <a:ext cx="52703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5715000"/>
          </a:xfrm>
          <a:prstGeom prst="rect">
            <a:avLst/>
          </a:prstGeom>
        </p:spPr>
      </p:pic>
      <p:pic>
        <p:nvPicPr>
          <p:cNvPr id="3" name="Image 1" descr="preencoded.png"/>
          <p:cNvPicPr>
            <a:picLocks noChangeAspect="1"/>
          </p:cNvPicPr>
          <p:nvPr/>
        </p:nvPicPr>
        <p:blipFill>
          <a:blip r:embed="rId4"/>
          <a:stretch>
            <a:fillRect/>
          </a:stretch>
        </p:blipFill>
        <p:spPr>
          <a:xfrm>
            <a:off x="9677400" y="411480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68580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381000" y="1905000"/>
            <a:ext cx="2714625" cy="990600"/>
          </a:xfrm>
          <a:prstGeom prst="rect">
            <a:avLst/>
          </a:prstGeom>
        </p:spPr>
      </p:pic>
      <p:pic>
        <p:nvPicPr>
          <p:cNvPr id="7" name="Image 5" descr="preencoded.png"/>
          <p:cNvPicPr>
            <a:picLocks noChangeAspect="1"/>
          </p:cNvPicPr>
          <p:nvPr/>
        </p:nvPicPr>
        <p:blipFill>
          <a:blip r:embed="rId8"/>
          <a:stretch>
            <a:fillRect/>
          </a:stretch>
        </p:blipFill>
        <p:spPr>
          <a:xfrm>
            <a:off x="533400" y="2057400"/>
            <a:ext cx="339477" cy="476250"/>
          </a:xfrm>
          <a:prstGeom prst="rect">
            <a:avLst/>
          </a:prstGeom>
        </p:spPr>
      </p:pic>
      <p:pic>
        <p:nvPicPr>
          <p:cNvPr id="8" name="Image 6" descr="preencoded.png"/>
          <p:cNvPicPr>
            <a:picLocks noChangeAspect="1"/>
          </p:cNvPicPr>
          <p:nvPr/>
        </p:nvPicPr>
        <p:blipFill>
          <a:blip r:embed="rId9"/>
          <a:stretch>
            <a:fillRect/>
          </a:stretch>
        </p:blipFill>
        <p:spPr>
          <a:xfrm>
            <a:off x="607814" y="2162175"/>
            <a:ext cx="190500" cy="266700"/>
          </a:xfrm>
          <a:prstGeom prst="rect">
            <a:avLst/>
          </a:prstGeom>
        </p:spPr>
      </p:pic>
      <p:pic>
        <p:nvPicPr>
          <p:cNvPr id="9" name="Image 7" descr="preencoded.png"/>
          <p:cNvPicPr>
            <a:picLocks noChangeAspect="1"/>
          </p:cNvPicPr>
          <p:nvPr/>
        </p:nvPicPr>
        <p:blipFill>
          <a:blip r:embed="rId10"/>
          <a:stretch>
            <a:fillRect/>
          </a:stretch>
        </p:blipFill>
        <p:spPr>
          <a:xfrm>
            <a:off x="3286125" y="1905000"/>
            <a:ext cx="2714625" cy="990600"/>
          </a:xfrm>
          <a:prstGeom prst="rect">
            <a:avLst/>
          </a:prstGeom>
        </p:spPr>
      </p:pic>
      <p:pic>
        <p:nvPicPr>
          <p:cNvPr id="10" name="Image 8" descr="preencoded.png"/>
          <p:cNvPicPr>
            <a:picLocks noChangeAspect="1"/>
          </p:cNvPicPr>
          <p:nvPr/>
        </p:nvPicPr>
        <p:blipFill>
          <a:blip r:embed="rId11"/>
          <a:stretch>
            <a:fillRect/>
          </a:stretch>
        </p:blipFill>
        <p:spPr>
          <a:xfrm>
            <a:off x="3438525" y="2057400"/>
            <a:ext cx="476250" cy="476250"/>
          </a:xfrm>
          <a:prstGeom prst="rect">
            <a:avLst/>
          </a:prstGeom>
        </p:spPr>
      </p:pic>
      <p:pic>
        <p:nvPicPr>
          <p:cNvPr id="11" name="Image 9" descr="preencoded.png"/>
          <p:cNvPicPr>
            <a:picLocks noChangeAspect="1"/>
          </p:cNvPicPr>
          <p:nvPr/>
        </p:nvPicPr>
        <p:blipFill>
          <a:blip r:embed="rId12"/>
          <a:stretch>
            <a:fillRect/>
          </a:stretch>
        </p:blipFill>
        <p:spPr>
          <a:xfrm>
            <a:off x="3557588" y="2162175"/>
            <a:ext cx="238125" cy="266700"/>
          </a:xfrm>
          <a:prstGeom prst="rect">
            <a:avLst/>
          </a:prstGeom>
        </p:spPr>
      </p:pic>
      <p:pic>
        <p:nvPicPr>
          <p:cNvPr id="12" name="Image 10" descr="preencoded.png"/>
          <p:cNvPicPr>
            <a:picLocks noChangeAspect="1"/>
          </p:cNvPicPr>
          <p:nvPr/>
        </p:nvPicPr>
        <p:blipFill>
          <a:blip r:embed="rId13"/>
          <a:stretch>
            <a:fillRect/>
          </a:stretch>
        </p:blipFill>
        <p:spPr>
          <a:xfrm>
            <a:off x="6191250" y="1905000"/>
            <a:ext cx="2714625" cy="990600"/>
          </a:xfrm>
          <a:prstGeom prst="rect">
            <a:avLst/>
          </a:prstGeom>
        </p:spPr>
      </p:pic>
      <p:pic>
        <p:nvPicPr>
          <p:cNvPr id="13" name="Image 11" descr="preencoded.png"/>
          <p:cNvPicPr>
            <a:picLocks noChangeAspect="1"/>
          </p:cNvPicPr>
          <p:nvPr/>
        </p:nvPicPr>
        <p:blipFill>
          <a:blip r:embed="rId14"/>
          <a:stretch>
            <a:fillRect/>
          </a:stretch>
        </p:blipFill>
        <p:spPr>
          <a:xfrm>
            <a:off x="6343650" y="2057400"/>
            <a:ext cx="370136" cy="476250"/>
          </a:xfrm>
          <a:prstGeom prst="rect">
            <a:avLst/>
          </a:prstGeom>
        </p:spPr>
      </p:pic>
      <p:pic>
        <p:nvPicPr>
          <p:cNvPr id="14" name="Image 12" descr="preencoded.png"/>
          <p:cNvPicPr>
            <a:picLocks noChangeAspect="1"/>
          </p:cNvPicPr>
          <p:nvPr/>
        </p:nvPicPr>
        <p:blipFill>
          <a:blip r:embed="rId15"/>
          <a:stretch>
            <a:fillRect/>
          </a:stretch>
        </p:blipFill>
        <p:spPr>
          <a:xfrm>
            <a:off x="6457206" y="2162175"/>
            <a:ext cx="142875" cy="266700"/>
          </a:xfrm>
          <a:prstGeom prst="rect">
            <a:avLst/>
          </a:prstGeom>
        </p:spPr>
      </p:pic>
      <p:pic>
        <p:nvPicPr>
          <p:cNvPr id="15" name="Image 13" descr="preencoded.png"/>
          <p:cNvPicPr>
            <a:picLocks noChangeAspect="1"/>
          </p:cNvPicPr>
          <p:nvPr/>
        </p:nvPicPr>
        <p:blipFill>
          <a:blip r:embed="rId16"/>
          <a:stretch>
            <a:fillRect/>
          </a:stretch>
        </p:blipFill>
        <p:spPr>
          <a:xfrm>
            <a:off x="9096375" y="1905000"/>
            <a:ext cx="2714625" cy="990600"/>
          </a:xfrm>
          <a:prstGeom prst="rect">
            <a:avLst/>
          </a:prstGeom>
        </p:spPr>
      </p:pic>
      <p:pic>
        <p:nvPicPr>
          <p:cNvPr id="16" name="Image 14" descr="preencoded.png"/>
          <p:cNvPicPr>
            <a:picLocks noChangeAspect="1"/>
          </p:cNvPicPr>
          <p:nvPr/>
        </p:nvPicPr>
        <p:blipFill>
          <a:blip r:embed="rId17"/>
          <a:stretch>
            <a:fillRect/>
          </a:stretch>
        </p:blipFill>
        <p:spPr>
          <a:xfrm>
            <a:off x="9248775" y="2057400"/>
            <a:ext cx="440085" cy="476250"/>
          </a:xfrm>
          <a:prstGeom prst="rect">
            <a:avLst/>
          </a:prstGeom>
        </p:spPr>
      </p:pic>
      <p:pic>
        <p:nvPicPr>
          <p:cNvPr id="17" name="Image 15" descr="preencoded.png"/>
          <p:cNvPicPr>
            <a:picLocks noChangeAspect="1"/>
          </p:cNvPicPr>
          <p:nvPr/>
        </p:nvPicPr>
        <p:blipFill>
          <a:blip r:embed="rId18"/>
          <a:stretch>
            <a:fillRect/>
          </a:stretch>
        </p:blipFill>
        <p:spPr>
          <a:xfrm>
            <a:off x="9383018" y="2162175"/>
            <a:ext cx="171450" cy="266700"/>
          </a:xfrm>
          <a:prstGeom prst="rect">
            <a:avLst/>
          </a:prstGeom>
        </p:spPr>
      </p:pic>
      <p:pic>
        <p:nvPicPr>
          <p:cNvPr id="18" name="Image 16" descr="preencoded.png"/>
          <p:cNvPicPr>
            <a:picLocks noChangeAspect="1"/>
          </p:cNvPicPr>
          <p:nvPr/>
        </p:nvPicPr>
        <p:blipFill>
          <a:blip r:embed="rId19"/>
          <a:stretch>
            <a:fillRect/>
          </a:stretch>
        </p:blipFill>
        <p:spPr>
          <a:xfrm>
            <a:off x="381000" y="3086100"/>
            <a:ext cx="2714625" cy="800100"/>
          </a:xfrm>
          <a:prstGeom prst="rect">
            <a:avLst/>
          </a:prstGeom>
        </p:spPr>
      </p:pic>
      <p:pic>
        <p:nvPicPr>
          <p:cNvPr id="19" name="Image 17" descr="preencoded.png"/>
          <p:cNvPicPr>
            <a:picLocks noChangeAspect="1"/>
          </p:cNvPicPr>
          <p:nvPr/>
        </p:nvPicPr>
        <p:blipFill>
          <a:blip r:embed="rId20"/>
          <a:stretch>
            <a:fillRect/>
          </a:stretch>
        </p:blipFill>
        <p:spPr>
          <a:xfrm>
            <a:off x="533400" y="3238500"/>
            <a:ext cx="476250" cy="476250"/>
          </a:xfrm>
          <a:prstGeom prst="rect">
            <a:avLst/>
          </a:prstGeom>
        </p:spPr>
      </p:pic>
      <p:pic>
        <p:nvPicPr>
          <p:cNvPr id="20" name="Image 18" descr="preencoded.png"/>
          <p:cNvPicPr>
            <a:picLocks noChangeAspect="1"/>
          </p:cNvPicPr>
          <p:nvPr/>
        </p:nvPicPr>
        <p:blipFill>
          <a:blip r:embed="rId21"/>
          <a:stretch>
            <a:fillRect/>
          </a:stretch>
        </p:blipFill>
        <p:spPr>
          <a:xfrm>
            <a:off x="652463" y="3343275"/>
            <a:ext cx="238125" cy="266700"/>
          </a:xfrm>
          <a:prstGeom prst="rect">
            <a:avLst/>
          </a:prstGeom>
        </p:spPr>
      </p:pic>
      <p:pic>
        <p:nvPicPr>
          <p:cNvPr id="21" name="Image 19" descr="preencoded.png"/>
          <p:cNvPicPr>
            <a:picLocks noChangeAspect="1"/>
          </p:cNvPicPr>
          <p:nvPr/>
        </p:nvPicPr>
        <p:blipFill>
          <a:blip r:embed="rId22"/>
          <a:stretch>
            <a:fillRect/>
          </a:stretch>
        </p:blipFill>
        <p:spPr>
          <a:xfrm>
            <a:off x="3286125" y="3086100"/>
            <a:ext cx="2714625" cy="800100"/>
          </a:xfrm>
          <a:prstGeom prst="rect">
            <a:avLst/>
          </a:prstGeom>
        </p:spPr>
      </p:pic>
      <p:pic>
        <p:nvPicPr>
          <p:cNvPr id="22" name="Image 20" descr="preencoded.png"/>
          <p:cNvPicPr>
            <a:picLocks noChangeAspect="1"/>
          </p:cNvPicPr>
          <p:nvPr/>
        </p:nvPicPr>
        <p:blipFill>
          <a:blip r:embed="rId23"/>
          <a:stretch>
            <a:fillRect/>
          </a:stretch>
        </p:blipFill>
        <p:spPr>
          <a:xfrm>
            <a:off x="3438525" y="3238500"/>
            <a:ext cx="476250" cy="476250"/>
          </a:xfrm>
          <a:prstGeom prst="rect">
            <a:avLst/>
          </a:prstGeom>
        </p:spPr>
      </p:pic>
      <p:pic>
        <p:nvPicPr>
          <p:cNvPr id="23" name="Image 21" descr="preencoded.png"/>
          <p:cNvPicPr>
            <a:picLocks noChangeAspect="1"/>
          </p:cNvPicPr>
          <p:nvPr/>
        </p:nvPicPr>
        <p:blipFill>
          <a:blip r:embed="rId24"/>
          <a:stretch>
            <a:fillRect/>
          </a:stretch>
        </p:blipFill>
        <p:spPr>
          <a:xfrm>
            <a:off x="3590925" y="3343275"/>
            <a:ext cx="171450" cy="266700"/>
          </a:xfrm>
          <a:prstGeom prst="rect">
            <a:avLst/>
          </a:prstGeom>
        </p:spPr>
      </p:pic>
      <p:pic>
        <p:nvPicPr>
          <p:cNvPr id="24" name="Image 22" descr="preencoded.png"/>
          <p:cNvPicPr>
            <a:picLocks noChangeAspect="1"/>
          </p:cNvPicPr>
          <p:nvPr/>
        </p:nvPicPr>
        <p:blipFill>
          <a:blip r:embed="rId25"/>
          <a:stretch>
            <a:fillRect/>
          </a:stretch>
        </p:blipFill>
        <p:spPr>
          <a:xfrm>
            <a:off x="6191250" y="3086100"/>
            <a:ext cx="2714625" cy="800100"/>
          </a:xfrm>
          <a:prstGeom prst="rect">
            <a:avLst/>
          </a:prstGeom>
        </p:spPr>
      </p:pic>
      <p:pic>
        <p:nvPicPr>
          <p:cNvPr id="25" name="Image 23" descr="preencoded.png"/>
          <p:cNvPicPr>
            <a:picLocks noChangeAspect="1"/>
          </p:cNvPicPr>
          <p:nvPr/>
        </p:nvPicPr>
        <p:blipFill>
          <a:blip r:embed="rId26"/>
          <a:stretch>
            <a:fillRect/>
          </a:stretch>
        </p:blipFill>
        <p:spPr>
          <a:xfrm>
            <a:off x="6343650" y="3238500"/>
            <a:ext cx="476250" cy="476250"/>
          </a:xfrm>
          <a:prstGeom prst="rect">
            <a:avLst/>
          </a:prstGeom>
        </p:spPr>
      </p:pic>
      <p:pic>
        <p:nvPicPr>
          <p:cNvPr id="26" name="Image 24" descr="preencoded.png"/>
          <p:cNvPicPr>
            <a:picLocks noChangeAspect="1"/>
          </p:cNvPicPr>
          <p:nvPr/>
        </p:nvPicPr>
        <p:blipFill>
          <a:blip r:embed="rId27"/>
          <a:stretch>
            <a:fillRect/>
          </a:stretch>
        </p:blipFill>
        <p:spPr>
          <a:xfrm>
            <a:off x="9096375" y="3086100"/>
            <a:ext cx="2714625" cy="800100"/>
          </a:xfrm>
          <a:prstGeom prst="rect">
            <a:avLst/>
          </a:prstGeom>
        </p:spPr>
      </p:pic>
      <p:pic>
        <p:nvPicPr>
          <p:cNvPr id="27" name="Image 25" descr="preencoded.png"/>
          <p:cNvPicPr>
            <a:picLocks noChangeAspect="1"/>
          </p:cNvPicPr>
          <p:nvPr/>
        </p:nvPicPr>
        <p:blipFill>
          <a:blip r:embed="rId28"/>
          <a:stretch>
            <a:fillRect/>
          </a:stretch>
        </p:blipFill>
        <p:spPr>
          <a:xfrm>
            <a:off x="9248775" y="3238500"/>
            <a:ext cx="476250" cy="476250"/>
          </a:xfrm>
          <a:prstGeom prst="rect">
            <a:avLst/>
          </a:prstGeom>
        </p:spPr>
      </p:pic>
      <p:pic>
        <p:nvPicPr>
          <p:cNvPr id="28" name="Image 26" descr="preencoded.png"/>
          <p:cNvPicPr>
            <a:picLocks noChangeAspect="1"/>
          </p:cNvPicPr>
          <p:nvPr/>
        </p:nvPicPr>
        <p:blipFill>
          <a:blip r:embed="rId29"/>
          <a:stretch>
            <a:fillRect/>
          </a:stretch>
        </p:blipFill>
        <p:spPr>
          <a:xfrm>
            <a:off x="9367838" y="3343275"/>
            <a:ext cx="238125" cy="266700"/>
          </a:xfrm>
          <a:prstGeom prst="rect">
            <a:avLst/>
          </a:prstGeom>
        </p:spPr>
      </p:pic>
      <p:pic>
        <p:nvPicPr>
          <p:cNvPr id="29" name="Image 27" descr="preencoded.png"/>
          <p:cNvPicPr>
            <a:picLocks noChangeAspect="1"/>
          </p:cNvPicPr>
          <p:nvPr/>
        </p:nvPicPr>
        <p:blipFill>
          <a:blip r:embed="rId30"/>
          <a:stretch>
            <a:fillRect/>
          </a:stretch>
        </p:blipFill>
        <p:spPr>
          <a:xfrm>
            <a:off x="381000" y="4191000"/>
            <a:ext cx="11430000" cy="762000"/>
          </a:xfrm>
          <a:prstGeom prst="rect">
            <a:avLst/>
          </a:prstGeom>
        </p:spPr>
      </p:pic>
      <p:pic>
        <p:nvPicPr>
          <p:cNvPr id="30" name="Image 28" descr="preencoded.png"/>
          <p:cNvPicPr>
            <a:picLocks noChangeAspect="1"/>
          </p:cNvPicPr>
          <p:nvPr/>
        </p:nvPicPr>
        <p:blipFill>
          <a:blip r:embed="rId31"/>
          <a:stretch>
            <a:fillRect/>
          </a:stretch>
        </p:blipFill>
        <p:spPr>
          <a:xfrm>
            <a:off x="533400" y="4371975"/>
            <a:ext cx="152400" cy="152400"/>
          </a:xfrm>
          <a:prstGeom prst="rect">
            <a:avLst/>
          </a:prstGeom>
        </p:spPr>
      </p:pic>
      <p:sp>
        <p:nvSpPr>
          <p:cNvPr id="33" name="Text 0"/>
          <p:cNvSpPr/>
          <p:nvPr/>
        </p:nvSpPr>
        <p:spPr>
          <a:xfrm>
            <a:off x="457200" y="209550"/>
            <a:ext cx="4027468"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Supported Platforms</a:t>
            </a:r>
            <a:endParaRPr lang="en-US" sz="2250" dirty="0"/>
          </a:p>
        </p:txBody>
      </p:sp>
      <p:sp>
        <p:nvSpPr>
          <p:cNvPr id="34" name="Text 1"/>
          <p:cNvSpPr/>
          <p:nvPr/>
        </p:nvSpPr>
        <p:spPr>
          <a:xfrm>
            <a:off x="381000" y="1143000"/>
            <a:ext cx="114300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Elastic Beanstalk supports a wide array of programming languages, frameworks, and web servers, providing flexibility for developers.</a:t>
            </a:r>
            <a:endParaRPr lang="en-US" sz="1500" dirty="0"/>
          </a:p>
        </p:txBody>
      </p:sp>
      <p:sp>
        <p:nvSpPr>
          <p:cNvPr id="35" name="Text 2"/>
          <p:cNvSpPr/>
          <p:nvPr/>
        </p:nvSpPr>
        <p:spPr>
          <a:xfrm>
            <a:off x="1025277" y="2057400"/>
            <a:ext cx="1917948"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Go</a:t>
            </a:r>
            <a:endParaRPr lang="en-US" sz="1350" dirty="0"/>
          </a:p>
        </p:txBody>
      </p:sp>
      <p:sp>
        <p:nvSpPr>
          <p:cNvPr id="36" name="Text 3"/>
          <p:cNvSpPr/>
          <p:nvPr/>
        </p:nvSpPr>
        <p:spPr>
          <a:xfrm>
            <a:off x="1025277" y="2362200"/>
            <a:ext cx="1917948"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Simple, efficient programming language</a:t>
            </a:r>
            <a:endParaRPr lang="en-US" sz="1050" dirty="0"/>
          </a:p>
        </p:txBody>
      </p:sp>
      <p:sp>
        <p:nvSpPr>
          <p:cNvPr id="37" name="Text 4"/>
          <p:cNvSpPr/>
          <p:nvPr/>
        </p:nvSpPr>
        <p:spPr>
          <a:xfrm>
            <a:off x="4067175" y="2057400"/>
            <a:ext cx="1595289"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Java</a:t>
            </a:r>
            <a:endParaRPr lang="en-US" sz="1350" dirty="0"/>
          </a:p>
        </p:txBody>
      </p:sp>
      <p:sp>
        <p:nvSpPr>
          <p:cNvPr id="38" name="Text 5"/>
          <p:cNvSpPr/>
          <p:nvPr/>
        </p:nvSpPr>
        <p:spPr>
          <a:xfrm>
            <a:off x="4067175" y="2362200"/>
            <a:ext cx="1914346"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Apache Tomcat, Java SE</a:t>
            </a:r>
            <a:endParaRPr lang="en-US" sz="1050" dirty="0"/>
          </a:p>
        </p:txBody>
      </p:sp>
      <p:sp>
        <p:nvSpPr>
          <p:cNvPr id="39" name="Text 6"/>
          <p:cNvSpPr/>
          <p:nvPr/>
        </p:nvSpPr>
        <p:spPr>
          <a:xfrm>
            <a:off x="6866186" y="2057400"/>
            <a:ext cx="1887289"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.NET</a:t>
            </a:r>
            <a:endParaRPr lang="en-US" sz="1350" dirty="0"/>
          </a:p>
        </p:txBody>
      </p:sp>
      <p:sp>
        <p:nvSpPr>
          <p:cNvPr id="40" name="Text 7"/>
          <p:cNvSpPr/>
          <p:nvPr/>
        </p:nvSpPr>
        <p:spPr>
          <a:xfrm>
            <a:off x="6866186" y="2362200"/>
            <a:ext cx="1887289"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Windows Server, .NET Core on Linux</a:t>
            </a:r>
            <a:endParaRPr lang="en-US" sz="1050" dirty="0"/>
          </a:p>
        </p:txBody>
      </p:sp>
      <p:sp>
        <p:nvSpPr>
          <p:cNvPr id="41" name="Text 8"/>
          <p:cNvSpPr/>
          <p:nvPr/>
        </p:nvSpPr>
        <p:spPr>
          <a:xfrm>
            <a:off x="9841260" y="2057400"/>
            <a:ext cx="181734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Node.js</a:t>
            </a:r>
            <a:endParaRPr lang="en-US" sz="1350" dirty="0"/>
          </a:p>
        </p:txBody>
      </p:sp>
      <p:sp>
        <p:nvSpPr>
          <p:cNvPr id="42" name="Text 9"/>
          <p:cNvSpPr/>
          <p:nvPr/>
        </p:nvSpPr>
        <p:spPr>
          <a:xfrm>
            <a:off x="9841260" y="2362200"/>
            <a:ext cx="181734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Nginx or Apache HTTP Server</a:t>
            </a:r>
            <a:endParaRPr lang="en-US" sz="1050" dirty="0"/>
          </a:p>
        </p:txBody>
      </p:sp>
      <p:sp>
        <p:nvSpPr>
          <p:cNvPr id="43" name="Text 10"/>
          <p:cNvSpPr/>
          <p:nvPr/>
        </p:nvSpPr>
        <p:spPr>
          <a:xfrm>
            <a:off x="1162050" y="3238500"/>
            <a:ext cx="1360884"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PHP</a:t>
            </a:r>
            <a:endParaRPr lang="en-US" sz="1350" dirty="0"/>
          </a:p>
        </p:txBody>
      </p:sp>
      <p:sp>
        <p:nvSpPr>
          <p:cNvPr id="44" name="Text 11"/>
          <p:cNvSpPr/>
          <p:nvPr/>
        </p:nvSpPr>
        <p:spPr>
          <a:xfrm>
            <a:off x="1162050" y="3543300"/>
            <a:ext cx="1633061"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Apache HTTP Server</a:t>
            </a:r>
            <a:endParaRPr lang="en-US" sz="1050" dirty="0"/>
          </a:p>
        </p:txBody>
      </p:sp>
      <p:sp>
        <p:nvSpPr>
          <p:cNvPr id="45" name="Text 12"/>
          <p:cNvSpPr/>
          <p:nvPr/>
        </p:nvSpPr>
        <p:spPr>
          <a:xfrm>
            <a:off x="4067175" y="3238500"/>
            <a:ext cx="1360884"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Python</a:t>
            </a:r>
            <a:endParaRPr lang="en-US" sz="1350" dirty="0"/>
          </a:p>
        </p:txBody>
      </p:sp>
      <p:sp>
        <p:nvSpPr>
          <p:cNvPr id="46" name="Text 13"/>
          <p:cNvSpPr/>
          <p:nvPr/>
        </p:nvSpPr>
        <p:spPr>
          <a:xfrm>
            <a:off x="4067175" y="3543300"/>
            <a:ext cx="1633061"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Apache HTTP Server</a:t>
            </a:r>
            <a:endParaRPr lang="en-US" sz="1050" dirty="0"/>
          </a:p>
        </p:txBody>
      </p:sp>
      <p:sp>
        <p:nvSpPr>
          <p:cNvPr id="47" name="Text 14"/>
          <p:cNvSpPr/>
          <p:nvPr/>
        </p:nvSpPr>
        <p:spPr>
          <a:xfrm>
            <a:off x="6972300" y="3238500"/>
            <a:ext cx="1278582"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Ruby</a:t>
            </a:r>
            <a:endParaRPr lang="en-US" sz="1350" dirty="0"/>
          </a:p>
        </p:txBody>
      </p:sp>
      <p:sp>
        <p:nvSpPr>
          <p:cNvPr id="48" name="Text 15"/>
          <p:cNvSpPr/>
          <p:nvPr/>
        </p:nvSpPr>
        <p:spPr>
          <a:xfrm>
            <a:off x="6972300" y="3543300"/>
            <a:ext cx="1534299"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Passenger or Puma</a:t>
            </a:r>
            <a:endParaRPr lang="en-US" sz="1050" dirty="0"/>
          </a:p>
        </p:txBody>
      </p:sp>
      <p:sp>
        <p:nvSpPr>
          <p:cNvPr id="49" name="Text 16"/>
          <p:cNvSpPr/>
          <p:nvPr/>
        </p:nvSpPr>
        <p:spPr>
          <a:xfrm>
            <a:off x="9877425" y="3238500"/>
            <a:ext cx="1766441"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Docker</a:t>
            </a:r>
            <a:endParaRPr lang="en-US" sz="1350" dirty="0"/>
          </a:p>
        </p:txBody>
      </p:sp>
      <p:sp>
        <p:nvSpPr>
          <p:cNvPr id="50" name="Text 17"/>
          <p:cNvSpPr/>
          <p:nvPr/>
        </p:nvSpPr>
        <p:spPr>
          <a:xfrm>
            <a:off x="9877425" y="3543300"/>
            <a:ext cx="2119729"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Single and multi-container</a:t>
            </a:r>
            <a:endParaRPr lang="en-US" sz="1050" dirty="0"/>
          </a:p>
        </p:txBody>
      </p:sp>
      <p:sp>
        <p:nvSpPr>
          <p:cNvPr id="51" name="Text 18"/>
          <p:cNvSpPr/>
          <p:nvPr/>
        </p:nvSpPr>
        <p:spPr>
          <a:xfrm>
            <a:off x="762000" y="4343400"/>
            <a:ext cx="111252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 Elastic Beanstalk automatically configures the selected platform with the appropriate runtime environment, web server, and application server.</a:t>
            </a:r>
            <a:endParaRPr lang="en-US" sz="1200" dirty="0"/>
          </a:p>
        </p:txBody>
      </p:sp>
      <p:sp>
        <p:nvSpPr>
          <p:cNvPr id="52" name="Text 19"/>
          <p:cNvSpPr/>
          <p:nvPr/>
        </p:nvSpPr>
        <p:spPr>
          <a:xfrm>
            <a:off x="685800" y="6477000"/>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53" name="Text 20"/>
          <p:cNvSpPr/>
          <p:nvPr/>
        </p:nvSpPr>
        <p:spPr>
          <a:xfrm>
            <a:off x="11295608" y="6477000"/>
            <a:ext cx="52703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5917721"/>
          </a:xfrm>
          <a:prstGeom prst="rect">
            <a:avLst/>
          </a:prstGeom>
        </p:spPr>
      </p:pic>
      <p:pic>
        <p:nvPicPr>
          <p:cNvPr id="3" name="Image 1" descr="preencoded.png"/>
          <p:cNvPicPr>
            <a:picLocks noChangeAspect="1"/>
          </p:cNvPicPr>
          <p:nvPr/>
        </p:nvPicPr>
        <p:blipFill>
          <a:blip r:embed="rId4"/>
          <a:stretch>
            <a:fillRect/>
          </a:stretch>
        </p:blipFill>
        <p:spPr>
          <a:xfrm>
            <a:off x="9677400" y="426720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685800"/>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2362200"/>
            <a:ext cx="952500" cy="28575"/>
          </a:xfrm>
          <a:prstGeom prst="rect">
            <a:avLst/>
          </a:prstGeom>
        </p:spPr>
      </p:pic>
      <p:pic>
        <p:nvPicPr>
          <p:cNvPr id="7" name="Image 5" descr="preencoded.png"/>
          <p:cNvPicPr>
            <a:picLocks noChangeAspect="1"/>
          </p:cNvPicPr>
          <p:nvPr/>
        </p:nvPicPr>
        <p:blipFill>
          <a:blip r:embed="rId8"/>
          <a:stretch>
            <a:fillRect/>
          </a:stretch>
        </p:blipFill>
        <p:spPr>
          <a:xfrm>
            <a:off x="457200" y="2695575"/>
            <a:ext cx="5334000" cy="1771650"/>
          </a:xfrm>
          <a:prstGeom prst="rect">
            <a:avLst/>
          </a:prstGeom>
        </p:spPr>
      </p:pic>
      <p:pic>
        <p:nvPicPr>
          <p:cNvPr id="8" name="Image 6" descr="preencoded.png"/>
          <p:cNvPicPr>
            <a:picLocks noChangeAspect="1"/>
          </p:cNvPicPr>
          <p:nvPr/>
        </p:nvPicPr>
        <p:blipFill>
          <a:blip r:embed="rId9"/>
          <a:stretch>
            <a:fillRect/>
          </a:stretch>
        </p:blipFill>
        <p:spPr>
          <a:xfrm>
            <a:off x="685800" y="2924175"/>
            <a:ext cx="476250" cy="476250"/>
          </a:xfrm>
          <a:prstGeom prst="rect">
            <a:avLst/>
          </a:prstGeom>
        </p:spPr>
      </p:pic>
      <p:pic>
        <p:nvPicPr>
          <p:cNvPr id="9" name="Image 7" descr="preencoded.png"/>
          <p:cNvPicPr>
            <a:picLocks noChangeAspect="1"/>
          </p:cNvPicPr>
          <p:nvPr/>
        </p:nvPicPr>
        <p:blipFill>
          <a:blip r:embed="rId10"/>
          <a:stretch>
            <a:fillRect/>
          </a:stretch>
        </p:blipFill>
        <p:spPr>
          <a:xfrm>
            <a:off x="852488" y="3009900"/>
            <a:ext cx="142875" cy="304800"/>
          </a:xfrm>
          <a:prstGeom prst="rect">
            <a:avLst/>
          </a:prstGeom>
        </p:spPr>
      </p:pic>
      <p:pic>
        <p:nvPicPr>
          <p:cNvPr id="10" name="Image 8" descr="preencoded.png"/>
          <p:cNvPicPr>
            <a:picLocks noChangeAspect="1"/>
          </p:cNvPicPr>
          <p:nvPr/>
        </p:nvPicPr>
        <p:blipFill>
          <a:blip r:embed="rId11"/>
          <a:stretch>
            <a:fillRect/>
          </a:stretch>
        </p:blipFill>
        <p:spPr>
          <a:xfrm>
            <a:off x="457200" y="4772025"/>
            <a:ext cx="5334000" cy="990600"/>
          </a:xfrm>
          <a:prstGeom prst="rect">
            <a:avLst/>
          </a:prstGeom>
        </p:spPr>
      </p:pic>
      <p:pic>
        <p:nvPicPr>
          <p:cNvPr id="11" name="Image 9" descr="preencoded.png"/>
          <p:cNvPicPr>
            <a:picLocks noChangeAspect="1"/>
          </p:cNvPicPr>
          <p:nvPr/>
        </p:nvPicPr>
        <p:blipFill>
          <a:blip r:embed="rId12"/>
          <a:stretch>
            <a:fillRect/>
          </a:stretch>
        </p:blipFill>
        <p:spPr>
          <a:xfrm>
            <a:off x="685800" y="5029200"/>
            <a:ext cx="133350" cy="171450"/>
          </a:xfrm>
          <a:prstGeom prst="rect">
            <a:avLst/>
          </a:prstGeom>
        </p:spPr>
      </p:pic>
      <p:pic>
        <p:nvPicPr>
          <p:cNvPr id="12" name="Image 10" descr="preencoded.png"/>
          <p:cNvPicPr>
            <a:picLocks noChangeAspect="1"/>
          </p:cNvPicPr>
          <p:nvPr/>
        </p:nvPicPr>
        <p:blipFill>
          <a:blip r:embed="rId13"/>
          <a:stretch>
            <a:fillRect/>
          </a:stretch>
        </p:blipFill>
        <p:spPr>
          <a:xfrm>
            <a:off x="6096000" y="1981200"/>
            <a:ext cx="5638800" cy="800100"/>
          </a:xfrm>
          <a:prstGeom prst="rect">
            <a:avLst/>
          </a:prstGeom>
        </p:spPr>
      </p:pic>
      <p:pic>
        <p:nvPicPr>
          <p:cNvPr id="13" name="Image 11" descr="preencoded.png"/>
          <p:cNvPicPr>
            <a:picLocks noChangeAspect="1"/>
          </p:cNvPicPr>
          <p:nvPr/>
        </p:nvPicPr>
        <p:blipFill>
          <a:blip r:embed="rId14"/>
          <a:stretch>
            <a:fillRect/>
          </a:stretch>
        </p:blipFill>
        <p:spPr>
          <a:xfrm>
            <a:off x="6248400" y="2143125"/>
            <a:ext cx="476250" cy="476250"/>
          </a:xfrm>
          <a:prstGeom prst="rect">
            <a:avLst/>
          </a:prstGeom>
        </p:spPr>
      </p:pic>
      <p:pic>
        <p:nvPicPr>
          <p:cNvPr id="14" name="Image 12" descr="preencoded.png"/>
          <p:cNvPicPr>
            <a:picLocks noChangeAspect="1"/>
          </p:cNvPicPr>
          <p:nvPr/>
        </p:nvPicPr>
        <p:blipFill>
          <a:blip r:embed="rId15"/>
          <a:stretch>
            <a:fillRect/>
          </a:stretch>
        </p:blipFill>
        <p:spPr>
          <a:xfrm>
            <a:off x="6391275" y="2247900"/>
            <a:ext cx="190500" cy="266700"/>
          </a:xfrm>
          <a:prstGeom prst="rect">
            <a:avLst/>
          </a:prstGeom>
        </p:spPr>
      </p:pic>
      <p:pic>
        <p:nvPicPr>
          <p:cNvPr id="15" name="Image 13" descr="preencoded.png"/>
          <p:cNvPicPr>
            <a:picLocks noChangeAspect="1"/>
          </p:cNvPicPr>
          <p:nvPr/>
        </p:nvPicPr>
        <p:blipFill>
          <a:blip r:embed="rId13"/>
          <a:stretch>
            <a:fillRect/>
          </a:stretch>
        </p:blipFill>
        <p:spPr>
          <a:xfrm>
            <a:off x="6096000" y="2933700"/>
            <a:ext cx="5638800" cy="800100"/>
          </a:xfrm>
          <a:prstGeom prst="rect">
            <a:avLst/>
          </a:prstGeom>
        </p:spPr>
      </p:pic>
      <p:pic>
        <p:nvPicPr>
          <p:cNvPr id="16" name="Image 14" descr="preencoded.png"/>
          <p:cNvPicPr>
            <a:picLocks noChangeAspect="1"/>
          </p:cNvPicPr>
          <p:nvPr/>
        </p:nvPicPr>
        <p:blipFill>
          <a:blip r:embed="rId16"/>
          <a:stretch>
            <a:fillRect/>
          </a:stretch>
        </p:blipFill>
        <p:spPr>
          <a:xfrm>
            <a:off x="6248400" y="3095625"/>
            <a:ext cx="476250" cy="476250"/>
          </a:xfrm>
          <a:prstGeom prst="rect">
            <a:avLst/>
          </a:prstGeom>
        </p:spPr>
      </p:pic>
      <p:pic>
        <p:nvPicPr>
          <p:cNvPr id="17" name="Image 15" descr="preencoded.png"/>
          <p:cNvPicPr>
            <a:picLocks noChangeAspect="1"/>
          </p:cNvPicPr>
          <p:nvPr/>
        </p:nvPicPr>
        <p:blipFill>
          <a:blip r:embed="rId17"/>
          <a:stretch>
            <a:fillRect/>
          </a:stretch>
        </p:blipFill>
        <p:spPr>
          <a:xfrm>
            <a:off x="6367463" y="3200400"/>
            <a:ext cx="238125" cy="266700"/>
          </a:xfrm>
          <a:prstGeom prst="rect">
            <a:avLst/>
          </a:prstGeom>
        </p:spPr>
      </p:pic>
      <p:pic>
        <p:nvPicPr>
          <p:cNvPr id="18" name="Image 16" descr="preencoded.png"/>
          <p:cNvPicPr>
            <a:picLocks noChangeAspect="1"/>
          </p:cNvPicPr>
          <p:nvPr/>
        </p:nvPicPr>
        <p:blipFill>
          <a:blip r:embed="rId13"/>
          <a:stretch>
            <a:fillRect/>
          </a:stretch>
        </p:blipFill>
        <p:spPr>
          <a:xfrm>
            <a:off x="6096000" y="3886200"/>
            <a:ext cx="5638800" cy="800100"/>
          </a:xfrm>
          <a:prstGeom prst="rect">
            <a:avLst/>
          </a:prstGeom>
        </p:spPr>
      </p:pic>
      <p:pic>
        <p:nvPicPr>
          <p:cNvPr id="19" name="Image 17" descr="preencoded.png"/>
          <p:cNvPicPr>
            <a:picLocks noChangeAspect="1"/>
          </p:cNvPicPr>
          <p:nvPr/>
        </p:nvPicPr>
        <p:blipFill>
          <a:blip r:embed="rId18"/>
          <a:stretch>
            <a:fillRect/>
          </a:stretch>
        </p:blipFill>
        <p:spPr>
          <a:xfrm>
            <a:off x="6248400" y="4048125"/>
            <a:ext cx="476250" cy="476250"/>
          </a:xfrm>
          <a:prstGeom prst="rect">
            <a:avLst/>
          </a:prstGeom>
        </p:spPr>
      </p:pic>
      <p:pic>
        <p:nvPicPr>
          <p:cNvPr id="20" name="Image 18" descr="preencoded.png"/>
          <p:cNvPicPr>
            <a:picLocks noChangeAspect="1"/>
          </p:cNvPicPr>
          <p:nvPr/>
        </p:nvPicPr>
        <p:blipFill>
          <a:blip r:embed="rId19"/>
          <a:stretch>
            <a:fillRect/>
          </a:stretch>
        </p:blipFill>
        <p:spPr>
          <a:xfrm>
            <a:off x="6367463" y="4152900"/>
            <a:ext cx="238125" cy="266700"/>
          </a:xfrm>
          <a:prstGeom prst="rect">
            <a:avLst/>
          </a:prstGeom>
        </p:spPr>
      </p:pic>
      <p:pic>
        <p:nvPicPr>
          <p:cNvPr id="21" name="Image 19" descr="preencoded.png"/>
          <p:cNvPicPr>
            <a:picLocks noChangeAspect="1"/>
          </p:cNvPicPr>
          <p:nvPr/>
        </p:nvPicPr>
        <p:blipFill>
          <a:blip r:embed="rId13"/>
          <a:stretch>
            <a:fillRect/>
          </a:stretch>
        </p:blipFill>
        <p:spPr>
          <a:xfrm>
            <a:off x="6096000" y="4838700"/>
            <a:ext cx="5638800" cy="800100"/>
          </a:xfrm>
          <a:prstGeom prst="rect">
            <a:avLst/>
          </a:prstGeom>
        </p:spPr>
      </p:pic>
      <p:pic>
        <p:nvPicPr>
          <p:cNvPr id="22" name="Image 20" descr="preencoded.png"/>
          <p:cNvPicPr>
            <a:picLocks noChangeAspect="1"/>
          </p:cNvPicPr>
          <p:nvPr/>
        </p:nvPicPr>
        <p:blipFill>
          <a:blip r:embed="rId20"/>
          <a:stretch>
            <a:fillRect/>
          </a:stretch>
        </p:blipFill>
        <p:spPr>
          <a:xfrm>
            <a:off x="6248400" y="5000625"/>
            <a:ext cx="476250" cy="476250"/>
          </a:xfrm>
          <a:prstGeom prst="rect">
            <a:avLst/>
          </a:prstGeom>
        </p:spPr>
      </p:pic>
      <p:pic>
        <p:nvPicPr>
          <p:cNvPr id="23" name="Image 21" descr="preencoded.png"/>
          <p:cNvPicPr>
            <a:picLocks noChangeAspect="1"/>
          </p:cNvPicPr>
          <p:nvPr/>
        </p:nvPicPr>
        <p:blipFill>
          <a:blip r:embed="rId21"/>
          <a:stretch>
            <a:fillRect/>
          </a:stretch>
        </p:blipFill>
        <p:spPr>
          <a:xfrm>
            <a:off x="6400800" y="5105400"/>
            <a:ext cx="171450" cy="266700"/>
          </a:xfrm>
          <a:prstGeom prst="rect">
            <a:avLst/>
          </a:prstGeom>
        </p:spPr>
      </p:pic>
      <p:sp>
        <p:nvSpPr>
          <p:cNvPr id="26" name="Text 0"/>
          <p:cNvSpPr/>
          <p:nvPr/>
        </p:nvSpPr>
        <p:spPr>
          <a:xfrm>
            <a:off x="457200" y="209550"/>
            <a:ext cx="2640151"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Pricing Model</a:t>
            </a:r>
            <a:endParaRPr lang="en-US" sz="2250" dirty="0"/>
          </a:p>
        </p:txBody>
      </p:sp>
      <p:sp>
        <p:nvSpPr>
          <p:cNvPr id="27" name="Text 1"/>
          <p:cNvSpPr/>
          <p:nvPr/>
        </p:nvSpPr>
        <p:spPr>
          <a:xfrm>
            <a:off x="457200" y="1219200"/>
            <a:ext cx="5334000" cy="914400"/>
          </a:xfrm>
          <a:prstGeom prst="rect">
            <a:avLst/>
          </a:prstGeom>
          <a:noFill/>
          <a:ln/>
        </p:spPr>
        <p:txBody>
          <a:bodyPr vert="horz" wrap="square" lIns="0" tIns="0" rIns="0" bIns="0" rtlCol="0" anchor="t"/>
          <a:lstStyle/>
          <a:p>
            <a:pPr marL="0" indent="0">
              <a:lnSpc>
                <a:spcPts val="2400"/>
              </a:lnSpc>
              <a:buNone/>
            </a:pPr>
            <a:r>
              <a:rPr lang="en-US" sz="1800" dirty="0">
                <a:solidFill>
                  <a:srgbClr val="1F2937"/>
                </a:solidFill>
                <a:latin typeface="ui-sans-serif" pitchFamily="34" charset="0"/>
                <a:ea typeface="ui-sans-serif" pitchFamily="34" charset="-122"/>
                <a:cs typeface="ui-sans-serif" pitchFamily="34" charset="-120"/>
              </a:rPr>
              <a:t>Elastic Beanstalk is free to use. You only pay for the underlying AWS resources consumed by your application.</a:t>
            </a:r>
            <a:endParaRPr lang="en-US" sz="1800" dirty="0"/>
          </a:p>
        </p:txBody>
      </p:sp>
      <p:sp>
        <p:nvSpPr>
          <p:cNvPr id="28" name="Text 2"/>
          <p:cNvSpPr/>
          <p:nvPr/>
        </p:nvSpPr>
        <p:spPr>
          <a:xfrm>
            <a:off x="1314450" y="3028950"/>
            <a:ext cx="269194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Pay-As-You-Go Model</a:t>
            </a:r>
            <a:endParaRPr lang="en-US" sz="1500" dirty="0"/>
          </a:p>
        </p:txBody>
      </p:sp>
      <p:sp>
        <p:nvSpPr>
          <p:cNvPr id="29" name="Text 3"/>
          <p:cNvSpPr/>
          <p:nvPr/>
        </p:nvSpPr>
        <p:spPr>
          <a:xfrm>
            <a:off x="1295400" y="3552825"/>
            <a:ext cx="42672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AWS Elastic Beanstalk itself is free of charge. There are no upfront fees, minimum commitments, or long-term contracts.</a:t>
            </a:r>
            <a:endParaRPr lang="en-US" sz="1200" dirty="0"/>
          </a:p>
        </p:txBody>
      </p:sp>
      <p:sp>
        <p:nvSpPr>
          <p:cNvPr id="30" name="Text 4"/>
          <p:cNvSpPr/>
          <p:nvPr/>
        </p:nvSpPr>
        <p:spPr>
          <a:xfrm>
            <a:off x="895350" y="5000625"/>
            <a:ext cx="4876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 This cost-effective approach ensures you only pay for the resources actively utilized by your application.</a:t>
            </a:r>
            <a:endParaRPr lang="en-US" sz="1350" dirty="0"/>
          </a:p>
        </p:txBody>
      </p:sp>
      <p:sp>
        <p:nvSpPr>
          <p:cNvPr id="31" name="Text 5"/>
          <p:cNvSpPr/>
          <p:nvPr/>
        </p:nvSpPr>
        <p:spPr>
          <a:xfrm>
            <a:off x="6096000" y="1447800"/>
            <a:ext cx="67665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Underlying AWS Resources You Pay For:</a:t>
            </a:r>
            <a:endParaRPr lang="en-US" sz="1800" dirty="0"/>
          </a:p>
        </p:txBody>
      </p:sp>
      <p:sp>
        <p:nvSpPr>
          <p:cNvPr id="32" name="Text 6"/>
          <p:cNvSpPr/>
          <p:nvPr/>
        </p:nvSpPr>
        <p:spPr>
          <a:xfrm>
            <a:off x="6877050" y="2133600"/>
            <a:ext cx="4515922"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Amazon EC2 Instances</a:t>
            </a:r>
            <a:endParaRPr lang="en-US" sz="1350" dirty="0"/>
          </a:p>
        </p:txBody>
      </p:sp>
      <p:sp>
        <p:nvSpPr>
          <p:cNvPr id="33" name="Text 7"/>
          <p:cNvSpPr/>
          <p:nvPr/>
        </p:nvSpPr>
        <p:spPr>
          <a:xfrm>
            <a:off x="6877050" y="2400300"/>
            <a:ext cx="451592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Virtual servers that host and run your application</a:t>
            </a:r>
            <a:endParaRPr lang="en-US" sz="1200" dirty="0"/>
          </a:p>
        </p:txBody>
      </p:sp>
      <p:sp>
        <p:nvSpPr>
          <p:cNvPr id="34" name="Text 8"/>
          <p:cNvSpPr/>
          <p:nvPr/>
        </p:nvSpPr>
        <p:spPr>
          <a:xfrm>
            <a:off x="6877050" y="3086100"/>
            <a:ext cx="3872805"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Elastic Load Balancers</a:t>
            </a:r>
            <a:endParaRPr lang="en-US" sz="1350" dirty="0"/>
          </a:p>
        </p:txBody>
      </p:sp>
      <p:sp>
        <p:nvSpPr>
          <p:cNvPr id="35" name="Text 9"/>
          <p:cNvSpPr/>
          <p:nvPr/>
        </p:nvSpPr>
        <p:spPr>
          <a:xfrm>
            <a:off x="6877050" y="3352800"/>
            <a:ext cx="387280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Distribute traffic across multiple instances</a:t>
            </a:r>
            <a:endParaRPr lang="en-US" sz="1200" dirty="0"/>
          </a:p>
        </p:txBody>
      </p:sp>
      <p:sp>
        <p:nvSpPr>
          <p:cNvPr id="36" name="Text 10"/>
          <p:cNvSpPr/>
          <p:nvPr/>
        </p:nvSpPr>
        <p:spPr>
          <a:xfrm>
            <a:off x="6877050" y="4038600"/>
            <a:ext cx="3633311"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Amazon S3 Storage</a:t>
            </a:r>
            <a:endParaRPr lang="en-US" sz="1350" dirty="0"/>
          </a:p>
        </p:txBody>
      </p:sp>
      <p:sp>
        <p:nvSpPr>
          <p:cNvPr id="37" name="Text 11"/>
          <p:cNvSpPr/>
          <p:nvPr/>
        </p:nvSpPr>
        <p:spPr>
          <a:xfrm>
            <a:off x="6877050" y="4305300"/>
            <a:ext cx="363331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For application source bundles and logs</a:t>
            </a:r>
            <a:endParaRPr lang="en-US" sz="1200" dirty="0"/>
          </a:p>
        </p:txBody>
      </p:sp>
      <p:sp>
        <p:nvSpPr>
          <p:cNvPr id="38" name="Text 12"/>
          <p:cNvSpPr/>
          <p:nvPr/>
        </p:nvSpPr>
        <p:spPr>
          <a:xfrm>
            <a:off x="6877050" y="4991100"/>
            <a:ext cx="3125926"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Amazon RDS (if used)</a:t>
            </a:r>
            <a:endParaRPr lang="en-US" sz="1350" dirty="0"/>
          </a:p>
        </p:txBody>
      </p:sp>
      <p:sp>
        <p:nvSpPr>
          <p:cNvPr id="39" name="Text 13"/>
          <p:cNvSpPr/>
          <p:nvPr/>
        </p:nvSpPr>
        <p:spPr>
          <a:xfrm>
            <a:off x="6877050" y="5257800"/>
            <a:ext cx="312592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For managed relational databases</a:t>
            </a:r>
            <a:endParaRPr lang="en-US" sz="1200" dirty="0"/>
          </a:p>
        </p:txBody>
      </p:sp>
      <p:sp>
        <p:nvSpPr>
          <p:cNvPr id="40" name="Text 14"/>
          <p:cNvSpPr/>
          <p:nvPr/>
        </p:nvSpPr>
        <p:spPr>
          <a:xfrm>
            <a:off x="685800" y="6477000"/>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41" name="Text 15"/>
          <p:cNvSpPr/>
          <p:nvPr/>
        </p:nvSpPr>
        <p:spPr>
          <a:xfrm>
            <a:off x="11295608" y="6477000"/>
            <a:ext cx="52703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939854"/>
          </a:xfrm>
          <a:prstGeom prst="rect">
            <a:avLst/>
          </a:prstGeom>
        </p:spPr>
      </p:pic>
      <p:pic>
        <p:nvPicPr>
          <p:cNvPr id="3" name="Image 1" descr="preencoded.png"/>
          <p:cNvPicPr>
            <a:picLocks noChangeAspect="1"/>
          </p:cNvPicPr>
          <p:nvPr/>
        </p:nvPicPr>
        <p:blipFill>
          <a:blip r:embed="rId4"/>
          <a:stretch>
            <a:fillRect/>
          </a:stretch>
        </p:blipFill>
        <p:spPr>
          <a:xfrm>
            <a:off x="9677400" y="5034855"/>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839093"/>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2057400"/>
            <a:ext cx="952500" cy="28575"/>
          </a:xfrm>
          <a:prstGeom prst="rect">
            <a:avLst/>
          </a:prstGeom>
        </p:spPr>
      </p:pic>
      <p:pic>
        <p:nvPicPr>
          <p:cNvPr id="7" name="Image 5" descr="preencoded.png"/>
          <p:cNvPicPr>
            <a:picLocks noChangeAspect="1"/>
          </p:cNvPicPr>
          <p:nvPr/>
        </p:nvPicPr>
        <p:blipFill>
          <a:blip r:embed="rId8"/>
          <a:stretch>
            <a:fillRect/>
          </a:stretch>
        </p:blipFill>
        <p:spPr>
          <a:xfrm>
            <a:off x="457200" y="2390775"/>
            <a:ext cx="3606701" cy="2419350"/>
          </a:xfrm>
          <a:prstGeom prst="rect">
            <a:avLst/>
          </a:prstGeom>
        </p:spPr>
      </p:pic>
      <p:pic>
        <p:nvPicPr>
          <p:cNvPr id="8" name="Image 6" descr="preencoded.png"/>
          <p:cNvPicPr>
            <a:picLocks noChangeAspect="1"/>
          </p:cNvPicPr>
          <p:nvPr/>
        </p:nvPicPr>
        <p:blipFill>
          <a:blip r:embed="rId9"/>
          <a:stretch>
            <a:fillRect/>
          </a:stretch>
        </p:blipFill>
        <p:spPr>
          <a:xfrm>
            <a:off x="685800" y="2619375"/>
            <a:ext cx="476250" cy="476250"/>
          </a:xfrm>
          <a:prstGeom prst="rect">
            <a:avLst/>
          </a:prstGeom>
        </p:spPr>
      </p:pic>
      <p:pic>
        <p:nvPicPr>
          <p:cNvPr id="9" name="Image 7" descr="preencoded.png"/>
          <p:cNvPicPr>
            <a:picLocks noChangeAspect="1"/>
          </p:cNvPicPr>
          <p:nvPr/>
        </p:nvPicPr>
        <p:blipFill>
          <a:blip r:embed="rId10"/>
          <a:stretch>
            <a:fillRect/>
          </a:stretch>
        </p:blipFill>
        <p:spPr>
          <a:xfrm>
            <a:off x="814388" y="2724150"/>
            <a:ext cx="219075" cy="266700"/>
          </a:xfrm>
          <a:prstGeom prst="rect">
            <a:avLst/>
          </a:prstGeom>
        </p:spPr>
      </p:pic>
      <p:pic>
        <p:nvPicPr>
          <p:cNvPr id="10" name="Image 8" descr="preencoded.png"/>
          <p:cNvPicPr>
            <a:picLocks noChangeAspect="1"/>
          </p:cNvPicPr>
          <p:nvPr/>
        </p:nvPicPr>
        <p:blipFill>
          <a:blip r:embed="rId11"/>
          <a:stretch>
            <a:fillRect/>
          </a:stretch>
        </p:blipFill>
        <p:spPr>
          <a:xfrm>
            <a:off x="4292501" y="2390775"/>
            <a:ext cx="3606850" cy="2419350"/>
          </a:xfrm>
          <a:prstGeom prst="rect">
            <a:avLst/>
          </a:prstGeom>
        </p:spPr>
      </p:pic>
      <p:pic>
        <p:nvPicPr>
          <p:cNvPr id="11" name="Image 9" descr="preencoded.png"/>
          <p:cNvPicPr>
            <a:picLocks noChangeAspect="1"/>
          </p:cNvPicPr>
          <p:nvPr/>
        </p:nvPicPr>
        <p:blipFill>
          <a:blip r:embed="rId12"/>
          <a:stretch>
            <a:fillRect/>
          </a:stretch>
        </p:blipFill>
        <p:spPr>
          <a:xfrm>
            <a:off x="4521101" y="2619375"/>
            <a:ext cx="476250" cy="476250"/>
          </a:xfrm>
          <a:prstGeom prst="rect">
            <a:avLst/>
          </a:prstGeom>
        </p:spPr>
      </p:pic>
      <p:pic>
        <p:nvPicPr>
          <p:cNvPr id="12" name="Image 10" descr="preencoded.png"/>
          <p:cNvPicPr>
            <a:picLocks noChangeAspect="1"/>
          </p:cNvPicPr>
          <p:nvPr/>
        </p:nvPicPr>
        <p:blipFill>
          <a:blip r:embed="rId13"/>
          <a:stretch>
            <a:fillRect/>
          </a:stretch>
        </p:blipFill>
        <p:spPr>
          <a:xfrm>
            <a:off x="4640163" y="2724150"/>
            <a:ext cx="238125" cy="266700"/>
          </a:xfrm>
          <a:prstGeom prst="rect">
            <a:avLst/>
          </a:prstGeom>
        </p:spPr>
      </p:pic>
      <p:pic>
        <p:nvPicPr>
          <p:cNvPr id="13" name="Image 11" descr="preencoded.png"/>
          <p:cNvPicPr>
            <a:picLocks noChangeAspect="1"/>
          </p:cNvPicPr>
          <p:nvPr/>
        </p:nvPicPr>
        <p:blipFill>
          <a:blip r:embed="rId14"/>
          <a:stretch>
            <a:fillRect/>
          </a:stretch>
        </p:blipFill>
        <p:spPr>
          <a:xfrm>
            <a:off x="8127950" y="2390775"/>
            <a:ext cx="3606701" cy="2419350"/>
          </a:xfrm>
          <a:prstGeom prst="rect">
            <a:avLst/>
          </a:prstGeom>
        </p:spPr>
      </p:pic>
      <p:pic>
        <p:nvPicPr>
          <p:cNvPr id="14" name="Image 12" descr="preencoded.png"/>
          <p:cNvPicPr>
            <a:picLocks noChangeAspect="1"/>
          </p:cNvPicPr>
          <p:nvPr/>
        </p:nvPicPr>
        <p:blipFill>
          <a:blip r:embed="rId15"/>
          <a:stretch>
            <a:fillRect/>
          </a:stretch>
        </p:blipFill>
        <p:spPr>
          <a:xfrm>
            <a:off x="8356550" y="2619375"/>
            <a:ext cx="476250" cy="476250"/>
          </a:xfrm>
          <a:prstGeom prst="rect">
            <a:avLst/>
          </a:prstGeom>
        </p:spPr>
      </p:pic>
      <p:pic>
        <p:nvPicPr>
          <p:cNvPr id="15" name="Image 13" descr="preencoded.png"/>
          <p:cNvPicPr>
            <a:picLocks noChangeAspect="1"/>
          </p:cNvPicPr>
          <p:nvPr/>
        </p:nvPicPr>
        <p:blipFill>
          <a:blip r:embed="rId16"/>
          <a:stretch>
            <a:fillRect/>
          </a:stretch>
        </p:blipFill>
        <p:spPr>
          <a:xfrm>
            <a:off x="8475613" y="2724150"/>
            <a:ext cx="238125" cy="266700"/>
          </a:xfrm>
          <a:prstGeom prst="rect">
            <a:avLst/>
          </a:prstGeom>
        </p:spPr>
      </p:pic>
      <p:pic>
        <p:nvPicPr>
          <p:cNvPr id="16" name="Image 14" descr="preencoded.png"/>
          <p:cNvPicPr>
            <a:picLocks noChangeAspect="1"/>
          </p:cNvPicPr>
          <p:nvPr/>
        </p:nvPicPr>
        <p:blipFill>
          <a:blip r:embed="rId17"/>
          <a:stretch>
            <a:fillRect/>
          </a:stretch>
        </p:blipFill>
        <p:spPr>
          <a:xfrm>
            <a:off x="444476" y="4907357"/>
            <a:ext cx="5334000" cy="1864917"/>
          </a:xfrm>
          <a:prstGeom prst="rect">
            <a:avLst/>
          </a:prstGeom>
        </p:spPr>
      </p:pic>
      <p:pic>
        <p:nvPicPr>
          <p:cNvPr id="17" name="Image 15" descr="preencoded.png"/>
          <p:cNvPicPr>
            <a:picLocks noChangeAspect="1"/>
          </p:cNvPicPr>
          <p:nvPr/>
        </p:nvPicPr>
        <p:blipFill>
          <a:blip r:embed="rId18"/>
          <a:stretch>
            <a:fillRect/>
          </a:stretch>
        </p:blipFill>
        <p:spPr>
          <a:xfrm>
            <a:off x="685800" y="5035139"/>
            <a:ext cx="190500" cy="190500"/>
          </a:xfrm>
          <a:prstGeom prst="rect">
            <a:avLst/>
          </a:prstGeom>
        </p:spPr>
      </p:pic>
      <p:pic>
        <p:nvPicPr>
          <p:cNvPr id="18" name="Image 16" descr="preencoded.png"/>
          <p:cNvPicPr>
            <a:picLocks noChangeAspect="1"/>
          </p:cNvPicPr>
          <p:nvPr/>
        </p:nvPicPr>
        <p:blipFill>
          <a:blip r:embed="rId19"/>
          <a:stretch>
            <a:fillRect/>
          </a:stretch>
        </p:blipFill>
        <p:spPr>
          <a:xfrm>
            <a:off x="6400800" y="4923713"/>
            <a:ext cx="5334000" cy="1848561"/>
          </a:xfrm>
          <a:prstGeom prst="rect">
            <a:avLst/>
          </a:prstGeom>
        </p:spPr>
      </p:pic>
      <p:pic>
        <p:nvPicPr>
          <p:cNvPr id="19" name="Image 17" descr="preencoded.png"/>
          <p:cNvPicPr>
            <a:picLocks noChangeAspect="1"/>
          </p:cNvPicPr>
          <p:nvPr/>
        </p:nvPicPr>
        <p:blipFill>
          <a:blip r:embed="rId20"/>
          <a:stretch>
            <a:fillRect/>
          </a:stretch>
        </p:blipFill>
        <p:spPr>
          <a:xfrm>
            <a:off x="6629400" y="5026511"/>
            <a:ext cx="190500" cy="190500"/>
          </a:xfrm>
          <a:prstGeom prst="rect">
            <a:avLst/>
          </a:prstGeom>
        </p:spPr>
      </p:pic>
      <p:sp>
        <p:nvSpPr>
          <p:cNvPr id="22" name="Text 0"/>
          <p:cNvSpPr/>
          <p:nvPr/>
        </p:nvSpPr>
        <p:spPr>
          <a:xfrm>
            <a:off x="457200" y="209550"/>
            <a:ext cx="2171521"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Limitations</a:t>
            </a:r>
            <a:endParaRPr lang="en-US" sz="2250" dirty="0"/>
          </a:p>
        </p:txBody>
      </p:sp>
      <p:sp>
        <p:nvSpPr>
          <p:cNvPr id="23" name="Text 1"/>
          <p:cNvSpPr/>
          <p:nvPr/>
        </p:nvSpPr>
        <p:spPr>
          <a:xfrm>
            <a:off x="457200" y="1219200"/>
            <a:ext cx="11277600" cy="609600"/>
          </a:xfrm>
          <a:prstGeom prst="rect">
            <a:avLst/>
          </a:prstGeom>
          <a:noFill/>
          <a:ln/>
        </p:spPr>
        <p:txBody>
          <a:bodyPr vert="horz" wrap="square" lIns="0" tIns="0" rIns="0" bIns="0" rtlCol="0" anchor="t"/>
          <a:lstStyle/>
          <a:p>
            <a:pPr marL="0" indent="0">
              <a:lnSpc>
                <a:spcPts val="2400"/>
              </a:lnSpc>
              <a:buNone/>
            </a:pPr>
            <a:r>
              <a:rPr lang="en-US" sz="1800" dirty="0">
                <a:solidFill>
                  <a:srgbClr val="1F2937"/>
                </a:solidFill>
                <a:latin typeface="ui-sans-serif" pitchFamily="34" charset="0"/>
                <a:ea typeface="ui-sans-serif" pitchFamily="34" charset="-122"/>
                <a:cs typeface="ui-sans-serif" pitchFamily="34" charset="-120"/>
              </a:rPr>
              <a:t>While powerful, Elastic Beanstalk has some limitations that may make it unsuitable for certain use cases:</a:t>
            </a:r>
            <a:endParaRPr lang="en-US" sz="1800" dirty="0"/>
          </a:p>
        </p:txBody>
      </p:sp>
      <p:sp>
        <p:nvSpPr>
          <p:cNvPr id="24" name="Text 2"/>
          <p:cNvSpPr/>
          <p:nvPr/>
        </p:nvSpPr>
        <p:spPr>
          <a:xfrm>
            <a:off x="685800" y="3248025"/>
            <a:ext cx="3149501"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Complex Container Orchestration</a:t>
            </a:r>
            <a:endParaRPr lang="en-US" sz="1500" dirty="0"/>
          </a:p>
        </p:txBody>
      </p:sp>
      <p:sp>
        <p:nvSpPr>
          <p:cNvPr id="25" name="Text 3"/>
          <p:cNvSpPr/>
          <p:nvPr/>
        </p:nvSpPr>
        <p:spPr>
          <a:xfrm>
            <a:off x="685800" y="3895725"/>
            <a:ext cx="3149501"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Less granular control for complex container orchestration compared to Amazon ECS or EKS</a:t>
            </a:r>
            <a:endParaRPr lang="en-US" sz="1200" dirty="0"/>
          </a:p>
        </p:txBody>
      </p:sp>
      <p:sp>
        <p:nvSpPr>
          <p:cNvPr id="26" name="Text 4"/>
          <p:cNvSpPr/>
          <p:nvPr/>
        </p:nvSpPr>
        <p:spPr>
          <a:xfrm>
            <a:off x="4521101" y="3248025"/>
            <a:ext cx="314965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Infrastructure-as-Code Flexibility</a:t>
            </a:r>
            <a:endParaRPr lang="en-US" sz="1500" dirty="0"/>
          </a:p>
        </p:txBody>
      </p:sp>
      <p:sp>
        <p:nvSpPr>
          <p:cNvPr id="27" name="Text 5"/>
          <p:cNvSpPr/>
          <p:nvPr/>
        </p:nvSpPr>
        <p:spPr>
          <a:xfrm>
            <a:off x="4521101" y="3895725"/>
            <a:ext cx="31496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Not as extensive as dedicated tools like CloudFormation or Terraform</a:t>
            </a:r>
            <a:endParaRPr lang="en-US" sz="1200" dirty="0"/>
          </a:p>
        </p:txBody>
      </p:sp>
      <p:sp>
        <p:nvSpPr>
          <p:cNvPr id="28" name="Text 6"/>
          <p:cNvSpPr/>
          <p:nvPr/>
        </p:nvSpPr>
        <p:spPr>
          <a:xfrm>
            <a:off x="8356550" y="3248025"/>
            <a:ext cx="37794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Serverless Architectures</a:t>
            </a:r>
            <a:endParaRPr lang="en-US" sz="1500" dirty="0"/>
          </a:p>
        </p:txBody>
      </p:sp>
      <p:sp>
        <p:nvSpPr>
          <p:cNvPr id="29" name="Text 7"/>
          <p:cNvSpPr/>
          <p:nvPr/>
        </p:nvSpPr>
        <p:spPr>
          <a:xfrm>
            <a:off x="8356550" y="3629025"/>
            <a:ext cx="3149501"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Not ideally suited for event-driven or serverless architectures where AWS Lambda would be more appropriate</a:t>
            </a:r>
            <a:endParaRPr lang="en-US" sz="1200" dirty="0"/>
          </a:p>
        </p:txBody>
      </p:sp>
      <p:sp>
        <p:nvSpPr>
          <p:cNvPr id="30" name="Text 8"/>
          <p:cNvSpPr/>
          <p:nvPr/>
        </p:nvSpPr>
        <p:spPr>
          <a:xfrm>
            <a:off x="952500" y="4971151"/>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 When Elastic Beanstalk May Not Be Ideal</a:t>
            </a:r>
            <a:endParaRPr lang="en-US" sz="1500" dirty="0"/>
          </a:p>
        </p:txBody>
      </p:sp>
      <p:sp>
        <p:nvSpPr>
          <p:cNvPr id="31" name="Text 9"/>
          <p:cNvSpPr/>
          <p:nvPr/>
        </p:nvSpPr>
        <p:spPr>
          <a:xfrm>
            <a:off x="692126" y="5449199"/>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Applications requiring fine-grained control over container orchestration</a:t>
            </a:r>
            <a:endParaRPr lang="en-US" sz="1200" dirty="0"/>
          </a:p>
        </p:txBody>
      </p:sp>
      <p:sp>
        <p:nvSpPr>
          <p:cNvPr id="32" name="Text 10"/>
          <p:cNvSpPr/>
          <p:nvPr/>
        </p:nvSpPr>
        <p:spPr>
          <a:xfrm>
            <a:off x="685800" y="5748435"/>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Projects with extensive Infrastructure-as-Code requirements</a:t>
            </a:r>
            <a:endParaRPr lang="en-US" sz="1200" dirty="0"/>
          </a:p>
        </p:txBody>
      </p:sp>
      <p:sp>
        <p:nvSpPr>
          <p:cNvPr id="33" name="Text 11"/>
          <p:cNvSpPr/>
          <p:nvPr/>
        </p:nvSpPr>
        <p:spPr>
          <a:xfrm>
            <a:off x="679600" y="6049998"/>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Event-driven architectures with high message throughput</a:t>
            </a:r>
            <a:endParaRPr lang="en-US" sz="1200" dirty="0"/>
          </a:p>
        </p:txBody>
      </p:sp>
      <p:sp>
        <p:nvSpPr>
          <p:cNvPr id="34" name="Text 12"/>
          <p:cNvSpPr/>
          <p:nvPr/>
        </p:nvSpPr>
        <p:spPr>
          <a:xfrm>
            <a:off x="679600" y="6343470"/>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Use cases requiring deep customization of AWS resources</a:t>
            </a:r>
            <a:endParaRPr lang="en-US" sz="1200" dirty="0"/>
          </a:p>
        </p:txBody>
      </p:sp>
      <p:sp>
        <p:nvSpPr>
          <p:cNvPr id="35" name="Text 13"/>
          <p:cNvSpPr/>
          <p:nvPr/>
        </p:nvSpPr>
        <p:spPr>
          <a:xfrm>
            <a:off x="6896100" y="4971153"/>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 Consider Alternative Services</a:t>
            </a:r>
            <a:endParaRPr lang="en-US" sz="1500" dirty="0"/>
          </a:p>
        </p:txBody>
      </p:sp>
      <p:sp>
        <p:nvSpPr>
          <p:cNvPr id="36" name="Text 14"/>
          <p:cNvSpPr/>
          <p:nvPr/>
        </p:nvSpPr>
        <p:spPr>
          <a:xfrm>
            <a:off x="6667500" y="5378033"/>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Amazon ECS or EKS for container orchestration</a:t>
            </a:r>
            <a:endParaRPr lang="en-US" sz="1200" dirty="0"/>
          </a:p>
        </p:txBody>
      </p:sp>
      <p:sp>
        <p:nvSpPr>
          <p:cNvPr id="37" name="Text 15"/>
          <p:cNvSpPr/>
          <p:nvPr/>
        </p:nvSpPr>
        <p:spPr>
          <a:xfrm>
            <a:off x="6676126" y="5605195"/>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CloudFormation or Terraform for Infrastructure-as-Code</a:t>
            </a:r>
            <a:endParaRPr lang="en-US" sz="1200" dirty="0"/>
          </a:p>
        </p:txBody>
      </p:sp>
      <p:sp>
        <p:nvSpPr>
          <p:cNvPr id="38" name="Text 16"/>
          <p:cNvSpPr/>
          <p:nvPr/>
        </p:nvSpPr>
        <p:spPr>
          <a:xfrm>
            <a:off x="6676126" y="5832356"/>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AWS Lambda for serverless architectures</a:t>
            </a:r>
            <a:endParaRPr lang="en-US" sz="1200" dirty="0"/>
          </a:p>
        </p:txBody>
      </p:sp>
      <p:sp>
        <p:nvSpPr>
          <p:cNvPr id="39" name="Text 17"/>
          <p:cNvSpPr/>
          <p:nvPr/>
        </p:nvSpPr>
        <p:spPr>
          <a:xfrm>
            <a:off x="6667500" y="6059527"/>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Amazon EC2 for maximum control over instances</a:t>
            </a:r>
            <a:endParaRPr lang="en-US" sz="1200" dirty="0"/>
          </a:p>
        </p:txBody>
      </p:sp>
      <p:sp>
        <p:nvSpPr>
          <p:cNvPr id="40" name="Text 18"/>
          <p:cNvSpPr/>
          <p:nvPr/>
        </p:nvSpPr>
        <p:spPr>
          <a:xfrm>
            <a:off x="685800" y="8010525"/>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41" name="Text 19"/>
          <p:cNvSpPr/>
          <p:nvPr/>
        </p:nvSpPr>
        <p:spPr>
          <a:xfrm>
            <a:off x="11295608" y="8010525"/>
            <a:ext cx="52703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5848709"/>
          </a:xfrm>
          <a:prstGeom prst="rect">
            <a:avLst/>
          </a:prstGeom>
        </p:spPr>
      </p:pic>
      <p:pic>
        <p:nvPicPr>
          <p:cNvPr id="3" name="Image 1" descr="preencoded.png"/>
          <p:cNvPicPr>
            <a:picLocks noChangeAspect="1"/>
          </p:cNvPicPr>
          <p:nvPr/>
        </p:nvPicPr>
        <p:blipFill>
          <a:blip r:embed="rId4"/>
          <a:stretch>
            <a:fillRect/>
          </a:stretch>
        </p:blipFill>
        <p:spPr>
          <a:xfrm>
            <a:off x="9677400" y="4292947"/>
            <a:ext cx="1905000" cy="1905000"/>
          </a:xfrm>
          <a:prstGeom prst="rect">
            <a:avLst/>
          </a:prstGeom>
        </p:spPr>
      </p:pic>
      <p:pic>
        <p:nvPicPr>
          <p:cNvPr id="4" name="Image 2" descr="preencoded.png"/>
          <p:cNvPicPr>
            <a:picLocks noChangeAspect="1"/>
          </p:cNvPicPr>
          <p:nvPr/>
        </p:nvPicPr>
        <p:blipFill>
          <a:blip r:embed="rId5"/>
          <a:stretch>
            <a:fillRect/>
          </a:stretch>
        </p:blipFill>
        <p:spPr>
          <a:xfrm>
            <a:off x="609600" y="688628"/>
            <a:ext cx="1428750" cy="142875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0"/>
          </a:xfrm>
          <a:prstGeom prst="rect">
            <a:avLst/>
          </a:prstGeom>
        </p:spPr>
      </p:pic>
      <p:pic>
        <p:nvPicPr>
          <p:cNvPr id="6" name="Image 4" descr="preencoded.png"/>
          <p:cNvPicPr>
            <a:picLocks noChangeAspect="1"/>
          </p:cNvPicPr>
          <p:nvPr/>
        </p:nvPicPr>
        <p:blipFill>
          <a:blip r:embed="rId7"/>
          <a:stretch>
            <a:fillRect/>
          </a:stretch>
        </p:blipFill>
        <p:spPr>
          <a:xfrm>
            <a:off x="457200" y="2362200"/>
            <a:ext cx="952500" cy="28575"/>
          </a:xfrm>
          <a:prstGeom prst="rect">
            <a:avLst/>
          </a:prstGeom>
        </p:spPr>
      </p:pic>
      <p:pic>
        <p:nvPicPr>
          <p:cNvPr id="7" name="Image 5" descr="preencoded.png"/>
          <p:cNvPicPr>
            <a:picLocks noChangeAspect="1"/>
          </p:cNvPicPr>
          <p:nvPr/>
        </p:nvPicPr>
        <p:blipFill>
          <a:blip r:embed="rId8"/>
          <a:stretch>
            <a:fillRect/>
          </a:stretch>
        </p:blipFill>
        <p:spPr>
          <a:xfrm>
            <a:off x="457200" y="2695575"/>
            <a:ext cx="381000" cy="381000"/>
          </a:xfrm>
          <a:prstGeom prst="rect">
            <a:avLst/>
          </a:prstGeom>
        </p:spPr>
      </p:pic>
      <p:pic>
        <p:nvPicPr>
          <p:cNvPr id="8" name="Image 6" descr="preencoded.png"/>
          <p:cNvPicPr>
            <a:picLocks noChangeAspect="1"/>
          </p:cNvPicPr>
          <p:nvPr/>
        </p:nvPicPr>
        <p:blipFill>
          <a:blip r:embed="rId9"/>
          <a:stretch>
            <a:fillRect/>
          </a:stretch>
        </p:blipFill>
        <p:spPr>
          <a:xfrm>
            <a:off x="552450" y="2809875"/>
            <a:ext cx="190500" cy="152400"/>
          </a:xfrm>
          <a:prstGeom prst="rect">
            <a:avLst/>
          </a:prstGeom>
        </p:spPr>
      </p:pic>
      <p:pic>
        <p:nvPicPr>
          <p:cNvPr id="9" name="Image 7" descr="preencoded.png"/>
          <p:cNvPicPr>
            <a:picLocks noChangeAspect="1"/>
          </p:cNvPicPr>
          <p:nvPr/>
        </p:nvPicPr>
        <p:blipFill>
          <a:blip r:embed="rId10"/>
          <a:stretch>
            <a:fillRect/>
          </a:stretch>
        </p:blipFill>
        <p:spPr>
          <a:xfrm>
            <a:off x="457200" y="3609975"/>
            <a:ext cx="381000" cy="381000"/>
          </a:xfrm>
          <a:prstGeom prst="rect">
            <a:avLst/>
          </a:prstGeom>
        </p:spPr>
      </p:pic>
      <p:pic>
        <p:nvPicPr>
          <p:cNvPr id="10" name="Image 8" descr="preencoded.png"/>
          <p:cNvPicPr>
            <a:picLocks noChangeAspect="1"/>
          </p:cNvPicPr>
          <p:nvPr/>
        </p:nvPicPr>
        <p:blipFill>
          <a:blip r:embed="rId11"/>
          <a:stretch>
            <a:fillRect/>
          </a:stretch>
        </p:blipFill>
        <p:spPr>
          <a:xfrm>
            <a:off x="571500" y="3724275"/>
            <a:ext cx="152400" cy="152400"/>
          </a:xfrm>
          <a:prstGeom prst="rect">
            <a:avLst/>
          </a:prstGeom>
        </p:spPr>
      </p:pic>
      <p:pic>
        <p:nvPicPr>
          <p:cNvPr id="11" name="Image 9" descr="preencoded.png"/>
          <p:cNvPicPr>
            <a:picLocks noChangeAspect="1"/>
          </p:cNvPicPr>
          <p:nvPr/>
        </p:nvPicPr>
        <p:blipFill>
          <a:blip r:embed="rId12"/>
          <a:stretch>
            <a:fillRect/>
          </a:stretch>
        </p:blipFill>
        <p:spPr>
          <a:xfrm>
            <a:off x="457200" y="4524375"/>
            <a:ext cx="381000" cy="381000"/>
          </a:xfrm>
          <a:prstGeom prst="rect">
            <a:avLst/>
          </a:prstGeom>
        </p:spPr>
      </p:pic>
      <p:pic>
        <p:nvPicPr>
          <p:cNvPr id="12" name="Image 10" descr="preencoded.png"/>
          <p:cNvPicPr>
            <a:picLocks noChangeAspect="1"/>
          </p:cNvPicPr>
          <p:nvPr/>
        </p:nvPicPr>
        <p:blipFill>
          <a:blip r:embed="rId13"/>
          <a:stretch>
            <a:fillRect/>
          </a:stretch>
        </p:blipFill>
        <p:spPr>
          <a:xfrm>
            <a:off x="571500" y="4638675"/>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457200" y="5210175"/>
            <a:ext cx="381000" cy="381000"/>
          </a:xfrm>
          <a:prstGeom prst="rect">
            <a:avLst/>
          </a:prstGeom>
        </p:spPr>
      </p:pic>
      <p:pic>
        <p:nvPicPr>
          <p:cNvPr id="14" name="Image 12" descr="preencoded.png"/>
          <p:cNvPicPr>
            <a:picLocks noChangeAspect="1"/>
          </p:cNvPicPr>
          <p:nvPr/>
        </p:nvPicPr>
        <p:blipFill>
          <a:blip r:embed="rId15"/>
          <a:stretch>
            <a:fillRect/>
          </a:stretch>
        </p:blipFill>
        <p:spPr>
          <a:xfrm>
            <a:off x="571500" y="5324475"/>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7975550" y="1557338"/>
            <a:ext cx="3759101" cy="1943100"/>
          </a:xfrm>
          <a:prstGeom prst="rect">
            <a:avLst/>
          </a:prstGeom>
        </p:spPr>
      </p:pic>
      <p:pic>
        <p:nvPicPr>
          <p:cNvPr id="16" name="Image 14" descr="preencoded.png"/>
          <p:cNvPicPr>
            <a:picLocks noChangeAspect="1"/>
          </p:cNvPicPr>
          <p:nvPr/>
        </p:nvPicPr>
        <p:blipFill>
          <a:blip r:embed="rId17"/>
          <a:stretch>
            <a:fillRect/>
          </a:stretch>
        </p:blipFill>
        <p:spPr>
          <a:xfrm>
            <a:off x="7975550" y="3805237"/>
            <a:ext cx="3759101" cy="1752600"/>
          </a:xfrm>
          <a:prstGeom prst="rect">
            <a:avLst/>
          </a:prstGeom>
        </p:spPr>
      </p:pic>
      <p:pic>
        <p:nvPicPr>
          <p:cNvPr id="17" name="Image 15" descr="preencoded.png"/>
          <p:cNvPicPr>
            <a:picLocks noChangeAspect="1"/>
          </p:cNvPicPr>
          <p:nvPr/>
        </p:nvPicPr>
        <p:blipFill>
          <a:blip r:embed="rId18"/>
          <a:stretch>
            <a:fillRect/>
          </a:stretch>
        </p:blipFill>
        <p:spPr>
          <a:xfrm>
            <a:off x="8204150" y="4071938"/>
            <a:ext cx="171450" cy="190500"/>
          </a:xfrm>
          <a:prstGeom prst="rect">
            <a:avLst/>
          </a:prstGeom>
        </p:spPr>
      </p:pic>
      <p:sp>
        <p:nvSpPr>
          <p:cNvPr id="20" name="Text 0"/>
          <p:cNvSpPr/>
          <p:nvPr/>
        </p:nvSpPr>
        <p:spPr>
          <a:xfrm>
            <a:off x="457200" y="209550"/>
            <a:ext cx="1829693"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ui-sans-serif" pitchFamily="34" charset="0"/>
                <a:ea typeface="ui-sans-serif" pitchFamily="34" charset="-122"/>
                <a:cs typeface="ui-sans-serif" pitchFamily="34" charset="-120"/>
              </a:rPr>
              <a:t>Summary</a:t>
            </a:r>
            <a:endParaRPr lang="en-US" sz="2250" dirty="0"/>
          </a:p>
        </p:txBody>
      </p:sp>
      <p:sp>
        <p:nvSpPr>
          <p:cNvPr id="21" name="Text 1"/>
          <p:cNvSpPr/>
          <p:nvPr/>
        </p:nvSpPr>
        <p:spPr>
          <a:xfrm>
            <a:off x="457200" y="1219200"/>
            <a:ext cx="7213550" cy="914400"/>
          </a:xfrm>
          <a:prstGeom prst="rect">
            <a:avLst/>
          </a:prstGeom>
          <a:noFill/>
          <a:ln/>
        </p:spPr>
        <p:txBody>
          <a:bodyPr vert="horz" wrap="square" lIns="0" tIns="0" rIns="0" bIns="0" rtlCol="0" anchor="t"/>
          <a:lstStyle/>
          <a:p>
            <a:pPr marL="0" indent="0">
              <a:lnSpc>
                <a:spcPts val="2400"/>
              </a:lnSpc>
              <a:buNone/>
            </a:pPr>
            <a:r>
              <a:rPr lang="en-US" sz="1800" dirty="0">
                <a:solidFill>
                  <a:srgbClr val="1F2937"/>
                </a:solidFill>
                <a:latin typeface="ui-sans-serif" pitchFamily="34" charset="0"/>
                <a:ea typeface="ui-sans-serif" pitchFamily="34" charset="-122"/>
                <a:cs typeface="ui-sans-serif" pitchFamily="34" charset="-120"/>
              </a:rPr>
              <a:t>AWS Elastic Beanstalk is an ideal service for developers seeking to rapidly deploy and scale web applications without the burden of managing the underlying infrastructure.</a:t>
            </a:r>
            <a:endParaRPr lang="en-US" sz="1800" dirty="0"/>
          </a:p>
        </p:txBody>
      </p:sp>
      <p:sp>
        <p:nvSpPr>
          <p:cNvPr id="22" name="Text 2"/>
          <p:cNvSpPr/>
          <p:nvPr/>
        </p:nvSpPr>
        <p:spPr>
          <a:xfrm>
            <a:off x="981075" y="2695575"/>
            <a:ext cx="6689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Developer Productivity</a:t>
            </a:r>
            <a:endParaRPr lang="en-US" sz="1500" dirty="0"/>
          </a:p>
        </p:txBody>
      </p:sp>
      <p:sp>
        <p:nvSpPr>
          <p:cNvPr id="23" name="Text 3"/>
          <p:cNvSpPr/>
          <p:nvPr/>
        </p:nvSpPr>
        <p:spPr>
          <a:xfrm>
            <a:off x="981075" y="3000375"/>
            <a:ext cx="668967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Focus on writing code while Elastic Beanstalk handles infrastructure provisioning and configuration</a:t>
            </a:r>
            <a:endParaRPr lang="en-US" sz="1200" dirty="0"/>
          </a:p>
        </p:txBody>
      </p:sp>
      <p:sp>
        <p:nvSpPr>
          <p:cNvPr id="24" name="Text 4"/>
          <p:cNvSpPr/>
          <p:nvPr/>
        </p:nvSpPr>
        <p:spPr>
          <a:xfrm>
            <a:off x="981075" y="3609975"/>
            <a:ext cx="6689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Rapid Deployment</a:t>
            </a:r>
            <a:endParaRPr lang="en-US" sz="1500" dirty="0"/>
          </a:p>
        </p:txBody>
      </p:sp>
      <p:sp>
        <p:nvSpPr>
          <p:cNvPr id="25" name="Text 5"/>
          <p:cNvSpPr/>
          <p:nvPr/>
        </p:nvSpPr>
        <p:spPr>
          <a:xfrm>
            <a:off x="981075" y="3914775"/>
            <a:ext cx="668967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Deploy applications quickly with minimal setup and automated infrastructure provisioning</a:t>
            </a:r>
            <a:endParaRPr lang="en-US" sz="1200" dirty="0"/>
          </a:p>
        </p:txBody>
      </p:sp>
      <p:sp>
        <p:nvSpPr>
          <p:cNvPr id="26" name="Text 6"/>
          <p:cNvSpPr/>
          <p:nvPr/>
        </p:nvSpPr>
        <p:spPr>
          <a:xfrm>
            <a:off x="981075" y="4524375"/>
            <a:ext cx="663594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Automated Management</a:t>
            </a:r>
            <a:endParaRPr lang="en-US" sz="1500" dirty="0"/>
          </a:p>
        </p:txBody>
      </p:sp>
      <p:sp>
        <p:nvSpPr>
          <p:cNvPr id="27" name="Text 7"/>
          <p:cNvSpPr/>
          <p:nvPr/>
        </p:nvSpPr>
        <p:spPr>
          <a:xfrm>
            <a:off x="981075" y="4829175"/>
            <a:ext cx="796313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Let Elastic Beanstalk handle provisioning, load balancing, auto-scaling, and monitoring</a:t>
            </a:r>
            <a:endParaRPr lang="en-US" sz="1200" dirty="0"/>
          </a:p>
        </p:txBody>
      </p:sp>
      <p:sp>
        <p:nvSpPr>
          <p:cNvPr id="28" name="Text 8"/>
          <p:cNvSpPr/>
          <p:nvPr/>
        </p:nvSpPr>
        <p:spPr>
          <a:xfrm>
            <a:off x="981075" y="5210175"/>
            <a:ext cx="65654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Flexibility &amp; Compatibility</a:t>
            </a:r>
            <a:endParaRPr lang="en-US" sz="1500" dirty="0"/>
          </a:p>
        </p:txBody>
      </p:sp>
      <p:sp>
        <p:nvSpPr>
          <p:cNvPr id="29" name="Text 9"/>
          <p:cNvSpPr/>
          <p:nvPr/>
        </p:nvSpPr>
        <p:spPr>
          <a:xfrm>
            <a:off x="981075" y="5514975"/>
            <a:ext cx="787848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Support for multiple programming languages, frameworks, and deployment scenarios</a:t>
            </a:r>
            <a:endParaRPr lang="en-US" sz="1200" dirty="0"/>
          </a:p>
        </p:txBody>
      </p:sp>
      <p:sp>
        <p:nvSpPr>
          <p:cNvPr id="30" name="Text 10"/>
          <p:cNvSpPr/>
          <p:nvPr/>
        </p:nvSpPr>
        <p:spPr>
          <a:xfrm>
            <a:off x="8204150" y="1785938"/>
            <a:ext cx="3301901"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Key Benefit</a:t>
            </a:r>
            <a:endParaRPr lang="en-US" sz="1800" dirty="0"/>
          </a:p>
        </p:txBody>
      </p:sp>
      <p:sp>
        <p:nvSpPr>
          <p:cNvPr id="31" name="Text 11"/>
          <p:cNvSpPr/>
          <p:nvPr/>
        </p:nvSpPr>
        <p:spPr>
          <a:xfrm>
            <a:off x="8204150" y="2205038"/>
            <a:ext cx="3301901"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Elastic Beanstalk abstracts away operational complexities, allowing teams to focus on development and accelerate time to market.</a:t>
            </a:r>
            <a:endParaRPr lang="en-US" sz="1350" dirty="0"/>
          </a:p>
        </p:txBody>
      </p:sp>
      <p:sp>
        <p:nvSpPr>
          <p:cNvPr id="32" name="Text 12"/>
          <p:cNvSpPr/>
          <p:nvPr/>
        </p:nvSpPr>
        <p:spPr>
          <a:xfrm>
            <a:off x="8451800" y="4033837"/>
            <a:ext cx="396228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Cost Efficiency</a:t>
            </a:r>
            <a:endParaRPr lang="en-US" sz="1500" dirty="0"/>
          </a:p>
        </p:txBody>
      </p:sp>
      <p:sp>
        <p:nvSpPr>
          <p:cNvPr id="33" name="Text 13"/>
          <p:cNvSpPr/>
          <p:nvPr/>
        </p:nvSpPr>
        <p:spPr>
          <a:xfrm>
            <a:off x="8204150" y="4414838"/>
            <a:ext cx="3301901"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No additional charge for using Elastic Beanstalk itself - only pay for the underlying AWS resources consumed by your application.</a:t>
            </a:r>
            <a:endParaRPr lang="en-US" sz="1200" dirty="0"/>
          </a:p>
        </p:txBody>
      </p:sp>
      <p:sp>
        <p:nvSpPr>
          <p:cNvPr id="34" name="Text 14"/>
          <p:cNvSpPr/>
          <p:nvPr/>
        </p:nvSpPr>
        <p:spPr>
          <a:xfrm>
            <a:off x="685800" y="6505575"/>
            <a:ext cx="2026860" cy="22860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35" name="Text 15"/>
          <p:cNvSpPr/>
          <p:nvPr/>
        </p:nvSpPr>
        <p:spPr>
          <a:xfrm>
            <a:off x="11295608" y="6505575"/>
            <a:ext cx="52703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1737</Words>
  <Application>Microsoft Office PowerPoint</Application>
  <PresentationFormat>Widescreen</PresentationFormat>
  <Paragraphs>240</Paragraphs>
  <Slides>14</Slides>
  <Notes>14</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25</cp:revision>
  <dcterms:created xsi:type="dcterms:W3CDTF">2025-10-28T04:45:09Z</dcterms:created>
  <dcterms:modified xsi:type="dcterms:W3CDTF">2025-10-30T09:56:56Z</dcterms:modified>
</cp:coreProperties>
</file>