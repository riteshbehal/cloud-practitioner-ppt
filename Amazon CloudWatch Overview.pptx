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84" r:id="rId12"/>
    <p:sldId id="285" r:id="rId13"/>
  </p:sldIdLst>
  <p:sldSz cx="11879263" cy="6840538"/>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66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6781627"/>
      </p:ext>
    </p:extLst>
  </p:cSld>
  <p:clrMap bg1="lt1" tx1="dk1" bg2="lt2" tx2="dk2" accent1="accent1" accent2="accent2" accent3="accent3" accent4="accent4" accent5="accent5" accent6="accent6" hlink="hlink" folHlink="folHlink"/>
  <p:notesStyle>
    <a:lvl1pPr marL="0" algn="l" defTabSz="898489" rtl="0" eaLnBrk="1" latinLnBrk="0" hangingPunct="1">
      <a:defRPr sz="1179" kern="1200">
        <a:solidFill>
          <a:schemeClr val="tx1"/>
        </a:solidFill>
        <a:latin typeface="+mn-lt"/>
        <a:ea typeface="+mn-ea"/>
        <a:cs typeface="+mn-cs"/>
      </a:defRPr>
    </a:lvl1pPr>
    <a:lvl2pPr marL="449245" algn="l" defTabSz="898489" rtl="0" eaLnBrk="1" latinLnBrk="0" hangingPunct="1">
      <a:defRPr sz="1179" kern="1200">
        <a:solidFill>
          <a:schemeClr val="tx1"/>
        </a:solidFill>
        <a:latin typeface="+mn-lt"/>
        <a:ea typeface="+mn-ea"/>
        <a:cs typeface="+mn-cs"/>
      </a:defRPr>
    </a:lvl2pPr>
    <a:lvl3pPr marL="898489" algn="l" defTabSz="898489" rtl="0" eaLnBrk="1" latinLnBrk="0" hangingPunct="1">
      <a:defRPr sz="1179" kern="1200">
        <a:solidFill>
          <a:schemeClr val="tx1"/>
        </a:solidFill>
        <a:latin typeface="+mn-lt"/>
        <a:ea typeface="+mn-ea"/>
        <a:cs typeface="+mn-cs"/>
      </a:defRPr>
    </a:lvl3pPr>
    <a:lvl4pPr marL="1347734" algn="l" defTabSz="898489" rtl="0" eaLnBrk="1" latinLnBrk="0" hangingPunct="1">
      <a:defRPr sz="1179" kern="1200">
        <a:solidFill>
          <a:schemeClr val="tx1"/>
        </a:solidFill>
        <a:latin typeface="+mn-lt"/>
        <a:ea typeface="+mn-ea"/>
        <a:cs typeface="+mn-cs"/>
      </a:defRPr>
    </a:lvl4pPr>
    <a:lvl5pPr marL="1796979" algn="l" defTabSz="898489" rtl="0" eaLnBrk="1" latinLnBrk="0" hangingPunct="1">
      <a:defRPr sz="1179" kern="1200">
        <a:solidFill>
          <a:schemeClr val="tx1"/>
        </a:solidFill>
        <a:latin typeface="+mn-lt"/>
        <a:ea typeface="+mn-ea"/>
        <a:cs typeface="+mn-cs"/>
      </a:defRPr>
    </a:lvl5pPr>
    <a:lvl6pPr marL="2246224" algn="l" defTabSz="898489" rtl="0" eaLnBrk="1" latinLnBrk="0" hangingPunct="1">
      <a:defRPr sz="1179" kern="1200">
        <a:solidFill>
          <a:schemeClr val="tx1"/>
        </a:solidFill>
        <a:latin typeface="+mn-lt"/>
        <a:ea typeface="+mn-ea"/>
        <a:cs typeface="+mn-cs"/>
      </a:defRPr>
    </a:lvl6pPr>
    <a:lvl7pPr marL="2695468" algn="l" defTabSz="898489" rtl="0" eaLnBrk="1" latinLnBrk="0" hangingPunct="1">
      <a:defRPr sz="1179" kern="1200">
        <a:solidFill>
          <a:schemeClr val="tx1"/>
        </a:solidFill>
        <a:latin typeface="+mn-lt"/>
        <a:ea typeface="+mn-ea"/>
        <a:cs typeface="+mn-cs"/>
      </a:defRPr>
    </a:lvl7pPr>
    <a:lvl8pPr marL="3144713" algn="l" defTabSz="898489" rtl="0" eaLnBrk="1" latinLnBrk="0" hangingPunct="1">
      <a:defRPr sz="1179" kern="1200">
        <a:solidFill>
          <a:schemeClr val="tx1"/>
        </a:solidFill>
        <a:latin typeface="+mn-lt"/>
        <a:ea typeface="+mn-ea"/>
        <a:cs typeface="+mn-cs"/>
      </a:defRPr>
    </a:lvl8pPr>
    <a:lvl9pPr marL="3593958" algn="l" defTabSz="898489" rtl="0" eaLnBrk="1" latinLnBrk="0" hangingPunct="1">
      <a:defRPr sz="117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484908" y="1119505"/>
            <a:ext cx="8909447" cy="2381521"/>
          </a:xfrm>
        </p:spPr>
        <p:txBody>
          <a:bodyPr anchor="b"/>
          <a:lstStyle>
            <a:lvl1pPr algn="ctr">
              <a:defRPr sz="5846"/>
            </a:lvl1pPr>
          </a:lstStyle>
          <a:p>
            <a:r>
              <a:rPr lang="en-US"/>
              <a:t>Click to edit Master title style</a:t>
            </a:r>
            <a:endParaRPr lang="en-US" dirty="0"/>
          </a:p>
        </p:txBody>
      </p:sp>
      <p:sp>
        <p:nvSpPr>
          <p:cNvPr id="3" name="Subtitle 2"/>
          <p:cNvSpPr>
            <a:spLocks noGrp="1"/>
          </p:cNvSpPr>
          <p:nvPr>
            <p:ph type="subTitle" idx="1"/>
          </p:nvPr>
        </p:nvSpPr>
        <p:spPr>
          <a:xfrm>
            <a:off x="1484908" y="3592866"/>
            <a:ext cx="8909447" cy="1651546"/>
          </a:xfrm>
        </p:spPr>
        <p:txBody>
          <a:bodyPr/>
          <a:lstStyle>
            <a:lvl1pPr marL="0" indent="0" algn="ctr">
              <a:buNone/>
              <a:defRPr sz="2338"/>
            </a:lvl1pPr>
            <a:lvl2pPr marL="445450" indent="0" algn="ctr">
              <a:buNone/>
              <a:defRPr sz="1949"/>
            </a:lvl2pPr>
            <a:lvl3pPr marL="890900" indent="0" algn="ctr">
              <a:buNone/>
              <a:defRPr sz="1754"/>
            </a:lvl3pPr>
            <a:lvl4pPr marL="1336350" indent="0" algn="ctr">
              <a:buNone/>
              <a:defRPr sz="1559"/>
            </a:lvl4pPr>
            <a:lvl5pPr marL="1781800" indent="0" algn="ctr">
              <a:buNone/>
              <a:defRPr sz="1559"/>
            </a:lvl5pPr>
            <a:lvl6pPr marL="2227250" indent="0" algn="ctr">
              <a:buNone/>
              <a:defRPr sz="1559"/>
            </a:lvl6pPr>
            <a:lvl7pPr marL="2672700" indent="0" algn="ctr">
              <a:buNone/>
              <a:defRPr sz="1559"/>
            </a:lvl7pPr>
            <a:lvl8pPr marL="3118150" indent="0" algn="ctr">
              <a:buNone/>
              <a:defRPr sz="1559"/>
            </a:lvl8pPr>
            <a:lvl9pPr marL="3563600" indent="0" algn="ctr">
              <a:buNone/>
              <a:defRPr sz="1559"/>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09849606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42307157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0512" y="1705385"/>
            <a:ext cx="10245864" cy="2845473"/>
          </a:xfrm>
        </p:spPr>
        <p:txBody>
          <a:bodyPr anchor="b"/>
          <a:lstStyle>
            <a:lvl1pPr>
              <a:defRPr sz="5846"/>
            </a:lvl1pPr>
          </a:lstStyle>
          <a:p>
            <a:r>
              <a:rPr lang="en-US"/>
              <a:t>Click to edit Master title style</a:t>
            </a:r>
            <a:endParaRPr lang="en-US" dirty="0"/>
          </a:p>
        </p:txBody>
      </p:sp>
      <p:sp>
        <p:nvSpPr>
          <p:cNvPr id="3" name="Text Placeholder 2"/>
          <p:cNvSpPr>
            <a:spLocks noGrp="1"/>
          </p:cNvSpPr>
          <p:nvPr>
            <p:ph type="body" idx="1"/>
          </p:nvPr>
        </p:nvSpPr>
        <p:spPr>
          <a:xfrm>
            <a:off x="810512" y="4577778"/>
            <a:ext cx="10245864" cy="1496367"/>
          </a:xfrm>
        </p:spPr>
        <p:txBody>
          <a:bodyPr/>
          <a:lstStyle>
            <a:lvl1pPr marL="0" indent="0">
              <a:buNone/>
              <a:defRPr sz="2338">
                <a:solidFill>
                  <a:schemeClr val="tx1">
                    <a:tint val="75000"/>
                  </a:schemeClr>
                </a:solidFill>
              </a:defRPr>
            </a:lvl1pPr>
            <a:lvl2pPr marL="445450" indent="0">
              <a:buNone/>
              <a:defRPr sz="1949">
                <a:solidFill>
                  <a:schemeClr val="tx1">
                    <a:tint val="75000"/>
                  </a:schemeClr>
                </a:solidFill>
              </a:defRPr>
            </a:lvl2pPr>
            <a:lvl3pPr marL="890900" indent="0">
              <a:buNone/>
              <a:defRPr sz="1754">
                <a:solidFill>
                  <a:schemeClr val="tx1">
                    <a:tint val="75000"/>
                  </a:schemeClr>
                </a:solidFill>
              </a:defRPr>
            </a:lvl3pPr>
            <a:lvl4pPr marL="1336350" indent="0">
              <a:buNone/>
              <a:defRPr sz="1559">
                <a:solidFill>
                  <a:schemeClr val="tx1">
                    <a:tint val="75000"/>
                  </a:schemeClr>
                </a:solidFill>
              </a:defRPr>
            </a:lvl4pPr>
            <a:lvl5pPr marL="1781800" indent="0">
              <a:buNone/>
              <a:defRPr sz="1559">
                <a:solidFill>
                  <a:schemeClr val="tx1">
                    <a:tint val="75000"/>
                  </a:schemeClr>
                </a:solidFill>
              </a:defRPr>
            </a:lvl5pPr>
            <a:lvl6pPr marL="2227250" indent="0">
              <a:buNone/>
              <a:defRPr sz="1559">
                <a:solidFill>
                  <a:schemeClr val="tx1">
                    <a:tint val="75000"/>
                  </a:schemeClr>
                </a:solidFill>
              </a:defRPr>
            </a:lvl6pPr>
            <a:lvl7pPr marL="2672700" indent="0">
              <a:buNone/>
              <a:defRPr sz="1559">
                <a:solidFill>
                  <a:schemeClr val="tx1">
                    <a:tint val="75000"/>
                  </a:schemeClr>
                </a:solidFill>
              </a:defRPr>
            </a:lvl7pPr>
            <a:lvl8pPr marL="3118150" indent="0">
              <a:buNone/>
              <a:defRPr sz="1559">
                <a:solidFill>
                  <a:schemeClr val="tx1">
                    <a:tint val="75000"/>
                  </a:schemeClr>
                </a:solidFill>
              </a:defRPr>
            </a:lvl8pPr>
            <a:lvl9pPr marL="3563600" indent="0">
              <a:buNone/>
              <a:defRPr sz="1559">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11/8/2025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52220341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6699" y="1820976"/>
            <a:ext cx="5048687" cy="43402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3877" y="1820976"/>
            <a:ext cx="5048687" cy="43402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11/8/2025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4089437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18247" y="364196"/>
            <a:ext cx="10245864" cy="1322188"/>
          </a:xfrm>
        </p:spPr>
        <p:txBody>
          <a:bodyPr/>
          <a:lstStyle/>
          <a:p>
            <a:r>
              <a:rPr lang="en-US"/>
              <a:t>Click to edit Master title style</a:t>
            </a:r>
            <a:endParaRPr lang="en-US" dirty="0"/>
          </a:p>
        </p:txBody>
      </p:sp>
      <p:sp>
        <p:nvSpPr>
          <p:cNvPr id="3" name="Text Placeholder 2"/>
          <p:cNvSpPr>
            <a:spLocks noGrp="1"/>
          </p:cNvSpPr>
          <p:nvPr>
            <p:ph type="body" idx="1"/>
          </p:nvPr>
        </p:nvSpPr>
        <p:spPr>
          <a:xfrm>
            <a:off x="818247" y="1676882"/>
            <a:ext cx="5025485" cy="821814"/>
          </a:xfrm>
        </p:spPr>
        <p:txBody>
          <a:bodyPr anchor="b"/>
          <a:lstStyle>
            <a:lvl1pPr marL="0" indent="0">
              <a:buNone/>
              <a:defRPr sz="2338" b="1"/>
            </a:lvl1pPr>
            <a:lvl2pPr marL="445450" indent="0">
              <a:buNone/>
              <a:defRPr sz="1949" b="1"/>
            </a:lvl2pPr>
            <a:lvl3pPr marL="890900" indent="0">
              <a:buNone/>
              <a:defRPr sz="1754" b="1"/>
            </a:lvl3pPr>
            <a:lvl4pPr marL="1336350" indent="0">
              <a:buNone/>
              <a:defRPr sz="1559" b="1"/>
            </a:lvl4pPr>
            <a:lvl5pPr marL="1781800" indent="0">
              <a:buNone/>
              <a:defRPr sz="1559" b="1"/>
            </a:lvl5pPr>
            <a:lvl6pPr marL="2227250" indent="0">
              <a:buNone/>
              <a:defRPr sz="1559" b="1"/>
            </a:lvl6pPr>
            <a:lvl7pPr marL="2672700" indent="0">
              <a:buNone/>
              <a:defRPr sz="1559" b="1"/>
            </a:lvl7pPr>
            <a:lvl8pPr marL="3118150" indent="0">
              <a:buNone/>
              <a:defRPr sz="1559" b="1"/>
            </a:lvl8pPr>
            <a:lvl9pPr marL="3563600" indent="0">
              <a:buNone/>
              <a:defRPr sz="1559" b="1"/>
            </a:lvl9pPr>
          </a:lstStyle>
          <a:p>
            <a:pPr lvl="0"/>
            <a:r>
              <a:rPr lang="en-US"/>
              <a:t>Click to edit Master text styles</a:t>
            </a:r>
          </a:p>
        </p:txBody>
      </p:sp>
      <p:sp>
        <p:nvSpPr>
          <p:cNvPr id="4" name="Content Placeholder 3"/>
          <p:cNvSpPr>
            <a:spLocks noGrp="1"/>
          </p:cNvSpPr>
          <p:nvPr>
            <p:ph sz="half" idx="2"/>
          </p:nvPr>
        </p:nvSpPr>
        <p:spPr>
          <a:xfrm>
            <a:off x="818247" y="2498697"/>
            <a:ext cx="5025485" cy="36752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13877" y="1676882"/>
            <a:ext cx="5050234" cy="821814"/>
          </a:xfrm>
        </p:spPr>
        <p:txBody>
          <a:bodyPr anchor="b"/>
          <a:lstStyle>
            <a:lvl1pPr marL="0" indent="0">
              <a:buNone/>
              <a:defRPr sz="2338" b="1"/>
            </a:lvl1pPr>
            <a:lvl2pPr marL="445450" indent="0">
              <a:buNone/>
              <a:defRPr sz="1949" b="1"/>
            </a:lvl2pPr>
            <a:lvl3pPr marL="890900" indent="0">
              <a:buNone/>
              <a:defRPr sz="1754" b="1"/>
            </a:lvl3pPr>
            <a:lvl4pPr marL="1336350" indent="0">
              <a:buNone/>
              <a:defRPr sz="1559" b="1"/>
            </a:lvl4pPr>
            <a:lvl5pPr marL="1781800" indent="0">
              <a:buNone/>
              <a:defRPr sz="1559" b="1"/>
            </a:lvl5pPr>
            <a:lvl6pPr marL="2227250" indent="0">
              <a:buNone/>
              <a:defRPr sz="1559" b="1"/>
            </a:lvl6pPr>
            <a:lvl7pPr marL="2672700" indent="0">
              <a:buNone/>
              <a:defRPr sz="1559" b="1"/>
            </a:lvl7pPr>
            <a:lvl8pPr marL="3118150" indent="0">
              <a:buNone/>
              <a:defRPr sz="1559" b="1"/>
            </a:lvl8pPr>
            <a:lvl9pPr marL="3563600" indent="0">
              <a:buNone/>
              <a:defRPr sz="1559" b="1"/>
            </a:lvl9pPr>
          </a:lstStyle>
          <a:p>
            <a:pPr lvl="0"/>
            <a:r>
              <a:rPr lang="en-US"/>
              <a:t>Click to edit Master text styles</a:t>
            </a:r>
          </a:p>
        </p:txBody>
      </p:sp>
      <p:sp>
        <p:nvSpPr>
          <p:cNvPr id="6" name="Content Placeholder 5"/>
          <p:cNvSpPr>
            <a:spLocks noGrp="1"/>
          </p:cNvSpPr>
          <p:nvPr>
            <p:ph sz="quarter" idx="4"/>
          </p:nvPr>
        </p:nvSpPr>
        <p:spPr>
          <a:xfrm>
            <a:off x="6013877" y="2498697"/>
            <a:ext cx="5050234" cy="36752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11/8/2025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05093454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11/8/2025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87411433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11/8/2025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10126575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8247" y="456036"/>
            <a:ext cx="3831371" cy="1596126"/>
          </a:xfrm>
        </p:spPr>
        <p:txBody>
          <a:bodyPr anchor="b"/>
          <a:lstStyle>
            <a:lvl1pPr>
              <a:defRPr sz="3118"/>
            </a:lvl1pPr>
          </a:lstStyle>
          <a:p>
            <a:r>
              <a:rPr lang="en-US"/>
              <a:t>Click to edit Master title style</a:t>
            </a:r>
            <a:endParaRPr lang="en-US" dirty="0"/>
          </a:p>
        </p:txBody>
      </p:sp>
      <p:sp>
        <p:nvSpPr>
          <p:cNvPr id="3" name="Content Placeholder 2"/>
          <p:cNvSpPr>
            <a:spLocks noGrp="1"/>
          </p:cNvSpPr>
          <p:nvPr>
            <p:ph idx="1"/>
          </p:nvPr>
        </p:nvSpPr>
        <p:spPr>
          <a:xfrm>
            <a:off x="5050234" y="984911"/>
            <a:ext cx="6013877" cy="4861216"/>
          </a:xfrm>
        </p:spPr>
        <p:txBody>
          <a:bodyPr/>
          <a:lstStyle>
            <a:lvl1pPr>
              <a:defRPr sz="3118"/>
            </a:lvl1pPr>
            <a:lvl2pPr>
              <a:defRPr sz="2728"/>
            </a:lvl2pPr>
            <a:lvl3pPr>
              <a:defRPr sz="2338"/>
            </a:lvl3pPr>
            <a:lvl4pPr>
              <a:defRPr sz="1949"/>
            </a:lvl4pPr>
            <a:lvl5pPr>
              <a:defRPr sz="1949"/>
            </a:lvl5pPr>
            <a:lvl6pPr>
              <a:defRPr sz="1949"/>
            </a:lvl6pPr>
            <a:lvl7pPr>
              <a:defRPr sz="1949"/>
            </a:lvl7pPr>
            <a:lvl8pPr>
              <a:defRPr sz="1949"/>
            </a:lvl8pPr>
            <a:lvl9pPr>
              <a:defRPr sz="194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18247" y="2052161"/>
            <a:ext cx="3831371" cy="3801883"/>
          </a:xfrm>
        </p:spPr>
        <p:txBody>
          <a:bodyPr/>
          <a:lstStyle>
            <a:lvl1pPr marL="0" indent="0">
              <a:buNone/>
              <a:defRPr sz="1559"/>
            </a:lvl1pPr>
            <a:lvl2pPr marL="445450" indent="0">
              <a:buNone/>
              <a:defRPr sz="1364"/>
            </a:lvl2pPr>
            <a:lvl3pPr marL="890900" indent="0">
              <a:buNone/>
              <a:defRPr sz="1169"/>
            </a:lvl3pPr>
            <a:lvl4pPr marL="1336350" indent="0">
              <a:buNone/>
              <a:defRPr sz="974"/>
            </a:lvl4pPr>
            <a:lvl5pPr marL="1781800" indent="0">
              <a:buNone/>
              <a:defRPr sz="974"/>
            </a:lvl5pPr>
            <a:lvl6pPr marL="2227250" indent="0">
              <a:buNone/>
              <a:defRPr sz="974"/>
            </a:lvl6pPr>
            <a:lvl7pPr marL="2672700" indent="0">
              <a:buNone/>
              <a:defRPr sz="974"/>
            </a:lvl7pPr>
            <a:lvl8pPr marL="3118150" indent="0">
              <a:buNone/>
              <a:defRPr sz="974"/>
            </a:lvl8pPr>
            <a:lvl9pPr marL="3563600" indent="0">
              <a:buNone/>
              <a:defRPr sz="974"/>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8829438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8247" y="456036"/>
            <a:ext cx="3831371" cy="1596126"/>
          </a:xfrm>
        </p:spPr>
        <p:txBody>
          <a:bodyPr anchor="b"/>
          <a:lstStyle>
            <a:lvl1pPr>
              <a:defRPr sz="3118"/>
            </a:lvl1pPr>
          </a:lstStyle>
          <a:p>
            <a:r>
              <a:rPr lang="en-US"/>
              <a:t>Click to edit Master title style</a:t>
            </a:r>
            <a:endParaRPr lang="en-US" dirty="0"/>
          </a:p>
        </p:txBody>
      </p:sp>
      <p:sp>
        <p:nvSpPr>
          <p:cNvPr id="3" name="Picture Placeholder 2"/>
          <p:cNvSpPr>
            <a:spLocks noGrp="1" noChangeAspect="1"/>
          </p:cNvSpPr>
          <p:nvPr>
            <p:ph type="pic" idx="1"/>
          </p:nvPr>
        </p:nvSpPr>
        <p:spPr>
          <a:xfrm>
            <a:off x="5050234" y="984911"/>
            <a:ext cx="6013877" cy="4861216"/>
          </a:xfrm>
        </p:spPr>
        <p:txBody>
          <a:bodyPr anchor="t"/>
          <a:lstStyle>
            <a:lvl1pPr marL="0" indent="0">
              <a:buNone/>
              <a:defRPr sz="3118"/>
            </a:lvl1pPr>
            <a:lvl2pPr marL="445450" indent="0">
              <a:buNone/>
              <a:defRPr sz="2728"/>
            </a:lvl2pPr>
            <a:lvl3pPr marL="890900" indent="0">
              <a:buNone/>
              <a:defRPr sz="2338"/>
            </a:lvl3pPr>
            <a:lvl4pPr marL="1336350" indent="0">
              <a:buNone/>
              <a:defRPr sz="1949"/>
            </a:lvl4pPr>
            <a:lvl5pPr marL="1781800" indent="0">
              <a:buNone/>
              <a:defRPr sz="1949"/>
            </a:lvl5pPr>
            <a:lvl6pPr marL="2227250" indent="0">
              <a:buNone/>
              <a:defRPr sz="1949"/>
            </a:lvl6pPr>
            <a:lvl7pPr marL="2672700" indent="0">
              <a:buNone/>
              <a:defRPr sz="1949"/>
            </a:lvl7pPr>
            <a:lvl8pPr marL="3118150" indent="0">
              <a:buNone/>
              <a:defRPr sz="1949"/>
            </a:lvl8pPr>
            <a:lvl9pPr marL="3563600" indent="0">
              <a:buNone/>
              <a:defRPr sz="1949"/>
            </a:lvl9pPr>
          </a:lstStyle>
          <a:p>
            <a:r>
              <a:rPr lang="en-US"/>
              <a:t>Click icon to add picture</a:t>
            </a:r>
            <a:endParaRPr lang="en-US" dirty="0"/>
          </a:p>
        </p:txBody>
      </p:sp>
      <p:sp>
        <p:nvSpPr>
          <p:cNvPr id="4" name="Text Placeholder 3"/>
          <p:cNvSpPr>
            <a:spLocks noGrp="1"/>
          </p:cNvSpPr>
          <p:nvPr>
            <p:ph type="body" sz="half" idx="2"/>
          </p:nvPr>
        </p:nvSpPr>
        <p:spPr>
          <a:xfrm>
            <a:off x="818247" y="2052161"/>
            <a:ext cx="3831371" cy="3801883"/>
          </a:xfrm>
        </p:spPr>
        <p:txBody>
          <a:bodyPr/>
          <a:lstStyle>
            <a:lvl1pPr marL="0" indent="0">
              <a:buNone/>
              <a:defRPr sz="1559"/>
            </a:lvl1pPr>
            <a:lvl2pPr marL="445450" indent="0">
              <a:buNone/>
              <a:defRPr sz="1364"/>
            </a:lvl2pPr>
            <a:lvl3pPr marL="890900" indent="0">
              <a:buNone/>
              <a:defRPr sz="1169"/>
            </a:lvl3pPr>
            <a:lvl4pPr marL="1336350" indent="0">
              <a:buNone/>
              <a:defRPr sz="974"/>
            </a:lvl4pPr>
            <a:lvl5pPr marL="1781800" indent="0">
              <a:buNone/>
              <a:defRPr sz="974"/>
            </a:lvl5pPr>
            <a:lvl6pPr marL="2227250" indent="0">
              <a:buNone/>
              <a:defRPr sz="974"/>
            </a:lvl6pPr>
            <a:lvl7pPr marL="2672700" indent="0">
              <a:buNone/>
              <a:defRPr sz="974"/>
            </a:lvl7pPr>
            <a:lvl8pPr marL="3118150" indent="0">
              <a:buNone/>
              <a:defRPr sz="974"/>
            </a:lvl8pPr>
            <a:lvl9pPr marL="3563600" indent="0">
              <a:buNone/>
              <a:defRPr sz="974"/>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11/8/2025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85508220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14423206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501098" y="364195"/>
            <a:ext cx="2561466" cy="579704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6700" y="364195"/>
            <a:ext cx="7535907" cy="579704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00248759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54438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6700" y="364196"/>
            <a:ext cx="10245864" cy="132218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16700" y="1820976"/>
            <a:ext cx="10245864" cy="434025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16699" y="6340166"/>
            <a:ext cx="2672834" cy="364195"/>
          </a:xfrm>
          <a:prstGeom prst="rect">
            <a:avLst/>
          </a:prstGeom>
        </p:spPr>
        <p:txBody>
          <a:bodyPr vert="horz" lIns="91440" tIns="45720" rIns="91440" bIns="45720" rtlCol="0" anchor="ctr"/>
          <a:lstStyle>
            <a:lvl1pPr algn="l">
              <a:defRPr sz="1169">
                <a:solidFill>
                  <a:schemeClr val="tx1">
                    <a:tint val="75000"/>
                  </a:schemeClr>
                </a:solidFill>
              </a:defRPr>
            </a:lvl1pPr>
          </a:lstStyle>
          <a:p>
            <a:fld id="{C764DE79-268F-4C1A-8933-263129D2AF90}" type="datetimeFigureOut">
              <a:rPr lang="en-US" dirty="0"/>
              <a:t>11/8/2025</a:t>
            </a:fld>
            <a:endParaRPr lang="en-US" dirty="0"/>
          </a:p>
        </p:txBody>
      </p:sp>
      <p:sp>
        <p:nvSpPr>
          <p:cNvPr id="5" name="Footer Placeholder 4"/>
          <p:cNvSpPr>
            <a:spLocks noGrp="1"/>
          </p:cNvSpPr>
          <p:nvPr>
            <p:ph type="ftr" sz="quarter" idx="3"/>
          </p:nvPr>
        </p:nvSpPr>
        <p:spPr>
          <a:xfrm>
            <a:off x="3935006" y="6340166"/>
            <a:ext cx="4009251" cy="364195"/>
          </a:xfrm>
          <a:prstGeom prst="rect">
            <a:avLst/>
          </a:prstGeom>
        </p:spPr>
        <p:txBody>
          <a:bodyPr vert="horz" lIns="91440" tIns="45720" rIns="91440" bIns="45720" rtlCol="0" anchor="ctr"/>
          <a:lstStyle>
            <a:lvl1pPr algn="ctr">
              <a:defRPr sz="1169">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389730" y="6340166"/>
            <a:ext cx="2672834" cy="364195"/>
          </a:xfrm>
          <a:prstGeom prst="rect">
            <a:avLst/>
          </a:prstGeom>
        </p:spPr>
        <p:txBody>
          <a:bodyPr vert="horz" lIns="91440" tIns="45720" rIns="91440" bIns="45720" rtlCol="0" anchor="ctr"/>
          <a:lstStyle>
            <a:lvl1pPr algn="r">
              <a:defRPr sz="1169">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155338602"/>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hf sldNum="0" hdr="0" ftr="0" dt="0"/>
  <p:txStyles>
    <p:titleStyle>
      <a:lvl1pPr algn="l" defTabSz="890900" rtl="0" eaLnBrk="1" latinLnBrk="0" hangingPunct="1">
        <a:lnSpc>
          <a:spcPct val="90000"/>
        </a:lnSpc>
        <a:spcBef>
          <a:spcPct val="0"/>
        </a:spcBef>
        <a:buNone/>
        <a:defRPr sz="4287" kern="1200">
          <a:solidFill>
            <a:schemeClr val="tx1"/>
          </a:solidFill>
          <a:latin typeface="+mj-lt"/>
          <a:ea typeface="+mj-ea"/>
          <a:cs typeface="+mj-cs"/>
        </a:defRPr>
      </a:lvl1pPr>
    </p:titleStyle>
    <p:bodyStyle>
      <a:lvl1pPr marL="222725" indent="-222725" algn="l" defTabSz="890900" rtl="0" eaLnBrk="1" latinLnBrk="0" hangingPunct="1">
        <a:lnSpc>
          <a:spcPct val="90000"/>
        </a:lnSpc>
        <a:spcBef>
          <a:spcPts val="974"/>
        </a:spcBef>
        <a:buFont typeface="Arial" panose="020B0604020202020204" pitchFamily="34" charset="0"/>
        <a:buChar char="•"/>
        <a:defRPr sz="2728" kern="1200">
          <a:solidFill>
            <a:schemeClr val="tx1"/>
          </a:solidFill>
          <a:latin typeface="+mn-lt"/>
          <a:ea typeface="+mn-ea"/>
          <a:cs typeface="+mn-cs"/>
        </a:defRPr>
      </a:lvl1pPr>
      <a:lvl2pPr marL="668175" indent="-222725" algn="l" defTabSz="890900" rtl="0" eaLnBrk="1" latinLnBrk="0" hangingPunct="1">
        <a:lnSpc>
          <a:spcPct val="90000"/>
        </a:lnSpc>
        <a:spcBef>
          <a:spcPts val="487"/>
        </a:spcBef>
        <a:buFont typeface="Arial" panose="020B0604020202020204" pitchFamily="34" charset="0"/>
        <a:buChar char="•"/>
        <a:defRPr sz="2338" kern="1200">
          <a:solidFill>
            <a:schemeClr val="tx1"/>
          </a:solidFill>
          <a:latin typeface="+mn-lt"/>
          <a:ea typeface="+mn-ea"/>
          <a:cs typeface="+mn-cs"/>
        </a:defRPr>
      </a:lvl2pPr>
      <a:lvl3pPr marL="1113625" indent="-222725" algn="l" defTabSz="890900" rtl="0" eaLnBrk="1" latinLnBrk="0" hangingPunct="1">
        <a:lnSpc>
          <a:spcPct val="90000"/>
        </a:lnSpc>
        <a:spcBef>
          <a:spcPts val="487"/>
        </a:spcBef>
        <a:buFont typeface="Arial" panose="020B0604020202020204" pitchFamily="34" charset="0"/>
        <a:buChar char="•"/>
        <a:defRPr sz="1949" kern="1200">
          <a:solidFill>
            <a:schemeClr val="tx1"/>
          </a:solidFill>
          <a:latin typeface="+mn-lt"/>
          <a:ea typeface="+mn-ea"/>
          <a:cs typeface="+mn-cs"/>
        </a:defRPr>
      </a:lvl3pPr>
      <a:lvl4pPr marL="1559075" indent="-222725" algn="l" defTabSz="890900" rtl="0" eaLnBrk="1" latinLnBrk="0" hangingPunct="1">
        <a:lnSpc>
          <a:spcPct val="90000"/>
        </a:lnSpc>
        <a:spcBef>
          <a:spcPts val="487"/>
        </a:spcBef>
        <a:buFont typeface="Arial" panose="020B0604020202020204" pitchFamily="34" charset="0"/>
        <a:buChar char="•"/>
        <a:defRPr sz="1754" kern="1200">
          <a:solidFill>
            <a:schemeClr val="tx1"/>
          </a:solidFill>
          <a:latin typeface="+mn-lt"/>
          <a:ea typeface="+mn-ea"/>
          <a:cs typeface="+mn-cs"/>
        </a:defRPr>
      </a:lvl4pPr>
      <a:lvl5pPr marL="2004525" indent="-222725" algn="l" defTabSz="890900" rtl="0" eaLnBrk="1" latinLnBrk="0" hangingPunct="1">
        <a:lnSpc>
          <a:spcPct val="90000"/>
        </a:lnSpc>
        <a:spcBef>
          <a:spcPts val="487"/>
        </a:spcBef>
        <a:buFont typeface="Arial" panose="020B0604020202020204" pitchFamily="34" charset="0"/>
        <a:buChar char="•"/>
        <a:defRPr sz="1754" kern="1200">
          <a:solidFill>
            <a:schemeClr val="tx1"/>
          </a:solidFill>
          <a:latin typeface="+mn-lt"/>
          <a:ea typeface="+mn-ea"/>
          <a:cs typeface="+mn-cs"/>
        </a:defRPr>
      </a:lvl5pPr>
      <a:lvl6pPr marL="2449975" indent="-222725" algn="l" defTabSz="890900" rtl="0" eaLnBrk="1" latinLnBrk="0" hangingPunct="1">
        <a:lnSpc>
          <a:spcPct val="90000"/>
        </a:lnSpc>
        <a:spcBef>
          <a:spcPts val="487"/>
        </a:spcBef>
        <a:buFont typeface="Arial" panose="020B0604020202020204" pitchFamily="34" charset="0"/>
        <a:buChar char="•"/>
        <a:defRPr sz="1754" kern="1200">
          <a:solidFill>
            <a:schemeClr val="tx1"/>
          </a:solidFill>
          <a:latin typeface="+mn-lt"/>
          <a:ea typeface="+mn-ea"/>
          <a:cs typeface="+mn-cs"/>
        </a:defRPr>
      </a:lvl6pPr>
      <a:lvl7pPr marL="2895425" indent="-222725" algn="l" defTabSz="890900" rtl="0" eaLnBrk="1" latinLnBrk="0" hangingPunct="1">
        <a:lnSpc>
          <a:spcPct val="90000"/>
        </a:lnSpc>
        <a:spcBef>
          <a:spcPts val="487"/>
        </a:spcBef>
        <a:buFont typeface="Arial" panose="020B0604020202020204" pitchFamily="34" charset="0"/>
        <a:buChar char="•"/>
        <a:defRPr sz="1754" kern="1200">
          <a:solidFill>
            <a:schemeClr val="tx1"/>
          </a:solidFill>
          <a:latin typeface="+mn-lt"/>
          <a:ea typeface="+mn-ea"/>
          <a:cs typeface="+mn-cs"/>
        </a:defRPr>
      </a:lvl7pPr>
      <a:lvl8pPr marL="3340875" indent="-222725" algn="l" defTabSz="890900" rtl="0" eaLnBrk="1" latinLnBrk="0" hangingPunct="1">
        <a:lnSpc>
          <a:spcPct val="90000"/>
        </a:lnSpc>
        <a:spcBef>
          <a:spcPts val="487"/>
        </a:spcBef>
        <a:buFont typeface="Arial" panose="020B0604020202020204" pitchFamily="34" charset="0"/>
        <a:buChar char="•"/>
        <a:defRPr sz="1754" kern="1200">
          <a:solidFill>
            <a:schemeClr val="tx1"/>
          </a:solidFill>
          <a:latin typeface="+mn-lt"/>
          <a:ea typeface="+mn-ea"/>
          <a:cs typeface="+mn-cs"/>
        </a:defRPr>
      </a:lvl8pPr>
      <a:lvl9pPr marL="3786325" indent="-222725" algn="l" defTabSz="890900" rtl="0" eaLnBrk="1" latinLnBrk="0" hangingPunct="1">
        <a:lnSpc>
          <a:spcPct val="90000"/>
        </a:lnSpc>
        <a:spcBef>
          <a:spcPts val="487"/>
        </a:spcBef>
        <a:buFont typeface="Arial" panose="020B0604020202020204" pitchFamily="34" charset="0"/>
        <a:buChar char="•"/>
        <a:defRPr sz="1754" kern="1200">
          <a:solidFill>
            <a:schemeClr val="tx1"/>
          </a:solidFill>
          <a:latin typeface="+mn-lt"/>
          <a:ea typeface="+mn-ea"/>
          <a:cs typeface="+mn-cs"/>
        </a:defRPr>
      </a:lvl9pPr>
    </p:bodyStyle>
    <p:otherStyle>
      <a:defPPr>
        <a:defRPr lang="en-US"/>
      </a:defPPr>
      <a:lvl1pPr marL="0" algn="l" defTabSz="890900" rtl="0" eaLnBrk="1" latinLnBrk="0" hangingPunct="1">
        <a:defRPr sz="1754" kern="1200">
          <a:solidFill>
            <a:schemeClr val="tx1"/>
          </a:solidFill>
          <a:latin typeface="+mn-lt"/>
          <a:ea typeface="+mn-ea"/>
          <a:cs typeface="+mn-cs"/>
        </a:defRPr>
      </a:lvl1pPr>
      <a:lvl2pPr marL="445450" algn="l" defTabSz="890900" rtl="0" eaLnBrk="1" latinLnBrk="0" hangingPunct="1">
        <a:defRPr sz="1754" kern="1200">
          <a:solidFill>
            <a:schemeClr val="tx1"/>
          </a:solidFill>
          <a:latin typeface="+mn-lt"/>
          <a:ea typeface="+mn-ea"/>
          <a:cs typeface="+mn-cs"/>
        </a:defRPr>
      </a:lvl2pPr>
      <a:lvl3pPr marL="890900" algn="l" defTabSz="890900" rtl="0" eaLnBrk="1" latinLnBrk="0" hangingPunct="1">
        <a:defRPr sz="1754" kern="1200">
          <a:solidFill>
            <a:schemeClr val="tx1"/>
          </a:solidFill>
          <a:latin typeface="+mn-lt"/>
          <a:ea typeface="+mn-ea"/>
          <a:cs typeface="+mn-cs"/>
        </a:defRPr>
      </a:lvl3pPr>
      <a:lvl4pPr marL="1336350" algn="l" defTabSz="890900" rtl="0" eaLnBrk="1" latinLnBrk="0" hangingPunct="1">
        <a:defRPr sz="1754" kern="1200">
          <a:solidFill>
            <a:schemeClr val="tx1"/>
          </a:solidFill>
          <a:latin typeface="+mn-lt"/>
          <a:ea typeface="+mn-ea"/>
          <a:cs typeface="+mn-cs"/>
        </a:defRPr>
      </a:lvl4pPr>
      <a:lvl5pPr marL="1781800" algn="l" defTabSz="890900" rtl="0" eaLnBrk="1" latinLnBrk="0" hangingPunct="1">
        <a:defRPr sz="1754" kern="1200">
          <a:solidFill>
            <a:schemeClr val="tx1"/>
          </a:solidFill>
          <a:latin typeface="+mn-lt"/>
          <a:ea typeface="+mn-ea"/>
          <a:cs typeface="+mn-cs"/>
        </a:defRPr>
      </a:lvl5pPr>
      <a:lvl6pPr marL="2227250" algn="l" defTabSz="890900" rtl="0" eaLnBrk="1" latinLnBrk="0" hangingPunct="1">
        <a:defRPr sz="1754" kern="1200">
          <a:solidFill>
            <a:schemeClr val="tx1"/>
          </a:solidFill>
          <a:latin typeface="+mn-lt"/>
          <a:ea typeface="+mn-ea"/>
          <a:cs typeface="+mn-cs"/>
        </a:defRPr>
      </a:lvl6pPr>
      <a:lvl7pPr marL="2672700" algn="l" defTabSz="890900" rtl="0" eaLnBrk="1" latinLnBrk="0" hangingPunct="1">
        <a:defRPr sz="1754" kern="1200">
          <a:solidFill>
            <a:schemeClr val="tx1"/>
          </a:solidFill>
          <a:latin typeface="+mn-lt"/>
          <a:ea typeface="+mn-ea"/>
          <a:cs typeface="+mn-cs"/>
        </a:defRPr>
      </a:lvl7pPr>
      <a:lvl8pPr marL="3118150" algn="l" defTabSz="890900" rtl="0" eaLnBrk="1" latinLnBrk="0" hangingPunct="1">
        <a:defRPr sz="1754" kern="1200">
          <a:solidFill>
            <a:schemeClr val="tx1"/>
          </a:solidFill>
          <a:latin typeface="+mn-lt"/>
          <a:ea typeface="+mn-ea"/>
          <a:cs typeface="+mn-cs"/>
        </a:defRPr>
      </a:lvl8pPr>
      <a:lvl9pPr marL="3563600" algn="l" defTabSz="890900" rtl="0" eaLnBrk="1" latinLnBrk="0" hangingPunct="1">
        <a:defRPr sz="175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image" Target="../media/image1.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3.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18" Type="http://schemas.openxmlformats.org/officeDocument/2006/relationships/image" Target="../media/image29.png"/><Relationship Id="rId3" Type="http://schemas.openxmlformats.org/officeDocument/2006/relationships/image" Target="../media/image1.png"/><Relationship Id="rId21" Type="http://schemas.openxmlformats.org/officeDocument/2006/relationships/image" Target="../media/image32.png"/><Relationship Id="rId7" Type="http://schemas.openxmlformats.org/officeDocument/2006/relationships/image" Target="../media/image18.png"/><Relationship Id="rId12" Type="http://schemas.openxmlformats.org/officeDocument/2006/relationships/image" Target="../media/image23.png"/><Relationship Id="rId17" Type="http://schemas.openxmlformats.org/officeDocument/2006/relationships/image" Target="../media/image28.png"/><Relationship Id="rId2" Type="http://schemas.openxmlformats.org/officeDocument/2006/relationships/notesSlide" Target="../notesSlides/notesSlide3.xml"/><Relationship Id="rId16" Type="http://schemas.openxmlformats.org/officeDocument/2006/relationships/image" Target="../media/image27.png"/><Relationship Id="rId20" Type="http://schemas.openxmlformats.org/officeDocument/2006/relationships/image" Target="../media/image31.png"/><Relationship Id="rId1" Type="http://schemas.openxmlformats.org/officeDocument/2006/relationships/slideLayout" Target="../slideLayouts/slideLayout12.xml"/><Relationship Id="rId6" Type="http://schemas.openxmlformats.org/officeDocument/2006/relationships/image" Target="../media/image8.png"/><Relationship Id="rId11" Type="http://schemas.openxmlformats.org/officeDocument/2006/relationships/image" Target="../media/image22.png"/><Relationship Id="rId5" Type="http://schemas.openxmlformats.org/officeDocument/2006/relationships/image" Target="../media/image7.png"/><Relationship Id="rId15" Type="http://schemas.openxmlformats.org/officeDocument/2006/relationships/image" Target="../media/image26.png"/><Relationship Id="rId10" Type="http://schemas.openxmlformats.org/officeDocument/2006/relationships/image" Target="../media/image21.png"/><Relationship Id="rId19" Type="http://schemas.openxmlformats.org/officeDocument/2006/relationships/image" Target="../media/image30.png"/><Relationship Id="rId4" Type="http://schemas.openxmlformats.org/officeDocument/2006/relationships/image" Target="../media/image6.png"/><Relationship Id="rId9" Type="http://schemas.openxmlformats.org/officeDocument/2006/relationships/image" Target="../media/image20.png"/><Relationship Id="rId14" Type="http://schemas.openxmlformats.org/officeDocument/2006/relationships/image" Target="../media/image25.png"/></Relationships>
</file>

<file path=ppt/slides/_rels/slide4.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png"/><Relationship Id="rId3" Type="http://schemas.openxmlformats.org/officeDocument/2006/relationships/image" Target="../media/image1.png"/><Relationship Id="rId7" Type="http://schemas.openxmlformats.org/officeDocument/2006/relationships/image" Target="../media/image33.png"/><Relationship Id="rId12" Type="http://schemas.openxmlformats.org/officeDocument/2006/relationships/image" Target="../media/image38.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8.png"/><Relationship Id="rId11" Type="http://schemas.openxmlformats.org/officeDocument/2006/relationships/image" Target="../media/image37.png"/><Relationship Id="rId5" Type="http://schemas.openxmlformats.org/officeDocument/2006/relationships/image" Target="../media/image7.png"/><Relationship Id="rId15" Type="http://schemas.openxmlformats.org/officeDocument/2006/relationships/image" Target="../media/image41.png"/><Relationship Id="rId10" Type="http://schemas.openxmlformats.org/officeDocument/2006/relationships/image" Target="../media/image36.png"/><Relationship Id="rId4" Type="http://schemas.openxmlformats.org/officeDocument/2006/relationships/image" Target="../media/image6.png"/><Relationship Id="rId9" Type="http://schemas.openxmlformats.org/officeDocument/2006/relationships/image" Target="../media/image35.png"/><Relationship Id="rId14" Type="http://schemas.openxmlformats.org/officeDocument/2006/relationships/image" Target="../media/image40.png"/></Relationships>
</file>

<file path=ppt/slides/_rels/slide5.xml.rels><?xml version="1.0" encoding="UTF-8" standalone="yes"?>
<Relationships xmlns="http://schemas.openxmlformats.org/package/2006/relationships"><Relationship Id="rId8" Type="http://schemas.openxmlformats.org/officeDocument/2006/relationships/image" Target="../media/image43.png"/><Relationship Id="rId13" Type="http://schemas.openxmlformats.org/officeDocument/2006/relationships/image" Target="../media/image48.png"/><Relationship Id="rId18" Type="http://schemas.openxmlformats.org/officeDocument/2006/relationships/image" Target="../media/image53.png"/><Relationship Id="rId3" Type="http://schemas.openxmlformats.org/officeDocument/2006/relationships/image" Target="../media/image1.png"/><Relationship Id="rId21" Type="http://schemas.openxmlformats.org/officeDocument/2006/relationships/image" Target="../media/image17.png"/><Relationship Id="rId7" Type="http://schemas.openxmlformats.org/officeDocument/2006/relationships/image" Target="../media/image42.png"/><Relationship Id="rId12" Type="http://schemas.openxmlformats.org/officeDocument/2006/relationships/image" Target="../media/image47.png"/><Relationship Id="rId17" Type="http://schemas.openxmlformats.org/officeDocument/2006/relationships/image" Target="../media/image52.png"/><Relationship Id="rId2" Type="http://schemas.openxmlformats.org/officeDocument/2006/relationships/notesSlide" Target="../notesSlides/notesSlide5.xml"/><Relationship Id="rId16" Type="http://schemas.openxmlformats.org/officeDocument/2006/relationships/image" Target="../media/image51.png"/><Relationship Id="rId20" Type="http://schemas.openxmlformats.org/officeDocument/2006/relationships/image" Target="../media/image55.png"/><Relationship Id="rId1" Type="http://schemas.openxmlformats.org/officeDocument/2006/relationships/slideLayout" Target="../slideLayouts/slideLayout12.xml"/><Relationship Id="rId6" Type="http://schemas.openxmlformats.org/officeDocument/2006/relationships/image" Target="../media/image8.png"/><Relationship Id="rId11" Type="http://schemas.openxmlformats.org/officeDocument/2006/relationships/image" Target="../media/image46.png"/><Relationship Id="rId5" Type="http://schemas.openxmlformats.org/officeDocument/2006/relationships/image" Target="../media/image7.png"/><Relationship Id="rId15" Type="http://schemas.openxmlformats.org/officeDocument/2006/relationships/image" Target="../media/image50.png"/><Relationship Id="rId10" Type="http://schemas.openxmlformats.org/officeDocument/2006/relationships/image" Target="../media/image45.png"/><Relationship Id="rId19" Type="http://schemas.openxmlformats.org/officeDocument/2006/relationships/image" Target="../media/image54.png"/><Relationship Id="rId4" Type="http://schemas.openxmlformats.org/officeDocument/2006/relationships/image" Target="../media/image6.png"/><Relationship Id="rId9" Type="http://schemas.openxmlformats.org/officeDocument/2006/relationships/image" Target="../media/image44.png"/><Relationship Id="rId14" Type="http://schemas.openxmlformats.org/officeDocument/2006/relationships/image" Target="../media/image49.png"/></Relationships>
</file>

<file path=ppt/slides/_rels/slide6.xml.rels><?xml version="1.0" encoding="UTF-8" standalone="yes"?>
<Relationships xmlns="http://schemas.openxmlformats.org/package/2006/relationships"><Relationship Id="rId8" Type="http://schemas.openxmlformats.org/officeDocument/2006/relationships/image" Target="../media/image58.png"/><Relationship Id="rId13" Type="http://schemas.openxmlformats.org/officeDocument/2006/relationships/image" Target="../media/image63.png"/><Relationship Id="rId18" Type="http://schemas.openxmlformats.org/officeDocument/2006/relationships/image" Target="../media/image68.png"/><Relationship Id="rId26" Type="http://schemas.openxmlformats.org/officeDocument/2006/relationships/image" Target="../media/image76.png"/><Relationship Id="rId3" Type="http://schemas.openxmlformats.org/officeDocument/2006/relationships/image" Target="../media/image1.png"/><Relationship Id="rId21" Type="http://schemas.openxmlformats.org/officeDocument/2006/relationships/image" Target="../media/image71.png"/><Relationship Id="rId7" Type="http://schemas.openxmlformats.org/officeDocument/2006/relationships/image" Target="../media/image57.png"/><Relationship Id="rId12" Type="http://schemas.openxmlformats.org/officeDocument/2006/relationships/image" Target="../media/image62.png"/><Relationship Id="rId17" Type="http://schemas.openxmlformats.org/officeDocument/2006/relationships/image" Target="../media/image67.png"/><Relationship Id="rId25" Type="http://schemas.openxmlformats.org/officeDocument/2006/relationships/image" Target="../media/image75.png"/><Relationship Id="rId2" Type="http://schemas.openxmlformats.org/officeDocument/2006/relationships/notesSlide" Target="../notesSlides/notesSlide6.xml"/><Relationship Id="rId16" Type="http://schemas.openxmlformats.org/officeDocument/2006/relationships/image" Target="../media/image66.png"/><Relationship Id="rId20" Type="http://schemas.openxmlformats.org/officeDocument/2006/relationships/image" Target="../media/image70.png"/><Relationship Id="rId29" Type="http://schemas.openxmlformats.org/officeDocument/2006/relationships/image" Target="../media/image79.png"/><Relationship Id="rId1" Type="http://schemas.openxmlformats.org/officeDocument/2006/relationships/slideLayout" Target="../slideLayouts/slideLayout12.xml"/><Relationship Id="rId6" Type="http://schemas.openxmlformats.org/officeDocument/2006/relationships/image" Target="../media/image56.png"/><Relationship Id="rId11" Type="http://schemas.openxmlformats.org/officeDocument/2006/relationships/image" Target="../media/image61.png"/><Relationship Id="rId24" Type="http://schemas.openxmlformats.org/officeDocument/2006/relationships/image" Target="../media/image74.png"/><Relationship Id="rId5" Type="http://schemas.openxmlformats.org/officeDocument/2006/relationships/image" Target="../media/image7.png"/><Relationship Id="rId15" Type="http://schemas.openxmlformats.org/officeDocument/2006/relationships/image" Target="../media/image65.png"/><Relationship Id="rId23" Type="http://schemas.openxmlformats.org/officeDocument/2006/relationships/image" Target="../media/image73.png"/><Relationship Id="rId28" Type="http://schemas.openxmlformats.org/officeDocument/2006/relationships/image" Target="../media/image78.png"/><Relationship Id="rId10" Type="http://schemas.openxmlformats.org/officeDocument/2006/relationships/image" Target="../media/image60.png"/><Relationship Id="rId19" Type="http://schemas.openxmlformats.org/officeDocument/2006/relationships/image" Target="../media/image69.png"/><Relationship Id="rId4" Type="http://schemas.openxmlformats.org/officeDocument/2006/relationships/image" Target="../media/image6.png"/><Relationship Id="rId9" Type="http://schemas.openxmlformats.org/officeDocument/2006/relationships/image" Target="../media/image59.png"/><Relationship Id="rId14" Type="http://schemas.openxmlformats.org/officeDocument/2006/relationships/image" Target="../media/image64.png"/><Relationship Id="rId22" Type="http://schemas.openxmlformats.org/officeDocument/2006/relationships/image" Target="../media/image72.png"/><Relationship Id="rId27" Type="http://schemas.openxmlformats.org/officeDocument/2006/relationships/image" Target="../media/image77.png"/></Relationships>
</file>

<file path=ppt/slides/_rels/slide7.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image" Target="../media/image80.png"/><Relationship Id="rId7" Type="http://schemas.openxmlformats.org/officeDocument/2006/relationships/image" Target="../media/image84.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s>
</file>

<file path=ppt/slides/_rels/slide8.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image" Target="../media/image80.png"/><Relationship Id="rId7" Type="http://schemas.openxmlformats.org/officeDocument/2006/relationships/image" Target="../media/image88.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81.png"/><Relationship Id="rId9" Type="http://schemas.openxmlformats.org/officeDocument/2006/relationships/image" Target="../media/image90.png"/></Relationships>
</file>

<file path=ppt/slides/_rels/slide9.xml.rels><?xml version="1.0" encoding="UTF-8" standalone="yes"?>
<Relationships xmlns="http://schemas.openxmlformats.org/package/2006/relationships"><Relationship Id="rId8" Type="http://schemas.openxmlformats.org/officeDocument/2006/relationships/image" Target="../media/image85.png"/><Relationship Id="rId3" Type="http://schemas.openxmlformats.org/officeDocument/2006/relationships/image" Target="../media/image80.png"/><Relationship Id="rId7" Type="http://schemas.openxmlformats.org/officeDocument/2006/relationships/image" Target="../media/image84.png"/><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s>
</file>

<file path=ppt/slides/_rels/slide10.xml.rels><?xml version="1.0" encoding="UTF-8" standalone="yes"?>
<Relationships xmlns="http://schemas.openxmlformats.org/package/2006/relationships"><Relationship Id="rId8" Type="http://schemas.openxmlformats.org/officeDocument/2006/relationships/image" Target="../media/image93.png"/><Relationship Id="rId13" Type="http://schemas.openxmlformats.org/officeDocument/2006/relationships/image" Target="../media/image98.png"/><Relationship Id="rId18" Type="http://schemas.openxmlformats.org/officeDocument/2006/relationships/image" Target="../media/image103.png"/><Relationship Id="rId3" Type="http://schemas.openxmlformats.org/officeDocument/2006/relationships/image" Target="../media/image1.png"/><Relationship Id="rId21" Type="http://schemas.openxmlformats.org/officeDocument/2006/relationships/image" Target="../media/image106.png"/><Relationship Id="rId7" Type="http://schemas.openxmlformats.org/officeDocument/2006/relationships/image" Target="../media/image92.png"/><Relationship Id="rId12" Type="http://schemas.openxmlformats.org/officeDocument/2006/relationships/image" Target="../media/image97.png"/><Relationship Id="rId17" Type="http://schemas.openxmlformats.org/officeDocument/2006/relationships/image" Target="../media/image102.png"/><Relationship Id="rId2" Type="http://schemas.openxmlformats.org/officeDocument/2006/relationships/notesSlide" Target="../notesSlides/notesSlide10.xml"/><Relationship Id="rId16" Type="http://schemas.openxmlformats.org/officeDocument/2006/relationships/image" Target="../media/image101.png"/><Relationship Id="rId20" Type="http://schemas.openxmlformats.org/officeDocument/2006/relationships/image" Target="../media/image105.png"/><Relationship Id="rId1" Type="http://schemas.openxmlformats.org/officeDocument/2006/relationships/slideLayout" Target="../slideLayouts/slideLayout12.xml"/><Relationship Id="rId6" Type="http://schemas.openxmlformats.org/officeDocument/2006/relationships/image" Target="../media/image91.png"/><Relationship Id="rId11" Type="http://schemas.openxmlformats.org/officeDocument/2006/relationships/image" Target="../media/image96.png"/><Relationship Id="rId5" Type="http://schemas.openxmlformats.org/officeDocument/2006/relationships/image" Target="../media/image81.png"/><Relationship Id="rId15" Type="http://schemas.openxmlformats.org/officeDocument/2006/relationships/image" Target="../media/image100.png"/><Relationship Id="rId10" Type="http://schemas.openxmlformats.org/officeDocument/2006/relationships/image" Target="../media/image95.png"/><Relationship Id="rId19" Type="http://schemas.openxmlformats.org/officeDocument/2006/relationships/image" Target="../media/image104.png"/><Relationship Id="rId4" Type="http://schemas.openxmlformats.org/officeDocument/2006/relationships/image" Target="../media/image80.png"/><Relationship Id="rId9" Type="http://schemas.openxmlformats.org/officeDocument/2006/relationships/image" Target="../media/image94.png"/><Relationship Id="rId14" Type="http://schemas.openxmlformats.org/officeDocument/2006/relationships/image" Target="../media/image99.png"/></Relationships>
</file>

<file path=ppt/slides/_rels/slide11.xml.rels><?xml version="1.0" encoding="UTF-8" standalone="yes"?>
<Relationships xmlns="http://schemas.openxmlformats.org/package/2006/relationships"><Relationship Id="rId8" Type="http://schemas.openxmlformats.org/officeDocument/2006/relationships/image" Target="../media/image108.png"/><Relationship Id="rId13" Type="http://schemas.openxmlformats.org/officeDocument/2006/relationships/image" Target="../media/image112.png"/><Relationship Id="rId18" Type="http://schemas.openxmlformats.org/officeDocument/2006/relationships/image" Target="../media/image85.png"/><Relationship Id="rId3" Type="http://schemas.openxmlformats.org/officeDocument/2006/relationships/image" Target="../media/image1.png"/><Relationship Id="rId21" Type="http://schemas.openxmlformats.org/officeDocument/2006/relationships/image" Target="../media/image118.png"/><Relationship Id="rId7" Type="http://schemas.openxmlformats.org/officeDocument/2006/relationships/image" Target="../media/image107.png"/><Relationship Id="rId12" Type="http://schemas.openxmlformats.org/officeDocument/2006/relationships/image" Target="../media/image111.png"/><Relationship Id="rId17" Type="http://schemas.openxmlformats.org/officeDocument/2006/relationships/image" Target="../media/image115.png"/><Relationship Id="rId2" Type="http://schemas.openxmlformats.org/officeDocument/2006/relationships/notesSlide" Target="../notesSlides/notesSlide11.xml"/><Relationship Id="rId16" Type="http://schemas.openxmlformats.org/officeDocument/2006/relationships/image" Target="../media/image114.png"/><Relationship Id="rId20" Type="http://schemas.openxmlformats.org/officeDocument/2006/relationships/image" Target="../media/image117.png"/><Relationship Id="rId1" Type="http://schemas.openxmlformats.org/officeDocument/2006/relationships/slideLayout" Target="../slideLayouts/slideLayout12.xml"/><Relationship Id="rId6" Type="http://schemas.openxmlformats.org/officeDocument/2006/relationships/image" Target="../media/image82.png"/><Relationship Id="rId11" Type="http://schemas.openxmlformats.org/officeDocument/2006/relationships/image" Target="../media/image110.png"/><Relationship Id="rId5" Type="http://schemas.openxmlformats.org/officeDocument/2006/relationships/image" Target="../media/image81.png"/><Relationship Id="rId15" Type="http://schemas.openxmlformats.org/officeDocument/2006/relationships/image" Target="../media/image113.png"/><Relationship Id="rId10" Type="http://schemas.openxmlformats.org/officeDocument/2006/relationships/image" Target="../media/image83.png"/><Relationship Id="rId19" Type="http://schemas.openxmlformats.org/officeDocument/2006/relationships/image" Target="../media/image116.png"/><Relationship Id="rId4" Type="http://schemas.openxmlformats.org/officeDocument/2006/relationships/image" Target="../media/image80.png"/><Relationship Id="rId9" Type="http://schemas.openxmlformats.org/officeDocument/2006/relationships/image" Target="../media/image109.png"/><Relationship Id="rId14" Type="http://schemas.openxmlformats.org/officeDocument/2006/relationships/image" Target="../media/image84.png"/></Relationships>
</file>

<file path=ppt/slides/_rels/slide12.xml.rels><?xml version="1.0" encoding="UTF-8" standalone="yes"?>
<Relationships xmlns="http://schemas.openxmlformats.org/package/2006/relationships"><Relationship Id="rId8" Type="http://schemas.openxmlformats.org/officeDocument/2006/relationships/image" Target="../media/image92.png"/><Relationship Id="rId13" Type="http://schemas.openxmlformats.org/officeDocument/2006/relationships/image" Target="../media/image125.png"/><Relationship Id="rId3" Type="http://schemas.openxmlformats.org/officeDocument/2006/relationships/image" Target="../media/image1.png"/><Relationship Id="rId7" Type="http://schemas.openxmlformats.org/officeDocument/2006/relationships/image" Target="../media/image120.png"/><Relationship Id="rId12" Type="http://schemas.openxmlformats.org/officeDocument/2006/relationships/image" Target="../media/image124.png"/><Relationship Id="rId2" Type="http://schemas.openxmlformats.org/officeDocument/2006/relationships/notesSlide" Target="../notesSlides/notesSlide12.xml"/><Relationship Id="rId16" Type="http://schemas.openxmlformats.org/officeDocument/2006/relationships/image" Target="../media/image128.png"/><Relationship Id="rId1" Type="http://schemas.openxmlformats.org/officeDocument/2006/relationships/slideLayout" Target="../slideLayouts/slideLayout12.xml"/><Relationship Id="rId6" Type="http://schemas.openxmlformats.org/officeDocument/2006/relationships/image" Target="../media/image119.png"/><Relationship Id="rId11" Type="http://schemas.openxmlformats.org/officeDocument/2006/relationships/image" Target="../media/image123.png"/><Relationship Id="rId5" Type="http://schemas.openxmlformats.org/officeDocument/2006/relationships/image" Target="../media/image81.png"/><Relationship Id="rId15" Type="http://schemas.openxmlformats.org/officeDocument/2006/relationships/image" Target="../media/image127.png"/><Relationship Id="rId10" Type="http://schemas.openxmlformats.org/officeDocument/2006/relationships/image" Target="../media/image122.png"/><Relationship Id="rId4" Type="http://schemas.openxmlformats.org/officeDocument/2006/relationships/image" Target="../media/image80.png"/><Relationship Id="rId9" Type="http://schemas.openxmlformats.org/officeDocument/2006/relationships/image" Target="../media/image121.png"/><Relationship Id="rId14" Type="http://schemas.openxmlformats.org/officeDocument/2006/relationships/image" Target="../media/image12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79227"/>
            <a:ext cx="11879263" cy="6682085"/>
          </a:xfrm>
          <a:prstGeom prst="rect">
            <a:avLst/>
          </a:prstGeom>
        </p:spPr>
      </p:pic>
      <p:pic>
        <p:nvPicPr>
          <p:cNvPr id="3" name="Image 1" descr="preencoded.png"/>
          <p:cNvPicPr>
            <a:picLocks noChangeAspect="1"/>
          </p:cNvPicPr>
          <p:nvPr/>
        </p:nvPicPr>
        <p:blipFill>
          <a:blip r:embed="rId4"/>
          <a:stretch>
            <a:fillRect/>
          </a:stretch>
        </p:blipFill>
        <p:spPr>
          <a:xfrm>
            <a:off x="9559094" y="79227"/>
            <a:ext cx="2320168" cy="2320168"/>
          </a:xfrm>
          <a:prstGeom prst="rect">
            <a:avLst/>
          </a:prstGeom>
        </p:spPr>
      </p:pic>
      <p:pic>
        <p:nvPicPr>
          <p:cNvPr id="4" name="Image 2" descr="preencoded.png"/>
          <p:cNvPicPr>
            <a:picLocks noChangeAspect="1"/>
          </p:cNvPicPr>
          <p:nvPr/>
        </p:nvPicPr>
        <p:blipFill>
          <a:blip r:embed="rId5"/>
          <a:stretch>
            <a:fillRect/>
          </a:stretch>
        </p:blipFill>
        <p:spPr>
          <a:xfrm>
            <a:off x="0" y="3977109"/>
            <a:ext cx="1392101" cy="1856135"/>
          </a:xfrm>
          <a:prstGeom prst="rect">
            <a:avLst/>
          </a:prstGeom>
        </p:spPr>
      </p:pic>
      <p:pic>
        <p:nvPicPr>
          <p:cNvPr id="5" name="Image 3" descr="preencoded.png"/>
          <p:cNvPicPr>
            <a:picLocks noChangeAspect="1"/>
          </p:cNvPicPr>
          <p:nvPr/>
        </p:nvPicPr>
        <p:blipFill>
          <a:blip r:embed="rId6"/>
          <a:stretch>
            <a:fillRect/>
          </a:stretch>
        </p:blipFill>
        <p:spPr>
          <a:xfrm>
            <a:off x="8631026" y="5647631"/>
            <a:ext cx="1392101" cy="1392101"/>
          </a:xfrm>
          <a:prstGeom prst="rect">
            <a:avLst/>
          </a:prstGeom>
        </p:spPr>
      </p:pic>
      <p:pic>
        <p:nvPicPr>
          <p:cNvPr id="6" name="Image 4" descr="preencoded.png"/>
          <p:cNvPicPr>
            <a:picLocks noChangeAspect="1"/>
          </p:cNvPicPr>
          <p:nvPr/>
        </p:nvPicPr>
        <p:blipFill>
          <a:blip r:embed="rId7"/>
          <a:stretch>
            <a:fillRect/>
          </a:stretch>
        </p:blipFill>
        <p:spPr>
          <a:xfrm>
            <a:off x="5345668" y="1935361"/>
            <a:ext cx="1187926" cy="37123"/>
          </a:xfrm>
          <a:prstGeom prst="rect">
            <a:avLst/>
          </a:prstGeom>
        </p:spPr>
      </p:pic>
      <p:sp>
        <p:nvSpPr>
          <p:cNvPr id="17" name="Text 0"/>
          <p:cNvSpPr/>
          <p:nvPr/>
        </p:nvSpPr>
        <p:spPr>
          <a:xfrm>
            <a:off x="-296982" y="673190"/>
            <a:ext cx="12473226" cy="556840"/>
          </a:xfrm>
          <a:prstGeom prst="rect">
            <a:avLst/>
          </a:prstGeom>
          <a:noFill/>
          <a:ln/>
        </p:spPr>
        <p:txBody>
          <a:bodyPr vert="horz" wrap="square" lIns="0" tIns="0" rIns="0" bIns="0" rtlCol="0" anchor="t"/>
          <a:lstStyle/>
          <a:p>
            <a:pPr algn="ctr">
              <a:lnSpc>
                <a:spcPts val="4384"/>
              </a:lnSpc>
            </a:pPr>
            <a:r>
              <a:rPr lang="en-US" sz="4384" b="1" dirty="0">
                <a:solidFill>
                  <a:srgbClr val="FF9900"/>
                </a:solidFill>
                <a:latin typeface="ui-sans-serif" pitchFamily="34" charset="0"/>
                <a:ea typeface="ui-sans-serif" pitchFamily="34" charset="-122"/>
                <a:cs typeface="ui-sans-serif" pitchFamily="34" charset="-120"/>
              </a:rPr>
              <a:t>Amazon</a:t>
            </a:r>
            <a:r>
              <a:rPr lang="en-US" sz="4384" b="1" dirty="0">
                <a:solidFill>
                  <a:srgbClr val="000000"/>
                </a:solidFill>
                <a:latin typeface="ui-sans-serif" pitchFamily="34" charset="0"/>
                <a:ea typeface="ui-sans-serif" pitchFamily="34" charset="-122"/>
                <a:cs typeface="ui-sans-serif" pitchFamily="34" charset="-120"/>
              </a:rPr>
              <a:t> CloudWatch</a:t>
            </a:r>
            <a:endParaRPr lang="en-US" sz="4384" dirty="0"/>
          </a:p>
        </p:txBody>
      </p:sp>
      <p:sp>
        <p:nvSpPr>
          <p:cNvPr id="18" name="Text 1"/>
          <p:cNvSpPr/>
          <p:nvPr/>
        </p:nvSpPr>
        <p:spPr>
          <a:xfrm>
            <a:off x="-296982" y="1378521"/>
            <a:ext cx="12473226" cy="334104"/>
          </a:xfrm>
          <a:prstGeom prst="rect">
            <a:avLst/>
          </a:prstGeom>
          <a:noFill/>
          <a:ln/>
        </p:spPr>
        <p:txBody>
          <a:bodyPr vert="horz" wrap="square" lIns="0" tIns="0" rIns="0" bIns="0" rtlCol="0" anchor="t"/>
          <a:lstStyle/>
          <a:p>
            <a:pPr algn="ctr">
              <a:lnSpc>
                <a:spcPts val="2631"/>
              </a:lnSpc>
            </a:pPr>
            <a:r>
              <a:rPr lang="en-US" sz="2192" dirty="0">
                <a:solidFill>
                  <a:srgbClr val="4B5563"/>
                </a:solidFill>
                <a:latin typeface="ui-sans-serif" pitchFamily="34" charset="0"/>
                <a:ea typeface="ui-sans-serif" pitchFamily="34" charset="-122"/>
                <a:cs typeface="ui-sans-serif" pitchFamily="34" charset="-120"/>
              </a:rPr>
              <a:t>Monitoring &amp; Observability Service</a:t>
            </a:r>
            <a:endParaRPr lang="en-US" sz="2192"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79227"/>
            <a:ext cx="11879263" cy="6682085"/>
          </a:xfrm>
          <a:prstGeom prst="rect">
            <a:avLst/>
          </a:prstGeom>
        </p:spPr>
      </p:pic>
      <p:pic>
        <p:nvPicPr>
          <p:cNvPr id="3" name="Image 1" descr="preencoded.png"/>
          <p:cNvPicPr>
            <a:picLocks noChangeAspect="1"/>
          </p:cNvPicPr>
          <p:nvPr/>
        </p:nvPicPr>
        <p:blipFill>
          <a:blip r:embed="rId4"/>
          <a:stretch>
            <a:fillRect/>
          </a:stretch>
        </p:blipFill>
        <p:spPr>
          <a:xfrm>
            <a:off x="9095060" y="79226"/>
            <a:ext cx="2784202" cy="2784202"/>
          </a:xfrm>
          <a:prstGeom prst="rect">
            <a:avLst/>
          </a:prstGeom>
        </p:spPr>
      </p:pic>
      <p:pic>
        <p:nvPicPr>
          <p:cNvPr id="4" name="Image 2" descr="preencoded.png"/>
          <p:cNvPicPr>
            <a:picLocks noChangeAspect="1"/>
          </p:cNvPicPr>
          <p:nvPr/>
        </p:nvPicPr>
        <p:blipFill>
          <a:blip r:embed="rId5"/>
          <a:stretch>
            <a:fillRect/>
          </a:stretch>
        </p:blipFill>
        <p:spPr>
          <a:xfrm>
            <a:off x="0" y="4905177"/>
            <a:ext cx="1856135" cy="2784202"/>
          </a:xfrm>
          <a:prstGeom prst="rect">
            <a:avLst/>
          </a:prstGeom>
        </p:spPr>
      </p:pic>
      <p:pic>
        <p:nvPicPr>
          <p:cNvPr id="5" name="Image 3" descr="preencoded.png"/>
          <p:cNvPicPr>
            <a:picLocks noChangeAspect="1"/>
          </p:cNvPicPr>
          <p:nvPr/>
        </p:nvPicPr>
        <p:blipFill>
          <a:blip r:embed="rId6"/>
          <a:stretch>
            <a:fillRect/>
          </a:stretch>
        </p:blipFill>
        <p:spPr>
          <a:xfrm>
            <a:off x="742454" y="1007294"/>
            <a:ext cx="890945" cy="37123"/>
          </a:xfrm>
          <a:prstGeom prst="rect">
            <a:avLst/>
          </a:prstGeom>
        </p:spPr>
      </p:pic>
      <p:pic>
        <p:nvPicPr>
          <p:cNvPr id="6" name="Image 4" descr="preencoded.png"/>
          <p:cNvPicPr>
            <a:picLocks noChangeAspect="1"/>
          </p:cNvPicPr>
          <p:nvPr/>
        </p:nvPicPr>
        <p:blipFill>
          <a:blip r:embed="rId7"/>
          <a:stretch>
            <a:fillRect/>
          </a:stretch>
        </p:blipFill>
        <p:spPr>
          <a:xfrm>
            <a:off x="742453" y="2529324"/>
            <a:ext cx="5048687" cy="1484908"/>
          </a:xfrm>
          <a:prstGeom prst="rect">
            <a:avLst/>
          </a:prstGeom>
        </p:spPr>
      </p:pic>
      <p:pic>
        <p:nvPicPr>
          <p:cNvPr id="7" name="Image 5" descr="preencoded.png"/>
          <p:cNvPicPr>
            <a:picLocks noChangeAspect="1"/>
          </p:cNvPicPr>
          <p:nvPr/>
        </p:nvPicPr>
        <p:blipFill>
          <a:blip r:embed="rId8"/>
          <a:stretch>
            <a:fillRect/>
          </a:stretch>
        </p:blipFill>
        <p:spPr>
          <a:xfrm>
            <a:off x="965190" y="2752061"/>
            <a:ext cx="334104" cy="334104"/>
          </a:xfrm>
          <a:prstGeom prst="rect">
            <a:avLst/>
          </a:prstGeom>
        </p:spPr>
      </p:pic>
      <p:pic>
        <p:nvPicPr>
          <p:cNvPr id="8" name="Image 6" descr="preencoded.png"/>
          <p:cNvPicPr>
            <a:picLocks noChangeAspect="1"/>
          </p:cNvPicPr>
          <p:nvPr/>
        </p:nvPicPr>
        <p:blipFill>
          <a:blip r:embed="rId9"/>
          <a:stretch>
            <a:fillRect/>
          </a:stretch>
        </p:blipFill>
        <p:spPr>
          <a:xfrm>
            <a:off x="6088122" y="2529324"/>
            <a:ext cx="5048687" cy="1484908"/>
          </a:xfrm>
          <a:prstGeom prst="rect">
            <a:avLst/>
          </a:prstGeom>
        </p:spPr>
      </p:pic>
      <p:pic>
        <p:nvPicPr>
          <p:cNvPr id="9" name="Image 7" descr="preencoded.png"/>
          <p:cNvPicPr>
            <a:picLocks noChangeAspect="1"/>
          </p:cNvPicPr>
          <p:nvPr/>
        </p:nvPicPr>
        <p:blipFill>
          <a:blip r:embed="rId10"/>
          <a:stretch>
            <a:fillRect/>
          </a:stretch>
        </p:blipFill>
        <p:spPr>
          <a:xfrm>
            <a:off x="6310859" y="2752061"/>
            <a:ext cx="250578" cy="334104"/>
          </a:xfrm>
          <a:prstGeom prst="rect">
            <a:avLst/>
          </a:prstGeom>
        </p:spPr>
      </p:pic>
      <p:pic>
        <p:nvPicPr>
          <p:cNvPr id="10" name="Image 8" descr="preencoded.png"/>
          <p:cNvPicPr>
            <a:picLocks noChangeAspect="1"/>
          </p:cNvPicPr>
          <p:nvPr/>
        </p:nvPicPr>
        <p:blipFill>
          <a:blip r:embed="rId11"/>
          <a:stretch>
            <a:fillRect/>
          </a:stretch>
        </p:blipFill>
        <p:spPr>
          <a:xfrm>
            <a:off x="742453" y="4311214"/>
            <a:ext cx="5048687" cy="1262172"/>
          </a:xfrm>
          <a:prstGeom prst="rect">
            <a:avLst/>
          </a:prstGeom>
        </p:spPr>
      </p:pic>
      <p:pic>
        <p:nvPicPr>
          <p:cNvPr id="11" name="Image 9" descr="preencoded.png"/>
          <p:cNvPicPr>
            <a:picLocks noChangeAspect="1"/>
          </p:cNvPicPr>
          <p:nvPr/>
        </p:nvPicPr>
        <p:blipFill>
          <a:blip r:embed="rId12"/>
          <a:stretch>
            <a:fillRect/>
          </a:stretch>
        </p:blipFill>
        <p:spPr>
          <a:xfrm>
            <a:off x="965190" y="4533950"/>
            <a:ext cx="380508" cy="334104"/>
          </a:xfrm>
          <a:prstGeom prst="rect">
            <a:avLst/>
          </a:prstGeom>
        </p:spPr>
      </p:pic>
      <p:pic>
        <p:nvPicPr>
          <p:cNvPr id="12" name="Image 10" descr="preencoded.png"/>
          <p:cNvPicPr>
            <a:picLocks noChangeAspect="1"/>
          </p:cNvPicPr>
          <p:nvPr/>
        </p:nvPicPr>
        <p:blipFill>
          <a:blip r:embed="rId13"/>
          <a:stretch>
            <a:fillRect/>
          </a:stretch>
        </p:blipFill>
        <p:spPr>
          <a:xfrm>
            <a:off x="6088122" y="4311214"/>
            <a:ext cx="5048687" cy="1262172"/>
          </a:xfrm>
          <a:prstGeom prst="rect">
            <a:avLst/>
          </a:prstGeom>
        </p:spPr>
      </p:pic>
      <p:pic>
        <p:nvPicPr>
          <p:cNvPr id="13" name="Image 11" descr="preencoded.png"/>
          <p:cNvPicPr>
            <a:picLocks noChangeAspect="1"/>
          </p:cNvPicPr>
          <p:nvPr/>
        </p:nvPicPr>
        <p:blipFill>
          <a:blip r:embed="rId14"/>
          <a:stretch>
            <a:fillRect/>
          </a:stretch>
        </p:blipFill>
        <p:spPr>
          <a:xfrm>
            <a:off x="6310858" y="4533950"/>
            <a:ext cx="296982" cy="334104"/>
          </a:xfrm>
          <a:prstGeom prst="rect">
            <a:avLst/>
          </a:prstGeom>
        </p:spPr>
      </p:pic>
      <p:pic>
        <p:nvPicPr>
          <p:cNvPr id="14" name="Image 12" descr="preencoded.png"/>
          <p:cNvPicPr>
            <a:picLocks noChangeAspect="1"/>
          </p:cNvPicPr>
          <p:nvPr/>
        </p:nvPicPr>
        <p:blipFill>
          <a:blip r:embed="rId15"/>
          <a:stretch>
            <a:fillRect/>
          </a:stretch>
        </p:blipFill>
        <p:spPr>
          <a:xfrm>
            <a:off x="742454" y="6445769"/>
            <a:ext cx="129929" cy="129929"/>
          </a:xfrm>
          <a:prstGeom prst="rect">
            <a:avLst/>
          </a:prstGeom>
        </p:spPr>
      </p:pic>
      <p:sp>
        <p:nvSpPr>
          <p:cNvPr id="15" name="Text 0"/>
          <p:cNvSpPr/>
          <p:nvPr/>
        </p:nvSpPr>
        <p:spPr>
          <a:xfrm>
            <a:off x="742453" y="524699"/>
            <a:ext cx="12473226" cy="371227"/>
          </a:xfrm>
          <a:prstGeom prst="rect">
            <a:avLst/>
          </a:prstGeom>
          <a:noFill/>
          <a:ln/>
        </p:spPr>
        <p:txBody>
          <a:bodyPr vert="horz" wrap="square" lIns="0" tIns="0" rIns="0" bIns="0" rtlCol="0" anchor="t"/>
          <a:lstStyle/>
          <a:p>
            <a:pPr>
              <a:lnSpc>
                <a:spcPts val="2923"/>
              </a:lnSpc>
            </a:pPr>
            <a:r>
              <a:rPr lang="en-US" sz="2631" b="1" dirty="0">
                <a:solidFill>
                  <a:srgbClr val="1F2937"/>
                </a:solidFill>
                <a:latin typeface="ui-sans-serif" pitchFamily="34" charset="0"/>
                <a:ea typeface="ui-sans-serif" pitchFamily="34" charset="-122"/>
                <a:cs typeface="ui-sans-serif" pitchFamily="34" charset="-120"/>
              </a:rPr>
              <a:t>Core Components of </a:t>
            </a:r>
            <a:r>
              <a:rPr lang="en-US" sz="2631" b="1" dirty="0">
                <a:solidFill>
                  <a:srgbClr val="FF9900"/>
                </a:solidFill>
                <a:latin typeface="ui-sans-serif" pitchFamily="34" charset="0"/>
                <a:ea typeface="ui-sans-serif" pitchFamily="34" charset="-122"/>
                <a:cs typeface="ui-sans-serif" pitchFamily="34" charset="-120"/>
              </a:rPr>
              <a:t>CloudWatch</a:t>
            </a:r>
            <a:endParaRPr lang="en-US" sz="2631" dirty="0"/>
          </a:p>
        </p:txBody>
      </p:sp>
      <p:sp>
        <p:nvSpPr>
          <p:cNvPr id="16" name="Text 1"/>
          <p:cNvSpPr/>
          <p:nvPr/>
        </p:nvSpPr>
        <p:spPr>
          <a:xfrm>
            <a:off x="-296982" y="1972484"/>
            <a:ext cx="12473226" cy="259859"/>
          </a:xfrm>
          <a:prstGeom prst="rect">
            <a:avLst/>
          </a:prstGeom>
          <a:noFill/>
          <a:ln/>
        </p:spPr>
        <p:txBody>
          <a:bodyPr vert="horz" wrap="square" lIns="0" tIns="0" rIns="0" bIns="0" rtlCol="0" anchor="t"/>
          <a:lstStyle/>
          <a:p>
            <a:pPr algn="ctr">
              <a:lnSpc>
                <a:spcPts val="2046"/>
              </a:lnSpc>
            </a:pPr>
            <a:r>
              <a:rPr lang="en-US" sz="1461" dirty="0">
                <a:solidFill>
                  <a:srgbClr val="4B5563"/>
                </a:solidFill>
                <a:latin typeface="ui-sans-serif" pitchFamily="34" charset="0"/>
                <a:ea typeface="ui-sans-serif" pitchFamily="34" charset="-122"/>
                <a:cs typeface="ui-sans-serif" pitchFamily="34" charset="-120"/>
              </a:rPr>
              <a:t>Four foundational pillars working together to provide comprehensive monitoring and observability</a:t>
            </a:r>
            <a:endParaRPr lang="en-US" sz="1461" dirty="0"/>
          </a:p>
        </p:txBody>
      </p:sp>
      <p:sp>
        <p:nvSpPr>
          <p:cNvPr id="17" name="Text 2"/>
          <p:cNvSpPr/>
          <p:nvPr/>
        </p:nvSpPr>
        <p:spPr>
          <a:xfrm>
            <a:off x="1484908" y="2752060"/>
            <a:ext cx="4083496" cy="296982"/>
          </a:xfrm>
          <a:prstGeom prst="rect">
            <a:avLst/>
          </a:prstGeom>
          <a:noFill/>
          <a:ln/>
        </p:spPr>
        <p:txBody>
          <a:bodyPr vert="horz" wrap="square" lIns="0" tIns="0" rIns="0" bIns="0" rtlCol="0" anchor="t"/>
          <a:lstStyle/>
          <a:p>
            <a:pPr>
              <a:lnSpc>
                <a:spcPts val="2338"/>
              </a:lnSpc>
            </a:pPr>
            <a:r>
              <a:rPr lang="en-US" sz="1754" b="1" dirty="0">
                <a:solidFill>
                  <a:srgbClr val="000000"/>
                </a:solidFill>
                <a:latin typeface="ui-sans-serif" pitchFamily="34" charset="0"/>
                <a:ea typeface="ui-sans-serif" pitchFamily="34" charset="-122"/>
                <a:cs typeface="ui-sans-serif" pitchFamily="34" charset="-120"/>
              </a:rPr>
              <a:t>Metrics</a:t>
            </a:r>
            <a:endParaRPr lang="en-US" sz="1754" dirty="0"/>
          </a:p>
        </p:txBody>
      </p:sp>
      <p:sp>
        <p:nvSpPr>
          <p:cNvPr id="18" name="Text 3"/>
          <p:cNvSpPr/>
          <p:nvPr/>
        </p:nvSpPr>
        <p:spPr>
          <a:xfrm>
            <a:off x="1484908" y="3123287"/>
            <a:ext cx="4083496" cy="668209"/>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Performance data collection &amp; analysis. Metrics are organized into namespaces with dimensions and can be standard or custom.</a:t>
            </a:r>
            <a:endParaRPr lang="en-US" sz="1169" dirty="0"/>
          </a:p>
        </p:txBody>
      </p:sp>
      <p:sp>
        <p:nvSpPr>
          <p:cNvPr id="19" name="Text 4"/>
          <p:cNvSpPr/>
          <p:nvPr/>
        </p:nvSpPr>
        <p:spPr>
          <a:xfrm>
            <a:off x="6747050" y="2752060"/>
            <a:ext cx="4167023" cy="296982"/>
          </a:xfrm>
          <a:prstGeom prst="rect">
            <a:avLst/>
          </a:prstGeom>
          <a:noFill/>
          <a:ln/>
        </p:spPr>
        <p:txBody>
          <a:bodyPr vert="horz" wrap="square" lIns="0" tIns="0" rIns="0" bIns="0" rtlCol="0" anchor="t"/>
          <a:lstStyle/>
          <a:p>
            <a:pPr>
              <a:lnSpc>
                <a:spcPts val="2338"/>
              </a:lnSpc>
            </a:pPr>
            <a:r>
              <a:rPr lang="en-US" sz="1754" b="1" dirty="0">
                <a:solidFill>
                  <a:srgbClr val="000000"/>
                </a:solidFill>
                <a:latin typeface="ui-sans-serif" pitchFamily="34" charset="0"/>
                <a:ea typeface="ui-sans-serif" pitchFamily="34" charset="-122"/>
                <a:cs typeface="ui-sans-serif" pitchFamily="34" charset="-120"/>
              </a:rPr>
              <a:t>Logs</a:t>
            </a:r>
            <a:endParaRPr lang="en-US" sz="1754" dirty="0"/>
          </a:p>
        </p:txBody>
      </p:sp>
      <p:sp>
        <p:nvSpPr>
          <p:cNvPr id="20" name="Text 5"/>
          <p:cNvSpPr/>
          <p:nvPr/>
        </p:nvSpPr>
        <p:spPr>
          <a:xfrm>
            <a:off x="6747050" y="3123287"/>
            <a:ext cx="4167023" cy="668209"/>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Log collection &amp; analysis. Organized into log groups and streams, with powerful query capabilities and integration options.</a:t>
            </a:r>
            <a:endParaRPr lang="en-US" sz="1169" dirty="0"/>
          </a:p>
        </p:txBody>
      </p:sp>
      <p:sp>
        <p:nvSpPr>
          <p:cNvPr id="21" name="Text 6"/>
          <p:cNvSpPr/>
          <p:nvPr/>
        </p:nvSpPr>
        <p:spPr>
          <a:xfrm>
            <a:off x="1531311" y="4533950"/>
            <a:ext cx="4037093" cy="296982"/>
          </a:xfrm>
          <a:prstGeom prst="rect">
            <a:avLst/>
          </a:prstGeom>
          <a:noFill/>
          <a:ln/>
        </p:spPr>
        <p:txBody>
          <a:bodyPr vert="horz" wrap="square" lIns="0" tIns="0" rIns="0" bIns="0" rtlCol="0" anchor="t"/>
          <a:lstStyle/>
          <a:p>
            <a:pPr>
              <a:lnSpc>
                <a:spcPts val="2338"/>
              </a:lnSpc>
            </a:pPr>
            <a:r>
              <a:rPr lang="en-US" sz="1754" b="1" dirty="0">
                <a:solidFill>
                  <a:srgbClr val="000000"/>
                </a:solidFill>
                <a:latin typeface="ui-sans-serif" pitchFamily="34" charset="0"/>
                <a:ea typeface="ui-sans-serif" pitchFamily="34" charset="-122"/>
                <a:cs typeface="ui-sans-serif" pitchFamily="34" charset="-120"/>
              </a:rPr>
              <a:t>Dashboards</a:t>
            </a:r>
            <a:endParaRPr lang="en-US" sz="1754" dirty="0"/>
          </a:p>
        </p:txBody>
      </p:sp>
      <p:sp>
        <p:nvSpPr>
          <p:cNvPr id="22" name="Text 7"/>
          <p:cNvSpPr/>
          <p:nvPr/>
        </p:nvSpPr>
        <p:spPr>
          <a:xfrm>
            <a:off x="1531311" y="4905177"/>
            <a:ext cx="4037093" cy="445472"/>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Unified monitoring views. Customizable with various widget types to display metrics, logs, and alarms.</a:t>
            </a:r>
            <a:endParaRPr lang="en-US" sz="1169" dirty="0"/>
          </a:p>
        </p:txBody>
      </p:sp>
      <p:sp>
        <p:nvSpPr>
          <p:cNvPr id="23" name="Text 8"/>
          <p:cNvSpPr/>
          <p:nvPr/>
        </p:nvSpPr>
        <p:spPr>
          <a:xfrm>
            <a:off x="6793453" y="4533950"/>
            <a:ext cx="4120619" cy="296982"/>
          </a:xfrm>
          <a:prstGeom prst="rect">
            <a:avLst/>
          </a:prstGeom>
          <a:noFill/>
          <a:ln/>
        </p:spPr>
        <p:txBody>
          <a:bodyPr vert="horz" wrap="square" lIns="0" tIns="0" rIns="0" bIns="0" rtlCol="0" anchor="t"/>
          <a:lstStyle/>
          <a:p>
            <a:pPr>
              <a:lnSpc>
                <a:spcPts val="2338"/>
              </a:lnSpc>
            </a:pPr>
            <a:r>
              <a:rPr lang="en-US" sz="1754" b="1" dirty="0">
                <a:solidFill>
                  <a:srgbClr val="000000"/>
                </a:solidFill>
                <a:latin typeface="ui-sans-serif" pitchFamily="34" charset="0"/>
                <a:ea typeface="ui-sans-serif" pitchFamily="34" charset="-122"/>
                <a:cs typeface="ui-sans-serif" pitchFamily="34" charset="-120"/>
              </a:rPr>
              <a:t>Alarms</a:t>
            </a:r>
            <a:endParaRPr lang="en-US" sz="1754" dirty="0"/>
          </a:p>
        </p:txBody>
      </p:sp>
      <p:sp>
        <p:nvSpPr>
          <p:cNvPr id="24" name="Text 9"/>
          <p:cNvSpPr/>
          <p:nvPr/>
        </p:nvSpPr>
        <p:spPr>
          <a:xfrm>
            <a:off x="6793453" y="4905177"/>
            <a:ext cx="4120619" cy="445472"/>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Threshold-based notifications. Monitor metrics and logs, triggering actions when thresholds are breached.</a:t>
            </a:r>
            <a:endParaRPr lang="en-US" sz="1169" dirty="0"/>
          </a:p>
        </p:txBody>
      </p:sp>
      <p:sp>
        <p:nvSpPr>
          <p:cNvPr id="25" name="Text 10"/>
          <p:cNvSpPr/>
          <p:nvPr/>
        </p:nvSpPr>
        <p:spPr>
          <a:xfrm>
            <a:off x="946629" y="6427208"/>
            <a:ext cx="7267463" cy="185613"/>
          </a:xfrm>
          <a:prstGeom prst="rect">
            <a:avLst/>
          </a:prstGeom>
          <a:noFill/>
          <a:ln/>
        </p:spPr>
        <p:txBody>
          <a:bodyPr vert="horz" wrap="square" lIns="0" tIns="0" rIns="0" bIns="0" rtlCol="0" anchor="t"/>
          <a:lstStyle/>
          <a:p>
            <a:pPr>
              <a:lnSpc>
                <a:spcPts val="1461"/>
              </a:lnSpc>
            </a:pPr>
            <a:r>
              <a:rPr lang="en-US" sz="1023" dirty="0">
                <a:solidFill>
                  <a:srgbClr val="6B7280"/>
                </a:solidFill>
                <a:latin typeface="ui-sans-serif" pitchFamily="34" charset="0"/>
                <a:ea typeface="ui-sans-serif" pitchFamily="34" charset="-122"/>
                <a:cs typeface="ui-sans-serif" pitchFamily="34" charset="-120"/>
              </a:rPr>
              <a:t> CloudWatch provides real-time insights into resource performance and application health</a:t>
            </a:r>
            <a:endParaRPr lang="en-US" sz="1023"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79227"/>
            <a:ext cx="11879263" cy="6682085"/>
          </a:xfrm>
          <a:prstGeom prst="rect">
            <a:avLst/>
          </a:prstGeom>
        </p:spPr>
      </p:pic>
      <p:pic>
        <p:nvPicPr>
          <p:cNvPr id="3" name="Image 1" descr="preencoded.png"/>
          <p:cNvPicPr>
            <a:picLocks noChangeAspect="1"/>
          </p:cNvPicPr>
          <p:nvPr/>
        </p:nvPicPr>
        <p:blipFill>
          <a:blip r:embed="rId4"/>
          <a:stretch>
            <a:fillRect/>
          </a:stretch>
        </p:blipFill>
        <p:spPr>
          <a:xfrm>
            <a:off x="9095060" y="79226"/>
            <a:ext cx="2784202" cy="2784202"/>
          </a:xfrm>
          <a:prstGeom prst="rect">
            <a:avLst/>
          </a:prstGeom>
        </p:spPr>
      </p:pic>
      <p:pic>
        <p:nvPicPr>
          <p:cNvPr id="4" name="Image 2" descr="preencoded.png"/>
          <p:cNvPicPr>
            <a:picLocks noChangeAspect="1"/>
          </p:cNvPicPr>
          <p:nvPr/>
        </p:nvPicPr>
        <p:blipFill>
          <a:blip r:embed="rId5"/>
          <a:stretch>
            <a:fillRect/>
          </a:stretch>
        </p:blipFill>
        <p:spPr>
          <a:xfrm>
            <a:off x="0" y="4905177"/>
            <a:ext cx="1856135" cy="2784202"/>
          </a:xfrm>
          <a:prstGeom prst="rect">
            <a:avLst/>
          </a:prstGeom>
        </p:spPr>
      </p:pic>
      <p:pic>
        <p:nvPicPr>
          <p:cNvPr id="5" name="Image 3" descr="preencoded.png"/>
          <p:cNvPicPr>
            <a:picLocks noChangeAspect="1"/>
          </p:cNvPicPr>
          <p:nvPr/>
        </p:nvPicPr>
        <p:blipFill>
          <a:blip r:embed="rId6"/>
          <a:stretch>
            <a:fillRect/>
          </a:stretch>
        </p:blipFill>
        <p:spPr>
          <a:xfrm>
            <a:off x="742454" y="1007294"/>
            <a:ext cx="890945" cy="37123"/>
          </a:xfrm>
          <a:prstGeom prst="rect">
            <a:avLst/>
          </a:prstGeom>
        </p:spPr>
      </p:pic>
      <p:pic>
        <p:nvPicPr>
          <p:cNvPr id="6" name="Image 4" descr="preencoded.png"/>
          <p:cNvPicPr>
            <a:picLocks noChangeAspect="1"/>
          </p:cNvPicPr>
          <p:nvPr/>
        </p:nvPicPr>
        <p:blipFill>
          <a:blip r:embed="rId7"/>
          <a:stretch>
            <a:fillRect/>
          </a:stretch>
        </p:blipFill>
        <p:spPr>
          <a:xfrm>
            <a:off x="742454" y="1192907"/>
            <a:ext cx="3316245" cy="5085809"/>
          </a:xfrm>
          <a:prstGeom prst="rect">
            <a:avLst/>
          </a:prstGeom>
        </p:spPr>
      </p:pic>
      <p:pic>
        <p:nvPicPr>
          <p:cNvPr id="7" name="Image 5" descr="preencoded.png"/>
          <p:cNvPicPr>
            <a:picLocks noChangeAspect="1"/>
          </p:cNvPicPr>
          <p:nvPr/>
        </p:nvPicPr>
        <p:blipFill>
          <a:blip r:embed="rId8"/>
          <a:stretch>
            <a:fillRect/>
          </a:stretch>
        </p:blipFill>
        <p:spPr>
          <a:xfrm>
            <a:off x="928067" y="1415644"/>
            <a:ext cx="222736" cy="222736"/>
          </a:xfrm>
          <a:prstGeom prst="rect">
            <a:avLst/>
          </a:prstGeom>
        </p:spPr>
      </p:pic>
      <p:pic>
        <p:nvPicPr>
          <p:cNvPr id="8" name="Image 6" descr="preencoded.png"/>
          <p:cNvPicPr>
            <a:picLocks noChangeAspect="1"/>
          </p:cNvPicPr>
          <p:nvPr/>
        </p:nvPicPr>
        <p:blipFill>
          <a:blip r:embed="rId9"/>
          <a:stretch>
            <a:fillRect/>
          </a:stretch>
        </p:blipFill>
        <p:spPr>
          <a:xfrm>
            <a:off x="928068" y="1861116"/>
            <a:ext cx="213455" cy="185613"/>
          </a:xfrm>
          <a:prstGeom prst="rect">
            <a:avLst/>
          </a:prstGeom>
        </p:spPr>
      </p:pic>
      <p:pic>
        <p:nvPicPr>
          <p:cNvPr id="9" name="Image 7" descr="preencoded.png"/>
          <p:cNvPicPr>
            <a:picLocks noChangeAspect="1"/>
          </p:cNvPicPr>
          <p:nvPr/>
        </p:nvPicPr>
        <p:blipFill>
          <a:blip r:embed="rId10"/>
          <a:stretch>
            <a:fillRect/>
          </a:stretch>
        </p:blipFill>
        <p:spPr>
          <a:xfrm>
            <a:off x="928068" y="2603570"/>
            <a:ext cx="213455" cy="185613"/>
          </a:xfrm>
          <a:prstGeom prst="rect">
            <a:avLst/>
          </a:prstGeom>
        </p:spPr>
      </p:pic>
      <p:pic>
        <p:nvPicPr>
          <p:cNvPr id="10" name="Image 8" descr="preencoded.png"/>
          <p:cNvPicPr>
            <a:picLocks noChangeAspect="1"/>
          </p:cNvPicPr>
          <p:nvPr/>
        </p:nvPicPr>
        <p:blipFill>
          <a:blip r:embed="rId11"/>
          <a:stretch>
            <a:fillRect/>
          </a:stretch>
        </p:blipFill>
        <p:spPr>
          <a:xfrm>
            <a:off x="928067" y="3346024"/>
            <a:ext cx="185613" cy="185613"/>
          </a:xfrm>
          <a:prstGeom prst="rect">
            <a:avLst/>
          </a:prstGeom>
        </p:spPr>
      </p:pic>
      <p:pic>
        <p:nvPicPr>
          <p:cNvPr id="11" name="Image 9" descr="preencoded.png"/>
          <p:cNvPicPr>
            <a:picLocks noChangeAspect="1"/>
          </p:cNvPicPr>
          <p:nvPr/>
        </p:nvPicPr>
        <p:blipFill>
          <a:blip r:embed="rId12"/>
          <a:stretch>
            <a:fillRect/>
          </a:stretch>
        </p:blipFill>
        <p:spPr>
          <a:xfrm>
            <a:off x="928068" y="4088478"/>
            <a:ext cx="139210" cy="185613"/>
          </a:xfrm>
          <a:prstGeom prst="rect">
            <a:avLst/>
          </a:prstGeom>
        </p:spPr>
      </p:pic>
      <p:pic>
        <p:nvPicPr>
          <p:cNvPr id="12" name="Image 10" descr="preencoded.png"/>
          <p:cNvPicPr>
            <a:picLocks noChangeAspect="1"/>
          </p:cNvPicPr>
          <p:nvPr/>
        </p:nvPicPr>
        <p:blipFill>
          <a:blip r:embed="rId13"/>
          <a:stretch>
            <a:fillRect/>
          </a:stretch>
        </p:blipFill>
        <p:spPr>
          <a:xfrm>
            <a:off x="4281435" y="1192907"/>
            <a:ext cx="3316245" cy="5085809"/>
          </a:xfrm>
          <a:prstGeom prst="rect">
            <a:avLst/>
          </a:prstGeom>
        </p:spPr>
      </p:pic>
      <p:pic>
        <p:nvPicPr>
          <p:cNvPr id="13" name="Image 11" descr="preencoded.png"/>
          <p:cNvPicPr>
            <a:picLocks noChangeAspect="1"/>
          </p:cNvPicPr>
          <p:nvPr/>
        </p:nvPicPr>
        <p:blipFill>
          <a:blip r:embed="rId14"/>
          <a:stretch>
            <a:fillRect/>
          </a:stretch>
        </p:blipFill>
        <p:spPr>
          <a:xfrm>
            <a:off x="4467049" y="1415644"/>
            <a:ext cx="222736" cy="222736"/>
          </a:xfrm>
          <a:prstGeom prst="rect">
            <a:avLst/>
          </a:prstGeom>
        </p:spPr>
      </p:pic>
      <p:pic>
        <p:nvPicPr>
          <p:cNvPr id="14" name="Image 12" descr="preencoded.png"/>
          <p:cNvPicPr>
            <a:picLocks noChangeAspect="1"/>
          </p:cNvPicPr>
          <p:nvPr/>
        </p:nvPicPr>
        <p:blipFill>
          <a:blip r:embed="rId15"/>
          <a:stretch>
            <a:fillRect/>
          </a:stretch>
        </p:blipFill>
        <p:spPr>
          <a:xfrm>
            <a:off x="4467049" y="1861116"/>
            <a:ext cx="185613" cy="185613"/>
          </a:xfrm>
          <a:prstGeom prst="rect">
            <a:avLst/>
          </a:prstGeom>
        </p:spPr>
      </p:pic>
      <p:pic>
        <p:nvPicPr>
          <p:cNvPr id="15" name="Image 13" descr="preencoded.png"/>
          <p:cNvPicPr>
            <a:picLocks noChangeAspect="1"/>
          </p:cNvPicPr>
          <p:nvPr/>
        </p:nvPicPr>
        <p:blipFill>
          <a:blip r:embed="rId16"/>
          <a:stretch>
            <a:fillRect/>
          </a:stretch>
        </p:blipFill>
        <p:spPr>
          <a:xfrm>
            <a:off x="4467049" y="2603570"/>
            <a:ext cx="185613" cy="185613"/>
          </a:xfrm>
          <a:prstGeom prst="rect">
            <a:avLst/>
          </a:prstGeom>
        </p:spPr>
      </p:pic>
      <p:pic>
        <p:nvPicPr>
          <p:cNvPr id="16" name="Image 14" descr="preencoded.png"/>
          <p:cNvPicPr>
            <a:picLocks noChangeAspect="1"/>
          </p:cNvPicPr>
          <p:nvPr/>
        </p:nvPicPr>
        <p:blipFill>
          <a:blip r:embed="rId17"/>
          <a:stretch>
            <a:fillRect/>
          </a:stretch>
        </p:blipFill>
        <p:spPr>
          <a:xfrm>
            <a:off x="4467049" y="3346024"/>
            <a:ext cx="213455" cy="185613"/>
          </a:xfrm>
          <a:prstGeom prst="rect">
            <a:avLst/>
          </a:prstGeom>
        </p:spPr>
      </p:pic>
      <p:pic>
        <p:nvPicPr>
          <p:cNvPr id="17" name="Image 15" descr="preencoded.png"/>
          <p:cNvPicPr>
            <a:picLocks noChangeAspect="1"/>
          </p:cNvPicPr>
          <p:nvPr/>
        </p:nvPicPr>
        <p:blipFill>
          <a:blip r:embed="rId18"/>
          <a:stretch>
            <a:fillRect/>
          </a:stretch>
        </p:blipFill>
        <p:spPr>
          <a:xfrm>
            <a:off x="7820418" y="1192907"/>
            <a:ext cx="3316391" cy="5085809"/>
          </a:xfrm>
          <a:prstGeom prst="rect">
            <a:avLst/>
          </a:prstGeom>
        </p:spPr>
      </p:pic>
      <p:pic>
        <p:nvPicPr>
          <p:cNvPr id="18" name="Image 16" descr="preencoded.png"/>
          <p:cNvPicPr>
            <a:picLocks noChangeAspect="1"/>
          </p:cNvPicPr>
          <p:nvPr/>
        </p:nvPicPr>
        <p:blipFill>
          <a:blip r:embed="rId19"/>
          <a:stretch>
            <a:fillRect/>
          </a:stretch>
        </p:blipFill>
        <p:spPr>
          <a:xfrm>
            <a:off x="8006031" y="1415644"/>
            <a:ext cx="222736" cy="222736"/>
          </a:xfrm>
          <a:prstGeom prst="rect">
            <a:avLst/>
          </a:prstGeom>
        </p:spPr>
      </p:pic>
      <p:pic>
        <p:nvPicPr>
          <p:cNvPr id="19" name="Image 17" descr="preencoded.png"/>
          <p:cNvPicPr>
            <a:picLocks noChangeAspect="1"/>
          </p:cNvPicPr>
          <p:nvPr/>
        </p:nvPicPr>
        <p:blipFill>
          <a:blip r:embed="rId20"/>
          <a:stretch>
            <a:fillRect/>
          </a:stretch>
        </p:blipFill>
        <p:spPr>
          <a:xfrm>
            <a:off x="8006031" y="2603570"/>
            <a:ext cx="185613" cy="185613"/>
          </a:xfrm>
          <a:prstGeom prst="rect">
            <a:avLst/>
          </a:prstGeom>
        </p:spPr>
      </p:pic>
      <p:pic>
        <p:nvPicPr>
          <p:cNvPr id="20" name="Image 18" descr="preencoded.png"/>
          <p:cNvPicPr>
            <a:picLocks noChangeAspect="1"/>
          </p:cNvPicPr>
          <p:nvPr/>
        </p:nvPicPr>
        <p:blipFill>
          <a:blip r:embed="rId21"/>
          <a:stretch>
            <a:fillRect/>
          </a:stretch>
        </p:blipFill>
        <p:spPr>
          <a:xfrm>
            <a:off x="8006032" y="3346024"/>
            <a:ext cx="232017" cy="185613"/>
          </a:xfrm>
          <a:prstGeom prst="rect">
            <a:avLst/>
          </a:prstGeom>
        </p:spPr>
      </p:pic>
      <p:sp>
        <p:nvSpPr>
          <p:cNvPr id="22" name="Text 0"/>
          <p:cNvSpPr/>
          <p:nvPr/>
        </p:nvSpPr>
        <p:spPr>
          <a:xfrm>
            <a:off x="742454" y="524699"/>
            <a:ext cx="10394355" cy="371227"/>
          </a:xfrm>
          <a:prstGeom prst="rect">
            <a:avLst/>
          </a:prstGeom>
          <a:noFill/>
          <a:ln/>
        </p:spPr>
        <p:txBody>
          <a:bodyPr vert="horz" wrap="square" lIns="0" tIns="0" rIns="0" bIns="0" rtlCol="0" anchor="t"/>
          <a:lstStyle/>
          <a:p>
            <a:pPr>
              <a:lnSpc>
                <a:spcPts val="2923"/>
              </a:lnSpc>
            </a:pPr>
            <a:r>
              <a:rPr lang="en-US" sz="2631" b="1" dirty="0">
                <a:solidFill>
                  <a:srgbClr val="1F2937"/>
                </a:solidFill>
                <a:latin typeface="ui-sans-serif" pitchFamily="34" charset="0"/>
                <a:ea typeface="ui-sans-serif" pitchFamily="34" charset="-122"/>
                <a:cs typeface="ui-sans-serif" pitchFamily="34" charset="-120"/>
              </a:rPr>
              <a:t>CloudWatch </a:t>
            </a:r>
            <a:r>
              <a:rPr lang="en-US" sz="2631" b="1" dirty="0">
                <a:solidFill>
                  <a:srgbClr val="FF9900"/>
                </a:solidFill>
                <a:latin typeface="ui-sans-serif" pitchFamily="34" charset="0"/>
                <a:ea typeface="ui-sans-serif" pitchFamily="34" charset="-122"/>
                <a:cs typeface="ui-sans-serif" pitchFamily="34" charset="-120"/>
              </a:rPr>
              <a:t>Metrics</a:t>
            </a:r>
            <a:endParaRPr lang="en-US" sz="2631" dirty="0"/>
          </a:p>
        </p:txBody>
      </p:sp>
      <p:sp>
        <p:nvSpPr>
          <p:cNvPr id="23" name="Text 1"/>
          <p:cNvSpPr/>
          <p:nvPr/>
        </p:nvSpPr>
        <p:spPr>
          <a:xfrm>
            <a:off x="1262171" y="1378521"/>
            <a:ext cx="3534022" cy="296982"/>
          </a:xfrm>
          <a:prstGeom prst="rect">
            <a:avLst/>
          </a:prstGeom>
          <a:noFill/>
          <a:ln/>
        </p:spPr>
        <p:txBody>
          <a:bodyPr vert="horz" wrap="square" lIns="0" tIns="0" rIns="0" bIns="0" rtlCol="0" anchor="t"/>
          <a:lstStyle/>
          <a:p>
            <a:pPr>
              <a:lnSpc>
                <a:spcPts val="2338"/>
              </a:lnSpc>
            </a:pPr>
            <a:r>
              <a:rPr lang="en-US" sz="1754" b="1" dirty="0">
                <a:solidFill>
                  <a:srgbClr val="000000"/>
                </a:solidFill>
                <a:latin typeface="ui-sans-serif" pitchFamily="34" charset="0"/>
                <a:ea typeface="ui-sans-serif" pitchFamily="34" charset="-122"/>
                <a:cs typeface="ui-sans-serif" pitchFamily="34" charset="-120"/>
              </a:rPr>
              <a:t>Key Concepts</a:t>
            </a:r>
            <a:endParaRPr lang="en-US" sz="1754" dirty="0"/>
          </a:p>
        </p:txBody>
      </p:sp>
      <p:sp>
        <p:nvSpPr>
          <p:cNvPr id="24" name="Text 2"/>
          <p:cNvSpPr/>
          <p:nvPr/>
        </p:nvSpPr>
        <p:spPr>
          <a:xfrm>
            <a:off x="1252891" y="1823993"/>
            <a:ext cx="2620195" cy="222736"/>
          </a:xfrm>
          <a:prstGeom prst="rect">
            <a:avLst/>
          </a:prstGeom>
          <a:noFill/>
          <a:ln/>
        </p:spPr>
        <p:txBody>
          <a:bodyPr vert="horz" wrap="square" lIns="0" tIns="0" rIns="0" bIns="0" rtlCol="0" anchor="t"/>
          <a:lstStyle/>
          <a:p>
            <a:pPr>
              <a:lnSpc>
                <a:spcPts val="1754"/>
              </a:lnSpc>
            </a:pPr>
            <a:r>
              <a:rPr lang="en-US" sz="1169" b="1" dirty="0">
                <a:solidFill>
                  <a:srgbClr val="000000"/>
                </a:solidFill>
                <a:latin typeface="ui-sans-serif" pitchFamily="34" charset="0"/>
                <a:ea typeface="ui-sans-serif" pitchFamily="34" charset="-122"/>
                <a:cs typeface="ui-sans-serif" pitchFamily="34" charset="-120"/>
              </a:rPr>
              <a:t>Namespace</a:t>
            </a:r>
            <a:endParaRPr lang="en-US" sz="1169" dirty="0"/>
          </a:p>
        </p:txBody>
      </p:sp>
      <p:sp>
        <p:nvSpPr>
          <p:cNvPr id="25" name="Text 3"/>
          <p:cNvSpPr/>
          <p:nvPr/>
        </p:nvSpPr>
        <p:spPr>
          <a:xfrm>
            <a:off x="1252891" y="2046729"/>
            <a:ext cx="2620195" cy="371227"/>
          </a:xfrm>
          <a:prstGeom prst="rect">
            <a:avLst/>
          </a:prstGeom>
          <a:noFill/>
          <a:ln/>
        </p:spPr>
        <p:txBody>
          <a:bodyPr vert="horz" wrap="square" lIns="0" tIns="0" rIns="0" bIns="0" rtlCol="0" anchor="t"/>
          <a:lstStyle/>
          <a:p>
            <a:pPr>
              <a:lnSpc>
                <a:spcPts val="1461"/>
              </a:lnSpc>
            </a:pPr>
            <a:r>
              <a:rPr lang="en-US" sz="1023" dirty="0">
                <a:solidFill>
                  <a:srgbClr val="4B5563"/>
                </a:solidFill>
                <a:latin typeface="ui-sans-serif" pitchFamily="34" charset="0"/>
                <a:ea typeface="ui-sans-serif" pitchFamily="34" charset="-122"/>
                <a:cs typeface="ui-sans-serif" pitchFamily="34" charset="-120"/>
              </a:rPr>
              <a:t>High-level containers for related metrics</a:t>
            </a:r>
            <a:endParaRPr lang="en-US" sz="1023" dirty="0"/>
          </a:p>
        </p:txBody>
      </p:sp>
      <p:sp>
        <p:nvSpPr>
          <p:cNvPr id="26" name="Text 4"/>
          <p:cNvSpPr/>
          <p:nvPr/>
        </p:nvSpPr>
        <p:spPr>
          <a:xfrm>
            <a:off x="1252891" y="2566447"/>
            <a:ext cx="2620195" cy="222736"/>
          </a:xfrm>
          <a:prstGeom prst="rect">
            <a:avLst/>
          </a:prstGeom>
          <a:noFill/>
          <a:ln/>
        </p:spPr>
        <p:txBody>
          <a:bodyPr vert="horz" wrap="square" lIns="0" tIns="0" rIns="0" bIns="0" rtlCol="0" anchor="t"/>
          <a:lstStyle/>
          <a:p>
            <a:pPr>
              <a:lnSpc>
                <a:spcPts val="1754"/>
              </a:lnSpc>
            </a:pPr>
            <a:r>
              <a:rPr lang="en-US" sz="1169" b="1" dirty="0">
                <a:solidFill>
                  <a:srgbClr val="000000"/>
                </a:solidFill>
                <a:latin typeface="ui-sans-serif" pitchFamily="34" charset="0"/>
                <a:ea typeface="ui-sans-serif" pitchFamily="34" charset="-122"/>
                <a:cs typeface="ui-sans-serif" pitchFamily="34" charset="-120"/>
              </a:rPr>
              <a:t>Dimensions</a:t>
            </a:r>
            <a:endParaRPr lang="en-US" sz="1169" dirty="0"/>
          </a:p>
        </p:txBody>
      </p:sp>
      <p:sp>
        <p:nvSpPr>
          <p:cNvPr id="27" name="Text 5"/>
          <p:cNvSpPr/>
          <p:nvPr/>
        </p:nvSpPr>
        <p:spPr>
          <a:xfrm>
            <a:off x="1252891" y="2789183"/>
            <a:ext cx="2620195" cy="371227"/>
          </a:xfrm>
          <a:prstGeom prst="rect">
            <a:avLst/>
          </a:prstGeom>
          <a:noFill/>
          <a:ln/>
        </p:spPr>
        <p:txBody>
          <a:bodyPr vert="horz" wrap="square" lIns="0" tIns="0" rIns="0" bIns="0" rtlCol="0" anchor="t"/>
          <a:lstStyle/>
          <a:p>
            <a:pPr>
              <a:lnSpc>
                <a:spcPts val="1461"/>
              </a:lnSpc>
            </a:pPr>
            <a:r>
              <a:rPr lang="en-US" sz="1023" dirty="0">
                <a:solidFill>
                  <a:srgbClr val="4B5563"/>
                </a:solidFill>
                <a:latin typeface="ui-sans-serif" pitchFamily="34" charset="0"/>
                <a:ea typeface="ui-sans-serif" pitchFamily="34" charset="-122"/>
                <a:cs typeface="ui-sans-serif" pitchFamily="34" charset="-120"/>
              </a:rPr>
              <a:t>Key-value pairs that add context to metrics</a:t>
            </a:r>
            <a:endParaRPr lang="en-US" sz="1023" dirty="0"/>
          </a:p>
        </p:txBody>
      </p:sp>
      <p:sp>
        <p:nvSpPr>
          <p:cNvPr id="28" name="Text 6"/>
          <p:cNvSpPr/>
          <p:nvPr/>
        </p:nvSpPr>
        <p:spPr>
          <a:xfrm>
            <a:off x="1225049" y="3308901"/>
            <a:ext cx="2648037" cy="222736"/>
          </a:xfrm>
          <a:prstGeom prst="rect">
            <a:avLst/>
          </a:prstGeom>
          <a:noFill/>
          <a:ln/>
        </p:spPr>
        <p:txBody>
          <a:bodyPr vert="horz" wrap="square" lIns="0" tIns="0" rIns="0" bIns="0" rtlCol="0" anchor="t"/>
          <a:lstStyle/>
          <a:p>
            <a:pPr>
              <a:lnSpc>
                <a:spcPts val="1754"/>
              </a:lnSpc>
            </a:pPr>
            <a:r>
              <a:rPr lang="en-US" sz="1169" b="1" dirty="0">
                <a:solidFill>
                  <a:srgbClr val="000000"/>
                </a:solidFill>
                <a:latin typeface="ui-sans-serif" pitchFamily="34" charset="0"/>
                <a:ea typeface="ui-sans-serif" pitchFamily="34" charset="-122"/>
                <a:cs typeface="ui-sans-serif" pitchFamily="34" charset="-120"/>
              </a:rPr>
              <a:t>Timestamp</a:t>
            </a:r>
            <a:endParaRPr lang="en-US" sz="1169" dirty="0"/>
          </a:p>
        </p:txBody>
      </p:sp>
      <p:sp>
        <p:nvSpPr>
          <p:cNvPr id="29" name="Text 7"/>
          <p:cNvSpPr/>
          <p:nvPr/>
        </p:nvSpPr>
        <p:spPr>
          <a:xfrm>
            <a:off x="1225049" y="3531637"/>
            <a:ext cx="2648037" cy="371227"/>
          </a:xfrm>
          <a:prstGeom prst="rect">
            <a:avLst/>
          </a:prstGeom>
          <a:noFill/>
          <a:ln/>
        </p:spPr>
        <p:txBody>
          <a:bodyPr vert="horz" wrap="square" lIns="0" tIns="0" rIns="0" bIns="0" rtlCol="0" anchor="t"/>
          <a:lstStyle/>
          <a:p>
            <a:pPr>
              <a:lnSpc>
                <a:spcPts val="1461"/>
              </a:lnSpc>
            </a:pPr>
            <a:r>
              <a:rPr lang="en-US" sz="1023" dirty="0">
                <a:solidFill>
                  <a:srgbClr val="4B5563"/>
                </a:solidFill>
                <a:latin typeface="ui-sans-serif" pitchFamily="34" charset="0"/>
                <a:ea typeface="ui-sans-serif" pitchFamily="34" charset="-122"/>
                <a:cs typeface="ui-sans-serif" pitchFamily="34" charset="-120"/>
              </a:rPr>
              <a:t>Time associated with each metric data point</a:t>
            </a:r>
            <a:endParaRPr lang="en-US" sz="1023" dirty="0"/>
          </a:p>
        </p:txBody>
      </p:sp>
      <p:sp>
        <p:nvSpPr>
          <p:cNvPr id="30" name="Text 8"/>
          <p:cNvSpPr/>
          <p:nvPr/>
        </p:nvSpPr>
        <p:spPr>
          <a:xfrm>
            <a:off x="1178646" y="4051355"/>
            <a:ext cx="2694440" cy="222736"/>
          </a:xfrm>
          <a:prstGeom prst="rect">
            <a:avLst/>
          </a:prstGeom>
          <a:noFill/>
          <a:ln/>
        </p:spPr>
        <p:txBody>
          <a:bodyPr vert="horz" wrap="square" lIns="0" tIns="0" rIns="0" bIns="0" rtlCol="0" anchor="t"/>
          <a:lstStyle/>
          <a:p>
            <a:pPr>
              <a:lnSpc>
                <a:spcPts val="1754"/>
              </a:lnSpc>
            </a:pPr>
            <a:r>
              <a:rPr lang="en-US" sz="1169" b="1" dirty="0">
                <a:solidFill>
                  <a:srgbClr val="000000"/>
                </a:solidFill>
                <a:latin typeface="ui-sans-serif" pitchFamily="34" charset="0"/>
                <a:ea typeface="ui-sans-serif" pitchFamily="34" charset="-122"/>
                <a:cs typeface="ui-sans-serif" pitchFamily="34" charset="-120"/>
              </a:rPr>
              <a:t>Value</a:t>
            </a:r>
            <a:endParaRPr lang="en-US" sz="1169" dirty="0"/>
          </a:p>
        </p:txBody>
      </p:sp>
      <p:sp>
        <p:nvSpPr>
          <p:cNvPr id="31" name="Text 9"/>
          <p:cNvSpPr/>
          <p:nvPr/>
        </p:nvSpPr>
        <p:spPr>
          <a:xfrm>
            <a:off x="1178646" y="4274091"/>
            <a:ext cx="2694440" cy="371227"/>
          </a:xfrm>
          <a:prstGeom prst="rect">
            <a:avLst/>
          </a:prstGeom>
          <a:noFill/>
          <a:ln/>
        </p:spPr>
        <p:txBody>
          <a:bodyPr vert="horz" wrap="square" lIns="0" tIns="0" rIns="0" bIns="0" rtlCol="0" anchor="t"/>
          <a:lstStyle/>
          <a:p>
            <a:pPr>
              <a:lnSpc>
                <a:spcPts val="1461"/>
              </a:lnSpc>
            </a:pPr>
            <a:r>
              <a:rPr lang="en-US" sz="1023" dirty="0">
                <a:solidFill>
                  <a:srgbClr val="4B5563"/>
                </a:solidFill>
                <a:latin typeface="ui-sans-serif" pitchFamily="34" charset="0"/>
                <a:ea typeface="ui-sans-serif" pitchFamily="34" charset="-122"/>
                <a:cs typeface="ui-sans-serif" pitchFamily="34" charset="-120"/>
              </a:rPr>
              <a:t>Numerical data recorded at a specific time</a:t>
            </a:r>
            <a:endParaRPr lang="en-US" sz="1023" dirty="0"/>
          </a:p>
        </p:txBody>
      </p:sp>
      <p:sp>
        <p:nvSpPr>
          <p:cNvPr id="32" name="Text 10"/>
          <p:cNvSpPr/>
          <p:nvPr/>
        </p:nvSpPr>
        <p:spPr>
          <a:xfrm>
            <a:off x="4801153" y="1378521"/>
            <a:ext cx="3534022" cy="296982"/>
          </a:xfrm>
          <a:prstGeom prst="rect">
            <a:avLst/>
          </a:prstGeom>
          <a:noFill/>
          <a:ln/>
        </p:spPr>
        <p:txBody>
          <a:bodyPr vert="horz" wrap="square" lIns="0" tIns="0" rIns="0" bIns="0" rtlCol="0" anchor="t"/>
          <a:lstStyle/>
          <a:p>
            <a:pPr>
              <a:lnSpc>
                <a:spcPts val="2338"/>
              </a:lnSpc>
            </a:pPr>
            <a:r>
              <a:rPr lang="en-US" sz="1754" b="1" dirty="0">
                <a:solidFill>
                  <a:srgbClr val="000000"/>
                </a:solidFill>
                <a:latin typeface="ui-sans-serif" pitchFamily="34" charset="0"/>
                <a:ea typeface="ui-sans-serif" pitchFamily="34" charset="-122"/>
                <a:cs typeface="ui-sans-serif" pitchFamily="34" charset="-120"/>
              </a:rPr>
              <a:t>Types of Metrics</a:t>
            </a:r>
            <a:endParaRPr lang="en-US" sz="1754" dirty="0"/>
          </a:p>
        </p:txBody>
      </p:sp>
      <p:sp>
        <p:nvSpPr>
          <p:cNvPr id="33" name="Text 11"/>
          <p:cNvSpPr/>
          <p:nvPr/>
        </p:nvSpPr>
        <p:spPr>
          <a:xfrm>
            <a:off x="4764030" y="1823993"/>
            <a:ext cx="3177644" cy="222736"/>
          </a:xfrm>
          <a:prstGeom prst="rect">
            <a:avLst/>
          </a:prstGeom>
          <a:noFill/>
          <a:ln/>
        </p:spPr>
        <p:txBody>
          <a:bodyPr vert="horz" wrap="square" lIns="0" tIns="0" rIns="0" bIns="0" rtlCol="0" anchor="t"/>
          <a:lstStyle/>
          <a:p>
            <a:pPr>
              <a:lnSpc>
                <a:spcPts val="1754"/>
              </a:lnSpc>
            </a:pPr>
            <a:r>
              <a:rPr lang="en-US" sz="1169" b="1" dirty="0">
                <a:solidFill>
                  <a:srgbClr val="000000"/>
                </a:solidFill>
                <a:latin typeface="ui-sans-serif" pitchFamily="34" charset="0"/>
                <a:ea typeface="ui-sans-serif" pitchFamily="34" charset="-122"/>
                <a:cs typeface="ui-sans-serif" pitchFamily="34" charset="-120"/>
              </a:rPr>
              <a:t>Standard Metrics</a:t>
            </a:r>
            <a:endParaRPr lang="en-US" sz="1169" dirty="0"/>
          </a:p>
        </p:txBody>
      </p:sp>
      <p:sp>
        <p:nvSpPr>
          <p:cNvPr id="34" name="Text 12"/>
          <p:cNvSpPr/>
          <p:nvPr/>
        </p:nvSpPr>
        <p:spPr>
          <a:xfrm>
            <a:off x="4764030" y="2046729"/>
            <a:ext cx="2648037" cy="371227"/>
          </a:xfrm>
          <a:prstGeom prst="rect">
            <a:avLst/>
          </a:prstGeom>
          <a:noFill/>
          <a:ln/>
        </p:spPr>
        <p:txBody>
          <a:bodyPr vert="horz" wrap="square" lIns="0" tIns="0" rIns="0" bIns="0" rtlCol="0" anchor="t"/>
          <a:lstStyle/>
          <a:p>
            <a:pPr>
              <a:lnSpc>
                <a:spcPts val="1461"/>
              </a:lnSpc>
            </a:pPr>
            <a:r>
              <a:rPr lang="en-US" sz="1023" dirty="0">
                <a:solidFill>
                  <a:srgbClr val="4B5563"/>
                </a:solidFill>
                <a:latin typeface="ui-sans-serif" pitchFamily="34" charset="0"/>
                <a:ea typeface="ui-sans-serif" pitchFamily="34" charset="-122"/>
                <a:cs typeface="ui-sans-serif" pitchFamily="34" charset="-120"/>
              </a:rPr>
              <a:t>Automatically provided by AWS, typically at 5-minute intervals</a:t>
            </a:r>
            <a:endParaRPr lang="en-US" sz="1023" dirty="0"/>
          </a:p>
        </p:txBody>
      </p:sp>
      <p:sp>
        <p:nvSpPr>
          <p:cNvPr id="35" name="Text 13"/>
          <p:cNvSpPr/>
          <p:nvPr/>
        </p:nvSpPr>
        <p:spPr>
          <a:xfrm>
            <a:off x="4764030" y="2566447"/>
            <a:ext cx="2648037" cy="222736"/>
          </a:xfrm>
          <a:prstGeom prst="rect">
            <a:avLst/>
          </a:prstGeom>
          <a:noFill/>
          <a:ln/>
        </p:spPr>
        <p:txBody>
          <a:bodyPr vert="horz" wrap="square" lIns="0" tIns="0" rIns="0" bIns="0" rtlCol="0" anchor="t"/>
          <a:lstStyle/>
          <a:p>
            <a:pPr>
              <a:lnSpc>
                <a:spcPts val="1754"/>
              </a:lnSpc>
            </a:pPr>
            <a:r>
              <a:rPr lang="en-US" sz="1169" b="1" dirty="0">
                <a:solidFill>
                  <a:srgbClr val="000000"/>
                </a:solidFill>
                <a:latin typeface="ui-sans-serif" pitchFamily="34" charset="0"/>
                <a:ea typeface="ui-sans-serif" pitchFamily="34" charset="-122"/>
                <a:cs typeface="ui-sans-serif" pitchFamily="34" charset="-120"/>
              </a:rPr>
              <a:t>Custom Metrics</a:t>
            </a:r>
            <a:endParaRPr lang="en-US" sz="1169" dirty="0"/>
          </a:p>
        </p:txBody>
      </p:sp>
      <p:sp>
        <p:nvSpPr>
          <p:cNvPr id="36" name="Text 14"/>
          <p:cNvSpPr/>
          <p:nvPr/>
        </p:nvSpPr>
        <p:spPr>
          <a:xfrm>
            <a:off x="4764030" y="2789183"/>
            <a:ext cx="2648037" cy="371227"/>
          </a:xfrm>
          <a:prstGeom prst="rect">
            <a:avLst/>
          </a:prstGeom>
          <a:noFill/>
          <a:ln/>
        </p:spPr>
        <p:txBody>
          <a:bodyPr vert="horz" wrap="square" lIns="0" tIns="0" rIns="0" bIns="0" rtlCol="0" anchor="t"/>
          <a:lstStyle/>
          <a:p>
            <a:pPr>
              <a:lnSpc>
                <a:spcPts val="1461"/>
              </a:lnSpc>
            </a:pPr>
            <a:r>
              <a:rPr lang="en-US" sz="1023" dirty="0">
                <a:solidFill>
                  <a:srgbClr val="4B5563"/>
                </a:solidFill>
                <a:latin typeface="ui-sans-serif" pitchFamily="34" charset="0"/>
                <a:ea typeface="ui-sans-serif" pitchFamily="34" charset="-122"/>
                <a:cs typeface="ui-sans-serif" pitchFamily="34" charset="-120"/>
              </a:rPr>
              <a:t>User-defined metrics with up to 1-second interval resolution</a:t>
            </a:r>
            <a:endParaRPr lang="en-US" sz="1023" dirty="0"/>
          </a:p>
        </p:txBody>
      </p:sp>
      <p:sp>
        <p:nvSpPr>
          <p:cNvPr id="37" name="Text 15"/>
          <p:cNvSpPr/>
          <p:nvPr/>
        </p:nvSpPr>
        <p:spPr>
          <a:xfrm>
            <a:off x="4791872" y="3308901"/>
            <a:ext cx="3144234" cy="222736"/>
          </a:xfrm>
          <a:prstGeom prst="rect">
            <a:avLst/>
          </a:prstGeom>
          <a:noFill/>
          <a:ln/>
        </p:spPr>
        <p:txBody>
          <a:bodyPr vert="horz" wrap="square" lIns="0" tIns="0" rIns="0" bIns="0" rtlCol="0" anchor="t"/>
          <a:lstStyle/>
          <a:p>
            <a:pPr>
              <a:lnSpc>
                <a:spcPts val="1754"/>
              </a:lnSpc>
            </a:pPr>
            <a:r>
              <a:rPr lang="en-US" sz="1169" b="1" dirty="0">
                <a:solidFill>
                  <a:srgbClr val="000000"/>
                </a:solidFill>
                <a:latin typeface="ui-sans-serif" pitchFamily="34" charset="0"/>
                <a:ea typeface="ui-sans-serif" pitchFamily="34" charset="-122"/>
                <a:cs typeface="ui-sans-serif" pitchFamily="34" charset="-120"/>
              </a:rPr>
              <a:t>Detailed Monitoring</a:t>
            </a:r>
            <a:endParaRPr lang="en-US" sz="1169" dirty="0"/>
          </a:p>
        </p:txBody>
      </p:sp>
      <p:sp>
        <p:nvSpPr>
          <p:cNvPr id="38" name="Text 16"/>
          <p:cNvSpPr/>
          <p:nvPr/>
        </p:nvSpPr>
        <p:spPr>
          <a:xfrm>
            <a:off x="4791873" y="3531637"/>
            <a:ext cx="2620195" cy="371227"/>
          </a:xfrm>
          <a:prstGeom prst="rect">
            <a:avLst/>
          </a:prstGeom>
          <a:noFill/>
          <a:ln/>
        </p:spPr>
        <p:txBody>
          <a:bodyPr vert="horz" wrap="square" lIns="0" tIns="0" rIns="0" bIns="0" rtlCol="0" anchor="t"/>
          <a:lstStyle/>
          <a:p>
            <a:pPr>
              <a:lnSpc>
                <a:spcPts val="1461"/>
              </a:lnSpc>
            </a:pPr>
            <a:r>
              <a:rPr lang="en-US" sz="1023" dirty="0">
                <a:solidFill>
                  <a:srgbClr val="4B5563"/>
                </a:solidFill>
                <a:latin typeface="ui-sans-serif" pitchFamily="34" charset="0"/>
                <a:ea typeface="ui-sans-serif" pitchFamily="34" charset="-122"/>
                <a:cs typeface="ui-sans-serif" pitchFamily="34" charset="-120"/>
              </a:rPr>
              <a:t>Optional feature increasing collection frequency to 1-minute intervals</a:t>
            </a:r>
            <a:endParaRPr lang="en-US" sz="1023" dirty="0"/>
          </a:p>
        </p:txBody>
      </p:sp>
      <p:sp>
        <p:nvSpPr>
          <p:cNvPr id="39" name="Text 17"/>
          <p:cNvSpPr/>
          <p:nvPr/>
        </p:nvSpPr>
        <p:spPr>
          <a:xfrm>
            <a:off x="8340136" y="1378521"/>
            <a:ext cx="3534197" cy="296982"/>
          </a:xfrm>
          <a:prstGeom prst="rect">
            <a:avLst/>
          </a:prstGeom>
          <a:noFill/>
          <a:ln/>
        </p:spPr>
        <p:txBody>
          <a:bodyPr vert="horz" wrap="square" lIns="0" tIns="0" rIns="0" bIns="0" rtlCol="0" anchor="t"/>
          <a:lstStyle/>
          <a:p>
            <a:pPr>
              <a:lnSpc>
                <a:spcPts val="2338"/>
              </a:lnSpc>
            </a:pPr>
            <a:r>
              <a:rPr lang="en-US" sz="1754" b="1" dirty="0">
                <a:solidFill>
                  <a:srgbClr val="000000"/>
                </a:solidFill>
                <a:latin typeface="ui-sans-serif" pitchFamily="34" charset="0"/>
                <a:ea typeface="ui-sans-serif" pitchFamily="34" charset="-122"/>
                <a:cs typeface="ui-sans-serif" pitchFamily="34" charset="-120"/>
              </a:rPr>
              <a:t>Analysis Tools</a:t>
            </a:r>
            <a:endParaRPr lang="en-US" sz="1754" dirty="0"/>
          </a:p>
        </p:txBody>
      </p:sp>
      <p:sp>
        <p:nvSpPr>
          <p:cNvPr id="40" name="Text 18"/>
          <p:cNvSpPr/>
          <p:nvPr/>
        </p:nvSpPr>
        <p:spPr>
          <a:xfrm>
            <a:off x="8117400" y="1823993"/>
            <a:ext cx="2833796" cy="222736"/>
          </a:xfrm>
          <a:prstGeom prst="rect">
            <a:avLst/>
          </a:prstGeom>
          <a:noFill/>
          <a:ln/>
        </p:spPr>
        <p:txBody>
          <a:bodyPr vert="horz" wrap="square" lIns="0" tIns="0" rIns="0" bIns="0" rtlCol="0" anchor="t"/>
          <a:lstStyle/>
          <a:p>
            <a:pPr>
              <a:lnSpc>
                <a:spcPts val="1754"/>
              </a:lnSpc>
            </a:pPr>
            <a:r>
              <a:rPr lang="en-US" sz="1169" b="1" dirty="0">
                <a:solidFill>
                  <a:srgbClr val="000000"/>
                </a:solidFill>
                <a:latin typeface="ui-sans-serif" pitchFamily="34" charset="0"/>
                <a:ea typeface="ui-sans-serif" pitchFamily="34" charset="-122"/>
                <a:cs typeface="ui-sans-serif" pitchFamily="34" charset="-120"/>
              </a:rPr>
              <a:t>Metric Math</a:t>
            </a:r>
            <a:endParaRPr lang="en-US" sz="1169" dirty="0"/>
          </a:p>
        </p:txBody>
      </p:sp>
      <p:sp>
        <p:nvSpPr>
          <p:cNvPr id="41" name="Text 19"/>
          <p:cNvSpPr/>
          <p:nvPr/>
        </p:nvSpPr>
        <p:spPr>
          <a:xfrm>
            <a:off x="8117400" y="2046729"/>
            <a:ext cx="2833796" cy="371227"/>
          </a:xfrm>
          <a:prstGeom prst="rect">
            <a:avLst/>
          </a:prstGeom>
          <a:noFill/>
          <a:ln/>
        </p:spPr>
        <p:txBody>
          <a:bodyPr vert="horz" wrap="square" lIns="0" tIns="0" rIns="0" bIns="0" rtlCol="0" anchor="t"/>
          <a:lstStyle/>
          <a:p>
            <a:pPr>
              <a:lnSpc>
                <a:spcPts val="1461"/>
              </a:lnSpc>
            </a:pPr>
            <a:r>
              <a:rPr lang="en-US" sz="1023" dirty="0">
                <a:solidFill>
                  <a:srgbClr val="4B5563"/>
                </a:solidFill>
                <a:latin typeface="ui-sans-serif" pitchFamily="34" charset="0"/>
                <a:ea typeface="ui-sans-serif" pitchFamily="34" charset="-122"/>
                <a:cs typeface="ui-sans-serif" pitchFamily="34" charset="-120"/>
              </a:rPr>
              <a:t>Perform calculations across multiple metrics in real-time</a:t>
            </a:r>
            <a:endParaRPr lang="en-US" sz="1023" dirty="0"/>
          </a:p>
        </p:txBody>
      </p:sp>
      <p:sp>
        <p:nvSpPr>
          <p:cNvPr id="42" name="Text 20"/>
          <p:cNvSpPr/>
          <p:nvPr/>
        </p:nvSpPr>
        <p:spPr>
          <a:xfrm>
            <a:off x="8303013" y="2566447"/>
            <a:ext cx="3177819" cy="222736"/>
          </a:xfrm>
          <a:prstGeom prst="rect">
            <a:avLst/>
          </a:prstGeom>
          <a:noFill/>
          <a:ln/>
        </p:spPr>
        <p:txBody>
          <a:bodyPr vert="horz" wrap="square" lIns="0" tIns="0" rIns="0" bIns="0" rtlCol="0" anchor="t"/>
          <a:lstStyle/>
          <a:p>
            <a:pPr>
              <a:lnSpc>
                <a:spcPts val="1754"/>
              </a:lnSpc>
            </a:pPr>
            <a:r>
              <a:rPr lang="en-US" sz="1169" b="1" dirty="0">
                <a:solidFill>
                  <a:srgbClr val="000000"/>
                </a:solidFill>
                <a:latin typeface="ui-sans-serif" pitchFamily="34" charset="0"/>
                <a:ea typeface="ui-sans-serif" pitchFamily="34" charset="-122"/>
                <a:cs typeface="ui-sans-serif" pitchFamily="34" charset="-120"/>
              </a:rPr>
              <a:t>Metrics Insights</a:t>
            </a:r>
            <a:endParaRPr lang="en-US" sz="1169" dirty="0"/>
          </a:p>
        </p:txBody>
      </p:sp>
      <p:sp>
        <p:nvSpPr>
          <p:cNvPr id="43" name="Text 21"/>
          <p:cNvSpPr/>
          <p:nvPr/>
        </p:nvSpPr>
        <p:spPr>
          <a:xfrm>
            <a:off x="8303013" y="2789183"/>
            <a:ext cx="2648182" cy="371227"/>
          </a:xfrm>
          <a:prstGeom prst="rect">
            <a:avLst/>
          </a:prstGeom>
          <a:noFill/>
          <a:ln/>
        </p:spPr>
        <p:txBody>
          <a:bodyPr vert="horz" wrap="square" lIns="0" tIns="0" rIns="0" bIns="0" rtlCol="0" anchor="t"/>
          <a:lstStyle/>
          <a:p>
            <a:pPr>
              <a:lnSpc>
                <a:spcPts val="1461"/>
              </a:lnSpc>
            </a:pPr>
            <a:r>
              <a:rPr lang="en-US" sz="1023" dirty="0">
                <a:solidFill>
                  <a:srgbClr val="4B5563"/>
                </a:solidFill>
                <a:latin typeface="ui-sans-serif" pitchFamily="34" charset="0"/>
                <a:ea typeface="ui-sans-serif" pitchFamily="34" charset="-122"/>
                <a:cs typeface="ui-sans-serif" pitchFamily="34" charset="-120"/>
              </a:rPr>
              <a:t>SQL-based query engine for identifying trends in operational metrics</a:t>
            </a:r>
            <a:endParaRPr lang="en-US" sz="1023" dirty="0"/>
          </a:p>
        </p:txBody>
      </p:sp>
      <p:sp>
        <p:nvSpPr>
          <p:cNvPr id="44" name="Text 22"/>
          <p:cNvSpPr/>
          <p:nvPr/>
        </p:nvSpPr>
        <p:spPr>
          <a:xfrm>
            <a:off x="8349416" y="3308901"/>
            <a:ext cx="3122135" cy="222736"/>
          </a:xfrm>
          <a:prstGeom prst="rect">
            <a:avLst/>
          </a:prstGeom>
          <a:noFill/>
          <a:ln/>
        </p:spPr>
        <p:txBody>
          <a:bodyPr vert="horz" wrap="square" lIns="0" tIns="0" rIns="0" bIns="0" rtlCol="0" anchor="t"/>
          <a:lstStyle/>
          <a:p>
            <a:pPr>
              <a:lnSpc>
                <a:spcPts val="1754"/>
              </a:lnSpc>
            </a:pPr>
            <a:r>
              <a:rPr lang="en-US" sz="1169" b="1" dirty="0">
                <a:solidFill>
                  <a:srgbClr val="000000"/>
                </a:solidFill>
                <a:latin typeface="ui-sans-serif" pitchFamily="34" charset="0"/>
                <a:ea typeface="ui-sans-serif" pitchFamily="34" charset="-122"/>
                <a:cs typeface="ui-sans-serif" pitchFamily="34" charset="-120"/>
              </a:rPr>
              <a:t>Contributor Insights</a:t>
            </a:r>
            <a:endParaRPr lang="en-US" sz="1169" dirty="0"/>
          </a:p>
        </p:txBody>
      </p:sp>
      <p:sp>
        <p:nvSpPr>
          <p:cNvPr id="45" name="Text 23"/>
          <p:cNvSpPr/>
          <p:nvPr/>
        </p:nvSpPr>
        <p:spPr>
          <a:xfrm>
            <a:off x="8349416" y="3531637"/>
            <a:ext cx="2601779" cy="371227"/>
          </a:xfrm>
          <a:prstGeom prst="rect">
            <a:avLst/>
          </a:prstGeom>
          <a:noFill/>
          <a:ln/>
        </p:spPr>
        <p:txBody>
          <a:bodyPr vert="horz" wrap="square" lIns="0" tIns="0" rIns="0" bIns="0" rtlCol="0" anchor="t"/>
          <a:lstStyle/>
          <a:p>
            <a:pPr>
              <a:lnSpc>
                <a:spcPts val="1461"/>
              </a:lnSpc>
            </a:pPr>
            <a:r>
              <a:rPr lang="en-US" sz="1023" dirty="0">
                <a:solidFill>
                  <a:srgbClr val="4B5563"/>
                </a:solidFill>
                <a:latin typeface="ui-sans-serif" pitchFamily="34" charset="0"/>
                <a:ea typeface="ui-sans-serif" pitchFamily="34" charset="-122"/>
                <a:cs typeface="ui-sans-serif" pitchFamily="34" charset="-120"/>
              </a:rPr>
              <a:t>Analyze time-series data to identify top contributors to system performance</a:t>
            </a:r>
            <a:endParaRPr lang="en-US" sz="1023"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79227"/>
            <a:ext cx="11879263" cy="6682085"/>
          </a:xfrm>
          <a:prstGeom prst="rect">
            <a:avLst/>
          </a:prstGeom>
        </p:spPr>
      </p:pic>
      <p:pic>
        <p:nvPicPr>
          <p:cNvPr id="3" name="Image 1" descr="preencoded.png"/>
          <p:cNvPicPr>
            <a:picLocks noChangeAspect="1"/>
          </p:cNvPicPr>
          <p:nvPr/>
        </p:nvPicPr>
        <p:blipFill>
          <a:blip r:embed="rId4"/>
          <a:stretch>
            <a:fillRect/>
          </a:stretch>
        </p:blipFill>
        <p:spPr>
          <a:xfrm>
            <a:off x="9095060" y="79226"/>
            <a:ext cx="2784202" cy="2784202"/>
          </a:xfrm>
          <a:prstGeom prst="rect">
            <a:avLst/>
          </a:prstGeom>
        </p:spPr>
      </p:pic>
      <p:pic>
        <p:nvPicPr>
          <p:cNvPr id="4" name="Image 2" descr="preencoded.png"/>
          <p:cNvPicPr>
            <a:picLocks noChangeAspect="1"/>
          </p:cNvPicPr>
          <p:nvPr/>
        </p:nvPicPr>
        <p:blipFill>
          <a:blip r:embed="rId5"/>
          <a:stretch>
            <a:fillRect/>
          </a:stretch>
        </p:blipFill>
        <p:spPr>
          <a:xfrm>
            <a:off x="0" y="4905177"/>
            <a:ext cx="1856135" cy="2784202"/>
          </a:xfrm>
          <a:prstGeom prst="rect">
            <a:avLst/>
          </a:prstGeom>
        </p:spPr>
      </p:pic>
      <p:pic>
        <p:nvPicPr>
          <p:cNvPr id="5" name="Image 3" descr="preencoded.png"/>
          <p:cNvPicPr>
            <a:picLocks noChangeAspect="1"/>
          </p:cNvPicPr>
          <p:nvPr/>
        </p:nvPicPr>
        <p:blipFill>
          <a:blip r:embed="rId6"/>
          <a:stretch>
            <a:fillRect/>
          </a:stretch>
        </p:blipFill>
        <p:spPr>
          <a:xfrm>
            <a:off x="742454" y="1007294"/>
            <a:ext cx="890945" cy="37123"/>
          </a:xfrm>
          <a:prstGeom prst="rect">
            <a:avLst/>
          </a:prstGeom>
        </p:spPr>
      </p:pic>
      <p:pic>
        <p:nvPicPr>
          <p:cNvPr id="6" name="Image 4" descr="preencoded.png"/>
          <p:cNvPicPr>
            <a:picLocks noChangeAspect="1"/>
          </p:cNvPicPr>
          <p:nvPr/>
        </p:nvPicPr>
        <p:blipFill>
          <a:blip r:embed="rId7"/>
          <a:stretch>
            <a:fillRect/>
          </a:stretch>
        </p:blipFill>
        <p:spPr>
          <a:xfrm>
            <a:off x="742454" y="1267153"/>
            <a:ext cx="3316245" cy="2747079"/>
          </a:xfrm>
          <a:prstGeom prst="rect">
            <a:avLst/>
          </a:prstGeom>
        </p:spPr>
      </p:pic>
      <p:pic>
        <p:nvPicPr>
          <p:cNvPr id="7" name="Image 5" descr="preencoded.png"/>
          <p:cNvPicPr>
            <a:picLocks noChangeAspect="1"/>
          </p:cNvPicPr>
          <p:nvPr/>
        </p:nvPicPr>
        <p:blipFill>
          <a:blip r:embed="rId8"/>
          <a:stretch>
            <a:fillRect/>
          </a:stretch>
        </p:blipFill>
        <p:spPr>
          <a:xfrm>
            <a:off x="965190" y="1629099"/>
            <a:ext cx="315543" cy="278420"/>
          </a:xfrm>
          <a:prstGeom prst="rect">
            <a:avLst/>
          </a:prstGeom>
        </p:spPr>
      </p:pic>
      <p:pic>
        <p:nvPicPr>
          <p:cNvPr id="8" name="Image 6" descr="preencoded.png"/>
          <p:cNvPicPr>
            <a:picLocks noChangeAspect="1"/>
          </p:cNvPicPr>
          <p:nvPr/>
        </p:nvPicPr>
        <p:blipFill>
          <a:blip r:embed="rId9"/>
          <a:stretch>
            <a:fillRect/>
          </a:stretch>
        </p:blipFill>
        <p:spPr>
          <a:xfrm>
            <a:off x="965190" y="2288027"/>
            <a:ext cx="111368" cy="148491"/>
          </a:xfrm>
          <a:prstGeom prst="rect">
            <a:avLst/>
          </a:prstGeom>
        </p:spPr>
      </p:pic>
      <p:pic>
        <p:nvPicPr>
          <p:cNvPr id="9" name="Image 7" descr="preencoded.png"/>
          <p:cNvPicPr>
            <a:picLocks noChangeAspect="1"/>
          </p:cNvPicPr>
          <p:nvPr/>
        </p:nvPicPr>
        <p:blipFill>
          <a:blip r:embed="rId9"/>
          <a:stretch>
            <a:fillRect/>
          </a:stretch>
        </p:blipFill>
        <p:spPr>
          <a:xfrm>
            <a:off x="965190" y="2844867"/>
            <a:ext cx="111368" cy="148491"/>
          </a:xfrm>
          <a:prstGeom prst="rect">
            <a:avLst/>
          </a:prstGeom>
        </p:spPr>
      </p:pic>
      <p:pic>
        <p:nvPicPr>
          <p:cNvPr id="10" name="Image 8" descr="preencoded.png"/>
          <p:cNvPicPr>
            <a:picLocks noChangeAspect="1"/>
          </p:cNvPicPr>
          <p:nvPr/>
        </p:nvPicPr>
        <p:blipFill>
          <a:blip r:embed="rId9"/>
          <a:stretch>
            <a:fillRect/>
          </a:stretch>
        </p:blipFill>
        <p:spPr>
          <a:xfrm>
            <a:off x="965190" y="3401708"/>
            <a:ext cx="111368" cy="148491"/>
          </a:xfrm>
          <a:prstGeom prst="rect">
            <a:avLst/>
          </a:prstGeom>
        </p:spPr>
      </p:pic>
      <p:pic>
        <p:nvPicPr>
          <p:cNvPr id="11" name="Image 9" descr="preencoded.png"/>
          <p:cNvPicPr>
            <a:picLocks noChangeAspect="1"/>
          </p:cNvPicPr>
          <p:nvPr/>
        </p:nvPicPr>
        <p:blipFill>
          <a:blip r:embed="rId10"/>
          <a:stretch>
            <a:fillRect/>
          </a:stretch>
        </p:blipFill>
        <p:spPr>
          <a:xfrm>
            <a:off x="4327839" y="1415644"/>
            <a:ext cx="3316245" cy="2747079"/>
          </a:xfrm>
          <a:prstGeom prst="rect">
            <a:avLst/>
          </a:prstGeom>
        </p:spPr>
      </p:pic>
      <p:pic>
        <p:nvPicPr>
          <p:cNvPr id="12" name="Image 10" descr="preencoded.png"/>
          <p:cNvPicPr>
            <a:picLocks noChangeAspect="1"/>
          </p:cNvPicPr>
          <p:nvPr/>
        </p:nvPicPr>
        <p:blipFill>
          <a:blip r:embed="rId11"/>
          <a:stretch>
            <a:fillRect/>
          </a:stretch>
        </p:blipFill>
        <p:spPr>
          <a:xfrm>
            <a:off x="4504172" y="1499170"/>
            <a:ext cx="278420" cy="278420"/>
          </a:xfrm>
          <a:prstGeom prst="rect">
            <a:avLst/>
          </a:prstGeom>
        </p:spPr>
      </p:pic>
      <p:pic>
        <p:nvPicPr>
          <p:cNvPr id="13" name="Image 11" descr="preencoded.png"/>
          <p:cNvPicPr>
            <a:picLocks noChangeAspect="1"/>
          </p:cNvPicPr>
          <p:nvPr/>
        </p:nvPicPr>
        <p:blipFill>
          <a:blip r:embed="rId12"/>
          <a:stretch>
            <a:fillRect/>
          </a:stretch>
        </p:blipFill>
        <p:spPr>
          <a:xfrm>
            <a:off x="4495521" y="2469313"/>
            <a:ext cx="111368" cy="148491"/>
          </a:xfrm>
          <a:prstGeom prst="rect">
            <a:avLst/>
          </a:prstGeom>
        </p:spPr>
      </p:pic>
      <p:pic>
        <p:nvPicPr>
          <p:cNvPr id="14" name="Image 12" descr="preencoded.png"/>
          <p:cNvPicPr>
            <a:picLocks noChangeAspect="1"/>
          </p:cNvPicPr>
          <p:nvPr/>
        </p:nvPicPr>
        <p:blipFill>
          <a:blip r:embed="rId12"/>
          <a:stretch>
            <a:fillRect/>
          </a:stretch>
        </p:blipFill>
        <p:spPr>
          <a:xfrm>
            <a:off x="4493735" y="2736418"/>
            <a:ext cx="95258" cy="127011"/>
          </a:xfrm>
          <a:prstGeom prst="rect">
            <a:avLst/>
          </a:prstGeom>
        </p:spPr>
      </p:pic>
      <p:pic>
        <p:nvPicPr>
          <p:cNvPr id="15" name="Image 13" descr="preencoded.png"/>
          <p:cNvPicPr>
            <a:picLocks noChangeAspect="1"/>
          </p:cNvPicPr>
          <p:nvPr/>
        </p:nvPicPr>
        <p:blipFill>
          <a:blip r:embed="rId12"/>
          <a:stretch>
            <a:fillRect/>
          </a:stretch>
        </p:blipFill>
        <p:spPr>
          <a:xfrm>
            <a:off x="4485680" y="2983532"/>
            <a:ext cx="111368" cy="148491"/>
          </a:xfrm>
          <a:prstGeom prst="rect">
            <a:avLst/>
          </a:prstGeom>
        </p:spPr>
      </p:pic>
      <p:pic>
        <p:nvPicPr>
          <p:cNvPr id="16" name="Image 14" descr="preencoded.png"/>
          <p:cNvPicPr>
            <a:picLocks noChangeAspect="1"/>
          </p:cNvPicPr>
          <p:nvPr/>
        </p:nvPicPr>
        <p:blipFill>
          <a:blip r:embed="rId13"/>
          <a:stretch>
            <a:fillRect/>
          </a:stretch>
        </p:blipFill>
        <p:spPr>
          <a:xfrm>
            <a:off x="7820418" y="1267153"/>
            <a:ext cx="3316391" cy="2747079"/>
          </a:xfrm>
          <a:prstGeom prst="rect">
            <a:avLst/>
          </a:prstGeom>
        </p:spPr>
      </p:pic>
      <p:pic>
        <p:nvPicPr>
          <p:cNvPr id="17" name="Image 15" descr="preencoded.png"/>
          <p:cNvPicPr>
            <a:picLocks noChangeAspect="1"/>
          </p:cNvPicPr>
          <p:nvPr/>
        </p:nvPicPr>
        <p:blipFill>
          <a:blip r:embed="rId14"/>
          <a:stretch>
            <a:fillRect/>
          </a:stretch>
        </p:blipFill>
        <p:spPr>
          <a:xfrm>
            <a:off x="8043155" y="1629099"/>
            <a:ext cx="213455" cy="278420"/>
          </a:xfrm>
          <a:prstGeom prst="rect">
            <a:avLst/>
          </a:prstGeom>
        </p:spPr>
      </p:pic>
      <p:pic>
        <p:nvPicPr>
          <p:cNvPr id="18" name="Image 16" descr="preencoded.png"/>
          <p:cNvPicPr>
            <a:picLocks noChangeAspect="1"/>
          </p:cNvPicPr>
          <p:nvPr/>
        </p:nvPicPr>
        <p:blipFill>
          <a:blip r:embed="rId15"/>
          <a:stretch>
            <a:fillRect/>
          </a:stretch>
        </p:blipFill>
        <p:spPr>
          <a:xfrm>
            <a:off x="8043154" y="2288027"/>
            <a:ext cx="111368" cy="148491"/>
          </a:xfrm>
          <a:prstGeom prst="rect">
            <a:avLst/>
          </a:prstGeom>
        </p:spPr>
      </p:pic>
      <p:pic>
        <p:nvPicPr>
          <p:cNvPr id="19" name="Image 17" descr="preencoded.png"/>
          <p:cNvPicPr>
            <a:picLocks noChangeAspect="1"/>
          </p:cNvPicPr>
          <p:nvPr/>
        </p:nvPicPr>
        <p:blipFill>
          <a:blip r:embed="rId15"/>
          <a:stretch>
            <a:fillRect/>
          </a:stretch>
        </p:blipFill>
        <p:spPr>
          <a:xfrm>
            <a:off x="8043154" y="2844867"/>
            <a:ext cx="111368" cy="148491"/>
          </a:xfrm>
          <a:prstGeom prst="rect">
            <a:avLst/>
          </a:prstGeom>
        </p:spPr>
      </p:pic>
      <p:pic>
        <p:nvPicPr>
          <p:cNvPr id="20" name="Image 18" descr="preencoded.png"/>
          <p:cNvPicPr>
            <a:picLocks noChangeAspect="1"/>
          </p:cNvPicPr>
          <p:nvPr/>
        </p:nvPicPr>
        <p:blipFill>
          <a:blip r:embed="rId15"/>
          <a:stretch>
            <a:fillRect/>
          </a:stretch>
        </p:blipFill>
        <p:spPr>
          <a:xfrm>
            <a:off x="8043154" y="3401708"/>
            <a:ext cx="111368" cy="148491"/>
          </a:xfrm>
          <a:prstGeom prst="rect">
            <a:avLst/>
          </a:prstGeom>
        </p:spPr>
      </p:pic>
      <p:sp>
        <p:nvSpPr>
          <p:cNvPr id="22" name="Text 0"/>
          <p:cNvSpPr/>
          <p:nvPr/>
        </p:nvSpPr>
        <p:spPr>
          <a:xfrm>
            <a:off x="742454" y="524699"/>
            <a:ext cx="10394355" cy="371227"/>
          </a:xfrm>
          <a:prstGeom prst="rect">
            <a:avLst/>
          </a:prstGeom>
          <a:noFill/>
          <a:ln/>
        </p:spPr>
        <p:txBody>
          <a:bodyPr vert="horz" wrap="square" lIns="0" tIns="0" rIns="0" bIns="0" rtlCol="0" anchor="t"/>
          <a:lstStyle/>
          <a:p>
            <a:pPr>
              <a:lnSpc>
                <a:spcPts val="2923"/>
              </a:lnSpc>
            </a:pPr>
            <a:r>
              <a:rPr lang="en-US" sz="2631" b="1" dirty="0">
                <a:solidFill>
                  <a:srgbClr val="FF9900"/>
                </a:solidFill>
                <a:latin typeface="ui-sans-serif" pitchFamily="34" charset="0"/>
                <a:ea typeface="ui-sans-serif" pitchFamily="34" charset="-122"/>
                <a:cs typeface="ui-sans-serif" pitchFamily="34" charset="-120"/>
              </a:rPr>
              <a:t>CloudWatch</a:t>
            </a:r>
            <a:r>
              <a:rPr lang="en-US" sz="2631" b="1" dirty="0">
                <a:solidFill>
                  <a:srgbClr val="1F2937"/>
                </a:solidFill>
                <a:latin typeface="ui-sans-serif" pitchFamily="34" charset="0"/>
                <a:ea typeface="ui-sans-serif" pitchFamily="34" charset="-122"/>
                <a:cs typeface="ui-sans-serif" pitchFamily="34" charset="-120"/>
              </a:rPr>
              <a:t> Logs</a:t>
            </a:r>
            <a:endParaRPr lang="en-US" sz="2631" dirty="0"/>
          </a:p>
        </p:txBody>
      </p:sp>
      <p:sp>
        <p:nvSpPr>
          <p:cNvPr id="23" name="Text 1"/>
          <p:cNvSpPr/>
          <p:nvPr/>
        </p:nvSpPr>
        <p:spPr>
          <a:xfrm>
            <a:off x="1392101" y="1489889"/>
            <a:ext cx="2443862" cy="593963"/>
          </a:xfrm>
          <a:prstGeom prst="rect">
            <a:avLst/>
          </a:prstGeom>
          <a:noFill/>
          <a:ln/>
        </p:spPr>
        <p:txBody>
          <a:bodyPr vert="horz" wrap="square" lIns="0" tIns="0" rIns="0" bIns="0" rtlCol="0" anchor="t"/>
          <a:lstStyle/>
          <a:p>
            <a:pPr>
              <a:lnSpc>
                <a:spcPts val="2338"/>
              </a:lnSpc>
            </a:pPr>
            <a:r>
              <a:rPr lang="en-US" sz="1754" b="1" dirty="0">
                <a:solidFill>
                  <a:srgbClr val="000000"/>
                </a:solidFill>
                <a:latin typeface="ui-sans-serif" pitchFamily="34" charset="0"/>
                <a:ea typeface="ui-sans-serif" pitchFamily="34" charset="-122"/>
                <a:cs typeface="ui-sans-serif" pitchFamily="34" charset="-120"/>
              </a:rPr>
              <a:t>Log Data Organization</a:t>
            </a:r>
            <a:endParaRPr lang="en-US" sz="1754" dirty="0"/>
          </a:p>
        </p:txBody>
      </p:sp>
      <p:sp>
        <p:nvSpPr>
          <p:cNvPr id="24" name="Text 2"/>
          <p:cNvSpPr/>
          <p:nvPr/>
        </p:nvSpPr>
        <p:spPr>
          <a:xfrm>
            <a:off x="1150803" y="2232343"/>
            <a:ext cx="2685160" cy="445472"/>
          </a:xfrm>
          <a:prstGeom prst="rect">
            <a:avLst/>
          </a:prstGeom>
          <a:noFill/>
          <a:ln/>
        </p:spPr>
        <p:txBody>
          <a:bodyPr vert="horz" wrap="square" lIns="0" tIns="0" rIns="0" bIns="0" rtlCol="0" anchor="t"/>
          <a:lstStyle/>
          <a:p>
            <a:pPr>
              <a:lnSpc>
                <a:spcPts val="1754"/>
              </a:lnSpc>
            </a:pPr>
            <a:r>
              <a:rPr lang="en-US" sz="1169" dirty="0">
                <a:solidFill>
                  <a:srgbClr val="000000"/>
                </a:solidFill>
                <a:latin typeface="ui-sans-serif" pitchFamily="34" charset="0"/>
                <a:ea typeface="ui-sans-serif" pitchFamily="34" charset="-122"/>
                <a:cs typeface="ui-sans-serif" pitchFamily="34" charset="-120"/>
              </a:rPr>
              <a:t>Log Events: Individual records with timestamps</a:t>
            </a:r>
            <a:endParaRPr lang="en-US" sz="1169" dirty="0"/>
          </a:p>
        </p:txBody>
      </p:sp>
      <p:sp>
        <p:nvSpPr>
          <p:cNvPr id="25" name="Text 3"/>
          <p:cNvSpPr/>
          <p:nvPr/>
        </p:nvSpPr>
        <p:spPr>
          <a:xfrm>
            <a:off x="1150803" y="2789183"/>
            <a:ext cx="2685160" cy="445472"/>
          </a:xfrm>
          <a:prstGeom prst="rect">
            <a:avLst/>
          </a:prstGeom>
          <a:noFill/>
          <a:ln/>
        </p:spPr>
        <p:txBody>
          <a:bodyPr vert="horz" wrap="square" lIns="0" tIns="0" rIns="0" bIns="0" rtlCol="0" anchor="t"/>
          <a:lstStyle/>
          <a:p>
            <a:pPr>
              <a:lnSpc>
                <a:spcPts val="1754"/>
              </a:lnSpc>
            </a:pPr>
            <a:r>
              <a:rPr lang="en-US" sz="1169" dirty="0">
                <a:solidFill>
                  <a:srgbClr val="000000"/>
                </a:solidFill>
                <a:latin typeface="ui-sans-serif" pitchFamily="34" charset="0"/>
                <a:ea typeface="ui-sans-serif" pitchFamily="34" charset="-122"/>
                <a:cs typeface="ui-sans-serif" pitchFamily="34" charset="-120"/>
              </a:rPr>
              <a:t>Log Streams: Sequences of events with common source</a:t>
            </a:r>
            <a:endParaRPr lang="en-US" sz="1169" dirty="0"/>
          </a:p>
        </p:txBody>
      </p:sp>
      <p:sp>
        <p:nvSpPr>
          <p:cNvPr id="26" name="Text 4"/>
          <p:cNvSpPr/>
          <p:nvPr/>
        </p:nvSpPr>
        <p:spPr>
          <a:xfrm>
            <a:off x="1150803" y="3346024"/>
            <a:ext cx="2685160" cy="445472"/>
          </a:xfrm>
          <a:prstGeom prst="rect">
            <a:avLst/>
          </a:prstGeom>
          <a:noFill/>
          <a:ln/>
        </p:spPr>
        <p:txBody>
          <a:bodyPr vert="horz" wrap="square" lIns="0" tIns="0" rIns="0" bIns="0" rtlCol="0" anchor="t"/>
          <a:lstStyle/>
          <a:p>
            <a:pPr>
              <a:lnSpc>
                <a:spcPts val="1754"/>
              </a:lnSpc>
            </a:pPr>
            <a:r>
              <a:rPr lang="en-US" sz="1169" dirty="0">
                <a:solidFill>
                  <a:srgbClr val="000000"/>
                </a:solidFill>
                <a:latin typeface="ui-sans-serif" pitchFamily="34" charset="0"/>
                <a:ea typeface="ui-sans-serif" pitchFamily="34" charset="-122"/>
                <a:cs typeface="ui-sans-serif" pitchFamily="34" charset="-120"/>
              </a:rPr>
              <a:t>Log Groups: Containers with shared settings</a:t>
            </a:r>
            <a:endParaRPr lang="en-US" sz="1169" dirty="0"/>
          </a:p>
        </p:txBody>
      </p:sp>
      <p:sp>
        <p:nvSpPr>
          <p:cNvPr id="27" name="Text 5"/>
          <p:cNvSpPr/>
          <p:nvPr/>
        </p:nvSpPr>
        <p:spPr>
          <a:xfrm>
            <a:off x="4893960" y="1508450"/>
            <a:ext cx="2006366" cy="296982"/>
          </a:xfrm>
          <a:prstGeom prst="rect">
            <a:avLst/>
          </a:prstGeom>
          <a:noFill/>
          <a:ln/>
        </p:spPr>
        <p:txBody>
          <a:bodyPr vert="horz" wrap="square" lIns="0" tIns="0" rIns="0" bIns="0" rtlCol="0" anchor="t"/>
          <a:lstStyle/>
          <a:p>
            <a:pPr>
              <a:lnSpc>
                <a:spcPts val="2338"/>
              </a:lnSpc>
            </a:pPr>
            <a:r>
              <a:rPr lang="en-US" sz="1754" b="1" dirty="0">
                <a:solidFill>
                  <a:srgbClr val="000000"/>
                </a:solidFill>
                <a:latin typeface="ui-sans-serif" pitchFamily="34" charset="0"/>
                <a:ea typeface="ui-sans-serif" pitchFamily="34" charset="-122"/>
                <a:cs typeface="ui-sans-serif" pitchFamily="34" charset="-120"/>
              </a:rPr>
              <a:t>Logs Insights</a:t>
            </a:r>
            <a:endParaRPr lang="en-US" sz="1754" dirty="0"/>
          </a:p>
        </p:txBody>
      </p:sp>
      <p:sp>
        <p:nvSpPr>
          <p:cNvPr id="28" name="Text 6"/>
          <p:cNvSpPr/>
          <p:nvPr/>
        </p:nvSpPr>
        <p:spPr>
          <a:xfrm>
            <a:off x="4663239" y="2415975"/>
            <a:ext cx="2685160" cy="445472"/>
          </a:xfrm>
          <a:prstGeom prst="rect">
            <a:avLst/>
          </a:prstGeom>
          <a:noFill/>
          <a:ln/>
        </p:spPr>
        <p:txBody>
          <a:bodyPr vert="horz" wrap="square" lIns="0" tIns="0" rIns="0" bIns="0" rtlCol="0" anchor="t"/>
          <a:lstStyle/>
          <a:p>
            <a:pPr>
              <a:lnSpc>
                <a:spcPts val="1754"/>
              </a:lnSpc>
            </a:pPr>
            <a:r>
              <a:rPr lang="en-US" sz="1169" dirty="0">
                <a:solidFill>
                  <a:srgbClr val="000000"/>
                </a:solidFill>
                <a:latin typeface="ui-sans-serif" pitchFamily="34" charset="0"/>
                <a:ea typeface="ui-sans-serif" pitchFamily="34" charset="-122"/>
                <a:cs typeface="ui-sans-serif" pitchFamily="34" charset="-120"/>
              </a:rPr>
              <a:t>Interactive query service for log analysis</a:t>
            </a:r>
            <a:endParaRPr lang="en-US" sz="1169" dirty="0"/>
          </a:p>
        </p:txBody>
      </p:sp>
      <p:sp>
        <p:nvSpPr>
          <p:cNvPr id="29" name="Text 7"/>
          <p:cNvSpPr/>
          <p:nvPr/>
        </p:nvSpPr>
        <p:spPr>
          <a:xfrm>
            <a:off x="4643381" y="2675923"/>
            <a:ext cx="2685160" cy="445472"/>
          </a:xfrm>
          <a:prstGeom prst="rect">
            <a:avLst/>
          </a:prstGeom>
          <a:noFill/>
          <a:ln/>
        </p:spPr>
        <p:txBody>
          <a:bodyPr vert="horz" wrap="square" lIns="0" tIns="0" rIns="0" bIns="0" rtlCol="0" anchor="t"/>
          <a:lstStyle/>
          <a:p>
            <a:pPr>
              <a:lnSpc>
                <a:spcPts val="1754"/>
              </a:lnSpc>
            </a:pPr>
            <a:r>
              <a:rPr lang="en-US" sz="1169" dirty="0">
                <a:solidFill>
                  <a:srgbClr val="000000"/>
                </a:solidFill>
                <a:latin typeface="ui-sans-serif" pitchFamily="34" charset="0"/>
                <a:ea typeface="ui-sans-serif" pitchFamily="34" charset="-122"/>
                <a:cs typeface="ui-sans-serif" pitchFamily="34" charset="-120"/>
              </a:rPr>
              <a:t>Automatic log field discovery for JSON logs</a:t>
            </a:r>
            <a:endParaRPr lang="en-US" sz="1169" dirty="0"/>
          </a:p>
        </p:txBody>
      </p:sp>
      <p:sp>
        <p:nvSpPr>
          <p:cNvPr id="30" name="Text 8"/>
          <p:cNvSpPr/>
          <p:nvPr/>
        </p:nvSpPr>
        <p:spPr>
          <a:xfrm>
            <a:off x="4653849" y="2946815"/>
            <a:ext cx="2685160" cy="445472"/>
          </a:xfrm>
          <a:prstGeom prst="rect">
            <a:avLst/>
          </a:prstGeom>
          <a:noFill/>
          <a:ln/>
        </p:spPr>
        <p:txBody>
          <a:bodyPr vert="horz" wrap="square" lIns="0" tIns="0" rIns="0" bIns="0" rtlCol="0" anchor="t"/>
          <a:lstStyle/>
          <a:p>
            <a:pPr>
              <a:lnSpc>
                <a:spcPts val="1754"/>
              </a:lnSpc>
            </a:pPr>
            <a:r>
              <a:rPr lang="en-US" sz="1169" dirty="0">
                <a:solidFill>
                  <a:srgbClr val="000000"/>
                </a:solidFill>
                <a:latin typeface="ui-sans-serif" pitchFamily="34" charset="0"/>
                <a:ea typeface="ui-sans-serif" pitchFamily="34" charset="-122"/>
                <a:cs typeface="ui-sans-serif" pitchFamily="34" charset="-120"/>
              </a:rPr>
              <a:t>Powerful query language for data exploration</a:t>
            </a:r>
            <a:endParaRPr lang="en-US" sz="1169" dirty="0"/>
          </a:p>
        </p:txBody>
      </p:sp>
      <p:sp>
        <p:nvSpPr>
          <p:cNvPr id="31" name="Text 9"/>
          <p:cNvSpPr/>
          <p:nvPr/>
        </p:nvSpPr>
        <p:spPr>
          <a:xfrm>
            <a:off x="8367977" y="1489889"/>
            <a:ext cx="2546095" cy="593963"/>
          </a:xfrm>
          <a:prstGeom prst="rect">
            <a:avLst/>
          </a:prstGeom>
          <a:noFill/>
          <a:ln/>
        </p:spPr>
        <p:txBody>
          <a:bodyPr vert="horz" wrap="square" lIns="0" tIns="0" rIns="0" bIns="0" rtlCol="0" anchor="t"/>
          <a:lstStyle/>
          <a:p>
            <a:pPr>
              <a:lnSpc>
                <a:spcPts val="2338"/>
              </a:lnSpc>
            </a:pPr>
            <a:r>
              <a:rPr lang="en-US" sz="1754" b="1" dirty="0">
                <a:solidFill>
                  <a:srgbClr val="000000"/>
                </a:solidFill>
                <a:latin typeface="ui-sans-serif" pitchFamily="34" charset="0"/>
                <a:ea typeface="ui-sans-serif" pitchFamily="34" charset="-122"/>
                <a:cs typeface="ui-sans-serif" pitchFamily="34" charset="-120"/>
              </a:rPr>
              <a:t>Integration &amp; Actions</a:t>
            </a:r>
            <a:endParaRPr lang="en-US" sz="1754" dirty="0"/>
          </a:p>
        </p:txBody>
      </p:sp>
      <p:sp>
        <p:nvSpPr>
          <p:cNvPr id="32" name="Text 10"/>
          <p:cNvSpPr/>
          <p:nvPr/>
        </p:nvSpPr>
        <p:spPr>
          <a:xfrm>
            <a:off x="8228768" y="2232343"/>
            <a:ext cx="2685305" cy="445472"/>
          </a:xfrm>
          <a:prstGeom prst="rect">
            <a:avLst/>
          </a:prstGeom>
          <a:noFill/>
          <a:ln/>
        </p:spPr>
        <p:txBody>
          <a:bodyPr vert="horz" wrap="square" lIns="0" tIns="0" rIns="0" bIns="0" rtlCol="0" anchor="t"/>
          <a:lstStyle/>
          <a:p>
            <a:pPr>
              <a:lnSpc>
                <a:spcPts val="1754"/>
              </a:lnSpc>
            </a:pPr>
            <a:r>
              <a:rPr lang="en-US" sz="1169" dirty="0">
                <a:solidFill>
                  <a:srgbClr val="000000"/>
                </a:solidFill>
                <a:latin typeface="ui-sans-serif" pitchFamily="34" charset="0"/>
                <a:ea typeface="ui-sans-serif" pitchFamily="34" charset="-122"/>
                <a:cs typeface="ui-sans-serif" pitchFamily="34" charset="-120"/>
              </a:rPr>
              <a:t>Metric Filters: Extract values for CloudWatch metrics</a:t>
            </a:r>
            <a:endParaRPr lang="en-US" sz="1169" dirty="0"/>
          </a:p>
        </p:txBody>
      </p:sp>
      <p:sp>
        <p:nvSpPr>
          <p:cNvPr id="33" name="Text 11"/>
          <p:cNvSpPr/>
          <p:nvPr/>
        </p:nvSpPr>
        <p:spPr>
          <a:xfrm>
            <a:off x="8228768" y="2789183"/>
            <a:ext cx="2685305" cy="445472"/>
          </a:xfrm>
          <a:prstGeom prst="rect">
            <a:avLst/>
          </a:prstGeom>
          <a:noFill/>
          <a:ln/>
        </p:spPr>
        <p:txBody>
          <a:bodyPr vert="horz" wrap="square" lIns="0" tIns="0" rIns="0" bIns="0" rtlCol="0" anchor="t"/>
          <a:lstStyle/>
          <a:p>
            <a:pPr>
              <a:lnSpc>
                <a:spcPts val="1754"/>
              </a:lnSpc>
            </a:pPr>
            <a:r>
              <a:rPr lang="en-US" sz="1169" dirty="0">
                <a:solidFill>
                  <a:srgbClr val="000000"/>
                </a:solidFill>
                <a:latin typeface="ui-sans-serif" pitchFamily="34" charset="0"/>
                <a:ea typeface="ui-sans-serif" pitchFamily="34" charset="-122"/>
                <a:cs typeface="ui-sans-serif" pitchFamily="34" charset="-120"/>
              </a:rPr>
              <a:t>Subscription Filters: Route to Kinesis, Firehose, or Lambda</a:t>
            </a:r>
            <a:endParaRPr lang="en-US" sz="1169" dirty="0"/>
          </a:p>
        </p:txBody>
      </p:sp>
      <p:sp>
        <p:nvSpPr>
          <p:cNvPr id="34" name="Text 12"/>
          <p:cNvSpPr/>
          <p:nvPr/>
        </p:nvSpPr>
        <p:spPr>
          <a:xfrm>
            <a:off x="8228768" y="3346024"/>
            <a:ext cx="2685305" cy="445472"/>
          </a:xfrm>
          <a:prstGeom prst="rect">
            <a:avLst/>
          </a:prstGeom>
          <a:noFill/>
          <a:ln/>
        </p:spPr>
        <p:txBody>
          <a:bodyPr vert="horz" wrap="square" lIns="0" tIns="0" rIns="0" bIns="0" rtlCol="0" anchor="t"/>
          <a:lstStyle/>
          <a:p>
            <a:pPr>
              <a:lnSpc>
                <a:spcPts val="1754"/>
              </a:lnSpc>
            </a:pPr>
            <a:r>
              <a:rPr lang="en-US" sz="1169" dirty="0">
                <a:solidFill>
                  <a:srgbClr val="000000"/>
                </a:solidFill>
                <a:latin typeface="ui-sans-serif" pitchFamily="34" charset="0"/>
                <a:ea typeface="ui-sans-serif" pitchFamily="34" charset="-122"/>
                <a:cs typeface="ui-sans-serif" pitchFamily="34" charset="-120"/>
              </a:rPr>
              <a:t>Export to S3: For long-term archiving</a:t>
            </a:r>
            <a:endParaRPr lang="en-US" sz="1169"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79227"/>
            <a:ext cx="11879263" cy="6682085"/>
          </a:xfrm>
          <a:prstGeom prst="rect">
            <a:avLst/>
          </a:prstGeom>
        </p:spPr>
      </p:pic>
      <p:pic>
        <p:nvPicPr>
          <p:cNvPr id="3" name="Image 1" descr="preencoded.png"/>
          <p:cNvPicPr>
            <a:picLocks noChangeAspect="1"/>
          </p:cNvPicPr>
          <p:nvPr/>
        </p:nvPicPr>
        <p:blipFill>
          <a:blip r:embed="rId4"/>
          <a:stretch>
            <a:fillRect/>
          </a:stretch>
        </p:blipFill>
        <p:spPr>
          <a:xfrm>
            <a:off x="9095060" y="79226"/>
            <a:ext cx="2784202" cy="2784202"/>
          </a:xfrm>
          <a:prstGeom prst="rect">
            <a:avLst/>
          </a:prstGeom>
        </p:spPr>
      </p:pic>
      <p:pic>
        <p:nvPicPr>
          <p:cNvPr id="4" name="Image 2" descr="preencoded.png"/>
          <p:cNvPicPr>
            <a:picLocks noChangeAspect="1"/>
          </p:cNvPicPr>
          <p:nvPr/>
        </p:nvPicPr>
        <p:blipFill>
          <a:blip r:embed="rId5"/>
          <a:stretch>
            <a:fillRect/>
          </a:stretch>
        </p:blipFill>
        <p:spPr>
          <a:xfrm>
            <a:off x="0" y="4905177"/>
            <a:ext cx="1856135" cy="2784202"/>
          </a:xfrm>
          <a:prstGeom prst="rect">
            <a:avLst/>
          </a:prstGeom>
        </p:spPr>
      </p:pic>
      <p:pic>
        <p:nvPicPr>
          <p:cNvPr id="5" name="Image 3" descr="preencoded.png"/>
          <p:cNvPicPr>
            <a:picLocks noChangeAspect="1"/>
          </p:cNvPicPr>
          <p:nvPr/>
        </p:nvPicPr>
        <p:blipFill>
          <a:blip r:embed="rId6"/>
          <a:stretch>
            <a:fillRect/>
          </a:stretch>
        </p:blipFill>
        <p:spPr>
          <a:xfrm>
            <a:off x="742454" y="1007294"/>
            <a:ext cx="890945" cy="37123"/>
          </a:xfrm>
          <a:prstGeom prst="rect">
            <a:avLst/>
          </a:prstGeom>
        </p:spPr>
      </p:pic>
      <p:pic>
        <p:nvPicPr>
          <p:cNvPr id="6" name="Image 4" descr="preencoded.png"/>
          <p:cNvPicPr>
            <a:picLocks noChangeAspect="1"/>
          </p:cNvPicPr>
          <p:nvPr/>
        </p:nvPicPr>
        <p:blipFill>
          <a:blip r:embed="rId7"/>
          <a:stretch>
            <a:fillRect/>
          </a:stretch>
        </p:blipFill>
        <p:spPr>
          <a:xfrm>
            <a:off x="742454" y="2158097"/>
            <a:ext cx="148491" cy="148491"/>
          </a:xfrm>
          <a:prstGeom prst="rect">
            <a:avLst/>
          </a:prstGeom>
        </p:spPr>
      </p:pic>
      <p:pic>
        <p:nvPicPr>
          <p:cNvPr id="7" name="Image 5" descr="preencoded.png"/>
          <p:cNvPicPr>
            <a:picLocks noChangeAspect="1"/>
          </p:cNvPicPr>
          <p:nvPr/>
        </p:nvPicPr>
        <p:blipFill>
          <a:blip r:embed="rId7"/>
          <a:stretch>
            <a:fillRect/>
          </a:stretch>
        </p:blipFill>
        <p:spPr>
          <a:xfrm>
            <a:off x="742454" y="2714938"/>
            <a:ext cx="148491" cy="148491"/>
          </a:xfrm>
          <a:prstGeom prst="rect">
            <a:avLst/>
          </a:prstGeom>
        </p:spPr>
      </p:pic>
      <p:pic>
        <p:nvPicPr>
          <p:cNvPr id="8" name="Image 6" descr="preencoded.png"/>
          <p:cNvPicPr>
            <a:picLocks noChangeAspect="1"/>
          </p:cNvPicPr>
          <p:nvPr/>
        </p:nvPicPr>
        <p:blipFill>
          <a:blip r:embed="rId7"/>
          <a:stretch>
            <a:fillRect/>
          </a:stretch>
        </p:blipFill>
        <p:spPr>
          <a:xfrm>
            <a:off x="742454" y="3271778"/>
            <a:ext cx="148491" cy="148491"/>
          </a:xfrm>
          <a:prstGeom prst="rect">
            <a:avLst/>
          </a:prstGeom>
        </p:spPr>
      </p:pic>
      <p:pic>
        <p:nvPicPr>
          <p:cNvPr id="9" name="Image 7" descr="preencoded.png"/>
          <p:cNvPicPr>
            <a:picLocks noChangeAspect="1"/>
          </p:cNvPicPr>
          <p:nvPr/>
        </p:nvPicPr>
        <p:blipFill>
          <a:blip r:embed="rId7"/>
          <a:stretch>
            <a:fillRect/>
          </a:stretch>
        </p:blipFill>
        <p:spPr>
          <a:xfrm>
            <a:off x="742454" y="3828619"/>
            <a:ext cx="148491" cy="148491"/>
          </a:xfrm>
          <a:prstGeom prst="rect">
            <a:avLst/>
          </a:prstGeom>
        </p:spPr>
      </p:pic>
      <p:pic>
        <p:nvPicPr>
          <p:cNvPr id="10" name="Image 8" descr="preencoded.png"/>
          <p:cNvPicPr>
            <a:picLocks noChangeAspect="1"/>
          </p:cNvPicPr>
          <p:nvPr/>
        </p:nvPicPr>
        <p:blipFill>
          <a:blip r:embed="rId8"/>
          <a:stretch>
            <a:fillRect/>
          </a:stretch>
        </p:blipFill>
        <p:spPr>
          <a:xfrm>
            <a:off x="742453" y="4868054"/>
            <a:ext cx="2375853" cy="965190"/>
          </a:xfrm>
          <a:prstGeom prst="rect">
            <a:avLst/>
          </a:prstGeom>
        </p:spPr>
      </p:pic>
      <p:pic>
        <p:nvPicPr>
          <p:cNvPr id="11" name="Image 9" descr="preencoded.png"/>
          <p:cNvPicPr>
            <a:picLocks noChangeAspect="1"/>
          </p:cNvPicPr>
          <p:nvPr/>
        </p:nvPicPr>
        <p:blipFill>
          <a:blip r:embed="rId9"/>
          <a:stretch>
            <a:fillRect/>
          </a:stretch>
        </p:blipFill>
        <p:spPr>
          <a:xfrm>
            <a:off x="3266797" y="4868054"/>
            <a:ext cx="2375853" cy="965190"/>
          </a:xfrm>
          <a:prstGeom prst="rect">
            <a:avLst/>
          </a:prstGeom>
        </p:spPr>
      </p:pic>
      <p:pic>
        <p:nvPicPr>
          <p:cNvPr id="12" name="Image 10" descr="preencoded.png"/>
          <p:cNvPicPr>
            <a:picLocks noChangeAspect="1"/>
          </p:cNvPicPr>
          <p:nvPr/>
        </p:nvPicPr>
        <p:blipFill>
          <a:blip r:embed="rId10"/>
          <a:stretch>
            <a:fillRect/>
          </a:stretch>
        </p:blipFill>
        <p:spPr>
          <a:xfrm>
            <a:off x="6236612" y="2306588"/>
            <a:ext cx="4900196" cy="2598589"/>
          </a:xfrm>
          <a:prstGeom prst="rect">
            <a:avLst/>
          </a:prstGeom>
        </p:spPr>
      </p:pic>
      <p:pic>
        <p:nvPicPr>
          <p:cNvPr id="13" name="Image 11" descr="preencoded.png"/>
          <p:cNvPicPr>
            <a:picLocks noChangeAspect="1"/>
          </p:cNvPicPr>
          <p:nvPr/>
        </p:nvPicPr>
        <p:blipFill>
          <a:blip r:embed="rId11"/>
          <a:stretch>
            <a:fillRect/>
          </a:stretch>
        </p:blipFill>
        <p:spPr>
          <a:xfrm>
            <a:off x="6236612" y="2306588"/>
            <a:ext cx="4900196" cy="371227"/>
          </a:xfrm>
          <a:prstGeom prst="rect">
            <a:avLst/>
          </a:prstGeom>
        </p:spPr>
      </p:pic>
      <p:pic>
        <p:nvPicPr>
          <p:cNvPr id="14" name="Image 12" descr="preencoded.png"/>
          <p:cNvPicPr>
            <a:picLocks noChangeAspect="1"/>
          </p:cNvPicPr>
          <p:nvPr/>
        </p:nvPicPr>
        <p:blipFill>
          <a:blip r:embed="rId12"/>
          <a:stretch>
            <a:fillRect/>
          </a:stretch>
        </p:blipFill>
        <p:spPr>
          <a:xfrm>
            <a:off x="10412916" y="2417956"/>
            <a:ext cx="148491" cy="148491"/>
          </a:xfrm>
          <a:prstGeom prst="rect">
            <a:avLst/>
          </a:prstGeom>
        </p:spPr>
      </p:pic>
      <p:pic>
        <p:nvPicPr>
          <p:cNvPr id="15" name="Image 13" descr="preencoded.png"/>
          <p:cNvPicPr>
            <a:picLocks noChangeAspect="1"/>
          </p:cNvPicPr>
          <p:nvPr/>
        </p:nvPicPr>
        <p:blipFill>
          <a:blip r:embed="rId13"/>
          <a:stretch>
            <a:fillRect/>
          </a:stretch>
        </p:blipFill>
        <p:spPr>
          <a:xfrm>
            <a:off x="10635652" y="2417956"/>
            <a:ext cx="148491" cy="148491"/>
          </a:xfrm>
          <a:prstGeom prst="rect">
            <a:avLst/>
          </a:prstGeom>
        </p:spPr>
      </p:pic>
      <p:pic>
        <p:nvPicPr>
          <p:cNvPr id="16" name="Image 14" descr="preencoded.png"/>
          <p:cNvPicPr>
            <a:picLocks noChangeAspect="1"/>
          </p:cNvPicPr>
          <p:nvPr/>
        </p:nvPicPr>
        <p:blipFill>
          <a:blip r:embed="rId14"/>
          <a:stretch>
            <a:fillRect/>
          </a:stretch>
        </p:blipFill>
        <p:spPr>
          <a:xfrm>
            <a:off x="10858388" y="2417956"/>
            <a:ext cx="129929" cy="148491"/>
          </a:xfrm>
          <a:prstGeom prst="rect">
            <a:avLst/>
          </a:prstGeom>
        </p:spPr>
      </p:pic>
      <p:pic>
        <p:nvPicPr>
          <p:cNvPr id="17" name="Image 15" descr="preencoded.png"/>
          <p:cNvPicPr>
            <a:picLocks noChangeAspect="1"/>
          </p:cNvPicPr>
          <p:nvPr/>
        </p:nvPicPr>
        <p:blipFill>
          <a:blip r:embed="rId15"/>
          <a:stretch>
            <a:fillRect/>
          </a:stretch>
        </p:blipFill>
        <p:spPr>
          <a:xfrm>
            <a:off x="6310858" y="2752061"/>
            <a:ext cx="2338730" cy="928067"/>
          </a:xfrm>
          <a:prstGeom prst="rect">
            <a:avLst/>
          </a:prstGeom>
        </p:spPr>
      </p:pic>
      <p:pic>
        <p:nvPicPr>
          <p:cNvPr id="18" name="Image 16" descr="preencoded.png"/>
          <p:cNvPicPr>
            <a:picLocks noChangeAspect="1"/>
          </p:cNvPicPr>
          <p:nvPr/>
        </p:nvPicPr>
        <p:blipFill>
          <a:blip r:embed="rId16"/>
          <a:stretch>
            <a:fillRect/>
          </a:stretch>
        </p:blipFill>
        <p:spPr>
          <a:xfrm>
            <a:off x="6385103" y="3011919"/>
            <a:ext cx="2190239" cy="593963"/>
          </a:xfrm>
          <a:prstGeom prst="rect">
            <a:avLst/>
          </a:prstGeom>
        </p:spPr>
      </p:pic>
      <p:pic>
        <p:nvPicPr>
          <p:cNvPr id="19" name="Image 17" descr="preencoded.png"/>
          <p:cNvPicPr>
            <a:picLocks noChangeAspect="1"/>
          </p:cNvPicPr>
          <p:nvPr/>
        </p:nvPicPr>
        <p:blipFill>
          <a:blip r:embed="rId17"/>
          <a:stretch>
            <a:fillRect/>
          </a:stretch>
        </p:blipFill>
        <p:spPr>
          <a:xfrm>
            <a:off x="8723833" y="2752061"/>
            <a:ext cx="1132242" cy="928067"/>
          </a:xfrm>
          <a:prstGeom prst="rect">
            <a:avLst/>
          </a:prstGeom>
        </p:spPr>
      </p:pic>
      <p:pic>
        <p:nvPicPr>
          <p:cNvPr id="20" name="Image 18" descr="preencoded.png"/>
          <p:cNvPicPr>
            <a:picLocks noChangeAspect="1"/>
          </p:cNvPicPr>
          <p:nvPr/>
        </p:nvPicPr>
        <p:blipFill>
          <a:blip r:embed="rId18"/>
          <a:stretch>
            <a:fillRect/>
          </a:stretch>
        </p:blipFill>
        <p:spPr>
          <a:xfrm>
            <a:off x="6310858" y="3754373"/>
            <a:ext cx="2338730" cy="1076558"/>
          </a:xfrm>
          <a:prstGeom prst="rect">
            <a:avLst/>
          </a:prstGeom>
        </p:spPr>
      </p:pic>
      <p:pic>
        <p:nvPicPr>
          <p:cNvPr id="21" name="Image 19" descr="preencoded.png"/>
          <p:cNvPicPr>
            <a:picLocks noChangeAspect="1"/>
          </p:cNvPicPr>
          <p:nvPr/>
        </p:nvPicPr>
        <p:blipFill>
          <a:blip r:embed="rId19"/>
          <a:stretch>
            <a:fillRect/>
          </a:stretch>
        </p:blipFill>
        <p:spPr>
          <a:xfrm>
            <a:off x="8723833" y="3754373"/>
            <a:ext cx="1132242" cy="1076558"/>
          </a:xfrm>
          <a:prstGeom prst="rect">
            <a:avLst/>
          </a:prstGeom>
        </p:spPr>
      </p:pic>
      <p:pic>
        <p:nvPicPr>
          <p:cNvPr id="22" name="Image 20" descr="preencoded.png"/>
          <p:cNvPicPr>
            <a:picLocks noChangeAspect="1"/>
          </p:cNvPicPr>
          <p:nvPr/>
        </p:nvPicPr>
        <p:blipFill>
          <a:blip r:embed="rId19"/>
          <a:stretch>
            <a:fillRect/>
          </a:stretch>
        </p:blipFill>
        <p:spPr>
          <a:xfrm>
            <a:off x="9930321" y="3754373"/>
            <a:ext cx="1132242" cy="1076558"/>
          </a:xfrm>
          <a:prstGeom prst="rect">
            <a:avLst/>
          </a:prstGeom>
        </p:spPr>
      </p:pic>
      <p:pic>
        <p:nvPicPr>
          <p:cNvPr id="23" name="Image 21" descr="preencoded.png"/>
          <p:cNvPicPr>
            <a:picLocks noChangeAspect="1"/>
          </p:cNvPicPr>
          <p:nvPr/>
        </p:nvPicPr>
        <p:blipFill>
          <a:blip r:embed="rId20"/>
          <a:stretch>
            <a:fillRect/>
          </a:stretch>
        </p:blipFill>
        <p:spPr>
          <a:xfrm>
            <a:off x="10004566" y="4162723"/>
            <a:ext cx="983751" cy="593963"/>
          </a:xfrm>
          <a:prstGeom prst="rect">
            <a:avLst/>
          </a:prstGeom>
        </p:spPr>
      </p:pic>
      <p:pic>
        <p:nvPicPr>
          <p:cNvPr id="24" name="Image 22" descr="preencoded.png"/>
          <p:cNvPicPr>
            <a:picLocks noChangeAspect="1"/>
          </p:cNvPicPr>
          <p:nvPr/>
        </p:nvPicPr>
        <p:blipFill>
          <a:blip r:embed="rId21"/>
          <a:stretch>
            <a:fillRect/>
          </a:stretch>
        </p:blipFill>
        <p:spPr>
          <a:xfrm>
            <a:off x="6663233" y="5072229"/>
            <a:ext cx="129929" cy="129929"/>
          </a:xfrm>
          <a:prstGeom prst="rect">
            <a:avLst/>
          </a:prstGeom>
        </p:spPr>
      </p:pic>
      <p:sp>
        <p:nvSpPr>
          <p:cNvPr id="26" name="Text 0"/>
          <p:cNvSpPr/>
          <p:nvPr/>
        </p:nvSpPr>
        <p:spPr>
          <a:xfrm>
            <a:off x="742454" y="524699"/>
            <a:ext cx="10394355" cy="371227"/>
          </a:xfrm>
          <a:prstGeom prst="rect">
            <a:avLst/>
          </a:prstGeom>
          <a:noFill/>
          <a:ln/>
        </p:spPr>
        <p:txBody>
          <a:bodyPr vert="horz" wrap="square" lIns="0" tIns="0" rIns="0" bIns="0" rtlCol="0" anchor="t"/>
          <a:lstStyle/>
          <a:p>
            <a:pPr>
              <a:lnSpc>
                <a:spcPts val="2923"/>
              </a:lnSpc>
            </a:pPr>
            <a:r>
              <a:rPr lang="en-US" sz="2631" b="1" dirty="0">
                <a:solidFill>
                  <a:srgbClr val="1F2937"/>
                </a:solidFill>
                <a:latin typeface="ui-sans-serif" pitchFamily="34" charset="0"/>
                <a:ea typeface="ui-sans-serif" pitchFamily="34" charset="-122"/>
                <a:cs typeface="ui-sans-serif" pitchFamily="34" charset="-120"/>
              </a:rPr>
              <a:t>CloudWatch </a:t>
            </a:r>
            <a:r>
              <a:rPr lang="en-US" sz="2631" b="1" dirty="0">
                <a:solidFill>
                  <a:srgbClr val="FF9900"/>
                </a:solidFill>
                <a:latin typeface="ui-sans-serif" pitchFamily="34" charset="0"/>
                <a:ea typeface="ui-sans-serif" pitchFamily="34" charset="-122"/>
                <a:cs typeface="ui-sans-serif" pitchFamily="34" charset="-120"/>
              </a:rPr>
              <a:t>Dashboards</a:t>
            </a:r>
            <a:endParaRPr lang="en-US" sz="2631" dirty="0"/>
          </a:p>
        </p:txBody>
      </p:sp>
      <p:sp>
        <p:nvSpPr>
          <p:cNvPr id="27" name="Text 1"/>
          <p:cNvSpPr/>
          <p:nvPr/>
        </p:nvSpPr>
        <p:spPr>
          <a:xfrm>
            <a:off x="742454" y="1712625"/>
            <a:ext cx="4900196" cy="296982"/>
          </a:xfrm>
          <a:prstGeom prst="rect">
            <a:avLst/>
          </a:prstGeom>
          <a:noFill/>
          <a:ln/>
        </p:spPr>
        <p:txBody>
          <a:bodyPr vert="horz" wrap="square" lIns="0" tIns="0" rIns="0" bIns="0" rtlCol="0" anchor="t"/>
          <a:lstStyle/>
          <a:p>
            <a:pPr>
              <a:lnSpc>
                <a:spcPts val="2338"/>
              </a:lnSpc>
            </a:pPr>
            <a:r>
              <a:rPr lang="en-US" sz="1754" b="1" dirty="0">
                <a:solidFill>
                  <a:srgbClr val="000000"/>
                </a:solidFill>
                <a:latin typeface="ui-sans-serif" pitchFamily="34" charset="0"/>
                <a:ea typeface="ui-sans-serif" pitchFamily="34" charset="-122"/>
                <a:cs typeface="ui-sans-serif" pitchFamily="34" charset="-120"/>
              </a:rPr>
              <a:t>Key Features</a:t>
            </a:r>
            <a:endParaRPr lang="en-US" sz="1754" dirty="0"/>
          </a:p>
        </p:txBody>
      </p:sp>
      <p:sp>
        <p:nvSpPr>
          <p:cNvPr id="28" name="Text 2"/>
          <p:cNvSpPr/>
          <p:nvPr/>
        </p:nvSpPr>
        <p:spPr>
          <a:xfrm>
            <a:off x="1002312" y="2120975"/>
            <a:ext cx="4640337" cy="445472"/>
          </a:xfrm>
          <a:prstGeom prst="rect">
            <a:avLst/>
          </a:prstGeom>
          <a:noFill/>
          <a:ln/>
        </p:spPr>
        <p:txBody>
          <a:bodyPr vert="horz" wrap="square" lIns="0" tIns="0" rIns="0" bIns="0" rtlCol="0" anchor="t"/>
          <a:lstStyle/>
          <a:p>
            <a:pPr>
              <a:lnSpc>
                <a:spcPts val="1754"/>
              </a:lnSpc>
            </a:pPr>
            <a:r>
              <a:rPr lang="en-US" sz="1169" b="1" dirty="0">
                <a:solidFill>
                  <a:srgbClr val="374151"/>
                </a:solidFill>
                <a:latin typeface="ui-sans-serif" pitchFamily="34" charset="0"/>
                <a:ea typeface="ui-sans-serif" pitchFamily="34" charset="-122"/>
                <a:cs typeface="ui-sans-serif" pitchFamily="34" charset="-120"/>
              </a:rPr>
              <a:t>Unified View:</a:t>
            </a:r>
            <a:r>
              <a:rPr lang="en-US" sz="1169" dirty="0">
                <a:solidFill>
                  <a:srgbClr val="374151"/>
                </a:solidFill>
                <a:latin typeface="ui-sans-serif" pitchFamily="34" charset="0"/>
                <a:ea typeface="ui-sans-serif" pitchFamily="34" charset="-122"/>
                <a:cs typeface="ui-sans-serif" pitchFamily="34" charset="-120"/>
              </a:rPr>
              <a:t> Consolidates metrics, logs, and alarms into a single interface</a:t>
            </a:r>
            <a:endParaRPr lang="en-US" sz="1169" dirty="0"/>
          </a:p>
        </p:txBody>
      </p:sp>
      <p:sp>
        <p:nvSpPr>
          <p:cNvPr id="29" name="Text 3"/>
          <p:cNvSpPr/>
          <p:nvPr/>
        </p:nvSpPr>
        <p:spPr>
          <a:xfrm>
            <a:off x="1002312" y="2677815"/>
            <a:ext cx="4640337" cy="445472"/>
          </a:xfrm>
          <a:prstGeom prst="rect">
            <a:avLst/>
          </a:prstGeom>
          <a:noFill/>
          <a:ln/>
        </p:spPr>
        <p:txBody>
          <a:bodyPr vert="horz" wrap="square" lIns="0" tIns="0" rIns="0" bIns="0" rtlCol="0" anchor="t"/>
          <a:lstStyle/>
          <a:p>
            <a:pPr>
              <a:lnSpc>
                <a:spcPts val="1754"/>
              </a:lnSpc>
            </a:pPr>
            <a:r>
              <a:rPr lang="en-US" sz="1169" b="1" dirty="0">
                <a:solidFill>
                  <a:srgbClr val="374151"/>
                </a:solidFill>
                <a:latin typeface="ui-sans-serif" pitchFamily="34" charset="0"/>
                <a:ea typeface="ui-sans-serif" pitchFamily="34" charset="-122"/>
                <a:cs typeface="ui-sans-serif" pitchFamily="34" charset="-120"/>
              </a:rPr>
              <a:t>Visualizations:</a:t>
            </a:r>
            <a:r>
              <a:rPr lang="en-US" sz="1169" dirty="0">
                <a:solidFill>
                  <a:srgbClr val="374151"/>
                </a:solidFill>
                <a:latin typeface="ui-sans-serif" pitchFamily="34" charset="0"/>
                <a:ea typeface="ui-sans-serif" pitchFamily="34" charset="-122"/>
                <a:cs typeface="ui-sans-serif" pitchFamily="34" charset="-120"/>
              </a:rPr>
              <a:t> Various widget types for effective data display</a:t>
            </a:r>
            <a:endParaRPr lang="en-US" sz="1169" dirty="0"/>
          </a:p>
        </p:txBody>
      </p:sp>
      <p:sp>
        <p:nvSpPr>
          <p:cNvPr id="30" name="Text 4"/>
          <p:cNvSpPr/>
          <p:nvPr/>
        </p:nvSpPr>
        <p:spPr>
          <a:xfrm>
            <a:off x="1002312" y="3234656"/>
            <a:ext cx="4640337" cy="445472"/>
          </a:xfrm>
          <a:prstGeom prst="rect">
            <a:avLst/>
          </a:prstGeom>
          <a:noFill/>
          <a:ln/>
        </p:spPr>
        <p:txBody>
          <a:bodyPr vert="horz" wrap="square" lIns="0" tIns="0" rIns="0" bIns="0" rtlCol="0" anchor="t"/>
          <a:lstStyle/>
          <a:p>
            <a:pPr>
              <a:lnSpc>
                <a:spcPts val="1754"/>
              </a:lnSpc>
            </a:pPr>
            <a:r>
              <a:rPr lang="en-US" sz="1169" b="1" dirty="0">
                <a:solidFill>
                  <a:srgbClr val="374151"/>
                </a:solidFill>
                <a:latin typeface="ui-sans-serif" pitchFamily="34" charset="0"/>
                <a:ea typeface="ui-sans-serif" pitchFamily="34" charset="-122"/>
                <a:cs typeface="ui-sans-serif" pitchFamily="34" charset="-120"/>
              </a:rPr>
              <a:t>Cross-Account:</a:t>
            </a:r>
            <a:r>
              <a:rPr lang="en-US" sz="1169" dirty="0">
                <a:solidFill>
                  <a:srgbClr val="374151"/>
                </a:solidFill>
                <a:latin typeface="ui-sans-serif" pitchFamily="34" charset="0"/>
                <a:ea typeface="ui-sans-serif" pitchFamily="34" charset="-122"/>
                <a:cs typeface="ui-sans-serif" pitchFamily="34" charset="-120"/>
              </a:rPr>
              <a:t> Displays metrics from multiple AWS accounts and Regions</a:t>
            </a:r>
            <a:endParaRPr lang="en-US" sz="1169" dirty="0"/>
          </a:p>
        </p:txBody>
      </p:sp>
      <p:sp>
        <p:nvSpPr>
          <p:cNvPr id="31" name="Text 5"/>
          <p:cNvSpPr/>
          <p:nvPr/>
        </p:nvSpPr>
        <p:spPr>
          <a:xfrm>
            <a:off x="1002312" y="3791496"/>
            <a:ext cx="4640337" cy="445472"/>
          </a:xfrm>
          <a:prstGeom prst="rect">
            <a:avLst/>
          </a:prstGeom>
          <a:noFill/>
          <a:ln/>
        </p:spPr>
        <p:txBody>
          <a:bodyPr vert="horz" wrap="square" lIns="0" tIns="0" rIns="0" bIns="0" rtlCol="0" anchor="t"/>
          <a:lstStyle/>
          <a:p>
            <a:pPr>
              <a:lnSpc>
                <a:spcPts val="1754"/>
              </a:lnSpc>
            </a:pPr>
            <a:r>
              <a:rPr lang="en-US" sz="1169" b="1" dirty="0">
                <a:solidFill>
                  <a:srgbClr val="374151"/>
                </a:solidFill>
                <a:latin typeface="ui-sans-serif" pitchFamily="34" charset="0"/>
                <a:ea typeface="ui-sans-serif" pitchFamily="34" charset="-122"/>
                <a:cs typeface="ui-sans-serif" pitchFamily="34" charset="-120"/>
              </a:rPr>
              <a:t>Sharing:</a:t>
            </a:r>
            <a:r>
              <a:rPr lang="en-US" sz="1169" dirty="0">
                <a:solidFill>
                  <a:srgbClr val="374151"/>
                </a:solidFill>
                <a:latin typeface="ui-sans-serif" pitchFamily="34" charset="0"/>
                <a:ea typeface="ui-sans-serif" pitchFamily="34" charset="-122"/>
                <a:cs typeface="ui-sans-serif" pitchFamily="34" charset="-120"/>
              </a:rPr>
              <a:t> Share with team members using IAM permissions or public links</a:t>
            </a:r>
            <a:endParaRPr lang="en-US" sz="1169" dirty="0"/>
          </a:p>
        </p:txBody>
      </p:sp>
      <p:sp>
        <p:nvSpPr>
          <p:cNvPr id="32" name="Text 6"/>
          <p:cNvSpPr/>
          <p:nvPr/>
        </p:nvSpPr>
        <p:spPr>
          <a:xfrm>
            <a:off x="742454" y="4459704"/>
            <a:ext cx="5880235" cy="296982"/>
          </a:xfrm>
          <a:prstGeom prst="rect">
            <a:avLst/>
          </a:prstGeom>
          <a:noFill/>
          <a:ln/>
        </p:spPr>
        <p:txBody>
          <a:bodyPr vert="horz" wrap="square" lIns="0" tIns="0" rIns="0" bIns="0" rtlCol="0" anchor="t"/>
          <a:lstStyle/>
          <a:p>
            <a:pPr>
              <a:lnSpc>
                <a:spcPts val="2338"/>
              </a:lnSpc>
            </a:pPr>
            <a:r>
              <a:rPr lang="en-US" sz="1754" b="1" dirty="0">
                <a:solidFill>
                  <a:srgbClr val="000000"/>
                </a:solidFill>
                <a:latin typeface="ui-sans-serif" pitchFamily="34" charset="0"/>
                <a:ea typeface="ui-sans-serif" pitchFamily="34" charset="-122"/>
                <a:cs typeface="ui-sans-serif" pitchFamily="34" charset="-120"/>
              </a:rPr>
              <a:t>Types of Dashboards</a:t>
            </a:r>
            <a:endParaRPr lang="en-US" sz="1754" dirty="0"/>
          </a:p>
        </p:txBody>
      </p:sp>
      <p:sp>
        <p:nvSpPr>
          <p:cNvPr id="33" name="Text 7"/>
          <p:cNvSpPr/>
          <p:nvPr/>
        </p:nvSpPr>
        <p:spPr>
          <a:xfrm>
            <a:off x="890944" y="5016545"/>
            <a:ext cx="2078871" cy="222736"/>
          </a:xfrm>
          <a:prstGeom prst="rect">
            <a:avLst/>
          </a:prstGeom>
          <a:noFill/>
          <a:ln/>
        </p:spPr>
        <p:txBody>
          <a:bodyPr vert="horz" wrap="square" lIns="0" tIns="0" rIns="0" bIns="0" rtlCol="0" anchor="t"/>
          <a:lstStyle/>
          <a:p>
            <a:pPr>
              <a:lnSpc>
                <a:spcPts val="1754"/>
              </a:lnSpc>
            </a:pPr>
            <a:r>
              <a:rPr lang="en-US" sz="1169" b="1" dirty="0">
                <a:solidFill>
                  <a:srgbClr val="000000"/>
                </a:solidFill>
                <a:latin typeface="ui-sans-serif" pitchFamily="34" charset="0"/>
                <a:ea typeface="ui-sans-serif" pitchFamily="34" charset="-122"/>
                <a:cs typeface="ui-sans-serif" pitchFamily="34" charset="-120"/>
              </a:rPr>
              <a:t>Automatic</a:t>
            </a:r>
            <a:endParaRPr lang="en-US" sz="1169" dirty="0"/>
          </a:p>
        </p:txBody>
      </p:sp>
      <p:sp>
        <p:nvSpPr>
          <p:cNvPr id="34" name="Text 8"/>
          <p:cNvSpPr/>
          <p:nvPr/>
        </p:nvSpPr>
        <p:spPr>
          <a:xfrm>
            <a:off x="890944" y="5313526"/>
            <a:ext cx="2078871" cy="371227"/>
          </a:xfrm>
          <a:prstGeom prst="rect">
            <a:avLst/>
          </a:prstGeom>
          <a:noFill/>
          <a:ln/>
        </p:spPr>
        <p:txBody>
          <a:bodyPr vert="horz" wrap="square" lIns="0" tIns="0" rIns="0" bIns="0" rtlCol="0" anchor="t"/>
          <a:lstStyle/>
          <a:p>
            <a:pPr>
              <a:lnSpc>
                <a:spcPts val="1461"/>
              </a:lnSpc>
            </a:pPr>
            <a:r>
              <a:rPr lang="en-US" sz="1023" dirty="0">
                <a:solidFill>
                  <a:srgbClr val="4B5563"/>
                </a:solidFill>
                <a:latin typeface="ui-sans-serif" pitchFamily="34" charset="0"/>
                <a:ea typeface="ui-sans-serif" pitchFamily="34" charset="-122"/>
                <a:cs typeface="ui-sans-serif" pitchFamily="34" charset="-120"/>
              </a:rPr>
              <a:t>Pre-built dashboards for specific AWS services</a:t>
            </a:r>
            <a:endParaRPr lang="en-US" sz="1023" dirty="0"/>
          </a:p>
        </p:txBody>
      </p:sp>
      <p:sp>
        <p:nvSpPr>
          <p:cNvPr id="35" name="Text 9"/>
          <p:cNvSpPr/>
          <p:nvPr/>
        </p:nvSpPr>
        <p:spPr>
          <a:xfrm>
            <a:off x="3415288" y="5016545"/>
            <a:ext cx="2078871" cy="222736"/>
          </a:xfrm>
          <a:prstGeom prst="rect">
            <a:avLst/>
          </a:prstGeom>
          <a:noFill/>
          <a:ln/>
        </p:spPr>
        <p:txBody>
          <a:bodyPr vert="horz" wrap="square" lIns="0" tIns="0" rIns="0" bIns="0" rtlCol="0" anchor="t"/>
          <a:lstStyle/>
          <a:p>
            <a:pPr>
              <a:lnSpc>
                <a:spcPts val="1754"/>
              </a:lnSpc>
            </a:pPr>
            <a:r>
              <a:rPr lang="en-US" sz="1169" b="1" dirty="0">
                <a:solidFill>
                  <a:srgbClr val="000000"/>
                </a:solidFill>
                <a:latin typeface="ui-sans-serif" pitchFamily="34" charset="0"/>
                <a:ea typeface="ui-sans-serif" pitchFamily="34" charset="-122"/>
                <a:cs typeface="ui-sans-serif" pitchFamily="34" charset="-120"/>
              </a:rPr>
              <a:t>Custom</a:t>
            </a:r>
            <a:endParaRPr lang="en-US" sz="1169" dirty="0"/>
          </a:p>
        </p:txBody>
      </p:sp>
      <p:sp>
        <p:nvSpPr>
          <p:cNvPr id="36" name="Text 10"/>
          <p:cNvSpPr/>
          <p:nvPr/>
        </p:nvSpPr>
        <p:spPr>
          <a:xfrm>
            <a:off x="3415288" y="5313526"/>
            <a:ext cx="2078871" cy="371227"/>
          </a:xfrm>
          <a:prstGeom prst="rect">
            <a:avLst/>
          </a:prstGeom>
          <a:noFill/>
          <a:ln/>
        </p:spPr>
        <p:txBody>
          <a:bodyPr vert="horz" wrap="square" lIns="0" tIns="0" rIns="0" bIns="0" rtlCol="0" anchor="t"/>
          <a:lstStyle/>
          <a:p>
            <a:pPr>
              <a:lnSpc>
                <a:spcPts val="1461"/>
              </a:lnSpc>
            </a:pPr>
            <a:r>
              <a:rPr lang="en-US" sz="1023" dirty="0">
                <a:solidFill>
                  <a:srgbClr val="4B5563"/>
                </a:solidFill>
                <a:latin typeface="ui-sans-serif" pitchFamily="34" charset="0"/>
                <a:ea typeface="ui-sans-serif" pitchFamily="34" charset="-122"/>
                <a:cs typeface="ui-sans-serif" pitchFamily="34" charset="-120"/>
              </a:rPr>
              <a:t>User-created dashboards for specific monitoring needs</a:t>
            </a:r>
            <a:endParaRPr lang="en-US" sz="1023" dirty="0"/>
          </a:p>
        </p:txBody>
      </p:sp>
      <p:sp>
        <p:nvSpPr>
          <p:cNvPr id="37" name="Text 11"/>
          <p:cNvSpPr/>
          <p:nvPr/>
        </p:nvSpPr>
        <p:spPr>
          <a:xfrm>
            <a:off x="6385103" y="2380834"/>
            <a:ext cx="1086709" cy="222736"/>
          </a:xfrm>
          <a:prstGeom prst="rect">
            <a:avLst/>
          </a:prstGeom>
          <a:noFill/>
          <a:ln/>
        </p:spPr>
        <p:txBody>
          <a:bodyPr vert="horz" wrap="square" lIns="0" tIns="0" rIns="0" bIns="0" rtlCol="0" anchor="t"/>
          <a:lstStyle/>
          <a:p>
            <a:pPr>
              <a:lnSpc>
                <a:spcPts val="1754"/>
              </a:lnSpc>
            </a:pPr>
            <a:r>
              <a:rPr lang="en-US" sz="1169" b="1" dirty="0">
                <a:solidFill>
                  <a:srgbClr val="374151"/>
                </a:solidFill>
                <a:latin typeface="ui-sans-serif" pitchFamily="34" charset="0"/>
                <a:ea typeface="ui-sans-serif" pitchFamily="34" charset="-122"/>
                <a:cs typeface="ui-sans-serif" pitchFamily="34" charset="-120"/>
              </a:rPr>
              <a:t>Dashboard</a:t>
            </a:r>
            <a:endParaRPr lang="en-US" sz="1169" dirty="0"/>
          </a:p>
        </p:txBody>
      </p:sp>
      <p:sp>
        <p:nvSpPr>
          <p:cNvPr id="38" name="Text 12"/>
          <p:cNvSpPr/>
          <p:nvPr/>
        </p:nvSpPr>
        <p:spPr>
          <a:xfrm>
            <a:off x="6385103" y="2826306"/>
            <a:ext cx="2190239" cy="148491"/>
          </a:xfrm>
          <a:prstGeom prst="rect">
            <a:avLst/>
          </a:prstGeom>
          <a:noFill/>
          <a:ln/>
        </p:spPr>
        <p:txBody>
          <a:bodyPr vert="horz" wrap="square" lIns="0" tIns="0" rIns="0" bIns="0" rtlCol="0" anchor="t"/>
          <a:lstStyle/>
          <a:p>
            <a:pPr>
              <a:lnSpc>
                <a:spcPts val="1169"/>
              </a:lnSpc>
            </a:pPr>
            <a:r>
              <a:rPr lang="en-US" sz="877" dirty="0">
                <a:solidFill>
                  <a:srgbClr val="6B7280"/>
                </a:solidFill>
                <a:latin typeface="ui-sans-serif" pitchFamily="34" charset="0"/>
                <a:ea typeface="ui-sans-serif" pitchFamily="34" charset="-122"/>
                <a:cs typeface="ui-sans-serif" pitchFamily="34" charset="-120"/>
              </a:rPr>
              <a:t>CPU Utilization</a:t>
            </a:r>
            <a:endParaRPr lang="en-US" sz="877" dirty="0"/>
          </a:p>
        </p:txBody>
      </p:sp>
      <p:sp>
        <p:nvSpPr>
          <p:cNvPr id="39" name="Text 13"/>
          <p:cNvSpPr/>
          <p:nvPr/>
        </p:nvSpPr>
        <p:spPr>
          <a:xfrm>
            <a:off x="9125077" y="2974797"/>
            <a:ext cx="395531" cy="148491"/>
          </a:xfrm>
          <a:prstGeom prst="rect">
            <a:avLst/>
          </a:prstGeom>
          <a:noFill/>
          <a:ln/>
        </p:spPr>
        <p:txBody>
          <a:bodyPr vert="horz" wrap="square" lIns="0" tIns="0" rIns="0" bIns="0" rtlCol="0" anchor="t"/>
          <a:lstStyle/>
          <a:p>
            <a:pPr>
              <a:lnSpc>
                <a:spcPts val="1169"/>
              </a:lnSpc>
            </a:pPr>
            <a:r>
              <a:rPr lang="en-US" sz="877" dirty="0">
                <a:solidFill>
                  <a:srgbClr val="6B7280"/>
                </a:solidFill>
                <a:latin typeface="ui-sans-serif" pitchFamily="34" charset="0"/>
                <a:ea typeface="ui-sans-serif" pitchFamily="34" charset="-122"/>
                <a:cs typeface="ui-sans-serif" pitchFamily="34" charset="-120"/>
              </a:rPr>
              <a:t>Errors</a:t>
            </a:r>
            <a:endParaRPr lang="en-US" sz="877" dirty="0"/>
          </a:p>
        </p:txBody>
      </p:sp>
      <p:sp>
        <p:nvSpPr>
          <p:cNvPr id="40" name="Text 14"/>
          <p:cNvSpPr/>
          <p:nvPr/>
        </p:nvSpPr>
        <p:spPr>
          <a:xfrm>
            <a:off x="9134939" y="3160410"/>
            <a:ext cx="372039" cy="296982"/>
          </a:xfrm>
          <a:prstGeom prst="rect">
            <a:avLst/>
          </a:prstGeom>
          <a:noFill/>
          <a:ln/>
        </p:spPr>
        <p:txBody>
          <a:bodyPr vert="horz" wrap="square" lIns="0" tIns="0" rIns="0" bIns="0" rtlCol="0" anchor="t"/>
          <a:lstStyle/>
          <a:p>
            <a:pPr>
              <a:lnSpc>
                <a:spcPts val="2338"/>
              </a:lnSpc>
            </a:pPr>
            <a:r>
              <a:rPr lang="en-US" sz="1754" b="1" dirty="0">
                <a:solidFill>
                  <a:srgbClr val="EF4444"/>
                </a:solidFill>
                <a:latin typeface="ui-sans-serif" pitchFamily="34" charset="0"/>
                <a:ea typeface="ui-sans-serif" pitchFamily="34" charset="-122"/>
                <a:cs typeface="ui-sans-serif" pitchFamily="34" charset="-120"/>
              </a:rPr>
              <a:t>42</a:t>
            </a:r>
            <a:endParaRPr lang="en-US" sz="1754" dirty="0"/>
          </a:p>
        </p:txBody>
      </p:sp>
      <p:sp>
        <p:nvSpPr>
          <p:cNvPr id="41" name="Text 15"/>
          <p:cNvSpPr/>
          <p:nvPr/>
        </p:nvSpPr>
        <p:spPr>
          <a:xfrm>
            <a:off x="6385103" y="3828619"/>
            <a:ext cx="2190239" cy="148491"/>
          </a:xfrm>
          <a:prstGeom prst="rect">
            <a:avLst/>
          </a:prstGeom>
          <a:noFill/>
          <a:ln/>
        </p:spPr>
        <p:txBody>
          <a:bodyPr vert="horz" wrap="square" lIns="0" tIns="0" rIns="0" bIns="0" rtlCol="0" anchor="t"/>
          <a:lstStyle/>
          <a:p>
            <a:pPr>
              <a:lnSpc>
                <a:spcPts val="1169"/>
              </a:lnSpc>
            </a:pPr>
            <a:r>
              <a:rPr lang="en-US" sz="877" dirty="0">
                <a:solidFill>
                  <a:srgbClr val="6B7280"/>
                </a:solidFill>
                <a:latin typeface="ui-sans-serif" pitchFamily="34" charset="0"/>
                <a:ea typeface="ui-sans-serif" pitchFamily="34" charset="-122"/>
                <a:cs typeface="ui-sans-serif" pitchFamily="34" charset="-120"/>
              </a:rPr>
              <a:t>Recent Logs</a:t>
            </a:r>
            <a:endParaRPr lang="en-US" sz="877" dirty="0"/>
          </a:p>
        </p:txBody>
      </p:sp>
      <p:sp>
        <p:nvSpPr>
          <p:cNvPr id="42" name="Text 16"/>
          <p:cNvSpPr/>
          <p:nvPr/>
        </p:nvSpPr>
        <p:spPr>
          <a:xfrm>
            <a:off x="6385104" y="4014232"/>
            <a:ext cx="321575" cy="148491"/>
          </a:xfrm>
          <a:prstGeom prst="rect">
            <a:avLst/>
          </a:prstGeom>
          <a:noFill/>
          <a:ln/>
        </p:spPr>
        <p:txBody>
          <a:bodyPr vert="horz" wrap="square" lIns="0" tIns="0" rIns="0" bIns="0" rtlCol="0" anchor="t"/>
          <a:lstStyle/>
          <a:p>
            <a:pPr>
              <a:lnSpc>
                <a:spcPts val="1169"/>
              </a:lnSpc>
            </a:pPr>
            <a:r>
              <a:rPr lang="en-US" sz="877" dirty="0">
                <a:solidFill>
                  <a:srgbClr val="374151"/>
                </a:solidFill>
                <a:latin typeface="ui-sans-serif" pitchFamily="34" charset="0"/>
                <a:ea typeface="ui-sans-serif" pitchFamily="34" charset="-122"/>
                <a:cs typeface="ui-sans-serif" pitchFamily="34" charset="-120"/>
              </a:rPr>
              <a:t>INFO</a:t>
            </a:r>
            <a:endParaRPr lang="en-US" sz="877" dirty="0"/>
          </a:p>
        </p:txBody>
      </p:sp>
      <p:sp>
        <p:nvSpPr>
          <p:cNvPr id="43" name="Text 17"/>
          <p:cNvSpPr/>
          <p:nvPr/>
        </p:nvSpPr>
        <p:spPr>
          <a:xfrm>
            <a:off x="7519086" y="4014232"/>
            <a:ext cx="1267508" cy="148491"/>
          </a:xfrm>
          <a:prstGeom prst="rect">
            <a:avLst/>
          </a:prstGeom>
          <a:noFill/>
          <a:ln/>
        </p:spPr>
        <p:txBody>
          <a:bodyPr vert="horz" wrap="square" lIns="0" tIns="0" rIns="0" bIns="0" rtlCol="0" anchor="t"/>
          <a:lstStyle/>
          <a:p>
            <a:pPr>
              <a:lnSpc>
                <a:spcPts val="1169"/>
              </a:lnSpc>
            </a:pPr>
            <a:r>
              <a:rPr lang="en-US" sz="877" dirty="0">
                <a:solidFill>
                  <a:srgbClr val="374151"/>
                </a:solidFill>
                <a:latin typeface="ui-sans-serif" pitchFamily="34" charset="0"/>
                <a:ea typeface="ui-sans-serif" pitchFamily="34" charset="-122"/>
                <a:cs typeface="ui-sans-serif" pitchFamily="34" charset="-120"/>
              </a:rPr>
              <a:t>Application started</a:t>
            </a:r>
            <a:endParaRPr lang="en-US" sz="877" dirty="0"/>
          </a:p>
        </p:txBody>
      </p:sp>
      <p:sp>
        <p:nvSpPr>
          <p:cNvPr id="44" name="Text 18"/>
          <p:cNvSpPr/>
          <p:nvPr/>
        </p:nvSpPr>
        <p:spPr>
          <a:xfrm>
            <a:off x="6385103" y="4162723"/>
            <a:ext cx="409104" cy="148491"/>
          </a:xfrm>
          <a:prstGeom prst="rect">
            <a:avLst/>
          </a:prstGeom>
          <a:noFill/>
          <a:ln/>
        </p:spPr>
        <p:txBody>
          <a:bodyPr vert="horz" wrap="square" lIns="0" tIns="0" rIns="0" bIns="0" rtlCol="0" anchor="t"/>
          <a:lstStyle/>
          <a:p>
            <a:pPr>
              <a:lnSpc>
                <a:spcPts val="1169"/>
              </a:lnSpc>
            </a:pPr>
            <a:r>
              <a:rPr lang="en-US" sz="877" dirty="0">
                <a:solidFill>
                  <a:srgbClr val="374151"/>
                </a:solidFill>
                <a:latin typeface="ui-sans-serif" pitchFamily="34" charset="0"/>
                <a:ea typeface="ui-sans-serif" pitchFamily="34" charset="-122"/>
                <a:cs typeface="ui-sans-serif" pitchFamily="34" charset="-120"/>
              </a:rPr>
              <a:t>WARN</a:t>
            </a:r>
            <a:endParaRPr lang="en-US" sz="877" dirty="0"/>
          </a:p>
        </p:txBody>
      </p:sp>
      <p:sp>
        <p:nvSpPr>
          <p:cNvPr id="45" name="Text 19"/>
          <p:cNvSpPr/>
          <p:nvPr/>
        </p:nvSpPr>
        <p:spPr>
          <a:xfrm>
            <a:off x="7447161" y="4162723"/>
            <a:ext cx="1353818" cy="148491"/>
          </a:xfrm>
          <a:prstGeom prst="rect">
            <a:avLst/>
          </a:prstGeom>
          <a:noFill/>
          <a:ln/>
        </p:spPr>
        <p:txBody>
          <a:bodyPr vert="horz" wrap="square" lIns="0" tIns="0" rIns="0" bIns="0" rtlCol="0" anchor="t"/>
          <a:lstStyle/>
          <a:p>
            <a:pPr>
              <a:lnSpc>
                <a:spcPts val="1169"/>
              </a:lnSpc>
            </a:pPr>
            <a:r>
              <a:rPr lang="en-US" sz="877" dirty="0">
                <a:solidFill>
                  <a:srgbClr val="374151"/>
                </a:solidFill>
                <a:latin typeface="ui-sans-serif" pitchFamily="34" charset="0"/>
                <a:ea typeface="ui-sans-serif" pitchFamily="34" charset="-122"/>
                <a:cs typeface="ui-sans-serif" pitchFamily="34" charset="-120"/>
              </a:rPr>
              <a:t>High memory usage</a:t>
            </a:r>
            <a:endParaRPr lang="en-US" sz="877" dirty="0"/>
          </a:p>
        </p:txBody>
      </p:sp>
      <p:sp>
        <p:nvSpPr>
          <p:cNvPr id="46" name="Text 20"/>
          <p:cNvSpPr/>
          <p:nvPr/>
        </p:nvSpPr>
        <p:spPr>
          <a:xfrm>
            <a:off x="8798078" y="3828619"/>
            <a:ext cx="1180502" cy="148491"/>
          </a:xfrm>
          <a:prstGeom prst="rect">
            <a:avLst/>
          </a:prstGeom>
          <a:noFill/>
          <a:ln/>
        </p:spPr>
        <p:txBody>
          <a:bodyPr vert="horz" wrap="square" lIns="0" tIns="0" rIns="0" bIns="0" rtlCol="0" anchor="t"/>
          <a:lstStyle/>
          <a:p>
            <a:pPr>
              <a:lnSpc>
                <a:spcPts val="1169"/>
              </a:lnSpc>
            </a:pPr>
            <a:r>
              <a:rPr lang="en-US" sz="877" dirty="0">
                <a:solidFill>
                  <a:srgbClr val="6B7280"/>
                </a:solidFill>
                <a:latin typeface="ui-sans-serif" pitchFamily="34" charset="0"/>
                <a:ea typeface="ui-sans-serif" pitchFamily="34" charset="-122"/>
                <a:cs typeface="ui-sans-serif" pitchFamily="34" charset="-120"/>
              </a:rPr>
              <a:t>Alarm Status</a:t>
            </a:r>
            <a:endParaRPr lang="en-US" sz="877" dirty="0"/>
          </a:p>
        </p:txBody>
      </p:sp>
      <p:sp>
        <p:nvSpPr>
          <p:cNvPr id="47" name="Text 21"/>
          <p:cNvSpPr/>
          <p:nvPr/>
        </p:nvSpPr>
        <p:spPr>
          <a:xfrm>
            <a:off x="9209473" y="4236968"/>
            <a:ext cx="192980" cy="148491"/>
          </a:xfrm>
          <a:prstGeom prst="rect">
            <a:avLst/>
          </a:prstGeom>
          <a:noFill/>
          <a:ln/>
        </p:spPr>
        <p:txBody>
          <a:bodyPr vert="horz" wrap="square" lIns="0" tIns="0" rIns="0" bIns="0" rtlCol="0" anchor="t"/>
          <a:lstStyle/>
          <a:p>
            <a:pPr>
              <a:lnSpc>
                <a:spcPts val="1169"/>
              </a:lnSpc>
            </a:pPr>
            <a:r>
              <a:rPr lang="en-US" sz="877" dirty="0">
                <a:solidFill>
                  <a:srgbClr val="374151"/>
                </a:solidFill>
                <a:latin typeface="ui-sans-serif" pitchFamily="34" charset="0"/>
                <a:ea typeface="ui-sans-serif" pitchFamily="34" charset="-122"/>
                <a:cs typeface="ui-sans-serif" pitchFamily="34" charset="-120"/>
              </a:rPr>
              <a:t>OK</a:t>
            </a:r>
            <a:endParaRPr lang="en-US" sz="877" dirty="0"/>
          </a:p>
        </p:txBody>
      </p:sp>
      <p:sp>
        <p:nvSpPr>
          <p:cNvPr id="48" name="Text 22"/>
          <p:cNvSpPr/>
          <p:nvPr/>
        </p:nvSpPr>
        <p:spPr>
          <a:xfrm>
            <a:off x="10004566" y="3828618"/>
            <a:ext cx="983751" cy="296982"/>
          </a:xfrm>
          <a:prstGeom prst="rect">
            <a:avLst/>
          </a:prstGeom>
          <a:noFill/>
          <a:ln/>
        </p:spPr>
        <p:txBody>
          <a:bodyPr vert="horz" wrap="square" lIns="0" tIns="0" rIns="0" bIns="0" rtlCol="0" anchor="t"/>
          <a:lstStyle/>
          <a:p>
            <a:pPr>
              <a:lnSpc>
                <a:spcPts val="1169"/>
              </a:lnSpc>
            </a:pPr>
            <a:r>
              <a:rPr lang="en-US" sz="877" dirty="0">
                <a:solidFill>
                  <a:srgbClr val="6B7280"/>
                </a:solidFill>
                <a:latin typeface="ui-sans-serif" pitchFamily="34" charset="0"/>
                <a:ea typeface="ui-sans-serif" pitchFamily="34" charset="-122"/>
                <a:cs typeface="ui-sans-serif" pitchFamily="34" charset="-120"/>
              </a:rPr>
              <a:t>Resource Distribution</a:t>
            </a:r>
            <a:endParaRPr lang="en-US" sz="877" dirty="0"/>
          </a:p>
        </p:txBody>
      </p:sp>
      <p:sp>
        <p:nvSpPr>
          <p:cNvPr id="49" name="Text 23"/>
          <p:cNvSpPr/>
          <p:nvPr/>
        </p:nvSpPr>
        <p:spPr>
          <a:xfrm>
            <a:off x="5746593" y="5053668"/>
            <a:ext cx="5880235" cy="185613"/>
          </a:xfrm>
          <a:prstGeom prst="rect">
            <a:avLst/>
          </a:prstGeom>
          <a:noFill/>
          <a:ln/>
        </p:spPr>
        <p:txBody>
          <a:bodyPr vert="horz" wrap="square" lIns="0" tIns="0" rIns="0" bIns="0" rtlCol="0" anchor="t"/>
          <a:lstStyle/>
          <a:p>
            <a:pPr algn="ctr">
              <a:lnSpc>
                <a:spcPts val="1461"/>
              </a:lnSpc>
            </a:pPr>
            <a:r>
              <a:rPr lang="en-US" sz="1023" dirty="0">
                <a:solidFill>
                  <a:srgbClr val="6B7280"/>
                </a:solidFill>
                <a:latin typeface="ui-sans-serif" pitchFamily="34" charset="0"/>
                <a:ea typeface="ui-sans-serif" pitchFamily="34" charset="-122"/>
                <a:cs typeface="ui-sans-serif" pitchFamily="34" charset="-120"/>
              </a:rPr>
              <a:t> Dashboards update in real-time as data becomes available</a:t>
            </a:r>
            <a:endParaRPr lang="en-US" sz="1023"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79227"/>
            <a:ext cx="11879263" cy="6682085"/>
          </a:xfrm>
          <a:prstGeom prst="rect">
            <a:avLst/>
          </a:prstGeom>
        </p:spPr>
      </p:pic>
      <p:pic>
        <p:nvPicPr>
          <p:cNvPr id="3" name="Image 1" descr="preencoded.png"/>
          <p:cNvPicPr>
            <a:picLocks noChangeAspect="1"/>
          </p:cNvPicPr>
          <p:nvPr/>
        </p:nvPicPr>
        <p:blipFill>
          <a:blip r:embed="rId4"/>
          <a:stretch>
            <a:fillRect/>
          </a:stretch>
        </p:blipFill>
        <p:spPr>
          <a:xfrm>
            <a:off x="9095060" y="79226"/>
            <a:ext cx="2784202" cy="2784202"/>
          </a:xfrm>
          <a:prstGeom prst="rect">
            <a:avLst/>
          </a:prstGeom>
        </p:spPr>
      </p:pic>
      <p:pic>
        <p:nvPicPr>
          <p:cNvPr id="4" name="Image 2" descr="preencoded.png"/>
          <p:cNvPicPr>
            <a:picLocks noChangeAspect="1"/>
          </p:cNvPicPr>
          <p:nvPr/>
        </p:nvPicPr>
        <p:blipFill>
          <a:blip r:embed="rId5"/>
          <a:stretch>
            <a:fillRect/>
          </a:stretch>
        </p:blipFill>
        <p:spPr>
          <a:xfrm>
            <a:off x="0" y="4905177"/>
            <a:ext cx="1856135" cy="2784202"/>
          </a:xfrm>
          <a:prstGeom prst="rect">
            <a:avLst/>
          </a:prstGeom>
        </p:spPr>
      </p:pic>
      <p:pic>
        <p:nvPicPr>
          <p:cNvPr id="5" name="Image 3" descr="preencoded.png"/>
          <p:cNvPicPr>
            <a:picLocks noChangeAspect="1"/>
          </p:cNvPicPr>
          <p:nvPr/>
        </p:nvPicPr>
        <p:blipFill>
          <a:blip r:embed="rId6"/>
          <a:stretch>
            <a:fillRect/>
          </a:stretch>
        </p:blipFill>
        <p:spPr>
          <a:xfrm>
            <a:off x="742454" y="1007294"/>
            <a:ext cx="890945" cy="37123"/>
          </a:xfrm>
          <a:prstGeom prst="rect">
            <a:avLst/>
          </a:prstGeom>
        </p:spPr>
      </p:pic>
      <p:pic>
        <p:nvPicPr>
          <p:cNvPr id="6" name="Image 4" descr="preencoded.png"/>
          <p:cNvPicPr>
            <a:picLocks noChangeAspect="1"/>
          </p:cNvPicPr>
          <p:nvPr/>
        </p:nvPicPr>
        <p:blipFill>
          <a:blip r:embed="rId7"/>
          <a:stretch>
            <a:fillRect/>
          </a:stretch>
        </p:blipFill>
        <p:spPr>
          <a:xfrm>
            <a:off x="742454" y="1267153"/>
            <a:ext cx="5085809" cy="1484908"/>
          </a:xfrm>
          <a:prstGeom prst="rect">
            <a:avLst/>
          </a:prstGeom>
        </p:spPr>
      </p:pic>
      <p:pic>
        <p:nvPicPr>
          <p:cNvPr id="7" name="Image 5" descr="preencoded.png"/>
          <p:cNvPicPr>
            <a:picLocks noChangeAspect="1"/>
          </p:cNvPicPr>
          <p:nvPr/>
        </p:nvPicPr>
        <p:blipFill>
          <a:blip r:embed="rId8"/>
          <a:stretch>
            <a:fillRect/>
          </a:stretch>
        </p:blipFill>
        <p:spPr>
          <a:xfrm>
            <a:off x="928067" y="1489889"/>
            <a:ext cx="167052" cy="185613"/>
          </a:xfrm>
          <a:prstGeom prst="rect">
            <a:avLst/>
          </a:prstGeom>
        </p:spPr>
      </p:pic>
      <p:pic>
        <p:nvPicPr>
          <p:cNvPr id="8" name="Image 6" descr="preencoded.png"/>
          <p:cNvPicPr>
            <a:picLocks noChangeAspect="1"/>
          </p:cNvPicPr>
          <p:nvPr/>
        </p:nvPicPr>
        <p:blipFill>
          <a:blip r:embed="rId9"/>
          <a:stretch>
            <a:fillRect/>
          </a:stretch>
        </p:blipFill>
        <p:spPr>
          <a:xfrm>
            <a:off x="928067" y="1861116"/>
            <a:ext cx="148491" cy="148491"/>
          </a:xfrm>
          <a:prstGeom prst="rect">
            <a:avLst/>
          </a:prstGeom>
        </p:spPr>
      </p:pic>
      <p:pic>
        <p:nvPicPr>
          <p:cNvPr id="9" name="Image 7" descr="preencoded.png"/>
          <p:cNvPicPr>
            <a:picLocks noChangeAspect="1"/>
          </p:cNvPicPr>
          <p:nvPr/>
        </p:nvPicPr>
        <p:blipFill>
          <a:blip r:embed="rId10"/>
          <a:stretch>
            <a:fillRect/>
          </a:stretch>
        </p:blipFill>
        <p:spPr>
          <a:xfrm>
            <a:off x="928067" y="2158097"/>
            <a:ext cx="148491" cy="148491"/>
          </a:xfrm>
          <a:prstGeom prst="rect">
            <a:avLst/>
          </a:prstGeom>
        </p:spPr>
      </p:pic>
      <p:pic>
        <p:nvPicPr>
          <p:cNvPr id="10" name="Image 8" descr="preencoded.png"/>
          <p:cNvPicPr>
            <a:picLocks noChangeAspect="1"/>
          </p:cNvPicPr>
          <p:nvPr/>
        </p:nvPicPr>
        <p:blipFill>
          <a:blip r:embed="rId11"/>
          <a:stretch>
            <a:fillRect/>
          </a:stretch>
        </p:blipFill>
        <p:spPr>
          <a:xfrm>
            <a:off x="742454" y="2974797"/>
            <a:ext cx="5085809" cy="1670521"/>
          </a:xfrm>
          <a:prstGeom prst="rect">
            <a:avLst/>
          </a:prstGeom>
        </p:spPr>
      </p:pic>
      <p:pic>
        <p:nvPicPr>
          <p:cNvPr id="11" name="Image 9" descr="preencoded.png"/>
          <p:cNvPicPr>
            <a:picLocks noChangeAspect="1"/>
          </p:cNvPicPr>
          <p:nvPr/>
        </p:nvPicPr>
        <p:blipFill>
          <a:blip r:embed="rId12"/>
          <a:stretch>
            <a:fillRect/>
          </a:stretch>
        </p:blipFill>
        <p:spPr>
          <a:xfrm>
            <a:off x="928068" y="3197533"/>
            <a:ext cx="213455" cy="185613"/>
          </a:xfrm>
          <a:prstGeom prst="rect">
            <a:avLst/>
          </a:prstGeom>
        </p:spPr>
      </p:pic>
      <p:pic>
        <p:nvPicPr>
          <p:cNvPr id="12" name="Image 10" descr="preencoded.png"/>
          <p:cNvPicPr>
            <a:picLocks noChangeAspect="1"/>
          </p:cNvPicPr>
          <p:nvPr/>
        </p:nvPicPr>
        <p:blipFill>
          <a:blip r:embed="rId13"/>
          <a:stretch>
            <a:fillRect/>
          </a:stretch>
        </p:blipFill>
        <p:spPr>
          <a:xfrm>
            <a:off x="928067" y="3531637"/>
            <a:ext cx="1522031" cy="928067"/>
          </a:xfrm>
          <a:prstGeom prst="rect">
            <a:avLst/>
          </a:prstGeom>
        </p:spPr>
      </p:pic>
      <p:pic>
        <p:nvPicPr>
          <p:cNvPr id="13" name="Image 11" descr="preencoded.png"/>
          <p:cNvPicPr>
            <a:picLocks noChangeAspect="1"/>
          </p:cNvPicPr>
          <p:nvPr/>
        </p:nvPicPr>
        <p:blipFill>
          <a:blip r:embed="rId14"/>
          <a:stretch>
            <a:fillRect/>
          </a:stretch>
        </p:blipFill>
        <p:spPr>
          <a:xfrm>
            <a:off x="1596276" y="3643005"/>
            <a:ext cx="185613" cy="259859"/>
          </a:xfrm>
          <a:prstGeom prst="rect">
            <a:avLst/>
          </a:prstGeom>
        </p:spPr>
      </p:pic>
      <p:pic>
        <p:nvPicPr>
          <p:cNvPr id="14" name="Image 12" descr="preencoded.png"/>
          <p:cNvPicPr>
            <a:picLocks noChangeAspect="1"/>
          </p:cNvPicPr>
          <p:nvPr/>
        </p:nvPicPr>
        <p:blipFill>
          <a:blip r:embed="rId15"/>
          <a:stretch>
            <a:fillRect/>
          </a:stretch>
        </p:blipFill>
        <p:spPr>
          <a:xfrm>
            <a:off x="2524343" y="3531637"/>
            <a:ext cx="1522031" cy="928067"/>
          </a:xfrm>
          <a:prstGeom prst="rect">
            <a:avLst/>
          </a:prstGeom>
        </p:spPr>
      </p:pic>
      <p:pic>
        <p:nvPicPr>
          <p:cNvPr id="15" name="Image 13" descr="preencoded.png"/>
          <p:cNvPicPr>
            <a:picLocks noChangeAspect="1"/>
          </p:cNvPicPr>
          <p:nvPr/>
        </p:nvPicPr>
        <p:blipFill>
          <a:blip r:embed="rId16"/>
          <a:stretch>
            <a:fillRect/>
          </a:stretch>
        </p:blipFill>
        <p:spPr>
          <a:xfrm>
            <a:off x="3192552" y="3643005"/>
            <a:ext cx="185613" cy="259859"/>
          </a:xfrm>
          <a:prstGeom prst="rect">
            <a:avLst/>
          </a:prstGeom>
        </p:spPr>
      </p:pic>
      <p:pic>
        <p:nvPicPr>
          <p:cNvPr id="16" name="Image 14" descr="preencoded.png"/>
          <p:cNvPicPr>
            <a:picLocks noChangeAspect="1"/>
          </p:cNvPicPr>
          <p:nvPr/>
        </p:nvPicPr>
        <p:blipFill>
          <a:blip r:embed="rId17"/>
          <a:stretch>
            <a:fillRect/>
          </a:stretch>
        </p:blipFill>
        <p:spPr>
          <a:xfrm>
            <a:off x="4120619" y="3531637"/>
            <a:ext cx="1522031" cy="928067"/>
          </a:xfrm>
          <a:prstGeom prst="rect">
            <a:avLst/>
          </a:prstGeom>
        </p:spPr>
      </p:pic>
      <p:pic>
        <p:nvPicPr>
          <p:cNvPr id="17" name="Image 15" descr="preencoded.png"/>
          <p:cNvPicPr>
            <a:picLocks noChangeAspect="1"/>
          </p:cNvPicPr>
          <p:nvPr/>
        </p:nvPicPr>
        <p:blipFill>
          <a:blip r:embed="rId18"/>
          <a:stretch>
            <a:fillRect/>
          </a:stretch>
        </p:blipFill>
        <p:spPr>
          <a:xfrm>
            <a:off x="4788828" y="3643005"/>
            <a:ext cx="185613" cy="259859"/>
          </a:xfrm>
          <a:prstGeom prst="rect">
            <a:avLst/>
          </a:prstGeom>
        </p:spPr>
      </p:pic>
      <p:pic>
        <p:nvPicPr>
          <p:cNvPr id="18" name="Image 16" descr="preencoded.png"/>
          <p:cNvPicPr>
            <a:picLocks noChangeAspect="1"/>
          </p:cNvPicPr>
          <p:nvPr/>
        </p:nvPicPr>
        <p:blipFill>
          <a:blip r:embed="rId19"/>
          <a:stretch>
            <a:fillRect/>
          </a:stretch>
        </p:blipFill>
        <p:spPr>
          <a:xfrm>
            <a:off x="6050999" y="1267153"/>
            <a:ext cx="5085809" cy="1559153"/>
          </a:xfrm>
          <a:prstGeom prst="rect">
            <a:avLst/>
          </a:prstGeom>
        </p:spPr>
      </p:pic>
      <p:pic>
        <p:nvPicPr>
          <p:cNvPr id="19" name="Image 17" descr="preencoded.png"/>
          <p:cNvPicPr>
            <a:picLocks noChangeAspect="1"/>
          </p:cNvPicPr>
          <p:nvPr/>
        </p:nvPicPr>
        <p:blipFill>
          <a:blip r:embed="rId20"/>
          <a:stretch>
            <a:fillRect/>
          </a:stretch>
        </p:blipFill>
        <p:spPr>
          <a:xfrm>
            <a:off x="6236613" y="1489889"/>
            <a:ext cx="232017" cy="185613"/>
          </a:xfrm>
          <a:prstGeom prst="rect">
            <a:avLst/>
          </a:prstGeom>
        </p:spPr>
      </p:pic>
      <p:pic>
        <p:nvPicPr>
          <p:cNvPr id="20" name="Image 18" descr="preencoded.png"/>
          <p:cNvPicPr>
            <a:picLocks noChangeAspect="1"/>
          </p:cNvPicPr>
          <p:nvPr/>
        </p:nvPicPr>
        <p:blipFill>
          <a:blip r:embed="rId21"/>
          <a:stretch>
            <a:fillRect/>
          </a:stretch>
        </p:blipFill>
        <p:spPr>
          <a:xfrm>
            <a:off x="6236612" y="1861116"/>
            <a:ext cx="148491" cy="148491"/>
          </a:xfrm>
          <a:prstGeom prst="rect">
            <a:avLst/>
          </a:prstGeom>
        </p:spPr>
      </p:pic>
      <p:pic>
        <p:nvPicPr>
          <p:cNvPr id="21" name="Image 19" descr="preencoded.png"/>
          <p:cNvPicPr>
            <a:picLocks noChangeAspect="1"/>
          </p:cNvPicPr>
          <p:nvPr/>
        </p:nvPicPr>
        <p:blipFill>
          <a:blip r:embed="rId22"/>
          <a:stretch>
            <a:fillRect/>
          </a:stretch>
        </p:blipFill>
        <p:spPr>
          <a:xfrm>
            <a:off x="6236612" y="2158097"/>
            <a:ext cx="148491" cy="148491"/>
          </a:xfrm>
          <a:prstGeom prst="rect">
            <a:avLst/>
          </a:prstGeom>
        </p:spPr>
      </p:pic>
      <p:pic>
        <p:nvPicPr>
          <p:cNvPr id="22" name="Image 20" descr="preencoded.png"/>
          <p:cNvPicPr>
            <a:picLocks noChangeAspect="1"/>
          </p:cNvPicPr>
          <p:nvPr/>
        </p:nvPicPr>
        <p:blipFill>
          <a:blip r:embed="rId23"/>
          <a:stretch>
            <a:fillRect/>
          </a:stretch>
        </p:blipFill>
        <p:spPr>
          <a:xfrm>
            <a:off x="6236612" y="2455079"/>
            <a:ext cx="148491" cy="148491"/>
          </a:xfrm>
          <a:prstGeom prst="rect">
            <a:avLst/>
          </a:prstGeom>
        </p:spPr>
      </p:pic>
      <p:pic>
        <p:nvPicPr>
          <p:cNvPr id="23" name="Image 21" descr="preencoded.png"/>
          <p:cNvPicPr>
            <a:picLocks noChangeAspect="1"/>
          </p:cNvPicPr>
          <p:nvPr/>
        </p:nvPicPr>
        <p:blipFill>
          <a:blip r:embed="rId24"/>
          <a:stretch>
            <a:fillRect/>
          </a:stretch>
        </p:blipFill>
        <p:spPr>
          <a:xfrm>
            <a:off x="6050999" y="3049042"/>
            <a:ext cx="5085809" cy="1744767"/>
          </a:xfrm>
          <a:prstGeom prst="rect">
            <a:avLst/>
          </a:prstGeom>
        </p:spPr>
      </p:pic>
      <p:pic>
        <p:nvPicPr>
          <p:cNvPr id="24" name="Image 22" descr="preencoded.png"/>
          <p:cNvPicPr>
            <a:picLocks noChangeAspect="1"/>
          </p:cNvPicPr>
          <p:nvPr/>
        </p:nvPicPr>
        <p:blipFill>
          <a:blip r:embed="rId25"/>
          <a:stretch>
            <a:fillRect/>
          </a:stretch>
        </p:blipFill>
        <p:spPr>
          <a:xfrm>
            <a:off x="6236613" y="3271778"/>
            <a:ext cx="185613" cy="185613"/>
          </a:xfrm>
          <a:prstGeom prst="rect">
            <a:avLst/>
          </a:prstGeom>
        </p:spPr>
      </p:pic>
      <p:pic>
        <p:nvPicPr>
          <p:cNvPr id="25" name="Image 23" descr="preencoded.png"/>
          <p:cNvPicPr>
            <a:picLocks noChangeAspect="1"/>
          </p:cNvPicPr>
          <p:nvPr/>
        </p:nvPicPr>
        <p:blipFill>
          <a:blip r:embed="rId26"/>
          <a:stretch>
            <a:fillRect/>
          </a:stretch>
        </p:blipFill>
        <p:spPr>
          <a:xfrm>
            <a:off x="6236612" y="3643005"/>
            <a:ext cx="148491" cy="148491"/>
          </a:xfrm>
          <a:prstGeom prst="rect">
            <a:avLst/>
          </a:prstGeom>
        </p:spPr>
      </p:pic>
      <p:pic>
        <p:nvPicPr>
          <p:cNvPr id="26" name="Image 24" descr="preencoded.png"/>
          <p:cNvPicPr>
            <a:picLocks noChangeAspect="1"/>
          </p:cNvPicPr>
          <p:nvPr/>
        </p:nvPicPr>
        <p:blipFill>
          <a:blip r:embed="rId27"/>
          <a:stretch>
            <a:fillRect/>
          </a:stretch>
        </p:blipFill>
        <p:spPr>
          <a:xfrm>
            <a:off x="8649588" y="3643005"/>
            <a:ext cx="185613" cy="148491"/>
          </a:xfrm>
          <a:prstGeom prst="rect">
            <a:avLst/>
          </a:prstGeom>
        </p:spPr>
      </p:pic>
      <p:pic>
        <p:nvPicPr>
          <p:cNvPr id="27" name="Image 25" descr="preencoded.png"/>
          <p:cNvPicPr>
            <a:picLocks noChangeAspect="1"/>
          </p:cNvPicPr>
          <p:nvPr/>
        </p:nvPicPr>
        <p:blipFill>
          <a:blip r:embed="rId28"/>
          <a:stretch>
            <a:fillRect/>
          </a:stretch>
        </p:blipFill>
        <p:spPr>
          <a:xfrm>
            <a:off x="6236612" y="4199845"/>
            <a:ext cx="148491" cy="148491"/>
          </a:xfrm>
          <a:prstGeom prst="rect">
            <a:avLst/>
          </a:prstGeom>
        </p:spPr>
      </p:pic>
      <p:pic>
        <p:nvPicPr>
          <p:cNvPr id="28" name="Image 26" descr="preencoded.png"/>
          <p:cNvPicPr>
            <a:picLocks noChangeAspect="1"/>
          </p:cNvPicPr>
          <p:nvPr/>
        </p:nvPicPr>
        <p:blipFill>
          <a:blip r:embed="rId29"/>
          <a:stretch>
            <a:fillRect/>
          </a:stretch>
        </p:blipFill>
        <p:spPr>
          <a:xfrm>
            <a:off x="8649588" y="4199845"/>
            <a:ext cx="129929" cy="148491"/>
          </a:xfrm>
          <a:prstGeom prst="rect">
            <a:avLst/>
          </a:prstGeom>
        </p:spPr>
      </p:pic>
      <p:sp>
        <p:nvSpPr>
          <p:cNvPr id="30" name="Text 0"/>
          <p:cNvSpPr/>
          <p:nvPr/>
        </p:nvSpPr>
        <p:spPr>
          <a:xfrm>
            <a:off x="742454" y="524699"/>
            <a:ext cx="10394355" cy="371227"/>
          </a:xfrm>
          <a:prstGeom prst="rect">
            <a:avLst/>
          </a:prstGeom>
          <a:noFill/>
          <a:ln/>
        </p:spPr>
        <p:txBody>
          <a:bodyPr vert="horz" wrap="square" lIns="0" tIns="0" rIns="0" bIns="0" rtlCol="0" anchor="t"/>
          <a:lstStyle/>
          <a:p>
            <a:pPr>
              <a:lnSpc>
                <a:spcPts val="2923"/>
              </a:lnSpc>
            </a:pPr>
            <a:r>
              <a:rPr lang="en-US" sz="2631" b="1" dirty="0">
                <a:solidFill>
                  <a:srgbClr val="1F2937"/>
                </a:solidFill>
                <a:latin typeface="ui-sans-serif" pitchFamily="34" charset="0"/>
                <a:ea typeface="ui-sans-serif" pitchFamily="34" charset="-122"/>
                <a:cs typeface="ui-sans-serif" pitchFamily="34" charset="-120"/>
              </a:rPr>
              <a:t>CloudWatch </a:t>
            </a:r>
            <a:r>
              <a:rPr lang="en-US" sz="2631" b="1" dirty="0">
                <a:solidFill>
                  <a:srgbClr val="EF4444"/>
                </a:solidFill>
                <a:latin typeface="ui-sans-serif" pitchFamily="34" charset="0"/>
                <a:ea typeface="ui-sans-serif" pitchFamily="34" charset="-122"/>
                <a:cs typeface="ui-sans-serif" pitchFamily="34" charset="-120"/>
              </a:rPr>
              <a:t>Alarms</a:t>
            </a:r>
            <a:endParaRPr lang="en-US" sz="2631" dirty="0"/>
          </a:p>
        </p:txBody>
      </p:sp>
      <p:sp>
        <p:nvSpPr>
          <p:cNvPr id="31" name="Text 1"/>
          <p:cNvSpPr/>
          <p:nvPr/>
        </p:nvSpPr>
        <p:spPr>
          <a:xfrm>
            <a:off x="1206488" y="1452766"/>
            <a:ext cx="4714582" cy="259859"/>
          </a:xfrm>
          <a:prstGeom prst="rect">
            <a:avLst/>
          </a:prstGeom>
          <a:noFill/>
          <a:ln/>
        </p:spPr>
        <p:txBody>
          <a:bodyPr vert="horz" wrap="square" lIns="0" tIns="0" rIns="0" bIns="0" rtlCol="0" anchor="t"/>
          <a:lstStyle/>
          <a:p>
            <a:pPr>
              <a:lnSpc>
                <a:spcPts val="2046"/>
              </a:lnSpc>
            </a:pPr>
            <a:r>
              <a:rPr lang="en-US" sz="1461" b="1" dirty="0">
                <a:solidFill>
                  <a:srgbClr val="000000"/>
                </a:solidFill>
                <a:latin typeface="ui-sans-serif" pitchFamily="34" charset="0"/>
                <a:ea typeface="ui-sans-serif" pitchFamily="34" charset="-122"/>
                <a:cs typeface="ui-sans-serif" pitchFamily="34" charset="-120"/>
              </a:rPr>
              <a:t>Types of Alarms</a:t>
            </a:r>
            <a:endParaRPr lang="en-US" sz="1461" dirty="0"/>
          </a:p>
        </p:txBody>
      </p:sp>
      <p:sp>
        <p:nvSpPr>
          <p:cNvPr id="32" name="Text 2"/>
          <p:cNvSpPr/>
          <p:nvPr/>
        </p:nvSpPr>
        <p:spPr>
          <a:xfrm>
            <a:off x="1150804" y="1823993"/>
            <a:ext cx="5181226"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Metric Alarms: Monitor a single metric or math expression</a:t>
            </a:r>
            <a:endParaRPr lang="en-US" sz="1169" dirty="0"/>
          </a:p>
        </p:txBody>
      </p:sp>
      <p:sp>
        <p:nvSpPr>
          <p:cNvPr id="33" name="Text 3"/>
          <p:cNvSpPr/>
          <p:nvPr/>
        </p:nvSpPr>
        <p:spPr>
          <a:xfrm>
            <a:off x="1150803" y="2120975"/>
            <a:ext cx="4491846" cy="445472"/>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Composite Alarms: Evaluate multiple alarms to reduce noise</a:t>
            </a:r>
            <a:endParaRPr lang="en-US" sz="1169" dirty="0"/>
          </a:p>
        </p:txBody>
      </p:sp>
      <p:sp>
        <p:nvSpPr>
          <p:cNvPr id="34" name="Text 4"/>
          <p:cNvSpPr/>
          <p:nvPr/>
        </p:nvSpPr>
        <p:spPr>
          <a:xfrm>
            <a:off x="1252891" y="3160410"/>
            <a:ext cx="4714582" cy="259859"/>
          </a:xfrm>
          <a:prstGeom prst="rect">
            <a:avLst/>
          </a:prstGeom>
          <a:noFill/>
          <a:ln/>
        </p:spPr>
        <p:txBody>
          <a:bodyPr vert="horz" wrap="square" lIns="0" tIns="0" rIns="0" bIns="0" rtlCol="0" anchor="t"/>
          <a:lstStyle/>
          <a:p>
            <a:pPr>
              <a:lnSpc>
                <a:spcPts val="2046"/>
              </a:lnSpc>
            </a:pPr>
            <a:r>
              <a:rPr lang="en-US" sz="1461" b="1" dirty="0">
                <a:solidFill>
                  <a:srgbClr val="000000"/>
                </a:solidFill>
                <a:latin typeface="ui-sans-serif" pitchFamily="34" charset="0"/>
                <a:ea typeface="ui-sans-serif" pitchFamily="34" charset="-122"/>
                <a:cs typeface="ui-sans-serif" pitchFamily="34" charset="-120"/>
              </a:rPr>
              <a:t>Alarm States</a:t>
            </a:r>
            <a:endParaRPr lang="en-US" sz="1461" dirty="0"/>
          </a:p>
        </p:txBody>
      </p:sp>
      <p:sp>
        <p:nvSpPr>
          <p:cNvPr id="35" name="Text 5"/>
          <p:cNvSpPr/>
          <p:nvPr/>
        </p:nvSpPr>
        <p:spPr>
          <a:xfrm>
            <a:off x="1039435" y="3939987"/>
            <a:ext cx="1299294" cy="222736"/>
          </a:xfrm>
          <a:prstGeom prst="rect">
            <a:avLst/>
          </a:prstGeom>
          <a:noFill/>
          <a:ln/>
        </p:spPr>
        <p:txBody>
          <a:bodyPr vert="horz" wrap="square" lIns="0" tIns="0" rIns="0" bIns="0" rtlCol="0" anchor="t"/>
          <a:lstStyle/>
          <a:p>
            <a:pPr algn="ctr">
              <a:lnSpc>
                <a:spcPts val="1754"/>
              </a:lnSpc>
            </a:pPr>
            <a:r>
              <a:rPr lang="en-US" sz="1169" dirty="0">
                <a:solidFill>
                  <a:srgbClr val="000000"/>
                </a:solidFill>
                <a:latin typeface="ui-sans-serif" pitchFamily="34" charset="0"/>
                <a:ea typeface="ui-sans-serif" pitchFamily="34" charset="-122"/>
                <a:cs typeface="ui-sans-serif" pitchFamily="34" charset="-120"/>
              </a:rPr>
              <a:t>OK</a:t>
            </a:r>
            <a:endParaRPr lang="en-US" sz="1169" dirty="0"/>
          </a:p>
        </p:txBody>
      </p:sp>
      <p:sp>
        <p:nvSpPr>
          <p:cNvPr id="36" name="Text 6"/>
          <p:cNvSpPr/>
          <p:nvPr/>
        </p:nvSpPr>
        <p:spPr>
          <a:xfrm>
            <a:off x="909506" y="4162723"/>
            <a:ext cx="1559153" cy="185613"/>
          </a:xfrm>
          <a:prstGeom prst="rect">
            <a:avLst/>
          </a:prstGeom>
          <a:noFill/>
          <a:ln/>
        </p:spPr>
        <p:txBody>
          <a:bodyPr vert="horz" wrap="square" lIns="0" tIns="0" rIns="0" bIns="0" rtlCol="0" anchor="t"/>
          <a:lstStyle/>
          <a:p>
            <a:pPr algn="ctr">
              <a:lnSpc>
                <a:spcPts val="1461"/>
              </a:lnSpc>
            </a:pPr>
            <a:r>
              <a:rPr lang="en-US" sz="1023" dirty="0">
                <a:solidFill>
                  <a:srgbClr val="4B5563"/>
                </a:solidFill>
                <a:latin typeface="ui-sans-serif" pitchFamily="34" charset="0"/>
                <a:ea typeface="ui-sans-serif" pitchFamily="34" charset="-122"/>
                <a:cs typeface="ui-sans-serif" pitchFamily="34" charset="-120"/>
              </a:rPr>
              <a:t>Within threshold</a:t>
            </a:r>
            <a:endParaRPr lang="en-US" sz="1023" dirty="0"/>
          </a:p>
        </p:txBody>
      </p:sp>
      <p:sp>
        <p:nvSpPr>
          <p:cNvPr id="37" name="Text 7"/>
          <p:cNvSpPr/>
          <p:nvPr/>
        </p:nvSpPr>
        <p:spPr>
          <a:xfrm>
            <a:off x="2635711" y="3939987"/>
            <a:ext cx="1299294" cy="222736"/>
          </a:xfrm>
          <a:prstGeom prst="rect">
            <a:avLst/>
          </a:prstGeom>
          <a:noFill/>
          <a:ln/>
        </p:spPr>
        <p:txBody>
          <a:bodyPr vert="horz" wrap="square" lIns="0" tIns="0" rIns="0" bIns="0" rtlCol="0" anchor="t"/>
          <a:lstStyle/>
          <a:p>
            <a:pPr algn="ctr">
              <a:lnSpc>
                <a:spcPts val="1754"/>
              </a:lnSpc>
            </a:pPr>
            <a:r>
              <a:rPr lang="en-US" sz="1169" dirty="0">
                <a:solidFill>
                  <a:srgbClr val="000000"/>
                </a:solidFill>
                <a:latin typeface="ui-sans-serif" pitchFamily="34" charset="0"/>
                <a:ea typeface="ui-sans-serif" pitchFamily="34" charset="-122"/>
                <a:cs typeface="ui-sans-serif" pitchFamily="34" charset="-120"/>
              </a:rPr>
              <a:t>ALARM</a:t>
            </a:r>
            <a:endParaRPr lang="en-US" sz="1169" dirty="0"/>
          </a:p>
        </p:txBody>
      </p:sp>
      <p:sp>
        <p:nvSpPr>
          <p:cNvPr id="38" name="Text 8"/>
          <p:cNvSpPr/>
          <p:nvPr/>
        </p:nvSpPr>
        <p:spPr>
          <a:xfrm>
            <a:off x="2505782" y="4162723"/>
            <a:ext cx="1559153" cy="185613"/>
          </a:xfrm>
          <a:prstGeom prst="rect">
            <a:avLst/>
          </a:prstGeom>
          <a:noFill/>
          <a:ln/>
        </p:spPr>
        <p:txBody>
          <a:bodyPr vert="horz" wrap="square" lIns="0" tIns="0" rIns="0" bIns="0" rtlCol="0" anchor="t"/>
          <a:lstStyle/>
          <a:p>
            <a:pPr algn="ctr">
              <a:lnSpc>
                <a:spcPts val="1461"/>
              </a:lnSpc>
            </a:pPr>
            <a:r>
              <a:rPr lang="en-US" sz="1023" dirty="0">
                <a:solidFill>
                  <a:srgbClr val="4B5563"/>
                </a:solidFill>
                <a:latin typeface="ui-sans-serif" pitchFamily="34" charset="0"/>
                <a:ea typeface="ui-sans-serif" pitchFamily="34" charset="-122"/>
                <a:cs typeface="ui-sans-serif" pitchFamily="34" charset="-120"/>
              </a:rPr>
              <a:t>Threshold breached</a:t>
            </a:r>
            <a:endParaRPr lang="en-US" sz="1023" dirty="0"/>
          </a:p>
        </p:txBody>
      </p:sp>
      <p:sp>
        <p:nvSpPr>
          <p:cNvPr id="39" name="Text 9"/>
          <p:cNvSpPr/>
          <p:nvPr/>
        </p:nvSpPr>
        <p:spPr>
          <a:xfrm>
            <a:off x="4102058" y="3939987"/>
            <a:ext cx="1559153" cy="222736"/>
          </a:xfrm>
          <a:prstGeom prst="rect">
            <a:avLst/>
          </a:prstGeom>
          <a:noFill/>
          <a:ln/>
        </p:spPr>
        <p:txBody>
          <a:bodyPr vert="horz" wrap="square" lIns="0" tIns="0" rIns="0" bIns="0" rtlCol="0" anchor="t"/>
          <a:lstStyle/>
          <a:p>
            <a:pPr algn="ctr">
              <a:lnSpc>
                <a:spcPts val="1754"/>
              </a:lnSpc>
            </a:pPr>
            <a:r>
              <a:rPr lang="en-US" sz="1169" dirty="0">
                <a:solidFill>
                  <a:srgbClr val="000000"/>
                </a:solidFill>
                <a:latin typeface="ui-sans-serif" pitchFamily="34" charset="0"/>
                <a:ea typeface="ui-sans-serif" pitchFamily="34" charset="-122"/>
                <a:cs typeface="ui-sans-serif" pitchFamily="34" charset="-120"/>
              </a:rPr>
              <a:t>INSUFFICIENT_DATA</a:t>
            </a:r>
            <a:endParaRPr lang="en-US" sz="1169" dirty="0"/>
          </a:p>
        </p:txBody>
      </p:sp>
      <p:sp>
        <p:nvSpPr>
          <p:cNvPr id="40" name="Text 10"/>
          <p:cNvSpPr/>
          <p:nvPr/>
        </p:nvSpPr>
        <p:spPr>
          <a:xfrm>
            <a:off x="4102058" y="4162723"/>
            <a:ext cx="1559153" cy="185613"/>
          </a:xfrm>
          <a:prstGeom prst="rect">
            <a:avLst/>
          </a:prstGeom>
          <a:noFill/>
          <a:ln/>
        </p:spPr>
        <p:txBody>
          <a:bodyPr vert="horz" wrap="square" lIns="0" tIns="0" rIns="0" bIns="0" rtlCol="0" anchor="t"/>
          <a:lstStyle/>
          <a:p>
            <a:pPr algn="ctr">
              <a:lnSpc>
                <a:spcPts val="1461"/>
              </a:lnSpc>
            </a:pPr>
            <a:r>
              <a:rPr lang="en-US" sz="1023" dirty="0">
                <a:solidFill>
                  <a:srgbClr val="4B5563"/>
                </a:solidFill>
                <a:latin typeface="ui-sans-serif" pitchFamily="34" charset="0"/>
                <a:ea typeface="ui-sans-serif" pitchFamily="34" charset="-122"/>
                <a:cs typeface="ui-sans-serif" pitchFamily="34" charset="-120"/>
              </a:rPr>
              <a:t>No data available</a:t>
            </a:r>
            <a:endParaRPr lang="en-US" sz="1023" dirty="0"/>
          </a:p>
        </p:txBody>
      </p:sp>
      <p:sp>
        <p:nvSpPr>
          <p:cNvPr id="41" name="Text 11"/>
          <p:cNvSpPr/>
          <p:nvPr/>
        </p:nvSpPr>
        <p:spPr>
          <a:xfrm>
            <a:off x="6579998" y="1452766"/>
            <a:ext cx="4714582" cy="259859"/>
          </a:xfrm>
          <a:prstGeom prst="rect">
            <a:avLst/>
          </a:prstGeom>
          <a:noFill/>
          <a:ln/>
        </p:spPr>
        <p:txBody>
          <a:bodyPr vert="horz" wrap="square" lIns="0" tIns="0" rIns="0" bIns="0" rtlCol="0" anchor="t"/>
          <a:lstStyle/>
          <a:p>
            <a:pPr>
              <a:lnSpc>
                <a:spcPts val="2046"/>
              </a:lnSpc>
            </a:pPr>
            <a:r>
              <a:rPr lang="en-US" sz="1461" b="1" dirty="0">
                <a:solidFill>
                  <a:srgbClr val="000000"/>
                </a:solidFill>
                <a:latin typeface="ui-sans-serif" pitchFamily="34" charset="0"/>
                <a:ea typeface="ui-sans-serif" pitchFamily="34" charset="-122"/>
                <a:cs typeface="ui-sans-serif" pitchFamily="34" charset="-120"/>
              </a:rPr>
              <a:t>Evaluation Methods</a:t>
            </a:r>
            <a:endParaRPr lang="en-US" sz="1461" dirty="0"/>
          </a:p>
        </p:txBody>
      </p:sp>
      <p:sp>
        <p:nvSpPr>
          <p:cNvPr id="42" name="Text 12"/>
          <p:cNvSpPr/>
          <p:nvPr/>
        </p:nvSpPr>
        <p:spPr>
          <a:xfrm>
            <a:off x="6459349" y="1823993"/>
            <a:ext cx="5077515"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Period: Length of time (1 min, 5 min) for each evaluation</a:t>
            </a:r>
            <a:endParaRPr lang="en-US" sz="1169" dirty="0"/>
          </a:p>
        </p:txBody>
      </p:sp>
      <p:sp>
        <p:nvSpPr>
          <p:cNvPr id="43" name="Text 13"/>
          <p:cNvSpPr/>
          <p:nvPr/>
        </p:nvSpPr>
        <p:spPr>
          <a:xfrm>
            <a:off x="6459349" y="2120975"/>
            <a:ext cx="4368414"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Evaluation Periods: Number of periods evaluated</a:t>
            </a:r>
            <a:endParaRPr lang="en-US" sz="1169" dirty="0"/>
          </a:p>
        </p:txBody>
      </p:sp>
      <p:sp>
        <p:nvSpPr>
          <p:cNvPr id="44" name="Text 14"/>
          <p:cNvSpPr/>
          <p:nvPr/>
        </p:nvSpPr>
        <p:spPr>
          <a:xfrm>
            <a:off x="6459349" y="2417956"/>
            <a:ext cx="4718179" cy="222736"/>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Datapoints to Alarm: M out of N periods must breach</a:t>
            </a:r>
            <a:endParaRPr lang="en-US" sz="1169" dirty="0"/>
          </a:p>
        </p:txBody>
      </p:sp>
      <p:sp>
        <p:nvSpPr>
          <p:cNvPr id="45" name="Text 15"/>
          <p:cNvSpPr/>
          <p:nvPr/>
        </p:nvSpPr>
        <p:spPr>
          <a:xfrm>
            <a:off x="6533594" y="3234655"/>
            <a:ext cx="4714582" cy="259859"/>
          </a:xfrm>
          <a:prstGeom prst="rect">
            <a:avLst/>
          </a:prstGeom>
          <a:noFill/>
          <a:ln/>
        </p:spPr>
        <p:txBody>
          <a:bodyPr vert="horz" wrap="square" lIns="0" tIns="0" rIns="0" bIns="0" rtlCol="0" anchor="t"/>
          <a:lstStyle/>
          <a:p>
            <a:pPr>
              <a:lnSpc>
                <a:spcPts val="2046"/>
              </a:lnSpc>
            </a:pPr>
            <a:r>
              <a:rPr lang="en-US" sz="1461" b="1" dirty="0">
                <a:solidFill>
                  <a:srgbClr val="000000"/>
                </a:solidFill>
                <a:latin typeface="ui-sans-serif" pitchFamily="34" charset="0"/>
                <a:ea typeface="ui-sans-serif" pitchFamily="34" charset="-122"/>
                <a:cs typeface="ui-sans-serif" pitchFamily="34" charset="-120"/>
              </a:rPr>
              <a:t>Automated Actions</a:t>
            </a:r>
            <a:endParaRPr lang="en-US" sz="1461" dirty="0"/>
          </a:p>
        </p:txBody>
      </p:sp>
      <p:sp>
        <p:nvSpPr>
          <p:cNvPr id="46" name="Text 16"/>
          <p:cNvSpPr/>
          <p:nvPr/>
        </p:nvSpPr>
        <p:spPr>
          <a:xfrm>
            <a:off x="6459349" y="3624444"/>
            <a:ext cx="1175281" cy="176333"/>
          </a:xfrm>
          <a:prstGeom prst="rect">
            <a:avLst/>
          </a:prstGeom>
          <a:noFill/>
          <a:ln/>
        </p:spPr>
        <p:txBody>
          <a:bodyPr vert="horz" wrap="square" lIns="0" tIns="0" rIns="0" bIns="0" rtlCol="0" anchor="t"/>
          <a:lstStyle/>
          <a:p>
            <a:pPr>
              <a:lnSpc>
                <a:spcPts val="1754"/>
              </a:lnSpc>
            </a:pPr>
            <a:r>
              <a:rPr lang="en-US" sz="1169" dirty="0">
                <a:solidFill>
                  <a:srgbClr val="000000"/>
                </a:solidFill>
                <a:latin typeface="ui-sans-serif" pitchFamily="34" charset="0"/>
                <a:ea typeface="ui-sans-serif" pitchFamily="34" charset="-122"/>
                <a:cs typeface="ui-sans-serif" pitchFamily="34" charset="-120"/>
              </a:rPr>
              <a:t>Notifications:</a:t>
            </a:r>
            <a:endParaRPr lang="en-US" sz="1169" dirty="0"/>
          </a:p>
        </p:txBody>
      </p:sp>
      <p:sp>
        <p:nvSpPr>
          <p:cNvPr id="47" name="Text 17"/>
          <p:cNvSpPr/>
          <p:nvPr/>
        </p:nvSpPr>
        <p:spPr>
          <a:xfrm>
            <a:off x="7438750" y="3624444"/>
            <a:ext cx="0" cy="176333"/>
          </a:xfrm>
          <a:prstGeom prst="rect">
            <a:avLst/>
          </a:prstGeom>
          <a:noFill/>
          <a:ln/>
        </p:spPr>
        <p:txBody>
          <a:bodyPr vert="horz" wrap="square" lIns="0" tIns="0" rIns="0" bIns="0" rtlCol="0" anchor="t"/>
          <a:lstStyle/>
          <a:p>
            <a:pPr>
              <a:lnSpc>
                <a:spcPts val="1754"/>
              </a:lnSpc>
            </a:pPr>
            <a:r>
              <a:rPr lang="en-US" sz="1169" dirty="0">
                <a:solidFill>
                  <a:srgbClr val="000000"/>
                </a:solidFill>
                <a:latin typeface="ui-sans-serif" pitchFamily="34" charset="0"/>
                <a:ea typeface="ui-sans-serif" pitchFamily="34" charset="-122"/>
                <a:cs typeface="ui-sans-serif" pitchFamily="34" charset="-120"/>
              </a:rPr>
              <a:t>
</a:t>
            </a:r>
            <a:endParaRPr lang="en-US" sz="1169" dirty="0"/>
          </a:p>
        </p:txBody>
      </p:sp>
      <p:sp>
        <p:nvSpPr>
          <p:cNvPr id="48" name="Text 18"/>
          <p:cNvSpPr/>
          <p:nvPr/>
        </p:nvSpPr>
        <p:spPr>
          <a:xfrm>
            <a:off x="6459349" y="3875022"/>
            <a:ext cx="1121685" cy="148491"/>
          </a:xfrm>
          <a:prstGeom prst="rect">
            <a:avLst/>
          </a:prstGeom>
          <a:noFill/>
          <a:ln/>
        </p:spPr>
        <p:txBody>
          <a:bodyPr vert="horz" wrap="square" lIns="0" tIns="0" rIns="0" bIns="0" rtlCol="0" anchor="t"/>
          <a:lstStyle/>
          <a:p>
            <a:pPr>
              <a:lnSpc>
                <a:spcPts val="1461"/>
              </a:lnSpc>
            </a:pPr>
            <a:r>
              <a:rPr lang="en-US" sz="1023" dirty="0">
                <a:solidFill>
                  <a:srgbClr val="4B5563"/>
                </a:solidFill>
                <a:latin typeface="ui-sans-serif" pitchFamily="34" charset="0"/>
                <a:ea typeface="ui-sans-serif" pitchFamily="34" charset="-122"/>
                <a:cs typeface="ui-sans-serif" pitchFamily="34" charset="-120"/>
              </a:rPr>
              <a:t>Via SNS topics</a:t>
            </a:r>
            <a:endParaRPr lang="en-US" sz="1023" dirty="0"/>
          </a:p>
        </p:txBody>
      </p:sp>
      <p:sp>
        <p:nvSpPr>
          <p:cNvPr id="49" name="Text 19"/>
          <p:cNvSpPr/>
          <p:nvPr/>
        </p:nvSpPr>
        <p:spPr>
          <a:xfrm>
            <a:off x="8909447" y="3624444"/>
            <a:ext cx="777489" cy="176333"/>
          </a:xfrm>
          <a:prstGeom prst="rect">
            <a:avLst/>
          </a:prstGeom>
          <a:noFill/>
          <a:ln/>
        </p:spPr>
        <p:txBody>
          <a:bodyPr vert="horz" wrap="square" lIns="0" tIns="0" rIns="0" bIns="0" rtlCol="0" anchor="t"/>
          <a:lstStyle/>
          <a:p>
            <a:pPr>
              <a:lnSpc>
                <a:spcPts val="1754"/>
              </a:lnSpc>
            </a:pPr>
            <a:r>
              <a:rPr lang="en-US" sz="1169" dirty="0">
                <a:solidFill>
                  <a:srgbClr val="000000"/>
                </a:solidFill>
                <a:latin typeface="ui-sans-serif" pitchFamily="34" charset="0"/>
                <a:ea typeface="ui-sans-serif" pitchFamily="34" charset="-122"/>
                <a:cs typeface="ui-sans-serif" pitchFamily="34" charset="-120"/>
              </a:rPr>
              <a:t>Lambda:</a:t>
            </a:r>
            <a:endParaRPr lang="en-US" sz="1169" dirty="0"/>
          </a:p>
        </p:txBody>
      </p:sp>
      <p:sp>
        <p:nvSpPr>
          <p:cNvPr id="50" name="Text 20"/>
          <p:cNvSpPr/>
          <p:nvPr/>
        </p:nvSpPr>
        <p:spPr>
          <a:xfrm>
            <a:off x="9557354" y="3624444"/>
            <a:ext cx="0" cy="176333"/>
          </a:xfrm>
          <a:prstGeom prst="rect">
            <a:avLst/>
          </a:prstGeom>
          <a:noFill/>
          <a:ln/>
        </p:spPr>
        <p:txBody>
          <a:bodyPr vert="horz" wrap="square" lIns="0" tIns="0" rIns="0" bIns="0" rtlCol="0" anchor="t"/>
          <a:lstStyle/>
          <a:p>
            <a:pPr>
              <a:lnSpc>
                <a:spcPts val="1754"/>
              </a:lnSpc>
            </a:pPr>
            <a:r>
              <a:rPr lang="en-US" sz="1169" dirty="0">
                <a:solidFill>
                  <a:srgbClr val="000000"/>
                </a:solidFill>
                <a:latin typeface="ui-sans-serif" pitchFamily="34" charset="0"/>
                <a:ea typeface="ui-sans-serif" pitchFamily="34" charset="-122"/>
                <a:cs typeface="ui-sans-serif" pitchFamily="34" charset="-120"/>
              </a:rPr>
              <a:t>
</a:t>
            </a:r>
            <a:endParaRPr lang="en-US" sz="1169" dirty="0"/>
          </a:p>
        </p:txBody>
      </p:sp>
      <p:sp>
        <p:nvSpPr>
          <p:cNvPr id="51" name="Text 21"/>
          <p:cNvSpPr/>
          <p:nvPr/>
        </p:nvSpPr>
        <p:spPr>
          <a:xfrm>
            <a:off x="8909447" y="3875022"/>
            <a:ext cx="1436300" cy="148491"/>
          </a:xfrm>
          <a:prstGeom prst="rect">
            <a:avLst/>
          </a:prstGeom>
          <a:noFill/>
          <a:ln/>
        </p:spPr>
        <p:txBody>
          <a:bodyPr vert="horz" wrap="square" lIns="0" tIns="0" rIns="0" bIns="0" rtlCol="0" anchor="t"/>
          <a:lstStyle/>
          <a:p>
            <a:pPr>
              <a:lnSpc>
                <a:spcPts val="1461"/>
              </a:lnSpc>
            </a:pPr>
            <a:r>
              <a:rPr lang="en-US" sz="1023" dirty="0">
                <a:solidFill>
                  <a:srgbClr val="4B5563"/>
                </a:solidFill>
                <a:latin typeface="ui-sans-serif" pitchFamily="34" charset="0"/>
                <a:ea typeface="ui-sans-serif" pitchFamily="34" charset="-122"/>
                <a:cs typeface="ui-sans-serif" pitchFamily="34" charset="-120"/>
              </a:rPr>
              <a:t>Custom responses</a:t>
            </a:r>
            <a:endParaRPr lang="en-US" sz="1023" dirty="0"/>
          </a:p>
        </p:txBody>
      </p:sp>
      <p:sp>
        <p:nvSpPr>
          <p:cNvPr id="52" name="Text 22"/>
          <p:cNvSpPr/>
          <p:nvPr/>
        </p:nvSpPr>
        <p:spPr>
          <a:xfrm>
            <a:off x="6459349" y="4181285"/>
            <a:ext cx="1118031" cy="176333"/>
          </a:xfrm>
          <a:prstGeom prst="rect">
            <a:avLst/>
          </a:prstGeom>
          <a:noFill/>
          <a:ln/>
        </p:spPr>
        <p:txBody>
          <a:bodyPr vert="horz" wrap="square" lIns="0" tIns="0" rIns="0" bIns="0" rtlCol="0" anchor="t"/>
          <a:lstStyle/>
          <a:p>
            <a:pPr>
              <a:lnSpc>
                <a:spcPts val="1754"/>
              </a:lnSpc>
            </a:pPr>
            <a:r>
              <a:rPr lang="en-US" sz="1169" dirty="0">
                <a:solidFill>
                  <a:srgbClr val="000000"/>
                </a:solidFill>
                <a:latin typeface="ui-sans-serif" pitchFamily="34" charset="0"/>
                <a:ea typeface="ui-sans-serif" pitchFamily="34" charset="-122"/>
                <a:cs typeface="ui-sans-serif" pitchFamily="34" charset="-120"/>
              </a:rPr>
              <a:t>EC2 Actions:</a:t>
            </a:r>
            <a:endParaRPr lang="en-US" sz="1169" dirty="0"/>
          </a:p>
        </p:txBody>
      </p:sp>
      <p:sp>
        <p:nvSpPr>
          <p:cNvPr id="53" name="Text 23"/>
          <p:cNvSpPr/>
          <p:nvPr/>
        </p:nvSpPr>
        <p:spPr>
          <a:xfrm>
            <a:off x="7391042" y="4181285"/>
            <a:ext cx="0" cy="176333"/>
          </a:xfrm>
          <a:prstGeom prst="rect">
            <a:avLst/>
          </a:prstGeom>
          <a:noFill/>
          <a:ln/>
        </p:spPr>
        <p:txBody>
          <a:bodyPr vert="horz" wrap="square" lIns="0" tIns="0" rIns="0" bIns="0" rtlCol="0" anchor="t"/>
          <a:lstStyle/>
          <a:p>
            <a:pPr>
              <a:lnSpc>
                <a:spcPts val="1754"/>
              </a:lnSpc>
            </a:pPr>
            <a:r>
              <a:rPr lang="en-US" sz="1169" dirty="0">
                <a:solidFill>
                  <a:srgbClr val="000000"/>
                </a:solidFill>
                <a:latin typeface="ui-sans-serif" pitchFamily="34" charset="0"/>
                <a:ea typeface="ui-sans-serif" pitchFamily="34" charset="-122"/>
                <a:cs typeface="ui-sans-serif" pitchFamily="34" charset="-120"/>
              </a:rPr>
              <a:t>
</a:t>
            </a:r>
            <a:endParaRPr lang="en-US" sz="1169" dirty="0"/>
          </a:p>
        </p:txBody>
      </p:sp>
      <p:sp>
        <p:nvSpPr>
          <p:cNvPr id="54" name="Text 24"/>
          <p:cNvSpPr/>
          <p:nvPr/>
        </p:nvSpPr>
        <p:spPr>
          <a:xfrm>
            <a:off x="6459349" y="4431862"/>
            <a:ext cx="1610139" cy="148491"/>
          </a:xfrm>
          <a:prstGeom prst="rect">
            <a:avLst/>
          </a:prstGeom>
          <a:noFill/>
          <a:ln/>
        </p:spPr>
        <p:txBody>
          <a:bodyPr vert="horz" wrap="square" lIns="0" tIns="0" rIns="0" bIns="0" rtlCol="0" anchor="t"/>
          <a:lstStyle/>
          <a:p>
            <a:pPr>
              <a:lnSpc>
                <a:spcPts val="1461"/>
              </a:lnSpc>
            </a:pPr>
            <a:r>
              <a:rPr lang="en-US" sz="1023" dirty="0">
                <a:solidFill>
                  <a:srgbClr val="4B5563"/>
                </a:solidFill>
                <a:latin typeface="ui-sans-serif" pitchFamily="34" charset="0"/>
                <a:ea typeface="ui-sans-serif" pitchFamily="34" charset="-122"/>
                <a:cs typeface="ui-sans-serif" pitchFamily="34" charset="-120"/>
              </a:rPr>
              <a:t>Stop, terminate, etc.</a:t>
            </a:r>
            <a:endParaRPr lang="en-US" sz="1023" dirty="0"/>
          </a:p>
        </p:txBody>
      </p:sp>
      <p:sp>
        <p:nvSpPr>
          <p:cNvPr id="55" name="Text 25"/>
          <p:cNvSpPr/>
          <p:nvPr/>
        </p:nvSpPr>
        <p:spPr>
          <a:xfrm>
            <a:off x="8853763" y="4181285"/>
            <a:ext cx="1151442" cy="176333"/>
          </a:xfrm>
          <a:prstGeom prst="rect">
            <a:avLst/>
          </a:prstGeom>
          <a:noFill/>
          <a:ln/>
        </p:spPr>
        <p:txBody>
          <a:bodyPr vert="horz" wrap="square" lIns="0" tIns="0" rIns="0" bIns="0" rtlCol="0" anchor="t"/>
          <a:lstStyle/>
          <a:p>
            <a:pPr>
              <a:lnSpc>
                <a:spcPts val="1754"/>
              </a:lnSpc>
            </a:pPr>
            <a:r>
              <a:rPr lang="en-US" sz="1169" dirty="0">
                <a:solidFill>
                  <a:srgbClr val="000000"/>
                </a:solidFill>
                <a:latin typeface="ui-sans-serif" pitchFamily="34" charset="0"/>
                <a:ea typeface="ui-sans-serif" pitchFamily="34" charset="-122"/>
                <a:cs typeface="ui-sans-serif" pitchFamily="34" charset="-120"/>
              </a:rPr>
              <a:t>EventBridge:</a:t>
            </a:r>
            <a:endParaRPr lang="en-US" sz="1169" dirty="0"/>
          </a:p>
        </p:txBody>
      </p:sp>
      <p:sp>
        <p:nvSpPr>
          <p:cNvPr id="56" name="Text 26"/>
          <p:cNvSpPr/>
          <p:nvPr/>
        </p:nvSpPr>
        <p:spPr>
          <a:xfrm>
            <a:off x="9813298" y="4181285"/>
            <a:ext cx="0" cy="176333"/>
          </a:xfrm>
          <a:prstGeom prst="rect">
            <a:avLst/>
          </a:prstGeom>
          <a:noFill/>
          <a:ln/>
        </p:spPr>
        <p:txBody>
          <a:bodyPr vert="horz" wrap="square" lIns="0" tIns="0" rIns="0" bIns="0" rtlCol="0" anchor="t"/>
          <a:lstStyle/>
          <a:p>
            <a:pPr>
              <a:lnSpc>
                <a:spcPts val="1754"/>
              </a:lnSpc>
            </a:pPr>
            <a:r>
              <a:rPr lang="en-US" sz="1169" dirty="0">
                <a:solidFill>
                  <a:srgbClr val="000000"/>
                </a:solidFill>
                <a:latin typeface="ui-sans-serif" pitchFamily="34" charset="0"/>
                <a:ea typeface="ui-sans-serif" pitchFamily="34" charset="-122"/>
                <a:cs typeface="ui-sans-serif" pitchFamily="34" charset="-120"/>
              </a:rPr>
              <a:t>
</a:t>
            </a:r>
            <a:endParaRPr lang="en-US" sz="1169" dirty="0"/>
          </a:p>
        </p:txBody>
      </p:sp>
      <p:sp>
        <p:nvSpPr>
          <p:cNvPr id="57" name="Text 27"/>
          <p:cNvSpPr/>
          <p:nvPr/>
        </p:nvSpPr>
        <p:spPr>
          <a:xfrm>
            <a:off x="8853763" y="4431862"/>
            <a:ext cx="929749" cy="148491"/>
          </a:xfrm>
          <a:prstGeom prst="rect">
            <a:avLst/>
          </a:prstGeom>
          <a:noFill/>
          <a:ln/>
        </p:spPr>
        <p:txBody>
          <a:bodyPr vert="horz" wrap="square" lIns="0" tIns="0" rIns="0" bIns="0" rtlCol="0" anchor="t"/>
          <a:lstStyle/>
          <a:p>
            <a:pPr>
              <a:lnSpc>
                <a:spcPts val="1461"/>
              </a:lnSpc>
            </a:pPr>
            <a:r>
              <a:rPr lang="en-US" sz="1023" dirty="0">
                <a:solidFill>
                  <a:srgbClr val="4B5563"/>
                </a:solidFill>
                <a:latin typeface="ui-sans-serif" pitchFamily="34" charset="0"/>
                <a:ea typeface="ui-sans-serif" pitchFamily="34" charset="-122"/>
                <a:cs typeface="ui-sans-serif" pitchFamily="34" charset="-120"/>
              </a:rPr>
              <a:t>Emit events</a:t>
            </a:r>
            <a:endParaRPr lang="en-US" sz="1023"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1" y="79226"/>
            <a:ext cx="11879263" cy="37123"/>
          </a:xfrm>
          <a:prstGeom prst="rect">
            <a:avLst/>
          </a:prstGeom>
        </p:spPr>
      </p:pic>
      <p:pic>
        <p:nvPicPr>
          <p:cNvPr id="4" name="Image 2" descr="preencoded.png"/>
          <p:cNvPicPr>
            <a:picLocks noChangeAspect="1"/>
          </p:cNvPicPr>
          <p:nvPr/>
        </p:nvPicPr>
        <p:blipFill>
          <a:blip r:embed="rId4"/>
          <a:stretch>
            <a:fillRect/>
          </a:stretch>
        </p:blipFill>
        <p:spPr>
          <a:xfrm>
            <a:off x="593963" y="821680"/>
            <a:ext cx="742454" cy="37123"/>
          </a:xfrm>
          <a:prstGeom prst="rect">
            <a:avLst/>
          </a:prstGeom>
        </p:spPr>
      </p:pic>
      <p:pic>
        <p:nvPicPr>
          <p:cNvPr id="6" name="Image 4" descr="preencoded.png"/>
          <p:cNvPicPr>
            <a:picLocks noChangeAspect="1"/>
          </p:cNvPicPr>
          <p:nvPr/>
        </p:nvPicPr>
        <p:blipFill>
          <a:blip r:embed="rId5"/>
          <a:stretch>
            <a:fillRect/>
          </a:stretch>
        </p:blipFill>
        <p:spPr>
          <a:xfrm>
            <a:off x="742454" y="2046729"/>
            <a:ext cx="371227" cy="371227"/>
          </a:xfrm>
          <a:prstGeom prst="rect">
            <a:avLst/>
          </a:prstGeom>
        </p:spPr>
      </p:pic>
      <p:pic>
        <p:nvPicPr>
          <p:cNvPr id="9" name="Image 7" descr="preencoded.png"/>
          <p:cNvPicPr>
            <a:picLocks noChangeAspect="1"/>
          </p:cNvPicPr>
          <p:nvPr/>
        </p:nvPicPr>
        <p:blipFill>
          <a:blip r:embed="rId6"/>
          <a:stretch>
            <a:fillRect/>
          </a:stretch>
        </p:blipFill>
        <p:spPr>
          <a:xfrm>
            <a:off x="742454" y="2937674"/>
            <a:ext cx="371227" cy="371227"/>
          </a:xfrm>
          <a:prstGeom prst="rect">
            <a:avLst/>
          </a:prstGeom>
        </p:spPr>
      </p:pic>
      <p:pic>
        <p:nvPicPr>
          <p:cNvPr id="12" name="Image 10" descr="preencoded.png"/>
          <p:cNvPicPr>
            <a:picLocks noChangeAspect="1"/>
          </p:cNvPicPr>
          <p:nvPr/>
        </p:nvPicPr>
        <p:blipFill>
          <a:blip r:embed="rId7"/>
          <a:stretch>
            <a:fillRect/>
          </a:stretch>
        </p:blipFill>
        <p:spPr>
          <a:xfrm>
            <a:off x="742454" y="3828619"/>
            <a:ext cx="371227" cy="371227"/>
          </a:xfrm>
          <a:prstGeom prst="rect">
            <a:avLst/>
          </a:prstGeom>
        </p:spPr>
      </p:pic>
      <p:pic>
        <p:nvPicPr>
          <p:cNvPr id="15" name="Image 13" descr="preencoded.png"/>
          <p:cNvPicPr>
            <a:picLocks noChangeAspect="1"/>
          </p:cNvPicPr>
          <p:nvPr/>
        </p:nvPicPr>
        <p:blipFill>
          <a:blip r:embed="rId8"/>
          <a:stretch>
            <a:fillRect/>
          </a:stretch>
        </p:blipFill>
        <p:spPr>
          <a:xfrm>
            <a:off x="742454" y="4719563"/>
            <a:ext cx="371227" cy="371227"/>
          </a:xfrm>
          <a:prstGeom prst="rect">
            <a:avLst/>
          </a:prstGeom>
        </p:spPr>
      </p:pic>
      <p:sp>
        <p:nvSpPr>
          <p:cNvPr id="18" name="Text 0"/>
          <p:cNvSpPr/>
          <p:nvPr/>
        </p:nvSpPr>
        <p:spPr>
          <a:xfrm>
            <a:off x="593963" y="413331"/>
            <a:ext cx="10691336" cy="334104"/>
          </a:xfrm>
          <a:prstGeom prst="rect">
            <a:avLst/>
          </a:prstGeom>
          <a:noFill/>
          <a:ln/>
        </p:spPr>
        <p:txBody>
          <a:bodyPr vert="horz" wrap="square" lIns="0" tIns="0" rIns="0" bIns="0" rtlCol="0" anchor="t"/>
          <a:lstStyle/>
          <a:p>
            <a:pPr>
              <a:lnSpc>
                <a:spcPts val="2631"/>
              </a:lnSpc>
            </a:pPr>
            <a:r>
              <a:rPr lang="en-US" sz="2192" b="1" dirty="0">
                <a:solidFill>
                  <a:srgbClr val="1F2937"/>
                </a:solidFill>
                <a:latin typeface="ui-sans-serif" pitchFamily="34" charset="0"/>
                <a:ea typeface="ui-sans-serif" pitchFamily="34" charset="-122"/>
                <a:cs typeface="ui-sans-serif" pitchFamily="34" charset="-120"/>
              </a:rPr>
              <a:t>Question 1</a:t>
            </a:r>
            <a:endParaRPr lang="en-US" sz="2192" dirty="0"/>
          </a:p>
        </p:txBody>
      </p:sp>
      <p:sp>
        <p:nvSpPr>
          <p:cNvPr id="19" name="Text 1"/>
          <p:cNvSpPr/>
          <p:nvPr/>
        </p:nvSpPr>
        <p:spPr>
          <a:xfrm>
            <a:off x="593963" y="1304275"/>
            <a:ext cx="12829604" cy="296982"/>
          </a:xfrm>
          <a:prstGeom prst="rect">
            <a:avLst/>
          </a:prstGeom>
          <a:noFill/>
          <a:ln/>
        </p:spPr>
        <p:txBody>
          <a:bodyPr vert="horz" wrap="square" lIns="0" tIns="0" rIns="0" bIns="0" rtlCol="0" anchor="t"/>
          <a:lstStyle/>
          <a:p>
            <a:pPr>
              <a:lnSpc>
                <a:spcPts val="2338"/>
              </a:lnSpc>
            </a:pPr>
            <a:r>
              <a:rPr lang="en-US" sz="1754" b="1" dirty="0">
                <a:solidFill>
                  <a:srgbClr val="374151"/>
                </a:solidFill>
                <a:latin typeface="ui-sans-serif" pitchFamily="34" charset="0"/>
                <a:ea typeface="ui-sans-serif" pitchFamily="34" charset="-122"/>
                <a:cs typeface="ui-sans-serif" pitchFamily="34" charset="-120"/>
              </a:rPr>
              <a:t>What is the primary purpose of Amazon CloudWatch?</a:t>
            </a:r>
            <a:endParaRPr lang="en-US" sz="1754" dirty="0"/>
          </a:p>
        </p:txBody>
      </p:sp>
      <p:sp>
        <p:nvSpPr>
          <p:cNvPr id="20" name="Text 2"/>
          <p:cNvSpPr/>
          <p:nvPr/>
        </p:nvSpPr>
        <p:spPr>
          <a:xfrm>
            <a:off x="870498" y="2046729"/>
            <a:ext cx="371227" cy="371227"/>
          </a:xfrm>
          <a:prstGeom prst="rect">
            <a:avLst/>
          </a:prstGeom>
          <a:noFill/>
          <a:ln/>
        </p:spPr>
        <p:txBody>
          <a:bodyPr vert="horz" wrap="square" lIns="0" tIns="0" rIns="0" bIns="0" rtlCol="0" anchor="t"/>
          <a:lstStyle/>
          <a:p>
            <a:pPr>
              <a:lnSpc>
                <a:spcPts val="1754"/>
              </a:lnSpc>
            </a:pPr>
            <a:r>
              <a:rPr lang="en-US" sz="1169" b="1" dirty="0">
                <a:solidFill>
                  <a:srgbClr val="374151"/>
                </a:solidFill>
                <a:latin typeface="ui-sans-serif" pitchFamily="34" charset="0"/>
                <a:ea typeface="ui-sans-serif" pitchFamily="34" charset="-122"/>
                <a:cs typeface="ui-sans-serif" pitchFamily="34" charset="-120"/>
              </a:rPr>
              <a:t>A</a:t>
            </a:r>
            <a:endParaRPr lang="en-US" sz="1169" dirty="0"/>
          </a:p>
        </p:txBody>
      </p:sp>
      <p:sp>
        <p:nvSpPr>
          <p:cNvPr id="21" name="Text 3"/>
          <p:cNvSpPr/>
          <p:nvPr/>
        </p:nvSpPr>
        <p:spPr>
          <a:xfrm>
            <a:off x="1559153" y="2102413"/>
            <a:ext cx="3678801" cy="259859"/>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Storing AWS credentials securely</a:t>
            </a:r>
            <a:endParaRPr lang="en-US" sz="1461" dirty="0"/>
          </a:p>
        </p:txBody>
      </p:sp>
      <p:sp>
        <p:nvSpPr>
          <p:cNvPr id="22" name="Text 4"/>
          <p:cNvSpPr/>
          <p:nvPr/>
        </p:nvSpPr>
        <p:spPr>
          <a:xfrm>
            <a:off x="871368" y="2937674"/>
            <a:ext cx="371227" cy="371227"/>
          </a:xfrm>
          <a:prstGeom prst="rect">
            <a:avLst/>
          </a:prstGeom>
          <a:noFill/>
          <a:ln/>
        </p:spPr>
        <p:txBody>
          <a:bodyPr vert="horz" wrap="square" lIns="0" tIns="0" rIns="0" bIns="0" rtlCol="0" anchor="t"/>
          <a:lstStyle/>
          <a:p>
            <a:pPr>
              <a:lnSpc>
                <a:spcPts val="1754"/>
              </a:lnSpc>
            </a:pPr>
            <a:r>
              <a:rPr lang="en-US" sz="1169" b="1" dirty="0">
                <a:solidFill>
                  <a:srgbClr val="374151"/>
                </a:solidFill>
                <a:latin typeface="ui-sans-serif" pitchFamily="34" charset="0"/>
                <a:ea typeface="ui-sans-serif" pitchFamily="34" charset="-122"/>
                <a:cs typeface="ui-sans-serif" pitchFamily="34" charset="-120"/>
              </a:rPr>
              <a:t>B</a:t>
            </a:r>
            <a:endParaRPr lang="en-US" sz="1169" dirty="0"/>
          </a:p>
        </p:txBody>
      </p:sp>
      <p:sp>
        <p:nvSpPr>
          <p:cNvPr id="23" name="Text 5"/>
          <p:cNvSpPr/>
          <p:nvPr/>
        </p:nvSpPr>
        <p:spPr>
          <a:xfrm>
            <a:off x="1559154" y="2993358"/>
            <a:ext cx="6160047" cy="259859"/>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Monitoring AWS resources and applications in real time</a:t>
            </a:r>
            <a:endParaRPr lang="en-US" sz="1461" dirty="0"/>
          </a:p>
        </p:txBody>
      </p:sp>
      <p:sp>
        <p:nvSpPr>
          <p:cNvPr id="24" name="Text 6"/>
          <p:cNvSpPr/>
          <p:nvPr/>
        </p:nvSpPr>
        <p:spPr>
          <a:xfrm>
            <a:off x="873544" y="3828619"/>
            <a:ext cx="371227" cy="371227"/>
          </a:xfrm>
          <a:prstGeom prst="rect">
            <a:avLst/>
          </a:prstGeom>
          <a:noFill/>
          <a:ln/>
        </p:spPr>
        <p:txBody>
          <a:bodyPr vert="horz" wrap="square" lIns="0" tIns="0" rIns="0" bIns="0" rtlCol="0" anchor="t"/>
          <a:lstStyle/>
          <a:p>
            <a:pPr>
              <a:lnSpc>
                <a:spcPts val="1754"/>
              </a:lnSpc>
            </a:pPr>
            <a:r>
              <a:rPr lang="en-US" sz="1169" b="1" dirty="0">
                <a:solidFill>
                  <a:srgbClr val="374151"/>
                </a:solidFill>
                <a:latin typeface="ui-sans-serif" pitchFamily="34" charset="0"/>
                <a:ea typeface="ui-sans-serif" pitchFamily="34" charset="-122"/>
                <a:cs typeface="ui-sans-serif" pitchFamily="34" charset="-120"/>
              </a:rPr>
              <a:t>C</a:t>
            </a:r>
            <a:endParaRPr lang="en-US" sz="1169" dirty="0"/>
          </a:p>
        </p:txBody>
      </p:sp>
      <p:sp>
        <p:nvSpPr>
          <p:cNvPr id="25" name="Text 7"/>
          <p:cNvSpPr/>
          <p:nvPr/>
        </p:nvSpPr>
        <p:spPr>
          <a:xfrm>
            <a:off x="1540592" y="3884303"/>
            <a:ext cx="4298112" cy="259859"/>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Deploying applications to AWS regions</a:t>
            </a:r>
            <a:endParaRPr lang="en-US" sz="1461" dirty="0"/>
          </a:p>
        </p:txBody>
      </p:sp>
      <p:sp>
        <p:nvSpPr>
          <p:cNvPr id="26" name="Text 8"/>
          <p:cNvSpPr/>
          <p:nvPr/>
        </p:nvSpPr>
        <p:spPr>
          <a:xfrm>
            <a:off x="866438" y="4719563"/>
            <a:ext cx="371227" cy="371227"/>
          </a:xfrm>
          <a:prstGeom prst="rect">
            <a:avLst/>
          </a:prstGeom>
          <a:noFill/>
          <a:ln/>
        </p:spPr>
        <p:txBody>
          <a:bodyPr vert="horz" wrap="square" lIns="0" tIns="0" rIns="0" bIns="0" rtlCol="0" anchor="t"/>
          <a:lstStyle/>
          <a:p>
            <a:pPr>
              <a:lnSpc>
                <a:spcPts val="1754"/>
              </a:lnSpc>
            </a:pPr>
            <a:r>
              <a:rPr lang="en-US" sz="1169" b="1" dirty="0">
                <a:solidFill>
                  <a:srgbClr val="374151"/>
                </a:solidFill>
                <a:latin typeface="ui-sans-serif" pitchFamily="34" charset="0"/>
                <a:ea typeface="ui-sans-serif" pitchFamily="34" charset="-122"/>
                <a:cs typeface="ui-sans-serif" pitchFamily="34" charset="-120"/>
              </a:rPr>
              <a:t>D</a:t>
            </a:r>
            <a:endParaRPr lang="en-US" sz="1169" dirty="0"/>
          </a:p>
        </p:txBody>
      </p:sp>
      <p:sp>
        <p:nvSpPr>
          <p:cNvPr id="27" name="Text 9"/>
          <p:cNvSpPr/>
          <p:nvPr/>
        </p:nvSpPr>
        <p:spPr>
          <a:xfrm>
            <a:off x="1605556" y="4775247"/>
            <a:ext cx="3624683" cy="259859"/>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Managing AWS user permissions</a:t>
            </a:r>
            <a:endParaRPr lang="en-US" sz="146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1" y="79226"/>
            <a:ext cx="11879263" cy="37123"/>
          </a:xfrm>
          <a:prstGeom prst="rect">
            <a:avLst/>
          </a:prstGeom>
        </p:spPr>
      </p:pic>
      <p:pic>
        <p:nvPicPr>
          <p:cNvPr id="4" name="Image 2" descr="preencoded.png"/>
          <p:cNvPicPr>
            <a:picLocks noChangeAspect="1"/>
          </p:cNvPicPr>
          <p:nvPr/>
        </p:nvPicPr>
        <p:blipFill>
          <a:blip r:embed="rId4"/>
          <a:stretch>
            <a:fillRect/>
          </a:stretch>
        </p:blipFill>
        <p:spPr>
          <a:xfrm>
            <a:off x="593963" y="821680"/>
            <a:ext cx="742454" cy="37123"/>
          </a:xfrm>
          <a:prstGeom prst="rect">
            <a:avLst/>
          </a:prstGeom>
        </p:spPr>
      </p:pic>
      <p:pic>
        <p:nvPicPr>
          <p:cNvPr id="5" name="Image 3" descr="preencoded.png"/>
          <p:cNvPicPr>
            <a:picLocks noChangeAspect="1"/>
          </p:cNvPicPr>
          <p:nvPr/>
        </p:nvPicPr>
        <p:blipFill>
          <a:blip r:embed="rId5"/>
          <a:stretch>
            <a:fillRect/>
          </a:stretch>
        </p:blipFill>
        <p:spPr>
          <a:xfrm>
            <a:off x="593963" y="1304276"/>
            <a:ext cx="10691336" cy="816699"/>
          </a:xfrm>
          <a:prstGeom prst="rect">
            <a:avLst/>
          </a:prstGeom>
        </p:spPr>
      </p:pic>
      <p:pic>
        <p:nvPicPr>
          <p:cNvPr id="6" name="Image 4" descr="preencoded.png"/>
          <p:cNvPicPr>
            <a:picLocks noChangeAspect="1"/>
          </p:cNvPicPr>
          <p:nvPr/>
        </p:nvPicPr>
        <p:blipFill>
          <a:blip r:embed="rId6"/>
          <a:stretch>
            <a:fillRect/>
          </a:stretch>
        </p:blipFill>
        <p:spPr>
          <a:xfrm>
            <a:off x="779577" y="1489889"/>
            <a:ext cx="445472" cy="445472"/>
          </a:xfrm>
          <a:prstGeom prst="rect">
            <a:avLst/>
          </a:prstGeom>
        </p:spPr>
      </p:pic>
      <p:pic>
        <p:nvPicPr>
          <p:cNvPr id="7" name="Image 5" descr="preencoded.png"/>
          <p:cNvPicPr>
            <a:picLocks noChangeAspect="1"/>
          </p:cNvPicPr>
          <p:nvPr/>
        </p:nvPicPr>
        <p:blipFill>
          <a:blip r:embed="rId7"/>
          <a:stretch>
            <a:fillRect/>
          </a:stretch>
        </p:blipFill>
        <p:spPr>
          <a:xfrm>
            <a:off x="593963" y="2417957"/>
            <a:ext cx="10691336" cy="2213441"/>
          </a:xfrm>
          <a:prstGeom prst="rect">
            <a:avLst/>
          </a:prstGeom>
        </p:spPr>
      </p:pic>
      <p:pic>
        <p:nvPicPr>
          <p:cNvPr id="8" name="Image 6" descr="preencoded.png"/>
          <p:cNvPicPr>
            <a:picLocks noChangeAspect="1"/>
          </p:cNvPicPr>
          <p:nvPr/>
        </p:nvPicPr>
        <p:blipFill>
          <a:blip r:embed="rId8"/>
          <a:stretch>
            <a:fillRect/>
          </a:stretch>
        </p:blipFill>
        <p:spPr>
          <a:xfrm>
            <a:off x="816700" y="2677815"/>
            <a:ext cx="139210" cy="185613"/>
          </a:xfrm>
          <a:prstGeom prst="rect">
            <a:avLst/>
          </a:prstGeom>
        </p:spPr>
      </p:pic>
      <p:pic>
        <p:nvPicPr>
          <p:cNvPr id="9" name="Image 7" descr="preencoded.png"/>
          <p:cNvPicPr>
            <a:picLocks noChangeAspect="1"/>
          </p:cNvPicPr>
          <p:nvPr/>
        </p:nvPicPr>
        <p:blipFill>
          <a:blip r:embed="rId9"/>
          <a:stretch>
            <a:fillRect/>
          </a:stretch>
        </p:blipFill>
        <p:spPr>
          <a:xfrm>
            <a:off x="816699" y="3851821"/>
            <a:ext cx="148491" cy="148491"/>
          </a:xfrm>
          <a:prstGeom prst="rect">
            <a:avLst/>
          </a:prstGeom>
        </p:spPr>
      </p:pic>
      <p:pic>
        <p:nvPicPr>
          <p:cNvPr id="10" name="Image 8" descr="preencoded.png"/>
          <p:cNvPicPr>
            <a:picLocks noChangeAspect="1"/>
          </p:cNvPicPr>
          <p:nvPr/>
        </p:nvPicPr>
        <p:blipFill>
          <a:blip r:embed="rId9"/>
          <a:stretch>
            <a:fillRect/>
          </a:stretch>
        </p:blipFill>
        <p:spPr>
          <a:xfrm>
            <a:off x="6013876" y="3851821"/>
            <a:ext cx="148491" cy="148491"/>
          </a:xfrm>
          <a:prstGeom prst="rect">
            <a:avLst/>
          </a:prstGeom>
        </p:spPr>
      </p:pic>
      <p:pic>
        <p:nvPicPr>
          <p:cNvPr id="11" name="Image 9" descr="preencoded.png"/>
          <p:cNvPicPr>
            <a:picLocks noChangeAspect="1"/>
          </p:cNvPicPr>
          <p:nvPr/>
        </p:nvPicPr>
        <p:blipFill>
          <a:blip r:embed="rId9"/>
          <a:stretch>
            <a:fillRect/>
          </a:stretch>
        </p:blipFill>
        <p:spPr>
          <a:xfrm>
            <a:off x="816699" y="4223048"/>
            <a:ext cx="148491" cy="148491"/>
          </a:xfrm>
          <a:prstGeom prst="rect">
            <a:avLst/>
          </a:prstGeom>
        </p:spPr>
      </p:pic>
      <p:pic>
        <p:nvPicPr>
          <p:cNvPr id="12" name="Image 10" descr="preencoded.png"/>
          <p:cNvPicPr>
            <a:picLocks noChangeAspect="1"/>
          </p:cNvPicPr>
          <p:nvPr/>
        </p:nvPicPr>
        <p:blipFill>
          <a:blip r:embed="rId9"/>
          <a:stretch>
            <a:fillRect/>
          </a:stretch>
        </p:blipFill>
        <p:spPr>
          <a:xfrm>
            <a:off x="6013876" y="4223048"/>
            <a:ext cx="148491" cy="148491"/>
          </a:xfrm>
          <a:prstGeom prst="rect">
            <a:avLst/>
          </a:prstGeom>
        </p:spPr>
      </p:pic>
      <p:sp>
        <p:nvSpPr>
          <p:cNvPr id="14" name="Text 0"/>
          <p:cNvSpPr/>
          <p:nvPr/>
        </p:nvSpPr>
        <p:spPr>
          <a:xfrm>
            <a:off x="593963" y="413331"/>
            <a:ext cx="10691336" cy="334104"/>
          </a:xfrm>
          <a:prstGeom prst="rect">
            <a:avLst/>
          </a:prstGeom>
          <a:noFill/>
          <a:ln/>
        </p:spPr>
        <p:txBody>
          <a:bodyPr vert="horz" wrap="square" lIns="0" tIns="0" rIns="0" bIns="0" rtlCol="0" anchor="t"/>
          <a:lstStyle/>
          <a:p>
            <a:pPr>
              <a:lnSpc>
                <a:spcPts val="2631"/>
              </a:lnSpc>
            </a:pPr>
            <a:r>
              <a:rPr lang="en-US" sz="2192" b="1" dirty="0">
                <a:solidFill>
                  <a:srgbClr val="1F2937"/>
                </a:solidFill>
                <a:latin typeface="ui-sans-serif" pitchFamily="34" charset="0"/>
                <a:ea typeface="ui-sans-serif" pitchFamily="34" charset="-122"/>
                <a:cs typeface="ui-sans-serif" pitchFamily="34" charset="-120"/>
              </a:rPr>
              <a:t>Answer 1</a:t>
            </a:r>
            <a:endParaRPr lang="en-US" sz="2192" dirty="0"/>
          </a:p>
        </p:txBody>
      </p:sp>
      <p:sp>
        <p:nvSpPr>
          <p:cNvPr id="15" name="Text 1"/>
          <p:cNvSpPr/>
          <p:nvPr/>
        </p:nvSpPr>
        <p:spPr>
          <a:xfrm>
            <a:off x="931548" y="1489889"/>
            <a:ext cx="445472" cy="445472"/>
          </a:xfrm>
          <a:prstGeom prst="rect">
            <a:avLst/>
          </a:prstGeom>
          <a:noFill/>
          <a:ln/>
        </p:spPr>
        <p:txBody>
          <a:bodyPr vert="horz" wrap="square" lIns="0" tIns="0" rIns="0" bIns="0" rtlCol="0" anchor="t"/>
          <a:lstStyle/>
          <a:p>
            <a:pPr>
              <a:lnSpc>
                <a:spcPts val="2046"/>
              </a:lnSpc>
            </a:pPr>
            <a:r>
              <a:rPr lang="en-US" sz="1461" b="1" dirty="0">
                <a:solidFill>
                  <a:srgbClr val="FFFFFF"/>
                </a:solidFill>
                <a:latin typeface="ui-sans-serif" pitchFamily="34" charset="0"/>
                <a:ea typeface="ui-sans-serif" pitchFamily="34" charset="-122"/>
                <a:cs typeface="ui-sans-serif" pitchFamily="34" charset="-120"/>
              </a:rPr>
              <a:t>B</a:t>
            </a:r>
            <a:endParaRPr lang="en-US" sz="1461" dirty="0"/>
          </a:p>
        </p:txBody>
      </p:sp>
      <p:sp>
        <p:nvSpPr>
          <p:cNvPr id="16" name="Text 2"/>
          <p:cNvSpPr/>
          <p:nvPr/>
        </p:nvSpPr>
        <p:spPr>
          <a:xfrm>
            <a:off x="1410662" y="1564134"/>
            <a:ext cx="8403767" cy="296982"/>
          </a:xfrm>
          <a:prstGeom prst="rect">
            <a:avLst/>
          </a:prstGeom>
          <a:noFill/>
          <a:ln/>
        </p:spPr>
        <p:txBody>
          <a:bodyPr vert="horz" wrap="square" lIns="0" tIns="0" rIns="0" bIns="0" rtlCol="0" anchor="t"/>
          <a:lstStyle/>
          <a:p>
            <a:pPr>
              <a:lnSpc>
                <a:spcPts val="2338"/>
              </a:lnSpc>
            </a:pPr>
            <a:r>
              <a:rPr lang="en-US" sz="1754" b="1" dirty="0">
                <a:solidFill>
                  <a:srgbClr val="374151"/>
                </a:solidFill>
                <a:latin typeface="ui-sans-serif" pitchFamily="34" charset="0"/>
                <a:ea typeface="ui-sans-serif" pitchFamily="34" charset="-122"/>
                <a:cs typeface="ui-sans-serif" pitchFamily="34" charset="-120"/>
              </a:rPr>
              <a:t>Monitoring AWS resources and applications in real time</a:t>
            </a:r>
            <a:endParaRPr lang="en-US" sz="1754" dirty="0"/>
          </a:p>
        </p:txBody>
      </p:sp>
      <p:sp>
        <p:nvSpPr>
          <p:cNvPr id="17" name="Text 3"/>
          <p:cNvSpPr/>
          <p:nvPr/>
        </p:nvSpPr>
        <p:spPr>
          <a:xfrm>
            <a:off x="1030154" y="2640692"/>
            <a:ext cx="10245864"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 Explanation</a:t>
            </a:r>
            <a:endParaRPr lang="en-US" sz="1461" dirty="0"/>
          </a:p>
        </p:txBody>
      </p:sp>
      <p:sp>
        <p:nvSpPr>
          <p:cNvPr id="18" name="Text 4"/>
          <p:cNvSpPr/>
          <p:nvPr/>
        </p:nvSpPr>
        <p:spPr>
          <a:xfrm>
            <a:off x="816699" y="3049042"/>
            <a:ext cx="10245864" cy="542920"/>
          </a:xfrm>
          <a:prstGeom prst="rect">
            <a:avLst/>
          </a:prstGeom>
          <a:noFill/>
          <a:ln/>
        </p:spPr>
        <p:txBody>
          <a:bodyPr vert="horz" wrap="square" lIns="0" tIns="0" rIns="0" bIns="0" rtlCol="0" anchor="t"/>
          <a:lstStyle/>
          <a:p>
            <a:pPr>
              <a:lnSpc>
                <a:spcPts val="2138"/>
              </a:lnSpc>
            </a:pPr>
            <a:r>
              <a:rPr lang="en-US" sz="1315" dirty="0">
                <a:solidFill>
                  <a:srgbClr val="4B5563"/>
                </a:solidFill>
                <a:latin typeface="ui-sans-serif" pitchFamily="34" charset="0"/>
                <a:ea typeface="ui-sans-serif" pitchFamily="34" charset="-122"/>
                <a:cs typeface="ui-sans-serif" pitchFamily="34" charset="-120"/>
              </a:rPr>
              <a:t>CloudWatch monitors your AWS resources and the applications you run on AWS in real time, providing operational visibility and actionable insights.</a:t>
            </a:r>
            <a:endParaRPr lang="en-US" sz="1315" dirty="0"/>
          </a:p>
        </p:txBody>
      </p:sp>
      <p:sp>
        <p:nvSpPr>
          <p:cNvPr id="19" name="Text 5"/>
          <p:cNvSpPr/>
          <p:nvPr/>
        </p:nvSpPr>
        <p:spPr>
          <a:xfrm>
            <a:off x="1076558" y="3814697"/>
            <a:ext cx="3561864" cy="222736"/>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Collects metrics from running resources</a:t>
            </a:r>
            <a:endParaRPr lang="en-US" sz="1169" dirty="0"/>
          </a:p>
        </p:txBody>
      </p:sp>
      <p:sp>
        <p:nvSpPr>
          <p:cNvPr id="20" name="Text 6"/>
          <p:cNvSpPr/>
          <p:nvPr/>
        </p:nvSpPr>
        <p:spPr>
          <a:xfrm>
            <a:off x="6273735" y="3814697"/>
            <a:ext cx="2489947" cy="222736"/>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Provides actionable insights</a:t>
            </a:r>
            <a:endParaRPr lang="en-US" sz="1169" dirty="0"/>
          </a:p>
        </p:txBody>
      </p:sp>
      <p:sp>
        <p:nvSpPr>
          <p:cNvPr id="21" name="Text 7"/>
          <p:cNvSpPr/>
          <p:nvPr/>
        </p:nvSpPr>
        <p:spPr>
          <a:xfrm>
            <a:off x="1076558" y="4185925"/>
            <a:ext cx="2975268" cy="222736"/>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Monitors applications in real time</a:t>
            </a:r>
            <a:endParaRPr lang="en-US" sz="1169" dirty="0"/>
          </a:p>
        </p:txBody>
      </p:sp>
      <p:sp>
        <p:nvSpPr>
          <p:cNvPr id="22" name="Text 8"/>
          <p:cNvSpPr/>
          <p:nvPr/>
        </p:nvSpPr>
        <p:spPr>
          <a:xfrm>
            <a:off x="6273735" y="4185925"/>
            <a:ext cx="3174513" cy="222736"/>
          </a:xfrm>
          <a:prstGeom prst="rect">
            <a:avLst/>
          </a:prstGeom>
          <a:noFill/>
          <a:ln/>
        </p:spPr>
        <p:txBody>
          <a:bodyPr vert="horz" wrap="square" lIns="0" tIns="0" rIns="0" bIns="0" rtlCol="0" anchor="t"/>
          <a:lstStyle/>
          <a:p>
            <a:pPr>
              <a:lnSpc>
                <a:spcPts val="1754"/>
              </a:lnSpc>
            </a:pPr>
            <a:r>
              <a:rPr lang="en-US" sz="1169" dirty="0">
                <a:solidFill>
                  <a:srgbClr val="4B5563"/>
                </a:solidFill>
                <a:latin typeface="ui-sans-serif" pitchFamily="34" charset="0"/>
                <a:ea typeface="ui-sans-serif" pitchFamily="34" charset="-122"/>
                <a:cs typeface="ui-sans-serif" pitchFamily="34" charset="-120"/>
              </a:rPr>
              <a:t>Tracks performance and availability</a:t>
            </a:r>
            <a:endParaRPr lang="en-US" sz="1169"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1" descr="preencoded.png"/>
          <p:cNvPicPr>
            <a:picLocks noChangeAspect="1"/>
          </p:cNvPicPr>
          <p:nvPr/>
        </p:nvPicPr>
        <p:blipFill>
          <a:blip r:embed="rId3"/>
          <a:stretch>
            <a:fillRect/>
          </a:stretch>
        </p:blipFill>
        <p:spPr>
          <a:xfrm>
            <a:off x="-1" y="79226"/>
            <a:ext cx="11879263" cy="37123"/>
          </a:xfrm>
          <a:prstGeom prst="rect">
            <a:avLst/>
          </a:prstGeom>
        </p:spPr>
      </p:pic>
      <p:pic>
        <p:nvPicPr>
          <p:cNvPr id="4" name="Image 2" descr="preencoded.png"/>
          <p:cNvPicPr>
            <a:picLocks noChangeAspect="1"/>
          </p:cNvPicPr>
          <p:nvPr/>
        </p:nvPicPr>
        <p:blipFill>
          <a:blip r:embed="rId4"/>
          <a:stretch>
            <a:fillRect/>
          </a:stretch>
        </p:blipFill>
        <p:spPr>
          <a:xfrm>
            <a:off x="593963" y="821680"/>
            <a:ext cx="742454" cy="37123"/>
          </a:xfrm>
          <a:prstGeom prst="rect">
            <a:avLst/>
          </a:prstGeom>
        </p:spPr>
      </p:pic>
      <p:pic>
        <p:nvPicPr>
          <p:cNvPr id="6" name="Image 4" descr="preencoded.png"/>
          <p:cNvPicPr>
            <a:picLocks noChangeAspect="1"/>
          </p:cNvPicPr>
          <p:nvPr/>
        </p:nvPicPr>
        <p:blipFill>
          <a:blip r:embed="rId5"/>
          <a:stretch>
            <a:fillRect/>
          </a:stretch>
        </p:blipFill>
        <p:spPr>
          <a:xfrm>
            <a:off x="742454" y="2046729"/>
            <a:ext cx="371227" cy="371227"/>
          </a:xfrm>
          <a:prstGeom prst="rect">
            <a:avLst/>
          </a:prstGeom>
        </p:spPr>
      </p:pic>
      <p:pic>
        <p:nvPicPr>
          <p:cNvPr id="9" name="Image 7" descr="preencoded.png"/>
          <p:cNvPicPr>
            <a:picLocks noChangeAspect="1"/>
          </p:cNvPicPr>
          <p:nvPr/>
        </p:nvPicPr>
        <p:blipFill>
          <a:blip r:embed="rId6"/>
          <a:stretch>
            <a:fillRect/>
          </a:stretch>
        </p:blipFill>
        <p:spPr>
          <a:xfrm>
            <a:off x="742454" y="2937674"/>
            <a:ext cx="371227" cy="371227"/>
          </a:xfrm>
          <a:prstGeom prst="rect">
            <a:avLst/>
          </a:prstGeom>
        </p:spPr>
      </p:pic>
      <p:pic>
        <p:nvPicPr>
          <p:cNvPr id="12" name="Image 10" descr="preencoded.png"/>
          <p:cNvPicPr>
            <a:picLocks noChangeAspect="1"/>
          </p:cNvPicPr>
          <p:nvPr/>
        </p:nvPicPr>
        <p:blipFill>
          <a:blip r:embed="rId7"/>
          <a:stretch>
            <a:fillRect/>
          </a:stretch>
        </p:blipFill>
        <p:spPr>
          <a:xfrm>
            <a:off x="742454" y="3828619"/>
            <a:ext cx="371227" cy="371227"/>
          </a:xfrm>
          <a:prstGeom prst="rect">
            <a:avLst/>
          </a:prstGeom>
        </p:spPr>
      </p:pic>
      <p:pic>
        <p:nvPicPr>
          <p:cNvPr id="15" name="Image 13" descr="preencoded.png"/>
          <p:cNvPicPr>
            <a:picLocks noChangeAspect="1"/>
          </p:cNvPicPr>
          <p:nvPr/>
        </p:nvPicPr>
        <p:blipFill>
          <a:blip r:embed="rId8"/>
          <a:stretch>
            <a:fillRect/>
          </a:stretch>
        </p:blipFill>
        <p:spPr>
          <a:xfrm>
            <a:off x="742454" y="4719563"/>
            <a:ext cx="371227" cy="371227"/>
          </a:xfrm>
          <a:prstGeom prst="rect">
            <a:avLst/>
          </a:prstGeom>
        </p:spPr>
      </p:pic>
      <p:sp>
        <p:nvSpPr>
          <p:cNvPr id="18" name="Text 0"/>
          <p:cNvSpPr/>
          <p:nvPr/>
        </p:nvSpPr>
        <p:spPr>
          <a:xfrm>
            <a:off x="593963" y="413331"/>
            <a:ext cx="10691336" cy="334104"/>
          </a:xfrm>
          <a:prstGeom prst="rect">
            <a:avLst/>
          </a:prstGeom>
          <a:noFill/>
          <a:ln/>
        </p:spPr>
        <p:txBody>
          <a:bodyPr vert="horz" wrap="square" lIns="0" tIns="0" rIns="0" bIns="0" rtlCol="0" anchor="t"/>
          <a:lstStyle/>
          <a:p>
            <a:pPr>
              <a:lnSpc>
                <a:spcPts val="2631"/>
              </a:lnSpc>
            </a:pPr>
            <a:r>
              <a:rPr lang="en-US" sz="2192" b="1" dirty="0">
                <a:solidFill>
                  <a:srgbClr val="1F2937"/>
                </a:solidFill>
                <a:latin typeface="ui-sans-serif" pitchFamily="34" charset="0"/>
                <a:ea typeface="ui-sans-serif" pitchFamily="34" charset="-122"/>
                <a:cs typeface="ui-sans-serif" pitchFamily="34" charset="-120"/>
              </a:rPr>
              <a:t>Question 2</a:t>
            </a:r>
            <a:endParaRPr lang="en-US" sz="2192" dirty="0"/>
          </a:p>
        </p:txBody>
      </p:sp>
      <p:sp>
        <p:nvSpPr>
          <p:cNvPr id="19" name="Text 1"/>
          <p:cNvSpPr/>
          <p:nvPr/>
        </p:nvSpPr>
        <p:spPr>
          <a:xfrm>
            <a:off x="593963" y="1304275"/>
            <a:ext cx="12829604" cy="296982"/>
          </a:xfrm>
          <a:prstGeom prst="rect">
            <a:avLst/>
          </a:prstGeom>
          <a:noFill/>
          <a:ln/>
        </p:spPr>
        <p:txBody>
          <a:bodyPr vert="horz" wrap="square" lIns="0" tIns="0" rIns="0" bIns="0" rtlCol="0" anchor="t"/>
          <a:lstStyle/>
          <a:p>
            <a:pPr>
              <a:lnSpc>
                <a:spcPts val="2338"/>
              </a:lnSpc>
            </a:pPr>
            <a:r>
              <a:rPr lang="en-US" sz="1754" b="1" dirty="0">
                <a:solidFill>
                  <a:srgbClr val="374151"/>
                </a:solidFill>
                <a:latin typeface="ui-sans-serif" pitchFamily="34" charset="0"/>
                <a:ea typeface="ui-sans-serif" pitchFamily="34" charset="-122"/>
                <a:cs typeface="ui-sans-serif" pitchFamily="34" charset="-120"/>
              </a:rPr>
              <a:t>Which of the following is NOT a core concept in CloudWatch?</a:t>
            </a:r>
            <a:endParaRPr lang="en-US" sz="1754" dirty="0"/>
          </a:p>
        </p:txBody>
      </p:sp>
      <p:sp>
        <p:nvSpPr>
          <p:cNvPr id="20" name="Text 2"/>
          <p:cNvSpPr/>
          <p:nvPr/>
        </p:nvSpPr>
        <p:spPr>
          <a:xfrm>
            <a:off x="870498" y="2046729"/>
            <a:ext cx="371227" cy="371227"/>
          </a:xfrm>
          <a:prstGeom prst="rect">
            <a:avLst/>
          </a:prstGeom>
          <a:noFill/>
          <a:ln/>
        </p:spPr>
        <p:txBody>
          <a:bodyPr vert="horz" wrap="square" lIns="0" tIns="0" rIns="0" bIns="0" rtlCol="0" anchor="t"/>
          <a:lstStyle/>
          <a:p>
            <a:pPr>
              <a:lnSpc>
                <a:spcPts val="1754"/>
              </a:lnSpc>
            </a:pPr>
            <a:r>
              <a:rPr lang="en-US" sz="1169" b="1" dirty="0">
                <a:solidFill>
                  <a:srgbClr val="374151"/>
                </a:solidFill>
                <a:latin typeface="ui-sans-serif" pitchFamily="34" charset="0"/>
                <a:ea typeface="ui-sans-serif" pitchFamily="34" charset="-122"/>
                <a:cs typeface="ui-sans-serif" pitchFamily="34" charset="-120"/>
              </a:rPr>
              <a:t>A</a:t>
            </a:r>
            <a:endParaRPr lang="en-US" sz="1169" dirty="0"/>
          </a:p>
        </p:txBody>
      </p:sp>
      <p:sp>
        <p:nvSpPr>
          <p:cNvPr id="21" name="Text 3"/>
          <p:cNvSpPr/>
          <p:nvPr/>
        </p:nvSpPr>
        <p:spPr>
          <a:xfrm>
            <a:off x="1586995" y="2102413"/>
            <a:ext cx="1426729" cy="259859"/>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Namespaces</a:t>
            </a:r>
            <a:endParaRPr lang="en-US" sz="1461" dirty="0"/>
          </a:p>
        </p:txBody>
      </p:sp>
      <p:sp>
        <p:nvSpPr>
          <p:cNvPr id="22" name="Text 4"/>
          <p:cNvSpPr/>
          <p:nvPr/>
        </p:nvSpPr>
        <p:spPr>
          <a:xfrm>
            <a:off x="871368" y="2937674"/>
            <a:ext cx="371227" cy="371227"/>
          </a:xfrm>
          <a:prstGeom prst="rect">
            <a:avLst/>
          </a:prstGeom>
          <a:noFill/>
          <a:ln/>
        </p:spPr>
        <p:txBody>
          <a:bodyPr vert="horz" wrap="square" lIns="0" tIns="0" rIns="0" bIns="0" rtlCol="0" anchor="t"/>
          <a:lstStyle/>
          <a:p>
            <a:pPr>
              <a:lnSpc>
                <a:spcPts val="1754"/>
              </a:lnSpc>
            </a:pPr>
            <a:r>
              <a:rPr lang="en-US" sz="1169" b="1" dirty="0">
                <a:solidFill>
                  <a:srgbClr val="374151"/>
                </a:solidFill>
                <a:latin typeface="ui-sans-serif" pitchFamily="34" charset="0"/>
                <a:ea typeface="ui-sans-serif" pitchFamily="34" charset="-122"/>
                <a:cs typeface="ui-sans-serif" pitchFamily="34" charset="-120"/>
              </a:rPr>
              <a:t>B</a:t>
            </a:r>
            <a:endParaRPr lang="en-US" sz="1169" dirty="0"/>
          </a:p>
        </p:txBody>
      </p:sp>
      <p:sp>
        <p:nvSpPr>
          <p:cNvPr id="23" name="Text 5"/>
          <p:cNvSpPr/>
          <p:nvPr/>
        </p:nvSpPr>
        <p:spPr>
          <a:xfrm>
            <a:off x="1559153" y="2993358"/>
            <a:ext cx="808637" cy="259859"/>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Metrics</a:t>
            </a:r>
            <a:endParaRPr lang="en-US" sz="1461" dirty="0"/>
          </a:p>
        </p:txBody>
      </p:sp>
      <p:sp>
        <p:nvSpPr>
          <p:cNvPr id="24" name="Text 6"/>
          <p:cNvSpPr/>
          <p:nvPr/>
        </p:nvSpPr>
        <p:spPr>
          <a:xfrm>
            <a:off x="873544" y="3828619"/>
            <a:ext cx="371227" cy="371227"/>
          </a:xfrm>
          <a:prstGeom prst="rect">
            <a:avLst/>
          </a:prstGeom>
          <a:noFill/>
          <a:ln/>
        </p:spPr>
        <p:txBody>
          <a:bodyPr vert="horz" wrap="square" lIns="0" tIns="0" rIns="0" bIns="0" rtlCol="0" anchor="t"/>
          <a:lstStyle/>
          <a:p>
            <a:pPr>
              <a:lnSpc>
                <a:spcPts val="1754"/>
              </a:lnSpc>
            </a:pPr>
            <a:r>
              <a:rPr lang="en-US" sz="1169" b="1" dirty="0">
                <a:solidFill>
                  <a:srgbClr val="374151"/>
                </a:solidFill>
                <a:latin typeface="ui-sans-serif" pitchFamily="34" charset="0"/>
                <a:ea typeface="ui-sans-serif" pitchFamily="34" charset="-122"/>
                <a:cs typeface="ui-sans-serif" pitchFamily="34" charset="-120"/>
              </a:rPr>
              <a:t>C</a:t>
            </a:r>
            <a:endParaRPr lang="en-US" sz="1169" dirty="0"/>
          </a:p>
        </p:txBody>
      </p:sp>
      <p:sp>
        <p:nvSpPr>
          <p:cNvPr id="25" name="Text 7"/>
          <p:cNvSpPr/>
          <p:nvPr/>
        </p:nvSpPr>
        <p:spPr>
          <a:xfrm>
            <a:off x="1559153" y="3884303"/>
            <a:ext cx="1204516" cy="259859"/>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Containers</a:t>
            </a:r>
            <a:endParaRPr lang="en-US" sz="1461" dirty="0"/>
          </a:p>
        </p:txBody>
      </p:sp>
      <p:sp>
        <p:nvSpPr>
          <p:cNvPr id="26" name="Text 8"/>
          <p:cNvSpPr/>
          <p:nvPr/>
        </p:nvSpPr>
        <p:spPr>
          <a:xfrm>
            <a:off x="866438" y="4719563"/>
            <a:ext cx="371227" cy="371227"/>
          </a:xfrm>
          <a:prstGeom prst="rect">
            <a:avLst/>
          </a:prstGeom>
          <a:noFill/>
          <a:ln/>
        </p:spPr>
        <p:txBody>
          <a:bodyPr vert="horz" wrap="square" lIns="0" tIns="0" rIns="0" bIns="0" rtlCol="0" anchor="t"/>
          <a:lstStyle/>
          <a:p>
            <a:pPr>
              <a:lnSpc>
                <a:spcPts val="1754"/>
              </a:lnSpc>
            </a:pPr>
            <a:r>
              <a:rPr lang="en-US" sz="1169" b="1" dirty="0">
                <a:solidFill>
                  <a:srgbClr val="374151"/>
                </a:solidFill>
                <a:latin typeface="ui-sans-serif" pitchFamily="34" charset="0"/>
                <a:ea typeface="ui-sans-serif" pitchFamily="34" charset="-122"/>
                <a:cs typeface="ui-sans-serif" pitchFamily="34" charset="-120"/>
              </a:rPr>
              <a:t>D</a:t>
            </a:r>
            <a:endParaRPr lang="en-US" sz="1169" dirty="0"/>
          </a:p>
        </p:txBody>
      </p:sp>
      <p:sp>
        <p:nvSpPr>
          <p:cNvPr id="27" name="Text 9"/>
          <p:cNvSpPr/>
          <p:nvPr/>
        </p:nvSpPr>
        <p:spPr>
          <a:xfrm>
            <a:off x="1586995" y="4775247"/>
            <a:ext cx="1300048" cy="259859"/>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Dimensions</a:t>
            </a:r>
            <a:endParaRPr lang="en-US" sz="146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79227"/>
            <a:ext cx="11879263" cy="6682085"/>
          </a:xfrm>
          <a:prstGeom prst="rect">
            <a:avLst/>
          </a:prstGeom>
        </p:spPr>
      </p:pic>
      <p:pic>
        <p:nvPicPr>
          <p:cNvPr id="3" name="Image 1" descr="preencoded.png"/>
          <p:cNvPicPr>
            <a:picLocks noChangeAspect="1"/>
          </p:cNvPicPr>
          <p:nvPr/>
        </p:nvPicPr>
        <p:blipFill>
          <a:blip r:embed="rId4"/>
          <a:stretch>
            <a:fillRect/>
          </a:stretch>
        </p:blipFill>
        <p:spPr>
          <a:xfrm>
            <a:off x="-1" y="79226"/>
            <a:ext cx="11879263" cy="37123"/>
          </a:xfrm>
          <a:prstGeom prst="rect">
            <a:avLst/>
          </a:prstGeom>
        </p:spPr>
      </p:pic>
      <p:pic>
        <p:nvPicPr>
          <p:cNvPr id="4" name="Image 2" descr="preencoded.png"/>
          <p:cNvPicPr>
            <a:picLocks noChangeAspect="1"/>
          </p:cNvPicPr>
          <p:nvPr/>
        </p:nvPicPr>
        <p:blipFill>
          <a:blip r:embed="rId5"/>
          <a:stretch>
            <a:fillRect/>
          </a:stretch>
        </p:blipFill>
        <p:spPr>
          <a:xfrm>
            <a:off x="593963" y="747435"/>
            <a:ext cx="742454" cy="37123"/>
          </a:xfrm>
          <a:prstGeom prst="rect">
            <a:avLst/>
          </a:prstGeom>
        </p:spPr>
      </p:pic>
      <p:pic>
        <p:nvPicPr>
          <p:cNvPr id="5" name="Image 3" descr="preencoded.png"/>
          <p:cNvPicPr>
            <a:picLocks noChangeAspect="1"/>
          </p:cNvPicPr>
          <p:nvPr/>
        </p:nvPicPr>
        <p:blipFill>
          <a:blip r:embed="rId6"/>
          <a:stretch>
            <a:fillRect/>
          </a:stretch>
        </p:blipFill>
        <p:spPr>
          <a:xfrm>
            <a:off x="593963" y="1081539"/>
            <a:ext cx="10691336" cy="593963"/>
          </a:xfrm>
          <a:prstGeom prst="rect">
            <a:avLst/>
          </a:prstGeom>
        </p:spPr>
      </p:pic>
      <p:pic>
        <p:nvPicPr>
          <p:cNvPr id="6" name="Image 4" descr="preencoded.png"/>
          <p:cNvPicPr>
            <a:picLocks noChangeAspect="1"/>
          </p:cNvPicPr>
          <p:nvPr/>
        </p:nvPicPr>
        <p:blipFill>
          <a:blip r:embed="rId7"/>
          <a:stretch>
            <a:fillRect/>
          </a:stretch>
        </p:blipFill>
        <p:spPr>
          <a:xfrm>
            <a:off x="742454" y="1230030"/>
            <a:ext cx="222736" cy="296982"/>
          </a:xfrm>
          <a:prstGeom prst="rect">
            <a:avLst/>
          </a:prstGeom>
        </p:spPr>
      </p:pic>
      <p:pic>
        <p:nvPicPr>
          <p:cNvPr id="7" name="Image 5" descr="preencoded.png"/>
          <p:cNvPicPr>
            <a:picLocks noChangeAspect="1"/>
          </p:cNvPicPr>
          <p:nvPr/>
        </p:nvPicPr>
        <p:blipFill>
          <a:blip r:embed="rId8"/>
          <a:stretch>
            <a:fillRect/>
          </a:stretch>
        </p:blipFill>
        <p:spPr>
          <a:xfrm>
            <a:off x="593964" y="3123288"/>
            <a:ext cx="213455" cy="185613"/>
          </a:xfrm>
          <a:prstGeom prst="rect">
            <a:avLst/>
          </a:prstGeom>
        </p:spPr>
      </p:pic>
      <p:pic>
        <p:nvPicPr>
          <p:cNvPr id="8" name="Image 6" descr="preencoded.png"/>
          <p:cNvPicPr>
            <a:picLocks noChangeAspect="1"/>
          </p:cNvPicPr>
          <p:nvPr/>
        </p:nvPicPr>
        <p:blipFill>
          <a:blip r:embed="rId9"/>
          <a:stretch>
            <a:fillRect/>
          </a:stretch>
        </p:blipFill>
        <p:spPr>
          <a:xfrm>
            <a:off x="593963" y="3457392"/>
            <a:ext cx="5197177" cy="408350"/>
          </a:xfrm>
          <a:prstGeom prst="rect">
            <a:avLst/>
          </a:prstGeom>
        </p:spPr>
      </p:pic>
      <p:pic>
        <p:nvPicPr>
          <p:cNvPr id="9" name="Image 7" descr="preencoded.png"/>
          <p:cNvPicPr>
            <a:picLocks noChangeAspect="1"/>
          </p:cNvPicPr>
          <p:nvPr/>
        </p:nvPicPr>
        <p:blipFill>
          <a:blip r:embed="rId10"/>
          <a:stretch>
            <a:fillRect/>
          </a:stretch>
        </p:blipFill>
        <p:spPr>
          <a:xfrm>
            <a:off x="668208" y="3587321"/>
            <a:ext cx="148491" cy="148491"/>
          </a:xfrm>
          <a:prstGeom prst="rect">
            <a:avLst/>
          </a:prstGeom>
        </p:spPr>
      </p:pic>
      <p:pic>
        <p:nvPicPr>
          <p:cNvPr id="10" name="Image 8" descr="preencoded.png"/>
          <p:cNvPicPr>
            <a:picLocks noChangeAspect="1"/>
          </p:cNvPicPr>
          <p:nvPr/>
        </p:nvPicPr>
        <p:blipFill>
          <a:blip r:embed="rId9"/>
          <a:stretch>
            <a:fillRect/>
          </a:stretch>
        </p:blipFill>
        <p:spPr>
          <a:xfrm>
            <a:off x="593963" y="3939987"/>
            <a:ext cx="5197177" cy="408350"/>
          </a:xfrm>
          <a:prstGeom prst="rect">
            <a:avLst/>
          </a:prstGeom>
        </p:spPr>
      </p:pic>
      <p:pic>
        <p:nvPicPr>
          <p:cNvPr id="11" name="Image 9" descr="preencoded.png"/>
          <p:cNvPicPr>
            <a:picLocks noChangeAspect="1"/>
          </p:cNvPicPr>
          <p:nvPr/>
        </p:nvPicPr>
        <p:blipFill>
          <a:blip r:embed="rId11"/>
          <a:stretch>
            <a:fillRect/>
          </a:stretch>
        </p:blipFill>
        <p:spPr>
          <a:xfrm>
            <a:off x="668208" y="4069916"/>
            <a:ext cx="148491" cy="148491"/>
          </a:xfrm>
          <a:prstGeom prst="rect">
            <a:avLst/>
          </a:prstGeom>
        </p:spPr>
      </p:pic>
      <p:pic>
        <p:nvPicPr>
          <p:cNvPr id="12" name="Image 10" descr="preencoded.png"/>
          <p:cNvPicPr>
            <a:picLocks noChangeAspect="1"/>
          </p:cNvPicPr>
          <p:nvPr/>
        </p:nvPicPr>
        <p:blipFill>
          <a:blip r:embed="rId12"/>
          <a:stretch>
            <a:fillRect/>
          </a:stretch>
        </p:blipFill>
        <p:spPr>
          <a:xfrm>
            <a:off x="593963" y="4422582"/>
            <a:ext cx="5197177" cy="408350"/>
          </a:xfrm>
          <a:prstGeom prst="rect">
            <a:avLst/>
          </a:prstGeom>
        </p:spPr>
      </p:pic>
      <p:pic>
        <p:nvPicPr>
          <p:cNvPr id="13" name="Image 11" descr="preencoded.png"/>
          <p:cNvPicPr>
            <a:picLocks noChangeAspect="1"/>
          </p:cNvPicPr>
          <p:nvPr/>
        </p:nvPicPr>
        <p:blipFill>
          <a:blip r:embed="rId13"/>
          <a:stretch>
            <a:fillRect/>
          </a:stretch>
        </p:blipFill>
        <p:spPr>
          <a:xfrm>
            <a:off x="668208" y="4552511"/>
            <a:ext cx="148491" cy="148491"/>
          </a:xfrm>
          <a:prstGeom prst="rect">
            <a:avLst/>
          </a:prstGeom>
        </p:spPr>
      </p:pic>
      <p:pic>
        <p:nvPicPr>
          <p:cNvPr id="14" name="Image 12" descr="preencoded.png"/>
          <p:cNvPicPr>
            <a:picLocks noChangeAspect="1"/>
          </p:cNvPicPr>
          <p:nvPr/>
        </p:nvPicPr>
        <p:blipFill>
          <a:blip r:embed="rId9"/>
          <a:stretch>
            <a:fillRect/>
          </a:stretch>
        </p:blipFill>
        <p:spPr>
          <a:xfrm>
            <a:off x="593963" y="4905177"/>
            <a:ext cx="5197177" cy="408350"/>
          </a:xfrm>
          <a:prstGeom prst="rect">
            <a:avLst/>
          </a:prstGeom>
        </p:spPr>
      </p:pic>
      <p:pic>
        <p:nvPicPr>
          <p:cNvPr id="15" name="Image 13" descr="preencoded.png"/>
          <p:cNvPicPr>
            <a:picLocks noChangeAspect="1"/>
          </p:cNvPicPr>
          <p:nvPr/>
        </p:nvPicPr>
        <p:blipFill>
          <a:blip r:embed="rId14"/>
          <a:stretch>
            <a:fillRect/>
          </a:stretch>
        </p:blipFill>
        <p:spPr>
          <a:xfrm>
            <a:off x="668208" y="5035106"/>
            <a:ext cx="167052" cy="148491"/>
          </a:xfrm>
          <a:prstGeom prst="rect">
            <a:avLst/>
          </a:prstGeom>
        </p:spPr>
      </p:pic>
      <p:pic>
        <p:nvPicPr>
          <p:cNvPr id="16" name="Image 14" descr="preencoded.png"/>
          <p:cNvPicPr>
            <a:picLocks noChangeAspect="1"/>
          </p:cNvPicPr>
          <p:nvPr/>
        </p:nvPicPr>
        <p:blipFill>
          <a:blip r:embed="rId15"/>
          <a:stretch>
            <a:fillRect/>
          </a:stretch>
        </p:blipFill>
        <p:spPr>
          <a:xfrm>
            <a:off x="6088122" y="3123288"/>
            <a:ext cx="185613" cy="185613"/>
          </a:xfrm>
          <a:prstGeom prst="rect">
            <a:avLst/>
          </a:prstGeom>
        </p:spPr>
      </p:pic>
      <p:pic>
        <p:nvPicPr>
          <p:cNvPr id="17" name="Image 15" descr="preencoded.png"/>
          <p:cNvPicPr>
            <a:picLocks noChangeAspect="1"/>
          </p:cNvPicPr>
          <p:nvPr/>
        </p:nvPicPr>
        <p:blipFill>
          <a:blip r:embed="rId16"/>
          <a:stretch>
            <a:fillRect/>
          </a:stretch>
        </p:blipFill>
        <p:spPr>
          <a:xfrm>
            <a:off x="6088122" y="3457392"/>
            <a:ext cx="5197177" cy="408350"/>
          </a:xfrm>
          <a:prstGeom prst="rect">
            <a:avLst/>
          </a:prstGeom>
        </p:spPr>
      </p:pic>
      <p:pic>
        <p:nvPicPr>
          <p:cNvPr id="18" name="Image 16" descr="preencoded.png"/>
          <p:cNvPicPr>
            <a:picLocks noChangeAspect="1"/>
          </p:cNvPicPr>
          <p:nvPr/>
        </p:nvPicPr>
        <p:blipFill>
          <a:blip r:embed="rId17"/>
          <a:stretch>
            <a:fillRect/>
          </a:stretch>
        </p:blipFill>
        <p:spPr>
          <a:xfrm>
            <a:off x="6162367" y="3587321"/>
            <a:ext cx="148491" cy="148491"/>
          </a:xfrm>
          <a:prstGeom prst="rect">
            <a:avLst/>
          </a:prstGeom>
        </p:spPr>
      </p:pic>
      <p:pic>
        <p:nvPicPr>
          <p:cNvPr id="19" name="Image 17" descr="preencoded.png"/>
          <p:cNvPicPr>
            <a:picLocks noChangeAspect="1"/>
          </p:cNvPicPr>
          <p:nvPr/>
        </p:nvPicPr>
        <p:blipFill>
          <a:blip r:embed="rId16"/>
          <a:stretch>
            <a:fillRect/>
          </a:stretch>
        </p:blipFill>
        <p:spPr>
          <a:xfrm>
            <a:off x="6088122" y="3939987"/>
            <a:ext cx="5197177" cy="408350"/>
          </a:xfrm>
          <a:prstGeom prst="rect">
            <a:avLst/>
          </a:prstGeom>
        </p:spPr>
      </p:pic>
      <p:pic>
        <p:nvPicPr>
          <p:cNvPr id="20" name="Image 18" descr="preencoded.png"/>
          <p:cNvPicPr>
            <a:picLocks noChangeAspect="1"/>
          </p:cNvPicPr>
          <p:nvPr/>
        </p:nvPicPr>
        <p:blipFill>
          <a:blip r:embed="rId18"/>
          <a:stretch>
            <a:fillRect/>
          </a:stretch>
        </p:blipFill>
        <p:spPr>
          <a:xfrm>
            <a:off x="6162367" y="4069916"/>
            <a:ext cx="129929" cy="148491"/>
          </a:xfrm>
          <a:prstGeom prst="rect">
            <a:avLst/>
          </a:prstGeom>
        </p:spPr>
      </p:pic>
      <p:pic>
        <p:nvPicPr>
          <p:cNvPr id="21" name="Image 19" descr="preencoded.png"/>
          <p:cNvPicPr>
            <a:picLocks noChangeAspect="1"/>
          </p:cNvPicPr>
          <p:nvPr/>
        </p:nvPicPr>
        <p:blipFill>
          <a:blip r:embed="rId19"/>
          <a:stretch>
            <a:fillRect/>
          </a:stretch>
        </p:blipFill>
        <p:spPr>
          <a:xfrm>
            <a:off x="6088122" y="4422582"/>
            <a:ext cx="5197177" cy="408350"/>
          </a:xfrm>
          <a:prstGeom prst="rect">
            <a:avLst/>
          </a:prstGeom>
        </p:spPr>
      </p:pic>
      <p:pic>
        <p:nvPicPr>
          <p:cNvPr id="22" name="Image 20" descr="preencoded.png"/>
          <p:cNvPicPr>
            <a:picLocks noChangeAspect="1"/>
          </p:cNvPicPr>
          <p:nvPr/>
        </p:nvPicPr>
        <p:blipFill>
          <a:blip r:embed="rId20"/>
          <a:stretch>
            <a:fillRect/>
          </a:stretch>
        </p:blipFill>
        <p:spPr>
          <a:xfrm>
            <a:off x="6162367" y="4552511"/>
            <a:ext cx="185613" cy="148491"/>
          </a:xfrm>
          <a:prstGeom prst="rect">
            <a:avLst/>
          </a:prstGeom>
        </p:spPr>
      </p:pic>
      <p:pic>
        <p:nvPicPr>
          <p:cNvPr id="23" name="Image 21" descr="preencoded.png"/>
          <p:cNvPicPr>
            <a:picLocks noChangeAspect="1"/>
          </p:cNvPicPr>
          <p:nvPr/>
        </p:nvPicPr>
        <p:blipFill>
          <a:blip r:embed="rId16"/>
          <a:stretch>
            <a:fillRect/>
          </a:stretch>
        </p:blipFill>
        <p:spPr>
          <a:xfrm>
            <a:off x="6088122" y="4905177"/>
            <a:ext cx="5197177" cy="408350"/>
          </a:xfrm>
          <a:prstGeom prst="rect">
            <a:avLst/>
          </a:prstGeom>
        </p:spPr>
      </p:pic>
      <p:pic>
        <p:nvPicPr>
          <p:cNvPr id="24" name="Image 22" descr="preencoded.png"/>
          <p:cNvPicPr>
            <a:picLocks noChangeAspect="1"/>
          </p:cNvPicPr>
          <p:nvPr/>
        </p:nvPicPr>
        <p:blipFill>
          <a:blip r:embed="rId21"/>
          <a:stretch>
            <a:fillRect/>
          </a:stretch>
        </p:blipFill>
        <p:spPr>
          <a:xfrm>
            <a:off x="6162367" y="5035106"/>
            <a:ext cx="129929" cy="148491"/>
          </a:xfrm>
          <a:prstGeom prst="rect">
            <a:avLst/>
          </a:prstGeom>
        </p:spPr>
      </p:pic>
      <p:sp>
        <p:nvSpPr>
          <p:cNvPr id="26" name="Text 0"/>
          <p:cNvSpPr/>
          <p:nvPr/>
        </p:nvSpPr>
        <p:spPr>
          <a:xfrm>
            <a:off x="593963" y="339085"/>
            <a:ext cx="10691336" cy="334104"/>
          </a:xfrm>
          <a:prstGeom prst="rect">
            <a:avLst/>
          </a:prstGeom>
          <a:noFill/>
          <a:ln/>
        </p:spPr>
        <p:txBody>
          <a:bodyPr vert="horz" wrap="square" lIns="0" tIns="0" rIns="0" bIns="0" rtlCol="0" anchor="t"/>
          <a:lstStyle/>
          <a:p>
            <a:pPr>
              <a:lnSpc>
                <a:spcPts val="2631"/>
              </a:lnSpc>
            </a:pPr>
            <a:r>
              <a:rPr lang="en-US" sz="2192" b="1" dirty="0">
                <a:solidFill>
                  <a:srgbClr val="1F2937"/>
                </a:solidFill>
                <a:latin typeface="ui-sans-serif" pitchFamily="34" charset="0"/>
                <a:ea typeface="ui-sans-serif" pitchFamily="34" charset="-122"/>
                <a:cs typeface="ui-sans-serif" pitchFamily="34" charset="-120"/>
              </a:rPr>
              <a:t>Answer 2</a:t>
            </a:r>
            <a:endParaRPr lang="en-US" sz="2192" dirty="0"/>
          </a:p>
        </p:txBody>
      </p:sp>
      <p:sp>
        <p:nvSpPr>
          <p:cNvPr id="27" name="Text 1"/>
          <p:cNvSpPr/>
          <p:nvPr/>
        </p:nvSpPr>
        <p:spPr>
          <a:xfrm>
            <a:off x="1076558" y="1230030"/>
            <a:ext cx="4563829" cy="296982"/>
          </a:xfrm>
          <a:prstGeom prst="rect">
            <a:avLst/>
          </a:prstGeom>
          <a:noFill/>
          <a:ln/>
        </p:spPr>
        <p:txBody>
          <a:bodyPr vert="horz" wrap="square" lIns="0" tIns="0" rIns="0" bIns="0" rtlCol="0" anchor="t"/>
          <a:lstStyle/>
          <a:p>
            <a:pPr>
              <a:lnSpc>
                <a:spcPts val="2338"/>
              </a:lnSpc>
            </a:pPr>
            <a:r>
              <a:rPr lang="en-US" sz="1754" b="1" dirty="0">
                <a:solidFill>
                  <a:srgbClr val="374151"/>
                </a:solidFill>
                <a:latin typeface="ui-sans-serif" pitchFamily="34" charset="0"/>
                <a:ea typeface="ui-sans-serif" pitchFamily="34" charset="-122"/>
                <a:cs typeface="ui-sans-serif" pitchFamily="34" charset="-120"/>
              </a:rPr>
              <a:t>Correct Answer: C) Containers</a:t>
            </a:r>
            <a:endParaRPr lang="en-US" sz="1754" dirty="0"/>
          </a:p>
        </p:txBody>
      </p:sp>
      <p:sp>
        <p:nvSpPr>
          <p:cNvPr id="28" name="Text 2"/>
          <p:cNvSpPr/>
          <p:nvPr/>
        </p:nvSpPr>
        <p:spPr>
          <a:xfrm>
            <a:off x="593963" y="1898238"/>
            <a:ext cx="10691336"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Explanation:</a:t>
            </a:r>
            <a:endParaRPr lang="en-US" sz="1461" dirty="0"/>
          </a:p>
        </p:txBody>
      </p:sp>
      <p:sp>
        <p:nvSpPr>
          <p:cNvPr id="29" name="Text 3"/>
          <p:cNvSpPr/>
          <p:nvPr/>
        </p:nvSpPr>
        <p:spPr>
          <a:xfrm>
            <a:off x="593963" y="2269465"/>
            <a:ext cx="10691336" cy="519718"/>
          </a:xfrm>
          <a:prstGeom prst="rect">
            <a:avLst/>
          </a:prstGeom>
          <a:noFill/>
          <a:ln/>
        </p:spPr>
        <p:txBody>
          <a:bodyPr vert="horz" wrap="square" lIns="0" tIns="0" rIns="0" bIns="0" rtlCol="0" anchor="t"/>
          <a:lstStyle/>
          <a:p>
            <a:pPr>
              <a:lnSpc>
                <a:spcPts val="2046"/>
              </a:lnSpc>
            </a:pPr>
            <a:r>
              <a:rPr lang="en-US" sz="1315" dirty="0">
                <a:solidFill>
                  <a:srgbClr val="4B5563"/>
                </a:solidFill>
                <a:latin typeface="ui-sans-serif" pitchFamily="34" charset="0"/>
                <a:ea typeface="ui-sans-serif" pitchFamily="34" charset="-122"/>
                <a:cs typeface="ui-sans-serif" pitchFamily="34" charset="-120"/>
              </a:rPr>
              <a:t>The core CloudWatch concepts include namespaces, metrics, dimensions, resolution, statistics, percentiles, and alarms. Containers are a resource type that CloudWatch can monitor, not a core concept of the monitoring service itself.</a:t>
            </a:r>
            <a:endParaRPr lang="en-US" sz="1315" dirty="0"/>
          </a:p>
        </p:txBody>
      </p:sp>
      <p:sp>
        <p:nvSpPr>
          <p:cNvPr id="30" name="Text 4"/>
          <p:cNvSpPr/>
          <p:nvPr/>
        </p:nvSpPr>
        <p:spPr>
          <a:xfrm>
            <a:off x="881664" y="3086165"/>
            <a:ext cx="6236613"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Core CloudWatch Concepts</a:t>
            </a:r>
            <a:endParaRPr lang="en-US" sz="1461" dirty="0"/>
          </a:p>
        </p:txBody>
      </p:sp>
      <p:sp>
        <p:nvSpPr>
          <p:cNvPr id="31" name="Text 5"/>
          <p:cNvSpPr/>
          <p:nvPr/>
        </p:nvSpPr>
        <p:spPr>
          <a:xfrm>
            <a:off x="928068" y="3531637"/>
            <a:ext cx="1284039" cy="259859"/>
          </a:xfrm>
          <a:prstGeom prst="rect">
            <a:avLst/>
          </a:prstGeom>
          <a:noFill/>
          <a:ln/>
        </p:spPr>
        <p:txBody>
          <a:bodyPr vert="horz" wrap="square" lIns="0" tIns="0" rIns="0" bIns="0" rtlCol="0" anchor="t"/>
          <a:lstStyle/>
          <a:p>
            <a:pPr>
              <a:lnSpc>
                <a:spcPts val="2046"/>
              </a:lnSpc>
            </a:pPr>
            <a:r>
              <a:rPr lang="en-US" sz="1315" dirty="0">
                <a:solidFill>
                  <a:srgbClr val="374151"/>
                </a:solidFill>
                <a:latin typeface="ui-sans-serif" pitchFamily="34" charset="0"/>
                <a:ea typeface="ui-sans-serif" pitchFamily="34" charset="-122"/>
                <a:cs typeface="ui-sans-serif" pitchFamily="34" charset="-120"/>
              </a:rPr>
              <a:t>Namespaces</a:t>
            </a:r>
            <a:endParaRPr lang="en-US" sz="1315" dirty="0"/>
          </a:p>
        </p:txBody>
      </p:sp>
      <p:sp>
        <p:nvSpPr>
          <p:cNvPr id="32" name="Text 6"/>
          <p:cNvSpPr/>
          <p:nvPr/>
        </p:nvSpPr>
        <p:spPr>
          <a:xfrm>
            <a:off x="928068" y="4014232"/>
            <a:ext cx="727721" cy="259859"/>
          </a:xfrm>
          <a:prstGeom prst="rect">
            <a:avLst/>
          </a:prstGeom>
          <a:noFill/>
          <a:ln/>
        </p:spPr>
        <p:txBody>
          <a:bodyPr vert="horz" wrap="square" lIns="0" tIns="0" rIns="0" bIns="0" rtlCol="0" anchor="t"/>
          <a:lstStyle/>
          <a:p>
            <a:pPr>
              <a:lnSpc>
                <a:spcPts val="2046"/>
              </a:lnSpc>
            </a:pPr>
            <a:r>
              <a:rPr lang="en-US" sz="1315" dirty="0">
                <a:solidFill>
                  <a:srgbClr val="374151"/>
                </a:solidFill>
                <a:latin typeface="ui-sans-serif" pitchFamily="34" charset="0"/>
                <a:ea typeface="ui-sans-serif" pitchFamily="34" charset="-122"/>
                <a:cs typeface="ui-sans-serif" pitchFamily="34" charset="-120"/>
              </a:rPr>
              <a:t>Metrics</a:t>
            </a:r>
            <a:endParaRPr lang="en-US" sz="1315" dirty="0"/>
          </a:p>
        </p:txBody>
      </p:sp>
      <p:sp>
        <p:nvSpPr>
          <p:cNvPr id="33" name="Text 7"/>
          <p:cNvSpPr/>
          <p:nvPr/>
        </p:nvSpPr>
        <p:spPr>
          <a:xfrm>
            <a:off x="928067" y="4496827"/>
            <a:ext cx="1170061" cy="259859"/>
          </a:xfrm>
          <a:prstGeom prst="rect">
            <a:avLst/>
          </a:prstGeom>
          <a:noFill/>
          <a:ln/>
        </p:spPr>
        <p:txBody>
          <a:bodyPr vert="horz" wrap="square" lIns="0" tIns="0" rIns="0" bIns="0" rtlCol="0" anchor="t"/>
          <a:lstStyle/>
          <a:p>
            <a:pPr>
              <a:lnSpc>
                <a:spcPts val="2046"/>
              </a:lnSpc>
            </a:pPr>
            <a:r>
              <a:rPr lang="en-US" sz="1315" dirty="0">
                <a:solidFill>
                  <a:srgbClr val="374151"/>
                </a:solidFill>
                <a:latin typeface="ui-sans-serif" pitchFamily="34" charset="0"/>
                <a:ea typeface="ui-sans-serif" pitchFamily="34" charset="-122"/>
                <a:cs typeface="ui-sans-serif" pitchFamily="34" charset="-120"/>
              </a:rPr>
              <a:t>Dimensions</a:t>
            </a:r>
            <a:endParaRPr lang="en-US" sz="1315" dirty="0"/>
          </a:p>
        </p:txBody>
      </p:sp>
      <p:sp>
        <p:nvSpPr>
          <p:cNvPr id="34" name="Text 8"/>
          <p:cNvSpPr/>
          <p:nvPr/>
        </p:nvSpPr>
        <p:spPr>
          <a:xfrm>
            <a:off x="946628" y="4979422"/>
            <a:ext cx="1047556" cy="259859"/>
          </a:xfrm>
          <a:prstGeom prst="rect">
            <a:avLst/>
          </a:prstGeom>
          <a:noFill/>
          <a:ln/>
        </p:spPr>
        <p:txBody>
          <a:bodyPr vert="horz" wrap="square" lIns="0" tIns="0" rIns="0" bIns="0" rtlCol="0" anchor="t"/>
          <a:lstStyle/>
          <a:p>
            <a:pPr>
              <a:lnSpc>
                <a:spcPts val="2046"/>
              </a:lnSpc>
            </a:pPr>
            <a:r>
              <a:rPr lang="en-US" sz="1315" dirty="0">
                <a:solidFill>
                  <a:srgbClr val="374151"/>
                </a:solidFill>
                <a:latin typeface="ui-sans-serif" pitchFamily="34" charset="0"/>
                <a:ea typeface="ui-sans-serif" pitchFamily="34" charset="-122"/>
                <a:cs typeface="ui-sans-serif" pitchFamily="34" charset="-120"/>
              </a:rPr>
              <a:t>Resolution</a:t>
            </a:r>
            <a:endParaRPr lang="en-US" sz="1315" dirty="0"/>
          </a:p>
        </p:txBody>
      </p:sp>
      <p:sp>
        <p:nvSpPr>
          <p:cNvPr id="35" name="Text 9"/>
          <p:cNvSpPr/>
          <p:nvPr/>
        </p:nvSpPr>
        <p:spPr>
          <a:xfrm>
            <a:off x="6347981" y="3086165"/>
            <a:ext cx="6236613" cy="259859"/>
          </a:xfrm>
          <a:prstGeom prst="rect">
            <a:avLst/>
          </a:prstGeom>
          <a:noFill/>
          <a:ln/>
        </p:spPr>
        <p:txBody>
          <a:bodyPr vert="horz" wrap="square" lIns="0" tIns="0" rIns="0" bIns="0" rtlCol="0" anchor="t"/>
          <a:lstStyle/>
          <a:p>
            <a:pPr>
              <a:lnSpc>
                <a:spcPts val="2046"/>
              </a:lnSpc>
            </a:pPr>
            <a:r>
              <a:rPr lang="en-US" sz="1461" b="1" dirty="0">
                <a:solidFill>
                  <a:srgbClr val="374151"/>
                </a:solidFill>
                <a:latin typeface="ui-sans-serif" pitchFamily="34" charset="0"/>
                <a:ea typeface="ui-sans-serif" pitchFamily="34" charset="-122"/>
                <a:cs typeface="ui-sans-serif" pitchFamily="34" charset="-120"/>
              </a:rPr>
              <a:t>Resource Types CloudWatch Can Monitor</a:t>
            </a:r>
            <a:endParaRPr lang="en-US" sz="1461" dirty="0"/>
          </a:p>
        </p:txBody>
      </p:sp>
      <p:sp>
        <p:nvSpPr>
          <p:cNvPr id="36" name="Text 10"/>
          <p:cNvSpPr/>
          <p:nvPr/>
        </p:nvSpPr>
        <p:spPr>
          <a:xfrm>
            <a:off x="6422226" y="3531637"/>
            <a:ext cx="1411590" cy="259859"/>
          </a:xfrm>
          <a:prstGeom prst="rect">
            <a:avLst/>
          </a:prstGeom>
          <a:noFill/>
          <a:ln/>
        </p:spPr>
        <p:txBody>
          <a:bodyPr vert="horz" wrap="square" lIns="0" tIns="0" rIns="0" bIns="0" rtlCol="0" anchor="t"/>
          <a:lstStyle/>
          <a:p>
            <a:pPr>
              <a:lnSpc>
                <a:spcPts val="2046"/>
              </a:lnSpc>
            </a:pPr>
            <a:r>
              <a:rPr lang="en-US" sz="1315" dirty="0">
                <a:solidFill>
                  <a:srgbClr val="374151"/>
                </a:solidFill>
                <a:latin typeface="ui-sans-serif" pitchFamily="34" charset="0"/>
                <a:ea typeface="ui-sans-serif" pitchFamily="34" charset="-122"/>
                <a:cs typeface="ui-sans-serif" pitchFamily="34" charset="-120"/>
              </a:rPr>
              <a:t>EC2 instances</a:t>
            </a:r>
            <a:endParaRPr lang="en-US" sz="1315" dirty="0"/>
          </a:p>
        </p:txBody>
      </p:sp>
      <p:sp>
        <p:nvSpPr>
          <p:cNvPr id="37" name="Text 11"/>
          <p:cNvSpPr/>
          <p:nvPr/>
        </p:nvSpPr>
        <p:spPr>
          <a:xfrm>
            <a:off x="6403665" y="4014232"/>
            <a:ext cx="1438388" cy="259859"/>
          </a:xfrm>
          <a:prstGeom prst="rect">
            <a:avLst/>
          </a:prstGeom>
          <a:noFill/>
          <a:ln/>
        </p:spPr>
        <p:txBody>
          <a:bodyPr vert="horz" wrap="square" lIns="0" tIns="0" rIns="0" bIns="0" rtlCol="0" anchor="t"/>
          <a:lstStyle/>
          <a:p>
            <a:pPr>
              <a:lnSpc>
                <a:spcPts val="2046"/>
              </a:lnSpc>
            </a:pPr>
            <a:r>
              <a:rPr lang="en-US" sz="1315" dirty="0">
                <a:solidFill>
                  <a:srgbClr val="374151"/>
                </a:solidFill>
                <a:latin typeface="ui-sans-serif" pitchFamily="34" charset="0"/>
                <a:ea typeface="ui-sans-serif" pitchFamily="34" charset="-122"/>
                <a:cs typeface="ui-sans-serif" pitchFamily="34" charset="-120"/>
              </a:rPr>
              <a:t>RDS instances</a:t>
            </a:r>
            <a:endParaRPr lang="en-US" sz="1315" dirty="0"/>
          </a:p>
        </p:txBody>
      </p:sp>
      <p:sp>
        <p:nvSpPr>
          <p:cNvPr id="38" name="Text 12"/>
          <p:cNvSpPr/>
          <p:nvPr/>
        </p:nvSpPr>
        <p:spPr>
          <a:xfrm>
            <a:off x="6459349" y="4496827"/>
            <a:ext cx="1084099" cy="259859"/>
          </a:xfrm>
          <a:prstGeom prst="rect">
            <a:avLst/>
          </a:prstGeom>
          <a:noFill/>
          <a:ln/>
        </p:spPr>
        <p:txBody>
          <a:bodyPr vert="horz" wrap="square" lIns="0" tIns="0" rIns="0" bIns="0" rtlCol="0" anchor="t"/>
          <a:lstStyle/>
          <a:p>
            <a:pPr>
              <a:lnSpc>
                <a:spcPts val="2046"/>
              </a:lnSpc>
            </a:pPr>
            <a:r>
              <a:rPr lang="en-US" sz="1315" dirty="0">
                <a:solidFill>
                  <a:srgbClr val="374151"/>
                </a:solidFill>
                <a:latin typeface="ui-sans-serif" pitchFamily="34" charset="0"/>
                <a:ea typeface="ui-sans-serif" pitchFamily="34" charset="-122"/>
                <a:cs typeface="ui-sans-serif" pitchFamily="34" charset="-120"/>
              </a:rPr>
              <a:t>Containers</a:t>
            </a:r>
            <a:endParaRPr lang="en-US" sz="1315" dirty="0"/>
          </a:p>
        </p:txBody>
      </p:sp>
      <p:sp>
        <p:nvSpPr>
          <p:cNvPr id="39" name="Text 13"/>
          <p:cNvSpPr/>
          <p:nvPr/>
        </p:nvSpPr>
        <p:spPr>
          <a:xfrm>
            <a:off x="6403665" y="4979422"/>
            <a:ext cx="1794244" cy="259859"/>
          </a:xfrm>
          <a:prstGeom prst="rect">
            <a:avLst/>
          </a:prstGeom>
          <a:noFill/>
          <a:ln/>
        </p:spPr>
        <p:txBody>
          <a:bodyPr vert="horz" wrap="square" lIns="0" tIns="0" rIns="0" bIns="0" rtlCol="0" anchor="t"/>
          <a:lstStyle/>
          <a:p>
            <a:pPr>
              <a:lnSpc>
                <a:spcPts val="2046"/>
              </a:lnSpc>
            </a:pPr>
            <a:r>
              <a:rPr lang="en-US" sz="1315" dirty="0">
                <a:solidFill>
                  <a:srgbClr val="374151"/>
                </a:solidFill>
                <a:latin typeface="ui-sans-serif" pitchFamily="34" charset="0"/>
                <a:ea typeface="ui-sans-serif" pitchFamily="34" charset="-122"/>
                <a:cs typeface="ui-sans-serif" pitchFamily="34" charset="-120"/>
              </a:rPr>
              <a:t>Lambda functions</a:t>
            </a:r>
            <a:endParaRPr lang="en-US" sz="131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79227"/>
            <a:ext cx="11879263" cy="6682085"/>
          </a:xfrm>
          <a:prstGeom prst="rect">
            <a:avLst/>
          </a:prstGeom>
        </p:spPr>
      </p:pic>
      <p:pic>
        <p:nvPicPr>
          <p:cNvPr id="3" name="Image 1" descr="preencoded.png"/>
          <p:cNvPicPr>
            <a:picLocks noChangeAspect="1"/>
          </p:cNvPicPr>
          <p:nvPr/>
        </p:nvPicPr>
        <p:blipFill>
          <a:blip r:embed="rId4"/>
          <a:stretch>
            <a:fillRect/>
          </a:stretch>
        </p:blipFill>
        <p:spPr>
          <a:xfrm>
            <a:off x="-1" y="79226"/>
            <a:ext cx="11879263" cy="37123"/>
          </a:xfrm>
          <a:prstGeom prst="rect">
            <a:avLst/>
          </a:prstGeom>
        </p:spPr>
      </p:pic>
      <p:pic>
        <p:nvPicPr>
          <p:cNvPr id="4" name="Image 2" descr="preencoded.png"/>
          <p:cNvPicPr>
            <a:picLocks noChangeAspect="1"/>
          </p:cNvPicPr>
          <p:nvPr/>
        </p:nvPicPr>
        <p:blipFill>
          <a:blip r:embed="rId5"/>
          <a:stretch>
            <a:fillRect/>
          </a:stretch>
        </p:blipFill>
        <p:spPr>
          <a:xfrm>
            <a:off x="593963" y="821680"/>
            <a:ext cx="742454" cy="37123"/>
          </a:xfrm>
          <a:prstGeom prst="rect">
            <a:avLst/>
          </a:prstGeom>
        </p:spPr>
      </p:pic>
      <p:pic>
        <p:nvPicPr>
          <p:cNvPr id="6" name="Image 4" descr="preencoded.png"/>
          <p:cNvPicPr>
            <a:picLocks noChangeAspect="1"/>
          </p:cNvPicPr>
          <p:nvPr/>
        </p:nvPicPr>
        <p:blipFill>
          <a:blip r:embed="rId6"/>
          <a:stretch>
            <a:fillRect/>
          </a:stretch>
        </p:blipFill>
        <p:spPr>
          <a:xfrm>
            <a:off x="742454" y="2046729"/>
            <a:ext cx="371227" cy="371227"/>
          </a:xfrm>
          <a:prstGeom prst="rect">
            <a:avLst/>
          </a:prstGeom>
        </p:spPr>
      </p:pic>
      <p:pic>
        <p:nvPicPr>
          <p:cNvPr id="7" name="Image 5" descr="preencoded.png"/>
          <p:cNvPicPr>
            <a:picLocks noChangeAspect="1"/>
          </p:cNvPicPr>
          <p:nvPr/>
        </p:nvPicPr>
        <p:blipFill>
          <a:blip r:embed="rId7"/>
          <a:stretch>
            <a:fillRect/>
          </a:stretch>
        </p:blipFill>
        <p:spPr>
          <a:xfrm>
            <a:off x="1262172" y="2102413"/>
            <a:ext cx="213455" cy="259859"/>
          </a:xfrm>
          <a:prstGeom prst="rect">
            <a:avLst/>
          </a:prstGeom>
        </p:spPr>
      </p:pic>
      <p:pic>
        <p:nvPicPr>
          <p:cNvPr id="8" name="Image 6" descr="preencoded.png"/>
          <p:cNvPicPr>
            <a:picLocks noChangeAspect="1"/>
          </p:cNvPicPr>
          <p:nvPr/>
        </p:nvPicPr>
        <p:blipFill>
          <a:blip r:embed="rId8"/>
          <a:stretch>
            <a:fillRect/>
          </a:stretch>
        </p:blipFill>
        <p:spPr>
          <a:xfrm>
            <a:off x="1586996" y="2102413"/>
            <a:ext cx="213455" cy="259859"/>
          </a:xfrm>
          <a:prstGeom prst="rect">
            <a:avLst/>
          </a:prstGeom>
        </p:spPr>
      </p:pic>
      <p:pic>
        <p:nvPicPr>
          <p:cNvPr id="9" name="Image 7" descr="preencoded.png"/>
          <p:cNvPicPr>
            <a:picLocks noChangeAspect="1"/>
          </p:cNvPicPr>
          <p:nvPr/>
        </p:nvPicPr>
        <p:blipFill>
          <a:blip r:embed="rId9"/>
          <a:stretch>
            <a:fillRect/>
          </a:stretch>
        </p:blipFill>
        <p:spPr>
          <a:xfrm>
            <a:off x="1911819" y="2102413"/>
            <a:ext cx="185613" cy="259859"/>
          </a:xfrm>
          <a:prstGeom prst="rect">
            <a:avLst/>
          </a:prstGeom>
        </p:spPr>
      </p:pic>
      <p:pic>
        <p:nvPicPr>
          <p:cNvPr id="11" name="Image 9" descr="preencoded.png"/>
          <p:cNvPicPr>
            <a:picLocks noChangeAspect="1"/>
          </p:cNvPicPr>
          <p:nvPr/>
        </p:nvPicPr>
        <p:blipFill>
          <a:blip r:embed="rId10"/>
          <a:stretch>
            <a:fillRect/>
          </a:stretch>
        </p:blipFill>
        <p:spPr>
          <a:xfrm>
            <a:off x="742454" y="2937674"/>
            <a:ext cx="371227" cy="371227"/>
          </a:xfrm>
          <a:prstGeom prst="rect">
            <a:avLst/>
          </a:prstGeom>
        </p:spPr>
      </p:pic>
      <p:pic>
        <p:nvPicPr>
          <p:cNvPr id="12" name="Image 10" descr="preencoded.png"/>
          <p:cNvPicPr>
            <a:picLocks noChangeAspect="1"/>
          </p:cNvPicPr>
          <p:nvPr/>
        </p:nvPicPr>
        <p:blipFill>
          <a:blip r:embed="rId11"/>
          <a:stretch>
            <a:fillRect/>
          </a:stretch>
        </p:blipFill>
        <p:spPr>
          <a:xfrm>
            <a:off x="1262172" y="2993358"/>
            <a:ext cx="185613" cy="259859"/>
          </a:xfrm>
          <a:prstGeom prst="rect">
            <a:avLst/>
          </a:prstGeom>
        </p:spPr>
      </p:pic>
      <p:pic>
        <p:nvPicPr>
          <p:cNvPr id="13" name="Image 11" descr="preencoded.png"/>
          <p:cNvPicPr>
            <a:picLocks noChangeAspect="1"/>
          </p:cNvPicPr>
          <p:nvPr/>
        </p:nvPicPr>
        <p:blipFill>
          <a:blip r:embed="rId12"/>
          <a:stretch>
            <a:fillRect/>
          </a:stretch>
        </p:blipFill>
        <p:spPr>
          <a:xfrm>
            <a:off x="1559153" y="2993358"/>
            <a:ext cx="185613" cy="259859"/>
          </a:xfrm>
          <a:prstGeom prst="rect">
            <a:avLst/>
          </a:prstGeom>
        </p:spPr>
      </p:pic>
      <p:pic>
        <p:nvPicPr>
          <p:cNvPr id="14" name="Image 12" descr="preencoded.png"/>
          <p:cNvPicPr>
            <a:picLocks noChangeAspect="1"/>
          </p:cNvPicPr>
          <p:nvPr/>
        </p:nvPicPr>
        <p:blipFill>
          <a:blip r:embed="rId13"/>
          <a:stretch>
            <a:fillRect/>
          </a:stretch>
        </p:blipFill>
        <p:spPr>
          <a:xfrm>
            <a:off x="1856135" y="2993358"/>
            <a:ext cx="120649" cy="259859"/>
          </a:xfrm>
          <a:prstGeom prst="rect">
            <a:avLst/>
          </a:prstGeom>
        </p:spPr>
      </p:pic>
      <p:pic>
        <p:nvPicPr>
          <p:cNvPr id="16" name="Image 14" descr="preencoded.png"/>
          <p:cNvPicPr>
            <a:picLocks noChangeAspect="1"/>
          </p:cNvPicPr>
          <p:nvPr/>
        </p:nvPicPr>
        <p:blipFill>
          <a:blip r:embed="rId14"/>
          <a:stretch>
            <a:fillRect/>
          </a:stretch>
        </p:blipFill>
        <p:spPr>
          <a:xfrm>
            <a:off x="742454" y="3828619"/>
            <a:ext cx="371227" cy="371227"/>
          </a:xfrm>
          <a:prstGeom prst="rect">
            <a:avLst/>
          </a:prstGeom>
        </p:spPr>
      </p:pic>
      <p:pic>
        <p:nvPicPr>
          <p:cNvPr id="17" name="Image 15" descr="preencoded.png"/>
          <p:cNvPicPr>
            <a:picLocks noChangeAspect="1"/>
          </p:cNvPicPr>
          <p:nvPr/>
        </p:nvPicPr>
        <p:blipFill>
          <a:blip r:embed="rId15"/>
          <a:stretch>
            <a:fillRect/>
          </a:stretch>
        </p:blipFill>
        <p:spPr>
          <a:xfrm>
            <a:off x="1262172" y="3884303"/>
            <a:ext cx="185613" cy="259859"/>
          </a:xfrm>
          <a:prstGeom prst="rect">
            <a:avLst/>
          </a:prstGeom>
        </p:spPr>
      </p:pic>
      <p:pic>
        <p:nvPicPr>
          <p:cNvPr id="18" name="Image 16" descr="preencoded.png"/>
          <p:cNvPicPr>
            <a:picLocks noChangeAspect="1"/>
          </p:cNvPicPr>
          <p:nvPr/>
        </p:nvPicPr>
        <p:blipFill>
          <a:blip r:embed="rId16"/>
          <a:stretch>
            <a:fillRect/>
          </a:stretch>
        </p:blipFill>
        <p:spPr>
          <a:xfrm>
            <a:off x="1559153" y="3884303"/>
            <a:ext cx="185613" cy="259859"/>
          </a:xfrm>
          <a:prstGeom prst="rect">
            <a:avLst/>
          </a:prstGeom>
        </p:spPr>
      </p:pic>
      <p:pic>
        <p:nvPicPr>
          <p:cNvPr id="19" name="Image 17" descr="preencoded.png"/>
          <p:cNvPicPr>
            <a:picLocks noChangeAspect="1"/>
          </p:cNvPicPr>
          <p:nvPr/>
        </p:nvPicPr>
        <p:blipFill>
          <a:blip r:embed="rId17"/>
          <a:stretch>
            <a:fillRect/>
          </a:stretch>
        </p:blipFill>
        <p:spPr>
          <a:xfrm>
            <a:off x="1856135" y="3884303"/>
            <a:ext cx="185613" cy="259859"/>
          </a:xfrm>
          <a:prstGeom prst="rect">
            <a:avLst/>
          </a:prstGeom>
        </p:spPr>
      </p:pic>
      <p:pic>
        <p:nvPicPr>
          <p:cNvPr id="21" name="Image 19" descr="preencoded.png"/>
          <p:cNvPicPr>
            <a:picLocks noChangeAspect="1"/>
          </p:cNvPicPr>
          <p:nvPr/>
        </p:nvPicPr>
        <p:blipFill>
          <a:blip r:embed="rId18"/>
          <a:stretch>
            <a:fillRect/>
          </a:stretch>
        </p:blipFill>
        <p:spPr>
          <a:xfrm>
            <a:off x="742454" y="4719563"/>
            <a:ext cx="371227" cy="371227"/>
          </a:xfrm>
          <a:prstGeom prst="rect">
            <a:avLst/>
          </a:prstGeom>
        </p:spPr>
      </p:pic>
      <p:pic>
        <p:nvPicPr>
          <p:cNvPr id="22" name="Image 20" descr="preencoded.png"/>
          <p:cNvPicPr>
            <a:picLocks noChangeAspect="1"/>
          </p:cNvPicPr>
          <p:nvPr/>
        </p:nvPicPr>
        <p:blipFill>
          <a:blip r:embed="rId19"/>
          <a:stretch>
            <a:fillRect/>
          </a:stretch>
        </p:blipFill>
        <p:spPr>
          <a:xfrm>
            <a:off x="1262172" y="4775247"/>
            <a:ext cx="185613" cy="259859"/>
          </a:xfrm>
          <a:prstGeom prst="rect">
            <a:avLst/>
          </a:prstGeom>
        </p:spPr>
      </p:pic>
      <p:pic>
        <p:nvPicPr>
          <p:cNvPr id="23" name="Image 21" descr="preencoded.png"/>
          <p:cNvPicPr>
            <a:picLocks noChangeAspect="1"/>
          </p:cNvPicPr>
          <p:nvPr/>
        </p:nvPicPr>
        <p:blipFill>
          <a:blip r:embed="rId20"/>
          <a:stretch>
            <a:fillRect/>
          </a:stretch>
        </p:blipFill>
        <p:spPr>
          <a:xfrm>
            <a:off x="1559153" y="4775247"/>
            <a:ext cx="185613" cy="259859"/>
          </a:xfrm>
          <a:prstGeom prst="rect">
            <a:avLst/>
          </a:prstGeom>
        </p:spPr>
      </p:pic>
      <p:pic>
        <p:nvPicPr>
          <p:cNvPr id="24" name="Image 22" descr="preencoded.png"/>
          <p:cNvPicPr>
            <a:picLocks noChangeAspect="1"/>
          </p:cNvPicPr>
          <p:nvPr/>
        </p:nvPicPr>
        <p:blipFill>
          <a:blip r:embed="rId21"/>
          <a:stretch>
            <a:fillRect/>
          </a:stretch>
        </p:blipFill>
        <p:spPr>
          <a:xfrm>
            <a:off x="1856135" y="4775247"/>
            <a:ext cx="120649" cy="259859"/>
          </a:xfrm>
          <a:prstGeom prst="rect">
            <a:avLst/>
          </a:prstGeom>
        </p:spPr>
      </p:pic>
      <p:sp>
        <p:nvSpPr>
          <p:cNvPr id="26" name="Text 0"/>
          <p:cNvSpPr/>
          <p:nvPr/>
        </p:nvSpPr>
        <p:spPr>
          <a:xfrm>
            <a:off x="593963" y="413331"/>
            <a:ext cx="10691336" cy="334104"/>
          </a:xfrm>
          <a:prstGeom prst="rect">
            <a:avLst/>
          </a:prstGeom>
          <a:noFill/>
          <a:ln/>
        </p:spPr>
        <p:txBody>
          <a:bodyPr vert="horz" wrap="square" lIns="0" tIns="0" rIns="0" bIns="0" rtlCol="0" anchor="t"/>
          <a:lstStyle/>
          <a:p>
            <a:pPr>
              <a:lnSpc>
                <a:spcPts val="2631"/>
              </a:lnSpc>
            </a:pPr>
            <a:r>
              <a:rPr lang="en-US" sz="2192" b="1" dirty="0">
                <a:solidFill>
                  <a:srgbClr val="1F2937"/>
                </a:solidFill>
                <a:latin typeface="ui-sans-serif" pitchFamily="34" charset="0"/>
                <a:ea typeface="ui-sans-serif" pitchFamily="34" charset="-122"/>
                <a:cs typeface="ui-sans-serif" pitchFamily="34" charset="-120"/>
              </a:rPr>
              <a:t>Question 3</a:t>
            </a:r>
            <a:endParaRPr lang="en-US" sz="2192" dirty="0"/>
          </a:p>
        </p:txBody>
      </p:sp>
      <p:sp>
        <p:nvSpPr>
          <p:cNvPr id="27" name="Text 1"/>
          <p:cNvSpPr/>
          <p:nvPr/>
        </p:nvSpPr>
        <p:spPr>
          <a:xfrm>
            <a:off x="593963" y="1304275"/>
            <a:ext cx="12829604" cy="296982"/>
          </a:xfrm>
          <a:prstGeom prst="rect">
            <a:avLst/>
          </a:prstGeom>
          <a:noFill/>
          <a:ln/>
        </p:spPr>
        <p:txBody>
          <a:bodyPr vert="horz" wrap="square" lIns="0" tIns="0" rIns="0" bIns="0" rtlCol="0" anchor="t"/>
          <a:lstStyle/>
          <a:p>
            <a:pPr>
              <a:lnSpc>
                <a:spcPts val="2338"/>
              </a:lnSpc>
            </a:pPr>
            <a:r>
              <a:rPr lang="en-US" sz="1754" b="1" dirty="0">
                <a:solidFill>
                  <a:srgbClr val="374151"/>
                </a:solidFill>
                <a:latin typeface="ui-sans-serif" pitchFamily="34" charset="0"/>
                <a:ea typeface="ui-sans-serif" pitchFamily="34" charset="-122"/>
                <a:cs typeface="ui-sans-serif" pitchFamily="34" charset="-120"/>
              </a:rPr>
              <a:t>What are the possible states of a CloudWatch alarm?</a:t>
            </a:r>
            <a:endParaRPr lang="en-US" sz="1754" dirty="0"/>
          </a:p>
        </p:txBody>
      </p:sp>
      <p:sp>
        <p:nvSpPr>
          <p:cNvPr id="28" name="Text 2"/>
          <p:cNvSpPr/>
          <p:nvPr/>
        </p:nvSpPr>
        <p:spPr>
          <a:xfrm>
            <a:off x="870498" y="2046729"/>
            <a:ext cx="371227" cy="371227"/>
          </a:xfrm>
          <a:prstGeom prst="rect">
            <a:avLst/>
          </a:prstGeom>
          <a:noFill/>
          <a:ln/>
        </p:spPr>
        <p:txBody>
          <a:bodyPr vert="horz" wrap="square" lIns="0" tIns="0" rIns="0" bIns="0" rtlCol="0" anchor="t"/>
          <a:lstStyle/>
          <a:p>
            <a:pPr>
              <a:lnSpc>
                <a:spcPts val="1754"/>
              </a:lnSpc>
            </a:pPr>
            <a:r>
              <a:rPr lang="en-US" sz="1169" b="1" dirty="0">
                <a:solidFill>
                  <a:srgbClr val="374151"/>
                </a:solidFill>
                <a:latin typeface="ui-sans-serif" pitchFamily="34" charset="0"/>
                <a:ea typeface="ui-sans-serif" pitchFamily="34" charset="-122"/>
                <a:cs typeface="ui-sans-serif" pitchFamily="34" charset="-120"/>
              </a:rPr>
              <a:t>A</a:t>
            </a:r>
            <a:endParaRPr lang="en-US" sz="1169" dirty="0"/>
          </a:p>
        </p:txBody>
      </p:sp>
      <p:sp>
        <p:nvSpPr>
          <p:cNvPr id="29" name="Text 3"/>
          <p:cNvSpPr/>
          <p:nvPr/>
        </p:nvSpPr>
        <p:spPr>
          <a:xfrm>
            <a:off x="2208801" y="2102413"/>
            <a:ext cx="3131358" cy="259859"/>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ACTIVE, INACTIVE, PENDING</a:t>
            </a:r>
            <a:endParaRPr lang="en-US" sz="1461" dirty="0"/>
          </a:p>
        </p:txBody>
      </p:sp>
      <p:sp>
        <p:nvSpPr>
          <p:cNvPr id="30" name="Text 4"/>
          <p:cNvSpPr/>
          <p:nvPr/>
        </p:nvSpPr>
        <p:spPr>
          <a:xfrm>
            <a:off x="871368" y="2937674"/>
            <a:ext cx="371227" cy="371227"/>
          </a:xfrm>
          <a:prstGeom prst="rect">
            <a:avLst/>
          </a:prstGeom>
          <a:noFill/>
          <a:ln/>
        </p:spPr>
        <p:txBody>
          <a:bodyPr vert="horz" wrap="square" lIns="0" tIns="0" rIns="0" bIns="0" rtlCol="0" anchor="t"/>
          <a:lstStyle/>
          <a:p>
            <a:pPr>
              <a:lnSpc>
                <a:spcPts val="1754"/>
              </a:lnSpc>
            </a:pPr>
            <a:r>
              <a:rPr lang="en-US" sz="1169" b="1" dirty="0">
                <a:solidFill>
                  <a:srgbClr val="374151"/>
                </a:solidFill>
                <a:latin typeface="ui-sans-serif" pitchFamily="34" charset="0"/>
                <a:ea typeface="ui-sans-serif" pitchFamily="34" charset="-122"/>
                <a:cs typeface="ui-sans-serif" pitchFamily="34" charset="-120"/>
              </a:rPr>
              <a:t>B</a:t>
            </a:r>
            <a:endParaRPr lang="en-US" sz="1169" dirty="0"/>
          </a:p>
        </p:txBody>
      </p:sp>
      <p:sp>
        <p:nvSpPr>
          <p:cNvPr id="31" name="Text 5"/>
          <p:cNvSpPr/>
          <p:nvPr/>
        </p:nvSpPr>
        <p:spPr>
          <a:xfrm>
            <a:off x="2088152" y="2993358"/>
            <a:ext cx="1945809" cy="259859"/>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ON, OFF, PAUSED</a:t>
            </a:r>
            <a:endParaRPr lang="en-US" sz="1461" dirty="0"/>
          </a:p>
        </p:txBody>
      </p:sp>
      <p:sp>
        <p:nvSpPr>
          <p:cNvPr id="32" name="Text 6"/>
          <p:cNvSpPr/>
          <p:nvPr/>
        </p:nvSpPr>
        <p:spPr>
          <a:xfrm>
            <a:off x="873544" y="3828619"/>
            <a:ext cx="371227" cy="371227"/>
          </a:xfrm>
          <a:prstGeom prst="rect">
            <a:avLst/>
          </a:prstGeom>
          <a:noFill/>
          <a:ln/>
        </p:spPr>
        <p:txBody>
          <a:bodyPr vert="horz" wrap="square" lIns="0" tIns="0" rIns="0" bIns="0" rtlCol="0" anchor="t"/>
          <a:lstStyle/>
          <a:p>
            <a:pPr>
              <a:lnSpc>
                <a:spcPts val="1754"/>
              </a:lnSpc>
            </a:pPr>
            <a:r>
              <a:rPr lang="en-US" sz="1169" b="1" dirty="0">
                <a:solidFill>
                  <a:srgbClr val="374151"/>
                </a:solidFill>
                <a:latin typeface="ui-sans-serif" pitchFamily="34" charset="0"/>
                <a:ea typeface="ui-sans-serif" pitchFamily="34" charset="-122"/>
                <a:cs typeface="ui-sans-serif" pitchFamily="34" charset="-120"/>
              </a:rPr>
              <a:t>C</a:t>
            </a:r>
            <a:endParaRPr lang="en-US" sz="1169" dirty="0"/>
          </a:p>
        </p:txBody>
      </p:sp>
      <p:sp>
        <p:nvSpPr>
          <p:cNvPr id="33" name="Text 7"/>
          <p:cNvSpPr/>
          <p:nvPr/>
        </p:nvSpPr>
        <p:spPr>
          <a:xfrm>
            <a:off x="2153116" y="3884303"/>
            <a:ext cx="3594057" cy="259859"/>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OK, ALARM, INSUFFICIENT_DATA</a:t>
            </a:r>
            <a:endParaRPr lang="en-US" sz="1461" dirty="0"/>
          </a:p>
        </p:txBody>
      </p:sp>
      <p:sp>
        <p:nvSpPr>
          <p:cNvPr id="34" name="Text 8"/>
          <p:cNvSpPr/>
          <p:nvPr/>
        </p:nvSpPr>
        <p:spPr>
          <a:xfrm>
            <a:off x="866438" y="4719563"/>
            <a:ext cx="371227" cy="371227"/>
          </a:xfrm>
          <a:prstGeom prst="rect">
            <a:avLst/>
          </a:prstGeom>
          <a:noFill/>
          <a:ln/>
        </p:spPr>
        <p:txBody>
          <a:bodyPr vert="horz" wrap="square" lIns="0" tIns="0" rIns="0" bIns="0" rtlCol="0" anchor="t"/>
          <a:lstStyle/>
          <a:p>
            <a:pPr>
              <a:lnSpc>
                <a:spcPts val="1754"/>
              </a:lnSpc>
            </a:pPr>
            <a:r>
              <a:rPr lang="en-US" sz="1169" b="1" dirty="0">
                <a:solidFill>
                  <a:srgbClr val="374151"/>
                </a:solidFill>
                <a:latin typeface="ui-sans-serif" pitchFamily="34" charset="0"/>
                <a:ea typeface="ui-sans-serif" pitchFamily="34" charset="-122"/>
                <a:cs typeface="ui-sans-serif" pitchFamily="34" charset="-120"/>
              </a:rPr>
              <a:t>D</a:t>
            </a:r>
            <a:endParaRPr lang="en-US" sz="1169" dirty="0"/>
          </a:p>
        </p:txBody>
      </p:sp>
      <p:sp>
        <p:nvSpPr>
          <p:cNvPr id="35" name="Text 9"/>
          <p:cNvSpPr/>
          <p:nvPr/>
        </p:nvSpPr>
        <p:spPr>
          <a:xfrm>
            <a:off x="2088151" y="4775247"/>
            <a:ext cx="3345045" cy="259859"/>
          </a:xfrm>
          <a:prstGeom prst="rect">
            <a:avLst/>
          </a:prstGeom>
          <a:noFill/>
          <a:ln/>
        </p:spPr>
        <p:txBody>
          <a:bodyPr vert="horz" wrap="square" lIns="0" tIns="0" rIns="0" bIns="0" rtlCol="0" anchor="t"/>
          <a:lstStyle/>
          <a:p>
            <a:pPr>
              <a:lnSpc>
                <a:spcPts val="2046"/>
              </a:lnSpc>
            </a:pPr>
            <a:r>
              <a:rPr lang="en-US" sz="1461" dirty="0">
                <a:solidFill>
                  <a:srgbClr val="374151"/>
                </a:solidFill>
                <a:latin typeface="ui-sans-serif" pitchFamily="34" charset="0"/>
                <a:ea typeface="ui-sans-serif" pitchFamily="34" charset="-122"/>
                <a:cs typeface="ui-sans-serif" pitchFamily="34" charset="-120"/>
              </a:rPr>
              <a:t>NORMAL, WARNING, CRITICAL</a:t>
            </a:r>
            <a:endParaRPr lang="en-US" sz="146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 y="79227"/>
            <a:ext cx="11879263" cy="6682085"/>
          </a:xfrm>
          <a:prstGeom prst="rect">
            <a:avLst/>
          </a:prstGeom>
        </p:spPr>
      </p:pic>
      <p:pic>
        <p:nvPicPr>
          <p:cNvPr id="3" name="Image 1" descr="preencoded.png"/>
          <p:cNvPicPr>
            <a:picLocks noChangeAspect="1"/>
          </p:cNvPicPr>
          <p:nvPr/>
        </p:nvPicPr>
        <p:blipFill>
          <a:blip r:embed="rId4"/>
          <a:stretch>
            <a:fillRect/>
          </a:stretch>
        </p:blipFill>
        <p:spPr>
          <a:xfrm>
            <a:off x="-1" y="79226"/>
            <a:ext cx="11879263" cy="37123"/>
          </a:xfrm>
          <a:prstGeom prst="rect">
            <a:avLst/>
          </a:prstGeom>
        </p:spPr>
      </p:pic>
      <p:pic>
        <p:nvPicPr>
          <p:cNvPr id="4" name="Image 2" descr="preencoded.png"/>
          <p:cNvPicPr>
            <a:picLocks noChangeAspect="1"/>
          </p:cNvPicPr>
          <p:nvPr/>
        </p:nvPicPr>
        <p:blipFill>
          <a:blip r:embed="rId5"/>
          <a:stretch>
            <a:fillRect/>
          </a:stretch>
        </p:blipFill>
        <p:spPr>
          <a:xfrm>
            <a:off x="593963" y="821680"/>
            <a:ext cx="742454" cy="37123"/>
          </a:xfrm>
          <a:prstGeom prst="rect">
            <a:avLst/>
          </a:prstGeom>
        </p:spPr>
      </p:pic>
      <p:pic>
        <p:nvPicPr>
          <p:cNvPr id="5" name="Image 3" descr="preencoded.png"/>
          <p:cNvPicPr>
            <a:picLocks noChangeAspect="1"/>
          </p:cNvPicPr>
          <p:nvPr/>
        </p:nvPicPr>
        <p:blipFill>
          <a:blip r:embed="rId6"/>
          <a:stretch>
            <a:fillRect/>
          </a:stretch>
        </p:blipFill>
        <p:spPr>
          <a:xfrm>
            <a:off x="593963" y="1898238"/>
            <a:ext cx="3415288" cy="1484908"/>
          </a:xfrm>
          <a:prstGeom prst="rect">
            <a:avLst/>
          </a:prstGeom>
        </p:spPr>
      </p:pic>
      <p:pic>
        <p:nvPicPr>
          <p:cNvPr id="6" name="Image 4" descr="preencoded.png"/>
          <p:cNvPicPr>
            <a:picLocks noChangeAspect="1"/>
          </p:cNvPicPr>
          <p:nvPr/>
        </p:nvPicPr>
        <p:blipFill>
          <a:blip r:embed="rId7"/>
          <a:stretch>
            <a:fillRect/>
          </a:stretch>
        </p:blipFill>
        <p:spPr>
          <a:xfrm>
            <a:off x="816699" y="2120975"/>
            <a:ext cx="445472" cy="445472"/>
          </a:xfrm>
          <a:prstGeom prst="rect">
            <a:avLst/>
          </a:prstGeom>
        </p:spPr>
      </p:pic>
      <p:pic>
        <p:nvPicPr>
          <p:cNvPr id="7" name="Image 5" descr="preencoded.png"/>
          <p:cNvPicPr>
            <a:picLocks noChangeAspect="1"/>
          </p:cNvPicPr>
          <p:nvPr/>
        </p:nvPicPr>
        <p:blipFill>
          <a:blip r:embed="rId8"/>
          <a:stretch>
            <a:fillRect/>
          </a:stretch>
        </p:blipFill>
        <p:spPr>
          <a:xfrm>
            <a:off x="928067" y="2195220"/>
            <a:ext cx="222736" cy="296982"/>
          </a:xfrm>
          <a:prstGeom prst="rect">
            <a:avLst/>
          </a:prstGeom>
        </p:spPr>
      </p:pic>
      <p:pic>
        <p:nvPicPr>
          <p:cNvPr id="8" name="Image 6" descr="preencoded.png"/>
          <p:cNvPicPr>
            <a:picLocks noChangeAspect="1"/>
          </p:cNvPicPr>
          <p:nvPr/>
        </p:nvPicPr>
        <p:blipFill>
          <a:blip r:embed="rId9"/>
          <a:stretch>
            <a:fillRect/>
          </a:stretch>
        </p:blipFill>
        <p:spPr>
          <a:xfrm>
            <a:off x="4231987" y="1898238"/>
            <a:ext cx="3415288" cy="1484908"/>
          </a:xfrm>
          <a:prstGeom prst="rect">
            <a:avLst/>
          </a:prstGeom>
        </p:spPr>
      </p:pic>
      <p:pic>
        <p:nvPicPr>
          <p:cNvPr id="9" name="Image 7" descr="preencoded.png"/>
          <p:cNvPicPr>
            <a:picLocks noChangeAspect="1"/>
          </p:cNvPicPr>
          <p:nvPr/>
        </p:nvPicPr>
        <p:blipFill>
          <a:blip r:embed="rId10"/>
          <a:stretch>
            <a:fillRect/>
          </a:stretch>
        </p:blipFill>
        <p:spPr>
          <a:xfrm>
            <a:off x="4454723" y="2120975"/>
            <a:ext cx="445472" cy="445472"/>
          </a:xfrm>
          <a:prstGeom prst="rect">
            <a:avLst/>
          </a:prstGeom>
        </p:spPr>
      </p:pic>
      <p:pic>
        <p:nvPicPr>
          <p:cNvPr id="10" name="Image 8" descr="preencoded.png"/>
          <p:cNvPicPr>
            <a:picLocks noChangeAspect="1"/>
          </p:cNvPicPr>
          <p:nvPr/>
        </p:nvPicPr>
        <p:blipFill>
          <a:blip r:embed="rId11"/>
          <a:stretch>
            <a:fillRect/>
          </a:stretch>
        </p:blipFill>
        <p:spPr>
          <a:xfrm>
            <a:off x="4566091" y="2195220"/>
            <a:ext cx="222736" cy="296982"/>
          </a:xfrm>
          <a:prstGeom prst="rect">
            <a:avLst/>
          </a:prstGeom>
        </p:spPr>
      </p:pic>
      <p:pic>
        <p:nvPicPr>
          <p:cNvPr id="11" name="Image 9" descr="preencoded.png"/>
          <p:cNvPicPr>
            <a:picLocks noChangeAspect="1"/>
          </p:cNvPicPr>
          <p:nvPr/>
        </p:nvPicPr>
        <p:blipFill>
          <a:blip r:embed="rId12"/>
          <a:stretch>
            <a:fillRect/>
          </a:stretch>
        </p:blipFill>
        <p:spPr>
          <a:xfrm>
            <a:off x="7870011" y="1898238"/>
            <a:ext cx="3415288" cy="1484908"/>
          </a:xfrm>
          <a:prstGeom prst="rect">
            <a:avLst/>
          </a:prstGeom>
        </p:spPr>
      </p:pic>
      <p:pic>
        <p:nvPicPr>
          <p:cNvPr id="12" name="Image 10" descr="preencoded.png"/>
          <p:cNvPicPr>
            <a:picLocks noChangeAspect="1"/>
          </p:cNvPicPr>
          <p:nvPr/>
        </p:nvPicPr>
        <p:blipFill>
          <a:blip r:embed="rId13"/>
          <a:stretch>
            <a:fillRect/>
          </a:stretch>
        </p:blipFill>
        <p:spPr>
          <a:xfrm>
            <a:off x="8092748" y="2120975"/>
            <a:ext cx="328304" cy="445472"/>
          </a:xfrm>
          <a:prstGeom prst="rect">
            <a:avLst/>
          </a:prstGeom>
        </p:spPr>
      </p:pic>
      <p:pic>
        <p:nvPicPr>
          <p:cNvPr id="13" name="Image 11" descr="preencoded.png"/>
          <p:cNvPicPr>
            <a:picLocks noChangeAspect="1"/>
          </p:cNvPicPr>
          <p:nvPr/>
        </p:nvPicPr>
        <p:blipFill>
          <a:blip r:embed="rId14"/>
          <a:stretch>
            <a:fillRect/>
          </a:stretch>
        </p:blipFill>
        <p:spPr>
          <a:xfrm>
            <a:off x="8145531" y="2195220"/>
            <a:ext cx="222736" cy="296982"/>
          </a:xfrm>
          <a:prstGeom prst="rect">
            <a:avLst/>
          </a:prstGeom>
        </p:spPr>
      </p:pic>
      <p:pic>
        <p:nvPicPr>
          <p:cNvPr id="14" name="Image 12" descr="preencoded.png"/>
          <p:cNvPicPr>
            <a:picLocks noChangeAspect="1"/>
          </p:cNvPicPr>
          <p:nvPr/>
        </p:nvPicPr>
        <p:blipFill>
          <a:blip r:embed="rId15"/>
          <a:stretch>
            <a:fillRect/>
          </a:stretch>
        </p:blipFill>
        <p:spPr>
          <a:xfrm>
            <a:off x="593963" y="3680128"/>
            <a:ext cx="10691336" cy="742454"/>
          </a:xfrm>
          <a:prstGeom prst="rect">
            <a:avLst/>
          </a:prstGeom>
        </p:spPr>
      </p:pic>
      <p:pic>
        <p:nvPicPr>
          <p:cNvPr id="15" name="Image 13" descr="preencoded.png"/>
          <p:cNvPicPr>
            <a:picLocks noChangeAspect="1"/>
          </p:cNvPicPr>
          <p:nvPr/>
        </p:nvPicPr>
        <p:blipFill>
          <a:blip r:embed="rId16"/>
          <a:stretch>
            <a:fillRect/>
          </a:stretch>
        </p:blipFill>
        <p:spPr>
          <a:xfrm>
            <a:off x="742454" y="3856461"/>
            <a:ext cx="148491" cy="148491"/>
          </a:xfrm>
          <a:prstGeom prst="rect">
            <a:avLst/>
          </a:prstGeom>
        </p:spPr>
      </p:pic>
      <p:sp>
        <p:nvSpPr>
          <p:cNvPr id="17" name="Text 0"/>
          <p:cNvSpPr/>
          <p:nvPr/>
        </p:nvSpPr>
        <p:spPr>
          <a:xfrm>
            <a:off x="593963" y="413331"/>
            <a:ext cx="10691336" cy="334104"/>
          </a:xfrm>
          <a:prstGeom prst="rect">
            <a:avLst/>
          </a:prstGeom>
          <a:noFill/>
          <a:ln/>
        </p:spPr>
        <p:txBody>
          <a:bodyPr vert="horz" wrap="square" lIns="0" tIns="0" rIns="0" bIns="0" rtlCol="0" anchor="t"/>
          <a:lstStyle/>
          <a:p>
            <a:pPr>
              <a:lnSpc>
                <a:spcPts val="2631"/>
              </a:lnSpc>
            </a:pPr>
            <a:r>
              <a:rPr lang="en-US" sz="2192" b="1" dirty="0">
                <a:solidFill>
                  <a:srgbClr val="1F2937"/>
                </a:solidFill>
                <a:latin typeface="ui-sans-serif" pitchFamily="34" charset="0"/>
                <a:ea typeface="ui-sans-serif" pitchFamily="34" charset="-122"/>
                <a:cs typeface="ui-sans-serif" pitchFamily="34" charset="-120"/>
              </a:rPr>
              <a:t>Answer 3</a:t>
            </a:r>
            <a:endParaRPr lang="en-US" sz="2192" dirty="0"/>
          </a:p>
        </p:txBody>
      </p:sp>
      <p:sp>
        <p:nvSpPr>
          <p:cNvPr id="18" name="Text 1"/>
          <p:cNvSpPr/>
          <p:nvPr/>
        </p:nvSpPr>
        <p:spPr>
          <a:xfrm>
            <a:off x="593963" y="1322837"/>
            <a:ext cx="2520225" cy="259859"/>
          </a:xfrm>
          <a:prstGeom prst="rect">
            <a:avLst/>
          </a:prstGeom>
          <a:noFill/>
          <a:ln/>
        </p:spPr>
        <p:txBody>
          <a:bodyPr vert="horz" wrap="square" lIns="0" tIns="0" rIns="0" bIns="0" rtlCol="0" anchor="t"/>
          <a:lstStyle/>
          <a:p>
            <a:pPr>
              <a:lnSpc>
                <a:spcPts val="2338"/>
              </a:lnSpc>
            </a:pPr>
            <a:r>
              <a:rPr lang="en-US" sz="1754" b="1" dirty="0">
                <a:solidFill>
                  <a:srgbClr val="374151"/>
                </a:solidFill>
                <a:latin typeface="ui-sans-serif" pitchFamily="34" charset="0"/>
                <a:ea typeface="ui-sans-serif" pitchFamily="34" charset="-122"/>
                <a:cs typeface="ui-sans-serif" pitchFamily="34" charset="-120"/>
              </a:rPr>
              <a:t>Correct Answer: </a:t>
            </a:r>
            <a:endParaRPr lang="en-US" sz="1754" dirty="0"/>
          </a:p>
        </p:txBody>
      </p:sp>
      <p:sp>
        <p:nvSpPr>
          <p:cNvPr id="19" name="Text 2"/>
          <p:cNvSpPr/>
          <p:nvPr/>
        </p:nvSpPr>
        <p:spPr>
          <a:xfrm>
            <a:off x="2694150" y="1322837"/>
            <a:ext cx="5282328" cy="259859"/>
          </a:xfrm>
          <a:prstGeom prst="rect">
            <a:avLst/>
          </a:prstGeom>
          <a:noFill/>
          <a:ln/>
        </p:spPr>
        <p:txBody>
          <a:bodyPr vert="horz" wrap="square" lIns="0" tIns="0" rIns="0" bIns="0" rtlCol="0" anchor="t"/>
          <a:lstStyle/>
          <a:p>
            <a:pPr>
              <a:lnSpc>
                <a:spcPts val="2338"/>
              </a:lnSpc>
            </a:pPr>
            <a:r>
              <a:rPr lang="en-US" sz="1754" b="1" dirty="0">
                <a:solidFill>
                  <a:srgbClr val="F97316"/>
                </a:solidFill>
                <a:latin typeface="ui-sans-serif" pitchFamily="34" charset="0"/>
                <a:ea typeface="ui-sans-serif" pitchFamily="34" charset="-122"/>
                <a:cs typeface="ui-sans-serif" pitchFamily="34" charset="-120"/>
              </a:rPr>
              <a:t>C) OK, ALARM, INSUFFICIENT_DATA</a:t>
            </a:r>
            <a:endParaRPr lang="en-US" sz="1754" dirty="0"/>
          </a:p>
        </p:txBody>
      </p:sp>
      <p:sp>
        <p:nvSpPr>
          <p:cNvPr id="20" name="Text 3"/>
          <p:cNvSpPr/>
          <p:nvPr/>
        </p:nvSpPr>
        <p:spPr>
          <a:xfrm>
            <a:off x="1410662" y="2195220"/>
            <a:ext cx="434336" cy="296982"/>
          </a:xfrm>
          <a:prstGeom prst="rect">
            <a:avLst/>
          </a:prstGeom>
          <a:noFill/>
          <a:ln/>
        </p:spPr>
        <p:txBody>
          <a:bodyPr vert="horz" wrap="square" lIns="0" tIns="0" rIns="0" bIns="0" rtlCol="0" anchor="t"/>
          <a:lstStyle/>
          <a:p>
            <a:pPr>
              <a:lnSpc>
                <a:spcPts val="2338"/>
              </a:lnSpc>
            </a:pPr>
            <a:r>
              <a:rPr lang="en-US" sz="1754" b="1" dirty="0">
                <a:solidFill>
                  <a:srgbClr val="15803D"/>
                </a:solidFill>
                <a:latin typeface="ui-sans-serif" pitchFamily="34" charset="0"/>
                <a:ea typeface="ui-sans-serif" pitchFamily="34" charset="-122"/>
                <a:cs typeface="ui-sans-serif" pitchFamily="34" charset="-120"/>
              </a:rPr>
              <a:t>OK</a:t>
            </a:r>
            <a:endParaRPr lang="en-US" sz="1754" dirty="0"/>
          </a:p>
        </p:txBody>
      </p:sp>
      <p:sp>
        <p:nvSpPr>
          <p:cNvPr id="21" name="Text 4"/>
          <p:cNvSpPr/>
          <p:nvPr/>
        </p:nvSpPr>
        <p:spPr>
          <a:xfrm>
            <a:off x="816699" y="2714938"/>
            <a:ext cx="2969816" cy="445472"/>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The metric is within the defined threshold.</a:t>
            </a:r>
            <a:endParaRPr lang="en-US" sz="1169" dirty="0"/>
          </a:p>
        </p:txBody>
      </p:sp>
      <p:sp>
        <p:nvSpPr>
          <p:cNvPr id="22" name="Text 5"/>
          <p:cNvSpPr/>
          <p:nvPr/>
        </p:nvSpPr>
        <p:spPr>
          <a:xfrm>
            <a:off x="5048687" y="2195220"/>
            <a:ext cx="1055909" cy="296982"/>
          </a:xfrm>
          <a:prstGeom prst="rect">
            <a:avLst/>
          </a:prstGeom>
          <a:noFill/>
          <a:ln/>
        </p:spPr>
        <p:txBody>
          <a:bodyPr vert="horz" wrap="square" lIns="0" tIns="0" rIns="0" bIns="0" rtlCol="0" anchor="t"/>
          <a:lstStyle/>
          <a:p>
            <a:pPr>
              <a:lnSpc>
                <a:spcPts val="2338"/>
              </a:lnSpc>
            </a:pPr>
            <a:r>
              <a:rPr lang="en-US" sz="1754" b="1" dirty="0">
                <a:solidFill>
                  <a:srgbClr val="B91C1C"/>
                </a:solidFill>
                <a:latin typeface="ui-sans-serif" pitchFamily="34" charset="0"/>
                <a:ea typeface="ui-sans-serif" pitchFamily="34" charset="-122"/>
                <a:cs typeface="ui-sans-serif" pitchFamily="34" charset="-120"/>
              </a:rPr>
              <a:t>ALARM</a:t>
            </a:r>
            <a:endParaRPr lang="en-US" sz="1754" dirty="0"/>
          </a:p>
        </p:txBody>
      </p:sp>
      <p:sp>
        <p:nvSpPr>
          <p:cNvPr id="23" name="Text 6"/>
          <p:cNvSpPr/>
          <p:nvPr/>
        </p:nvSpPr>
        <p:spPr>
          <a:xfrm>
            <a:off x="4454723" y="2714938"/>
            <a:ext cx="2969816" cy="445472"/>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The metric is outside the defined threshold.</a:t>
            </a:r>
            <a:endParaRPr lang="en-US" sz="1169" dirty="0"/>
          </a:p>
        </p:txBody>
      </p:sp>
      <p:sp>
        <p:nvSpPr>
          <p:cNvPr id="24" name="Text 7"/>
          <p:cNvSpPr/>
          <p:nvPr/>
        </p:nvSpPr>
        <p:spPr>
          <a:xfrm>
            <a:off x="8569542" y="2195220"/>
            <a:ext cx="2991625" cy="296982"/>
          </a:xfrm>
          <a:prstGeom prst="rect">
            <a:avLst/>
          </a:prstGeom>
          <a:noFill/>
          <a:ln/>
        </p:spPr>
        <p:txBody>
          <a:bodyPr vert="horz" wrap="square" lIns="0" tIns="0" rIns="0" bIns="0" rtlCol="0" anchor="t"/>
          <a:lstStyle/>
          <a:p>
            <a:pPr>
              <a:lnSpc>
                <a:spcPts val="2338"/>
              </a:lnSpc>
            </a:pPr>
            <a:r>
              <a:rPr lang="en-US" sz="1754" b="1" dirty="0">
                <a:solidFill>
                  <a:srgbClr val="A16207"/>
                </a:solidFill>
                <a:latin typeface="ui-sans-serif" pitchFamily="34" charset="0"/>
                <a:ea typeface="ui-sans-serif" pitchFamily="34" charset="-122"/>
                <a:cs typeface="ui-sans-serif" pitchFamily="34" charset="-120"/>
              </a:rPr>
              <a:t>INSUFFICIENT_DATA</a:t>
            </a:r>
            <a:endParaRPr lang="en-US" sz="1754" dirty="0"/>
          </a:p>
        </p:txBody>
      </p:sp>
      <p:sp>
        <p:nvSpPr>
          <p:cNvPr id="25" name="Text 8"/>
          <p:cNvSpPr/>
          <p:nvPr/>
        </p:nvSpPr>
        <p:spPr>
          <a:xfrm>
            <a:off x="8092747" y="2714938"/>
            <a:ext cx="2969816" cy="445472"/>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The alarm has just started or not enough data is available.</a:t>
            </a:r>
            <a:endParaRPr lang="en-US" sz="1169" dirty="0"/>
          </a:p>
        </p:txBody>
      </p:sp>
      <p:sp>
        <p:nvSpPr>
          <p:cNvPr id="26" name="Text 9"/>
          <p:cNvSpPr/>
          <p:nvPr/>
        </p:nvSpPr>
        <p:spPr>
          <a:xfrm>
            <a:off x="965190" y="3828619"/>
            <a:ext cx="10394355" cy="445472"/>
          </a:xfrm>
          <a:prstGeom prst="rect">
            <a:avLst/>
          </a:prstGeom>
          <a:noFill/>
          <a:ln/>
        </p:spPr>
        <p:txBody>
          <a:bodyPr vert="horz" wrap="square" lIns="0" tIns="0" rIns="0" bIns="0" rtlCol="0" anchor="t"/>
          <a:lstStyle/>
          <a:p>
            <a:pPr>
              <a:lnSpc>
                <a:spcPts val="1754"/>
              </a:lnSpc>
            </a:pPr>
            <a:r>
              <a:rPr lang="en-US" sz="1169" dirty="0">
                <a:solidFill>
                  <a:srgbClr val="374151"/>
                </a:solidFill>
                <a:latin typeface="ui-sans-serif" pitchFamily="34" charset="0"/>
                <a:ea typeface="ui-sans-serif" pitchFamily="34" charset="-122"/>
                <a:cs typeface="ui-sans-serif" pitchFamily="34" charset="-120"/>
              </a:rPr>
              <a:t> A CloudWatch metric alarm monitors a specific metric or a math expression based on metrics and can be in one of these three states. When an alarm transitions to the ALARM state, it can perform configured actions like sending notifications or invoking Lambda functions.</a:t>
            </a:r>
            <a:endParaRPr lang="en-US" sz="1169" dirty="0"/>
          </a:p>
        </p:txBody>
      </p:sp>
    </p:spTree>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8</TotalTime>
  <Words>809</Words>
  <Application>Microsoft Office PowerPoint</Application>
  <PresentationFormat>Custom</PresentationFormat>
  <Paragraphs>177</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ui-sans-serif</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Ritesh Behal</cp:lastModifiedBy>
  <cp:revision>20</cp:revision>
  <dcterms:created xsi:type="dcterms:W3CDTF">2025-10-28T02:02:06Z</dcterms:created>
  <dcterms:modified xsi:type="dcterms:W3CDTF">2025-11-08T13:05:12Z</dcterms:modified>
</cp:coreProperties>
</file>