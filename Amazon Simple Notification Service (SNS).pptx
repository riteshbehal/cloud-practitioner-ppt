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89" r:id="rId12"/>
    <p:sldId id="290" r:id="rId13"/>
    <p:sldId id="291" r:id="rId14"/>
    <p:sldId id="292" r:id="rId15"/>
    <p:sldId id="293" r:id="rId16"/>
    <p:sldId id="294" r:id="rId17"/>
  </p:sldIdLst>
  <p:sldSz cx="11879263" cy="68405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372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119505"/>
            <a:ext cx="8909447" cy="2381521"/>
          </a:xfrm>
        </p:spPr>
        <p:txBody>
          <a:bodyPr anchor="b"/>
          <a:lstStyle>
            <a:lvl1pPr algn="ctr"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592866"/>
            <a:ext cx="8909447" cy="1651546"/>
          </a:xfrm>
        </p:spPr>
        <p:txBody>
          <a:bodyPr/>
          <a:lstStyle>
            <a:lvl1pPr marL="0" indent="0" algn="ctr">
              <a:buNone/>
              <a:defRPr sz="2338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25504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39565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844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3534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00762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0606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8313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81069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3445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5547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67293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214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560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24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5" Type="http://schemas.openxmlformats.org/officeDocument/2006/relationships/image" Target="../media/image25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31" Type="http://schemas.openxmlformats.org/officeDocument/2006/relationships/image" Target="../media/image50.png"/><Relationship Id="rId4" Type="http://schemas.openxmlformats.org/officeDocument/2006/relationships/image" Target="../media/image10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4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39.png"/><Relationship Id="rId10" Type="http://schemas.openxmlformats.org/officeDocument/2006/relationships/image" Target="../media/image57.png"/><Relationship Id="rId4" Type="http://schemas.openxmlformats.org/officeDocument/2006/relationships/image" Target="../media/image10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26" Type="http://schemas.openxmlformats.org/officeDocument/2006/relationships/image" Target="../media/image84.png"/><Relationship Id="rId3" Type="http://schemas.openxmlformats.org/officeDocument/2006/relationships/image" Target="../media/image1.png"/><Relationship Id="rId21" Type="http://schemas.openxmlformats.org/officeDocument/2006/relationships/image" Target="../media/image79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5" Type="http://schemas.openxmlformats.org/officeDocument/2006/relationships/image" Target="../media/image8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29" Type="http://schemas.openxmlformats.org/officeDocument/2006/relationships/image" Target="../media/image8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69.png"/><Relationship Id="rId24" Type="http://schemas.openxmlformats.org/officeDocument/2006/relationships/image" Target="../media/image82.png"/><Relationship Id="rId5" Type="http://schemas.openxmlformats.org/officeDocument/2006/relationships/image" Target="../media/image11.png"/><Relationship Id="rId15" Type="http://schemas.openxmlformats.org/officeDocument/2006/relationships/image" Target="../media/image73.png"/><Relationship Id="rId23" Type="http://schemas.openxmlformats.org/officeDocument/2006/relationships/image" Target="../media/image81.png"/><Relationship Id="rId28" Type="http://schemas.openxmlformats.org/officeDocument/2006/relationships/image" Target="../media/image86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10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Relationship Id="rId22" Type="http://schemas.openxmlformats.org/officeDocument/2006/relationships/image" Target="../media/image80.png"/><Relationship Id="rId27" Type="http://schemas.openxmlformats.org/officeDocument/2006/relationships/image" Target="../media/image8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80.png"/><Relationship Id="rId3" Type="http://schemas.openxmlformats.org/officeDocument/2006/relationships/image" Target="../media/image1.png"/><Relationship Id="rId21" Type="http://schemas.openxmlformats.org/officeDocument/2006/relationships/image" Target="../media/image83.png"/><Relationship Id="rId7" Type="http://schemas.openxmlformats.org/officeDocument/2006/relationships/image" Target="../media/image65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10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6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91.png"/><Relationship Id="rId24" Type="http://schemas.openxmlformats.org/officeDocument/2006/relationships/image" Target="../media/image86.png"/><Relationship Id="rId5" Type="http://schemas.openxmlformats.org/officeDocument/2006/relationships/image" Target="../media/image11.png"/><Relationship Id="rId15" Type="http://schemas.openxmlformats.org/officeDocument/2006/relationships/image" Target="../media/image95.png"/><Relationship Id="rId23" Type="http://schemas.openxmlformats.org/officeDocument/2006/relationships/image" Target="../media/image100.png"/><Relationship Id="rId10" Type="http://schemas.openxmlformats.org/officeDocument/2006/relationships/image" Target="../media/image90.png"/><Relationship Id="rId19" Type="http://schemas.openxmlformats.org/officeDocument/2006/relationships/image" Target="../media/image84.png"/><Relationship Id="rId4" Type="http://schemas.openxmlformats.org/officeDocument/2006/relationships/image" Target="../media/image10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9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06.png"/><Relationship Id="rId5" Type="http://schemas.openxmlformats.org/officeDocument/2006/relationships/image" Target="../media/image11.png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10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2.png"/><Relationship Id="rId18" Type="http://schemas.openxmlformats.org/officeDocument/2006/relationships/image" Target="../media/image126.png"/><Relationship Id="rId3" Type="http://schemas.openxmlformats.org/officeDocument/2006/relationships/image" Target="../media/image115.png"/><Relationship Id="rId21" Type="http://schemas.openxmlformats.org/officeDocument/2006/relationships/image" Target="../media/image128.png"/><Relationship Id="rId7" Type="http://schemas.openxmlformats.org/officeDocument/2006/relationships/image" Target="../media/image102.png"/><Relationship Id="rId12" Type="http://schemas.openxmlformats.org/officeDocument/2006/relationships/image" Target="../media/image121.png"/><Relationship Id="rId17" Type="http://schemas.openxmlformats.org/officeDocument/2006/relationships/image" Target="../media/image1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4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20.png"/><Relationship Id="rId5" Type="http://schemas.openxmlformats.org/officeDocument/2006/relationships/image" Target="../media/image116.png"/><Relationship Id="rId15" Type="http://schemas.openxmlformats.org/officeDocument/2006/relationships/image" Target="../media/image123.png"/><Relationship Id="rId23" Type="http://schemas.openxmlformats.org/officeDocument/2006/relationships/image" Target="../media/image87.png"/><Relationship Id="rId10" Type="http://schemas.openxmlformats.org/officeDocument/2006/relationships/image" Target="../media/image119.png"/><Relationship Id="rId19" Type="http://schemas.openxmlformats.org/officeDocument/2006/relationships/image" Target="../media/image127.png"/><Relationship Id="rId4" Type="http://schemas.openxmlformats.org/officeDocument/2006/relationships/image" Target="../media/image10.png"/><Relationship Id="rId9" Type="http://schemas.openxmlformats.org/officeDocument/2006/relationships/image" Target="../media/image118.png"/><Relationship Id="rId14" Type="http://schemas.openxmlformats.org/officeDocument/2006/relationships/image" Target="../media/image78.png"/><Relationship Id="rId22" Type="http://schemas.openxmlformats.org/officeDocument/2006/relationships/image" Target="../media/image1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33.png"/><Relationship Id="rId5" Type="http://schemas.openxmlformats.org/officeDocument/2006/relationships/image" Target="../media/image11.png"/><Relationship Id="rId15" Type="http://schemas.openxmlformats.org/officeDocument/2006/relationships/image" Target="../media/image137.png"/><Relationship Id="rId10" Type="http://schemas.openxmlformats.org/officeDocument/2006/relationships/image" Target="../media/image132.png"/><Relationship Id="rId4" Type="http://schemas.openxmlformats.org/officeDocument/2006/relationships/image" Target="../media/image10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25.png"/><Relationship Id="rId18" Type="http://schemas.openxmlformats.org/officeDocument/2006/relationships/image" Target="../media/image148.png"/><Relationship Id="rId3" Type="http://schemas.openxmlformats.org/officeDocument/2006/relationships/image" Target="../media/image1.png"/><Relationship Id="rId7" Type="http://schemas.openxmlformats.org/officeDocument/2006/relationships/image" Target="../media/image102.png"/><Relationship Id="rId12" Type="http://schemas.openxmlformats.org/officeDocument/2006/relationships/image" Target="../media/image143.png"/><Relationship Id="rId17" Type="http://schemas.openxmlformats.org/officeDocument/2006/relationships/image" Target="../media/image14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6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42.png"/><Relationship Id="rId5" Type="http://schemas.openxmlformats.org/officeDocument/2006/relationships/image" Target="../media/image11.png"/><Relationship Id="rId15" Type="http://schemas.openxmlformats.org/officeDocument/2006/relationships/image" Target="../media/image145.png"/><Relationship Id="rId10" Type="http://schemas.openxmlformats.org/officeDocument/2006/relationships/image" Target="../media/image141.png"/><Relationship Id="rId19" Type="http://schemas.openxmlformats.org/officeDocument/2006/relationships/image" Target="../media/image149.png"/><Relationship Id="rId4" Type="http://schemas.openxmlformats.org/officeDocument/2006/relationships/image" Target="../media/image10.png"/><Relationship Id="rId9" Type="http://schemas.openxmlformats.org/officeDocument/2006/relationships/image" Target="../media/image87.png"/><Relationship Id="rId14" Type="http://schemas.openxmlformats.org/officeDocument/2006/relationships/image" Target="../media/image1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3.pn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0" Type="http://schemas.openxmlformats.org/officeDocument/2006/relationships/image" Target="../media/image157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9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0" Type="http://schemas.openxmlformats.org/officeDocument/2006/relationships/image" Target="../media/image165.png"/><Relationship Id="rId4" Type="http://schemas.openxmlformats.org/officeDocument/2006/relationships/image" Target="../media/image151.png"/><Relationship Id="rId9" Type="http://schemas.openxmlformats.org/officeDocument/2006/relationships/image" Target="../media/image1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3" Type="http://schemas.openxmlformats.org/officeDocument/2006/relationships/image" Target="../media/image1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3.png"/><Relationship Id="rId5" Type="http://schemas.openxmlformats.org/officeDocument/2006/relationships/image" Target="../media/image168.png"/><Relationship Id="rId10" Type="http://schemas.openxmlformats.org/officeDocument/2006/relationships/image" Target="../media/image170.png"/><Relationship Id="rId4" Type="http://schemas.openxmlformats.org/officeDocument/2006/relationships/image" Target="../media/image151.png"/><Relationship Id="rId9" Type="http://schemas.openxmlformats.org/officeDocument/2006/relationships/image" Target="../media/image15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.png"/><Relationship Id="rId7" Type="http://schemas.openxmlformats.org/officeDocument/2006/relationships/image" Target="../media/image17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2.png"/><Relationship Id="rId11" Type="http://schemas.openxmlformats.org/officeDocument/2006/relationships/image" Target="../media/image170.png"/><Relationship Id="rId5" Type="http://schemas.openxmlformats.org/officeDocument/2006/relationships/image" Target="../media/image171.png"/><Relationship Id="rId10" Type="http://schemas.openxmlformats.org/officeDocument/2006/relationships/image" Target="../media/image157.png"/><Relationship Id="rId4" Type="http://schemas.openxmlformats.org/officeDocument/2006/relationships/image" Target="../media/image151.png"/><Relationship Id="rId9" Type="http://schemas.openxmlformats.org/officeDocument/2006/relationships/image" Target="../media/image17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6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1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18" Type="http://schemas.openxmlformats.org/officeDocument/2006/relationships/image" Target="../media/image157.png"/><Relationship Id="rId3" Type="http://schemas.openxmlformats.org/officeDocument/2006/relationships/image" Target="../media/image1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8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5" Type="http://schemas.openxmlformats.org/officeDocument/2006/relationships/image" Target="../media/image188.png"/><Relationship Id="rId10" Type="http://schemas.openxmlformats.org/officeDocument/2006/relationships/image" Target="../media/image183.png"/><Relationship Id="rId19" Type="http://schemas.openxmlformats.org/officeDocument/2006/relationships/image" Target="../media/image177.png"/><Relationship Id="rId4" Type="http://schemas.openxmlformats.org/officeDocument/2006/relationships/image" Target="../media/image151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227"/>
            <a:ext cx="2320168" cy="232016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9094" y="3977109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135" y="4905177"/>
            <a:ext cx="2320168" cy="232016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4354" y="821680"/>
            <a:ext cx="92807" cy="9280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9446" y="1564134"/>
            <a:ext cx="92807" cy="9280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900" y="2306588"/>
            <a:ext cx="92807" cy="9280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6135" y="2399395"/>
            <a:ext cx="2784202" cy="1856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4202" y="3327462"/>
            <a:ext cx="3712270" cy="1856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067" y="4255530"/>
            <a:ext cx="1856135" cy="1856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822268" y="2195220"/>
            <a:ext cx="1023472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3507"/>
              </a:lnSpc>
            </a:pPr>
            <a:r>
              <a:rPr lang="en-US" sz="3507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Simple Notification Service (SNS)</a:t>
            </a:r>
            <a:endParaRPr lang="en-US" sz="3507" dirty="0"/>
          </a:p>
        </p:txBody>
      </p:sp>
      <p:sp>
        <p:nvSpPr>
          <p:cNvPr id="20" name="Text 1"/>
          <p:cNvSpPr/>
          <p:nvPr/>
        </p:nvSpPr>
        <p:spPr>
          <a:xfrm>
            <a:off x="822268" y="2789183"/>
            <a:ext cx="1023472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338"/>
              </a:lnSpc>
            </a:pPr>
            <a:r>
              <a:rPr lang="en-US" sz="1754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fully managed messaging service for pub/sub communication</a:t>
            </a:r>
            <a:endParaRPr lang="en-US" sz="175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27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" y="5369210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007294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341398"/>
            <a:ext cx="10988318" cy="122504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2863428"/>
            <a:ext cx="5345668" cy="148490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208" y="3086165"/>
            <a:ext cx="445472" cy="4454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576" y="3160410"/>
            <a:ext cx="222736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8122" y="2863428"/>
            <a:ext cx="5345668" cy="148490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858" y="3086165"/>
            <a:ext cx="445472" cy="4454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2226" y="3160410"/>
            <a:ext cx="222736" cy="2969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472" y="4645318"/>
            <a:ext cx="371227" cy="37122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279" y="4701002"/>
            <a:ext cx="185613" cy="25985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70957" y="4645318"/>
            <a:ext cx="371227" cy="37122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63764" y="4701002"/>
            <a:ext cx="185613" cy="259859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95991" y="4645318"/>
            <a:ext cx="371227" cy="371227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88798" y="4701002"/>
            <a:ext cx="185613" cy="259859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45472" y="524699"/>
            <a:ext cx="1098831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 to Amazon SNS</a:t>
            </a:r>
            <a:endParaRPr lang="en-US" sz="2631" dirty="0"/>
          </a:p>
        </p:txBody>
      </p:sp>
      <p:sp>
        <p:nvSpPr>
          <p:cNvPr id="21" name="Text 1"/>
          <p:cNvSpPr/>
          <p:nvPr/>
        </p:nvSpPr>
        <p:spPr>
          <a:xfrm>
            <a:off x="668209" y="1564134"/>
            <a:ext cx="10542845" cy="77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Simple Notification Service (SNS) is a fully managed, highly available, and scalable messaging service provided by AWS. It operates on a publish/subscribe (pub/sub) model, enabling efficient and decoupled communication between various components of an application.</a:t>
            </a:r>
            <a:endParaRPr lang="en-US" sz="1461" dirty="0"/>
          </a:p>
        </p:txBody>
      </p:sp>
      <p:sp>
        <p:nvSpPr>
          <p:cNvPr id="22" name="Text 2"/>
          <p:cNvSpPr/>
          <p:nvPr/>
        </p:nvSpPr>
        <p:spPr>
          <a:xfrm>
            <a:off x="1262172" y="3160410"/>
            <a:ext cx="318512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Application-to-Application</a:t>
            </a:r>
            <a:endParaRPr lang="en-US" sz="1754" dirty="0"/>
          </a:p>
        </p:txBody>
      </p:sp>
      <p:sp>
        <p:nvSpPr>
          <p:cNvPr id="23" name="Text 3"/>
          <p:cNvSpPr/>
          <p:nvPr/>
        </p:nvSpPr>
        <p:spPr>
          <a:xfrm>
            <a:off x="668208" y="3680128"/>
            <a:ext cx="490019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Facilitates communication between distributed systems and microservices, enabling efficient message passing and event-driven architectures.</a:t>
            </a:r>
            <a:endParaRPr lang="en-US" sz="1169" dirty="0"/>
          </a:p>
        </p:txBody>
      </p:sp>
      <p:sp>
        <p:nvSpPr>
          <p:cNvPr id="24" name="Text 4"/>
          <p:cNvSpPr/>
          <p:nvPr/>
        </p:nvSpPr>
        <p:spPr>
          <a:xfrm>
            <a:off x="6904821" y="3160410"/>
            <a:ext cx="266169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Application-to-Person</a:t>
            </a:r>
            <a:endParaRPr lang="en-US" sz="1754" dirty="0"/>
          </a:p>
        </p:txBody>
      </p:sp>
      <p:sp>
        <p:nvSpPr>
          <p:cNvPr id="25" name="Text 5"/>
          <p:cNvSpPr/>
          <p:nvPr/>
        </p:nvSpPr>
        <p:spPr>
          <a:xfrm>
            <a:off x="6310858" y="3680128"/>
            <a:ext cx="490019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Delivers notifications to end-users via multiple channels, including email, SMS, mobile push, and more.</a:t>
            </a:r>
            <a:endParaRPr lang="en-US" sz="1169" dirty="0"/>
          </a:p>
        </p:txBody>
      </p:sp>
      <p:sp>
        <p:nvSpPr>
          <p:cNvPr id="26" name="Text 6"/>
          <p:cNvSpPr/>
          <p:nvPr/>
        </p:nvSpPr>
        <p:spPr>
          <a:xfrm>
            <a:off x="928067" y="4701002"/>
            <a:ext cx="471087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service with no infrastructure management</a:t>
            </a:r>
            <a:endParaRPr lang="en-US" sz="1315" dirty="0"/>
          </a:p>
        </p:txBody>
      </p:sp>
      <p:sp>
        <p:nvSpPr>
          <p:cNvPr id="27" name="Text 7"/>
          <p:cNvSpPr/>
          <p:nvPr/>
        </p:nvSpPr>
        <p:spPr>
          <a:xfrm>
            <a:off x="5953553" y="4701002"/>
            <a:ext cx="255032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Highly available and scalable</a:t>
            </a:r>
            <a:endParaRPr lang="en-US" sz="1315" dirty="0"/>
          </a:p>
        </p:txBody>
      </p:sp>
      <p:sp>
        <p:nvSpPr>
          <p:cNvPr id="28" name="Text 8"/>
          <p:cNvSpPr/>
          <p:nvPr/>
        </p:nvSpPr>
        <p:spPr>
          <a:xfrm>
            <a:off x="9178586" y="4701002"/>
            <a:ext cx="270624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subscription protocols</a:t>
            </a:r>
            <a:endParaRPr lang="en-US" sz="131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73776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73776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27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" y="5424894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007294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267153"/>
            <a:ext cx="10988318" cy="81669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2538605"/>
            <a:ext cx="2375853" cy="206958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2909832"/>
            <a:ext cx="371227" cy="37122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569" y="2965516"/>
            <a:ext cx="232017" cy="25985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1705" y="2538605"/>
            <a:ext cx="2375853" cy="207887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0196" y="2687096"/>
            <a:ext cx="371227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79082" y="2742780"/>
            <a:ext cx="213455" cy="25985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77400" y="2518873"/>
            <a:ext cx="2375853" cy="206959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6428" y="2559513"/>
            <a:ext cx="371227" cy="371227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9235" y="2623847"/>
            <a:ext cx="185613" cy="25985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72834" y="3234656"/>
            <a:ext cx="1113681" cy="1856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56330" y="3234656"/>
            <a:ext cx="1113681" cy="1856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472" y="4997983"/>
            <a:ext cx="10988318" cy="137354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3963" y="5517701"/>
            <a:ext cx="296982" cy="29698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208" y="5591947"/>
            <a:ext cx="148491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94639" y="5517701"/>
            <a:ext cx="296982" cy="296982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50323" y="5591947"/>
            <a:ext cx="185613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95315" y="5517701"/>
            <a:ext cx="296982" cy="296982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69560" y="5591947"/>
            <a:ext cx="148491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95991" y="5517701"/>
            <a:ext cx="296982" cy="296982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70236" y="5591947"/>
            <a:ext cx="148491" cy="148491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3963" y="5926051"/>
            <a:ext cx="296982" cy="296982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6770" y="6000296"/>
            <a:ext cx="111368" cy="148491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294639" y="5926051"/>
            <a:ext cx="296982" cy="296982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368884" y="6000296"/>
            <a:ext cx="148491" cy="148491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995315" y="5926051"/>
            <a:ext cx="296982" cy="296982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78841" y="6000296"/>
            <a:ext cx="129929" cy="148491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445472" y="524699"/>
            <a:ext cx="131859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Concepts: Pub/Sub Model</a:t>
            </a:r>
            <a:endParaRPr lang="en-US" sz="2631" dirty="0"/>
          </a:p>
        </p:txBody>
      </p:sp>
      <p:sp>
        <p:nvSpPr>
          <p:cNvPr id="35" name="Text 1"/>
          <p:cNvSpPr/>
          <p:nvPr/>
        </p:nvSpPr>
        <p:spPr>
          <a:xfrm>
            <a:off x="593963" y="1415643"/>
            <a:ext cx="10691336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SNS operates on a publish/subscribe (pub/sub) messaging model, which decouples message producers (publishers) from message consumers (subscribers). This asynchronous communication pattern enhances scalability and flexibility in distributed systems.</a:t>
            </a:r>
            <a:endParaRPr lang="en-US" sz="1315" dirty="0"/>
          </a:p>
        </p:txBody>
      </p:sp>
      <p:sp>
        <p:nvSpPr>
          <p:cNvPr id="36" name="Text 2"/>
          <p:cNvSpPr/>
          <p:nvPr/>
        </p:nvSpPr>
        <p:spPr>
          <a:xfrm>
            <a:off x="1076558" y="2965516"/>
            <a:ext cx="104686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Publishers</a:t>
            </a:r>
            <a:endParaRPr lang="en-US" sz="1461" dirty="0"/>
          </a:p>
        </p:txBody>
      </p:sp>
      <p:sp>
        <p:nvSpPr>
          <p:cNvPr id="37" name="Text 3"/>
          <p:cNvSpPr/>
          <p:nvPr/>
        </p:nvSpPr>
        <p:spPr>
          <a:xfrm>
            <a:off x="593963" y="3355304"/>
            <a:ext cx="2078871" cy="89094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Sources that send messages to an SNS topic. Can be applications, services, or other AWS resources.</a:t>
            </a:r>
            <a:endParaRPr lang="en-US" sz="1169" dirty="0"/>
          </a:p>
        </p:txBody>
      </p:sp>
      <p:sp>
        <p:nvSpPr>
          <p:cNvPr id="38" name="Text 4"/>
          <p:cNvSpPr/>
          <p:nvPr/>
        </p:nvSpPr>
        <p:spPr>
          <a:xfrm>
            <a:off x="5382791" y="2742780"/>
            <a:ext cx="63479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Topics</a:t>
            </a:r>
            <a:endParaRPr lang="en-US" sz="1461" dirty="0"/>
          </a:p>
        </p:txBody>
      </p:sp>
      <p:sp>
        <p:nvSpPr>
          <p:cNvPr id="39" name="Text 5"/>
          <p:cNvSpPr/>
          <p:nvPr/>
        </p:nvSpPr>
        <p:spPr>
          <a:xfrm>
            <a:off x="4900196" y="3132568"/>
            <a:ext cx="2078871" cy="13364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Logical access points and Publishers send messages to a topic, and SNS routes these messages to all subscribed endpoints.</a:t>
            </a:r>
            <a:endParaRPr lang="en-US" sz="1169" dirty="0"/>
          </a:p>
        </p:txBody>
      </p:sp>
      <p:sp>
        <p:nvSpPr>
          <p:cNvPr id="40" name="Text 6"/>
          <p:cNvSpPr/>
          <p:nvPr/>
        </p:nvSpPr>
        <p:spPr>
          <a:xfrm>
            <a:off x="9689023" y="2623847"/>
            <a:ext cx="116936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</a:t>
            </a:r>
            <a:endParaRPr lang="en-US" sz="1461" dirty="0"/>
          </a:p>
        </p:txBody>
      </p:sp>
      <p:sp>
        <p:nvSpPr>
          <p:cNvPr id="41" name="Text 7"/>
          <p:cNvSpPr/>
          <p:nvPr/>
        </p:nvSpPr>
        <p:spPr>
          <a:xfrm>
            <a:off x="9206428" y="3074187"/>
            <a:ext cx="2078871" cy="178188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Endpoints that receive messages published to a topic. SNS supports various types of subscribers </a:t>
            </a:r>
            <a:r>
              <a:rPr lang="en-US" sz="1169" dirty="0" err="1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i.e</a:t>
            </a: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SQS queues, Lambda functions, HTTP/S endpoints, email &amp; SMS.</a:t>
            </a:r>
            <a:endParaRPr lang="en-US" sz="1169" dirty="0"/>
          </a:p>
        </p:txBody>
      </p:sp>
      <p:sp>
        <p:nvSpPr>
          <p:cNvPr id="42" name="Text 8"/>
          <p:cNvSpPr/>
          <p:nvPr/>
        </p:nvSpPr>
        <p:spPr>
          <a:xfrm>
            <a:off x="593963" y="5146474"/>
            <a:ext cx="106913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 Subscriber Types:</a:t>
            </a:r>
            <a:endParaRPr lang="en-US" sz="1461" dirty="0"/>
          </a:p>
        </p:txBody>
      </p:sp>
      <p:sp>
        <p:nvSpPr>
          <p:cNvPr id="43" name="Text 9"/>
          <p:cNvSpPr/>
          <p:nvPr/>
        </p:nvSpPr>
        <p:spPr>
          <a:xfrm>
            <a:off x="965190" y="5554824"/>
            <a:ext cx="104686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SQS</a:t>
            </a:r>
            <a:endParaRPr lang="en-US" sz="1169" dirty="0"/>
          </a:p>
        </p:txBody>
      </p:sp>
      <p:sp>
        <p:nvSpPr>
          <p:cNvPr id="44" name="Text 10"/>
          <p:cNvSpPr/>
          <p:nvPr/>
        </p:nvSpPr>
        <p:spPr>
          <a:xfrm>
            <a:off x="3665866" y="5554824"/>
            <a:ext cx="10691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Lambda</a:t>
            </a:r>
            <a:endParaRPr lang="en-US" sz="1169" dirty="0"/>
          </a:p>
        </p:txBody>
      </p:sp>
      <p:sp>
        <p:nvSpPr>
          <p:cNvPr id="45" name="Text 11"/>
          <p:cNvSpPr/>
          <p:nvPr/>
        </p:nvSpPr>
        <p:spPr>
          <a:xfrm>
            <a:off x="6366542" y="5554824"/>
            <a:ext cx="148119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HTTP/S Endpoints</a:t>
            </a:r>
            <a:endParaRPr lang="en-US" sz="1169" dirty="0"/>
          </a:p>
        </p:txBody>
      </p:sp>
      <p:sp>
        <p:nvSpPr>
          <p:cNvPr id="46" name="Text 12"/>
          <p:cNvSpPr/>
          <p:nvPr/>
        </p:nvSpPr>
        <p:spPr>
          <a:xfrm>
            <a:off x="9067218" y="5554824"/>
            <a:ext cx="4454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</a:t>
            </a:r>
            <a:endParaRPr lang="en-US" sz="1169" dirty="0"/>
          </a:p>
        </p:txBody>
      </p:sp>
      <p:sp>
        <p:nvSpPr>
          <p:cNvPr id="47" name="Text 13"/>
          <p:cNvSpPr/>
          <p:nvPr/>
        </p:nvSpPr>
        <p:spPr>
          <a:xfrm>
            <a:off x="965190" y="5963174"/>
            <a:ext cx="98003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Push</a:t>
            </a:r>
            <a:endParaRPr lang="en-US" sz="1169" dirty="0"/>
          </a:p>
        </p:txBody>
      </p:sp>
      <p:sp>
        <p:nvSpPr>
          <p:cNvPr id="48" name="Text 14"/>
          <p:cNvSpPr/>
          <p:nvPr/>
        </p:nvSpPr>
        <p:spPr>
          <a:xfrm>
            <a:off x="3665866" y="5963174"/>
            <a:ext cx="37865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SMS</a:t>
            </a:r>
            <a:endParaRPr lang="en-US" sz="1169" dirty="0"/>
          </a:p>
        </p:txBody>
      </p:sp>
      <p:sp>
        <p:nvSpPr>
          <p:cNvPr id="49" name="Text 15"/>
          <p:cNvSpPr/>
          <p:nvPr/>
        </p:nvSpPr>
        <p:spPr>
          <a:xfrm>
            <a:off x="6366542" y="5963174"/>
            <a:ext cx="170393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Kinesis Data Firehose</a:t>
            </a:r>
            <a:endParaRPr lang="en-US" sz="11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86769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86769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27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" y="5554824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007294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749748"/>
            <a:ext cx="10988318" cy="44547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3" y="1749748"/>
            <a:ext cx="3662676" cy="44547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8149" y="1749748"/>
            <a:ext cx="3662676" cy="4454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6639" y="1861116"/>
            <a:ext cx="222736" cy="2227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3762" y="1898238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0824" y="1749748"/>
            <a:ext cx="3662966" cy="4454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9315" y="1861116"/>
            <a:ext cx="222736" cy="22273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6438" y="1898238"/>
            <a:ext cx="148491" cy="1484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2195220"/>
            <a:ext cx="10988318" cy="44547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2640693"/>
            <a:ext cx="10988318" cy="44547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3086165"/>
            <a:ext cx="10988318" cy="44547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472" y="3531637"/>
            <a:ext cx="10988318" cy="66820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472" y="4199845"/>
            <a:ext cx="10988318" cy="66820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472" y="5387772"/>
            <a:ext cx="5345668" cy="111368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963" y="5536262"/>
            <a:ext cx="296982" cy="29698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928" y="5554824"/>
            <a:ext cx="167052" cy="259859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8122" y="5387772"/>
            <a:ext cx="5345668" cy="111368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6612" y="5536262"/>
            <a:ext cx="296982" cy="296982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1577" y="5554824"/>
            <a:ext cx="167052" cy="259859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45472" y="524699"/>
            <a:ext cx="131859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SNS Topic Types: Standard vs. FIFO</a:t>
            </a:r>
            <a:endParaRPr lang="en-US" sz="2631" dirty="0"/>
          </a:p>
        </p:txBody>
      </p:sp>
      <p:sp>
        <p:nvSpPr>
          <p:cNvPr id="27" name="Text 1"/>
          <p:cNvSpPr/>
          <p:nvPr/>
        </p:nvSpPr>
        <p:spPr>
          <a:xfrm>
            <a:off x="445472" y="1267153"/>
            <a:ext cx="1318598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SNS offers two primary topic types; each designed for different messaging requirements: Standard and FIFO (First-In-First-Out).</a:t>
            </a:r>
            <a:endParaRPr lang="en-US" sz="1315" dirty="0"/>
          </a:p>
        </p:txBody>
      </p:sp>
      <p:sp>
        <p:nvSpPr>
          <p:cNvPr id="28" name="Text 2"/>
          <p:cNvSpPr/>
          <p:nvPr/>
        </p:nvSpPr>
        <p:spPr>
          <a:xfrm>
            <a:off x="593963" y="1749748"/>
            <a:ext cx="366267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Characteristic</a:t>
            </a:r>
            <a:endParaRPr lang="en-US" sz="1169" dirty="0"/>
          </a:p>
        </p:txBody>
      </p:sp>
      <p:sp>
        <p:nvSpPr>
          <p:cNvPr id="29" name="Text 3"/>
          <p:cNvSpPr/>
          <p:nvPr/>
        </p:nvSpPr>
        <p:spPr>
          <a:xfrm>
            <a:off x="4553621" y="1861116"/>
            <a:ext cx="336569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Topics</a:t>
            </a:r>
            <a:endParaRPr lang="en-US" sz="1169" dirty="0"/>
          </a:p>
        </p:txBody>
      </p:sp>
      <p:sp>
        <p:nvSpPr>
          <p:cNvPr id="30" name="Text 4"/>
          <p:cNvSpPr/>
          <p:nvPr/>
        </p:nvSpPr>
        <p:spPr>
          <a:xfrm>
            <a:off x="8216297" y="1861116"/>
            <a:ext cx="336598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FIFO Topics</a:t>
            </a:r>
            <a:endParaRPr lang="en-US" sz="1169" dirty="0"/>
          </a:p>
        </p:txBody>
      </p:sp>
      <p:sp>
        <p:nvSpPr>
          <p:cNvPr id="31" name="Text 5"/>
          <p:cNvSpPr/>
          <p:nvPr/>
        </p:nvSpPr>
        <p:spPr>
          <a:xfrm>
            <a:off x="593963" y="2195220"/>
            <a:ext cx="366267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 Ordering</a:t>
            </a:r>
            <a:endParaRPr lang="en-US" sz="1169" dirty="0"/>
          </a:p>
        </p:txBody>
      </p:sp>
      <p:sp>
        <p:nvSpPr>
          <p:cNvPr id="32" name="Text 6"/>
          <p:cNvSpPr/>
          <p:nvPr/>
        </p:nvSpPr>
        <p:spPr>
          <a:xfrm>
            <a:off x="4256640" y="2195220"/>
            <a:ext cx="366267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Best-effort ordering</a:t>
            </a:r>
            <a:endParaRPr lang="en-US" sz="1169" dirty="0"/>
          </a:p>
        </p:txBody>
      </p:sp>
      <p:sp>
        <p:nvSpPr>
          <p:cNvPr id="33" name="Text 7"/>
          <p:cNvSpPr/>
          <p:nvPr/>
        </p:nvSpPr>
        <p:spPr>
          <a:xfrm>
            <a:off x="7919315" y="2195220"/>
            <a:ext cx="439555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message ordering</a:t>
            </a:r>
            <a:endParaRPr lang="en-US" sz="1169" dirty="0"/>
          </a:p>
        </p:txBody>
      </p:sp>
      <p:sp>
        <p:nvSpPr>
          <p:cNvPr id="34" name="Text 8"/>
          <p:cNvSpPr/>
          <p:nvPr/>
        </p:nvSpPr>
        <p:spPr>
          <a:xfrm>
            <a:off x="593963" y="2640693"/>
            <a:ext cx="366267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</a:t>
            </a:r>
            <a:endParaRPr lang="en-US" sz="1169" dirty="0"/>
          </a:p>
        </p:txBody>
      </p:sp>
      <p:sp>
        <p:nvSpPr>
          <p:cNvPr id="35" name="Text 9"/>
          <p:cNvSpPr/>
          <p:nvPr/>
        </p:nvSpPr>
        <p:spPr>
          <a:xfrm>
            <a:off x="4256640" y="2640693"/>
            <a:ext cx="4395211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At-least-once delivery</a:t>
            </a:r>
            <a:endParaRPr lang="en-US" sz="1169" dirty="0"/>
          </a:p>
        </p:txBody>
      </p:sp>
      <p:sp>
        <p:nvSpPr>
          <p:cNvPr id="36" name="Text 10"/>
          <p:cNvSpPr/>
          <p:nvPr/>
        </p:nvSpPr>
        <p:spPr>
          <a:xfrm>
            <a:off x="7919315" y="2640693"/>
            <a:ext cx="439555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Exactly-once processing</a:t>
            </a:r>
            <a:endParaRPr lang="en-US" sz="1169" dirty="0"/>
          </a:p>
        </p:txBody>
      </p:sp>
      <p:sp>
        <p:nvSpPr>
          <p:cNvPr id="37" name="Text 11"/>
          <p:cNvSpPr/>
          <p:nvPr/>
        </p:nvSpPr>
        <p:spPr>
          <a:xfrm>
            <a:off x="593963" y="3086165"/>
            <a:ext cx="366267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Deduplication</a:t>
            </a:r>
            <a:endParaRPr lang="en-US" sz="1169" dirty="0"/>
          </a:p>
        </p:txBody>
      </p:sp>
      <p:sp>
        <p:nvSpPr>
          <p:cNvPr id="38" name="Text 12"/>
          <p:cNvSpPr/>
          <p:nvPr/>
        </p:nvSpPr>
        <p:spPr>
          <a:xfrm>
            <a:off x="4256640" y="3086165"/>
            <a:ext cx="3662676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169" dirty="0"/>
          </a:p>
        </p:txBody>
      </p:sp>
      <p:sp>
        <p:nvSpPr>
          <p:cNvPr id="39" name="Text 13"/>
          <p:cNvSpPr/>
          <p:nvPr/>
        </p:nvSpPr>
        <p:spPr>
          <a:xfrm>
            <a:off x="7919315" y="3086165"/>
            <a:ext cx="439555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 (per message group)</a:t>
            </a:r>
            <a:endParaRPr lang="en-US" sz="1169" dirty="0"/>
          </a:p>
        </p:txBody>
      </p:sp>
      <p:sp>
        <p:nvSpPr>
          <p:cNvPr id="40" name="Text 14"/>
          <p:cNvSpPr/>
          <p:nvPr/>
        </p:nvSpPr>
        <p:spPr>
          <a:xfrm>
            <a:off x="593963" y="3531637"/>
            <a:ext cx="3662676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Throughput</a:t>
            </a:r>
            <a:endParaRPr lang="en-US" sz="1169" dirty="0"/>
          </a:p>
        </p:txBody>
      </p:sp>
      <p:sp>
        <p:nvSpPr>
          <p:cNvPr id="41" name="Text 15"/>
          <p:cNvSpPr/>
          <p:nvPr/>
        </p:nvSpPr>
        <p:spPr>
          <a:xfrm>
            <a:off x="4256640" y="3531637"/>
            <a:ext cx="4395211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throughput (unlimited)</a:t>
            </a:r>
            <a:endParaRPr lang="en-US" sz="1169" dirty="0"/>
          </a:p>
        </p:txBody>
      </p:sp>
      <p:sp>
        <p:nvSpPr>
          <p:cNvPr id="42" name="Text 16"/>
          <p:cNvSpPr/>
          <p:nvPr/>
        </p:nvSpPr>
        <p:spPr>
          <a:xfrm>
            <a:off x="7919315" y="3531637"/>
            <a:ext cx="3662966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3,000 messages/sec or 20 MB/sec per topic
(1,000 messages/sec or 6 MB/sec for cross-region)</a:t>
            </a:r>
            <a:endParaRPr lang="en-US" sz="1169" dirty="0"/>
          </a:p>
        </p:txBody>
      </p:sp>
      <p:sp>
        <p:nvSpPr>
          <p:cNvPr id="43" name="Text 17"/>
          <p:cNvSpPr/>
          <p:nvPr/>
        </p:nvSpPr>
        <p:spPr>
          <a:xfrm>
            <a:off x="593963" y="4199845"/>
            <a:ext cx="3662676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 Protocols</a:t>
            </a:r>
            <a:endParaRPr lang="en-US" sz="1169" dirty="0"/>
          </a:p>
        </p:txBody>
      </p:sp>
      <p:sp>
        <p:nvSpPr>
          <p:cNvPr id="44" name="Text 18"/>
          <p:cNvSpPr/>
          <p:nvPr/>
        </p:nvSpPr>
        <p:spPr>
          <a:xfrm>
            <a:off x="4256640" y="4199845"/>
            <a:ext cx="3662676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SQS, Lambda, HTTP/S, Email, SMS, Mobile Push, Kinesis Data Firehose</a:t>
            </a:r>
            <a:endParaRPr lang="en-US" sz="1169" dirty="0"/>
          </a:p>
        </p:txBody>
      </p:sp>
      <p:sp>
        <p:nvSpPr>
          <p:cNvPr id="45" name="Text 19"/>
          <p:cNvSpPr/>
          <p:nvPr/>
        </p:nvSpPr>
        <p:spPr>
          <a:xfrm>
            <a:off x="7919315" y="4199845"/>
            <a:ext cx="3662966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SQS FIFO queues only</a:t>
            </a:r>
            <a:endParaRPr lang="en-US" sz="1169" dirty="0"/>
          </a:p>
        </p:txBody>
      </p:sp>
      <p:sp>
        <p:nvSpPr>
          <p:cNvPr id="46" name="Text 20"/>
          <p:cNvSpPr/>
          <p:nvPr/>
        </p:nvSpPr>
        <p:spPr>
          <a:xfrm>
            <a:off x="1002313" y="5554824"/>
            <a:ext cx="207144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Standard: Use Cases</a:t>
            </a:r>
            <a:endParaRPr lang="en-US" sz="1461" dirty="0"/>
          </a:p>
        </p:txBody>
      </p:sp>
      <p:sp>
        <p:nvSpPr>
          <p:cNvPr id="47" name="Text 21"/>
          <p:cNvSpPr/>
          <p:nvPr/>
        </p:nvSpPr>
        <p:spPr>
          <a:xfrm>
            <a:off x="593963" y="5907490"/>
            <a:ext cx="504868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High-volume, general-purpose messaging where strict order is not critical, such as notifications, logging, and event sourcing.</a:t>
            </a:r>
            <a:endParaRPr lang="en-US" sz="1169" dirty="0"/>
          </a:p>
        </p:txBody>
      </p:sp>
      <p:sp>
        <p:nvSpPr>
          <p:cNvPr id="48" name="Text 22"/>
          <p:cNvSpPr/>
          <p:nvPr/>
        </p:nvSpPr>
        <p:spPr>
          <a:xfrm>
            <a:off x="6644962" y="5554824"/>
            <a:ext cx="163711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FIFO: Use Cases</a:t>
            </a:r>
            <a:endParaRPr lang="en-US" sz="1461" dirty="0"/>
          </a:p>
        </p:txBody>
      </p:sp>
      <p:sp>
        <p:nvSpPr>
          <p:cNvPr id="49" name="Text 23"/>
          <p:cNvSpPr/>
          <p:nvPr/>
        </p:nvSpPr>
        <p:spPr>
          <a:xfrm>
            <a:off x="6236612" y="5907490"/>
            <a:ext cx="504868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Applications requiring strict message order and deduplication, such as financial transactions, log processing, and order confirmation.</a:t>
            </a:r>
            <a:endParaRPr lang="en-US" sz="11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27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" y="5369210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007294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341398"/>
            <a:ext cx="10988318" cy="96519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5358" y="2677815"/>
            <a:ext cx="928067" cy="103943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6656" y="2826306"/>
            <a:ext cx="445472" cy="4454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0182" y="2900551"/>
            <a:ext cx="278420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6162" y="2900551"/>
            <a:ext cx="593963" cy="59396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3933" y="3030481"/>
            <a:ext cx="278420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04371" y="3049042"/>
            <a:ext cx="928067" cy="2969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5174" y="2881990"/>
            <a:ext cx="371227" cy="37122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6542" y="2993358"/>
            <a:ext cx="148491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62593" y="2881990"/>
            <a:ext cx="371227" cy="37122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1803" y="2993358"/>
            <a:ext cx="92807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73030" y="2677815"/>
            <a:ext cx="1020874" cy="103943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60731" y="2826306"/>
            <a:ext cx="445472" cy="445472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999941" y="2900551"/>
            <a:ext cx="167052" cy="29698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5473" y="4088477"/>
            <a:ext cx="3514185" cy="152203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1086" y="4274091"/>
            <a:ext cx="371227" cy="371227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3173" y="4329775"/>
            <a:ext cx="167052" cy="259859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82393" y="4088477"/>
            <a:ext cx="3514331" cy="152203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68007" y="4274091"/>
            <a:ext cx="371227" cy="371227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60814" y="4329775"/>
            <a:ext cx="185613" cy="259859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19460" y="4088477"/>
            <a:ext cx="3514185" cy="1522031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105073" y="4274091"/>
            <a:ext cx="371227" cy="371227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97880" y="4329775"/>
            <a:ext cx="185613" cy="259859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45473" y="524699"/>
            <a:ext cx="1115410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 Filtering</a:t>
            </a:r>
            <a:endParaRPr lang="en-US" sz="2631" dirty="0"/>
          </a:p>
        </p:txBody>
      </p:sp>
      <p:sp>
        <p:nvSpPr>
          <p:cNvPr id="31" name="Text 1"/>
          <p:cNvSpPr/>
          <p:nvPr/>
        </p:nvSpPr>
        <p:spPr>
          <a:xfrm>
            <a:off x="668209" y="1564134"/>
            <a:ext cx="1054284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SNS provides message filtering capabilities that allow subscribers to define filter policies. These policies specify which messages a subscriber is interested in receiving from a topic, based on message attributes.</a:t>
            </a:r>
            <a:endParaRPr lang="en-US" sz="1461" dirty="0"/>
          </a:p>
        </p:txBody>
      </p:sp>
      <p:sp>
        <p:nvSpPr>
          <p:cNvPr id="32" name="Text 2"/>
          <p:cNvSpPr/>
          <p:nvPr/>
        </p:nvSpPr>
        <p:spPr>
          <a:xfrm>
            <a:off x="3370740" y="3346024"/>
            <a:ext cx="75730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Publisher</a:t>
            </a:r>
            <a:endParaRPr lang="en-US" sz="1169" dirty="0"/>
          </a:p>
        </p:txBody>
      </p:sp>
      <p:sp>
        <p:nvSpPr>
          <p:cNvPr id="33" name="Text 3"/>
          <p:cNvSpPr/>
          <p:nvPr/>
        </p:nvSpPr>
        <p:spPr>
          <a:xfrm>
            <a:off x="5215739" y="3123287"/>
            <a:ext cx="846397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Policy</a:t>
            </a:r>
            <a:endParaRPr lang="en-US" sz="1023" dirty="0"/>
          </a:p>
        </p:txBody>
      </p:sp>
      <p:sp>
        <p:nvSpPr>
          <p:cNvPr id="34" name="Text 4"/>
          <p:cNvSpPr/>
          <p:nvPr/>
        </p:nvSpPr>
        <p:spPr>
          <a:xfrm>
            <a:off x="6255174" y="3327463"/>
            <a:ext cx="445472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</a:t>
            </a:r>
            <a:endParaRPr lang="en-US" sz="1023" dirty="0"/>
          </a:p>
        </p:txBody>
      </p:sp>
      <p:sp>
        <p:nvSpPr>
          <p:cNvPr id="35" name="Text 5"/>
          <p:cNvSpPr/>
          <p:nvPr/>
        </p:nvSpPr>
        <p:spPr>
          <a:xfrm>
            <a:off x="6923382" y="3327463"/>
            <a:ext cx="77957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Non-Match</a:t>
            </a:r>
            <a:endParaRPr lang="en-US" sz="1023" dirty="0"/>
          </a:p>
        </p:txBody>
      </p:sp>
      <p:sp>
        <p:nvSpPr>
          <p:cNvPr id="36" name="Text 6"/>
          <p:cNvSpPr/>
          <p:nvPr/>
        </p:nvSpPr>
        <p:spPr>
          <a:xfrm>
            <a:off x="7649131" y="3346024"/>
            <a:ext cx="86867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</a:t>
            </a:r>
            <a:endParaRPr lang="en-US" sz="1169" dirty="0"/>
          </a:p>
        </p:txBody>
      </p:sp>
      <p:sp>
        <p:nvSpPr>
          <p:cNvPr id="37" name="Text 7"/>
          <p:cNvSpPr/>
          <p:nvPr/>
        </p:nvSpPr>
        <p:spPr>
          <a:xfrm>
            <a:off x="1113680" y="4329775"/>
            <a:ext cx="275079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Simplified Application Logic</a:t>
            </a:r>
            <a:endParaRPr lang="en-US" sz="1461" dirty="0"/>
          </a:p>
        </p:txBody>
      </p:sp>
      <p:sp>
        <p:nvSpPr>
          <p:cNvPr id="38" name="Text 8"/>
          <p:cNvSpPr/>
          <p:nvPr/>
        </p:nvSpPr>
        <p:spPr>
          <a:xfrm>
            <a:off x="631086" y="4756686"/>
            <a:ext cx="3142958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Offloads message routing responsibility from publishers and filtering logic from subscriber applications.</a:t>
            </a:r>
            <a:endParaRPr lang="en-US" sz="1169" dirty="0"/>
          </a:p>
        </p:txBody>
      </p:sp>
      <p:sp>
        <p:nvSpPr>
          <p:cNvPr id="39" name="Text 9"/>
          <p:cNvSpPr/>
          <p:nvPr/>
        </p:nvSpPr>
        <p:spPr>
          <a:xfrm>
            <a:off x="4850602" y="4329775"/>
            <a:ext cx="265056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Message Volume</a:t>
            </a:r>
            <a:endParaRPr lang="en-US" sz="1461" dirty="0"/>
          </a:p>
        </p:txBody>
      </p:sp>
      <p:sp>
        <p:nvSpPr>
          <p:cNvPr id="40" name="Text 10"/>
          <p:cNvSpPr/>
          <p:nvPr/>
        </p:nvSpPr>
        <p:spPr>
          <a:xfrm>
            <a:off x="4368007" y="4756686"/>
            <a:ext cx="3143104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 only receive notifications that match their predefined criteria, reducing unnecessary processing.</a:t>
            </a:r>
            <a:endParaRPr lang="en-US" sz="1169" dirty="0"/>
          </a:p>
        </p:txBody>
      </p:sp>
      <p:sp>
        <p:nvSpPr>
          <p:cNvPr id="41" name="Text 11"/>
          <p:cNvSpPr/>
          <p:nvPr/>
        </p:nvSpPr>
        <p:spPr>
          <a:xfrm>
            <a:off x="8587668" y="4329775"/>
            <a:ext cx="110254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Decoupling</a:t>
            </a:r>
            <a:endParaRPr lang="en-US" sz="1461" dirty="0"/>
          </a:p>
        </p:txBody>
      </p:sp>
      <p:sp>
        <p:nvSpPr>
          <p:cNvPr id="42" name="Text 12"/>
          <p:cNvSpPr/>
          <p:nvPr/>
        </p:nvSpPr>
        <p:spPr>
          <a:xfrm>
            <a:off x="8105074" y="4756686"/>
            <a:ext cx="3142958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greater decoupling between publishers and subscribers by handling filtering at the SNS level.</a:t>
            </a:r>
            <a:endParaRPr lang="en-US" sz="116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27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" y="5369210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007294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341398"/>
            <a:ext cx="10988318" cy="96519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2603570"/>
            <a:ext cx="1781889" cy="178188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603" y="3123287"/>
            <a:ext cx="417630" cy="37122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15993" y="3178972"/>
            <a:ext cx="1113681" cy="1856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15993" y="3735812"/>
            <a:ext cx="1113681" cy="1856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8687" y="2603570"/>
            <a:ext cx="1781889" cy="178188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72579" y="3123287"/>
            <a:ext cx="334104" cy="37122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93708" y="3178972"/>
            <a:ext cx="1113681" cy="1856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5793" y="3123287"/>
            <a:ext cx="334104" cy="37122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3708" y="3735812"/>
            <a:ext cx="1113681" cy="1856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1901" y="2591308"/>
            <a:ext cx="1781889" cy="178188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375793" y="3087428"/>
            <a:ext cx="334104" cy="371227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473" y="4682440"/>
            <a:ext cx="3514185" cy="152203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1086" y="4868054"/>
            <a:ext cx="371227" cy="371227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893" y="4923738"/>
            <a:ext cx="185613" cy="259859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82393" y="4682440"/>
            <a:ext cx="3514331" cy="152203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68007" y="4868054"/>
            <a:ext cx="371227" cy="371227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60814" y="4923738"/>
            <a:ext cx="185613" cy="259859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19460" y="4682440"/>
            <a:ext cx="3514185" cy="1522031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05073" y="4868054"/>
            <a:ext cx="371227" cy="371227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97880" y="4923738"/>
            <a:ext cx="185613" cy="259859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45472" y="524699"/>
            <a:ext cx="131859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Feature: Dead-Letter Queues</a:t>
            </a:r>
            <a:endParaRPr lang="en-US" sz="2631" dirty="0"/>
          </a:p>
        </p:txBody>
      </p:sp>
      <p:sp>
        <p:nvSpPr>
          <p:cNvPr id="30" name="Text 1"/>
          <p:cNvSpPr/>
          <p:nvPr/>
        </p:nvSpPr>
        <p:spPr>
          <a:xfrm>
            <a:off x="668209" y="1564134"/>
            <a:ext cx="1054284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Dead-Letter Queue (DLQ) in Amazon SNS is an Amazon SQS queue designated to receive messages that an SNS subscription fails to deliver successfully to its intended subscriber endpoint.</a:t>
            </a:r>
            <a:endParaRPr lang="en-US" sz="1461" dirty="0"/>
          </a:p>
        </p:txBody>
      </p:sp>
      <p:sp>
        <p:nvSpPr>
          <p:cNvPr id="31" name="Text 2"/>
          <p:cNvSpPr/>
          <p:nvPr/>
        </p:nvSpPr>
        <p:spPr>
          <a:xfrm>
            <a:off x="951268" y="3605882"/>
            <a:ext cx="9243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SNS Topic</a:t>
            </a:r>
            <a:endParaRPr lang="en-US" sz="1315" dirty="0"/>
          </a:p>
        </p:txBody>
      </p:sp>
      <p:sp>
        <p:nvSpPr>
          <p:cNvPr id="32" name="Text 3"/>
          <p:cNvSpPr/>
          <p:nvPr/>
        </p:nvSpPr>
        <p:spPr>
          <a:xfrm>
            <a:off x="5262142" y="3605882"/>
            <a:ext cx="162597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Success?</a:t>
            </a:r>
            <a:endParaRPr lang="en-US" sz="1315" dirty="0"/>
          </a:p>
        </p:txBody>
      </p:sp>
      <p:sp>
        <p:nvSpPr>
          <p:cNvPr id="33" name="Text 4"/>
          <p:cNvSpPr/>
          <p:nvPr/>
        </p:nvSpPr>
        <p:spPr>
          <a:xfrm>
            <a:off x="10231943" y="3605882"/>
            <a:ext cx="74616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</a:t>
            </a:r>
            <a:endParaRPr lang="en-US" sz="1315" dirty="0"/>
          </a:p>
        </p:txBody>
      </p:sp>
      <p:sp>
        <p:nvSpPr>
          <p:cNvPr id="34" name="Text 5"/>
          <p:cNvSpPr/>
          <p:nvPr/>
        </p:nvSpPr>
        <p:spPr>
          <a:xfrm>
            <a:off x="10880516" y="4111905"/>
            <a:ext cx="36751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DLQ</a:t>
            </a:r>
            <a:endParaRPr lang="en-US" sz="1315" dirty="0"/>
          </a:p>
        </p:txBody>
      </p:sp>
      <p:sp>
        <p:nvSpPr>
          <p:cNvPr id="35" name="Text 6"/>
          <p:cNvSpPr/>
          <p:nvPr/>
        </p:nvSpPr>
        <p:spPr>
          <a:xfrm>
            <a:off x="9969300" y="3847180"/>
            <a:ext cx="1147091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Failed messages</a:t>
            </a:r>
            <a:endParaRPr lang="en-US" sz="1023" dirty="0"/>
          </a:p>
        </p:txBody>
      </p:sp>
      <p:sp>
        <p:nvSpPr>
          <p:cNvPr id="36" name="Text 7"/>
          <p:cNvSpPr/>
          <p:nvPr/>
        </p:nvSpPr>
        <p:spPr>
          <a:xfrm>
            <a:off x="1113681" y="4923738"/>
            <a:ext cx="191553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 Durability</a:t>
            </a:r>
            <a:endParaRPr lang="en-US" sz="1461" dirty="0"/>
          </a:p>
        </p:txBody>
      </p:sp>
      <p:sp>
        <p:nvSpPr>
          <p:cNvPr id="37" name="Text 8"/>
          <p:cNvSpPr/>
          <p:nvPr/>
        </p:nvSpPr>
        <p:spPr>
          <a:xfrm>
            <a:off x="631086" y="5350649"/>
            <a:ext cx="3142958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messages are not lost when delivery fails, providing durability for critical information.</a:t>
            </a:r>
            <a:endParaRPr lang="en-US" sz="1169" dirty="0"/>
          </a:p>
        </p:txBody>
      </p:sp>
      <p:sp>
        <p:nvSpPr>
          <p:cNvPr id="38" name="Text 9"/>
          <p:cNvSpPr/>
          <p:nvPr/>
        </p:nvSpPr>
        <p:spPr>
          <a:xfrm>
            <a:off x="4850602" y="4923738"/>
            <a:ext cx="136982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 Analysis</a:t>
            </a:r>
            <a:endParaRPr lang="en-US" sz="1461" dirty="0"/>
          </a:p>
        </p:txBody>
      </p:sp>
      <p:sp>
        <p:nvSpPr>
          <p:cNvPr id="39" name="Text 10"/>
          <p:cNvSpPr/>
          <p:nvPr/>
        </p:nvSpPr>
        <p:spPr>
          <a:xfrm>
            <a:off x="4368007" y="5350649"/>
            <a:ext cx="3143104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 failed messages for analysis, debugging, and reprocessing to identify and resolve delivery issues.</a:t>
            </a:r>
            <a:endParaRPr lang="en-US" sz="1169" dirty="0"/>
          </a:p>
        </p:txBody>
      </p:sp>
      <p:sp>
        <p:nvSpPr>
          <p:cNvPr id="40" name="Text 11"/>
          <p:cNvSpPr/>
          <p:nvPr/>
        </p:nvSpPr>
        <p:spPr>
          <a:xfrm>
            <a:off x="8587668" y="4923738"/>
            <a:ext cx="9243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Recovery</a:t>
            </a:r>
            <a:endParaRPr lang="en-US" sz="1461" dirty="0"/>
          </a:p>
        </p:txBody>
      </p:sp>
      <p:sp>
        <p:nvSpPr>
          <p:cNvPr id="41" name="Text 12"/>
          <p:cNvSpPr/>
          <p:nvPr/>
        </p:nvSpPr>
        <p:spPr>
          <a:xfrm>
            <a:off x="8105074" y="5350649"/>
            <a:ext cx="3142958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manual or automated recovery processes to retry message delivery or trigger alternative actions.</a:t>
            </a:r>
            <a:endParaRPr lang="en-US" sz="116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27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" y="5369210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007294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341398"/>
            <a:ext cx="10988318" cy="89094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3" y="2455079"/>
            <a:ext cx="3514185" cy="252434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208" y="2677815"/>
            <a:ext cx="445472" cy="44547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498" y="2752060"/>
            <a:ext cx="194894" cy="29698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208" y="3308901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208" y="3866100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2393" y="2455079"/>
            <a:ext cx="3514331" cy="252434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5130" y="2677815"/>
            <a:ext cx="445472" cy="44547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6498" y="2752060"/>
            <a:ext cx="222736" cy="29698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5130" y="3308901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5130" y="3828619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5130" y="4348336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19460" y="2455079"/>
            <a:ext cx="3514185" cy="2524343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42196" y="2677815"/>
            <a:ext cx="445472" cy="44547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5722" y="2752060"/>
            <a:ext cx="278420" cy="296982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2195" y="3308901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2195" y="3828619"/>
            <a:ext cx="148491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2195" y="4125600"/>
            <a:ext cx="148491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5472" y="5202158"/>
            <a:ext cx="10988318" cy="519718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3963" y="5378491"/>
            <a:ext cx="148491" cy="148491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445472" y="524699"/>
            <a:ext cx="131859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Feature: Encryption &amp; Security</a:t>
            </a:r>
            <a:endParaRPr lang="en-US" sz="2631" dirty="0"/>
          </a:p>
        </p:txBody>
      </p:sp>
      <p:sp>
        <p:nvSpPr>
          <p:cNvPr id="29" name="Text 1"/>
          <p:cNvSpPr/>
          <p:nvPr/>
        </p:nvSpPr>
        <p:spPr>
          <a:xfrm>
            <a:off x="631086" y="1527011"/>
            <a:ext cx="10617091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SNS incorporates robust security measures to protect messages both at rest and in transit, ensuring secure communication across your distributed systems.</a:t>
            </a:r>
            <a:endParaRPr lang="en-US" sz="1461" dirty="0"/>
          </a:p>
        </p:txBody>
      </p:sp>
      <p:sp>
        <p:nvSpPr>
          <p:cNvPr id="30" name="Text 2"/>
          <p:cNvSpPr/>
          <p:nvPr/>
        </p:nvSpPr>
        <p:spPr>
          <a:xfrm>
            <a:off x="1262171" y="2752060"/>
            <a:ext cx="278420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Server-Side Encryption</a:t>
            </a:r>
            <a:endParaRPr lang="en-US" sz="1754" dirty="0"/>
          </a:p>
        </p:txBody>
      </p:sp>
      <p:sp>
        <p:nvSpPr>
          <p:cNvPr id="31" name="Text 3"/>
          <p:cNvSpPr/>
          <p:nvPr/>
        </p:nvSpPr>
        <p:spPr>
          <a:xfrm>
            <a:off x="890945" y="3271778"/>
            <a:ext cx="284597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Messages encrypted at rest using AWS KMS</a:t>
            </a:r>
            <a:endParaRPr lang="en-US" sz="1169" dirty="0"/>
          </a:p>
        </p:txBody>
      </p:sp>
      <p:sp>
        <p:nvSpPr>
          <p:cNvPr id="32" name="Text 4"/>
          <p:cNvSpPr/>
          <p:nvPr/>
        </p:nvSpPr>
        <p:spPr>
          <a:xfrm>
            <a:off x="890945" y="3791496"/>
            <a:ext cx="237214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  <p:sp>
        <p:nvSpPr>
          <p:cNvPr id="33" name="Text 5"/>
          <p:cNvSpPr/>
          <p:nvPr/>
        </p:nvSpPr>
        <p:spPr>
          <a:xfrm>
            <a:off x="890944" y="3837626"/>
            <a:ext cx="188212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Decryption upon access</a:t>
            </a:r>
            <a:endParaRPr lang="en-US" sz="1169" dirty="0"/>
          </a:p>
        </p:txBody>
      </p:sp>
      <p:sp>
        <p:nvSpPr>
          <p:cNvPr id="34" name="Text 6"/>
          <p:cNvSpPr/>
          <p:nvPr/>
        </p:nvSpPr>
        <p:spPr>
          <a:xfrm>
            <a:off x="4999093" y="2752060"/>
            <a:ext cx="251691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In-Transit Encryption</a:t>
            </a:r>
            <a:endParaRPr lang="en-US" sz="1754" dirty="0"/>
          </a:p>
        </p:txBody>
      </p:sp>
      <p:sp>
        <p:nvSpPr>
          <p:cNvPr id="35" name="Text 7"/>
          <p:cNvSpPr/>
          <p:nvPr/>
        </p:nvSpPr>
        <p:spPr>
          <a:xfrm>
            <a:off x="4627866" y="3271778"/>
            <a:ext cx="284612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Encryption via HTTPS/TLS for publishing messages</a:t>
            </a:r>
            <a:endParaRPr lang="en-US" sz="1169" dirty="0"/>
          </a:p>
        </p:txBody>
      </p:sp>
      <p:sp>
        <p:nvSpPr>
          <p:cNvPr id="36" name="Text 8"/>
          <p:cNvSpPr/>
          <p:nvPr/>
        </p:nvSpPr>
        <p:spPr>
          <a:xfrm>
            <a:off x="4627866" y="3791496"/>
            <a:ext cx="284612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Safeguards communication between publishers and SNS</a:t>
            </a:r>
            <a:endParaRPr lang="en-US" sz="1169" dirty="0"/>
          </a:p>
        </p:txBody>
      </p:sp>
      <p:sp>
        <p:nvSpPr>
          <p:cNvPr id="37" name="Text 9"/>
          <p:cNvSpPr/>
          <p:nvPr/>
        </p:nvSpPr>
        <p:spPr>
          <a:xfrm>
            <a:off x="4627866" y="4311214"/>
            <a:ext cx="2846122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Protects communication between SNS and subscribers</a:t>
            </a:r>
            <a:endParaRPr lang="en-US" sz="1169" dirty="0"/>
          </a:p>
        </p:txBody>
      </p:sp>
      <p:sp>
        <p:nvSpPr>
          <p:cNvPr id="38" name="Text 10"/>
          <p:cNvSpPr/>
          <p:nvPr/>
        </p:nvSpPr>
        <p:spPr>
          <a:xfrm>
            <a:off x="8736159" y="2752060"/>
            <a:ext cx="183757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Control</a:t>
            </a:r>
            <a:endParaRPr lang="en-US" sz="1754" dirty="0"/>
          </a:p>
        </p:txBody>
      </p:sp>
      <p:sp>
        <p:nvSpPr>
          <p:cNvPr id="39" name="Text 11"/>
          <p:cNvSpPr/>
          <p:nvPr/>
        </p:nvSpPr>
        <p:spPr>
          <a:xfrm>
            <a:off x="8364932" y="3271778"/>
            <a:ext cx="284597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Controlled through AWS Identity and Access Management (IAM) policies</a:t>
            </a:r>
            <a:endParaRPr lang="en-US" sz="1169" dirty="0"/>
          </a:p>
        </p:txBody>
      </p:sp>
      <p:sp>
        <p:nvSpPr>
          <p:cNvPr id="40" name="Text 12"/>
          <p:cNvSpPr/>
          <p:nvPr/>
        </p:nvSpPr>
        <p:spPr>
          <a:xfrm>
            <a:off x="8364932" y="3791496"/>
            <a:ext cx="306262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Fine-grained permissions management</a:t>
            </a:r>
            <a:endParaRPr lang="en-US" sz="1169" dirty="0"/>
          </a:p>
        </p:txBody>
      </p:sp>
      <p:sp>
        <p:nvSpPr>
          <p:cNvPr id="41" name="Text 13"/>
          <p:cNvSpPr/>
          <p:nvPr/>
        </p:nvSpPr>
        <p:spPr>
          <a:xfrm>
            <a:off x="8364932" y="4088478"/>
            <a:ext cx="284597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Resource-based policies for topic access control</a:t>
            </a:r>
            <a:endParaRPr lang="en-US" sz="1169" dirty="0"/>
          </a:p>
        </p:txBody>
      </p:sp>
      <p:sp>
        <p:nvSpPr>
          <p:cNvPr id="42" name="Text 14"/>
          <p:cNvSpPr/>
          <p:nvPr/>
        </p:nvSpPr>
        <p:spPr>
          <a:xfrm>
            <a:off x="816699" y="5350649"/>
            <a:ext cx="1282960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SNS integrates with other AWS security services to provide a comprehensive security solution for messaging workloads.</a:t>
            </a:r>
            <a:endParaRPr lang="en-US" sz="116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81201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34798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27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" y="5499140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007294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267153"/>
            <a:ext cx="10988318" cy="89094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5668" y="2974797"/>
            <a:ext cx="1187926" cy="118792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3298" y="3253217"/>
            <a:ext cx="352666" cy="3341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6417" y="2974797"/>
            <a:ext cx="890945" cy="89094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0521" y="3141849"/>
            <a:ext cx="222736" cy="29698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51900" y="3211226"/>
            <a:ext cx="890945" cy="89094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99927" y="3464781"/>
            <a:ext cx="194894" cy="29698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98363" y="3438830"/>
            <a:ext cx="167052" cy="29698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5473" y="4979422"/>
            <a:ext cx="3514185" cy="144778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3963" y="5127913"/>
            <a:ext cx="371227" cy="371227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6050" y="5183597"/>
            <a:ext cx="167052" cy="259859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182393" y="4979422"/>
            <a:ext cx="3514331" cy="144778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30884" y="5127913"/>
            <a:ext cx="371227" cy="371227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23691" y="5183597"/>
            <a:ext cx="185613" cy="259859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19460" y="4979422"/>
            <a:ext cx="3514185" cy="144778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67950" y="5127913"/>
            <a:ext cx="371227" cy="371227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60757" y="5183597"/>
            <a:ext cx="185613" cy="259859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45472" y="524699"/>
            <a:ext cx="131859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Case: Event-Driven Architectures</a:t>
            </a:r>
            <a:endParaRPr lang="en-US" sz="2631" dirty="0"/>
          </a:p>
        </p:txBody>
      </p:sp>
      <p:sp>
        <p:nvSpPr>
          <p:cNvPr id="32" name="Text 1"/>
          <p:cNvSpPr/>
          <p:nvPr/>
        </p:nvSpPr>
        <p:spPr>
          <a:xfrm>
            <a:off x="631086" y="1452766"/>
            <a:ext cx="10617091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SNS serves as a foundational component for event-driven architectures by acting as a central communication hub, enabling decoupled microservices and facilitating asynchronous communication between components.</a:t>
            </a:r>
            <a:endParaRPr lang="en-US" sz="1461" dirty="0"/>
          </a:p>
        </p:txBody>
      </p:sp>
      <p:sp>
        <p:nvSpPr>
          <p:cNvPr id="33" name="Text 2"/>
          <p:cNvSpPr/>
          <p:nvPr/>
        </p:nvSpPr>
        <p:spPr>
          <a:xfrm>
            <a:off x="5527569" y="3661567"/>
            <a:ext cx="82412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SNS Topic</a:t>
            </a:r>
            <a:endParaRPr lang="en-US" sz="1169" dirty="0"/>
          </a:p>
        </p:txBody>
      </p:sp>
      <p:sp>
        <p:nvSpPr>
          <p:cNvPr id="35" name="Text 4"/>
          <p:cNvSpPr/>
          <p:nvPr/>
        </p:nvSpPr>
        <p:spPr>
          <a:xfrm>
            <a:off x="8822208" y="3125634"/>
            <a:ext cx="76844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A</a:t>
            </a:r>
            <a:endParaRPr lang="en-US" sz="1169" dirty="0"/>
          </a:p>
        </p:txBody>
      </p:sp>
      <p:sp>
        <p:nvSpPr>
          <p:cNvPr id="36" name="Text 5"/>
          <p:cNvSpPr/>
          <p:nvPr/>
        </p:nvSpPr>
        <p:spPr>
          <a:xfrm>
            <a:off x="8845075" y="3735991"/>
            <a:ext cx="75730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B</a:t>
            </a:r>
            <a:endParaRPr lang="en-US" sz="1169" dirty="0"/>
          </a:p>
        </p:txBody>
      </p:sp>
      <p:sp>
        <p:nvSpPr>
          <p:cNvPr id="38" name="Text 7"/>
          <p:cNvSpPr/>
          <p:nvPr/>
        </p:nvSpPr>
        <p:spPr>
          <a:xfrm>
            <a:off x="1076558" y="5183597"/>
            <a:ext cx="102458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Scalability</a:t>
            </a:r>
            <a:endParaRPr lang="en-US" sz="1461" dirty="0"/>
          </a:p>
        </p:txBody>
      </p:sp>
      <p:sp>
        <p:nvSpPr>
          <p:cNvPr id="39" name="Text 8"/>
          <p:cNvSpPr/>
          <p:nvPr/>
        </p:nvSpPr>
        <p:spPr>
          <a:xfrm>
            <a:off x="593963" y="5610508"/>
            <a:ext cx="321720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Easily scale components independently based on demand without affecting other services.</a:t>
            </a:r>
            <a:endParaRPr lang="en-US" sz="1169" dirty="0"/>
          </a:p>
        </p:txBody>
      </p:sp>
      <p:sp>
        <p:nvSpPr>
          <p:cNvPr id="40" name="Text 9"/>
          <p:cNvSpPr/>
          <p:nvPr/>
        </p:nvSpPr>
        <p:spPr>
          <a:xfrm>
            <a:off x="4813480" y="5183597"/>
            <a:ext cx="102458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Resilience</a:t>
            </a:r>
            <a:endParaRPr lang="en-US" sz="1461" dirty="0"/>
          </a:p>
        </p:txBody>
      </p:sp>
      <p:sp>
        <p:nvSpPr>
          <p:cNvPr id="41" name="Text 10"/>
          <p:cNvSpPr/>
          <p:nvPr/>
        </p:nvSpPr>
        <p:spPr>
          <a:xfrm>
            <a:off x="4330884" y="5610508"/>
            <a:ext cx="321734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 failures and ensure continued operation even when individual services encounter issues.</a:t>
            </a:r>
            <a:endParaRPr lang="en-US" sz="1169" dirty="0"/>
          </a:p>
        </p:txBody>
      </p:sp>
      <p:sp>
        <p:nvSpPr>
          <p:cNvPr id="42" name="Text 11"/>
          <p:cNvSpPr/>
          <p:nvPr/>
        </p:nvSpPr>
        <p:spPr>
          <a:xfrm>
            <a:off x="8550545" y="5183597"/>
            <a:ext cx="10691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Modularity</a:t>
            </a:r>
            <a:endParaRPr lang="en-US" sz="1461" dirty="0"/>
          </a:p>
        </p:txBody>
      </p:sp>
      <p:sp>
        <p:nvSpPr>
          <p:cNvPr id="43" name="Text 12"/>
          <p:cNvSpPr/>
          <p:nvPr/>
        </p:nvSpPr>
        <p:spPr>
          <a:xfrm>
            <a:off x="8067951" y="5610508"/>
            <a:ext cx="3217204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loose coupling between components, allowing for independent development and deployment.</a:t>
            </a:r>
            <a:endParaRPr lang="en-US" sz="1169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39CF5E-0802-B7DD-2BF4-1C36DBB00AE3}"/>
              </a:ext>
            </a:extLst>
          </p:cNvPr>
          <p:cNvCxnSpPr/>
          <p:nvPr/>
        </p:nvCxnSpPr>
        <p:spPr>
          <a:xfrm>
            <a:off x="2160541" y="3533983"/>
            <a:ext cx="33670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9554FFD-6F1E-763C-B30B-99D8B6F61113}"/>
              </a:ext>
            </a:extLst>
          </p:cNvPr>
          <p:cNvCxnSpPr/>
          <p:nvPr/>
        </p:nvCxnSpPr>
        <p:spPr>
          <a:xfrm flipV="1">
            <a:off x="6533594" y="3533983"/>
            <a:ext cx="2317645" cy="53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27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" y="5369210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007294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341398"/>
            <a:ext cx="10988318" cy="96519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2603570"/>
            <a:ext cx="3464736" cy="28213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6541" y="2826306"/>
            <a:ext cx="742454" cy="74245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2479" y="3011919"/>
            <a:ext cx="250578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208" y="4199845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208" y="4719563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208" y="5016545"/>
            <a:ext cx="148491" cy="14849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7190" y="2603570"/>
            <a:ext cx="3464736" cy="282132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8259" y="2826306"/>
            <a:ext cx="742454" cy="74245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72434" y="3011919"/>
            <a:ext cx="334104" cy="37122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9926" y="4199845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9926" y="4719563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29926" y="5016545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68909" y="2603570"/>
            <a:ext cx="3464881" cy="282132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0122" y="2826306"/>
            <a:ext cx="742454" cy="74245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34297" y="3011919"/>
            <a:ext cx="334104" cy="371227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645" y="4199845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645" y="4719563"/>
            <a:ext cx="148491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645" y="5016545"/>
            <a:ext cx="148491" cy="148491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45472" y="524699"/>
            <a:ext cx="13185981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Case: User Notifications</a:t>
            </a:r>
            <a:endParaRPr lang="en-US" sz="2631" dirty="0"/>
          </a:p>
        </p:txBody>
      </p:sp>
      <p:sp>
        <p:nvSpPr>
          <p:cNvPr id="27" name="Text 1"/>
          <p:cNvSpPr/>
          <p:nvPr/>
        </p:nvSpPr>
        <p:spPr>
          <a:xfrm>
            <a:off x="668209" y="1564134"/>
            <a:ext cx="1054284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SNS excels at delivering application-to-person (A2P) notifications, enabling direct communication with end-users across multiple channels. This capability allows applications to engage with users effectively.</a:t>
            </a:r>
            <a:endParaRPr lang="en-US" sz="1461" dirty="0"/>
          </a:p>
        </p:txBody>
      </p:sp>
      <p:sp>
        <p:nvSpPr>
          <p:cNvPr id="28" name="Text 2"/>
          <p:cNvSpPr/>
          <p:nvPr/>
        </p:nvSpPr>
        <p:spPr>
          <a:xfrm>
            <a:off x="366282" y="3717250"/>
            <a:ext cx="362311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Push Notifications</a:t>
            </a:r>
            <a:endParaRPr lang="en-US" sz="1754" dirty="0"/>
          </a:p>
        </p:txBody>
      </p:sp>
      <p:sp>
        <p:nvSpPr>
          <p:cNvPr id="29" name="Text 3"/>
          <p:cNvSpPr/>
          <p:nvPr/>
        </p:nvSpPr>
        <p:spPr>
          <a:xfrm>
            <a:off x="890944" y="4162723"/>
            <a:ext cx="279652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Delivers to mobile apps on APNs, FCM, Baidu, and WNS</a:t>
            </a:r>
            <a:endParaRPr lang="en-US" sz="1169" dirty="0"/>
          </a:p>
        </p:txBody>
      </p:sp>
      <p:sp>
        <p:nvSpPr>
          <p:cNvPr id="30" name="Text 4"/>
          <p:cNvSpPr/>
          <p:nvPr/>
        </p:nvSpPr>
        <p:spPr>
          <a:xfrm>
            <a:off x="890944" y="4682441"/>
            <a:ext cx="285102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real-time alerts and updates</a:t>
            </a:r>
            <a:endParaRPr lang="en-US" sz="1169" dirty="0"/>
          </a:p>
        </p:txBody>
      </p:sp>
      <p:sp>
        <p:nvSpPr>
          <p:cNvPr id="31" name="Text 5"/>
          <p:cNvSpPr/>
          <p:nvPr/>
        </p:nvSpPr>
        <p:spPr>
          <a:xfrm>
            <a:off x="890944" y="4979422"/>
            <a:ext cx="325194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both iOS and Android platforms</a:t>
            </a:r>
            <a:endParaRPr lang="en-US" sz="1169" dirty="0"/>
          </a:p>
        </p:txBody>
      </p:sp>
      <p:sp>
        <p:nvSpPr>
          <p:cNvPr id="32" name="Text 6"/>
          <p:cNvSpPr/>
          <p:nvPr/>
        </p:nvSpPr>
        <p:spPr>
          <a:xfrm>
            <a:off x="4127999" y="3717250"/>
            <a:ext cx="362311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SMS Text Messages</a:t>
            </a:r>
            <a:endParaRPr lang="en-US" sz="1754" dirty="0"/>
          </a:p>
        </p:txBody>
      </p:sp>
      <p:sp>
        <p:nvSpPr>
          <p:cNvPr id="33" name="Text 7"/>
          <p:cNvSpPr/>
          <p:nvPr/>
        </p:nvSpPr>
        <p:spPr>
          <a:xfrm>
            <a:off x="4652662" y="4162723"/>
            <a:ext cx="279652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Sends text messages to phone numbers globally</a:t>
            </a:r>
            <a:endParaRPr lang="en-US" sz="1169" dirty="0"/>
          </a:p>
        </p:txBody>
      </p:sp>
      <p:sp>
        <p:nvSpPr>
          <p:cNvPr id="34" name="Text 8"/>
          <p:cNvSpPr/>
          <p:nvPr/>
        </p:nvSpPr>
        <p:spPr>
          <a:xfrm>
            <a:off x="4652662" y="4682441"/>
            <a:ext cx="295125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Cost-effective for time-sensitive alerts</a:t>
            </a:r>
            <a:endParaRPr lang="en-US" sz="1169" dirty="0"/>
          </a:p>
        </p:txBody>
      </p:sp>
      <p:sp>
        <p:nvSpPr>
          <p:cNvPr id="35" name="Text 9"/>
          <p:cNvSpPr/>
          <p:nvPr/>
        </p:nvSpPr>
        <p:spPr>
          <a:xfrm>
            <a:off x="4652662" y="4979422"/>
            <a:ext cx="26728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without internet connection</a:t>
            </a:r>
            <a:endParaRPr lang="en-US" sz="1169" dirty="0"/>
          </a:p>
        </p:txBody>
      </p:sp>
      <p:sp>
        <p:nvSpPr>
          <p:cNvPr id="36" name="Text 10"/>
          <p:cNvSpPr/>
          <p:nvPr/>
        </p:nvSpPr>
        <p:spPr>
          <a:xfrm>
            <a:off x="7889704" y="3717250"/>
            <a:ext cx="362329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Notifications</a:t>
            </a:r>
            <a:endParaRPr lang="en-US" sz="1754" dirty="0"/>
          </a:p>
        </p:txBody>
      </p:sp>
      <p:sp>
        <p:nvSpPr>
          <p:cNvPr id="37" name="Text 11"/>
          <p:cNvSpPr/>
          <p:nvPr/>
        </p:nvSpPr>
        <p:spPr>
          <a:xfrm>
            <a:off x="8414381" y="4162723"/>
            <a:ext cx="279667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Delivers email notifications to specified addresses</a:t>
            </a:r>
            <a:endParaRPr lang="en-US" sz="1169" dirty="0"/>
          </a:p>
        </p:txBody>
      </p:sp>
      <p:sp>
        <p:nvSpPr>
          <p:cNvPr id="38" name="Text 12"/>
          <p:cNvSpPr/>
          <p:nvPr/>
        </p:nvSpPr>
        <p:spPr>
          <a:xfrm>
            <a:off x="8414381" y="4682441"/>
            <a:ext cx="302921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HTML and plain text formats</a:t>
            </a:r>
            <a:endParaRPr lang="en-US" sz="1169" dirty="0"/>
          </a:p>
        </p:txBody>
      </p:sp>
      <p:sp>
        <p:nvSpPr>
          <p:cNvPr id="39" name="Text 13"/>
          <p:cNvSpPr/>
          <p:nvPr/>
        </p:nvSpPr>
        <p:spPr>
          <a:xfrm>
            <a:off x="8414381" y="4979422"/>
            <a:ext cx="23832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Great for detailed notifications</a:t>
            </a:r>
            <a:endParaRPr lang="en-US" sz="1169" dirty="0"/>
          </a:p>
        </p:txBody>
      </p:sp>
      <p:sp>
        <p:nvSpPr>
          <p:cNvPr id="40" name="Text 14"/>
          <p:cNvSpPr/>
          <p:nvPr/>
        </p:nvSpPr>
        <p:spPr>
          <a:xfrm>
            <a:off x="-653360" y="5721876"/>
            <a:ext cx="1318598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i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SNS handles the complexity of delivering notifications across different channels, allowing applications to focus on their core functionality.</a:t>
            </a:r>
            <a:endParaRPr lang="en-US" sz="11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27" y="79226"/>
            <a:ext cx="1856135" cy="139210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33" y="5369210"/>
            <a:ext cx="1856135" cy="18561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007294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267153"/>
            <a:ext cx="10988318" cy="89094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2380834"/>
            <a:ext cx="371227" cy="37122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279" y="2436518"/>
            <a:ext cx="185613" cy="2598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82394" y="2380834"/>
            <a:ext cx="371227" cy="37122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1280" y="2436518"/>
            <a:ext cx="213455" cy="25985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19459" y="2380834"/>
            <a:ext cx="371227" cy="37122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1547" y="2436518"/>
            <a:ext cx="167052" cy="25985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472" y="2974797"/>
            <a:ext cx="5382791" cy="13735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086" y="3160410"/>
            <a:ext cx="445472" cy="44547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4612" y="3234655"/>
            <a:ext cx="278420" cy="29698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0999" y="2974797"/>
            <a:ext cx="5382791" cy="137354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6613" y="3160410"/>
            <a:ext cx="445472" cy="445472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1903" y="3234655"/>
            <a:ext cx="194894" cy="296982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5472" y="4571072"/>
            <a:ext cx="5382791" cy="137354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086" y="4756686"/>
            <a:ext cx="445472" cy="44547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4612" y="4830931"/>
            <a:ext cx="278420" cy="296982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0999" y="4571072"/>
            <a:ext cx="5382791" cy="137354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6613" y="4756686"/>
            <a:ext cx="445472" cy="445472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61903" y="4830931"/>
            <a:ext cx="194894" cy="296982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445472" y="524699"/>
            <a:ext cx="10988318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AWS Service Integrations</a:t>
            </a:r>
            <a:endParaRPr lang="en-US" sz="2631" dirty="0"/>
          </a:p>
        </p:txBody>
      </p:sp>
      <p:sp>
        <p:nvSpPr>
          <p:cNvPr id="28" name="Text 1"/>
          <p:cNvSpPr/>
          <p:nvPr/>
        </p:nvSpPr>
        <p:spPr>
          <a:xfrm>
            <a:off x="631086" y="1452766"/>
            <a:ext cx="10617091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Amazon SNS integrates seamlessly with a wide array of AWS services, enabling robust, scalable messaging solutions and complex workflows.</a:t>
            </a:r>
            <a:endParaRPr lang="en-US" sz="1461" dirty="0"/>
          </a:p>
        </p:txBody>
      </p:sp>
      <p:sp>
        <p:nvSpPr>
          <p:cNvPr id="29" name="Text 2"/>
          <p:cNvSpPr/>
          <p:nvPr/>
        </p:nvSpPr>
        <p:spPr>
          <a:xfrm>
            <a:off x="928067" y="2436518"/>
            <a:ext cx="201576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functionality</a:t>
            </a:r>
            <a:endParaRPr lang="en-US" sz="1315" dirty="0"/>
          </a:p>
        </p:txBody>
      </p:sp>
      <p:sp>
        <p:nvSpPr>
          <p:cNvPr id="30" name="Text 3"/>
          <p:cNvSpPr/>
          <p:nvPr/>
        </p:nvSpPr>
        <p:spPr>
          <a:xfrm>
            <a:off x="4664989" y="2436518"/>
            <a:ext cx="174847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 workflows</a:t>
            </a:r>
            <a:endParaRPr lang="en-US" sz="1315" dirty="0"/>
          </a:p>
        </p:txBody>
      </p:sp>
      <p:sp>
        <p:nvSpPr>
          <p:cNvPr id="31" name="Text 4"/>
          <p:cNvSpPr/>
          <p:nvPr/>
        </p:nvSpPr>
        <p:spPr>
          <a:xfrm>
            <a:off x="8402055" y="2436518"/>
            <a:ext cx="160370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Scalable solutions</a:t>
            </a:r>
            <a:endParaRPr lang="en-US" sz="1315" dirty="0"/>
          </a:p>
        </p:txBody>
      </p:sp>
      <p:sp>
        <p:nvSpPr>
          <p:cNvPr id="32" name="Text 5"/>
          <p:cNvSpPr/>
          <p:nvPr/>
        </p:nvSpPr>
        <p:spPr>
          <a:xfrm>
            <a:off x="1225049" y="3253217"/>
            <a:ext cx="26728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Event-Driven Architectures</a:t>
            </a:r>
            <a:endParaRPr lang="en-US" sz="1461" dirty="0"/>
          </a:p>
        </p:txBody>
      </p:sp>
      <p:sp>
        <p:nvSpPr>
          <p:cNvPr id="33" name="Text 6"/>
          <p:cNvSpPr/>
          <p:nvPr/>
        </p:nvSpPr>
        <p:spPr>
          <a:xfrm>
            <a:off x="631086" y="3717251"/>
            <a:ext cx="501156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SNS serves as a central communication hub, enabling decoupling of microservices and asynchronous communication between components.</a:t>
            </a:r>
            <a:endParaRPr lang="en-US" sz="1169" dirty="0"/>
          </a:p>
        </p:txBody>
      </p:sp>
      <p:sp>
        <p:nvSpPr>
          <p:cNvPr id="34" name="Text 7"/>
          <p:cNvSpPr/>
          <p:nvPr/>
        </p:nvSpPr>
        <p:spPr>
          <a:xfrm>
            <a:off x="6830576" y="3253217"/>
            <a:ext cx="192666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Monitoring &amp; Alerts</a:t>
            </a:r>
            <a:endParaRPr lang="en-US" sz="1461" dirty="0"/>
          </a:p>
        </p:txBody>
      </p:sp>
      <p:sp>
        <p:nvSpPr>
          <p:cNvPr id="35" name="Text 8"/>
          <p:cNvSpPr/>
          <p:nvPr/>
        </p:nvSpPr>
        <p:spPr>
          <a:xfrm>
            <a:off x="6236612" y="3717251"/>
            <a:ext cx="501156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Integrates with CloudWatch and other monitoring services to trigger notifications based on metric thresholds and events.</a:t>
            </a:r>
            <a:endParaRPr lang="en-US" sz="1169" dirty="0"/>
          </a:p>
        </p:txBody>
      </p:sp>
      <p:sp>
        <p:nvSpPr>
          <p:cNvPr id="36" name="Text 9"/>
          <p:cNvSpPr/>
          <p:nvPr/>
        </p:nvSpPr>
        <p:spPr>
          <a:xfrm>
            <a:off x="1225049" y="4849493"/>
            <a:ext cx="178188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Notifications</a:t>
            </a:r>
            <a:endParaRPr lang="en-US" sz="1461" dirty="0"/>
          </a:p>
        </p:txBody>
      </p:sp>
      <p:sp>
        <p:nvSpPr>
          <p:cNvPr id="37" name="Text 10"/>
          <p:cNvSpPr/>
          <p:nvPr/>
        </p:nvSpPr>
        <p:spPr>
          <a:xfrm>
            <a:off x="631086" y="5313527"/>
            <a:ext cx="501156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Seamlessly delivers A2P notifications via email, SMS, and mobile push to end-users across various devices.</a:t>
            </a:r>
            <a:endParaRPr lang="en-US" sz="1169" dirty="0"/>
          </a:p>
        </p:txBody>
      </p:sp>
      <p:sp>
        <p:nvSpPr>
          <p:cNvPr id="38" name="Text 11"/>
          <p:cNvSpPr/>
          <p:nvPr/>
        </p:nvSpPr>
        <p:spPr>
          <a:xfrm>
            <a:off x="6830576" y="4849493"/>
            <a:ext cx="162597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Processing</a:t>
            </a:r>
            <a:endParaRPr lang="en-US" sz="1461" dirty="0"/>
          </a:p>
        </p:txBody>
      </p:sp>
      <p:sp>
        <p:nvSpPr>
          <p:cNvPr id="39" name="Text 12"/>
          <p:cNvSpPr/>
          <p:nvPr/>
        </p:nvSpPr>
        <p:spPr>
          <a:xfrm>
            <a:off x="6236612" y="5313527"/>
            <a:ext cx="501156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with Kinesis Data Firehose to deliver messages for real-time data processing and analytics.</a:t>
            </a:r>
            <a:endParaRPr lang="en-US" sz="116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27" y="858803"/>
            <a:ext cx="593963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27" y="1211469"/>
            <a:ext cx="222736" cy="2227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27" y="2046729"/>
            <a:ext cx="5457036" cy="107655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999" y="2046729"/>
            <a:ext cx="5457036" cy="107655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27" y="3346024"/>
            <a:ext cx="5457036" cy="133641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0999" y="3346024"/>
            <a:ext cx="5457036" cy="1336417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51195" y="450454"/>
            <a:ext cx="556840" cy="5568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227" y="6334401"/>
            <a:ext cx="11136809" cy="5568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226" y="6334401"/>
            <a:ext cx="6311149" cy="55684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71227" y="450454"/>
            <a:ext cx="13364170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</a:t>
            </a:r>
            <a:endParaRPr lang="en-US" sz="2192" dirty="0"/>
          </a:p>
        </p:txBody>
      </p:sp>
      <p:sp>
        <p:nvSpPr>
          <p:cNvPr id="13" name="Text 1"/>
          <p:cNvSpPr/>
          <p:nvPr/>
        </p:nvSpPr>
        <p:spPr>
          <a:xfrm>
            <a:off x="705331" y="1192907"/>
            <a:ext cx="11136809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92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Which of the following best describes the primary function of AWS Simple Notification Service (SNS)?</a:t>
            </a:r>
            <a:endParaRPr lang="en-US" sz="1754" dirty="0"/>
          </a:p>
        </p:txBody>
      </p:sp>
      <p:sp>
        <p:nvSpPr>
          <p:cNvPr id="14" name="Text 2"/>
          <p:cNvSpPr/>
          <p:nvPr/>
        </p:nvSpPr>
        <p:spPr>
          <a:xfrm>
            <a:off x="519717" y="2195220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A.</a:t>
            </a:r>
            <a:endParaRPr lang="en-US" sz="1461" dirty="0"/>
          </a:p>
        </p:txBody>
      </p:sp>
      <p:sp>
        <p:nvSpPr>
          <p:cNvPr id="15" name="Text 3"/>
          <p:cNvSpPr/>
          <p:nvPr/>
        </p:nvSpPr>
        <p:spPr>
          <a:xfrm>
            <a:off x="519717" y="2455079"/>
            <a:ext cx="516005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store messages for asynchronous processing by a single consumer.</a:t>
            </a:r>
            <a:endParaRPr lang="en-US" sz="1315" dirty="0"/>
          </a:p>
        </p:txBody>
      </p:sp>
      <p:sp>
        <p:nvSpPr>
          <p:cNvPr id="16" name="Text 4"/>
          <p:cNvSpPr/>
          <p:nvPr/>
        </p:nvSpPr>
        <p:spPr>
          <a:xfrm>
            <a:off x="6199490" y="2195220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B.</a:t>
            </a:r>
            <a:endParaRPr lang="en-US" sz="1461" dirty="0"/>
          </a:p>
        </p:txBody>
      </p:sp>
      <p:sp>
        <p:nvSpPr>
          <p:cNvPr id="17" name="Text 5"/>
          <p:cNvSpPr/>
          <p:nvPr/>
        </p:nvSpPr>
        <p:spPr>
          <a:xfrm>
            <a:off x="6199490" y="2455079"/>
            <a:ext cx="516005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provide a fully managed message queue for decoupling application components.</a:t>
            </a:r>
            <a:endParaRPr lang="en-US" sz="1315" dirty="0"/>
          </a:p>
        </p:txBody>
      </p:sp>
      <p:sp>
        <p:nvSpPr>
          <p:cNvPr id="18" name="Text 6"/>
          <p:cNvSpPr/>
          <p:nvPr/>
        </p:nvSpPr>
        <p:spPr>
          <a:xfrm>
            <a:off x="519717" y="3494514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C.</a:t>
            </a:r>
            <a:endParaRPr lang="en-US" sz="1461" dirty="0"/>
          </a:p>
        </p:txBody>
      </p:sp>
      <p:sp>
        <p:nvSpPr>
          <p:cNvPr id="19" name="Text 7"/>
          <p:cNvSpPr/>
          <p:nvPr/>
        </p:nvSpPr>
        <p:spPr>
          <a:xfrm>
            <a:off x="519717" y="3754373"/>
            <a:ext cx="5160055" cy="77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enable application-to-application (A2A) and application-to-person (A2P) communication through a publish/subscribe model.</a:t>
            </a:r>
            <a:endParaRPr lang="en-US" sz="1315" dirty="0"/>
          </a:p>
        </p:txBody>
      </p:sp>
      <p:sp>
        <p:nvSpPr>
          <p:cNvPr id="20" name="Text 8"/>
          <p:cNvSpPr/>
          <p:nvPr/>
        </p:nvSpPr>
        <p:spPr>
          <a:xfrm>
            <a:off x="6199490" y="3494514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D.</a:t>
            </a:r>
            <a:endParaRPr lang="en-US" sz="1461" dirty="0"/>
          </a:p>
        </p:txBody>
      </p:sp>
      <p:sp>
        <p:nvSpPr>
          <p:cNvPr id="21" name="Text 9"/>
          <p:cNvSpPr/>
          <p:nvPr/>
        </p:nvSpPr>
        <p:spPr>
          <a:xfrm>
            <a:off x="6199490" y="3754373"/>
            <a:ext cx="516005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orchestrate complex workflows involving multiple AWS services.</a:t>
            </a:r>
            <a:endParaRPr lang="en-US" sz="1315" dirty="0"/>
          </a:p>
        </p:txBody>
      </p:sp>
      <p:sp>
        <p:nvSpPr>
          <p:cNvPr id="22" name="Text 10"/>
          <p:cNvSpPr/>
          <p:nvPr/>
        </p:nvSpPr>
        <p:spPr>
          <a:xfrm>
            <a:off x="371227" y="6055981"/>
            <a:ext cx="359510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</a:t>
            </a:r>
            <a:endParaRPr lang="en-US" sz="1169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703475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27" y="858803"/>
            <a:ext cx="593963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27" y="1118662"/>
            <a:ext cx="11136809" cy="81669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27" y="3677808"/>
            <a:ext cx="11136809" cy="133641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4294" y="3900544"/>
            <a:ext cx="380508" cy="3341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8013" y="4336736"/>
            <a:ext cx="6080872" cy="1856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3268" y="4076877"/>
            <a:ext cx="278420" cy="2784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4572" y="3900544"/>
            <a:ext cx="417630" cy="3341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227" y="6687066"/>
            <a:ext cx="11136809" cy="5568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226" y="6687066"/>
            <a:ext cx="6311149" cy="55684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519717" y="1359960"/>
            <a:ext cx="372213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C.</a:t>
            </a:r>
            <a:endParaRPr lang="en-US" sz="2192" dirty="0"/>
          </a:p>
        </p:txBody>
      </p:sp>
      <p:sp>
        <p:nvSpPr>
          <p:cNvPr id="14" name="Text 2"/>
          <p:cNvSpPr/>
          <p:nvPr/>
        </p:nvSpPr>
        <p:spPr>
          <a:xfrm>
            <a:off x="941263" y="1267153"/>
            <a:ext cx="10418282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 enable application-to-application (A2A) and application-to-person (A2P) communication through a publish/subscribe model.</a:t>
            </a:r>
            <a:endParaRPr lang="en-US" sz="1461" dirty="0"/>
          </a:p>
        </p:txBody>
      </p:sp>
      <p:sp>
        <p:nvSpPr>
          <p:cNvPr id="15" name="Text 3"/>
          <p:cNvSpPr/>
          <p:nvPr/>
        </p:nvSpPr>
        <p:spPr>
          <a:xfrm>
            <a:off x="371227" y="2158097"/>
            <a:ext cx="1113680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754" dirty="0"/>
          </a:p>
        </p:txBody>
      </p:sp>
      <p:sp>
        <p:nvSpPr>
          <p:cNvPr id="16" name="Text 4"/>
          <p:cNvSpPr/>
          <p:nvPr/>
        </p:nvSpPr>
        <p:spPr>
          <a:xfrm>
            <a:off x="371227" y="2566448"/>
            <a:ext cx="11136809" cy="8143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SimpleNotification Service (SNS) is a fully managed message queuing service that enables application-to-application (A2A) and application-to-person (A2P) communication through a publish/subscribe model. It allows publishers to send messages to topics, and subscribers to receive those messages without knowing about each other's existence.</a:t>
            </a:r>
            <a:endParaRPr lang="en-US" sz="1315" dirty="0"/>
          </a:p>
        </p:txBody>
      </p:sp>
      <p:sp>
        <p:nvSpPr>
          <p:cNvPr id="17" name="Text 5"/>
          <p:cNvSpPr/>
          <p:nvPr/>
        </p:nvSpPr>
        <p:spPr>
          <a:xfrm>
            <a:off x="593963" y="4346016"/>
            <a:ext cx="204131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Publishers</a:t>
            </a:r>
            <a:endParaRPr lang="en-US" sz="1315" dirty="0"/>
          </a:p>
        </p:txBody>
      </p:sp>
      <p:sp>
        <p:nvSpPr>
          <p:cNvPr id="18" name="Text 6"/>
          <p:cNvSpPr/>
          <p:nvPr/>
        </p:nvSpPr>
        <p:spPr>
          <a:xfrm>
            <a:off x="389832" y="4605876"/>
            <a:ext cx="2449576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Applications sending messages</a:t>
            </a:r>
            <a:endParaRPr lang="en-US" sz="1023" dirty="0"/>
          </a:p>
        </p:txBody>
      </p:sp>
      <p:sp>
        <p:nvSpPr>
          <p:cNvPr id="19" name="Text 7"/>
          <p:cNvSpPr/>
          <p:nvPr/>
        </p:nvSpPr>
        <p:spPr>
          <a:xfrm>
            <a:off x="5520232" y="4438823"/>
            <a:ext cx="756433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 Topic</a:t>
            </a:r>
            <a:endParaRPr lang="en-US" sz="1023" dirty="0"/>
          </a:p>
        </p:txBody>
      </p:sp>
      <p:sp>
        <p:nvSpPr>
          <p:cNvPr id="20" name="Text 8"/>
          <p:cNvSpPr/>
          <p:nvPr/>
        </p:nvSpPr>
        <p:spPr>
          <a:xfrm>
            <a:off x="8949252" y="4346016"/>
            <a:ext cx="254841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Subscribers</a:t>
            </a:r>
            <a:endParaRPr lang="en-US" sz="1315" dirty="0"/>
          </a:p>
        </p:txBody>
      </p:sp>
      <p:sp>
        <p:nvSpPr>
          <p:cNvPr id="21" name="Text 9"/>
          <p:cNvSpPr/>
          <p:nvPr/>
        </p:nvSpPr>
        <p:spPr>
          <a:xfrm>
            <a:off x="8949252" y="4605876"/>
            <a:ext cx="2548415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461"/>
              </a:lnSpc>
            </a:pPr>
            <a:r>
              <a:rPr lang="en-US" sz="1023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Applications receiving messages</a:t>
            </a:r>
            <a:endParaRPr lang="en-US" sz="1023" dirty="0"/>
          </a:p>
        </p:txBody>
      </p:sp>
      <p:sp>
        <p:nvSpPr>
          <p:cNvPr id="22" name="Text 10"/>
          <p:cNvSpPr/>
          <p:nvPr/>
        </p:nvSpPr>
        <p:spPr>
          <a:xfrm>
            <a:off x="371227" y="5236961"/>
            <a:ext cx="1113680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Features:</a:t>
            </a:r>
            <a:endParaRPr lang="en-US" sz="1461" dirty="0"/>
          </a:p>
        </p:txBody>
      </p:sp>
      <p:sp>
        <p:nvSpPr>
          <p:cNvPr id="23" name="Text 11"/>
          <p:cNvSpPr/>
          <p:nvPr/>
        </p:nvSpPr>
        <p:spPr>
          <a:xfrm>
            <a:off x="408350" y="5571065"/>
            <a:ext cx="67266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Decouples publishers from subscribers</a:t>
            </a:r>
            <a:endParaRPr lang="en-US" sz="1315" dirty="0"/>
          </a:p>
        </p:txBody>
      </p:sp>
      <p:sp>
        <p:nvSpPr>
          <p:cNvPr id="24" name="Text 12"/>
          <p:cNvSpPr/>
          <p:nvPr/>
        </p:nvSpPr>
        <p:spPr>
          <a:xfrm>
            <a:off x="5902509" y="5571065"/>
            <a:ext cx="67266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Supports multiple subscription protocols</a:t>
            </a:r>
            <a:endParaRPr lang="en-US" sz="1315" dirty="0"/>
          </a:p>
        </p:txBody>
      </p:sp>
      <p:sp>
        <p:nvSpPr>
          <p:cNvPr id="25" name="Text 13"/>
          <p:cNvSpPr/>
          <p:nvPr/>
        </p:nvSpPr>
        <p:spPr>
          <a:xfrm>
            <a:off x="408350" y="5905170"/>
            <a:ext cx="67266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A2A and A2P communication</a:t>
            </a:r>
            <a:endParaRPr lang="en-US" sz="1315" dirty="0"/>
          </a:p>
        </p:txBody>
      </p:sp>
      <p:sp>
        <p:nvSpPr>
          <p:cNvPr id="26" name="Text 14"/>
          <p:cNvSpPr/>
          <p:nvPr/>
        </p:nvSpPr>
        <p:spPr>
          <a:xfrm>
            <a:off x="5902509" y="5905170"/>
            <a:ext cx="67266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Provides message filtering capabilities</a:t>
            </a:r>
            <a:endParaRPr lang="en-US" sz="1315" dirty="0"/>
          </a:p>
        </p:txBody>
      </p:sp>
      <p:sp>
        <p:nvSpPr>
          <p:cNvPr id="27" name="Text 15"/>
          <p:cNvSpPr/>
          <p:nvPr/>
        </p:nvSpPr>
        <p:spPr>
          <a:xfrm>
            <a:off x="371227" y="6408646"/>
            <a:ext cx="359510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</a:t>
            </a:r>
            <a:endParaRPr lang="en-US" sz="116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27" y="858803"/>
            <a:ext cx="593963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27" y="1211469"/>
            <a:ext cx="222736" cy="2227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27" y="2046729"/>
            <a:ext cx="5457036" cy="107655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999" y="2046729"/>
            <a:ext cx="5457036" cy="107655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27" y="3346024"/>
            <a:ext cx="5457036" cy="107655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999" y="3346024"/>
            <a:ext cx="5457036" cy="107655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51195" y="450454"/>
            <a:ext cx="556840" cy="5568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227" y="6334401"/>
            <a:ext cx="11136809" cy="5568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227" y="6334401"/>
            <a:ext cx="6682085" cy="55684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71227" y="450454"/>
            <a:ext cx="13364170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2</a:t>
            </a:r>
            <a:endParaRPr lang="en-US" sz="2192" dirty="0"/>
          </a:p>
        </p:txBody>
      </p:sp>
      <p:sp>
        <p:nvSpPr>
          <p:cNvPr id="13" name="Text 1"/>
          <p:cNvSpPr/>
          <p:nvPr/>
        </p:nvSpPr>
        <p:spPr>
          <a:xfrm>
            <a:off x="705331" y="1192907"/>
            <a:ext cx="11136809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92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 developer wants to ensure that an AWS SNS topic subscriber only receives messages that have a specific `category` attribute set to "critical". How can this be achieved?</a:t>
            </a:r>
            <a:endParaRPr lang="en-US" sz="1754" dirty="0"/>
          </a:p>
        </p:txBody>
      </p:sp>
      <p:sp>
        <p:nvSpPr>
          <p:cNvPr id="14" name="Text 2"/>
          <p:cNvSpPr/>
          <p:nvPr/>
        </p:nvSpPr>
        <p:spPr>
          <a:xfrm>
            <a:off x="519717" y="2195220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A.</a:t>
            </a:r>
            <a:endParaRPr lang="en-US" sz="1461" dirty="0"/>
          </a:p>
        </p:txBody>
      </p:sp>
      <p:sp>
        <p:nvSpPr>
          <p:cNvPr id="15" name="Text 3"/>
          <p:cNvSpPr/>
          <p:nvPr/>
        </p:nvSpPr>
        <p:spPr>
          <a:xfrm>
            <a:off x="519717" y="2455079"/>
            <a:ext cx="619206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configuring a Dead-Letter Queue (DLQ) for the subscriber.</a:t>
            </a:r>
            <a:endParaRPr lang="en-US" sz="1315" dirty="0"/>
          </a:p>
        </p:txBody>
      </p:sp>
      <p:sp>
        <p:nvSpPr>
          <p:cNvPr id="16" name="Text 4"/>
          <p:cNvSpPr/>
          <p:nvPr/>
        </p:nvSpPr>
        <p:spPr>
          <a:xfrm>
            <a:off x="6199490" y="2195220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B.</a:t>
            </a:r>
            <a:endParaRPr lang="en-US" sz="1461" dirty="0"/>
          </a:p>
        </p:txBody>
      </p:sp>
      <p:sp>
        <p:nvSpPr>
          <p:cNvPr id="17" name="Text 5"/>
          <p:cNvSpPr/>
          <p:nvPr/>
        </p:nvSpPr>
        <p:spPr>
          <a:xfrm>
            <a:off x="6199490" y="2455079"/>
            <a:ext cx="516005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implementing custom logic within the subscriber application to filter messages.</a:t>
            </a:r>
            <a:endParaRPr lang="en-US" sz="1315" dirty="0"/>
          </a:p>
        </p:txBody>
      </p:sp>
      <p:sp>
        <p:nvSpPr>
          <p:cNvPr id="18" name="Text 6"/>
          <p:cNvSpPr/>
          <p:nvPr/>
        </p:nvSpPr>
        <p:spPr>
          <a:xfrm>
            <a:off x="519717" y="3494514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C.</a:t>
            </a:r>
            <a:endParaRPr lang="en-US" sz="1461" dirty="0"/>
          </a:p>
        </p:txBody>
      </p:sp>
      <p:sp>
        <p:nvSpPr>
          <p:cNvPr id="19" name="Text 7"/>
          <p:cNvSpPr/>
          <p:nvPr/>
        </p:nvSpPr>
        <p:spPr>
          <a:xfrm>
            <a:off x="519717" y="3754373"/>
            <a:ext cx="5160055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assigning a filter policy to the topic subscription based on message attributes.</a:t>
            </a:r>
            <a:endParaRPr lang="en-US" sz="1315" dirty="0"/>
          </a:p>
        </p:txBody>
      </p:sp>
      <p:sp>
        <p:nvSpPr>
          <p:cNvPr id="20" name="Text 8"/>
          <p:cNvSpPr/>
          <p:nvPr/>
        </p:nvSpPr>
        <p:spPr>
          <a:xfrm>
            <a:off x="6199490" y="3494514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D.</a:t>
            </a:r>
            <a:endParaRPr lang="en-US" sz="1461" dirty="0"/>
          </a:p>
        </p:txBody>
      </p:sp>
      <p:sp>
        <p:nvSpPr>
          <p:cNvPr id="21" name="Text 9"/>
          <p:cNvSpPr/>
          <p:nvPr/>
        </p:nvSpPr>
        <p:spPr>
          <a:xfrm>
            <a:off x="6199490" y="3754373"/>
            <a:ext cx="619206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setting a visibility timeout on the SNS topic.</a:t>
            </a:r>
            <a:endParaRPr lang="en-US" sz="131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27" y="858803"/>
            <a:ext cx="593963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27" y="1118662"/>
            <a:ext cx="11136809" cy="81669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18" y="1369240"/>
            <a:ext cx="278420" cy="2784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252" y="3294980"/>
            <a:ext cx="1746797" cy="74245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119" y="3267138"/>
            <a:ext cx="278420" cy="2784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3850" y="3267138"/>
            <a:ext cx="278420" cy="2784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227" y="6334401"/>
            <a:ext cx="11136809" cy="5568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227" y="6334401"/>
            <a:ext cx="6682085" cy="5568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946628" y="1267153"/>
            <a:ext cx="683130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C</a:t>
            </a:r>
            <a:endParaRPr lang="en-US" sz="1461" dirty="0"/>
          </a:p>
        </p:txBody>
      </p:sp>
      <p:sp>
        <p:nvSpPr>
          <p:cNvPr id="13" name="Text 2"/>
          <p:cNvSpPr/>
          <p:nvPr/>
        </p:nvSpPr>
        <p:spPr>
          <a:xfrm>
            <a:off x="946629" y="1527011"/>
            <a:ext cx="819756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assigning a filter policy to the topic subscription based on message attributes.</a:t>
            </a:r>
            <a:endParaRPr lang="en-US" sz="1315" dirty="0"/>
          </a:p>
        </p:txBody>
      </p:sp>
      <p:sp>
        <p:nvSpPr>
          <p:cNvPr id="14" name="Text 3"/>
          <p:cNvSpPr/>
          <p:nvPr/>
        </p:nvSpPr>
        <p:spPr>
          <a:xfrm>
            <a:off x="371227" y="2158097"/>
            <a:ext cx="1113680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461" dirty="0"/>
          </a:p>
        </p:txBody>
      </p:sp>
      <p:sp>
        <p:nvSpPr>
          <p:cNvPr id="15" name="Text 4"/>
          <p:cNvSpPr/>
          <p:nvPr/>
        </p:nvSpPr>
        <p:spPr>
          <a:xfrm>
            <a:off x="371227" y="2492202"/>
            <a:ext cx="11136809" cy="542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 Amazon SNS, you can use filter policies to enable subscribers to process only messages that match specific attributes. A filter policy is a JSON object that specifies the conditions that must be met for a message to be delivered to a subscriber.</a:t>
            </a:r>
            <a:endParaRPr lang="en-US" sz="1315" dirty="0"/>
          </a:p>
        </p:txBody>
      </p:sp>
      <p:sp>
        <p:nvSpPr>
          <p:cNvPr id="16" name="Text 5"/>
          <p:cNvSpPr/>
          <p:nvPr/>
        </p:nvSpPr>
        <p:spPr>
          <a:xfrm>
            <a:off x="3230428" y="3759013"/>
            <a:ext cx="97238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 Topic</a:t>
            </a:r>
            <a:endParaRPr lang="en-US" sz="1315" dirty="0"/>
          </a:p>
        </p:txBody>
      </p:sp>
      <p:sp>
        <p:nvSpPr>
          <p:cNvPr id="17" name="Text 6"/>
          <p:cNvSpPr/>
          <p:nvPr/>
        </p:nvSpPr>
        <p:spPr>
          <a:xfrm>
            <a:off x="4678620" y="3406348"/>
            <a:ext cx="18288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 Policy</a:t>
            </a:r>
            <a:endParaRPr lang="en-US" sz="1315" dirty="0"/>
          </a:p>
        </p:txBody>
      </p:sp>
      <p:sp>
        <p:nvSpPr>
          <p:cNvPr id="18" name="Text 7"/>
          <p:cNvSpPr/>
          <p:nvPr/>
        </p:nvSpPr>
        <p:spPr>
          <a:xfrm>
            <a:off x="4678620" y="3703329"/>
            <a:ext cx="18288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"category": "critical"</a:t>
            </a:r>
            <a:endParaRPr lang="en-US" sz="1169" dirty="0"/>
          </a:p>
        </p:txBody>
      </p:sp>
      <p:sp>
        <p:nvSpPr>
          <p:cNvPr id="19" name="Text 8"/>
          <p:cNvSpPr/>
          <p:nvPr/>
        </p:nvSpPr>
        <p:spPr>
          <a:xfrm>
            <a:off x="6611030" y="3629085"/>
            <a:ext cx="790597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Critical
Subscriber</a:t>
            </a:r>
            <a:endParaRPr lang="en-US" sz="1169" dirty="0"/>
          </a:p>
        </p:txBody>
      </p:sp>
      <p:sp>
        <p:nvSpPr>
          <p:cNvPr id="20" name="Text 9"/>
          <p:cNvSpPr/>
          <p:nvPr/>
        </p:nvSpPr>
        <p:spPr>
          <a:xfrm>
            <a:off x="7698609" y="3629085"/>
            <a:ext cx="869048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Non-Critical
Subscriber</a:t>
            </a:r>
            <a:endParaRPr lang="en-US" sz="1169" dirty="0"/>
          </a:p>
        </p:txBody>
      </p:sp>
      <p:sp>
        <p:nvSpPr>
          <p:cNvPr id="21" name="Text 10"/>
          <p:cNvSpPr/>
          <p:nvPr/>
        </p:nvSpPr>
        <p:spPr>
          <a:xfrm>
            <a:off x="371227" y="4297293"/>
            <a:ext cx="1113680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Points:</a:t>
            </a:r>
            <a:endParaRPr lang="en-US" sz="1461" dirty="0"/>
          </a:p>
        </p:txBody>
      </p:sp>
      <p:sp>
        <p:nvSpPr>
          <p:cNvPr id="22" name="Text 11"/>
          <p:cNvSpPr/>
          <p:nvPr/>
        </p:nvSpPr>
        <p:spPr>
          <a:xfrm>
            <a:off x="408349" y="4631397"/>
            <a:ext cx="1109968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 policies are defined at the subscription level</a:t>
            </a:r>
            <a:endParaRPr lang="en-US" sz="1315" dirty="0"/>
          </a:p>
        </p:txBody>
      </p:sp>
      <p:sp>
        <p:nvSpPr>
          <p:cNvPr id="23" name="Text 12"/>
          <p:cNvSpPr/>
          <p:nvPr/>
        </p:nvSpPr>
        <p:spPr>
          <a:xfrm>
            <a:off x="408349" y="4891256"/>
            <a:ext cx="1331962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Messages are evaluated against the filter policy before delivery</a:t>
            </a:r>
            <a:endParaRPr lang="en-US" sz="1315" dirty="0"/>
          </a:p>
        </p:txBody>
      </p:sp>
      <p:sp>
        <p:nvSpPr>
          <p:cNvPr id="24" name="Text 13"/>
          <p:cNvSpPr/>
          <p:nvPr/>
        </p:nvSpPr>
        <p:spPr>
          <a:xfrm>
            <a:off x="408349" y="5151115"/>
            <a:ext cx="1331962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2046"/>
              </a:lnSpc>
              <a:buSzPct val="100000"/>
              <a:buChar char="•"/>
            </a:pPr>
            <a:r>
              <a:rPr lang="en-US" sz="1315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Filter policies can be updated anytime without affecting the topic or other subscribers</a:t>
            </a:r>
            <a:endParaRPr lang="en-US" sz="1315" dirty="0"/>
          </a:p>
        </p:txBody>
      </p:sp>
      <p:sp>
        <p:nvSpPr>
          <p:cNvPr id="25" name="Text 14"/>
          <p:cNvSpPr/>
          <p:nvPr/>
        </p:nvSpPr>
        <p:spPr>
          <a:xfrm>
            <a:off x="371227" y="6055981"/>
            <a:ext cx="359510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</a:t>
            </a:r>
            <a:endParaRPr lang="en-US" sz="116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27" y="858803"/>
            <a:ext cx="593963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27" y="1211469"/>
            <a:ext cx="222736" cy="2227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27" y="2046729"/>
            <a:ext cx="5457036" cy="81669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999" y="2046729"/>
            <a:ext cx="5457036" cy="81669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27" y="3086165"/>
            <a:ext cx="5457036" cy="81669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999" y="3086165"/>
            <a:ext cx="5457036" cy="81669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51195" y="450454"/>
            <a:ext cx="556840" cy="5568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227" y="6334401"/>
            <a:ext cx="11136809" cy="5568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226" y="6334401"/>
            <a:ext cx="7052878" cy="55684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71227" y="450454"/>
            <a:ext cx="11136809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3</a:t>
            </a:r>
            <a:endParaRPr lang="en-US" sz="2192" dirty="0"/>
          </a:p>
        </p:txBody>
      </p:sp>
      <p:sp>
        <p:nvSpPr>
          <p:cNvPr id="13" name="Text 1"/>
          <p:cNvSpPr/>
          <p:nvPr/>
        </p:nvSpPr>
        <p:spPr>
          <a:xfrm>
            <a:off x="705331" y="1192907"/>
            <a:ext cx="11136809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92"/>
              </a:lnSpc>
            </a:pPr>
            <a:r>
              <a:rPr lang="en-US" sz="1754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Which of the following AWS SNS subscription protocols typically requires explicit confirmation before messages can be delivered to the endpoint?</a:t>
            </a:r>
            <a:endParaRPr lang="en-US" sz="1754" dirty="0"/>
          </a:p>
        </p:txBody>
      </p:sp>
      <p:sp>
        <p:nvSpPr>
          <p:cNvPr id="14" name="Text 2"/>
          <p:cNvSpPr/>
          <p:nvPr/>
        </p:nvSpPr>
        <p:spPr>
          <a:xfrm>
            <a:off x="519717" y="2195220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A.</a:t>
            </a:r>
            <a:endParaRPr lang="en-US" sz="1461" dirty="0"/>
          </a:p>
        </p:txBody>
      </p:sp>
      <p:sp>
        <p:nvSpPr>
          <p:cNvPr id="15" name="Text 3"/>
          <p:cNvSpPr/>
          <p:nvPr/>
        </p:nvSpPr>
        <p:spPr>
          <a:xfrm>
            <a:off x="519717" y="2455079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SQS</a:t>
            </a:r>
            <a:endParaRPr lang="en-US" sz="1315" dirty="0"/>
          </a:p>
        </p:txBody>
      </p:sp>
      <p:sp>
        <p:nvSpPr>
          <p:cNvPr id="16" name="Text 4"/>
          <p:cNvSpPr/>
          <p:nvPr/>
        </p:nvSpPr>
        <p:spPr>
          <a:xfrm>
            <a:off x="6199490" y="2195220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B.</a:t>
            </a:r>
            <a:endParaRPr lang="en-US" sz="1461" dirty="0"/>
          </a:p>
        </p:txBody>
      </p:sp>
      <p:sp>
        <p:nvSpPr>
          <p:cNvPr id="17" name="Text 5"/>
          <p:cNvSpPr/>
          <p:nvPr/>
        </p:nvSpPr>
        <p:spPr>
          <a:xfrm>
            <a:off x="6199490" y="2455079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Lambda</a:t>
            </a:r>
            <a:endParaRPr lang="en-US" sz="1315" dirty="0"/>
          </a:p>
        </p:txBody>
      </p:sp>
      <p:sp>
        <p:nvSpPr>
          <p:cNvPr id="18" name="Text 6"/>
          <p:cNvSpPr/>
          <p:nvPr/>
        </p:nvSpPr>
        <p:spPr>
          <a:xfrm>
            <a:off x="519717" y="3234655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C.</a:t>
            </a:r>
            <a:endParaRPr lang="en-US" sz="1461" dirty="0"/>
          </a:p>
        </p:txBody>
      </p:sp>
      <p:sp>
        <p:nvSpPr>
          <p:cNvPr id="19" name="Text 7"/>
          <p:cNvSpPr/>
          <p:nvPr/>
        </p:nvSpPr>
        <p:spPr>
          <a:xfrm>
            <a:off x="519717" y="3494514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HTTP/HTTPS</a:t>
            </a:r>
            <a:endParaRPr lang="en-US" sz="1315" dirty="0"/>
          </a:p>
        </p:txBody>
      </p:sp>
      <p:sp>
        <p:nvSpPr>
          <p:cNvPr id="20" name="Text 8"/>
          <p:cNvSpPr/>
          <p:nvPr/>
        </p:nvSpPr>
        <p:spPr>
          <a:xfrm>
            <a:off x="6199490" y="3234655"/>
            <a:ext cx="516005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D.</a:t>
            </a:r>
            <a:endParaRPr lang="en-US" sz="1461" dirty="0"/>
          </a:p>
        </p:txBody>
      </p:sp>
      <p:sp>
        <p:nvSpPr>
          <p:cNvPr id="21" name="Text 9"/>
          <p:cNvSpPr/>
          <p:nvPr/>
        </p:nvSpPr>
        <p:spPr>
          <a:xfrm>
            <a:off x="6199490" y="3494514"/>
            <a:ext cx="619206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Amazon Kinesis Data Firehose</a:t>
            </a:r>
            <a:endParaRPr lang="en-US" sz="1315" dirty="0"/>
          </a:p>
        </p:txBody>
      </p:sp>
      <p:sp>
        <p:nvSpPr>
          <p:cNvPr id="22" name="Text 10"/>
          <p:cNvSpPr/>
          <p:nvPr/>
        </p:nvSpPr>
        <p:spPr>
          <a:xfrm>
            <a:off x="371227" y="6055981"/>
            <a:ext cx="359510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</a:t>
            </a:r>
            <a:endParaRPr lang="en-US" sz="1169" dirty="0"/>
          </a:p>
        </p:txBody>
      </p:sp>
      <p:sp>
        <p:nvSpPr>
          <p:cNvPr id="23" name="Text 11"/>
          <p:cNvSpPr/>
          <p:nvPr/>
        </p:nvSpPr>
        <p:spPr>
          <a:xfrm>
            <a:off x="10892610" y="6055981"/>
            <a:ext cx="738510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 of 30</a:t>
            </a:r>
            <a:endParaRPr lang="en-US" sz="116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27" y="858803"/>
            <a:ext cx="593963" cy="3712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27" y="1155785"/>
            <a:ext cx="185613" cy="18561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27" y="1861116"/>
            <a:ext cx="11136809" cy="81669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227" y="3271778"/>
            <a:ext cx="11136809" cy="129929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718" y="3448111"/>
            <a:ext cx="167052" cy="16705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718" y="3819338"/>
            <a:ext cx="167052" cy="16705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718" y="4190565"/>
            <a:ext cx="167052" cy="16705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1663" y="4793809"/>
            <a:ext cx="445472" cy="51971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3031" y="4905177"/>
            <a:ext cx="222736" cy="29698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7136" y="5035106"/>
            <a:ext cx="593963" cy="3712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1099" y="4793809"/>
            <a:ext cx="445472" cy="51971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22467" y="4905177"/>
            <a:ext cx="222736" cy="29698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6571" y="5035106"/>
            <a:ext cx="593963" cy="3712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0534" y="4793809"/>
            <a:ext cx="445472" cy="51971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1902" y="4905177"/>
            <a:ext cx="222736" cy="29698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6006" y="5035106"/>
            <a:ext cx="593963" cy="37123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9969" y="4793809"/>
            <a:ext cx="417630" cy="519718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1337" y="4905177"/>
            <a:ext cx="194894" cy="29698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1227" y="6334401"/>
            <a:ext cx="11136809" cy="5568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1226" y="6334401"/>
            <a:ext cx="7052878" cy="55684"/>
          </a:xfrm>
          <a:prstGeom prst="rect">
            <a:avLst/>
          </a:prstGeom>
        </p:spPr>
      </p:pic>
      <p:sp>
        <p:nvSpPr>
          <p:cNvPr id="24" name="Text 1"/>
          <p:cNvSpPr/>
          <p:nvPr/>
        </p:nvSpPr>
        <p:spPr>
          <a:xfrm>
            <a:off x="631085" y="1118662"/>
            <a:ext cx="11136809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Which of the following AWS SNS subscription protocols typically requires explicit confirmation before messages can be delivered to the endpoint?</a:t>
            </a:r>
            <a:endParaRPr lang="en-US" sz="1461" dirty="0"/>
          </a:p>
        </p:txBody>
      </p:sp>
      <p:sp>
        <p:nvSpPr>
          <p:cNvPr id="25" name="Text 2"/>
          <p:cNvSpPr/>
          <p:nvPr/>
        </p:nvSpPr>
        <p:spPr>
          <a:xfrm>
            <a:off x="519717" y="2102413"/>
            <a:ext cx="372213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FF99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C.</a:t>
            </a:r>
            <a:endParaRPr lang="en-US" sz="2192" dirty="0"/>
          </a:p>
        </p:txBody>
      </p:sp>
      <p:sp>
        <p:nvSpPr>
          <p:cNvPr id="26" name="Text 3"/>
          <p:cNvSpPr/>
          <p:nvPr/>
        </p:nvSpPr>
        <p:spPr>
          <a:xfrm>
            <a:off x="978385" y="2009606"/>
            <a:ext cx="233333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HTTP/HTTPS</a:t>
            </a:r>
            <a:endParaRPr lang="en-US" sz="1754" dirty="0"/>
          </a:p>
        </p:txBody>
      </p:sp>
      <p:sp>
        <p:nvSpPr>
          <p:cNvPr id="27" name="Text 4"/>
          <p:cNvSpPr/>
          <p:nvPr/>
        </p:nvSpPr>
        <p:spPr>
          <a:xfrm>
            <a:off x="978385" y="2306588"/>
            <a:ext cx="233333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is the correct answer.</a:t>
            </a:r>
            <a:endParaRPr lang="en-US" sz="1169" dirty="0"/>
          </a:p>
        </p:txBody>
      </p:sp>
      <p:sp>
        <p:nvSpPr>
          <p:cNvPr id="28" name="Text 5"/>
          <p:cNvSpPr/>
          <p:nvPr/>
        </p:nvSpPr>
        <p:spPr>
          <a:xfrm>
            <a:off x="371227" y="2900551"/>
            <a:ext cx="1113680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461" dirty="0"/>
          </a:p>
        </p:txBody>
      </p:sp>
      <p:sp>
        <p:nvSpPr>
          <p:cNvPr id="29" name="Text 6"/>
          <p:cNvSpPr/>
          <p:nvPr/>
        </p:nvSpPr>
        <p:spPr>
          <a:xfrm>
            <a:off x="761015" y="3420269"/>
            <a:ext cx="1300779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HTTP/HTTPS endpoints require explicit confirmation before messages can be delivered.</a:t>
            </a:r>
            <a:endParaRPr lang="en-US" sz="1315" dirty="0"/>
          </a:p>
        </p:txBody>
      </p:sp>
      <p:sp>
        <p:nvSpPr>
          <p:cNvPr id="30" name="Text 7"/>
          <p:cNvSpPr/>
          <p:nvPr/>
        </p:nvSpPr>
        <p:spPr>
          <a:xfrm>
            <a:off x="761015" y="3791496"/>
            <a:ext cx="1300779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 endpoint must respond to a subscription confirmation request with a 200 OK status code.</a:t>
            </a:r>
            <a:endParaRPr lang="en-US" sz="1315" dirty="0"/>
          </a:p>
        </p:txBody>
      </p:sp>
      <p:sp>
        <p:nvSpPr>
          <p:cNvPr id="31" name="Text 8"/>
          <p:cNvSpPr/>
          <p:nvPr/>
        </p:nvSpPr>
        <p:spPr>
          <a:xfrm>
            <a:off x="761015" y="4162723"/>
            <a:ext cx="1300779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Other protocols like Amazon SQS, AWS Lambda, and Amazon Kinesis Data Firehose do not require explicit confirmation.</a:t>
            </a:r>
            <a:endParaRPr lang="en-US" sz="1315" dirty="0"/>
          </a:p>
        </p:txBody>
      </p:sp>
      <p:sp>
        <p:nvSpPr>
          <p:cNvPr id="32" name="Text 9"/>
          <p:cNvSpPr/>
          <p:nvPr/>
        </p:nvSpPr>
        <p:spPr>
          <a:xfrm>
            <a:off x="371227" y="6055981"/>
            <a:ext cx="359510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</a:t>
            </a:r>
            <a:endParaRPr lang="en-US" sz="11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</TotalTime>
  <Words>1568</Words>
  <Application>Microsoft Office PowerPoint</Application>
  <PresentationFormat>Custom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Roboto</vt:lpstr>
      <vt:lpstr>ui-sans-serif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Behal</cp:lastModifiedBy>
  <cp:revision>49</cp:revision>
  <dcterms:created xsi:type="dcterms:W3CDTF">2025-10-28T04:38:14Z</dcterms:created>
  <dcterms:modified xsi:type="dcterms:W3CDTF">2025-11-08T13:42:26Z</dcterms:modified>
</cp:coreProperties>
</file>