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1"/>
  </p:notesMasterIdLst>
  <p:sldIdLst>
    <p:sldId id="256" r:id="rId2"/>
    <p:sldId id="257" r:id="rId3"/>
    <p:sldId id="264" r:id="rId4"/>
    <p:sldId id="258" r:id="rId5"/>
    <p:sldId id="259" r:id="rId6"/>
    <p:sldId id="266" r:id="rId7"/>
    <p:sldId id="260" r:id="rId8"/>
    <p:sldId id="261" r:id="rId9"/>
    <p:sldId id="262" r:id="rId10"/>
    <p:sldId id="269" r:id="rId11"/>
    <p:sldId id="270" r:id="rId12"/>
    <p:sldId id="271" r:id="rId13"/>
    <p:sldId id="272" r:id="rId14"/>
    <p:sldId id="263" r:id="rId15"/>
    <p:sldId id="273" r:id="rId16"/>
    <p:sldId id="265" r:id="rId17"/>
    <p:sldId id="274" r:id="rId18"/>
    <p:sldId id="275" r:id="rId19"/>
    <p:sldId id="276" r:id="rId20"/>
  </p:sldIdLst>
  <p:sldSz cx="11879263" cy="6840538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784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1pPr>
    <a:lvl2pPr marL="449245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2pPr>
    <a:lvl3pPr marL="898489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3pPr>
    <a:lvl4pPr marL="1347734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4pPr>
    <a:lvl5pPr marL="1796979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5pPr>
    <a:lvl6pPr marL="2246224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6pPr>
    <a:lvl7pPr marL="2695468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7pPr>
    <a:lvl8pPr marL="3144713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8pPr>
    <a:lvl9pPr marL="3593958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908" y="1119505"/>
            <a:ext cx="8909447" cy="2381521"/>
          </a:xfrm>
        </p:spPr>
        <p:txBody>
          <a:bodyPr anchor="b"/>
          <a:lstStyle>
            <a:lvl1pPr algn="ctr">
              <a:defRPr sz="584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3592866"/>
            <a:ext cx="8909447" cy="1651546"/>
          </a:xfrm>
        </p:spPr>
        <p:txBody>
          <a:bodyPr/>
          <a:lstStyle>
            <a:lvl1pPr marL="0" indent="0" algn="ctr">
              <a:buNone/>
              <a:defRPr sz="2338"/>
            </a:lvl1pPr>
            <a:lvl2pPr marL="445450" indent="0" algn="ctr">
              <a:buNone/>
              <a:defRPr sz="1949"/>
            </a:lvl2pPr>
            <a:lvl3pPr marL="890900" indent="0" algn="ctr">
              <a:buNone/>
              <a:defRPr sz="1754"/>
            </a:lvl3pPr>
            <a:lvl4pPr marL="1336350" indent="0" algn="ctr">
              <a:buNone/>
              <a:defRPr sz="1559"/>
            </a:lvl4pPr>
            <a:lvl5pPr marL="1781800" indent="0" algn="ctr">
              <a:buNone/>
              <a:defRPr sz="1559"/>
            </a:lvl5pPr>
            <a:lvl6pPr marL="2227250" indent="0" algn="ctr">
              <a:buNone/>
              <a:defRPr sz="1559"/>
            </a:lvl6pPr>
            <a:lvl7pPr marL="2672700" indent="0" algn="ctr">
              <a:buNone/>
              <a:defRPr sz="1559"/>
            </a:lvl7pPr>
            <a:lvl8pPr marL="3118150" indent="0" algn="ctr">
              <a:buNone/>
              <a:defRPr sz="1559"/>
            </a:lvl8pPr>
            <a:lvl9pPr marL="3563600" indent="0" algn="ctr">
              <a:buNone/>
              <a:defRPr sz="155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2394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72961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2" y="1705385"/>
            <a:ext cx="10245864" cy="2845473"/>
          </a:xfrm>
        </p:spPr>
        <p:txBody>
          <a:bodyPr anchor="b"/>
          <a:lstStyle>
            <a:lvl1pPr>
              <a:defRPr sz="584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2" y="4577778"/>
            <a:ext cx="10245864" cy="1496367"/>
          </a:xfrm>
        </p:spPr>
        <p:txBody>
          <a:bodyPr/>
          <a:lstStyle>
            <a:lvl1pPr marL="0" indent="0">
              <a:buNone/>
              <a:defRPr sz="2338">
                <a:solidFill>
                  <a:schemeClr val="tx1">
                    <a:tint val="75000"/>
                  </a:schemeClr>
                </a:solidFill>
              </a:defRPr>
            </a:lvl1pPr>
            <a:lvl2pPr marL="445450" indent="0">
              <a:buNone/>
              <a:defRPr sz="1949">
                <a:solidFill>
                  <a:schemeClr val="tx1">
                    <a:tint val="75000"/>
                  </a:schemeClr>
                </a:solidFill>
              </a:defRPr>
            </a:lvl2pPr>
            <a:lvl3pPr marL="890900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3pPr>
            <a:lvl4pPr marL="13363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4pPr>
            <a:lvl5pPr marL="17818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5pPr>
            <a:lvl6pPr marL="22272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6pPr>
            <a:lvl7pPr marL="26727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7pPr>
            <a:lvl8pPr marL="31181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8pPr>
            <a:lvl9pPr marL="35636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72706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1820976"/>
            <a:ext cx="5048687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1820976"/>
            <a:ext cx="5048687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07288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364196"/>
            <a:ext cx="10245864" cy="1322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7" y="1676882"/>
            <a:ext cx="5025485" cy="821814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7" y="2498697"/>
            <a:ext cx="5025485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7" y="1676882"/>
            <a:ext cx="5050234" cy="821814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7" y="2498697"/>
            <a:ext cx="5050234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1797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9542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86343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984911"/>
            <a:ext cx="6013877" cy="4861216"/>
          </a:xfrm>
        </p:spPr>
        <p:txBody>
          <a:bodyPr/>
          <a:lstStyle>
            <a:lvl1pPr>
              <a:defRPr sz="3118"/>
            </a:lvl1pPr>
            <a:lvl2pPr>
              <a:defRPr sz="2728"/>
            </a:lvl2pPr>
            <a:lvl3pPr>
              <a:defRPr sz="2338"/>
            </a:lvl3pPr>
            <a:lvl4pPr>
              <a:defRPr sz="1949"/>
            </a:lvl4pPr>
            <a:lvl5pPr>
              <a:defRPr sz="1949"/>
            </a:lvl5pPr>
            <a:lvl6pPr>
              <a:defRPr sz="1949"/>
            </a:lvl6pPr>
            <a:lvl7pPr>
              <a:defRPr sz="1949"/>
            </a:lvl7pPr>
            <a:lvl8pPr>
              <a:defRPr sz="1949"/>
            </a:lvl8pPr>
            <a:lvl9pPr>
              <a:defRPr sz="19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6432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984911"/>
            <a:ext cx="6013877" cy="4861216"/>
          </a:xfrm>
        </p:spPr>
        <p:txBody>
          <a:bodyPr anchor="t"/>
          <a:lstStyle>
            <a:lvl1pPr marL="0" indent="0">
              <a:buNone/>
              <a:defRPr sz="3118"/>
            </a:lvl1pPr>
            <a:lvl2pPr marL="445450" indent="0">
              <a:buNone/>
              <a:defRPr sz="2728"/>
            </a:lvl2pPr>
            <a:lvl3pPr marL="890900" indent="0">
              <a:buNone/>
              <a:defRPr sz="2338"/>
            </a:lvl3pPr>
            <a:lvl4pPr marL="1336350" indent="0">
              <a:buNone/>
              <a:defRPr sz="1949"/>
            </a:lvl4pPr>
            <a:lvl5pPr marL="1781800" indent="0">
              <a:buNone/>
              <a:defRPr sz="1949"/>
            </a:lvl5pPr>
            <a:lvl6pPr marL="2227250" indent="0">
              <a:buNone/>
              <a:defRPr sz="1949"/>
            </a:lvl6pPr>
            <a:lvl7pPr marL="2672700" indent="0">
              <a:buNone/>
              <a:defRPr sz="1949"/>
            </a:lvl7pPr>
            <a:lvl8pPr marL="3118150" indent="0">
              <a:buNone/>
              <a:defRPr sz="1949"/>
            </a:lvl8pPr>
            <a:lvl9pPr marL="3563600" indent="0">
              <a:buNone/>
              <a:defRPr sz="19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6593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6768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364195"/>
            <a:ext cx="2561466" cy="57970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364195"/>
            <a:ext cx="7535907" cy="57970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2961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31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364196"/>
            <a:ext cx="10245864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1820976"/>
            <a:ext cx="10245864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09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890900" rtl="0" eaLnBrk="1" latinLnBrk="0" hangingPunct="1">
        <a:lnSpc>
          <a:spcPct val="90000"/>
        </a:lnSpc>
        <a:spcBef>
          <a:spcPct val="0"/>
        </a:spcBef>
        <a:buNone/>
        <a:defRPr sz="42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2725" indent="-222725" algn="l" defTabSz="890900" rtl="0" eaLnBrk="1" latinLnBrk="0" hangingPunct="1">
        <a:lnSpc>
          <a:spcPct val="90000"/>
        </a:lnSpc>
        <a:spcBef>
          <a:spcPts val="974"/>
        </a:spcBef>
        <a:buFont typeface="Arial" panose="020B0604020202020204" pitchFamily="34" charset="0"/>
        <a:buChar char="•"/>
        <a:defRPr sz="2728" kern="1200">
          <a:solidFill>
            <a:schemeClr val="tx1"/>
          </a:solidFill>
          <a:latin typeface="+mn-lt"/>
          <a:ea typeface="+mn-ea"/>
          <a:cs typeface="+mn-cs"/>
        </a:defRPr>
      </a:lvl1pPr>
      <a:lvl2pPr marL="6681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136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3pPr>
      <a:lvl4pPr marL="15590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20045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4499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8954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3408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7863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1pPr>
      <a:lvl2pPr marL="4454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2pPr>
      <a:lvl3pPr marL="8909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3363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17818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2272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6727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1181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5636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7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44.png"/><Relationship Id="rId21" Type="http://schemas.openxmlformats.org/officeDocument/2006/relationships/image" Target="../media/image6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17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3" Type="http://schemas.openxmlformats.org/officeDocument/2006/relationships/image" Target="../media/image75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.png"/><Relationship Id="rId15" Type="http://schemas.openxmlformats.org/officeDocument/2006/relationships/image" Target="../media/image86.png"/><Relationship Id="rId10" Type="http://schemas.openxmlformats.org/officeDocument/2006/relationships/image" Target="../media/image81.png"/><Relationship Id="rId4" Type="http://schemas.openxmlformats.org/officeDocument/2006/relationships/image" Target="../media/image76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3" Type="http://schemas.openxmlformats.org/officeDocument/2006/relationships/image" Target="../media/image90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7.png"/><Relationship Id="rId15" Type="http://schemas.openxmlformats.org/officeDocument/2006/relationships/image" Target="../media/image100.png"/><Relationship Id="rId10" Type="http://schemas.openxmlformats.org/officeDocument/2006/relationships/image" Target="../media/image95.png"/><Relationship Id="rId4" Type="http://schemas.openxmlformats.org/officeDocument/2006/relationships/image" Target="../media/image32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image" Target="../media/image104.png"/><Relationship Id="rId21" Type="http://schemas.openxmlformats.org/officeDocument/2006/relationships/image" Target="../media/image120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17" Type="http://schemas.openxmlformats.org/officeDocument/2006/relationships/image" Target="../media/image11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5.png"/><Relationship Id="rId20" Type="http://schemas.openxmlformats.org/officeDocument/2006/relationships/image" Target="../media/image1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7.png"/><Relationship Id="rId15" Type="http://schemas.openxmlformats.org/officeDocument/2006/relationships/image" Target="../media/image114.png"/><Relationship Id="rId23" Type="http://schemas.openxmlformats.org/officeDocument/2006/relationships/image" Target="../media/image122.png"/><Relationship Id="rId10" Type="http://schemas.openxmlformats.org/officeDocument/2006/relationships/image" Target="../media/image109.png"/><Relationship Id="rId19" Type="http://schemas.openxmlformats.org/officeDocument/2006/relationships/image" Target="../media/image118.png"/><Relationship Id="rId4" Type="http://schemas.openxmlformats.org/officeDocument/2006/relationships/image" Target="../media/image32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Relationship Id="rId22" Type="http://schemas.openxmlformats.org/officeDocument/2006/relationships/image" Target="../media/image1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2.png"/><Relationship Id="rId18" Type="http://schemas.openxmlformats.org/officeDocument/2006/relationships/image" Target="../media/image137.png"/><Relationship Id="rId3" Type="http://schemas.openxmlformats.org/officeDocument/2006/relationships/image" Target="../media/image17.png"/><Relationship Id="rId7" Type="http://schemas.openxmlformats.org/officeDocument/2006/relationships/image" Target="../media/image126.png"/><Relationship Id="rId12" Type="http://schemas.openxmlformats.org/officeDocument/2006/relationships/image" Target="../media/image131.png"/><Relationship Id="rId17" Type="http://schemas.openxmlformats.org/officeDocument/2006/relationships/image" Target="../media/image136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3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5.png"/><Relationship Id="rId11" Type="http://schemas.openxmlformats.org/officeDocument/2006/relationships/image" Target="../media/image130.png"/><Relationship Id="rId5" Type="http://schemas.openxmlformats.org/officeDocument/2006/relationships/image" Target="../media/image124.png"/><Relationship Id="rId15" Type="http://schemas.openxmlformats.org/officeDocument/2006/relationships/image" Target="../media/image134.png"/><Relationship Id="rId10" Type="http://schemas.openxmlformats.org/officeDocument/2006/relationships/image" Target="../media/image129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Relationship Id="rId14" Type="http://schemas.openxmlformats.org/officeDocument/2006/relationships/image" Target="../media/image1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18" Type="http://schemas.openxmlformats.org/officeDocument/2006/relationships/image" Target="../media/image150.png"/><Relationship Id="rId3" Type="http://schemas.openxmlformats.org/officeDocument/2006/relationships/image" Target="../media/image17.png"/><Relationship Id="rId21" Type="http://schemas.openxmlformats.org/officeDocument/2006/relationships/image" Target="../media/image153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17" Type="http://schemas.openxmlformats.org/officeDocument/2006/relationships/image" Target="../media/image149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48.png"/><Relationship Id="rId20" Type="http://schemas.openxmlformats.org/officeDocument/2006/relationships/image" Target="../media/image15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124.png"/><Relationship Id="rId15" Type="http://schemas.openxmlformats.org/officeDocument/2006/relationships/image" Target="../media/image147.png"/><Relationship Id="rId10" Type="http://schemas.openxmlformats.org/officeDocument/2006/relationships/image" Target="../media/image142.png"/><Relationship Id="rId19" Type="http://schemas.openxmlformats.org/officeDocument/2006/relationships/image" Target="../media/image151.png"/><Relationship Id="rId4" Type="http://schemas.openxmlformats.org/officeDocument/2006/relationships/image" Target="../media/image123.png"/><Relationship Id="rId9" Type="http://schemas.openxmlformats.org/officeDocument/2006/relationships/image" Target="../media/image141.png"/><Relationship Id="rId14" Type="http://schemas.openxmlformats.org/officeDocument/2006/relationships/image" Target="../media/image146.png"/><Relationship Id="rId22" Type="http://schemas.openxmlformats.org/officeDocument/2006/relationships/image" Target="../media/image15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162.png"/><Relationship Id="rId3" Type="http://schemas.openxmlformats.org/officeDocument/2006/relationships/image" Target="../media/image17.png"/><Relationship Id="rId7" Type="http://schemas.openxmlformats.org/officeDocument/2006/relationships/image" Target="../media/image156.png"/><Relationship Id="rId12" Type="http://schemas.openxmlformats.org/officeDocument/2006/relationships/image" Target="../media/image161.png"/><Relationship Id="rId17" Type="http://schemas.openxmlformats.org/officeDocument/2006/relationships/image" Target="../media/image166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6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5.png"/><Relationship Id="rId11" Type="http://schemas.openxmlformats.org/officeDocument/2006/relationships/image" Target="../media/image160.png"/><Relationship Id="rId5" Type="http://schemas.openxmlformats.org/officeDocument/2006/relationships/image" Target="../media/image124.png"/><Relationship Id="rId15" Type="http://schemas.openxmlformats.org/officeDocument/2006/relationships/image" Target="../media/image164.png"/><Relationship Id="rId10" Type="http://schemas.openxmlformats.org/officeDocument/2006/relationships/image" Target="../media/image159.png"/><Relationship Id="rId4" Type="http://schemas.openxmlformats.org/officeDocument/2006/relationships/image" Target="../media/image123.png"/><Relationship Id="rId9" Type="http://schemas.openxmlformats.org/officeDocument/2006/relationships/image" Target="../media/image158.png"/><Relationship Id="rId14" Type="http://schemas.openxmlformats.org/officeDocument/2006/relationships/image" Target="../media/image16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image" Target="../media/image17.png"/><Relationship Id="rId7" Type="http://schemas.openxmlformats.org/officeDocument/2006/relationships/image" Target="../media/image1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7.png"/><Relationship Id="rId11" Type="http://schemas.openxmlformats.org/officeDocument/2006/relationships/image" Target="../media/image171.png"/><Relationship Id="rId5" Type="http://schemas.openxmlformats.org/officeDocument/2006/relationships/image" Target="../media/image124.png"/><Relationship Id="rId10" Type="http://schemas.openxmlformats.org/officeDocument/2006/relationships/image" Target="../media/image170.png"/><Relationship Id="rId4" Type="http://schemas.openxmlformats.org/officeDocument/2006/relationships/image" Target="../media/image123.png"/><Relationship Id="rId9" Type="http://schemas.openxmlformats.org/officeDocument/2006/relationships/image" Target="../media/image16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3" Type="http://schemas.openxmlformats.org/officeDocument/2006/relationships/image" Target="../media/image17.png"/><Relationship Id="rId7" Type="http://schemas.openxmlformats.org/officeDocument/2006/relationships/image" Target="../media/image17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2.png"/><Relationship Id="rId5" Type="http://schemas.openxmlformats.org/officeDocument/2006/relationships/image" Target="../media/image124.png"/><Relationship Id="rId10" Type="http://schemas.openxmlformats.org/officeDocument/2006/relationships/image" Target="../media/image176.png"/><Relationship Id="rId4" Type="http://schemas.openxmlformats.org/officeDocument/2006/relationships/image" Target="../media/image123.png"/><Relationship Id="rId9" Type="http://schemas.openxmlformats.org/officeDocument/2006/relationships/image" Target="../media/image1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3127" y="79226"/>
            <a:ext cx="1856135" cy="185613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69210"/>
            <a:ext cx="1392101" cy="185613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211469"/>
            <a:ext cx="296982" cy="37122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749748"/>
            <a:ext cx="7127558" cy="37123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1039435" y="1118662"/>
            <a:ext cx="4751241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4384"/>
              </a:lnSpc>
            </a:pPr>
            <a:r>
              <a:rPr lang="en-US" sz="4384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SQS</a:t>
            </a:r>
            <a:endParaRPr lang="en-US" sz="4384" dirty="0"/>
          </a:p>
        </p:txBody>
      </p:sp>
      <p:sp>
        <p:nvSpPr>
          <p:cNvPr id="11" name="Text 1"/>
          <p:cNvSpPr/>
          <p:nvPr/>
        </p:nvSpPr>
        <p:spPr>
          <a:xfrm>
            <a:off x="593963" y="2009607"/>
            <a:ext cx="10691336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Simple Queue Service</a:t>
            </a:r>
            <a:endParaRPr lang="en-US" sz="219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705191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34" y="79226"/>
            <a:ext cx="2320168" cy="15777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118662"/>
            <a:ext cx="3563779" cy="2784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666222"/>
            <a:ext cx="10691336" cy="122504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3633724"/>
            <a:ext cx="5234300" cy="137354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576" y="3856461"/>
            <a:ext cx="278420" cy="33410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0999" y="3633724"/>
            <a:ext cx="5234300" cy="137354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6612" y="3856461"/>
            <a:ext cx="352666" cy="33410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963" y="5230000"/>
            <a:ext cx="5234300" cy="137354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9576" y="5452737"/>
            <a:ext cx="241298" cy="33410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50999" y="5230000"/>
            <a:ext cx="5234300" cy="137354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36613" y="5452737"/>
            <a:ext cx="278420" cy="334104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593963" y="673190"/>
            <a:ext cx="1069133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Amazon SQS?</a:t>
            </a:r>
            <a:endParaRPr lang="en-US" sz="2631" dirty="0"/>
          </a:p>
        </p:txBody>
      </p:sp>
      <p:sp>
        <p:nvSpPr>
          <p:cNvPr id="16" name="Text 1"/>
          <p:cNvSpPr/>
          <p:nvPr/>
        </p:nvSpPr>
        <p:spPr>
          <a:xfrm>
            <a:off x="816699" y="1888958"/>
            <a:ext cx="10245864" cy="7795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Simple Queue Service (SQS)</a:t>
            </a:r>
            <a:r>
              <a:rPr lang="en-US" sz="146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is a fully managed, distributed message queuing service that facilitates the decoupling and integration of distributed software systems, microservices, and serverless applications.</a:t>
            </a:r>
            <a:endParaRPr lang="en-US" sz="1461" dirty="0"/>
          </a:p>
        </p:txBody>
      </p:sp>
      <p:sp>
        <p:nvSpPr>
          <p:cNvPr id="17" name="Text 2"/>
          <p:cNvSpPr/>
          <p:nvPr/>
        </p:nvSpPr>
        <p:spPr>
          <a:xfrm>
            <a:off x="593963" y="3188252"/>
            <a:ext cx="1069133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Concepts</a:t>
            </a:r>
            <a:endParaRPr lang="en-US" sz="1754" dirty="0"/>
          </a:p>
        </p:txBody>
      </p:sp>
      <p:sp>
        <p:nvSpPr>
          <p:cNvPr id="18" name="Text 3"/>
          <p:cNvSpPr/>
          <p:nvPr/>
        </p:nvSpPr>
        <p:spPr>
          <a:xfrm>
            <a:off x="1206487" y="3819338"/>
            <a:ext cx="532339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Distributed Messaging System</a:t>
            </a:r>
            <a:endParaRPr lang="en-US" sz="1461" dirty="0"/>
          </a:p>
        </p:txBody>
      </p:sp>
      <p:sp>
        <p:nvSpPr>
          <p:cNvPr id="19" name="Text 4"/>
          <p:cNvSpPr/>
          <p:nvPr/>
        </p:nvSpPr>
        <p:spPr>
          <a:xfrm>
            <a:off x="1206487" y="4153442"/>
            <a:ext cx="4436162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Acts as an intermediary message buffer, allowing producers and consumers to exchange messages reliably without requiring them to be simultaneously available.</a:t>
            </a:r>
            <a:endParaRPr lang="en-US" sz="1169" dirty="0"/>
          </a:p>
        </p:txBody>
      </p:sp>
      <p:sp>
        <p:nvSpPr>
          <p:cNvPr id="20" name="Text 5"/>
          <p:cNvSpPr/>
          <p:nvPr/>
        </p:nvSpPr>
        <p:spPr>
          <a:xfrm>
            <a:off x="6737769" y="3819338"/>
            <a:ext cx="523430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Decoupling Components</a:t>
            </a:r>
            <a:endParaRPr lang="en-US" sz="1461" dirty="0"/>
          </a:p>
        </p:txBody>
      </p:sp>
      <p:sp>
        <p:nvSpPr>
          <p:cNvPr id="21" name="Text 6"/>
          <p:cNvSpPr/>
          <p:nvPr/>
        </p:nvSpPr>
        <p:spPr>
          <a:xfrm>
            <a:off x="6737769" y="4153442"/>
            <a:ext cx="4361917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Helps separate different application components, making systems more fault-tolerant, scalable, and manageable by enhancing system resilience.</a:t>
            </a:r>
            <a:endParaRPr lang="en-US" sz="1169" dirty="0"/>
          </a:p>
        </p:txBody>
      </p:sp>
      <p:sp>
        <p:nvSpPr>
          <p:cNvPr id="22" name="Text 7"/>
          <p:cNvSpPr/>
          <p:nvPr/>
        </p:nvSpPr>
        <p:spPr>
          <a:xfrm>
            <a:off x="1169365" y="5415614"/>
            <a:ext cx="447328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Hosted Queue Service</a:t>
            </a:r>
            <a:endParaRPr lang="en-US" sz="1461" dirty="0"/>
          </a:p>
        </p:txBody>
      </p:sp>
      <p:sp>
        <p:nvSpPr>
          <p:cNvPr id="23" name="Text 8"/>
          <p:cNvSpPr/>
          <p:nvPr/>
        </p:nvSpPr>
        <p:spPr>
          <a:xfrm>
            <a:off x="1169365" y="5749718"/>
            <a:ext cx="4473285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Messages are stored redundantly across multiple AWS servers, ensuring high durability and availability for your messages.</a:t>
            </a:r>
            <a:endParaRPr lang="en-US" sz="1169" dirty="0"/>
          </a:p>
        </p:txBody>
      </p:sp>
      <p:sp>
        <p:nvSpPr>
          <p:cNvPr id="24" name="Text 9"/>
          <p:cNvSpPr/>
          <p:nvPr/>
        </p:nvSpPr>
        <p:spPr>
          <a:xfrm>
            <a:off x="6663524" y="5415614"/>
            <a:ext cx="443616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Message Lifecycle</a:t>
            </a:r>
            <a:endParaRPr lang="en-US" sz="1461" dirty="0"/>
          </a:p>
        </p:txBody>
      </p:sp>
      <p:sp>
        <p:nvSpPr>
          <p:cNvPr id="25" name="Text 10"/>
          <p:cNvSpPr/>
          <p:nvPr/>
        </p:nvSpPr>
        <p:spPr>
          <a:xfrm>
            <a:off x="6663524" y="5749718"/>
            <a:ext cx="4436162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Messages follow a lifecycle that includes creation by producers, storage in the queue, consumption by consumers, and deletion once successfully processed.</a:t>
            </a:r>
            <a:endParaRPr lang="en-US" sz="116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63" y="2789183"/>
            <a:ext cx="4454723" cy="211599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699" y="3420269"/>
            <a:ext cx="593963" cy="59396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313" y="3568760"/>
            <a:ext cx="222736" cy="29698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9872" y="3698689"/>
            <a:ext cx="742454" cy="3712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1536" y="3420269"/>
            <a:ext cx="593963" cy="59396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1072" y="3568760"/>
            <a:ext cx="194894" cy="29698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0576" y="2863428"/>
            <a:ext cx="4454723" cy="196750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312" y="3494514"/>
            <a:ext cx="593963" cy="593963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925" y="3643005"/>
            <a:ext cx="222736" cy="29698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86485" y="3772934"/>
            <a:ext cx="593963" cy="37123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19658" y="3494514"/>
            <a:ext cx="593963" cy="593963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52832" y="3772934"/>
            <a:ext cx="593963" cy="37123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86005" y="3494514"/>
            <a:ext cx="593963" cy="593963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85540" y="3643005"/>
            <a:ext cx="194894" cy="296982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593963" y="450453"/>
            <a:ext cx="1282960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Enhancing Data Reliability with Amazon SQS</a:t>
            </a:r>
            <a:endParaRPr lang="en-US" sz="2631" dirty="0"/>
          </a:p>
        </p:txBody>
      </p:sp>
      <p:sp>
        <p:nvSpPr>
          <p:cNvPr id="20" name="Text 1"/>
          <p:cNvSpPr/>
          <p:nvPr/>
        </p:nvSpPr>
        <p:spPr>
          <a:xfrm>
            <a:off x="593963" y="933048"/>
            <a:ext cx="12829604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24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Example: - </a:t>
            </a:r>
            <a:r>
              <a:rPr lang="en-US" sz="1754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Preventing Data Loss During Database Outages</a:t>
            </a:r>
            <a:endParaRPr lang="en-US" sz="1754" dirty="0"/>
          </a:p>
        </p:txBody>
      </p:sp>
      <p:sp>
        <p:nvSpPr>
          <p:cNvPr id="21" name="Text 2"/>
          <p:cNvSpPr/>
          <p:nvPr/>
        </p:nvSpPr>
        <p:spPr>
          <a:xfrm>
            <a:off x="816699" y="3011919"/>
            <a:ext cx="481110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Traditional Architecture</a:t>
            </a:r>
            <a:endParaRPr lang="en-US" sz="1461" dirty="0"/>
          </a:p>
        </p:txBody>
      </p:sp>
      <p:sp>
        <p:nvSpPr>
          <p:cNvPr id="22" name="Text 3"/>
          <p:cNvSpPr/>
          <p:nvPr/>
        </p:nvSpPr>
        <p:spPr>
          <a:xfrm>
            <a:off x="816699" y="4236968"/>
            <a:ext cx="4009251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Direct writes to database can result in </a:t>
            </a:r>
            <a:r>
              <a:rPr lang="en-US" sz="1169" b="1" dirty="0">
                <a:solidFill>
                  <a:srgbClr val="EF444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loss</a:t>
            </a: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when database is unavailable</a:t>
            </a:r>
            <a:endParaRPr lang="en-US" sz="1169" dirty="0"/>
          </a:p>
        </p:txBody>
      </p:sp>
      <p:sp>
        <p:nvSpPr>
          <p:cNvPr id="23" name="Text 4"/>
          <p:cNvSpPr/>
          <p:nvPr/>
        </p:nvSpPr>
        <p:spPr>
          <a:xfrm>
            <a:off x="7053312" y="3086165"/>
            <a:ext cx="481110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Architecture with SQS</a:t>
            </a:r>
            <a:endParaRPr lang="en-US" sz="1461" dirty="0"/>
          </a:p>
        </p:txBody>
      </p:sp>
      <p:sp>
        <p:nvSpPr>
          <p:cNvPr id="24" name="Text 5"/>
          <p:cNvSpPr/>
          <p:nvPr/>
        </p:nvSpPr>
        <p:spPr>
          <a:xfrm>
            <a:off x="7053312" y="4162723"/>
            <a:ext cx="4009251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SQS </a:t>
            </a:r>
            <a:r>
              <a:rPr lang="en-US" sz="1169" b="1" dirty="0">
                <a:solidFill>
                  <a:srgbClr val="22C55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buffers data</a:t>
            </a: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when database is temporarily unavailable</a:t>
            </a:r>
            <a:endParaRPr lang="en-US" sz="1169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A2E761D-D437-1CC8-5543-FA516D277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0912" y="3568760"/>
            <a:ext cx="472386" cy="472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46151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060" y="79226"/>
            <a:ext cx="1856135" cy="139210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118662"/>
            <a:ext cx="3563779" cy="2784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190" y="2056010"/>
            <a:ext cx="2487221" cy="148490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1748" y="2204501"/>
            <a:ext cx="334104" cy="37122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6021" y="1963203"/>
            <a:ext cx="2487221" cy="167052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1140" y="2111694"/>
            <a:ext cx="296982" cy="37122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851" y="1963203"/>
            <a:ext cx="2487221" cy="167052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03410" y="2111694"/>
            <a:ext cx="334104" cy="371227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5190" y="3633724"/>
            <a:ext cx="9948882" cy="37122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8208" y="4747405"/>
            <a:ext cx="2524343" cy="1596276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41042" y="4747405"/>
            <a:ext cx="2524343" cy="1596276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89533" y="4895896"/>
            <a:ext cx="296982" cy="29698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13877" y="4747405"/>
            <a:ext cx="2524343" cy="1596276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62367" y="4895896"/>
            <a:ext cx="296982" cy="296982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86711" y="4747405"/>
            <a:ext cx="2524343" cy="1596276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35201" y="4895896"/>
            <a:ext cx="296982" cy="296982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593963" y="673190"/>
            <a:ext cx="1069133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SQS Works</a:t>
            </a:r>
            <a:endParaRPr lang="en-US" sz="2631" dirty="0"/>
          </a:p>
        </p:txBody>
      </p:sp>
      <p:sp>
        <p:nvSpPr>
          <p:cNvPr id="21" name="Text 1"/>
          <p:cNvSpPr/>
          <p:nvPr/>
        </p:nvSpPr>
        <p:spPr>
          <a:xfrm>
            <a:off x="593963" y="1517731"/>
            <a:ext cx="1069133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SQS Architecture</a:t>
            </a:r>
            <a:endParaRPr lang="en-US" sz="1754" dirty="0"/>
          </a:p>
        </p:txBody>
      </p:sp>
      <p:sp>
        <p:nvSpPr>
          <p:cNvPr id="22" name="Text 2"/>
          <p:cNvSpPr/>
          <p:nvPr/>
        </p:nvSpPr>
        <p:spPr>
          <a:xfrm>
            <a:off x="1113681" y="2687096"/>
            <a:ext cx="219023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46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Producers</a:t>
            </a:r>
            <a:endParaRPr lang="en-US" sz="1461" dirty="0"/>
          </a:p>
        </p:txBody>
      </p:sp>
      <p:sp>
        <p:nvSpPr>
          <p:cNvPr id="23" name="Text 3"/>
          <p:cNvSpPr/>
          <p:nvPr/>
        </p:nvSpPr>
        <p:spPr>
          <a:xfrm>
            <a:off x="1113681" y="3021200"/>
            <a:ext cx="2190239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Application components that send messages to an SQS queue</a:t>
            </a:r>
            <a:endParaRPr lang="en-US" sz="1023" dirty="0"/>
          </a:p>
        </p:txBody>
      </p:sp>
      <p:sp>
        <p:nvSpPr>
          <p:cNvPr id="24" name="Text 4"/>
          <p:cNvSpPr/>
          <p:nvPr/>
        </p:nvSpPr>
        <p:spPr>
          <a:xfrm>
            <a:off x="4844512" y="2594289"/>
            <a:ext cx="219023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46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Queues</a:t>
            </a:r>
            <a:endParaRPr lang="en-US" sz="1461" dirty="0"/>
          </a:p>
        </p:txBody>
      </p:sp>
      <p:sp>
        <p:nvSpPr>
          <p:cNvPr id="25" name="Text 5"/>
          <p:cNvSpPr/>
          <p:nvPr/>
        </p:nvSpPr>
        <p:spPr>
          <a:xfrm>
            <a:off x="4844512" y="2928394"/>
            <a:ext cx="2190239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Temporary repositories for messages stored across multiple AWS servers</a:t>
            </a:r>
            <a:endParaRPr lang="en-US" sz="1023" dirty="0"/>
          </a:p>
        </p:txBody>
      </p:sp>
      <p:sp>
        <p:nvSpPr>
          <p:cNvPr id="26" name="Text 6"/>
          <p:cNvSpPr/>
          <p:nvPr/>
        </p:nvSpPr>
        <p:spPr>
          <a:xfrm>
            <a:off x="8575342" y="2594289"/>
            <a:ext cx="219023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46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Consumers</a:t>
            </a:r>
            <a:endParaRPr lang="en-US" sz="1461" dirty="0"/>
          </a:p>
        </p:txBody>
      </p:sp>
      <p:sp>
        <p:nvSpPr>
          <p:cNvPr id="27" name="Text 7"/>
          <p:cNvSpPr/>
          <p:nvPr/>
        </p:nvSpPr>
        <p:spPr>
          <a:xfrm>
            <a:off x="8575342" y="2928394"/>
            <a:ext cx="2190239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Application components that retrieve and process messages from the queue</a:t>
            </a:r>
            <a:endParaRPr lang="en-US" sz="1023" dirty="0"/>
          </a:p>
        </p:txBody>
      </p:sp>
      <p:sp>
        <p:nvSpPr>
          <p:cNvPr id="28" name="Text 8"/>
          <p:cNvSpPr/>
          <p:nvPr/>
        </p:nvSpPr>
        <p:spPr>
          <a:xfrm>
            <a:off x="593963" y="4301933"/>
            <a:ext cx="1069133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Message Lifecycle</a:t>
            </a:r>
            <a:endParaRPr lang="en-US" sz="1754" dirty="0"/>
          </a:p>
        </p:txBody>
      </p:sp>
      <p:sp>
        <p:nvSpPr>
          <p:cNvPr id="29" name="Text 9"/>
          <p:cNvSpPr/>
          <p:nvPr/>
        </p:nvSpPr>
        <p:spPr>
          <a:xfrm>
            <a:off x="913421" y="4933019"/>
            <a:ext cx="12407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169" dirty="0"/>
          </a:p>
        </p:txBody>
      </p:sp>
      <p:sp>
        <p:nvSpPr>
          <p:cNvPr id="30" name="Text 10"/>
          <p:cNvSpPr/>
          <p:nvPr/>
        </p:nvSpPr>
        <p:spPr>
          <a:xfrm>
            <a:off x="1225049" y="4914457"/>
            <a:ext cx="157759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Message Sent</a:t>
            </a:r>
            <a:endParaRPr lang="en-US" sz="1315" dirty="0"/>
          </a:p>
        </p:txBody>
      </p:sp>
      <p:sp>
        <p:nvSpPr>
          <p:cNvPr id="31" name="Text 11"/>
          <p:cNvSpPr/>
          <p:nvPr/>
        </p:nvSpPr>
        <p:spPr>
          <a:xfrm>
            <a:off x="816699" y="5267123"/>
            <a:ext cx="2227362" cy="7424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Producer sends a message to an SQS queue. Message is redundantly stored across multiple AWS servers.</a:t>
            </a:r>
            <a:endParaRPr lang="en-US" sz="1023" dirty="0"/>
          </a:p>
        </p:txBody>
      </p:sp>
      <p:sp>
        <p:nvSpPr>
          <p:cNvPr id="32" name="Text 12"/>
          <p:cNvSpPr/>
          <p:nvPr/>
        </p:nvSpPr>
        <p:spPr>
          <a:xfrm>
            <a:off x="3586255" y="4933019"/>
            <a:ext cx="12407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169" dirty="0"/>
          </a:p>
        </p:txBody>
      </p:sp>
      <p:sp>
        <p:nvSpPr>
          <p:cNvPr id="33" name="Text 13"/>
          <p:cNvSpPr/>
          <p:nvPr/>
        </p:nvSpPr>
        <p:spPr>
          <a:xfrm>
            <a:off x="3897883" y="4914457"/>
            <a:ext cx="208258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Message Received</a:t>
            </a:r>
            <a:endParaRPr lang="en-US" sz="1315" dirty="0"/>
          </a:p>
        </p:txBody>
      </p:sp>
      <p:sp>
        <p:nvSpPr>
          <p:cNvPr id="34" name="Text 14"/>
          <p:cNvSpPr/>
          <p:nvPr/>
        </p:nvSpPr>
        <p:spPr>
          <a:xfrm>
            <a:off x="3489533" y="5267123"/>
            <a:ext cx="2227362" cy="7424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Consumer polls the queue and receives the message. Message becomes "hidden" from other consumers during processing.</a:t>
            </a:r>
            <a:endParaRPr lang="en-US" sz="1023" dirty="0"/>
          </a:p>
        </p:txBody>
      </p:sp>
      <p:sp>
        <p:nvSpPr>
          <p:cNvPr id="35" name="Text 15"/>
          <p:cNvSpPr/>
          <p:nvPr/>
        </p:nvSpPr>
        <p:spPr>
          <a:xfrm>
            <a:off x="6259089" y="4933019"/>
            <a:ext cx="12407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169" dirty="0"/>
          </a:p>
        </p:txBody>
      </p:sp>
      <p:sp>
        <p:nvSpPr>
          <p:cNvPr id="36" name="Text 16"/>
          <p:cNvSpPr/>
          <p:nvPr/>
        </p:nvSpPr>
        <p:spPr>
          <a:xfrm>
            <a:off x="6570717" y="4914457"/>
            <a:ext cx="123201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Processing</a:t>
            </a:r>
            <a:endParaRPr lang="en-US" sz="1315" dirty="0"/>
          </a:p>
        </p:txBody>
      </p:sp>
      <p:sp>
        <p:nvSpPr>
          <p:cNvPr id="37" name="Text 17"/>
          <p:cNvSpPr/>
          <p:nvPr/>
        </p:nvSpPr>
        <p:spPr>
          <a:xfrm>
            <a:off x="6162367" y="5267123"/>
            <a:ext cx="2227362" cy="9280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Consumer processes the message. Upon successful processing, the consumer is responsible for deleting the message from the queue.</a:t>
            </a:r>
            <a:endParaRPr lang="en-US" sz="1023" dirty="0"/>
          </a:p>
        </p:txBody>
      </p:sp>
      <p:sp>
        <p:nvSpPr>
          <p:cNvPr id="38" name="Text 18"/>
          <p:cNvSpPr/>
          <p:nvPr/>
        </p:nvSpPr>
        <p:spPr>
          <a:xfrm>
            <a:off x="8931923" y="4933019"/>
            <a:ext cx="12407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169" dirty="0"/>
          </a:p>
        </p:txBody>
      </p:sp>
      <p:sp>
        <p:nvSpPr>
          <p:cNvPr id="39" name="Text 19"/>
          <p:cNvSpPr/>
          <p:nvPr/>
        </p:nvSpPr>
        <p:spPr>
          <a:xfrm>
            <a:off x="9243551" y="4914457"/>
            <a:ext cx="185810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Failure Handling</a:t>
            </a:r>
            <a:endParaRPr lang="en-US" sz="1315" dirty="0"/>
          </a:p>
        </p:txBody>
      </p:sp>
      <p:sp>
        <p:nvSpPr>
          <p:cNvPr id="40" name="Text 20"/>
          <p:cNvSpPr/>
          <p:nvPr/>
        </p:nvSpPr>
        <p:spPr>
          <a:xfrm>
            <a:off x="8835201" y="5267123"/>
            <a:ext cx="2227362" cy="7424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If message fails to process, it can be moved to a Dead-Letter Queue (DLQ) after specified attempts, allowing for later inspection.</a:t>
            </a:r>
            <a:endParaRPr lang="en-US" sz="102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58261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060" y="79227"/>
            <a:ext cx="1856135" cy="129929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118662"/>
            <a:ext cx="2672834" cy="2784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2223062"/>
            <a:ext cx="10691336" cy="51971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634" y="2334430"/>
            <a:ext cx="222736" cy="29698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7140" y="2334430"/>
            <a:ext cx="222736" cy="29698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0634" y="2891270"/>
            <a:ext cx="167052" cy="14849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7140" y="2891270"/>
            <a:ext cx="167052" cy="1484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963" y="3188252"/>
            <a:ext cx="10691336" cy="44547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80634" y="3336743"/>
            <a:ext cx="148491" cy="14849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57139" y="3336743"/>
            <a:ext cx="148491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80634" y="3782215"/>
            <a:ext cx="148491" cy="14849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57139" y="3782215"/>
            <a:ext cx="92807" cy="14849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963" y="4079197"/>
            <a:ext cx="10691336" cy="445472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80634" y="4227688"/>
            <a:ext cx="185613" cy="14849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57140" y="4227688"/>
            <a:ext cx="167052" cy="14849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3963" y="4784528"/>
            <a:ext cx="4454723" cy="103943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2454" y="4933019"/>
            <a:ext cx="167052" cy="296982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30576" y="4784528"/>
            <a:ext cx="4454723" cy="103943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79067" y="4933019"/>
            <a:ext cx="222736" cy="296982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593963" y="673190"/>
            <a:ext cx="1069133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Queue Types</a:t>
            </a:r>
            <a:endParaRPr lang="en-US" sz="2631" dirty="0"/>
          </a:p>
        </p:txBody>
      </p:sp>
      <p:sp>
        <p:nvSpPr>
          <p:cNvPr id="25" name="Text 1"/>
          <p:cNvSpPr/>
          <p:nvPr/>
        </p:nvSpPr>
        <p:spPr>
          <a:xfrm>
            <a:off x="593963" y="1294995"/>
            <a:ext cx="1069133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 vs. FIFO Queues</a:t>
            </a:r>
            <a:endParaRPr lang="en-US" sz="1461" dirty="0"/>
          </a:p>
        </p:txBody>
      </p:sp>
      <p:sp>
        <p:nvSpPr>
          <p:cNvPr id="26" name="Text 2"/>
          <p:cNvSpPr/>
          <p:nvPr/>
        </p:nvSpPr>
        <p:spPr>
          <a:xfrm>
            <a:off x="593963" y="1777590"/>
            <a:ext cx="1282960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SQS offers two queue types designed for different use cases:</a:t>
            </a:r>
            <a:endParaRPr lang="en-US" sz="1169" dirty="0"/>
          </a:p>
        </p:txBody>
      </p:sp>
      <p:sp>
        <p:nvSpPr>
          <p:cNvPr id="27" name="Text 3"/>
          <p:cNvSpPr/>
          <p:nvPr/>
        </p:nvSpPr>
        <p:spPr>
          <a:xfrm>
            <a:off x="742454" y="2223062"/>
            <a:ext cx="2138181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</a:t>
            </a:r>
            <a:endParaRPr lang="en-US" sz="1169" dirty="0"/>
          </a:p>
        </p:txBody>
      </p:sp>
      <p:sp>
        <p:nvSpPr>
          <p:cNvPr id="28" name="Text 4"/>
          <p:cNvSpPr/>
          <p:nvPr/>
        </p:nvSpPr>
        <p:spPr>
          <a:xfrm>
            <a:off x="3214738" y="2352991"/>
            <a:ext cx="204099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 Queue</a:t>
            </a:r>
            <a:endParaRPr lang="en-US" sz="1461" dirty="0"/>
          </a:p>
        </p:txBody>
      </p:sp>
      <p:sp>
        <p:nvSpPr>
          <p:cNvPr id="29" name="Text 5"/>
          <p:cNvSpPr/>
          <p:nvPr/>
        </p:nvSpPr>
        <p:spPr>
          <a:xfrm>
            <a:off x="7491244" y="2352991"/>
            <a:ext cx="146275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FIFO Queue</a:t>
            </a:r>
            <a:endParaRPr lang="en-US" sz="1461" dirty="0"/>
          </a:p>
        </p:txBody>
      </p:sp>
      <p:sp>
        <p:nvSpPr>
          <p:cNvPr id="30" name="Text 6"/>
          <p:cNvSpPr/>
          <p:nvPr/>
        </p:nvSpPr>
        <p:spPr>
          <a:xfrm>
            <a:off x="742454" y="2811788"/>
            <a:ext cx="2138181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Throughput</a:t>
            </a:r>
            <a:endParaRPr lang="en-US" sz="1169" dirty="0"/>
          </a:p>
        </p:txBody>
      </p:sp>
      <p:sp>
        <p:nvSpPr>
          <p:cNvPr id="31" name="Text 7"/>
          <p:cNvSpPr/>
          <p:nvPr/>
        </p:nvSpPr>
        <p:spPr>
          <a:xfrm>
            <a:off x="3121932" y="2854148"/>
            <a:ext cx="186367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Nearly unlimited TPS</a:t>
            </a:r>
            <a:endParaRPr lang="en-US" sz="1169" dirty="0"/>
          </a:p>
        </p:txBody>
      </p:sp>
      <p:sp>
        <p:nvSpPr>
          <p:cNvPr id="32" name="Text 8"/>
          <p:cNvSpPr/>
          <p:nvPr/>
        </p:nvSpPr>
        <p:spPr>
          <a:xfrm>
            <a:off x="7398437" y="2854148"/>
            <a:ext cx="423494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Default 300 TPS; up to 3,000 TPS with batching</a:t>
            </a:r>
            <a:endParaRPr lang="en-US" sz="1169" dirty="0"/>
          </a:p>
        </p:txBody>
      </p:sp>
      <p:sp>
        <p:nvSpPr>
          <p:cNvPr id="33" name="Text 9"/>
          <p:cNvSpPr/>
          <p:nvPr/>
        </p:nvSpPr>
        <p:spPr>
          <a:xfrm>
            <a:off x="742454" y="3265886"/>
            <a:ext cx="2565816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Message Delivery</a:t>
            </a:r>
            <a:endParaRPr lang="en-US" sz="1169" dirty="0"/>
          </a:p>
        </p:txBody>
      </p:sp>
      <p:sp>
        <p:nvSpPr>
          <p:cNvPr id="34" name="Text 10"/>
          <p:cNvSpPr/>
          <p:nvPr/>
        </p:nvSpPr>
        <p:spPr>
          <a:xfrm>
            <a:off x="3103371" y="3299620"/>
            <a:ext cx="372752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At-least-once (might duplicate messages)</a:t>
            </a:r>
            <a:endParaRPr lang="en-US" sz="1169" dirty="0"/>
          </a:p>
        </p:txBody>
      </p:sp>
      <p:sp>
        <p:nvSpPr>
          <p:cNvPr id="35" name="Text 11"/>
          <p:cNvSpPr/>
          <p:nvPr/>
        </p:nvSpPr>
        <p:spPr>
          <a:xfrm>
            <a:off x="7379876" y="3299620"/>
            <a:ext cx="355299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Exactly-once processing (no duplicates)</a:t>
            </a:r>
            <a:endParaRPr lang="en-US" sz="1169" dirty="0"/>
          </a:p>
        </p:txBody>
      </p:sp>
      <p:sp>
        <p:nvSpPr>
          <p:cNvPr id="36" name="Text 12"/>
          <p:cNvSpPr/>
          <p:nvPr/>
        </p:nvSpPr>
        <p:spPr>
          <a:xfrm>
            <a:off x="742454" y="3702733"/>
            <a:ext cx="2565816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Message Ordering</a:t>
            </a:r>
            <a:endParaRPr lang="en-US" sz="1169" dirty="0"/>
          </a:p>
        </p:txBody>
      </p:sp>
      <p:sp>
        <p:nvSpPr>
          <p:cNvPr id="37" name="Text 13"/>
          <p:cNvSpPr/>
          <p:nvPr/>
        </p:nvSpPr>
        <p:spPr>
          <a:xfrm>
            <a:off x="3103371" y="3745093"/>
            <a:ext cx="332781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Best-effort ordering (not guaranteed)</a:t>
            </a:r>
            <a:endParaRPr lang="en-US" sz="1169" dirty="0"/>
          </a:p>
        </p:txBody>
      </p:sp>
      <p:sp>
        <p:nvSpPr>
          <p:cNvPr id="38" name="Text 14"/>
          <p:cNvSpPr/>
          <p:nvPr/>
        </p:nvSpPr>
        <p:spPr>
          <a:xfrm>
            <a:off x="7324192" y="3745093"/>
            <a:ext cx="277393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Strict First-In-First-Out ordering</a:t>
            </a:r>
            <a:endParaRPr lang="en-US" sz="1169" dirty="0"/>
          </a:p>
        </p:txBody>
      </p:sp>
      <p:sp>
        <p:nvSpPr>
          <p:cNvPr id="39" name="Text 15"/>
          <p:cNvSpPr/>
          <p:nvPr/>
        </p:nvSpPr>
        <p:spPr>
          <a:xfrm>
            <a:off x="742454" y="4148205"/>
            <a:ext cx="2138181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Cases</a:t>
            </a:r>
            <a:endParaRPr lang="en-US" sz="1169" dirty="0"/>
          </a:p>
        </p:txBody>
      </p:sp>
      <p:sp>
        <p:nvSpPr>
          <p:cNvPr id="40" name="Text 16"/>
          <p:cNvSpPr/>
          <p:nvPr/>
        </p:nvSpPr>
        <p:spPr>
          <a:xfrm>
            <a:off x="3140493" y="4190565"/>
            <a:ext cx="326795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throughput, scalable workloads</a:t>
            </a:r>
            <a:endParaRPr lang="en-US" sz="1169" dirty="0"/>
          </a:p>
        </p:txBody>
      </p:sp>
      <p:sp>
        <p:nvSpPr>
          <p:cNvPr id="41" name="Text 17"/>
          <p:cNvSpPr/>
          <p:nvPr/>
        </p:nvSpPr>
        <p:spPr>
          <a:xfrm>
            <a:off x="7398437" y="4190565"/>
            <a:ext cx="308837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Workflows requiring strict ordering</a:t>
            </a:r>
            <a:endParaRPr lang="en-US" sz="1169" dirty="0"/>
          </a:p>
        </p:txBody>
      </p:sp>
      <p:sp>
        <p:nvSpPr>
          <p:cNvPr id="42" name="Text 18"/>
          <p:cNvSpPr/>
          <p:nvPr/>
        </p:nvSpPr>
        <p:spPr>
          <a:xfrm>
            <a:off x="1020874" y="4951580"/>
            <a:ext cx="183687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 Queue</a:t>
            </a:r>
            <a:endParaRPr lang="en-US" sz="1315" dirty="0"/>
          </a:p>
        </p:txBody>
      </p:sp>
      <p:sp>
        <p:nvSpPr>
          <p:cNvPr id="43" name="Text 19"/>
          <p:cNvSpPr/>
          <p:nvPr/>
        </p:nvSpPr>
        <p:spPr>
          <a:xfrm>
            <a:off x="742454" y="5304246"/>
            <a:ext cx="4157742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for high throughput scenarios where occasional duplicate messages are acceptable.</a:t>
            </a:r>
            <a:endParaRPr lang="en-US" sz="1023" dirty="0"/>
          </a:p>
        </p:txBody>
      </p:sp>
      <p:sp>
        <p:nvSpPr>
          <p:cNvPr id="44" name="Text 20"/>
          <p:cNvSpPr/>
          <p:nvPr/>
        </p:nvSpPr>
        <p:spPr>
          <a:xfrm>
            <a:off x="7313171" y="4951580"/>
            <a:ext cx="131657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FIFO Queue</a:t>
            </a:r>
            <a:endParaRPr lang="en-US" sz="1315" dirty="0"/>
          </a:p>
        </p:txBody>
      </p:sp>
      <p:sp>
        <p:nvSpPr>
          <p:cNvPr id="45" name="Text 21"/>
          <p:cNvSpPr/>
          <p:nvPr/>
        </p:nvSpPr>
        <p:spPr>
          <a:xfrm>
            <a:off x="6979066" y="5304246"/>
            <a:ext cx="4157742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for workflows requiring strict message ordering and exactly-once processing.</a:t>
            </a:r>
            <a:endParaRPr lang="en-US" sz="102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36" y="710312"/>
            <a:ext cx="1187926" cy="3712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0549" y="1545573"/>
            <a:ext cx="556840" cy="5568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5880" y="1545573"/>
            <a:ext cx="556840" cy="55684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1211" y="1545573"/>
            <a:ext cx="556840" cy="55684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6542" y="1545573"/>
            <a:ext cx="556840" cy="55684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1873" y="1545573"/>
            <a:ext cx="556840" cy="55684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0549" y="2176659"/>
            <a:ext cx="556840" cy="55684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5880" y="2176659"/>
            <a:ext cx="556840" cy="55684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1211" y="2176659"/>
            <a:ext cx="556840" cy="55684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6542" y="2176659"/>
            <a:ext cx="556840" cy="55684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1873" y="2176659"/>
            <a:ext cx="556840" cy="55684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8687" y="3030481"/>
            <a:ext cx="1781889" cy="37123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0403" y="3828619"/>
            <a:ext cx="556840" cy="55684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5735" y="3828619"/>
            <a:ext cx="556840" cy="55684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1066" y="3828619"/>
            <a:ext cx="556840" cy="55684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6397" y="3828619"/>
            <a:ext cx="556840" cy="55684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1728" y="3828619"/>
            <a:ext cx="556840" cy="55684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0403" y="4459705"/>
            <a:ext cx="556840" cy="55684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5735" y="4459705"/>
            <a:ext cx="556840" cy="55684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1066" y="4459705"/>
            <a:ext cx="556840" cy="55684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66397" y="4459705"/>
            <a:ext cx="556840" cy="55684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71728" y="4459705"/>
            <a:ext cx="556840" cy="55684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222736" y="301963"/>
            <a:ext cx="13720548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 Queue and FIFO Queue</a:t>
            </a:r>
            <a:endParaRPr lang="en-US" sz="2192" dirty="0"/>
          </a:p>
        </p:txBody>
      </p:sp>
      <p:sp>
        <p:nvSpPr>
          <p:cNvPr id="34" name="Text 1"/>
          <p:cNvSpPr/>
          <p:nvPr/>
        </p:nvSpPr>
        <p:spPr>
          <a:xfrm>
            <a:off x="4176303" y="895926"/>
            <a:ext cx="423198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 Queue</a:t>
            </a:r>
            <a:endParaRPr lang="en-US" sz="1461" dirty="0"/>
          </a:p>
        </p:txBody>
      </p:sp>
      <p:sp>
        <p:nvSpPr>
          <p:cNvPr id="37" name="Text 4"/>
          <p:cNvSpPr/>
          <p:nvPr/>
        </p:nvSpPr>
        <p:spPr>
          <a:xfrm>
            <a:off x="4324794" y="1545573"/>
            <a:ext cx="55684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69"/>
              </a:lnSpc>
            </a:pPr>
            <a:r>
              <a:rPr lang="en-US" sz="2046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2046" dirty="0"/>
          </a:p>
        </p:txBody>
      </p:sp>
      <p:sp>
        <p:nvSpPr>
          <p:cNvPr id="38" name="Text 5"/>
          <p:cNvSpPr/>
          <p:nvPr/>
        </p:nvSpPr>
        <p:spPr>
          <a:xfrm>
            <a:off x="5030125" y="1545573"/>
            <a:ext cx="55684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69"/>
              </a:lnSpc>
            </a:pPr>
            <a:r>
              <a:rPr lang="en-US" sz="2046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2046" dirty="0"/>
          </a:p>
        </p:txBody>
      </p:sp>
      <p:sp>
        <p:nvSpPr>
          <p:cNvPr id="39" name="Text 6"/>
          <p:cNvSpPr/>
          <p:nvPr/>
        </p:nvSpPr>
        <p:spPr>
          <a:xfrm>
            <a:off x="5735456" y="1545573"/>
            <a:ext cx="55684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69"/>
              </a:lnSpc>
            </a:pPr>
            <a:r>
              <a:rPr lang="en-US" sz="2046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2046" dirty="0"/>
          </a:p>
        </p:txBody>
      </p:sp>
      <p:sp>
        <p:nvSpPr>
          <p:cNvPr id="40" name="Text 7"/>
          <p:cNvSpPr/>
          <p:nvPr/>
        </p:nvSpPr>
        <p:spPr>
          <a:xfrm>
            <a:off x="6440788" y="1545573"/>
            <a:ext cx="55684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69"/>
              </a:lnSpc>
            </a:pPr>
            <a:r>
              <a:rPr lang="en-US" sz="2046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2046" dirty="0"/>
          </a:p>
        </p:txBody>
      </p:sp>
      <p:sp>
        <p:nvSpPr>
          <p:cNvPr id="41" name="Text 8"/>
          <p:cNvSpPr/>
          <p:nvPr/>
        </p:nvSpPr>
        <p:spPr>
          <a:xfrm>
            <a:off x="7146119" y="1545573"/>
            <a:ext cx="55684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69"/>
              </a:lnSpc>
            </a:pPr>
            <a:r>
              <a:rPr lang="en-US" sz="204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2046" dirty="0"/>
          </a:p>
        </p:txBody>
      </p:sp>
      <p:sp>
        <p:nvSpPr>
          <p:cNvPr id="42" name="Text 9"/>
          <p:cNvSpPr/>
          <p:nvPr/>
        </p:nvSpPr>
        <p:spPr>
          <a:xfrm>
            <a:off x="4324794" y="2176659"/>
            <a:ext cx="55684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69"/>
              </a:lnSpc>
            </a:pPr>
            <a:r>
              <a:rPr lang="en-US" sz="2046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2046" dirty="0"/>
          </a:p>
        </p:txBody>
      </p:sp>
      <p:sp>
        <p:nvSpPr>
          <p:cNvPr id="43" name="Text 10"/>
          <p:cNvSpPr/>
          <p:nvPr/>
        </p:nvSpPr>
        <p:spPr>
          <a:xfrm>
            <a:off x="5030125" y="2176659"/>
            <a:ext cx="55684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69"/>
              </a:lnSpc>
            </a:pPr>
            <a:r>
              <a:rPr lang="en-US" sz="2046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2046" dirty="0"/>
          </a:p>
        </p:txBody>
      </p:sp>
      <p:sp>
        <p:nvSpPr>
          <p:cNvPr id="44" name="Text 11"/>
          <p:cNvSpPr/>
          <p:nvPr/>
        </p:nvSpPr>
        <p:spPr>
          <a:xfrm>
            <a:off x="5735456" y="2176659"/>
            <a:ext cx="55684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69"/>
              </a:lnSpc>
            </a:pPr>
            <a:r>
              <a:rPr lang="en-US" sz="2046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2046" dirty="0"/>
          </a:p>
        </p:txBody>
      </p:sp>
      <p:sp>
        <p:nvSpPr>
          <p:cNvPr id="45" name="Text 12"/>
          <p:cNvSpPr/>
          <p:nvPr/>
        </p:nvSpPr>
        <p:spPr>
          <a:xfrm>
            <a:off x="6440788" y="2176659"/>
            <a:ext cx="55684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69"/>
              </a:lnSpc>
            </a:pPr>
            <a:r>
              <a:rPr lang="en-US" sz="2046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</a:rPr>
              <a:t>1</a:t>
            </a:r>
            <a:endParaRPr lang="en-US" sz="2046" dirty="0"/>
          </a:p>
        </p:txBody>
      </p:sp>
      <p:sp>
        <p:nvSpPr>
          <p:cNvPr id="46" name="Text 13"/>
          <p:cNvSpPr/>
          <p:nvPr/>
        </p:nvSpPr>
        <p:spPr>
          <a:xfrm>
            <a:off x="7146119" y="2176659"/>
            <a:ext cx="55684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69"/>
              </a:lnSpc>
            </a:pPr>
            <a:r>
              <a:rPr lang="en-US" sz="2046" dirty="0"/>
              <a:t>4</a:t>
            </a:r>
          </a:p>
        </p:txBody>
      </p:sp>
      <p:sp>
        <p:nvSpPr>
          <p:cNvPr id="47" name="Text 14"/>
          <p:cNvSpPr/>
          <p:nvPr/>
        </p:nvSpPr>
        <p:spPr>
          <a:xfrm>
            <a:off x="3867141" y="3178971"/>
            <a:ext cx="497380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559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FIFO Queue</a:t>
            </a:r>
            <a:endParaRPr lang="en-US" sz="1461" dirty="0"/>
          </a:p>
        </p:txBody>
      </p:sp>
      <p:sp>
        <p:nvSpPr>
          <p:cNvPr id="50" name="Text 17"/>
          <p:cNvSpPr/>
          <p:nvPr/>
        </p:nvSpPr>
        <p:spPr>
          <a:xfrm>
            <a:off x="4324649" y="3828619"/>
            <a:ext cx="55684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69"/>
              </a:lnSpc>
            </a:pPr>
            <a:r>
              <a:rPr lang="en-US" sz="2046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2046" dirty="0"/>
          </a:p>
        </p:txBody>
      </p:sp>
      <p:sp>
        <p:nvSpPr>
          <p:cNvPr id="51" name="Text 18"/>
          <p:cNvSpPr/>
          <p:nvPr/>
        </p:nvSpPr>
        <p:spPr>
          <a:xfrm>
            <a:off x="5029980" y="3828619"/>
            <a:ext cx="55684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69"/>
              </a:lnSpc>
            </a:pPr>
            <a:r>
              <a:rPr lang="en-US" sz="2046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2046" dirty="0"/>
          </a:p>
        </p:txBody>
      </p:sp>
      <p:sp>
        <p:nvSpPr>
          <p:cNvPr id="52" name="Text 19"/>
          <p:cNvSpPr/>
          <p:nvPr/>
        </p:nvSpPr>
        <p:spPr>
          <a:xfrm>
            <a:off x="5735311" y="3828619"/>
            <a:ext cx="55684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69"/>
              </a:lnSpc>
            </a:pPr>
            <a:r>
              <a:rPr lang="en-US" sz="2046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2046" dirty="0"/>
          </a:p>
        </p:txBody>
      </p:sp>
      <p:sp>
        <p:nvSpPr>
          <p:cNvPr id="53" name="Text 20"/>
          <p:cNvSpPr/>
          <p:nvPr/>
        </p:nvSpPr>
        <p:spPr>
          <a:xfrm>
            <a:off x="6440642" y="3828619"/>
            <a:ext cx="55684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69"/>
              </a:lnSpc>
            </a:pPr>
            <a:r>
              <a:rPr lang="en-US" sz="2046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2046" dirty="0"/>
          </a:p>
        </p:txBody>
      </p:sp>
      <p:sp>
        <p:nvSpPr>
          <p:cNvPr id="54" name="Text 21"/>
          <p:cNvSpPr/>
          <p:nvPr/>
        </p:nvSpPr>
        <p:spPr>
          <a:xfrm>
            <a:off x="7145974" y="3828619"/>
            <a:ext cx="55684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69"/>
              </a:lnSpc>
            </a:pPr>
            <a:r>
              <a:rPr lang="en-US" sz="204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2046" dirty="0"/>
          </a:p>
        </p:txBody>
      </p:sp>
      <p:sp>
        <p:nvSpPr>
          <p:cNvPr id="55" name="Text 22"/>
          <p:cNvSpPr/>
          <p:nvPr/>
        </p:nvSpPr>
        <p:spPr>
          <a:xfrm>
            <a:off x="4324649" y="4459705"/>
            <a:ext cx="55684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69"/>
              </a:lnSpc>
            </a:pPr>
            <a:r>
              <a:rPr lang="en-US" sz="2046" b="1" dirty="0">
                <a:solidFill>
                  <a:srgbClr val="9A3412"/>
                </a:solidFill>
                <a:latin typeface="ui-sans-serif" pitchFamily="34" charset="0"/>
                <a:ea typeface="ui-sans-serif" pitchFamily="34" charset="-122"/>
              </a:rPr>
              <a:t>1</a:t>
            </a:r>
            <a:endParaRPr lang="en-US" sz="2046" dirty="0"/>
          </a:p>
        </p:txBody>
      </p:sp>
      <p:sp>
        <p:nvSpPr>
          <p:cNvPr id="56" name="Text 23"/>
          <p:cNvSpPr/>
          <p:nvPr/>
        </p:nvSpPr>
        <p:spPr>
          <a:xfrm>
            <a:off x="5029980" y="4459705"/>
            <a:ext cx="55684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69"/>
              </a:lnSpc>
            </a:pPr>
            <a:r>
              <a:rPr lang="en-US" sz="2046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</a:rPr>
              <a:t>2</a:t>
            </a:r>
            <a:endParaRPr lang="en-US" sz="2046" dirty="0"/>
          </a:p>
        </p:txBody>
      </p:sp>
      <p:sp>
        <p:nvSpPr>
          <p:cNvPr id="57" name="Text 24"/>
          <p:cNvSpPr/>
          <p:nvPr/>
        </p:nvSpPr>
        <p:spPr>
          <a:xfrm>
            <a:off x="5735311" y="4459705"/>
            <a:ext cx="55684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69"/>
              </a:lnSpc>
            </a:pPr>
            <a:r>
              <a:rPr lang="en-US" sz="2046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</a:rPr>
              <a:t>3</a:t>
            </a:r>
            <a:endParaRPr lang="en-US" sz="2046" dirty="0"/>
          </a:p>
        </p:txBody>
      </p:sp>
      <p:sp>
        <p:nvSpPr>
          <p:cNvPr id="58" name="Text 25"/>
          <p:cNvSpPr/>
          <p:nvPr/>
        </p:nvSpPr>
        <p:spPr>
          <a:xfrm>
            <a:off x="6440642" y="4459705"/>
            <a:ext cx="55684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69"/>
              </a:lnSpc>
            </a:pPr>
            <a:r>
              <a:rPr lang="en-US" sz="2046" dirty="0"/>
              <a:t>4</a:t>
            </a:r>
          </a:p>
        </p:txBody>
      </p:sp>
      <p:sp>
        <p:nvSpPr>
          <p:cNvPr id="59" name="Text 26"/>
          <p:cNvSpPr/>
          <p:nvPr/>
        </p:nvSpPr>
        <p:spPr>
          <a:xfrm>
            <a:off x="7145974" y="4459705"/>
            <a:ext cx="55684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69"/>
              </a:lnSpc>
            </a:pPr>
            <a:r>
              <a:rPr lang="en-US" sz="2046" b="1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</a:rPr>
              <a:t>5</a:t>
            </a:r>
            <a:endParaRPr lang="en-US" sz="204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42691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581" y="1007294"/>
            <a:ext cx="1113681" cy="185613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118662"/>
            <a:ext cx="3563779" cy="2784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926080"/>
            <a:ext cx="3415288" cy="196750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699" y="2148817"/>
            <a:ext cx="241298" cy="33410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699" y="2659254"/>
            <a:ext cx="148491" cy="14849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699" y="3178971"/>
            <a:ext cx="148491" cy="14849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699" y="3475953"/>
            <a:ext cx="148491" cy="1484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1987" y="1926080"/>
            <a:ext cx="3415288" cy="1967503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4723" y="2148817"/>
            <a:ext cx="278420" cy="33410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23" y="2659254"/>
            <a:ext cx="148491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23" y="3178971"/>
            <a:ext cx="148491" cy="14849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23" y="3475953"/>
            <a:ext cx="148491" cy="14849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70011" y="1926080"/>
            <a:ext cx="3415288" cy="1967503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2747" y="2148817"/>
            <a:ext cx="241298" cy="334104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747" y="2659254"/>
            <a:ext cx="148491" cy="14849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747" y="2997322"/>
            <a:ext cx="148491" cy="14849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747" y="3268352"/>
            <a:ext cx="148491" cy="14849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3963" y="4116319"/>
            <a:ext cx="3415288" cy="1967503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6699" y="4339056"/>
            <a:ext cx="352666" cy="334104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699" y="4849493"/>
            <a:ext cx="148491" cy="14849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699" y="5369210"/>
            <a:ext cx="148491" cy="148491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699" y="5666192"/>
            <a:ext cx="148491" cy="148491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31987" y="4116319"/>
            <a:ext cx="3415288" cy="1967503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54723" y="4339056"/>
            <a:ext cx="241298" cy="334104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23" y="4849493"/>
            <a:ext cx="148491" cy="148491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23" y="5146474"/>
            <a:ext cx="148491" cy="148491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23" y="5441293"/>
            <a:ext cx="148491" cy="148491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70011" y="4116319"/>
            <a:ext cx="3415288" cy="1967503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92747" y="4339056"/>
            <a:ext cx="352666" cy="334104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747" y="4849493"/>
            <a:ext cx="148491" cy="148491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747" y="5146474"/>
            <a:ext cx="148491" cy="148491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747" y="5443456"/>
            <a:ext cx="148491" cy="148491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593963" y="673190"/>
            <a:ext cx="1069133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Features &amp; Benefits</a:t>
            </a:r>
            <a:endParaRPr lang="en-US" sz="2631" dirty="0"/>
          </a:p>
        </p:txBody>
      </p:sp>
      <p:sp>
        <p:nvSpPr>
          <p:cNvPr id="37" name="Text 1"/>
          <p:cNvSpPr/>
          <p:nvPr/>
        </p:nvSpPr>
        <p:spPr>
          <a:xfrm>
            <a:off x="593963" y="1369240"/>
            <a:ext cx="1282960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SQS provides robust features for building scalable, reliable distributed systems</a:t>
            </a:r>
            <a:endParaRPr lang="en-US" sz="1461" dirty="0"/>
          </a:p>
        </p:txBody>
      </p:sp>
      <p:sp>
        <p:nvSpPr>
          <p:cNvPr id="38" name="Text 2"/>
          <p:cNvSpPr/>
          <p:nvPr/>
        </p:nvSpPr>
        <p:spPr>
          <a:xfrm>
            <a:off x="1206488" y="2185939"/>
            <a:ext cx="130962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Scalability</a:t>
            </a:r>
            <a:endParaRPr lang="en-US" sz="1461" dirty="0"/>
          </a:p>
        </p:txBody>
      </p:sp>
      <p:sp>
        <p:nvSpPr>
          <p:cNvPr id="39" name="Text 3"/>
          <p:cNvSpPr/>
          <p:nvPr/>
        </p:nvSpPr>
        <p:spPr>
          <a:xfrm>
            <a:off x="853822" y="2631412"/>
            <a:ext cx="315542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Automatically scales to accommodate workload</a:t>
            </a:r>
            <a:endParaRPr lang="en-US" sz="1169" dirty="0"/>
          </a:p>
        </p:txBody>
      </p:sp>
      <p:sp>
        <p:nvSpPr>
          <p:cNvPr id="40" name="Text 4"/>
          <p:cNvSpPr/>
          <p:nvPr/>
        </p:nvSpPr>
        <p:spPr>
          <a:xfrm>
            <a:off x="853822" y="3151130"/>
            <a:ext cx="378651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Handles sudden spikes in requests</a:t>
            </a:r>
            <a:endParaRPr lang="en-US" sz="1169" dirty="0"/>
          </a:p>
        </p:txBody>
      </p:sp>
      <p:sp>
        <p:nvSpPr>
          <p:cNvPr id="41" name="Text 5"/>
          <p:cNvSpPr/>
          <p:nvPr/>
        </p:nvSpPr>
        <p:spPr>
          <a:xfrm>
            <a:off x="853822" y="3448111"/>
            <a:ext cx="378651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No manual provisioning required</a:t>
            </a:r>
            <a:endParaRPr lang="en-US" sz="1169" dirty="0"/>
          </a:p>
        </p:txBody>
      </p:sp>
      <p:sp>
        <p:nvSpPr>
          <p:cNvPr id="42" name="Text 6"/>
          <p:cNvSpPr/>
          <p:nvPr/>
        </p:nvSpPr>
        <p:spPr>
          <a:xfrm>
            <a:off x="4881634" y="2185939"/>
            <a:ext cx="124384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Durability</a:t>
            </a:r>
            <a:endParaRPr lang="en-US" sz="1461" dirty="0"/>
          </a:p>
        </p:txBody>
      </p:sp>
      <p:sp>
        <p:nvSpPr>
          <p:cNvPr id="43" name="Text 7"/>
          <p:cNvSpPr/>
          <p:nvPr/>
        </p:nvSpPr>
        <p:spPr>
          <a:xfrm>
            <a:off x="4491846" y="2631412"/>
            <a:ext cx="315542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Messages stored redundantly across multiple servers</a:t>
            </a:r>
            <a:endParaRPr lang="en-US" sz="1169" dirty="0"/>
          </a:p>
        </p:txBody>
      </p:sp>
      <p:sp>
        <p:nvSpPr>
          <p:cNvPr id="44" name="Text 8"/>
          <p:cNvSpPr/>
          <p:nvPr/>
        </p:nvSpPr>
        <p:spPr>
          <a:xfrm>
            <a:off x="4491846" y="3151130"/>
            <a:ext cx="378651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Ensures high availability</a:t>
            </a:r>
            <a:endParaRPr lang="en-US" sz="1169" dirty="0"/>
          </a:p>
        </p:txBody>
      </p:sp>
      <p:sp>
        <p:nvSpPr>
          <p:cNvPr id="45" name="Text 9"/>
          <p:cNvSpPr/>
          <p:nvPr/>
        </p:nvSpPr>
        <p:spPr>
          <a:xfrm>
            <a:off x="4491846" y="3448111"/>
            <a:ext cx="378651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Prevents data loss</a:t>
            </a:r>
            <a:endParaRPr lang="en-US" sz="1169" dirty="0"/>
          </a:p>
        </p:txBody>
      </p:sp>
      <p:sp>
        <p:nvSpPr>
          <p:cNvPr id="46" name="Text 10"/>
          <p:cNvSpPr/>
          <p:nvPr/>
        </p:nvSpPr>
        <p:spPr>
          <a:xfrm>
            <a:off x="8482536" y="2185939"/>
            <a:ext cx="104007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Security</a:t>
            </a:r>
            <a:endParaRPr lang="en-US" sz="1461" dirty="0"/>
          </a:p>
        </p:txBody>
      </p:sp>
      <p:sp>
        <p:nvSpPr>
          <p:cNvPr id="47" name="Text 11"/>
          <p:cNvSpPr/>
          <p:nvPr/>
        </p:nvSpPr>
        <p:spPr>
          <a:xfrm>
            <a:off x="8129870" y="2631412"/>
            <a:ext cx="315542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Server-side encryption (SSE) with AWS KMS</a:t>
            </a:r>
            <a:endParaRPr lang="en-US" sz="1169" dirty="0"/>
          </a:p>
        </p:txBody>
      </p:sp>
      <p:sp>
        <p:nvSpPr>
          <p:cNvPr id="48" name="Text 12"/>
          <p:cNvSpPr/>
          <p:nvPr/>
        </p:nvSpPr>
        <p:spPr>
          <a:xfrm>
            <a:off x="8166993" y="2951550"/>
            <a:ext cx="378651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Fine-grained access control</a:t>
            </a:r>
            <a:endParaRPr lang="en-US" sz="1169" dirty="0"/>
          </a:p>
        </p:txBody>
      </p:sp>
      <p:sp>
        <p:nvSpPr>
          <p:cNvPr id="49" name="Text 13"/>
          <p:cNvSpPr/>
          <p:nvPr/>
        </p:nvSpPr>
        <p:spPr>
          <a:xfrm>
            <a:off x="8147171" y="3240509"/>
            <a:ext cx="378651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Protects message contents at rest</a:t>
            </a:r>
            <a:endParaRPr lang="en-US" sz="1169" dirty="0"/>
          </a:p>
        </p:txBody>
      </p:sp>
      <p:sp>
        <p:nvSpPr>
          <p:cNvPr id="50" name="Text 14"/>
          <p:cNvSpPr/>
          <p:nvPr/>
        </p:nvSpPr>
        <p:spPr>
          <a:xfrm>
            <a:off x="1317856" y="4376178"/>
            <a:ext cx="220108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Visibility Timeout</a:t>
            </a:r>
            <a:endParaRPr lang="en-US" sz="1461" dirty="0"/>
          </a:p>
        </p:txBody>
      </p:sp>
      <p:sp>
        <p:nvSpPr>
          <p:cNvPr id="51" name="Text 15"/>
          <p:cNvSpPr/>
          <p:nvPr/>
        </p:nvSpPr>
        <p:spPr>
          <a:xfrm>
            <a:off x="853822" y="4821651"/>
            <a:ext cx="315542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Temporarily hides messages from other consumers</a:t>
            </a:r>
            <a:endParaRPr lang="en-US" sz="1169" dirty="0"/>
          </a:p>
        </p:txBody>
      </p:sp>
      <p:sp>
        <p:nvSpPr>
          <p:cNvPr id="52" name="Text 16"/>
          <p:cNvSpPr/>
          <p:nvPr/>
        </p:nvSpPr>
        <p:spPr>
          <a:xfrm>
            <a:off x="853822" y="5341369"/>
            <a:ext cx="378651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Prevents duplicate processing</a:t>
            </a:r>
            <a:endParaRPr lang="en-US" sz="1169" dirty="0"/>
          </a:p>
        </p:txBody>
      </p:sp>
      <p:sp>
        <p:nvSpPr>
          <p:cNvPr id="53" name="Text 17"/>
          <p:cNvSpPr/>
          <p:nvPr/>
        </p:nvSpPr>
        <p:spPr>
          <a:xfrm>
            <a:off x="853822" y="5638350"/>
            <a:ext cx="378651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Configurable timeout period</a:t>
            </a:r>
            <a:endParaRPr lang="en-US" sz="1169" dirty="0"/>
          </a:p>
        </p:txBody>
      </p:sp>
      <p:sp>
        <p:nvSpPr>
          <p:cNvPr id="54" name="Text 18"/>
          <p:cNvSpPr/>
          <p:nvPr/>
        </p:nvSpPr>
        <p:spPr>
          <a:xfrm>
            <a:off x="4844512" y="4376178"/>
            <a:ext cx="250891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Dead Letter Queues</a:t>
            </a:r>
            <a:endParaRPr lang="en-US" sz="1461" dirty="0"/>
          </a:p>
        </p:txBody>
      </p:sp>
      <p:sp>
        <p:nvSpPr>
          <p:cNvPr id="55" name="Text 19"/>
          <p:cNvSpPr/>
          <p:nvPr/>
        </p:nvSpPr>
        <p:spPr>
          <a:xfrm>
            <a:off x="4491846" y="4821651"/>
            <a:ext cx="378651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Isolates unprocessable messages</a:t>
            </a:r>
            <a:endParaRPr lang="en-US" sz="1169" dirty="0"/>
          </a:p>
        </p:txBody>
      </p:sp>
      <p:sp>
        <p:nvSpPr>
          <p:cNvPr id="56" name="Text 20"/>
          <p:cNvSpPr/>
          <p:nvPr/>
        </p:nvSpPr>
        <p:spPr>
          <a:xfrm>
            <a:off x="4491846" y="5118632"/>
            <a:ext cx="315542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Allows for later analysis and debugging</a:t>
            </a:r>
            <a:endParaRPr lang="en-US" sz="1169" dirty="0"/>
          </a:p>
        </p:txBody>
      </p:sp>
      <p:sp>
        <p:nvSpPr>
          <p:cNvPr id="57" name="Text 21"/>
          <p:cNvSpPr/>
          <p:nvPr/>
        </p:nvSpPr>
        <p:spPr>
          <a:xfrm>
            <a:off x="4491846" y="5413451"/>
            <a:ext cx="378651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Prevents blocking the main queue</a:t>
            </a:r>
            <a:endParaRPr lang="en-US" sz="1169" dirty="0"/>
          </a:p>
        </p:txBody>
      </p:sp>
      <p:sp>
        <p:nvSpPr>
          <p:cNvPr id="58" name="Text 22"/>
          <p:cNvSpPr/>
          <p:nvPr/>
        </p:nvSpPr>
        <p:spPr>
          <a:xfrm>
            <a:off x="8593904" y="4376178"/>
            <a:ext cx="238815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Generic API Access</a:t>
            </a:r>
            <a:endParaRPr lang="en-US" sz="1461" dirty="0"/>
          </a:p>
        </p:txBody>
      </p:sp>
      <p:sp>
        <p:nvSpPr>
          <p:cNvPr id="59" name="Text 23"/>
          <p:cNvSpPr/>
          <p:nvPr/>
        </p:nvSpPr>
        <p:spPr>
          <a:xfrm>
            <a:off x="8129870" y="4821651"/>
            <a:ext cx="378651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Reliable web services API</a:t>
            </a:r>
            <a:endParaRPr lang="en-US" sz="1169" dirty="0"/>
          </a:p>
        </p:txBody>
      </p:sp>
      <p:sp>
        <p:nvSpPr>
          <p:cNvPr id="60" name="Text 24"/>
          <p:cNvSpPr/>
          <p:nvPr/>
        </p:nvSpPr>
        <p:spPr>
          <a:xfrm>
            <a:off x="8129870" y="5118632"/>
            <a:ext cx="378651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Accessible via AWS SDKs</a:t>
            </a:r>
            <a:endParaRPr lang="en-US" sz="1169" dirty="0"/>
          </a:p>
        </p:txBody>
      </p:sp>
      <p:sp>
        <p:nvSpPr>
          <p:cNvPr id="61" name="Text 25"/>
          <p:cNvSpPr/>
          <p:nvPr/>
        </p:nvSpPr>
        <p:spPr>
          <a:xfrm>
            <a:off x="8129870" y="5415614"/>
            <a:ext cx="315542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Multiple programming language support</a:t>
            </a:r>
            <a:endParaRPr lang="en-US" sz="116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8"/>
            <a:ext cx="11879263" cy="656530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060" y="79226"/>
            <a:ext cx="1856135" cy="139210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118662"/>
            <a:ext cx="3563779" cy="2784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2482921"/>
            <a:ext cx="5197177" cy="211599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699" y="2705657"/>
            <a:ext cx="478099" cy="55684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344" y="2817025"/>
            <a:ext cx="352666" cy="33410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3289" y="3151129"/>
            <a:ext cx="148491" cy="14849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3289" y="3471898"/>
            <a:ext cx="148491" cy="1484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3289" y="3786179"/>
            <a:ext cx="148491" cy="14849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8122" y="2482921"/>
            <a:ext cx="5197177" cy="211599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0858" y="2705657"/>
            <a:ext cx="556840" cy="55684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0068" y="2817025"/>
            <a:ext cx="278420" cy="33410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6189" y="3151129"/>
            <a:ext cx="148491" cy="14849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6189" y="3448111"/>
            <a:ext cx="148491" cy="14849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6189" y="3745092"/>
            <a:ext cx="148491" cy="14849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3963" y="4895896"/>
            <a:ext cx="5197177" cy="211599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6699" y="5118633"/>
            <a:ext cx="497966" cy="55684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6472" y="5230001"/>
            <a:ext cx="278420" cy="334104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3156" y="5564105"/>
            <a:ext cx="148491" cy="14849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3156" y="5867570"/>
            <a:ext cx="148491" cy="148491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3156" y="6196990"/>
            <a:ext cx="148491" cy="14849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88122" y="4895896"/>
            <a:ext cx="5197177" cy="2115994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10858" y="5118633"/>
            <a:ext cx="556840" cy="55684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1507" y="5230001"/>
            <a:ext cx="315543" cy="334104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6189" y="5564105"/>
            <a:ext cx="148491" cy="148491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6189" y="5861086"/>
            <a:ext cx="148491" cy="148491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6189" y="6158068"/>
            <a:ext cx="148491" cy="148491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593963" y="673190"/>
            <a:ext cx="1282960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Integration with AWS Services</a:t>
            </a:r>
            <a:endParaRPr lang="en-US" sz="2631" dirty="0"/>
          </a:p>
        </p:txBody>
      </p:sp>
      <p:sp>
        <p:nvSpPr>
          <p:cNvPr id="31" name="Text 1"/>
          <p:cNvSpPr/>
          <p:nvPr/>
        </p:nvSpPr>
        <p:spPr>
          <a:xfrm>
            <a:off x="593963" y="1666222"/>
            <a:ext cx="10691336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SQS integrates seamlessly with other AWS services, enabling powerful architectural patterns and simplifying development.</a:t>
            </a:r>
            <a:endParaRPr lang="en-US" sz="1461" dirty="0"/>
          </a:p>
        </p:txBody>
      </p:sp>
      <p:sp>
        <p:nvSpPr>
          <p:cNvPr id="32" name="Text 2"/>
          <p:cNvSpPr/>
          <p:nvPr/>
        </p:nvSpPr>
        <p:spPr>
          <a:xfrm>
            <a:off x="1443289" y="2705657"/>
            <a:ext cx="4125115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Lambda</a:t>
            </a:r>
            <a:endParaRPr lang="en-US" sz="1754" dirty="0"/>
          </a:p>
        </p:txBody>
      </p:sp>
      <p:sp>
        <p:nvSpPr>
          <p:cNvPr id="33" name="Text 3"/>
          <p:cNvSpPr/>
          <p:nvPr/>
        </p:nvSpPr>
        <p:spPr>
          <a:xfrm>
            <a:off x="1666025" y="3114007"/>
            <a:ext cx="390237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Lambda functions can be triggered directly by SQS messages</a:t>
            </a:r>
            <a:endParaRPr lang="en-US" sz="1169" dirty="0"/>
          </a:p>
        </p:txBody>
      </p:sp>
      <p:sp>
        <p:nvSpPr>
          <p:cNvPr id="34" name="Text 4"/>
          <p:cNvSpPr/>
          <p:nvPr/>
        </p:nvSpPr>
        <p:spPr>
          <a:xfrm>
            <a:off x="1666026" y="3427658"/>
            <a:ext cx="399254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Enables serverless event-driven architecture</a:t>
            </a:r>
            <a:endParaRPr lang="en-US" sz="1169" dirty="0"/>
          </a:p>
        </p:txBody>
      </p:sp>
      <p:sp>
        <p:nvSpPr>
          <p:cNvPr id="35" name="Text 5"/>
          <p:cNvSpPr/>
          <p:nvPr/>
        </p:nvSpPr>
        <p:spPr>
          <a:xfrm>
            <a:off x="1666025" y="3740404"/>
            <a:ext cx="390237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 scaling with concurrent Lambda executions</a:t>
            </a:r>
            <a:endParaRPr lang="en-US" sz="1169" dirty="0"/>
          </a:p>
        </p:txBody>
      </p:sp>
      <p:sp>
        <p:nvSpPr>
          <p:cNvPr id="36" name="Text 6"/>
          <p:cNvSpPr/>
          <p:nvPr/>
        </p:nvSpPr>
        <p:spPr>
          <a:xfrm>
            <a:off x="7016189" y="2705657"/>
            <a:ext cx="3882802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EC2</a:t>
            </a:r>
            <a:endParaRPr lang="en-US" sz="1754" dirty="0"/>
          </a:p>
        </p:txBody>
      </p:sp>
      <p:sp>
        <p:nvSpPr>
          <p:cNvPr id="37" name="Text 7"/>
          <p:cNvSpPr/>
          <p:nvPr/>
        </p:nvSpPr>
        <p:spPr>
          <a:xfrm>
            <a:off x="7238925" y="3114007"/>
            <a:ext cx="439207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EC2 instances can poll SQS queues for messages</a:t>
            </a:r>
            <a:endParaRPr lang="en-US" sz="1169" dirty="0"/>
          </a:p>
        </p:txBody>
      </p:sp>
      <p:sp>
        <p:nvSpPr>
          <p:cNvPr id="38" name="Text 8"/>
          <p:cNvSpPr/>
          <p:nvPr/>
        </p:nvSpPr>
        <p:spPr>
          <a:xfrm>
            <a:off x="7238926" y="3410988"/>
            <a:ext cx="435240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Decouples EC2 components for better scalability</a:t>
            </a:r>
            <a:endParaRPr lang="en-US" sz="1169" dirty="0"/>
          </a:p>
        </p:txBody>
      </p:sp>
      <p:sp>
        <p:nvSpPr>
          <p:cNvPr id="39" name="Text 9"/>
          <p:cNvSpPr/>
          <p:nvPr/>
        </p:nvSpPr>
        <p:spPr>
          <a:xfrm>
            <a:off x="7238925" y="3707970"/>
            <a:ext cx="422015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Improves fault tolerance in distributed systems</a:t>
            </a:r>
            <a:endParaRPr lang="en-US" sz="1169" dirty="0"/>
          </a:p>
        </p:txBody>
      </p:sp>
      <p:sp>
        <p:nvSpPr>
          <p:cNvPr id="40" name="Text 10"/>
          <p:cNvSpPr/>
          <p:nvPr/>
        </p:nvSpPr>
        <p:spPr>
          <a:xfrm>
            <a:off x="1463156" y="5118632"/>
            <a:ext cx="4926298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Other AWS Services</a:t>
            </a:r>
            <a:endParaRPr lang="en-US" sz="1754" dirty="0"/>
          </a:p>
        </p:txBody>
      </p:sp>
      <p:sp>
        <p:nvSpPr>
          <p:cNvPr id="41" name="Text 11"/>
          <p:cNvSpPr/>
          <p:nvPr/>
        </p:nvSpPr>
        <p:spPr>
          <a:xfrm>
            <a:off x="1685892" y="5526982"/>
            <a:ext cx="3882512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S3 can send messages to SQS on object creation</a:t>
            </a:r>
            <a:endParaRPr lang="en-US" sz="1169" dirty="0"/>
          </a:p>
        </p:txBody>
      </p:sp>
      <p:sp>
        <p:nvSpPr>
          <p:cNvPr id="42" name="Text 12"/>
          <p:cNvSpPr/>
          <p:nvPr/>
        </p:nvSpPr>
        <p:spPr>
          <a:xfrm>
            <a:off x="1666025" y="5826485"/>
            <a:ext cx="3882512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Lambda can process messages from multiple sources</a:t>
            </a:r>
            <a:endParaRPr lang="en-US" sz="1169" dirty="0"/>
          </a:p>
        </p:txBody>
      </p:sp>
      <p:sp>
        <p:nvSpPr>
          <p:cNvPr id="43" name="Text 13"/>
          <p:cNvSpPr/>
          <p:nvPr/>
        </p:nvSpPr>
        <p:spPr>
          <a:xfrm>
            <a:off x="1666026" y="6151939"/>
            <a:ext cx="433343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CloudWatch Events can trigger SQS notifications</a:t>
            </a:r>
            <a:endParaRPr lang="en-US" sz="1169" dirty="0"/>
          </a:p>
        </p:txBody>
      </p:sp>
      <p:sp>
        <p:nvSpPr>
          <p:cNvPr id="44" name="Text 14"/>
          <p:cNvSpPr/>
          <p:nvPr/>
        </p:nvSpPr>
        <p:spPr>
          <a:xfrm>
            <a:off x="7016189" y="5118632"/>
            <a:ext cx="4471429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Integration Benefits</a:t>
            </a:r>
            <a:endParaRPr lang="en-US" sz="1754" dirty="0"/>
          </a:p>
        </p:txBody>
      </p:sp>
      <p:sp>
        <p:nvSpPr>
          <p:cNvPr id="45" name="Text 15"/>
          <p:cNvSpPr/>
          <p:nvPr/>
        </p:nvSpPr>
        <p:spPr>
          <a:xfrm>
            <a:off x="7238926" y="5526982"/>
            <a:ext cx="331615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Loose coupling between components</a:t>
            </a:r>
            <a:endParaRPr lang="en-US" sz="1169" dirty="0"/>
          </a:p>
        </p:txBody>
      </p:sp>
      <p:sp>
        <p:nvSpPr>
          <p:cNvPr id="46" name="Text 16"/>
          <p:cNvSpPr/>
          <p:nvPr/>
        </p:nvSpPr>
        <p:spPr>
          <a:xfrm>
            <a:off x="7238926" y="5823964"/>
            <a:ext cx="420414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Improved system resilience and fault tolerance</a:t>
            </a:r>
            <a:endParaRPr lang="en-US" sz="1169" dirty="0"/>
          </a:p>
        </p:txBody>
      </p:sp>
      <p:sp>
        <p:nvSpPr>
          <p:cNvPr id="47" name="Text 17"/>
          <p:cNvSpPr/>
          <p:nvPr/>
        </p:nvSpPr>
        <p:spPr>
          <a:xfrm>
            <a:off x="7238926" y="6120945"/>
            <a:ext cx="362973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Simplified development and deployment</a:t>
            </a:r>
            <a:endParaRPr lang="en-US" sz="1169" dirty="0"/>
          </a:p>
        </p:txBody>
      </p:sp>
      <p:sp>
        <p:nvSpPr>
          <p:cNvPr id="48" name="Text 18"/>
          <p:cNvSpPr/>
          <p:nvPr/>
        </p:nvSpPr>
        <p:spPr>
          <a:xfrm>
            <a:off x="11046322" y="7313852"/>
            <a:ext cx="28677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86805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060" y="79226"/>
            <a:ext cx="1856135" cy="139210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118662"/>
            <a:ext cx="3563779" cy="2784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777590"/>
            <a:ext cx="5234300" cy="181901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577" y="1963203"/>
            <a:ext cx="501156" cy="51971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945" y="2074571"/>
            <a:ext cx="278420" cy="29698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0999" y="1777590"/>
            <a:ext cx="5234300" cy="181901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6613" y="1963203"/>
            <a:ext cx="501156" cy="51971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7981" y="2074571"/>
            <a:ext cx="278420" cy="29698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3963" y="3594431"/>
            <a:ext cx="5234300" cy="181901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9577" y="4004951"/>
            <a:ext cx="445472" cy="519718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0945" y="4116319"/>
            <a:ext cx="222736" cy="29698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50999" y="3603081"/>
            <a:ext cx="5234300" cy="181901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36613" y="4004951"/>
            <a:ext cx="473314" cy="519718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47981" y="4116319"/>
            <a:ext cx="250578" cy="296982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3963" y="5636179"/>
            <a:ext cx="3464736" cy="1076558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5332" y="5790801"/>
            <a:ext cx="213455" cy="259859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07190" y="5636179"/>
            <a:ext cx="3464736" cy="1076558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18558" y="5782148"/>
            <a:ext cx="167052" cy="259859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20418" y="5644840"/>
            <a:ext cx="3464881" cy="1076558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31786" y="5712951"/>
            <a:ext cx="232017" cy="259859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593963" y="673190"/>
            <a:ext cx="1069133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Common Use Cases</a:t>
            </a:r>
            <a:endParaRPr lang="en-US" sz="2631" dirty="0"/>
          </a:p>
        </p:txBody>
      </p:sp>
      <p:sp>
        <p:nvSpPr>
          <p:cNvPr id="25" name="Text 1"/>
          <p:cNvSpPr/>
          <p:nvPr/>
        </p:nvSpPr>
        <p:spPr>
          <a:xfrm>
            <a:off x="593963" y="1294995"/>
            <a:ext cx="1282960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organizations leverage SQS for reliable, scalable distributed systems</a:t>
            </a:r>
            <a:endParaRPr lang="en-US" sz="1461" dirty="0"/>
          </a:p>
        </p:txBody>
      </p:sp>
      <p:sp>
        <p:nvSpPr>
          <p:cNvPr id="26" name="Text 2"/>
          <p:cNvSpPr/>
          <p:nvPr/>
        </p:nvSpPr>
        <p:spPr>
          <a:xfrm>
            <a:off x="1429224" y="1963203"/>
            <a:ext cx="505611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Decoupling Microservices</a:t>
            </a:r>
            <a:endParaRPr lang="en-US" sz="1461" dirty="0"/>
          </a:p>
        </p:txBody>
      </p:sp>
      <p:sp>
        <p:nvSpPr>
          <p:cNvPr id="27" name="Text 3"/>
          <p:cNvSpPr/>
          <p:nvPr/>
        </p:nvSpPr>
        <p:spPr>
          <a:xfrm>
            <a:off x="1429223" y="2297307"/>
            <a:ext cx="4213426" cy="11136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 asynchronous communication between microservices, allowing them to operate independently. This improves system resilience by preventing direct dependencies and ensuring failures in one service don't cascade to others.</a:t>
            </a:r>
            <a:endParaRPr lang="en-US" sz="1169" dirty="0"/>
          </a:p>
        </p:txBody>
      </p:sp>
      <p:sp>
        <p:nvSpPr>
          <p:cNvPr id="28" name="Text 4"/>
          <p:cNvSpPr/>
          <p:nvPr/>
        </p:nvSpPr>
        <p:spPr>
          <a:xfrm>
            <a:off x="6886260" y="1963203"/>
            <a:ext cx="505611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Handling Traffic Spikes</a:t>
            </a:r>
            <a:endParaRPr lang="en-US" sz="1461" dirty="0"/>
          </a:p>
        </p:txBody>
      </p:sp>
      <p:sp>
        <p:nvSpPr>
          <p:cNvPr id="29" name="Text 5"/>
          <p:cNvSpPr/>
          <p:nvPr/>
        </p:nvSpPr>
        <p:spPr>
          <a:xfrm>
            <a:off x="6886260" y="2297307"/>
            <a:ext cx="4213426" cy="8909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 as a buffer to absorb and manage sudden increases in message volume, preventing downstream systems from becoming overloaded. Messages are queued and processed at a rate that consumers can handle.</a:t>
            </a:r>
            <a:endParaRPr lang="en-US" sz="1169" dirty="0"/>
          </a:p>
        </p:txBody>
      </p:sp>
      <p:sp>
        <p:nvSpPr>
          <p:cNvPr id="30" name="Text 6"/>
          <p:cNvSpPr/>
          <p:nvPr/>
        </p:nvSpPr>
        <p:spPr>
          <a:xfrm>
            <a:off x="1373539" y="4004951"/>
            <a:ext cx="512293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Asynchronous Batch Processing</a:t>
            </a:r>
            <a:endParaRPr lang="en-US" sz="1461" dirty="0"/>
          </a:p>
        </p:txBody>
      </p:sp>
      <p:sp>
        <p:nvSpPr>
          <p:cNvPr id="31" name="Text 7"/>
          <p:cNvSpPr/>
          <p:nvPr/>
        </p:nvSpPr>
        <p:spPr>
          <a:xfrm>
            <a:off x="1373539" y="4339056"/>
            <a:ext cx="4269110" cy="11136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Highly effective for processing large volumes of data asynchronously, such as image processing, report generation, or ETL jobs. Messages representing individual tasks can be added to a queue and processed by available workers.</a:t>
            </a:r>
            <a:endParaRPr lang="en-US" sz="1169" dirty="0"/>
          </a:p>
        </p:txBody>
      </p:sp>
      <p:sp>
        <p:nvSpPr>
          <p:cNvPr id="32" name="Text 8"/>
          <p:cNvSpPr/>
          <p:nvPr/>
        </p:nvSpPr>
        <p:spPr>
          <a:xfrm>
            <a:off x="6858417" y="4004951"/>
            <a:ext cx="508952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Workflow Orchestration</a:t>
            </a:r>
            <a:endParaRPr lang="en-US" sz="1461" dirty="0"/>
          </a:p>
        </p:txBody>
      </p:sp>
      <p:sp>
        <p:nvSpPr>
          <p:cNvPr id="33" name="Text 9"/>
          <p:cNvSpPr/>
          <p:nvPr/>
        </p:nvSpPr>
        <p:spPr>
          <a:xfrm>
            <a:off x="6858418" y="4339056"/>
            <a:ext cx="4241268" cy="8909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Supports chaining of queues to orchestrate complex multi-step workflows. Messages can be processed sequentially across different services, with each service adding its output to another queue for the next step.</a:t>
            </a:r>
            <a:endParaRPr lang="en-US" sz="1169" dirty="0"/>
          </a:p>
        </p:txBody>
      </p:sp>
      <p:sp>
        <p:nvSpPr>
          <p:cNvPr id="34" name="Text 10"/>
          <p:cNvSpPr/>
          <p:nvPr/>
        </p:nvSpPr>
        <p:spPr>
          <a:xfrm>
            <a:off x="1030155" y="5756201"/>
            <a:ext cx="194928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Order Processing</a:t>
            </a:r>
            <a:endParaRPr lang="en-US" sz="1315" dirty="0"/>
          </a:p>
        </p:txBody>
      </p:sp>
      <p:sp>
        <p:nvSpPr>
          <p:cNvPr id="35" name="Text 11"/>
          <p:cNvSpPr/>
          <p:nvPr/>
        </p:nvSpPr>
        <p:spPr>
          <a:xfrm>
            <a:off x="705331" y="6035884"/>
            <a:ext cx="324200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Manages order messages in e-commerce platforms, ensuring multiple workers can process orders concurrently without conflicts.</a:t>
            </a:r>
            <a:endParaRPr lang="en-US" sz="1023" dirty="0"/>
          </a:p>
        </p:txBody>
      </p:sp>
      <p:sp>
        <p:nvSpPr>
          <p:cNvPr id="36" name="Text 12"/>
          <p:cNvSpPr/>
          <p:nvPr/>
        </p:nvSpPr>
        <p:spPr>
          <a:xfrm>
            <a:off x="4596978" y="5747553"/>
            <a:ext cx="143717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Notifications</a:t>
            </a:r>
            <a:endParaRPr lang="en-US" sz="1315" dirty="0"/>
          </a:p>
        </p:txBody>
      </p:sp>
      <p:sp>
        <p:nvSpPr>
          <p:cNvPr id="37" name="Text 13"/>
          <p:cNvSpPr/>
          <p:nvPr/>
        </p:nvSpPr>
        <p:spPr>
          <a:xfrm>
            <a:off x="4318558" y="6044529"/>
            <a:ext cx="3242000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Used for sending notifications or triggering workflows in event-driven architectures when an event occurs.</a:t>
            </a:r>
            <a:endParaRPr lang="en-US" sz="1023" dirty="0"/>
          </a:p>
        </p:txBody>
      </p:sp>
      <p:sp>
        <p:nvSpPr>
          <p:cNvPr id="38" name="Text 14"/>
          <p:cNvSpPr/>
          <p:nvPr/>
        </p:nvSpPr>
        <p:spPr>
          <a:xfrm>
            <a:off x="8275171" y="5695652"/>
            <a:ext cx="252962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232F3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Serverless Integration</a:t>
            </a:r>
            <a:endParaRPr lang="en-US" sz="1315" dirty="0"/>
          </a:p>
        </p:txBody>
      </p:sp>
      <p:sp>
        <p:nvSpPr>
          <p:cNvPr id="39" name="Text 15"/>
          <p:cNvSpPr/>
          <p:nvPr/>
        </p:nvSpPr>
        <p:spPr>
          <a:xfrm>
            <a:off x="7950347" y="5969658"/>
            <a:ext cx="3242145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Integrates seamlessly with AWS Lambda to build scalable, event-driven applications without managing servers.</a:t>
            </a:r>
            <a:endParaRPr lang="en-US" sz="1023" dirty="0"/>
          </a:p>
        </p:txBody>
      </p:sp>
      <p:sp>
        <p:nvSpPr>
          <p:cNvPr id="40" name="Text 16"/>
          <p:cNvSpPr/>
          <p:nvPr/>
        </p:nvSpPr>
        <p:spPr>
          <a:xfrm>
            <a:off x="11046322" y="7221046"/>
            <a:ext cx="28677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063" y="264840"/>
            <a:ext cx="568586" cy="29698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63" y="1155784"/>
            <a:ext cx="742454" cy="37123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11125063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33" name="Text 1"/>
          <p:cNvSpPr/>
          <p:nvPr/>
        </p:nvSpPr>
        <p:spPr>
          <a:xfrm>
            <a:off x="593963" y="673190"/>
            <a:ext cx="1282960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1</a:t>
            </a:r>
            <a:endParaRPr lang="en-US" sz="2631" dirty="0"/>
          </a:p>
        </p:txBody>
      </p:sp>
      <p:sp>
        <p:nvSpPr>
          <p:cNvPr id="34" name="Text 2"/>
          <p:cNvSpPr/>
          <p:nvPr/>
        </p:nvSpPr>
        <p:spPr>
          <a:xfrm>
            <a:off x="593963" y="1489889"/>
            <a:ext cx="10691336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the key difference in message ordering guarantees between Amazon SQS Standard Queues and FIFO Queues?</a:t>
            </a:r>
            <a:endParaRPr lang="en-US" sz="1754" dirty="0"/>
          </a:p>
        </p:txBody>
      </p:sp>
      <p:sp>
        <p:nvSpPr>
          <p:cNvPr id="35" name="Text 3"/>
          <p:cNvSpPr/>
          <p:nvPr/>
        </p:nvSpPr>
        <p:spPr>
          <a:xfrm>
            <a:off x="742454" y="2455079"/>
            <a:ext cx="17244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</a:t>
            </a:r>
            <a:endParaRPr lang="en-US" sz="1461" dirty="0"/>
          </a:p>
        </p:txBody>
      </p:sp>
      <p:sp>
        <p:nvSpPr>
          <p:cNvPr id="36" name="Text 4"/>
          <p:cNvSpPr/>
          <p:nvPr/>
        </p:nvSpPr>
        <p:spPr>
          <a:xfrm>
            <a:off x="997528" y="2455079"/>
            <a:ext cx="4682245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 Queues guarantee strict ordering, while FIFO Queues offer best-effort ordering.</a:t>
            </a:r>
            <a:endParaRPr lang="en-US" sz="1315" dirty="0"/>
          </a:p>
        </p:txBody>
      </p:sp>
      <p:sp>
        <p:nvSpPr>
          <p:cNvPr id="37" name="Text 5"/>
          <p:cNvSpPr/>
          <p:nvPr/>
        </p:nvSpPr>
        <p:spPr>
          <a:xfrm>
            <a:off x="6199490" y="2455079"/>
            <a:ext cx="16983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461" dirty="0"/>
          </a:p>
        </p:txBody>
      </p:sp>
      <p:sp>
        <p:nvSpPr>
          <p:cNvPr id="38" name="Text 6"/>
          <p:cNvSpPr/>
          <p:nvPr/>
        </p:nvSpPr>
        <p:spPr>
          <a:xfrm>
            <a:off x="6452388" y="2455079"/>
            <a:ext cx="4684420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 Queues offer best-effort ordering, while FIFO Queues guarantee strict ordering.</a:t>
            </a:r>
            <a:endParaRPr lang="en-US" sz="1315" dirty="0"/>
          </a:p>
        </p:txBody>
      </p:sp>
      <p:sp>
        <p:nvSpPr>
          <p:cNvPr id="39" name="Text 7"/>
          <p:cNvSpPr/>
          <p:nvPr/>
        </p:nvSpPr>
        <p:spPr>
          <a:xfrm>
            <a:off x="742454" y="3494514"/>
            <a:ext cx="16357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461" dirty="0"/>
          </a:p>
        </p:txBody>
      </p:sp>
      <p:sp>
        <p:nvSpPr>
          <p:cNvPr id="40" name="Text 8"/>
          <p:cNvSpPr/>
          <p:nvPr/>
        </p:nvSpPr>
        <p:spPr>
          <a:xfrm>
            <a:off x="990131" y="3494514"/>
            <a:ext cx="4689641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Both Standard and FIFO Queues guarantee strict ordering.</a:t>
            </a:r>
            <a:endParaRPr lang="en-US" sz="1315" dirty="0"/>
          </a:p>
        </p:txBody>
      </p:sp>
      <p:sp>
        <p:nvSpPr>
          <p:cNvPr id="41" name="Text 9"/>
          <p:cNvSpPr/>
          <p:nvPr/>
        </p:nvSpPr>
        <p:spPr>
          <a:xfrm>
            <a:off x="6199490" y="3494514"/>
            <a:ext cx="18497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</a:t>
            </a:r>
            <a:endParaRPr lang="en-US" sz="1461" dirty="0"/>
          </a:p>
        </p:txBody>
      </p:sp>
      <p:sp>
        <p:nvSpPr>
          <p:cNvPr id="42" name="Text 10"/>
          <p:cNvSpPr/>
          <p:nvPr/>
        </p:nvSpPr>
        <p:spPr>
          <a:xfrm>
            <a:off x="6465004" y="3494514"/>
            <a:ext cx="4671804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Neither Standard nor FIFO Queues guarantee any specific ordering.</a:t>
            </a:r>
            <a:endParaRPr lang="en-US" sz="131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063" y="264840"/>
            <a:ext cx="568586" cy="29698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155784"/>
            <a:ext cx="742454" cy="3712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415643"/>
            <a:ext cx="10691336" cy="89094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54" y="1712625"/>
            <a:ext cx="222736" cy="29698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63" y="4288012"/>
            <a:ext cx="5345668" cy="159627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454" y="4473626"/>
            <a:ext cx="213455" cy="185613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454" y="4974782"/>
            <a:ext cx="593963" cy="59396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067" y="5123273"/>
            <a:ext cx="222736" cy="29698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84908" y="4835572"/>
            <a:ext cx="167052" cy="16705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84908" y="5169677"/>
            <a:ext cx="167052" cy="16705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84908" y="5503781"/>
            <a:ext cx="167052" cy="16705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631" y="4288012"/>
            <a:ext cx="5345668" cy="1596276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88122" y="4473626"/>
            <a:ext cx="185613" cy="185613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88122" y="4974782"/>
            <a:ext cx="593963" cy="593963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15499" y="5123273"/>
            <a:ext cx="139210" cy="296982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30576" y="4835572"/>
            <a:ext cx="167052" cy="167052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30576" y="5169677"/>
            <a:ext cx="167052" cy="167052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30576" y="5503781"/>
            <a:ext cx="167052" cy="167052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11125063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24" name="Text 2"/>
          <p:cNvSpPr/>
          <p:nvPr/>
        </p:nvSpPr>
        <p:spPr>
          <a:xfrm>
            <a:off x="1076558" y="1564134"/>
            <a:ext cx="10060250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B. Standard Queues offer best-effort ordering, while FIFO Queues guarantee strict ordering.</a:t>
            </a:r>
            <a:endParaRPr lang="en-US" sz="1754" dirty="0"/>
          </a:p>
        </p:txBody>
      </p:sp>
      <p:sp>
        <p:nvSpPr>
          <p:cNvPr id="25" name="Text 3"/>
          <p:cNvSpPr/>
          <p:nvPr/>
        </p:nvSpPr>
        <p:spPr>
          <a:xfrm>
            <a:off x="593963" y="2529324"/>
            <a:ext cx="1069133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Explanation:</a:t>
            </a:r>
            <a:endParaRPr lang="en-US" sz="1754" dirty="0"/>
          </a:p>
        </p:txBody>
      </p:sp>
      <p:sp>
        <p:nvSpPr>
          <p:cNvPr id="26" name="Text 4"/>
          <p:cNvSpPr/>
          <p:nvPr/>
        </p:nvSpPr>
        <p:spPr>
          <a:xfrm>
            <a:off x="593963" y="2937674"/>
            <a:ext cx="10691336" cy="9048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6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 queues provide best-effort ordering, meaning messages are generally delivered in the order they are sent, but occasionally, another copy of a message might be delivered out of order. FIFO (First-In-First-Out) queues, on the other hand, strictly preserve the order in which messages are sent and received.</a:t>
            </a:r>
            <a:endParaRPr lang="en-US" sz="1461" dirty="0"/>
          </a:p>
        </p:txBody>
      </p:sp>
      <p:sp>
        <p:nvSpPr>
          <p:cNvPr id="27" name="Text 5"/>
          <p:cNvSpPr/>
          <p:nvPr/>
        </p:nvSpPr>
        <p:spPr>
          <a:xfrm>
            <a:off x="1030154" y="4436503"/>
            <a:ext cx="504868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 Queue</a:t>
            </a:r>
            <a:endParaRPr lang="en-US" sz="1461" dirty="0"/>
          </a:p>
        </p:txBody>
      </p:sp>
      <p:sp>
        <p:nvSpPr>
          <p:cNvPr id="28" name="Text 6"/>
          <p:cNvSpPr/>
          <p:nvPr/>
        </p:nvSpPr>
        <p:spPr>
          <a:xfrm>
            <a:off x="1689082" y="4807730"/>
            <a:ext cx="430623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Best-effort ordering</a:t>
            </a:r>
            <a:endParaRPr lang="en-US" sz="1315" dirty="0"/>
          </a:p>
        </p:txBody>
      </p:sp>
      <p:sp>
        <p:nvSpPr>
          <p:cNvPr id="29" name="Text 7"/>
          <p:cNvSpPr/>
          <p:nvPr/>
        </p:nvSpPr>
        <p:spPr>
          <a:xfrm>
            <a:off x="1689082" y="5141834"/>
            <a:ext cx="516747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Messages generally delivered in order</a:t>
            </a:r>
            <a:endParaRPr lang="en-US" sz="1315" dirty="0"/>
          </a:p>
        </p:txBody>
      </p:sp>
      <p:sp>
        <p:nvSpPr>
          <p:cNvPr id="30" name="Text 8"/>
          <p:cNvSpPr/>
          <p:nvPr/>
        </p:nvSpPr>
        <p:spPr>
          <a:xfrm>
            <a:off x="1689082" y="5475939"/>
            <a:ext cx="516747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Occasional out-of-order delivery possible</a:t>
            </a:r>
            <a:endParaRPr lang="en-US" sz="1315" dirty="0"/>
          </a:p>
        </p:txBody>
      </p:sp>
      <p:sp>
        <p:nvSpPr>
          <p:cNvPr id="31" name="Text 9"/>
          <p:cNvSpPr/>
          <p:nvPr/>
        </p:nvSpPr>
        <p:spPr>
          <a:xfrm>
            <a:off x="6347980" y="4436503"/>
            <a:ext cx="504868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FIFO Queue</a:t>
            </a:r>
            <a:endParaRPr lang="en-US" sz="1461" dirty="0"/>
          </a:p>
        </p:txBody>
      </p:sp>
      <p:sp>
        <p:nvSpPr>
          <p:cNvPr id="32" name="Text 10"/>
          <p:cNvSpPr/>
          <p:nvPr/>
        </p:nvSpPr>
        <p:spPr>
          <a:xfrm>
            <a:off x="7034751" y="4807730"/>
            <a:ext cx="516747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Strict ordering guarantee</a:t>
            </a:r>
            <a:endParaRPr lang="en-US" sz="1315" dirty="0"/>
          </a:p>
        </p:txBody>
      </p:sp>
      <p:sp>
        <p:nvSpPr>
          <p:cNvPr id="33" name="Text 11"/>
          <p:cNvSpPr/>
          <p:nvPr/>
        </p:nvSpPr>
        <p:spPr>
          <a:xfrm>
            <a:off x="7034751" y="5141834"/>
            <a:ext cx="516747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Messages delivered in exact order</a:t>
            </a:r>
            <a:endParaRPr lang="en-US" sz="1315" dirty="0"/>
          </a:p>
        </p:txBody>
      </p:sp>
      <p:sp>
        <p:nvSpPr>
          <p:cNvPr id="34" name="Text 12"/>
          <p:cNvSpPr/>
          <p:nvPr/>
        </p:nvSpPr>
        <p:spPr>
          <a:xfrm>
            <a:off x="7034751" y="5475939"/>
            <a:ext cx="516747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Preserves order strictly</a:t>
            </a:r>
            <a:endParaRPr lang="en-US" sz="131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063" y="264840"/>
            <a:ext cx="568586" cy="29698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63" y="1155784"/>
            <a:ext cx="742454" cy="37123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11125063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19" name="Text 1"/>
          <p:cNvSpPr/>
          <p:nvPr/>
        </p:nvSpPr>
        <p:spPr>
          <a:xfrm>
            <a:off x="593963" y="673190"/>
            <a:ext cx="10879169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2</a:t>
            </a:r>
            <a:endParaRPr lang="en-US" sz="2631" dirty="0"/>
          </a:p>
        </p:txBody>
      </p:sp>
      <p:sp>
        <p:nvSpPr>
          <p:cNvPr id="20" name="Text 2"/>
          <p:cNvSpPr/>
          <p:nvPr/>
        </p:nvSpPr>
        <p:spPr>
          <a:xfrm>
            <a:off x="593963" y="1489889"/>
            <a:ext cx="12829604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message delivery guarantee does an Amazon SQS Standard Queue provide?</a:t>
            </a:r>
            <a:endParaRPr lang="en-US" sz="1754" dirty="0"/>
          </a:p>
        </p:txBody>
      </p:sp>
      <p:sp>
        <p:nvSpPr>
          <p:cNvPr id="21" name="Text 3"/>
          <p:cNvSpPr/>
          <p:nvPr/>
        </p:nvSpPr>
        <p:spPr>
          <a:xfrm>
            <a:off x="742454" y="2306588"/>
            <a:ext cx="17244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</a:t>
            </a:r>
            <a:endParaRPr lang="en-US" sz="1461" dirty="0"/>
          </a:p>
        </p:txBody>
      </p:sp>
      <p:sp>
        <p:nvSpPr>
          <p:cNvPr id="22" name="Text 4"/>
          <p:cNvSpPr/>
          <p:nvPr/>
        </p:nvSpPr>
        <p:spPr>
          <a:xfrm>
            <a:off x="997527" y="2306588"/>
            <a:ext cx="215584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Exactly-once delivery</a:t>
            </a:r>
            <a:endParaRPr lang="en-US" sz="1315" dirty="0"/>
          </a:p>
        </p:txBody>
      </p:sp>
      <p:sp>
        <p:nvSpPr>
          <p:cNvPr id="23" name="Text 5"/>
          <p:cNvSpPr/>
          <p:nvPr/>
        </p:nvSpPr>
        <p:spPr>
          <a:xfrm>
            <a:off x="6199490" y="2306588"/>
            <a:ext cx="16983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461" dirty="0"/>
          </a:p>
        </p:txBody>
      </p:sp>
      <p:sp>
        <p:nvSpPr>
          <p:cNvPr id="24" name="Text 6"/>
          <p:cNvSpPr/>
          <p:nvPr/>
        </p:nvSpPr>
        <p:spPr>
          <a:xfrm>
            <a:off x="6452388" y="2306588"/>
            <a:ext cx="221361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At-most-once delivery</a:t>
            </a:r>
            <a:endParaRPr lang="en-US" sz="1315" dirty="0"/>
          </a:p>
        </p:txBody>
      </p:sp>
      <p:sp>
        <p:nvSpPr>
          <p:cNvPr id="25" name="Text 7"/>
          <p:cNvSpPr/>
          <p:nvPr/>
        </p:nvSpPr>
        <p:spPr>
          <a:xfrm>
            <a:off x="742454" y="3086165"/>
            <a:ext cx="16357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461" dirty="0"/>
          </a:p>
        </p:txBody>
      </p:sp>
      <p:sp>
        <p:nvSpPr>
          <p:cNvPr id="26" name="Text 8"/>
          <p:cNvSpPr/>
          <p:nvPr/>
        </p:nvSpPr>
        <p:spPr>
          <a:xfrm>
            <a:off x="990131" y="3086165"/>
            <a:ext cx="219760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At-least-once delivery</a:t>
            </a:r>
            <a:endParaRPr lang="en-US" sz="1315" dirty="0"/>
          </a:p>
        </p:txBody>
      </p:sp>
      <p:sp>
        <p:nvSpPr>
          <p:cNvPr id="27" name="Text 9"/>
          <p:cNvSpPr/>
          <p:nvPr/>
        </p:nvSpPr>
        <p:spPr>
          <a:xfrm>
            <a:off x="6199490" y="3086165"/>
            <a:ext cx="18497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</a:t>
            </a:r>
            <a:endParaRPr lang="en-US" sz="1461" dirty="0"/>
          </a:p>
        </p:txBody>
      </p:sp>
      <p:sp>
        <p:nvSpPr>
          <p:cNvPr id="28" name="Text 10"/>
          <p:cNvSpPr/>
          <p:nvPr/>
        </p:nvSpPr>
        <p:spPr>
          <a:xfrm>
            <a:off x="6465004" y="3086165"/>
            <a:ext cx="223989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delivery guarantee</a:t>
            </a:r>
            <a:endParaRPr lang="en-US" sz="131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063" y="264840"/>
            <a:ext cx="568586" cy="29698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155784"/>
            <a:ext cx="742454" cy="3712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54" y="1638379"/>
            <a:ext cx="222736" cy="29698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7900" y="3828619"/>
            <a:ext cx="593963" cy="59396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3513" y="3977109"/>
            <a:ext cx="222736" cy="29698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2401" y="4236968"/>
            <a:ext cx="1953872" cy="7424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3466" y="4190565"/>
            <a:ext cx="92807" cy="14849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8811" y="3754373"/>
            <a:ext cx="742454" cy="74245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50828" y="3958548"/>
            <a:ext cx="278420" cy="33410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3802" y="4236968"/>
            <a:ext cx="1953872" cy="7424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4868" y="4190565"/>
            <a:ext cx="92807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27806" y="3828619"/>
            <a:ext cx="593963" cy="593963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13419" y="3977109"/>
            <a:ext cx="222736" cy="29698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63073" y="5090790"/>
            <a:ext cx="371227" cy="371227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74441" y="5202158"/>
            <a:ext cx="148491" cy="14849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34300" y="5257842"/>
            <a:ext cx="222736" cy="37123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57036" y="5090790"/>
            <a:ext cx="371227" cy="371227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68404" y="5202158"/>
            <a:ext cx="148491" cy="14849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28263" y="5257842"/>
            <a:ext cx="222736" cy="37123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50999" y="5090790"/>
            <a:ext cx="371227" cy="371227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22226" y="5257842"/>
            <a:ext cx="222736" cy="37123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44962" y="5090790"/>
            <a:ext cx="371227" cy="371227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56330" y="5202158"/>
            <a:ext cx="148491" cy="148491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11125063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28" name="Text 1"/>
          <p:cNvSpPr/>
          <p:nvPr/>
        </p:nvSpPr>
        <p:spPr>
          <a:xfrm>
            <a:off x="593963" y="673190"/>
            <a:ext cx="1282960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Answer 2</a:t>
            </a:r>
            <a:endParaRPr lang="en-US" sz="2631" dirty="0"/>
          </a:p>
        </p:txBody>
      </p:sp>
      <p:sp>
        <p:nvSpPr>
          <p:cNvPr id="29" name="Text 2"/>
          <p:cNvSpPr/>
          <p:nvPr/>
        </p:nvSpPr>
        <p:spPr>
          <a:xfrm>
            <a:off x="1076559" y="1656941"/>
            <a:ext cx="951240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correct answer is C. Standard queues guarantee at-least-once delivery.</a:t>
            </a:r>
            <a:endParaRPr lang="en-US" sz="1461" dirty="0"/>
          </a:p>
        </p:txBody>
      </p:sp>
      <p:sp>
        <p:nvSpPr>
          <p:cNvPr id="30" name="Text 3"/>
          <p:cNvSpPr/>
          <p:nvPr/>
        </p:nvSpPr>
        <p:spPr>
          <a:xfrm>
            <a:off x="593963" y="2380833"/>
            <a:ext cx="10691336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 queues guarantee that a message is delivered at least once. This means that occasionally, more than one copy of a message might be delivered.</a:t>
            </a:r>
            <a:endParaRPr lang="en-US" sz="1461" dirty="0"/>
          </a:p>
        </p:txBody>
      </p:sp>
      <p:sp>
        <p:nvSpPr>
          <p:cNvPr id="31" name="Text 4"/>
          <p:cNvSpPr/>
          <p:nvPr/>
        </p:nvSpPr>
        <p:spPr>
          <a:xfrm>
            <a:off x="593963" y="3049042"/>
            <a:ext cx="1282960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Applications using Standard queues should be designed to be idempotent to handle potential duplicate messages.</a:t>
            </a:r>
            <a:endParaRPr lang="en-US" sz="1461" dirty="0"/>
          </a:p>
        </p:txBody>
      </p:sp>
      <p:sp>
        <p:nvSpPr>
          <p:cNvPr id="32" name="Text 5"/>
          <p:cNvSpPr/>
          <p:nvPr/>
        </p:nvSpPr>
        <p:spPr>
          <a:xfrm>
            <a:off x="2375852" y="4496827"/>
            <a:ext cx="78966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Producer</a:t>
            </a:r>
            <a:endParaRPr lang="en-US" sz="1169" dirty="0"/>
          </a:p>
        </p:txBody>
      </p:sp>
      <p:sp>
        <p:nvSpPr>
          <p:cNvPr id="33" name="Text 6"/>
          <p:cNvSpPr/>
          <p:nvPr/>
        </p:nvSpPr>
        <p:spPr>
          <a:xfrm>
            <a:off x="5284764" y="4571073"/>
            <a:ext cx="145265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 Queue</a:t>
            </a:r>
            <a:endParaRPr lang="en-US" sz="1169" dirty="0"/>
          </a:p>
        </p:txBody>
      </p:sp>
      <p:sp>
        <p:nvSpPr>
          <p:cNvPr id="34" name="Text 7"/>
          <p:cNvSpPr/>
          <p:nvPr/>
        </p:nvSpPr>
        <p:spPr>
          <a:xfrm>
            <a:off x="8746166" y="4496827"/>
            <a:ext cx="90869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Consumer</a:t>
            </a:r>
            <a:endParaRPr lang="en-US" sz="1169" dirty="0"/>
          </a:p>
        </p:txBody>
      </p:sp>
      <p:sp>
        <p:nvSpPr>
          <p:cNvPr id="35" name="Text 8"/>
          <p:cNvSpPr/>
          <p:nvPr/>
        </p:nvSpPr>
        <p:spPr>
          <a:xfrm>
            <a:off x="2375852" y="5610508"/>
            <a:ext cx="7127558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315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At-least-once delivery means messages are delivered once (or more) to the consumer</a:t>
            </a:r>
            <a:endParaRPr lang="en-US" sz="131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063" y="264840"/>
            <a:ext cx="568586" cy="29698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63" y="1155784"/>
            <a:ext cx="742454" cy="37123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11125063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22" name="Text 1"/>
          <p:cNvSpPr/>
          <p:nvPr/>
        </p:nvSpPr>
        <p:spPr>
          <a:xfrm>
            <a:off x="593963" y="673190"/>
            <a:ext cx="10784279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3</a:t>
            </a:r>
            <a:endParaRPr lang="en-US" sz="2631" dirty="0"/>
          </a:p>
        </p:txBody>
      </p:sp>
      <p:sp>
        <p:nvSpPr>
          <p:cNvPr id="23" name="Text 2"/>
          <p:cNvSpPr/>
          <p:nvPr/>
        </p:nvSpPr>
        <p:spPr>
          <a:xfrm>
            <a:off x="593963" y="1489889"/>
            <a:ext cx="12829604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Which processing guarantee is a core feature of Amazon SQS FIFO queues?</a:t>
            </a:r>
            <a:endParaRPr lang="en-US" sz="1754" dirty="0"/>
          </a:p>
        </p:txBody>
      </p:sp>
      <p:sp>
        <p:nvSpPr>
          <p:cNvPr id="24" name="Text 3"/>
          <p:cNvSpPr/>
          <p:nvPr/>
        </p:nvSpPr>
        <p:spPr>
          <a:xfrm>
            <a:off x="742454" y="2306588"/>
            <a:ext cx="17244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</a:t>
            </a:r>
            <a:endParaRPr lang="en-US" sz="1461" dirty="0"/>
          </a:p>
        </p:txBody>
      </p:sp>
      <p:sp>
        <p:nvSpPr>
          <p:cNvPr id="25" name="Text 4"/>
          <p:cNvSpPr/>
          <p:nvPr/>
        </p:nvSpPr>
        <p:spPr>
          <a:xfrm>
            <a:off x="997528" y="2306588"/>
            <a:ext cx="248890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At-most-once processing</a:t>
            </a:r>
            <a:endParaRPr lang="en-US" sz="1315" dirty="0"/>
          </a:p>
        </p:txBody>
      </p:sp>
      <p:sp>
        <p:nvSpPr>
          <p:cNvPr id="26" name="Text 5"/>
          <p:cNvSpPr/>
          <p:nvPr/>
        </p:nvSpPr>
        <p:spPr>
          <a:xfrm>
            <a:off x="6199490" y="2306588"/>
            <a:ext cx="16983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461" dirty="0"/>
          </a:p>
        </p:txBody>
      </p:sp>
      <p:sp>
        <p:nvSpPr>
          <p:cNvPr id="27" name="Text 6"/>
          <p:cNvSpPr/>
          <p:nvPr/>
        </p:nvSpPr>
        <p:spPr>
          <a:xfrm>
            <a:off x="6452389" y="2306588"/>
            <a:ext cx="243113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Exactly-once processing</a:t>
            </a:r>
            <a:endParaRPr lang="en-US" sz="1315" dirty="0"/>
          </a:p>
        </p:txBody>
      </p:sp>
      <p:sp>
        <p:nvSpPr>
          <p:cNvPr id="28" name="Text 7"/>
          <p:cNvSpPr/>
          <p:nvPr/>
        </p:nvSpPr>
        <p:spPr>
          <a:xfrm>
            <a:off x="742454" y="3086165"/>
            <a:ext cx="16357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461" dirty="0"/>
          </a:p>
        </p:txBody>
      </p:sp>
      <p:sp>
        <p:nvSpPr>
          <p:cNvPr id="29" name="Text 8"/>
          <p:cNvSpPr/>
          <p:nvPr/>
        </p:nvSpPr>
        <p:spPr>
          <a:xfrm>
            <a:off x="990132" y="3086165"/>
            <a:ext cx="220543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Best-effort processing</a:t>
            </a:r>
            <a:endParaRPr lang="en-US" sz="1315" dirty="0"/>
          </a:p>
        </p:txBody>
      </p:sp>
      <p:sp>
        <p:nvSpPr>
          <p:cNvPr id="30" name="Text 9"/>
          <p:cNvSpPr/>
          <p:nvPr/>
        </p:nvSpPr>
        <p:spPr>
          <a:xfrm>
            <a:off x="6199490" y="3086165"/>
            <a:ext cx="18497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</a:t>
            </a:r>
            <a:endParaRPr lang="en-US" sz="1461" dirty="0"/>
          </a:p>
        </p:txBody>
      </p:sp>
      <p:sp>
        <p:nvSpPr>
          <p:cNvPr id="31" name="Text 10"/>
          <p:cNvSpPr/>
          <p:nvPr/>
        </p:nvSpPr>
        <p:spPr>
          <a:xfrm>
            <a:off x="6465004" y="3086165"/>
            <a:ext cx="209911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Duplicate processing</a:t>
            </a:r>
            <a:endParaRPr lang="en-US" sz="131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063" y="264840"/>
            <a:ext cx="568586" cy="29698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155784"/>
            <a:ext cx="742454" cy="3712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415643"/>
            <a:ext cx="2033047" cy="37122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54" y="1517731"/>
            <a:ext cx="148491" cy="14849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63" y="2417956"/>
            <a:ext cx="10691336" cy="148490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8024" y="4348336"/>
            <a:ext cx="593963" cy="593963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51479" y="4496827"/>
            <a:ext cx="167052" cy="29698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31987" y="4608195"/>
            <a:ext cx="742454" cy="7424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74441" y="4348336"/>
            <a:ext cx="593963" cy="593963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60054" y="4496827"/>
            <a:ext cx="222736" cy="29698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68404" y="4608195"/>
            <a:ext cx="742454" cy="7424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10858" y="4348336"/>
            <a:ext cx="593963" cy="593963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6472" y="4496827"/>
            <a:ext cx="222736" cy="29698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4821" y="4608195"/>
            <a:ext cx="742454" cy="7424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47275" y="4348336"/>
            <a:ext cx="593963" cy="593963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32889" y="4496827"/>
            <a:ext cx="222736" cy="296982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11125063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22" name="Text 2"/>
          <p:cNvSpPr/>
          <p:nvPr/>
        </p:nvSpPr>
        <p:spPr>
          <a:xfrm>
            <a:off x="965190" y="1415643"/>
            <a:ext cx="2439657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Correct Answer: B</a:t>
            </a:r>
            <a:endParaRPr lang="en-US" sz="1169" dirty="0"/>
          </a:p>
        </p:txBody>
      </p:sp>
      <p:sp>
        <p:nvSpPr>
          <p:cNvPr id="23" name="Text 3"/>
          <p:cNvSpPr/>
          <p:nvPr/>
        </p:nvSpPr>
        <p:spPr>
          <a:xfrm>
            <a:off x="593963" y="1898238"/>
            <a:ext cx="1069133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B. Exactly-once processing</a:t>
            </a:r>
            <a:endParaRPr lang="en-US" sz="1754" dirty="0"/>
          </a:p>
        </p:txBody>
      </p:sp>
      <p:sp>
        <p:nvSpPr>
          <p:cNvPr id="24" name="Text 4"/>
          <p:cNvSpPr/>
          <p:nvPr/>
        </p:nvSpPr>
        <p:spPr>
          <a:xfrm>
            <a:off x="779577" y="2603570"/>
            <a:ext cx="1032010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Explanation:</a:t>
            </a:r>
            <a:endParaRPr lang="en-US" sz="1461" dirty="0"/>
          </a:p>
        </p:txBody>
      </p:sp>
      <p:sp>
        <p:nvSpPr>
          <p:cNvPr id="25" name="Text 5"/>
          <p:cNvSpPr/>
          <p:nvPr/>
        </p:nvSpPr>
        <p:spPr>
          <a:xfrm>
            <a:off x="779577" y="2937674"/>
            <a:ext cx="10320109" cy="7795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FIFO queues are designed to ensure exactly-once processing. This means that a message is delivered once and remains available until a consumer processes and deletes it. Duplicates are not introduced into the queue. This is achieved through mechanisms like the </a:t>
            </a: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MessageDeduplicationId</a:t>
            </a: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</a:t>
            </a:r>
            <a:endParaRPr lang="en-US" sz="1315" dirty="0"/>
          </a:p>
        </p:txBody>
      </p:sp>
      <p:sp>
        <p:nvSpPr>
          <p:cNvPr id="26" name="Text 6"/>
          <p:cNvSpPr/>
          <p:nvPr/>
        </p:nvSpPr>
        <p:spPr>
          <a:xfrm>
            <a:off x="631086" y="5165036"/>
            <a:ext cx="1278505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2046"/>
              </a:lnSpc>
              <a:buSzPct val="100000"/>
              <a:buChar char="•"/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Message is delivered exactly once, ensuring no duplicates</a:t>
            </a:r>
            <a:endParaRPr lang="en-US" sz="1315" dirty="0"/>
          </a:p>
        </p:txBody>
      </p:sp>
      <p:sp>
        <p:nvSpPr>
          <p:cNvPr id="27" name="Text 7"/>
          <p:cNvSpPr/>
          <p:nvPr/>
        </p:nvSpPr>
        <p:spPr>
          <a:xfrm>
            <a:off x="631086" y="5499140"/>
            <a:ext cx="1278505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2046"/>
              </a:lnSpc>
              <a:buSzPct val="100000"/>
              <a:buChar char="•"/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Message remains available until successfully processed</a:t>
            </a:r>
            <a:endParaRPr lang="en-US" sz="1315" dirty="0"/>
          </a:p>
        </p:txBody>
      </p:sp>
      <p:sp>
        <p:nvSpPr>
          <p:cNvPr id="28" name="Text 8"/>
          <p:cNvSpPr/>
          <p:nvPr/>
        </p:nvSpPr>
        <p:spPr>
          <a:xfrm>
            <a:off x="631086" y="5833244"/>
            <a:ext cx="1278505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2046"/>
              </a:lnSpc>
              <a:buSzPct val="100000"/>
              <a:buChar char="•"/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MessageDeduplicationId prevents duplicate messages within a 5-minute window</a:t>
            </a:r>
            <a:endParaRPr lang="en-US" sz="131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063" y="264840"/>
            <a:ext cx="568586" cy="29698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63" y="1155784"/>
            <a:ext cx="742454" cy="37123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11125063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12" name="Text 1"/>
          <p:cNvSpPr/>
          <p:nvPr/>
        </p:nvSpPr>
        <p:spPr>
          <a:xfrm>
            <a:off x="593963" y="673190"/>
            <a:ext cx="1069133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4</a:t>
            </a:r>
            <a:endParaRPr lang="en-US" sz="2631" dirty="0"/>
          </a:p>
        </p:txBody>
      </p:sp>
      <p:sp>
        <p:nvSpPr>
          <p:cNvPr id="13" name="Text 2"/>
          <p:cNvSpPr/>
          <p:nvPr/>
        </p:nvSpPr>
        <p:spPr>
          <a:xfrm>
            <a:off x="593963" y="1489889"/>
            <a:ext cx="10691336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the default message retention period for an Amazon SQS queue, and what is the configurable range?</a:t>
            </a:r>
            <a:endParaRPr lang="en-US" sz="1754" dirty="0"/>
          </a:p>
        </p:txBody>
      </p:sp>
      <p:sp>
        <p:nvSpPr>
          <p:cNvPr id="14" name="Text 3"/>
          <p:cNvSpPr/>
          <p:nvPr/>
        </p:nvSpPr>
        <p:spPr>
          <a:xfrm>
            <a:off x="742454" y="2603570"/>
            <a:ext cx="17244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</a:t>
            </a:r>
            <a:endParaRPr lang="en-US" sz="1461" dirty="0"/>
          </a:p>
        </p:txBody>
      </p:sp>
      <p:sp>
        <p:nvSpPr>
          <p:cNvPr id="15" name="Text 4"/>
          <p:cNvSpPr/>
          <p:nvPr/>
        </p:nvSpPr>
        <p:spPr>
          <a:xfrm>
            <a:off x="997528" y="2603570"/>
            <a:ext cx="396522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Default: 1 day; Range: 1 hour to 7 days</a:t>
            </a:r>
            <a:endParaRPr lang="en-US" sz="1315" dirty="0"/>
          </a:p>
        </p:txBody>
      </p:sp>
      <p:sp>
        <p:nvSpPr>
          <p:cNvPr id="16" name="Text 5"/>
          <p:cNvSpPr/>
          <p:nvPr/>
        </p:nvSpPr>
        <p:spPr>
          <a:xfrm>
            <a:off x="6199490" y="2603570"/>
            <a:ext cx="16983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461" dirty="0"/>
          </a:p>
        </p:txBody>
      </p:sp>
      <p:sp>
        <p:nvSpPr>
          <p:cNvPr id="17" name="Text 6"/>
          <p:cNvSpPr/>
          <p:nvPr/>
        </p:nvSpPr>
        <p:spPr>
          <a:xfrm>
            <a:off x="6452388" y="2603570"/>
            <a:ext cx="444497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Default: 4 days; Range: 1 minute to 14 days</a:t>
            </a:r>
            <a:endParaRPr lang="en-US" sz="1315" dirty="0"/>
          </a:p>
        </p:txBody>
      </p:sp>
      <p:sp>
        <p:nvSpPr>
          <p:cNvPr id="18" name="Text 7"/>
          <p:cNvSpPr/>
          <p:nvPr/>
        </p:nvSpPr>
        <p:spPr>
          <a:xfrm>
            <a:off x="742454" y="3383146"/>
            <a:ext cx="16357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461" dirty="0"/>
          </a:p>
        </p:txBody>
      </p:sp>
      <p:sp>
        <p:nvSpPr>
          <p:cNvPr id="19" name="Text 8"/>
          <p:cNvSpPr/>
          <p:nvPr/>
        </p:nvSpPr>
        <p:spPr>
          <a:xfrm>
            <a:off x="990132" y="3383146"/>
            <a:ext cx="410669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Default: 7 days; Range: 1 day to 30 days</a:t>
            </a:r>
            <a:endParaRPr lang="en-US" sz="1315" dirty="0"/>
          </a:p>
        </p:txBody>
      </p:sp>
      <p:sp>
        <p:nvSpPr>
          <p:cNvPr id="20" name="Text 9"/>
          <p:cNvSpPr/>
          <p:nvPr/>
        </p:nvSpPr>
        <p:spPr>
          <a:xfrm>
            <a:off x="6199490" y="3383146"/>
            <a:ext cx="18497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</a:t>
            </a:r>
            <a:endParaRPr lang="en-US" sz="1461" dirty="0"/>
          </a:p>
        </p:txBody>
      </p:sp>
      <p:sp>
        <p:nvSpPr>
          <p:cNvPr id="21" name="Text 10"/>
          <p:cNvSpPr/>
          <p:nvPr/>
        </p:nvSpPr>
        <p:spPr>
          <a:xfrm>
            <a:off x="6465005" y="3383146"/>
            <a:ext cx="510570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Default: 30 minutes; Range: 5 minutes to 24 hours</a:t>
            </a:r>
            <a:endParaRPr lang="en-US" sz="131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063" y="264840"/>
            <a:ext cx="568586" cy="29698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155784"/>
            <a:ext cx="742454" cy="3712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489889"/>
            <a:ext cx="10691336" cy="81669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54" y="1749747"/>
            <a:ext cx="222736" cy="29698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63" y="4014232"/>
            <a:ext cx="10691336" cy="7424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963" y="4014232"/>
            <a:ext cx="10691336" cy="37122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963" y="5239281"/>
            <a:ext cx="10691336" cy="74245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454" y="5424894"/>
            <a:ext cx="185613" cy="259859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11125063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14" name="Text 2"/>
          <p:cNvSpPr/>
          <p:nvPr/>
        </p:nvSpPr>
        <p:spPr>
          <a:xfrm>
            <a:off x="1076558" y="1638380"/>
            <a:ext cx="411568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Correct Answer: B</a:t>
            </a:r>
            <a:endParaRPr lang="en-US" sz="1461" dirty="0"/>
          </a:p>
        </p:txBody>
      </p:sp>
      <p:sp>
        <p:nvSpPr>
          <p:cNvPr id="15" name="Text 3"/>
          <p:cNvSpPr/>
          <p:nvPr/>
        </p:nvSpPr>
        <p:spPr>
          <a:xfrm>
            <a:off x="1076558" y="1898238"/>
            <a:ext cx="493882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Default: 4 days; Range: 1 minute to 14 days</a:t>
            </a:r>
            <a:endParaRPr lang="en-US" sz="1461" dirty="0"/>
          </a:p>
        </p:txBody>
      </p:sp>
      <p:sp>
        <p:nvSpPr>
          <p:cNvPr id="16" name="Text 4"/>
          <p:cNvSpPr/>
          <p:nvPr/>
        </p:nvSpPr>
        <p:spPr>
          <a:xfrm>
            <a:off x="593963" y="2603570"/>
            <a:ext cx="10691336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By default, Amazon SQS retains messages for 4 days. However, you can configure the message retention period for your queue to be any value from 1 minute to 14 days.</a:t>
            </a:r>
            <a:endParaRPr lang="en-US" sz="1461" dirty="0"/>
          </a:p>
        </p:txBody>
      </p:sp>
      <p:sp>
        <p:nvSpPr>
          <p:cNvPr id="17" name="Text 5"/>
          <p:cNvSpPr/>
          <p:nvPr/>
        </p:nvSpPr>
        <p:spPr>
          <a:xfrm>
            <a:off x="593963" y="3643005"/>
            <a:ext cx="1069133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Message Retention Period Range:</a:t>
            </a:r>
            <a:endParaRPr lang="en-US" sz="1315" dirty="0"/>
          </a:p>
        </p:txBody>
      </p:sp>
      <p:sp>
        <p:nvSpPr>
          <p:cNvPr id="18" name="Text 6"/>
          <p:cNvSpPr/>
          <p:nvPr/>
        </p:nvSpPr>
        <p:spPr>
          <a:xfrm>
            <a:off x="593963" y="4533950"/>
            <a:ext cx="698661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 minute</a:t>
            </a:r>
            <a:endParaRPr lang="en-US" sz="1023" dirty="0"/>
          </a:p>
        </p:txBody>
      </p:sp>
      <p:sp>
        <p:nvSpPr>
          <p:cNvPr id="19" name="Text 7"/>
          <p:cNvSpPr/>
          <p:nvPr/>
        </p:nvSpPr>
        <p:spPr>
          <a:xfrm>
            <a:off x="5458776" y="4533950"/>
            <a:ext cx="1236708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 days (default)</a:t>
            </a:r>
            <a:endParaRPr lang="en-US" sz="1023" dirty="0"/>
          </a:p>
        </p:txBody>
      </p:sp>
      <p:sp>
        <p:nvSpPr>
          <p:cNvPr id="20" name="Text 8"/>
          <p:cNvSpPr/>
          <p:nvPr/>
        </p:nvSpPr>
        <p:spPr>
          <a:xfrm>
            <a:off x="10771961" y="4533950"/>
            <a:ext cx="616005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14 days</a:t>
            </a:r>
            <a:endParaRPr lang="en-US" sz="1023" dirty="0"/>
          </a:p>
        </p:txBody>
      </p:sp>
      <p:sp>
        <p:nvSpPr>
          <p:cNvPr id="21" name="Text 9"/>
          <p:cNvSpPr/>
          <p:nvPr/>
        </p:nvSpPr>
        <p:spPr>
          <a:xfrm>
            <a:off x="1039435" y="5387772"/>
            <a:ext cx="10097373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Message retention period determines how long messages remain in the queue before being automatically deleted. This setting affects the time available for consumers to process messages successfully.</a:t>
            </a:r>
            <a:endParaRPr lang="en-US" sz="1169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063" y="264840"/>
            <a:ext cx="568586" cy="29698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63" y="1155784"/>
            <a:ext cx="742454" cy="37123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11125063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15" name="Text 1"/>
          <p:cNvSpPr/>
          <p:nvPr/>
        </p:nvSpPr>
        <p:spPr>
          <a:xfrm>
            <a:off x="593963" y="673190"/>
            <a:ext cx="1069133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5</a:t>
            </a:r>
            <a:endParaRPr lang="en-US" sz="2631" dirty="0"/>
          </a:p>
        </p:txBody>
      </p:sp>
      <p:sp>
        <p:nvSpPr>
          <p:cNvPr id="16" name="Text 2"/>
          <p:cNvSpPr/>
          <p:nvPr/>
        </p:nvSpPr>
        <p:spPr>
          <a:xfrm>
            <a:off x="593963" y="1489889"/>
            <a:ext cx="10691336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the maximum size of a single message payload that can be sent to an Amazon SQS queue (both Standard and FIFO)?</a:t>
            </a:r>
            <a:endParaRPr lang="en-US" sz="1754" dirty="0"/>
          </a:p>
        </p:txBody>
      </p:sp>
      <p:sp>
        <p:nvSpPr>
          <p:cNvPr id="17" name="Text 3"/>
          <p:cNvSpPr/>
          <p:nvPr/>
        </p:nvSpPr>
        <p:spPr>
          <a:xfrm>
            <a:off x="742454" y="2603570"/>
            <a:ext cx="17244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</a:t>
            </a:r>
            <a:endParaRPr lang="en-US" sz="1461" dirty="0"/>
          </a:p>
        </p:txBody>
      </p:sp>
      <p:sp>
        <p:nvSpPr>
          <p:cNvPr id="18" name="Text 4"/>
          <p:cNvSpPr/>
          <p:nvPr/>
        </p:nvSpPr>
        <p:spPr>
          <a:xfrm>
            <a:off x="997527" y="2603570"/>
            <a:ext cx="58781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64 KB</a:t>
            </a:r>
            <a:endParaRPr lang="en-US" sz="1315" dirty="0"/>
          </a:p>
        </p:txBody>
      </p:sp>
      <p:sp>
        <p:nvSpPr>
          <p:cNvPr id="19" name="Text 5"/>
          <p:cNvSpPr/>
          <p:nvPr/>
        </p:nvSpPr>
        <p:spPr>
          <a:xfrm>
            <a:off x="6199490" y="2603570"/>
            <a:ext cx="16983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461" dirty="0"/>
          </a:p>
        </p:txBody>
      </p:sp>
      <p:sp>
        <p:nvSpPr>
          <p:cNvPr id="20" name="Text 6"/>
          <p:cNvSpPr/>
          <p:nvPr/>
        </p:nvSpPr>
        <p:spPr>
          <a:xfrm>
            <a:off x="6452388" y="2603570"/>
            <a:ext cx="71536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128 KB</a:t>
            </a:r>
            <a:endParaRPr lang="en-US" sz="1315" dirty="0"/>
          </a:p>
        </p:txBody>
      </p:sp>
      <p:sp>
        <p:nvSpPr>
          <p:cNvPr id="21" name="Text 7"/>
          <p:cNvSpPr/>
          <p:nvPr/>
        </p:nvSpPr>
        <p:spPr>
          <a:xfrm>
            <a:off x="742454" y="3383146"/>
            <a:ext cx="16357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461" dirty="0"/>
          </a:p>
        </p:txBody>
      </p:sp>
      <p:sp>
        <p:nvSpPr>
          <p:cNvPr id="22" name="Text 8"/>
          <p:cNvSpPr/>
          <p:nvPr/>
        </p:nvSpPr>
        <p:spPr>
          <a:xfrm>
            <a:off x="990132" y="3383146"/>
            <a:ext cx="71536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256 KB</a:t>
            </a:r>
            <a:endParaRPr lang="en-US" sz="1315" dirty="0"/>
          </a:p>
        </p:txBody>
      </p:sp>
      <p:sp>
        <p:nvSpPr>
          <p:cNvPr id="23" name="Text 9"/>
          <p:cNvSpPr/>
          <p:nvPr/>
        </p:nvSpPr>
        <p:spPr>
          <a:xfrm>
            <a:off x="6199490" y="3383146"/>
            <a:ext cx="18497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</a:t>
            </a:r>
            <a:endParaRPr lang="en-US" sz="1461" dirty="0"/>
          </a:p>
        </p:txBody>
      </p:sp>
      <p:sp>
        <p:nvSpPr>
          <p:cNvPr id="24" name="Text 10"/>
          <p:cNvSpPr/>
          <p:nvPr/>
        </p:nvSpPr>
        <p:spPr>
          <a:xfrm>
            <a:off x="6465004" y="3383146"/>
            <a:ext cx="50185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 MB</a:t>
            </a:r>
            <a:endParaRPr lang="en-US" sz="131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063" y="264840"/>
            <a:ext cx="568586" cy="29698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155784"/>
            <a:ext cx="742454" cy="3712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4" y="1415643"/>
            <a:ext cx="2443282" cy="4083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54" y="1527012"/>
            <a:ext cx="185613" cy="18561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5852" y="3939987"/>
            <a:ext cx="7127558" cy="89094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963" y="5090790"/>
            <a:ext cx="185613" cy="25985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0999" y="5090790"/>
            <a:ext cx="185613" cy="259859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11125063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13" name="Text 2"/>
          <p:cNvSpPr/>
          <p:nvPr/>
        </p:nvSpPr>
        <p:spPr>
          <a:xfrm>
            <a:off x="1002312" y="1415643"/>
            <a:ext cx="2931939" cy="408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5572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Correct Answer: C</a:t>
            </a:r>
            <a:endParaRPr lang="en-US" sz="1461" dirty="0"/>
          </a:p>
        </p:txBody>
      </p:sp>
      <p:sp>
        <p:nvSpPr>
          <p:cNvPr id="14" name="Text 3"/>
          <p:cNvSpPr/>
          <p:nvPr/>
        </p:nvSpPr>
        <p:spPr>
          <a:xfrm>
            <a:off x="593963" y="2120975"/>
            <a:ext cx="10691336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Both Standard and FIFO queues in Amazon SQS support a maximum message payload size of </a:t>
            </a:r>
            <a:r>
              <a:rPr lang="en-US" sz="1754" b="1" dirty="0">
                <a:solidFill>
                  <a:srgbClr val="EA58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256 KB</a:t>
            </a: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</a:t>
            </a:r>
            <a:endParaRPr lang="en-US" sz="1754" dirty="0"/>
          </a:p>
        </p:txBody>
      </p:sp>
      <p:sp>
        <p:nvSpPr>
          <p:cNvPr id="15" name="Text 4"/>
          <p:cNvSpPr/>
          <p:nvPr/>
        </p:nvSpPr>
        <p:spPr>
          <a:xfrm>
            <a:off x="593963" y="2863428"/>
            <a:ext cx="10691336" cy="7795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messages larger than 256 KB, the Amazon SQS Extended Client Library for Java can be used to send messages with payloads up to 2 GB by storing the message payload in Amazon S3 and sending a pointer to S3 in the SQS message.</a:t>
            </a:r>
            <a:endParaRPr lang="en-US" sz="1461" dirty="0"/>
          </a:p>
        </p:txBody>
      </p:sp>
      <p:sp>
        <p:nvSpPr>
          <p:cNvPr id="16" name="Text 5"/>
          <p:cNvSpPr/>
          <p:nvPr/>
        </p:nvSpPr>
        <p:spPr>
          <a:xfrm>
            <a:off x="890944" y="5053668"/>
            <a:ext cx="447229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 queues: 256 KB max message size</a:t>
            </a:r>
            <a:endParaRPr lang="en-US" sz="1315" dirty="0"/>
          </a:p>
        </p:txBody>
      </p:sp>
      <p:sp>
        <p:nvSpPr>
          <p:cNvPr id="17" name="Text 6"/>
          <p:cNvSpPr/>
          <p:nvPr/>
        </p:nvSpPr>
        <p:spPr>
          <a:xfrm>
            <a:off x="6347981" y="5053668"/>
            <a:ext cx="400785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FIFO queues: 256 KB max message size</a:t>
            </a:r>
            <a:endParaRPr lang="en-US" sz="131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</TotalTime>
  <Words>1592</Words>
  <Application>Microsoft Office PowerPoint</Application>
  <PresentationFormat>Custom</PresentationFormat>
  <Paragraphs>263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ui-sans-serif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Ritesh Behal</cp:lastModifiedBy>
  <cp:revision>55</cp:revision>
  <dcterms:created xsi:type="dcterms:W3CDTF">2025-10-28T04:25:02Z</dcterms:created>
  <dcterms:modified xsi:type="dcterms:W3CDTF">2025-11-10T11:18:02Z</dcterms:modified>
</cp:coreProperties>
</file>