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slideLayout" Target="../slideLayouts/slideLayout1.xml"/><Relationship Id="rId3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762000"/>
            <a:ext cx="3571875" cy="42862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125" y="1809750"/>
            <a:ext cx="3571875" cy="4286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101" y="1485900"/>
            <a:ext cx="571500" cy="2381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851" y="1819275"/>
            <a:ext cx="142875" cy="1428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4677" y="1819275"/>
            <a:ext cx="142875" cy="1428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502" y="1819275"/>
            <a:ext cx="142875" cy="1428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4851" y="2009775"/>
            <a:ext cx="142875" cy="1428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4677" y="2009775"/>
            <a:ext cx="142875" cy="1428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4502" y="2009775"/>
            <a:ext cx="142875" cy="1428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4851" y="2200275"/>
            <a:ext cx="142875" cy="1428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84677" y="2200275"/>
            <a:ext cx="142875" cy="1428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54502" y="2200275"/>
            <a:ext cx="142875" cy="142875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38651" y="3943350"/>
            <a:ext cx="914400" cy="38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73723" y="436245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85731" y="4362450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98321" y="4362450"/>
            <a:ext cx="219075" cy="3429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1668140" y="2457450"/>
            <a:ext cx="885557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Pricing Calculator</a:t>
            </a:r>
            <a:endParaRPr lang="en-US" sz="4500" dirty="0"/>
          </a:p>
        </p:txBody>
      </p:sp>
      <p:sp>
        <p:nvSpPr>
          <p:cNvPr id="22" name="Text 1"/>
          <p:cNvSpPr/>
          <p:nvPr/>
        </p:nvSpPr>
        <p:spPr>
          <a:xfrm>
            <a:off x="3743950" y="3257550"/>
            <a:ext cx="47038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and Plan Your AWS Costs</a:t>
            </a:r>
            <a:endParaRPr lang="en-US" sz="1800" dirty="0"/>
          </a:p>
        </p:txBody>
      </p:sp>
      <p:sp>
        <p:nvSpPr>
          <p:cNvPr id="23" name="Text 2"/>
          <p:cNvSpPr/>
          <p:nvPr/>
        </p:nvSpPr>
        <p:spPr>
          <a:xfrm>
            <a:off x="3337917" y="4781550"/>
            <a:ext cx="1757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Transparent Pricing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5241503" y="4781550"/>
            <a:ext cx="19743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Configuration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7388647" y="4781550"/>
            <a:ext cx="14385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Estimation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5242009" y="6324600"/>
            <a:ext cx="17075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November 4,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71750"/>
            <a:ext cx="3555950" cy="2209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351" y="280035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5563" y="2914650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7950" y="2571750"/>
            <a:ext cx="3555950" cy="2209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101" y="28003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2976" y="2914650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8701" y="2571750"/>
            <a:ext cx="3556099" cy="2209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1000" y="28003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3875" y="2914650"/>
            <a:ext cx="2857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781550"/>
            <a:ext cx="11277600" cy="762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010150"/>
            <a:ext cx="171450" cy="3048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457200" y="5715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Introduction to AWS Pricing Calculator</a:t>
            </a:r>
            <a:endParaRPr lang="en-US" sz="2700" dirty="0"/>
          </a:p>
        </p:txBody>
      </p:sp>
      <p:sp>
        <p:nvSpPr>
          <p:cNvPr id="18" name="Text 1"/>
          <p:cNvSpPr/>
          <p:nvPr/>
        </p:nvSpPr>
        <p:spPr>
          <a:xfrm>
            <a:off x="457200" y="1371600"/>
            <a:ext cx="11277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AWS Pricing Calculator is a free, web-based planning tool designed to help users estimate the costs of using Amazon Web Services (AWS) before deploying resources.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728290" y="3524250"/>
            <a:ext cx="30137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Transparent Estimation</a:t>
            </a:r>
            <a:endParaRPr lang="en-US" sz="1500" dirty="0"/>
          </a:p>
        </p:txBody>
      </p:sp>
      <p:sp>
        <p:nvSpPr>
          <p:cNvPr id="20" name="Text 3"/>
          <p:cNvSpPr/>
          <p:nvPr/>
        </p:nvSpPr>
        <p:spPr>
          <a:xfrm>
            <a:off x="685800" y="3867150"/>
            <a:ext cx="3098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your solutions and explore service price points with detailed breakdowns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5026596" y="3524250"/>
            <a:ext cx="21386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Budget Planning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4546550" y="3867150"/>
            <a:ext cx="3098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your AWS spend effectively and avoid unexpected expenses</a:t>
            </a:r>
            <a:endParaRPr lang="en-US" sz="1200" dirty="0"/>
          </a:p>
        </p:txBody>
      </p:sp>
      <p:sp>
        <p:nvSpPr>
          <p:cNvPr id="23" name="Text 6"/>
          <p:cNvSpPr/>
          <p:nvPr/>
        </p:nvSpPr>
        <p:spPr>
          <a:xfrm>
            <a:off x="8803392" y="3524250"/>
            <a:ext cx="2306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24" name="Text 7"/>
          <p:cNvSpPr/>
          <p:nvPr/>
        </p:nvSpPr>
        <p:spPr>
          <a:xfrm>
            <a:off x="8407301" y="3867150"/>
            <a:ext cx="30988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Identify cost-saving opportunities before deploying resources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933450" y="4933950"/>
            <a:ext cx="1064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tool provides a transparent way to understand potential cloud expenditures and identify cost-saving opportunities before committing to AWS services.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524500" cy="1409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647825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371600"/>
            <a:ext cx="5524500" cy="1409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562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338" y="1647825"/>
            <a:ext cx="257175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00990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004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5813" y="3286125"/>
            <a:ext cx="200025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00990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200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24625" y="32861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648200"/>
            <a:ext cx="11277600" cy="9525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8387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5813" y="4924425"/>
            <a:ext cx="200025" cy="3048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5600700"/>
            <a:ext cx="11277600" cy="6096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" y="575310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Features</a:t>
            </a:r>
            <a:endParaRPr lang="en-US" sz="2700" dirty="0"/>
          </a:p>
        </p:txBody>
      </p:sp>
      <p:sp>
        <p:nvSpPr>
          <p:cNvPr id="24" name="Text 1"/>
          <p:cNvSpPr/>
          <p:nvPr/>
        </p:nvSpPr>
        <p:spPr>
          <a:xfrm>
            <a:off x="1276350" y="15621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Transparent Pricing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12763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Detailed breakdowns of estimated prices for service configurations, allowing users to understand the underlying calculations.</a:t>
            </a:r>
            <a:endParaRPr lang="en-US" sz="1200" dirty="0"/>
          </a:p>
        </p:txBody>
      </p:sp>
      <p:sp>
        <p:nvSpPr>
          <p:cNvPr id="26" name="Text 3"/>
          <p:cNvSpPr/>
          <p:nvPr/>
        </p:nvSpPr>
        <p:spPr>
          <a:xfrm>
            <a:off x="7029450" y="15621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Hierarchical Estimates</a:t>
            </a:r>
            <a:endParaRPr lang="en-US" sz="1500" dirty="0"/>
          </a:p>
        </p:txBody>
      </p:sp>
      <p:sp>
        <p:nvSpPr>
          <p:cNvPr id="27" name="Text 4"/>
          <p:cNvSpPr/>
          <p:nvPr/>
        </p:nvSpPr>
        <p:spPr>
          <a:xfrm>
            <a:off x="70294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Organize estimates into logical groups by cost center or AWS Region for clear service cost analysis and comparison.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1276350" y="32004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Management</a:t>
            </a:r>
            <a:endParaRPr lang="en-US" sz="1500" dirty="0"/>
          </a:p>
        </p:txBody>
      </p:sp>
      <p:sp>
        <p:nvSpPr>
          <p:cNvPr id="29" name="Text 6"/>
          <p:cNvSpPr/>
          <p:nvPr/>
        </p:nvSpPr>
        <p:spPr>
          <a:xfrm>
            <a:off x="1276350" y="35433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 estimates to AWS public servers, export in CSV or PDF formats, and update estimates to reflect pricing changes.</a:t>
            </a:r>
            <a:endParaRPr lang="en-US" sz="1200" dirty="0"/>
          </a:p>
        </p:txBody>
      </p:sp>
      <p:sp>
        <p:nvSpPr>
          <p:cNvPr id="30" name="Text 7"/>
          <p:cNvSpPr/>
          <p:nvPr/>
        </p:nvSpPr>
        <p:spPr>
          <a:xfrm>
            <a:off x="7029450" y="32004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Support Cost Inclusion</a:t>
            </a:r>
            <a:endParaRPr lang="en-US" sz="1500" dirty="0"/>
          </a:p>
        </p:txBody>
      </p:sp>
      <p:sp>
        <p:nvSpPr>
          <p:cNvPr id="31" name="Text 8"/>
          <p:cNvSpPr/>
          <p:nvPr/>
        </p:nvSpPr>
        <p:spPr>
          <a:xfrm>
            <a:off x="7029450" y="35433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AWS Support costs to estimates, choosing preferred plans or recommendations for comprehensive cost planning.</a:t>
            </a:r>
            <a:endParaRPr lang="en-US" sz="1200" dirty="0"/>
          </a:p>
        </p:txBody>
      </p:sp>
      <p:sp>
        <p:nvSpPr>
          <p:cNvPr id="32" name="Text 9"/>
          <p:cNvSpPr/>
          <p:nvPr/>
        </p:nvSpPr>
        <p:spPr>
          <a:xfrm>
            <a:off x="1276350" y="4838700"/>
            <a:ext cx="10439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Microsoft Workload Modernization Calculator</a:t>
            </a:r>
            <a:endParaRPr lang="en-US" sz="1500" dirty="0"/>
          </a:p>
        </p:txBody>
      </p:sp>
      <p:sp>
        <p:nvSpPr>
          <p:cNvPr id="33" name="Text 10"/>
          <p:cNvSpPr/>
          <p:nvPr/>
        </p:nvSpPr>
        <p:spPr>
          <a:xfrm>
            <a:off x="1276350" y="5181600"/>
            <a:ext cx="104393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specialized tool within the calculator to estimate costs for modernizing Microsoft workloads using AWS services.</a:t>
            </a:r>
            <a:endParaRPr lang="en-US" sz="1200" dirty="0"/>
          </a:p>
        </p:txBody>
      </p:sp>
      <p:sp>
        <p:nvSpPr>
          <p:cNvPr id="34" name="Text 11"/>
          <p:cNvSpPr/>
          <p:nvPr/>
        </p:nvSpPr>
        <p:spPr>
          <a:xfrm>
            <a:off x="990600" y="5791200"/>
            <a:ext cx="12499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These core features provide a comprehensive foundation for cost planning and management across various AWS service configurations.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71628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524500" cy="1409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288" y="1666875"/>
            <a:ext cx="21907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371600"/>
            <a:ext cx="5524500" cy="1409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562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1666875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00990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004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33051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00990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200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305175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648200"/>
            <a:ext cx="5524500" cy="14097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" y="4838700"/>
            <a:ext cx="476250" cy="4762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6763" y="4943475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648200"/>
            <a:ext cx="5524500" cy="14097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4838700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19863" y="4943475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6057900"/>
            <a:ext cx="11277600" cy="5334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6238875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7048500"/>
            <a:ext cx="12192000" cy="1143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1276350" y="15621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Accurate Budgeting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763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precise cost estimates based on specific scenarios and usage parameters, helping you plan budgets effectively and avoid unexpected expenses.</a:t>
            </a:r>
            <a:endParaRPr lang="en-US" sz="1200" dirty="0"/>
          </a:p>
        </p:txBody>
      </p:sp>
      <p:sp>
        <p:nvSpPr>
          <p:cNvPr id="29" name="Text 3"/>
          <p:cNvSpPr/>
          <p:nvPr/>
        </p:nvSpPr>
        <p:spPr>
          <a:xfrm>
            <a:off x="7029450" y="15621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Informed Decision-Making</a:t>
            </a:r>
            <a:endParaRPr lang="en-US" sz="1500" dirty="0"/>
          </a:p>
        </p:txBody>
      </p:sp>
      <p:sp>
        <p:nvSpPr>
          <p:cNvPr id="30" name="Text 4"/>
          <p:cNvSpPr/>
          <p:nvPr/>
        </p:nvSpPr>
        <p:spPr>
          <a:xfrm>
            <a:off x="70294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Make data-driven decisions about your cloud infrastructure with detailed cost breakdowns and transparent pricing information.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1276350" y="32004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32" name="Text 6"/>
          <p:cNvSpPr/>
          <p:nvPr/>
        </p:nvSpPr>
        <p:spPr>
          <a:xfrm>
            <a:off x="1276350" y="35433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different configurations, pricing models, and architectural designs to identify the most cost-effective solutions for your needs.</a:t>
            </a:r>
            <a:endParaRPr lang="en-US" sz="1200" dirty="0"/>
          </a:p>
        </p:txBody>
      </p:sp>
      <p:sp>
        <p:nvSpPr>
          <p:cNvPr id="33" name="Text 7"/>
          <p:cNvSpPr/>
          <p:nvPr/>
        </p:nvSpPr>
        <p:spPr>
          <a:xfrm>
            <a:off x="7029450" y="320040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Proactive Planning</a:t>
            </a:r>
            <a:endParaRPr lang="en-US" sz="1500" dirty="0"/>
          </a:p>
        </p:txBody>
      </p:sp>
      <p:sp>
        <p:nvSpPr>
          <p:cNvPr id="34" name="Text 8"/>
          <p:cNvSpPr/>
          <p:nvPr/>
        </p:nvSpPr>
        <p:spPr>
          <a:xfrm>
            <a:off x="7029450" y="3543300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your solutions before implementation to identify potential cost savings early in the design phase.</a:t>
            </a:r>
            <a:endParaRPr lang="en-US" sz="1200" dirty="0"/>
          </a:p>
        </p:txBody>
      </p:sp>
      <p:sp>
        <p:nvSpPr>
          <p:cNvPr id="35" name="Text 9"/>
          <p:cNvSpPr/>
          <p:nvPr/>
        </p:nvSpPr>
        <p:spPr>
          <a:xfrm>
            <a:off x="1276350" y="48387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Collaboration &amp; Sharing</a:t>
            </a:r>
            <a:endParaRPr lang="en-US" sz="1500" dirty="0"/>
          </a:p>
        </p:txBody>
      </p:sp>
      <p:sp>
        <p:nvSpPr>
          <p:cNvPr id="36" name="Text 10"/>
          <p:cNvSpPr/>
          <p:nvPr/>
        </p:nvSpPr>
        <p:spPr>
          <a:xfrm>
            <a:off x="1276350" y="51816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Save, share, and export estimates in various formats to promote transparency and collaboration among teams and stakeholders.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7029450" y="48387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Prior Experience Needed</a:t>
            </a:r>
            <a:endParaRPr lang="en-US" sz="1500" dirty="0"/>
          </a:p>
        </p:txBody>
      </p:sp>
      <p:sp>
        <p:nvSpPr>
          <p:cNvPr id="38" name="Text 12"/>
          <p:cNvSpPr/>
          <p:nvPr/>
        </p:nvSpPr>
        <p:spPr>
          <a:xfrm>
            <a:off x="7029450" y="5181600"/>
            <a:ext cx="4514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public version is user-friendly and accessible to anyone, regardless of AWS experience or account status.</a:t>
            </a:r>
            <a:endParaRPr lang="en-US" sz="1200" dirty="0"/>
          </a:p>
        </p:txBody>
      </p:sp>
      <p:sp>
        <p:nvSpPr>
          <p:cNvPr id="39" name="Text 13"/>
          <p:cNvSpPr/>
          <p:nvPr/>
        </p:nvSpPr>
        <p:spPr>
          <a:xfrm>
            <a:off x="838200" y="6210300"/>
            <a:ext cx="111038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AWS Pricing Calculator provides estimates, not guaranteed quotes. Actual costs may vary based on usage and configuration changes.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524000"/>
            <a:ext cx="1981200" cy="2438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23622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8263" y="2476500"/>
            <a:ext cx="219075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2700" y="2286000"/>
            <a:ext cx="762000" cy="19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300" y="1524000"/>
            <a:ext cx="1981200" cy="24384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71800" y="1809750"/>
            <a:ext cx="293787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6150" y="23622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29025" y="2476500"/>
            <a:ext cx="285750" cy="3429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2286000"/>
            <a:ext cx="762000" cy="19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05400" y="1524000"/>
            <a:ext cx="1981200" cy="26670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95900" y="1809750"/>
            <a:ext cx="216098" cy="3429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10250" y="236220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3125" y="2476500"/>
            <a:ext cx="285750" cy="3429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43700" y="2286000"/>
            <a:ext cx="762000" cy="190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29500" y="1524000"/>
            <a:ext cx="1981200" cy="24384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0" y="1809750"/>
            <a:ext cx="240060" cy="3429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34350" y="23622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77225" y="2476500"/>
            <a:ext cx="285750" cy="3429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39200" y="2286000"/>
            <a:ext cx="762000" cy="190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753600" y="1524000"/>
            <a:ext cx="1981200" cy="24384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44100" y="1809750"/>
            <a:ext cx="240655" cy="3429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58450" y="2362200"/>
            <a:ext cx="571500" cy="5715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82275" y="2476500"/>
            <a:ext cx="323850" cy="3429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7200" y="4191000"/>
            <a:ext cx="11277600" cy="8382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4457700"/>
            <a:ext cx="171450" cy="30480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Step-by-Step Usage Guide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711101" y="1809750"/>
            <a:ext cx="29557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highlight>
                  <a:srgbClr val="FF9900"/>
                </a:highlight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350" dirty="0"/>
          </a:p>
        </p:txBody>
      </p:sp>
      <p:sp>
        <p:nvSpPr>
          <p:cNvPr id="33" name="Text 2"/>
          <p:cNvSpPr/>
          <p:nvPr/>
        </p:nvSpPr>
        <p:spPr>
          <a:xfrm>
            <a:off x="1008311" y="1714500"/>
            <a:ext cx="12395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Estimate</a:t>
            </a:r>
            <a:endParaRPr lang="en-US" sz="1500" dirty="0"/>
          </a:p>
        </p:txBody>
      </p:sp>
      <p:sp>
        <p:nvSpPr>
          <p:cNvPr id="34" name="Text 3"/>
          <p:cNvSpPr/>
          <p:nvPr/>
        </p:nvSpPr>
        <p:spPr>
          <a:xfrm>
            <a:off x="647700" y="30861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Access the web console and select "Create estimate"</a:t>
            </a:r>
            <a:endParaRPr lang="en-US" sz="1200" dirty="0"/>
          </a:p>
        </p:txBody>
      </p:sp>
      <p:sp>
        <p:nvSpPr>
          <p:cNvPr id="35" name="Text 4"/>
          <p:cNvSpPr/>
          <p:nvPr/>
        </p:nvSpPr>
        <p:spPr>
          <a:xfrm>
            <a:off x="3059013" y="1809750"/>
            <a:ext cx="3525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350" dirty="0"/>
          </a:p>
        </p:txBody>
      </p:sp>
      <p:sp>
        <p:nvSpPr>
          <p:cNvPr id="36" name="Text 5"/>
          <p:cNvSpPr/>
          <p:nvPr/>
        </p:nvSpPr>
        <p:spPr>
          <a:xfrm>
            <a:off x="3379887" y="1714500"/>
            <a:ext cx="11921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Services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2971800" y="30861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Search for and add AWS services like EC2, S3, RDS</a:t>
            </a:r>
            <a:endParaRPr lang="en-US" sz="1200" dirty="0"/>
          </a:p>
        </p:txBody>
      </p:sp>
      <p:sp>
        <p:nvSpPr>
          <p:cNvPr id="38" name="Text 7"/>
          <p:cNvSpPr/>
          <p:nvPr/>
        </p:nvSpPr>
        <p:spPr>
          <a:xfrm>
            <a:off x="5344269" y="1809750"/>
            <a:ext cx="259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350" dirty="0"/>
          </a:p>
        </p:txBody>
      </p:sp>
      <p:sp>
        <p:nvSpPr>
          <p:cNvPr id="39" name="Text 8"/>
          <p:cNvSpPr/>
          <p:nvPr/>
        </p:nvSpPr>
        <p:spPr>
          <a:xfrm>
            <a:off x="5626298" y="1714500"/>
            <a:ext cx="12698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Services</a:t>
            </a:r>
            <a:endParaRPr lang="en-US" sz="1500" dirty="0"/>
          </a:p>
        </p:txBody>
      </p:sp>
      <p:sp>
        <p:nvSpPr>
          <p:cNvPr id="40" name="Text 9"/>
          <p:cNvSpPr/>
          <p:nvPr/>
        </p:nvSpPr>
        <p:spPr>
          <a:xfrm>
            <a:off x="5295900" y="30861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Specify parameters like Region, instance type, and pricing model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7680275" y="1809750"/>
            <a:ext cx="2880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350" dirty="0"/>
          </a:p>
        </p:txBody>
      </p:sp>
      <p:sp>
        <p:nvSpPr>
          <p:cNvPr id="42" name="Text 11"/>
          <p:cNvSpPr/>
          <p:nvPr/>
        </p:nvSpPr>
        <p:spPr>
          <a:xfrm>
            <a:off x="7974360" y="1714500"/>
            <a:ext cx="124584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Group Estimates</a:t>
            </a:r>
            <a:endParaRPr lang="en-US" sz="1500" dirty="0"/>
          </a:p>
        </p:txBody>
      </p:sp>
      <p:sp>
        <p:nvSpPr>
          <p:cNvPr id="43" name="Text 12"/>
          <p:cNvSpPr/>
          <p:nvPr/>
        </p:nvSpPr>
        <p:spPr>
          <a:xfrm>
            <a:off x="7620000" y="30861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Organize services into logical groups for better analysis</a:t>
            </a:r>
            <a:endParaRPr lang="en-US" sz="1200" dirty="0"/>
          </a:p>
        </p:txBody>
      </p:sp>
      <p:sp>
        <p:nvSpPr>
          <p:cNvPr id="44" name="Text 13"/>
          <p:cNvSpPr/>
          <p:nvPr/>
        </p:nvSpPr>
        <p:spPr>
          <a:xfrm>
            <a:off x="10004673" y="1809750"/>
            <a:ext cx="2887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350" dirty="0"/>
          </a:p>
        </p:txBody>
      </p:sp>
      <p:sp>
        <p:nvSpPr>
          <p:cNvPr id="45" name="Text 14"/>
          <p:cNvSpPr/>
          <p:nvPr/>
        </p:nvSpPr>
        <p:spPr>
          <a:xfrm>
            <a:off x="10299055" y="1714500"/>
            <a:ext cx="124524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&amp; Export</a:t>
            </a:r>
            <a:endParaRPr lang="en-US" sz="1500" dirty="0"/>
          </a:p>
        </p:txBody>
      </p:sp>
      <p:sp>
        <p:nvSpPr>
          <p:cNvPr id="46" name="Text 15"/>
          <p:cNvSpPr/>
          <p:nvPr/>
        </p:nvSpPr>
        <p:spPr>
          <a:xfrm>
            <a:off x="9944100" y="308610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costs and export in CSV or PDF formats</a:t>
            </a:r>
            <a:endParaRPr lang="en-US" sz="1200" dirty="0"/>
          </a:p>
        </p:txBody>
      </p:sp>
      <p:sp>
        <p:nvSpPr>
          <p:cNvPr id="47" name="Text 16"/>
          <p:cNvSpPr/>
          <p:nvPr/>
        </p:nvSpPr>
        <p:spPr>
          <a:xfrm>
            <a:off x="933450" y="4343400"/>
            <a:ext cx="92094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 Tip</a:t>
            </a:r>
            <a:endParaRPr lang="en-US" sz="1350" dirty="0"/>
          </a:p>
        </p:txBody>
      </p:sp>
      <p:sp>
        <p:nvSpPr>
          <p:cNvPr id="48" name="Text 17"/>
          <p:cNvSpPr/>
          <p:nvPr/>
        </p:nvSpPr>
        <p:spPr>
          <a:xfrm>
            <a:off x="933450" y="4648200"/>
            <a:ext cx="11051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Configure services with detailed parameters to generate accurate cost estimates based on your specific usage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90700"/>
            <a:ext cx="5524500" cy="10668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943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3" y="2038350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790700"/>
            <a:ext cx="5524500" cy="1066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1943100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0" y="2038350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086100"/>
            <a:ext cx="5524500" cy="10668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2385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675" y="333375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086100"/>
            <a:ext cx="5524500" cy="10668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238500"/>
            <a:ext cx="457200" cy="4572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333375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381500"/>
            <a:ext cx="5524500" cy="10668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533900"/>
            <a:ext cx="457200" cy="4572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9150" y="4629150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10300" y="4381500"/>
            <a:ext cx="5524500" cy="10668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38900" y="45339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72250" y="4629150"/>
            <a:ext cx="190500" cy="2667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" y="5448300"/>
            <a:ext cx="11277600" cy="6096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5600700"/>
            <a:ext cx="171450" cy="3048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Configuration Details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457200" y="1295400"/>
            <a:ext cx="11277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parameters for accurate AWS cost estimation</a:t>
            </a:r>
            <a:endParaRPr lang="en-US" sz="1500" dirty="0"/>
          </a:p>
        </p:txBody>
      </p:sp>
      <p:sp>
        <p:nvSpPr>
          <p:cNvPr id="28" name="Text 2"/>
          <p:cNvSpPr/>
          <p:nvPr/>
        </p:nvSpPr>
        <p:spPr>
          <a:xfrm>
            <a:off x="1295400" y="19431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Region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1295400" y="22479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Select the correct region as pricing varies significantly by geographical location.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7048500" y="1943100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Service Specifications</a:t>
            </a:r>
            <a:endParaRPr lang="en-US" sz="1500" dirty="0"/>
          </a:p>
        </p:txBody>
      </p:sp>
      <p:sp>
        <p:nvSpPr>
          <p:cNvPr id="31" name="Text 5"/>
          <p:cNvSpPr/>
          <p:nvPr/>
        </p:nvSpPr>
        <p:spPr>
          <a:xfrm>
            <a:off x="7048500" y="22479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compute resources (vCPUs, memory, storage) and IOPS for optimal configuration.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1295400" y="32385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Model</a:t>
            </a:r>
            <a:endParaRPr lang="en-US" sz="1500" dirty="0"/>
          </a:p>
        </p:txBody>
      </p:sp>
      <p:sp>
        <p:nvSpPr>
          <p:cNvPr id="33" name="Text 7"/>
          <p:cNvSpPr/>
          <p:nvPr/>
        </p:nvSpPr>
        <p:spPr>
          <a:xfrm>
            <a:off x="1295400" y="35433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Choose between On-Demand, Reserved Instances, or Savings Plans based on your usage patterns.</a:t>
            </a:r>
            <a:endParaRPr lang="en-US" sz="1200" dirty="0"/>
          </a:p>
        </p:txBody>
      </p:sp>
      <p:sp>
        <p:nvSpPr>
          <p:cNvPr id="34" name="Text 8"/>
          <p:cNvSpPr/>
          <p:nvPr/>
        </p:nvSpPr>
        <p:spPr>
          <a:xfrm>
            <a:off x="7048500" y="32385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Transfer</a:t>
            </a:r>
            <a:endParaRPr lang="en-US" sz="1500" dirty="0"/>
          </a:p>
        </p:txBody>
      </p:sp>
      <p:sp>
        <p:nvSpPr>
          <p:cNvPr id="35" name="Text 9"/>
          <p:cNvSpPr/>
          <p:nvPr/>
        </p:nvSpPr>
        <p:spPr>
          <a:xfrm>
            <a:off x="7048500" y="35433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data transferred in and out of services as this can incur additional costs.</a:t>
            </a:r>
            <a:endParaRPr lang="en-US" sz="1200" dirty="0"/>
          </a:p>
        </p:txBody>
      </p:sp>
      <p:sp>
        <p:nvSpPr>
          <p:cNvPr id="36" name="Text 10"/>
          <p:cNvSpPr/>
          <p:nvPr/>
        </p:nvSpPr>
        <p:spPr>
          <a:xfrm>
            <a:off x="1295400" y="45339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Additional Costs</a:t>
            </a:r>
            <a:endParaRPr lang="en-US" sz="1500" dirty="0"/>
          </a:p>
        </p:txBody>
      </p:sp>
      <p:sp>
        <p:nvSpPr>
          <p:cNvPr id="37" name="Text 11"/>
          <p:cNvSpPr/>
          <p:nvPr/>
        </p:nvSpPr>
        <p:spPr>
          <a:xfrm>
            <a:off x="1295400" y="48387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potential costs such as detailed monitoring or Elastic IPs as applicable.</a:t>
            </a:r>
            <a:endParaRPr lang="en-US" sz="1200" dirty="0"/>
          </a:p>
        </p:txBody>
      </p:sp>
      <p:sp>
        <p:nvSpPr>
          <p:cNvPr id="38" name="Text 12"/>
          <p:cNvSpPr/>
          <p:nvPr/>
        </p:nvSpPr>
        <p:spPr>
          <a:xfrm>
            <a:off x="7048500" y="45339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Support Costs</a:t>
            </a:r>
            <a:endParaRPr lang="en-US" sz="1500" dirty="0"/>
          </a:p>
        </p:txBody>
      </p:sp>
      <p:sp>
        <p:nvSpPr>
          <p:cNvPr id="39" name="Text 13"/>
          <p:cNvSpPr/>
          <p:nvPr/>
        </p:nvSpPr>
        <p:spPr>
          <a:xfrm>
            <a:off x="7048500" y="4838700"/>
            <a:ext cx="4533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Optionally add your chosen AWS Support plan to the overall estimate.</a:t>
            </a:r>
            <a:endParaRPr lang="en-US" sz="1200" dirty="0"/>
          </a:p>
        </p:txBody>
      </p:sp>
      <p:sp>
        <p:nvSpPr>
          <p:cNvPr id="40" name="Text 14"/>
          <p:cNvSpPr/>
          <p:nvPr/>
        </p:nvSpPr>
        <p:spPr>
          <a:xfrm>
            <a:off x="933450" y="5638800"/>
            <a:ext cx="11666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Accurate configuration of these parameters is crucial for generating reliable cost estimates that reflect your actual AWS usage.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00"/>
            <a:ext cx="4698950" cy="14287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478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5850" y="1295400"/>
            <a:ext cx="4698950" cy="14287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8250" y="14478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952750"/>
            <a:ext cx="1944291" cy="4191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1491" y="2952750"/>
            <a:ext cx="4666506" cy="4191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7996" y="2952750"/>
            <a:ext cx="4666804" cy="419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371850"/>
            <a:ext cx="1944291" cy="41910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01491" y="3371850"/>
            <a:ext cx="4666506" cy="4191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7996" y="3371850"/>
            <a:ext cx="4666804" cy="419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3790950"/>
            <a:ext cx="1944291" cy="41910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01491" y="3790950"/>
            <a:ext cx="4666506" cy="4191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7996" y="3790950"/>
            <a:ext cx="4666804" cy="4191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210050"/>
            <a:ext cx="1944291" cy="4191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01491" y="4210050"/>
            <a:ext cx="4666506" cy="419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67996" y="4210050"/>
            <a:ext cx="4666804" cy="4191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7200" y="4629150"/>
            <a:ext cx="1944291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01491" y="4629150"/>
            <a:ext cx="4666506" cy="41910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67996" y="4629150"/>
            <a:ext cx="4666804" cy="41910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5048250"/>
            <a:ext cx="1944291" cy="41910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01491" y="5048250"/>
            <a:ext cx="4666506" cy="4191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67996" y="5048250"/>
            <a:ext cx="4666804" cy="4191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7200" y="5467350"/>
            <a:ext cx="11277600" cy="60960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" y="5619750"/>
            <a:ext cx="171450" cy="30480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457200" y="571500"/>
            <a:ext cx="135331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Calculator vs. Cost Explorer</a:t>
            </a:r>
            <a:endParaRPr lang="en-US" sz="2700" dirty="0"/>
          </a:p>
        </p:txBody>
      </p:sp>
      <p:sp>
        <p:nvSpPr>
          <p:cNvPr id="31" name="Text 1"/>
          <p:cNvSpPr/>
          <p:nvPr/>
        </p:nvSpPr>
        <p:spPr>
          <a:xfrm>
            <a:off x="895350" y="1466850"/>
            <a:ext cx="29519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Pricing Calculator</a:t>
            </a:r>
            <a:endParaRPr lang="en-US" sz="1500" dirty="0"/>
          </a:p>
        </p:txBody>
      </p:sp>
      <p:sp>
        <p:nvSpPr>
          <p:cNvPr id="32" name="Text 2"/>
          <p:cNvSpPr/>
          <p:nvPr/>
        </p:nvSpPr>
        <p:spPr>
          <a:xfrm>
            <a:off x="609600" y="1828800"/>
            <a:ext cx="439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tool for estimating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 costs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based on hypothetical scenarios, aiding in planning and budgeting before deployment.</a:t>
            </a:r>
            <a:endParaRPr lang="en-US" sz="1050" dirty="0"/>
          </a:p>
        </p:txBody>
      </p:sp>
      <p:sp>
        <p:nvSpPr>
          <p:cNvPr id="33" name="Text 3"/>
          <p:cNvSpPr/>
          <p:nvPr/>
        </p:nvSpPr>
        <p:spPr>
          <a:xfrm>
            <a:off x="7531150" y="1466850"/>
            <a:ext cx="2396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Cost Explorer</a:t>
            </a:r>
            <a:endParaRPr lang="en-US" sz="1500" dirty="0"/>
          </a:p>
        </p:txBody>
      </p:sp>
      <p:sp>
        <p:nvSpPr>
          <p:cNvPr id="34" name="Text 4"/>
          <p:cNvSpPr/>
          <p:nvPr/>
        </p:nvSpPr>
        <p:spPr>
          <a:xfrm>
            <a:off x="7188250" y="1828800"/>
            <a:ext cx="4394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tool for analyzing </a:t>
            </a:r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 spending</a:t>
            </a:r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and usage patterns from actual AWS account data.</a:t>
            </a:r>
            <a:endParaRPr lang="en-US" sz="1050" dirty="0"/>
          </a:p>
        </p:txBody>
      </p:sp>
      <p:sp>
        <p:nvSpPr>
          <p:cNvPr id="35" name="Text 5"/>
          <p:cNvSpPr/>
          <p:nvPr/>
        </p:nvSpPr>
        <p:spPr>
          <a:xfrm>
            <a:off x="552450" y="2952750"/>
            <a:ext cx="194429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</a:t>
            </a:r>
            <a:endParaRPr lang="en-US" sz="1200" dirty="0"/>
          </a:p>
        </p:txBody>
      </p:sp>
      <p:sp>
        <p:nvSpPr>
          <p:cNvPr id="36" name="Text 6"/>
          <p:cNvSpPr/>
          <p:nvPr/>
        </p:nvSpPr>
        <p:spPr>
          <a:xfrm>
            <a:off x="2496741" y="2952750"/>
            <a:ext cx="466650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Pricing Calculator</a:t>
            </a:r>
            <a:endParaRPr lang="en-US" sz="1200" dirty="0"/>
          </a:p>
        </p:txBody>
      </p:sp>
      <p:sp>
        <p:nvSpPr>
          <p:cNvPr id="37" name="Text 7"/>
          <p:cNvSpPr/>
          <p:nvPr/>
        </p:nvSpPr>
        <p:spPr>
          <a:xfrm>
            <a:off x="7163246" y="2952750"/>
            <a:ext cx="466680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Cost Explorer</a:t>
            </a:r>
            <a:endParaRPr lang="en-US" sz="1200" dirty="0"/>
          </a:p>
        </p:txBody>
      </p:sp>
      <p:sp>
        <p:nvSpPr>
          <p:cNvPr id="38" name="Text 8"/>
          <p:cNvSpPr/>
          <p:nvPr/>
        </p:nvSpPr>
        <p:spPr>
          <a:xfrm>
            <a:off x="552450" y="3371850"/>
            <a:ext cx="194429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Purpose</a:t>
            </a:r>
            <a:endParaRPr lang="en-US" sz="1200" dirty="0"/>
          </a:p>
        </p:txBody>
      </p:sp>
      <p:sp>
        <p:nvSpPr>
          <p:cNvPr id="39" name="Text 9"/>
          <p:cNvSpPr/>
          <p:nvPr/>
        </p:nvSpPr>
        <p:spPr>
          <a:xfrm>
            <a:off x="2496741" y="3371850"/>
            <a:ext cx="55998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9731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future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costs for planning</a:t>
            </a:r>
            <a:endParaRPr lang="en-US" sz="1200" dirty="0"/>
          </a:p>
        </p:txBody>
      </p:sp>
      <p:sp>
        <p:nvSpPr>
          <p:cNvPr id="40" name="Text 10"/>
          <p:cNvSpPr/>
          <p:nvPr/>
        </p:nvSpPr>
        <p:spPr>
          <a:xfrm>
            <a:off x="7163246" y="3371850"/>
            <a:ext cx="56001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B82F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historical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spending patterns</a:t>
            </a:r>
            <a:endParaRPr lang="en-US" sz="1200" dirty="0"/>
          </a:p>
        </p:txBody>
      </p:sp>
      <p:sp>
        <p:nvSpPr>
          <p:cNvPr id="41" name="Text 11"/>
          <p:cNvSpPr/>
          <p:nvPr/>
        </p:nvSpPr>
        <p:spPr>
          <a:xfrm>
            <a:off x="552450" y="3790950"/>
            <a:ext cx="23331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42" name="Text 12"/>
          <p:cNvSpPr/>
          <p:nvPr/>
        </p:nvSpPr>
        <p:spPr>
          <a:xfrm>
            <a:off x="2496741" y="3790950"/>
            <a:ext cx="55998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Hypothetical scenarios and user inputs</a:t>
            </a:r>
            <a:endParaRPr lang="en-US" sz="1200" dirty="0"/>
          </a:p>
        </p:txBody>
      </p:sp>
      <p:sp>
        <p:nvSpPr>
          <p:cNvPr id="43" name="Text 13"/>
          <p:cNvSpPr/>
          <p:nvPr/>
        </p:nvSpPr>
        <p:spPr>
          <a:xfrm>
            <a:off x="7163246" y="3790950"/>
            <a:ext cx="56001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Actual usage and spending data from your AWS account</a:t>
            </a:r>
            <a:endParaRPr lang="en-US" sz="1200" dirty="0"/>
          </a:p>
        </p:txBody>
      </p:sp>
      <p:sp>
        <p:nvSpPr>
          <p:cNvPr id="44" name="Text 14"/>
          <p:cNvSpPr/>
          <p:nvPr/>
        </p:nvSpPr>
        <p:spPr>
          <a:xfrm>
            <a:off x="552450" y="4210050"/>
            <a:ext cx="1944291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</a:t>
            </a:r>
            <a:endParaRPr lang="en-US" sz="1200" dirty="0"/>
          </a:p>
        </p:txBody>
      </p:sp>
      <p:sp>
        <p:nvSpPr>
          <p:cNvPr id="45" name="Text 15"/>
          <p:cNvSpPr/>
          <p:nvPr/>
        </p:nvSpPr>
        <p:spPr>
          <a:xfrm>
            <a:off x="2496741" y="4210050"/>
            <a:ext cx="55998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Pre-usage cost estimation, "what-if" scenarios</a:t>
            </a:r>
            <a:endParaRPr lang="en-US" sz="1200" dirty="0"/>
          </a:p>
        </p:txBody>
      </p:sp>
      <p:sp>
        <p:nvSpPr>
          <p:cNvPr id="46" name="Text 16"/>
          <p:cNvSpPr/>
          <p:nvPr/>
        </p:nvSpPr>
        <p:spPr>
          <a:xfrm>
            <a:off x="7163246" y="4210050"/>
            <a:ext cx="56001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Post-usage cost management and optimization</a:t>
            </a:r>
            <a:endParaRPr lang="en-US" sz="1200" dirty="0"/>
          </a:p>
        </p:txBody>
      </p:sp>
      <p:sp>
        <p:nvSpPr>
          <p:cNvPr id="47" name="Text 17"/>
          <p:cNvSpPr/>
          <p:nvPr/>
        </p:nvSpPr>
        <p:spPr>
          <a:xfrm>
            <a:off x="552450" y="4629150"/>
            <a:ext cx="23331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48" name="Text 18"/>
          <p:cNvSpPr/>
          <p:nvPr/>
        </p:nvSpPr>
        <p:spPr>
          <a:xfrm>
            <a:off x="2496741" y="4629150"/>
            <a:ext cx="466650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Form-based, input-driven</a:t>
            </a:r>
            <a:endParaRPr lang="en-US" sz="1200" dirty="0"/>
          </a:p>
        </p:txBody>
      </p:sp>
      <p:sp>
        <p:nvSpPr>
          <p:cNvPr id="49" name="Text 19"/>
          <p:cNvSpPr/>
          <p:nvPr/>
        </p:nvSpPr>
        <p:spPr>
          <a:xfrm>
            <a:off x="7163246" y="4629150"/>
            <a:ext cx="56001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Graphical dashboards with charts and graphs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552450" y="5048250"/>
            <a:ext cx="233314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 Required</a:t>
            </a:r>
            <a:endParaRPr lang="en-US" sz="1200" dirty="0"/>
          </a:p>
        </p:txBody>
      </p:sp>
      <p:sp>
        <p:nvSpPr>
          <p:cNvPr id="51" name="Text 21"/>
          <p:cNvSpPr/>
          <p:nvPr/>
        </p:nvSpPr>
        <p:spPr>
          <a:xfrm>
            <a:off x="2496741" y="5048250"/>
            <a:ext cx="559980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Public version: No; In-console version: Yes</a:t>
            </a:r>
            <a:endParaRPr lang="en-US" sz="1200" dirty="0"/>
          </a:p>
        </p:txBody>
      </p:sp>
      <p:sp>
        <p:nvSpPr>
          <p:cNvPr id="52" name="Text 22"/>
          <p:cNvSpPr/>
          <p:nvPr/>
        </p:nvSpPr>
        <p:spPr>
          <a:xfrm>
            <a:off x="7163246" y="5048250"/>
            <a:ext cx="56001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Yes, requires an AWS account</a:t>
            </a:r>
            <a:endParaRPr lang="en-US" sz="1200" dirty="0"/>
          </a:p>
        </p:txBody>
      </p:sp>
      <p:sp>
        <p:nvSpPr>
          <p:cNvPr id="53" name="Text 23"/>
          <p:cNvSpPr/>
          <p:nvPr/>
        </p:nvSpPr>
        <p:spPr>
          <a:xfrm>
            <a:off x="895350" y="5657850"/>
            <a:ext cx="12272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While the Calculator helps plan future costs, Cost Explorer helps analyze actual spending patterns after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19300"/>
            <a:ext cx="5486400" cy="15621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247900"/>
            <a:ext cx="666750" cy="6667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409825"/>
            <a:ext cx="323850" cy="3429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2019300"/>
            <a:ext cx="5486400" cy="15621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2247900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2409825"/>
            <a:ext cx="285750" cy="3429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886200"/>
            <a:ext cx="5486400" cy="15621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114800"/>
            <a:ext cx="666750" cy="6667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250" y="4276725"/>
            <a:ext cx="323850" cy="3429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886200"/>
            <a:ext cx="5486400" cy="15621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114800"/>
            <a:ext cx="666750" cy="6667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4276725"/>
            <a:ext cx="361950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5448300"/>
            <a:ext cx="11277600" cy="609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560070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Cases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57200" y="1371600"/>
            <a:ext cx="135331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AWS Pricing Calculator is ideal for various scenarios where cost estimation and planning are crucial: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581150" y="2247900"/>
            <a:ext cx="4960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New Project Planning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1581150" y="2667000"/>
            <a:ext cx="4133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Estimate costs for new cloud initiatives before committing to AWS services, helping teams create accurate budgets and resource plans.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7372350" y="2247900"/>
            <a:ext cx="4960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Migration Cost Estimation</a:t>
            </a:r>
            <a:endParaRPr lang="en-US" sz="1800" dirty="0"/>
          </a:p>
        </p:txBody>
      </p:sp>
      <p:sp>
        <p:nvSpPr>
          <p:cNvPr id="25" name="Text 5"/>
          <p:cNvSpPr/>
          <p:nvPr/>
        </p:nvSpPr>
        <p:spPr>
          <a:xfrm>
            <a:off x="7372350" y="2667000"/>
            <a:ext cx="4133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Calculate the costs associated with migrating existing workloads to AWS, including data transfer fees and instance licensing.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581150" y="4114800"/>
            <a:ext cx="4960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 Optimization</a:t>
            </a:r>
            <a:endParaRPr lang="en-US" sz="1800" dirty="0"/>
          </a:p>
        </p:txBody>
      </p:sp>
      <p:sp>
        <p:nvSpPr>
          <p:cNvPr id="27" name="Text 7"/>
          <p:cNvSpPr/>
          <p:nvPr/>
        </p:nvSpPr>
        <p:spPr>
          <a:xfrm>
            <a:off x="1581150" y="4533900"/>
            <a:ext cx="4133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different architectural approaches and pricing models to optimize performance while minimizing costs for your specific workload.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7372350" y="4114800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Budget Planning</a:t>
            </a:r>
            <a:endParaRPr lang="en-US" sz="1800" dirty="0"/>
          </a:p>
        </p:txBody>
      </p:sp>
      <p:sp>
        <p:nvSpPr>
          <p:cNvPr id="29" name="Text 9"/>
          <p:cNvSpPr/>
          <p:nvPr/>
        </p:nvSpPr>
        <p:spPr>
          <a:xfrm>
            <a:off x="7372350" y="4533900"/>
            <a:ext cx="4133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budgets for different deployment options, including various AWS Regions, instance types, and storage solutions.</a:t>
            </a:r>
            <a:endParaRPr lang="en-US" sz="1200" dirty="0"/>
          </a:p>
        </p:txBody>
      </p:sp>
      <p:sp>
        <p:nvSpPr>
          <p:cNvPr id="30" name="Text 10"/>
          <p:cNvSpPr/>
          <p:nvPr/>
        </p:nvSpPr>
        <p:spPr>
          <a:xfrm>
            <a:off x="933450" y="5638800"/>
            <a:ext cx="11450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calculator helps identify cost-saving opportunities before deploying resources, enabling more informed decision-making.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524500" cy="1409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575" y="1666875"/>
            <a:ext cx="190500" cy="2667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371600"/>
            <a:ext cx="5524500" cy="1409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15621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9863" y="1666875"/>
            <a:ext cx="238125" cy="2667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3009900"/>
            <a:ext cx="5524500" cy="1409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" y="32004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3305175"/>
            <a:ext cx="190500" cy="2667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3009900"/>
            <a:ext cx="5524500" cy="1409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200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43675" y="3305175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419600"/>
            <a:ext cx="11277600" cy="7620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648200"/>
            <a:ext cx="171450" cy="3048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Practices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76350" y="15621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Regular Estimate Updates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2763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Update your estimates to reflect pricing changes or service updates. Saved estimates can be updated to maintain accurate cost projections.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7029450" y="15621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Pricing Models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7029450" y="19050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Evaluate different configurations and pricing models (On-Demand vs. Reserved Instances) to find the most cost-effective solutions for your needs.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1276350" y="32004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Consider Regional Differences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1276350" y="35433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Pricing for AWS services varies by geographical region. Select the correct region to ensure accurate cost estimation.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029450" y="3200400"/>
            <a:ext cx="5417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 for All Components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029450" y="3543300"/>
            <a:ext cx="45148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Include all potential costs such as data transfer, detailed monitoring, and Elastic IPs to create a comprehensive cost picture.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933450" y="4572000"/>
            <a:ext cx="10648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 Tip: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Combine multiple best practices for optimal cost planning. The AWS Pricing Calculator allows you to model solutions before implementation, ensuring potential cost savings are identified early in the design phase.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143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8700"/>
            <a:ext cx="762000" cy="381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5486400" cy="14097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" y="1562100"/>
            <a:ext cx="476250" cy="4762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1647825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009900"/>
            <a:ext cx="5486400" cy="14097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3200400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286125"/>
            <a:ext cx="171450" cy="30480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371600"/>
            <a:ext cx="5486400" cy="14097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1562100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62725" y="1647825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8400" y="3009900"/>
            <a:ext cx="5486400" cy="140970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3200400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62725" y="3286125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7200" y="4648200"/>
            <a:ext cx="11277600" cy="99060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972050"/>
            <a:ext cx="285750" cy="3429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743700"/>
            <a:ext cx="12192000" cy="1143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57200" y="571500"/>
            <a:ext cx="1127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Summary and Conclusions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276350" y="15621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Proactive Financial Planning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1276350" y="1905000"/>
            <a:ext cx="447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AWS Pricing Calculator empowers users to estimate future costs, model solutions, and identify cost-saving opportunities before deploying resources.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1276350" y="32004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Informed Decision-Making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1276350" y="3543300"/>
            <a:ext cx="447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By providing transparent pricing and detailed cost breakdowns, it enables data-driven decisions about cloud infrastructure and resource allocation.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7067550" y="1562100"/>
            <a:ext cx="537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Understanding Limitations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7067550" y="1905000"/>
            <a:ext cx="447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calculator provides estimates, not guaranteed quotes. Actual costs may vary based on usage patterns and configuration changes.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7067550" y="3200400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Complementary Tool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067550" y="3543300"/>
            <a:ext cx="4476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alongside AWS Cost Explorer and other services to provide a comprehensive approach to cloud financial management.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1162050" y="4876800"/>
            <a:ext cx="10344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Takeaway: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AWS Pricing Calculator is an indispensable tool for proactive financial planning, helping users optimize costs and avoid budget surprises in their AWS cloud implementations.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2025-11-04T09:14:32Z</dcterms:created>
  <dcterms:modified xsi:type="dcterms:W3CDTF">2025-11-04T09:14:32Z</dcterms:modified>
</cp:coreProperties>
</file>