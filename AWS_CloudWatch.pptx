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6" r:id="rId11"/>
    <p:sldId id="268" r:id="rId12"/>
    <p:sldId id="279" r:id="rId13"/>
    <p:sldId id="280" r:id="rId14"/>
    <p:sldId id="281" r:id="rId15"/>
    <p:sldId id="282" r:id="rId16"/>
    <p:sldId id="269" r:id="rId17"/>
    <p:sldId id="283" r:id="rId18"/>
    <p:sldId id="270" r:id="rId19"/>
  </p:sldIdLst>
  <p:sldSz cx="11879263" cy="6840538"/>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6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530677"/>
      </p:ext>
    </p:extLst>
  </p:cSld>
  <p:clrMap bg1="lt1" tx1="dk1" bg2="lt2" tx2="dk2" accent1="accent1" accent2="accent2" accent3="accent3" accent4="accent4" accent5="accent5" accent6="accent6" hlink="hlink" folHlink="folHlink"/>
  <p:notesStyle>
    <a:lvl1pPr marL="0" algn="l" defTabSz="898489" rtl="0" eaLnBrk="1" latinLnBrk="0" hangingPunct="1">
      <a:defRPr sz="1179" kern="1200">
        <a:solidFill>
          <a:schemeClr val="tx1"/>
        </a:solidFill>
        <a:latin typeface="+mn-lt"/>
        <a:ea typeface="+mn-ea"/>
        <a:cs typeface="+mn-cs"/>
      </a:defRPr>
    </a:lvl1pPr>
    <a:lvl2pPr marL="449245" algn="l" defTabSz="898489" rtl="0" eaLnBrk="1" latinLnBrk="0" hangingPunct="1">
      <a:defRPr sz="1179" kern="1200">
        <a:solidFill>
          <a:schemeClr val="tx1"/>
        </a:solidFill>
        <a:latin typeface="+mn-lt"/>
        <a:ea typeface="+mn-ea"/>
        <a:cs typeface="+mn-cs"/>
      </a:defRPr>
    </a:lvl2pPr>
    <a:lvl3pPr marL="898489" algn="l" defTabSz="898489" rtl="0" eaLnBrk="1" latinLnBrk="0" hangingPunct="1">
      <a:defRPr sz="1179" kern="1200">
        <a:solidFill>
          <a:schemeClr val="tx1"/>
        </a:solidFill>
        <a:latin typeface="+mn-lt"/>
        <a:ea typeface="+mn-ea"/>
        <a:cs typeface="+mn-cs"/>
      </a:defRPr>
    </a:lvl3pPr>
    <a:lvl4pPr marL="1347734" algn="l" defTabSz="898489" rtl="0" eaLnBrk="1" latinLnBrk="0" hangingPunct="1">
      <a:defRPr sz="1179" kern="1200">
        <a:solidFill>
          <a:schemeClr val="tx1"/>
        </a:solidFill>
        <a:latin typeface="+mn-lt"/>
        <a:ea typeface="+mn-ea"/>
        <a:cs typeface="+mn-cs"/>
      </a:defRPr>
    </a:lvl4pPr>
    <a:lvl5pPr marL="1796979" algn="l" defTabSz="898489" rtl="0" eaLnBrk="1" latinLnBrk="0" hangingPunct="1">
      <a:defRPr sz="1179" kern="1200">
        <a:solidFill>
          <a:schemeClr val="tx1"/>
        </a:solidFill>
        <a:latin typeface="+mn-lt"/>
        <a:ea typeface="+mn-ea"/>
        <a:cs typeface="+mn-cs"/>
      </a:defRPr>
    </a:lvl5pPr>
    <a:lvl6pPr marL="2246224" algn="l" defTabSz="898489" rtl="0" eaLnBrk="1" latinLnBrk="0" hangingPunct="1">
      <a:defRPr sz="1179" kern="1200">
        <a:solidFill>
          <a:schemeClr val="tx1"/>
        </a:solidFill>
        <a:latin typeface="+mn-lt"/>
        <a:ea typeface="+mn-ea"/>
        <a:cs typeface="+mn-cs"/>
      </a:defRPr>
    </a:lvl6pPr>
    <a:lvl7pPr marL="2695468" algn="l" defTabSz="898489" rtl="0" eaLnBrk="1" latinLnBrk="0" hangingPunct="1">
      <a:defRPr sz="1179" kern="1200">
        <a:solidFill>
          <a:schemeClr val="tx1"/>
        </a:solidFill>
        <a:latin typeface="+mn-lt"/>
        <a:ea typeface="+mn-ea"/>
        <a:cs typeface="+mn-cs"/>
      </a:defRPr>
    </a:lvl7pPr>
    <a:lvl8pPr marL="3144713" algn="l" defTabSz="898489" rtl="0" eaLnBrk="1" latinLnBrk="0" hangingPunct="1">
      <a:defRPr sz="1179" kern="1200">
        <a:solidFill>
          <a:schemeClr val="tx1"/>
        </a:solidFill>
        <a:latin typeface="+mn-lt"/>
        <a:ea typeface="+mn-ea"/>
        <a:cs typeface="+mn-cs"/>
      </a:defRPr>
    </a:lvl8pPr>
    <a:lvl9pPr marL="3593958" algn="l" defTabSz="898489" rtl="0" eaLnBrk="1" latinLnBrk="0" hangingPunct="1">
      <a:defRPr sz="11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84908" y="1119505"/>
            <a:ext cx="8909447" cy="2381521"/>
          </a:xfrm>
        </p:spPr>
        <p:txBody>
          <a:bodyPr anchor="b"/>
          <a:lstStyle>
            <a:lvl1pPr algn="ctr">
              <a:defRPr sz="5846"/>
            </a:lvl1pPr>
          </a:lstStyle>
          <a:p>
            <a:r>
              <a:rPr lang="en-US"/>
              <a:t>Click to edit Master title style</a:t>
            </a:r>
            <a:endParaRPr lang="en-US" dirty="0"/>
          </a:p>
        </p:txBody>
      </p:sp>
      <p:sp>
        <p:nvSpPr>
          <p:cNvPr id="3" name="Subtitle 2"/>
          <p:cNvSpPr>
            <a:spLocks noGrp="1"/>
          </p:cNvSpPr>
          <p:nvPr>
            <p:ph type="subTitle" idx="1"/>
          </p:nvPr>
        </p:nvSpPr>
        <p:spPr>
          <a:xfrm>
            <a:off x="1484908" y="3592866"/>
            <a:ext cx="8909447" cy="1651546"/>
          </a:xfrm>
        </p:spPr>
        <p:txBody>
          <a:bodyPr/>
          <a:lstStyle>
            <a:lvl1pPr marL="0" indent="0" algn="ctr">
              <a:buNone/>
              <a:defRPr sz="2338"/>
            </a:lvl1pPr>
            <a:lvl2pPr marL="445450" indent="0" algn="ctr">
              <a:buNone/>
              <a:defRPr sz="1949"/>
            </a:lvl2pPr>
            <a:lvl3pPr marL="890900" indent="0" algn="ctr">
              <a:buNone/>
              <a:defRPr sz="1754"/>
            </a:lvl3pPr>
            <a:lvl4pPr marL="1336350" indent="0" algn="ctr">
              <a:buNone/>
              <a:defRPr sz="1559"/>
            </a:lvl4pPr>
            <a:lvl5pPr marL="1781800" indent="0" algn="ctr">
              <a:buNone/>
              <a:defRPr sz="1559"/>
            </a:lvl5pPr>
            <a:lvl6pPr marL="2227250" indent="0" algn="ctr">
              <a:buNone/>
              <a:defRPr sz="1559"/>
            </a:lvl6pPr>
            <a:lvl7pPr marL="2672700" indent="0" algn="ctr">
              <a:buNone/>
              <a:defRPr sz="1559"/>
            </a:lvl7pPr>
            <a:lvl8pPr marL="3118150" indent="0" algn="ctr">
              <a:buNone/>
              <a:defRPr sz="1559"/>
            </a:lvl8pPr>
            <a:lvl9pPr marL="3563600" indent="0" algn="ctr">
              <a:buNone/>
              <a:defRPr sz="155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9032422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5695638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512" y="1705385"/>
            <a:ext cx="10245864" cy="2845473"/>
          </a:xfrm>
        </p:spPr>
        <p:txBody>
          <a:bodyPr anchor="b"/>
          <a:lstStyle>
            <a:lvl1pPr>
              <a:defRPr sz="5846"/>
            </a:lvl1pPr>
          </a:lstStyle>
          <a:p>
            <a:r>
              <a:rPr lang="en-US"/>
              <a:t>Click to edit Master title style</a:t>
            </a:r>
            <a:endParaRPr lang="en-US" dirty="0"/>
          </a:p>
        </p:txBody>
      </p:sp>
      <p:sp>
        <p:nvSpPr>
          <p:cNvPr id="3" name="Text Placeholder 2"/>
          <p:cNvSpPr>
            <a:spLocks noGrp="1"/>
          </p:cNvSpPr>
          <p:nvPr>
            <p:ph type="body" idx="1"/>
          </p:nvPr>
        </p:nvSpPr>
        <p:spPr>
          <a:xfrm>
            <a:off x="810512" y="4577778"/>
            <a:ext cx="10245864" cy="1496367"/>
          </a:xfrm>
        </p:spPr>
        <p:txBody>
          <a:bodyPr/>
          <a:lstStyle>
            <a:lvl1pPr marL="0" indent="0">
              <a:buNone/>
              <a:defRPr sz="2338">
                <a:solidFill>
                  <a:schemeClr val="tx1">
                    <a:tint val="75000"/>
                  </a:schemeClr>
                </a:solidFill>
              </a:defRPr>
            </a:lvl1pPr>
            <a:lvl2pPr marL="445450" indent="0">
              <a:buNone/>
              <a:defRPr sz="1949">
                <a:solidFill>
                  <a:schemeClr val="tx1">
                    <a:tint val="75000"/>
                  </a:schemeClr>
                </a:solidFill>
              </a:defRPr>
            </a:lvl2pPr>
            <a:lvl3pPr marL="890900" indent="0">
              <a:buNone/>
              <a:defRPr sz="1754">
                <a:solidFill>
                  <a:schemeClr val="tx1">
                    <a:tint val="75000"/>
                  </a:schemeClr>
                </a:solidFill>
              </a:defRPr>
            </a:lvl3pPr>
            <a:lvl4pPr marL="1336350" indent="0">
              <a:buNone/>
              <a:defRPr sz="1559">
                <a:solidFill>
                  <a:schemeClr val="tx1">
                    <a:tint val="75000"/>
                  </a:schemeClr>
                </a:solidFill>
              </a:defRPr>
            </a:lvl4pPr>
            <a:lvl5pPr marL="1781800" indent="0">
              <a:buNone/>
              <a:defRPr sz="1559">
                <a:solidFill>
                  <a:schemeClr val="tx1">
                    <a:tint val="75000"/>
                  </a:schemeClr>
                </a:solidFill>
              </a:defRPr>
            </a:lvl5pPr>
            <a:lvl6pPr marL="2227250" indent="0">
              <a:buNone/>
              <a:defRPr sz="1559">
                <a:solidFill>
                  <a:schemeClr val="tx1">
                    <a:tint val="75000"/>
                  </a:schemeClr>
                </a:solidFill>
              </a:defRPr>
            </a:lvl6pPr>
            <a:lvl7pPr marL="2672700" indent="0">
              <a:buNone/>
              <a:defRPr sz="1559">
                <a:solidFill>
                  <a:schemeClr val="tx1">
                    <a:tint val="75000"/>
                  </a:schemeClr>
                </a:solidFill>
              </a:defRPr>
            </a:lvl7pPr>
            <a:lvl8pPr marL="3118150" indent="0">
              <a:buNone/>
              <a:defRPr sz="1559">
                <a:solidFill>
                  <a:schemeClr val="tx1">
                    <a:tint val="75000"/>
                  </a:schemeClr>
                </a:solidFill>
              </a:defRPr>
            </a:lvl8pPr>
            <a:lvl9pPr marL="3563600" indent="0">
              <a:buNone/>
              <a:defRPr sz="1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558402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6699"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3877"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50388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247" y="364196"/>
            <a:ext cx="10245864" cy="1322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18247" y="1676882"/>
            <a:ext cx="5025485"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4" name="Content Placeholder 3"/>
          <p:cNvSpPr>
            <a:spLocks noGrp="1"/>
          </p:cNvSpPr>
          <p:nvPr>
            <p:ph sz="half" idx="2"/>
          </p:nvPr>
        </p:nvSpPr>
        <p:spPr>
          <a:xfrm>
            <a:off x="818247" y="2498697"/>
            <a:ext cx="5025485"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13877" y="1676882"/>
            <a:ext cx="5050234"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6" name="Content Placeholder 5"/>
          <p:cNvSpPr>
            <a:spLocks noGrp="1"/>
          </p:cNvSpPr>
          <p:nvPr>
            <p:ph sz="quarter" idx="4"/>
          </p:nvPr>
        </p:nvSpPr>
        <p:spPr>
          <a:xfrm>
            <a:off x="6013877" y="2498697"/>
            <a:ext cx="5050234"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949391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235856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198924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Content Placeholder 2"/>
          <p:cNvSpPr>
            <a:spLocks noGrp="1"/>
          </p:cNvSpPr>
          <p:nvPr>
            <p:ph idx="1"/>
          </p:nvPr>
        </p:nvSpPr>
        <p:spPr>
          <a:xfrm>
            <a:off x="5050234" y="984911"/>
            <a:ext cx="6013877" cy="4861216"/>
          </a:xfrm>
        </p:spPr>
        <p:txBody>
          <a:bodyPr/>
          <a:lstStyle>
            <a:lvl1pPr>
              <a:defRPr sz="3118"/>
            </a:lvl1pPr>
            <a:lvl2pPr>
              <a:defRPr sz="2728"/>
            </a:lvl2pPr>
            <a:lvl3pPr>
              <a:defRPr sz="2338"/>
            </a:lvl3pPr>
            <a:lvl4pPr>
              <a:defRPr sz="1949"/>
            </a:lvl4pPr>
            <a:lvl5pPr>
              <a:defRPr sz="1949"/>
            </a:lvl5pPr>
            <a:lvl6pPr>
              <a:defRPr sz="1949"/>
            </a:lvl6pPr>
            <a:lvl7pPr>
              <a:defRPr sz="1949"/>
            </a:lvl7pPr>
            <a:lvl8pPr>
              <a:defRPr sz="1949"/>
            </a:lvl8pPr>
            <a:lvl9pPr>
              <a:defRPr sz="19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7863563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5050234" y="984911"/>
            <a:ext cx="6013877" cy="4861216"/>
          </a:xfrm>
        </p:spPr>
        <p:txBody>
          <a:bodyPr anchor="t"/>
          <a:lstStyle>
            <a:lvl1pPr marL="0" indent="0">
              <a:buNone/>
              <a:defRPr sz="3118"/>
            </a:lvl1pPr>
            <a:lvl2pPr marL="445450" indent="0">
              <a:buNone/>
              <a:defRPr sz="2728"/>
            </a:lvl2pPr>
            <a:lvl3pPr marL="890900" indent="0">
              <a:buNone/>
              <a:defRPr sz="2338"/>
            </a:lvl3pPr>
            <a:lvl4pPr marL="1336350" indent="0">
              <a:buNone/>
              <a:defRPr sz="1949"/>
            </a:lvl4pPr>
            <a:lvl5pPr marL="1781800" indent="0">
              <a:buNone/>
              <a:defRPr sz="1949"/>
            </a:lvl5pPr>
            <a:lvl6pPr marL="2227250" indent="0">
              <a:buNone/>
              <a:defRPr sz="1949"/>
            </a:lvl6pPr>
            <a:lvl7pPr marL="2672700" indent="0">
              <a:buNone/>
              <a:defRPr sz="1949"/>
            </a:lvl7pPr>
            <a:lvl8pPr marL="3118150" indent="0">
              <a:buNone/>
              <a:defRPr sz="1949"/>
            </a:lvl8pPr>
            <a:lvl9pPr marL="3563600" indent="0">
              <a:buNone/>
              <a:defRPr sz="1949"/>
            </a:lvl9pPr>
          </a:lstStyle>
          <a:p>
            <a:r>
              <a:rPr lang="en-US"/>
              <a:t>Click icon to add picture</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200642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010732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1098" y="364195"/>
            <a:ext cx="2561466" cy="57970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6700" y="364195"/>
            <a:ext cx="7535907" cy="57970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887031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269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6700" y="364196"/>
            <a:ext cx="10245864" cy="1322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6700" y="1820976"/>
            <a:ext cx="10245864" cy="4340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16699" y="6340166"/>
            <a:ext cx="2672834" cy="364195"/>
          </a:xfrm>
          <a:prstGeom prst="rect">
            <a:avLst/>
          </a:prstGeom>
        </p:spPr>
        <p:txBody>
          <a:bodyPr vert="horz" lIns="91440" tIns="45720" rIns="91440" bIns="45720" rtlCol="0" anchor="ctr"/>
          <a:lstStyle>
            <a:lvl1pPr algn="l">
              <a:defRPr sz="1169">
                <a:solidFill>
                  <a:schemeClr val="tx1">
                    <a:tint val="75000"/>
                  </a:schemeClr>
                </a:solidFill>
              </a:defRPr>
            </a:lvl1pPr>
          </a:lstStyle>
          <a:p>
            <a:fld id="{C764DE79-268F-4C1A-8933-263129D2AF90}" type="datetimeFigureOut">
              <a:rPr lang="en-US" dirty="0"/>
              <a:t>11/10/2025</a:t>
            </a:fld>
            <a:endParaRPr lang="en-US" dirty="0"/>
          </a:p>
        </p:txBody>
      </p:sp>
      <p:sp>
        <p:nvSpPr>
          <p:cNvPr id="5" name="Footer Placeholder 4"/>
          <p:cNvSpPr>
            <a:spLocks noGrp="1"/>
          </p:cNvSpPr>
          <p:nvPr>
            <p:ph type="ftr" sz="quarter" idx="3"/>
          </p:nvPr>
        </p:nvSpPr>
        <p:spPr>
          <a:xfrm>
            <a:off x="3935006" y="6340166"/>
            <a:ext cx="4009251" cy="364195"/>
          </a:xfrm>
          <a:prstGeom prst="rect">
            <a:avLst/>
          </a:prstGeom>
        </p:spPr>
        <p:txBody>
          <a:bodyPr vert="horz" lIns="91440" tIns="45720" rIns="91440" bIns="45720" rtlCol="0" anchor="ctr"/>
          <a:lstStyle>
            <a:lvl1pPr algn="ctr">
              <a:defRPr sz="116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389730" y="6340166"/>
            <a:ext cx="2672834" cy="364195"/>
          </a:xfrm>
          <a:prstGeom prst="rect">
            <a:avLst/>
          </a:prstGeom>
        </p:spPr>
        <p:txBody>
          <a:bodyPr vert="horz" lIns="91440" tIns="45720" rIns="91440" bIns="45720" rtlCol="0" anchor="ctr"/>
          <a:lstStyle>
            <a:lvl1pPr algn="r">
              <a:defRPr sz="1169">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33041497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890900" rtl="0" eaLnBrk="1" latinLnBrk="0" hangingPunct="1">
        <a:lnSpc>
          <a:spcPct val="90000"/>
        </a:lnSpc>
        <a:spcBef>
          <a:spcPct val="0"/>
        </a:spcBef>
        <a:buNone/>
        <a:defRPr sz="4287" kern="1200">
          <a:solidFill>
            <a:schemeClr val="tx1"/>
          </a:solidFill>
          <a:latin typeface="+mj-lt"/>
          <a:ea typeface="+mj-ea"/>
          <a:cs typeface="+mj-cs"/>
        </a:defRPr>
      </a:lvl1pPr>
    </p:titleStyle>
    <p:bodyStyle>
      <a:lvl1pPr marL="222725" indent="-222725" algn="l" defTabSz="890900" rtl="0" eaLnBrk="1" latinLnBrk="0" hangingPunct="1">
        <a:lnSpc>
          <a:spcPct val="90000"/>
        </a:lnSpc>
        <a:spcBef>
          <a:spcPts val="974"/>
        </a:spcBef>
        <a:buFont typeface="Arial" panose="020B0604020202020204" pitchFamily="34" charset="0"/>
        <a:buChar char="•"/>
        <a:defRPr sz="2728" kern="1200">
          <a:solidFill>
            <a:schemeClr val="tx1"/>
          </a:solidFill>
          <a:latin typeface="+mn-lt"/>
          <a:ea typeface="+mn-ea"/>
          <a:cs typeface="+mn-cs"/>
        </a:defRPr>
      </a:lvl1pPr>
      <a:lvl2pPr marL="668175" indent="-222725" algn="l" defTabSz="890900" rtl="0" eaLnBrk="1" latinLnBrk="0" hangingPunct="1">
        <a:lnSpc>
          <a:spcPct val="90000"/>
        </a:lnSpc>
        <a:spcBef>
          <a:spcPts val="487"/>
        </a:spcBef>
        <a:buFont typeface="Arial" panose="020B0604020202020204" pitchFamily="34" charset="0"/>
        <a:buChar char="•"/>
        <a:defRPr sz="2338" kern="1200">
          <a:solidFill>
            <a:schemeClr val="tx1"/>
          </a:solidFill>
          <a:latin typeface="+mn-lt"/>
          <a:ea typeface="+mn-ea"/>
          <a:cs typeface="+mn-cs"/>
        </a:defRPr>
      </a:lvl2pPr>
      <a:lvl3pPr marL="1113625" indent="-222725" algn="l" defTabSz="890900" rtl="0" eaLnBrk="1" latinLnBrk="0" hangingPunct="1">
        <a:lnSpc>
          <a:spcPct val="90000"/>
        </a:lnSpc>
        <a:spcBef>
          <a:spcPts val="487"/>
        </a:spcBef>
        <a:buFont typeface="Arial" panose="020B0604020202020204" pitchFamily="34" charset="0"/>
        <a:buChar char="•"/>
        <a:defRPr sz="1949" kern="1200">
          <a:solidFill>
            <a:schemeClr val="tx1"/>
          </a:solidFill>
          <a:latin typeface="+mn-lt"/>
          <a:ea typeface="+mn-ea"/>
          <a:cs typeface="+mn-cs"/>
        </a:defRPr>
      </a:lvl3pPr>
      <a:lvl4pPr marL="15590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4pPr>
      <a:lvl5pPr marL="20045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5pPr>
      <a:lvl6pPr marL="24499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6pPr>
      <a:lvl7pPr marL="28954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7pPr>
      <a:lvl8pPr marL="33408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8pPr>
      <a:lvl9pPr marL="37863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9pPr>
    </p:bodyStyle>
    <p:otherStyle>
      <a:defPPr>
        <a:defRPr lang="en-US"/>
      </a:defPPr>
      <a:lvl1pPr marL="0" algn="l" defTabSz="890900" rtl="0" eaLnBrk="1" latinLnBrk="0" hangingPunct="1">
        <a:defRPr sz="1754" kern="1200">
          <a:solidFill>
            <a:schemeClr val="tx1"/>
          </a:solidFill>
          <a:latin typeface="+mn-lt"/>
          <a:ea typeface="+mn-ea"/>
          <a:cs typeface="+mn-cs"/>
        </a:defRPr>
      </a:lvl1pPr>
      <a:lvl2pPr marL="445450" algn="l" defTabSz="890900" rtl="0" eaLnBrk="1" latinLnBrk="0" hangingPunct="1">
        <a:defRPr sz="1754" kern="1200">
          <a:solidFill>
            <a:schemeClr val="tx1"/>
          </a:solidFill>
          <a:latin typeface="+mn-lt"/>
          <a:ea typeface="+mn-ea"/>
          <a:cs typeface="+mn-cs"/>
        </a:defRPr>
      </a:lvl2pPr>
      <a:lvl3pPr marL="890900" algn="l" defTabSz="890900" rtl="0" eaLnBrk="1" latinLnBrk="0" hangingPunct="1">
        <a:defRPr sz="1754" kern="1200">
          <a:solidFill>
            <a:schemeClr val="tx1"/>
          </a:solidFill>
          <a:latin typeface="+mn-lt"/>
          <a:ea typeface="+mn-ea"/>
          <a:cs typeface="+mn-cs"/>
        </a:defRPr>
      </a:lvl3pPr>
      <a:lvl4pPr marL="1336350" algn="l" defTabSz="890900" rtl="0" eaLnBrk="1" latinLnBrk="0" hangingPunct="1">
        <a:defRPr sz="1754" kern="1200">
          <a:solidFill>
            <a:schemeClr val="tx1"/>
          </a:solidFill>
          <a:latin typeface="+mn-lt"/>
          <a:ea typeface="+mn-ea"/>
          <a:cs typeface="+mn-cs"/>
        </a:defRPr>
      </a:lvl4pPr>
      <a:lvl5pPr marL="1781800" algn="l" defTabSz="890900" rtl="0" eaLnBrk="1" latinLnBrk="0" hangingPunct="1">
        <a:defRPr sz="1754" kern="1200">
          <a:solidFill>
            <a:schemeClr val="tx1"/>
          </a:solidFill>
          <a:latin typeface="+mn-lt"/>
          <a:ea typeface="+mn-ea"/>
          <a:cs typeface="+mn-cs"/>
        </a:defRPr>
      </a:lvl5pPr>
      <a:lvl6pPr marL="2227250" algn="l" defTabSz="890900" rtl="0" eaLnBrk="1" latinLnBrk="0" hangingPunct="1">
        <a:defRPr sz="1754" kern="1200">
          <a:solidFill>
            <a:schemeClr val="tx1"/>
          </a:solidFill>
          <a:latin typeface="+mn-lt"/>
          <a:ea typeface="+mn-ea"/>
          <a:cs typeface="+mn-cs"/>
        </a:defRPr>
      </a:lvl6pPr>
      <a:lvl7pPr marL="2672700" algn="l" defTabSz="890900" rtl="0" eaLnBrk="1" latinLnBrk="0" hangingPunct="1">
        <a:defRPr sz="1754" kern="1200">
          <a:solidFill>
            <a:schemeClr val="tx1"/>
          </a:solidFill>
          <a:latin typeface="+mn-lt"/>
          <a:ea typeface="+mn-ea"/>
          <a:cs typeface="+mn-cs"/>
        </a:defRPr>
      </a:lvl7pPr>
      <a:lvl8pPr marL="3118150" algn="l" defTabSz="890900" rtl="0" eaLnBrk="1" latinLnBrk="0" hangingPunct="1">
        <a:defRPr sz="1754" kern="1200">
          <a:solidFill>
            <a:schemeClr val="tx1"/>
          </a:solidFill>
          <a:latin typeface="+mn-lt"/>
          <a:ea typeface="+mn-ea"/>
          <a:cs typeface="+mn-cs"/>
        </a:defRPr>
      </a:lvl8pPr>
      <a:lvl9pPr marL="3563600" algn="l" defTabSz="890900" rtl="0" eaLnBrk="1" latinLnBrk="0" hangingPunct="1">
        <a:defRPr sz="175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3.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8.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3.xml"/><Relationship Id="rId16"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34.png"/><Relationship Id="rId5" Type="http://schemas.openxmlformats.org/officeDocument/2006/relationships/image" Target="../media/image29.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32.png"/><Relationship Id="rId14" Type="http://schemas.openxmlformats.org/officeDocument/2006/relationships/image" Target="../media/image37.png"/></Relationships>
</file>

<file path=ppt/slides/_rels/slide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3.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54.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49.png"/><Relationship Id="rId5" Type="http://schemas.openxmlformats.org/officeDocument/2006/relationships/image" Target="../media/image44.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2.png"/><Relationship Id="rId9" Type="http://schemas.openxmlformats.org/officeDocument/2006/relationships/image" Target="../media/image47.png"/><Relationship Id="rId14"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18.png"/><Relationship Id="rId3" Type="http://schemas.openxmlformats.org/officeDocument/2006/relationships/image" Target="../media/image55.png"/><Relationship Id="rId7" Type="http://schemas.openxmlformats.org/officeDocument/2006/relationships/image" Target="../media/image13.png"/><Relationship Id="rId12" Type="http://schemas.openxmlformats.org/officeDocument/2006/relationships/image" Target="../media/image59.png"/><Relationship Id="rId1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62.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56.png"/><Relationship Id="rId15" Type="http://schemas.openxmlformats.org/officeDocument/2006/relationships/image" Target="../media/image61.png"/><Relationship Id="rId10" Type="http://schemas.openxmlformats.org/officeDocument/2006/relationships/image" Target="../media/image58.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image" Target="../media/image60.png"/></Relationships>
</file>

<file path=ppt/slides/_rels/slide6.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 Type="http://schemas.openxmlformats.org/officeDocument/2006/relationships/image" Target="../media/image1.png"/><Relationship Id="rId21" Type="http://schemas.openxmlformats.org/officeDocument/2006/relationships/image" Target="../media/image77.png"/><Relationship Id="rId7" Type="http://schemas.openxmlformats.org/officeDocument/2006/relationships/image" Target="../media/image64.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2" Type="http://schemas.openxmlformats.org/officeDocument/2006/relationships/notesSlide" Target="../notesSlides/notesSlide6.xml"/><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67.png"/><Relationship Id="rId24" Type="http://schemas.openxmlformats.org/officeDocument/2006/relationships/image" Target="../media/image80.png"/><Relationship Id="rId5" Type="http://schemas.openxmlformats.org/officeDocument/2006/relationships/image" Target="../media/image3.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10" Type="http://schemas.openxmlformats.org/officeDocument/2006/relationships/image" Target="../media/image66.png"/><Relationship Id="rId19" Type="http://schemas.openxmlformats.org/officeDocument/2006/relationships/image" Target="../media/image75.png"/><Relationship Id="rId31" Type="http://schemas.openxmlformats.org/officeDocument/2006/relationships/image" Target="../media/image87.png"/><Relationship Id="rId4" Type="http://schemas.openxmlformats.org/officeDocument/2006/relationships/image" Target="../media/image2.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s>
</file>

<file path=ppt/slides/_rels/slide7.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18" Type="http://schemas.openxmlformats.org/officeDocument/2006/relationships/image" Target="../media/image99.png"/><Relationship Id="rId3" Type="http://schemas.openxmlformats.org/officeDocument/2006/relationships/image" Target="../media/image1.png"/><Relationship Id="rId7" Type="http://schemas.openxmlformats.org/officeDocument/2006/relationships/image" Target="../media/image88.png"/><Relationship Id="rId12" Type="http://schemas.openxmlformats.org/officeDocument/2006/relationships/image" Target="../media/image93.png"/><Relationship Id="rId17" Type="http://schemas.openxmlformats.org/officeDocument/2006/relationships/image" Target="../media/image98.png"/><Relationship Id="rId2" Type="http://schemas.openxmlformats.org/officeDocument/2006/relationships/notesSlide" Target="../notesSlides/notesSlide7.xml"/><Relationship Id="rId16" Type="http://schemas.openxmlformats.org/officeDocument/2006/relationships/image" Target="../media/image97.png"/><Relationship Id="rId20" Type="http://schemas.openxmlformats.org/officeDocument/2006/relationships/image" Target="../media/image101.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92.png"/><Relationship Id="rId5" Type="http://schemas.openxmlformats.org/officeDocument/2006/relationships/image" Target="../media/image3.png"/><Relationship Id="rId15" Type="http://schemas.openxmlformats.org/officeDocument/2006/relationships/image" Target="../media/image96.png"/><Relationship Id="rId10" Type="http://schemas.openxmlformats.org/officeDocument/2006/relationships/image" Target="../media/image91.png"/><Relationship Id="rId19" Type="http://schemas.openxmlformats.org/officeDocument/2006/relationships/image" Target="../media/image100.png"/><Relationship Id="rId4" Type="http://schemas.openxmlformats.org/officeDocument/2006/relationships/image" Target="../media/image2.png"/><Relationship Id="rId9" Type="http://schemas.openxmlformats.org/officeDocument/2006/relationships/image" Target="../media/image90.png"/><Relationship Id="rId14" Type="http://schemas.openxmlformats.org/officeDocument/2006/relationships/image" Target="../media/image95.png"/></Relationships>
</file>

<file path=ppt/slides/_rels/slide8.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09.png"/><Relationship Id="rId18" Type="http://schemas.openxmlformats.org/officeDocument/2006/relationships/image" Target="../media/image114.png"/><Relationship Id="rId3" Type="http://schemas.openxmlformats.org/officeDocument/2006/relationships/image" Target="../media/image102.png"/><Relationship Id="rId21" Type="http://schemas.openxmlformats.org/officeDocument/2006/relationships/image" Target="../media/image117.png"/><Relationship Id="rId7" Type="http://schemas.openxmlformats.org/officeDocument/2006/relationships/image" Target="../media/image104.png"/><Relationship Id="rId12" Type="http://schemas.openxmlformats.org/officeDocument/2006/relationships/image" Target="../media/image108.png"/><Relationship Id="rId17" Type="http://schemas.openxmlformats.org/officeDocument/2006/relationships/image" Target="../media/image113.png"/><Relationship Id="rId2" Type="http://schemas.openxmlformats.org/officeDocument/2006/relationships/notesSlide" Target="../notesSlides/notesSlide8.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07.png"/><Relationship Id="rId5" Type="http://schemas.openxmlformats.org/officeDocument/2006/relationships/image" Target="../media/image103.png"/><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5.png"/><Relationship Id="rId4" Type="http://schemas.openxmlformats.org/officeDocument/2006/relationships/image" Target="../media/image2.png"/><Relationship Id="rId9" Type="http://schemas.openxmlformats.org/officeDocument/2006/relationships/image" Target="../media/image68.png"/><Relationship Id="rId14" Type="http://schemas.openxmlformats.org/officeDocument/2006/relationships/image" Target="../media/image110.png"/><Relationship Id="rId22" Type="http://schemas.openxmlformats.org/officeDocument/2006/relationships/image" Target="../media/image118.png"/></Relationships>
</file>

<file path=ppt/slides/_rels/slide9.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18" Type="http://schemas.openxmlformats.org/officeDocument/2006/relationships/image" Target="../media/image132.png"/><Relationship Id="rId3" Type="http://schemas.openxmlformats.org/officeDocument/2006/relationships/image" Target="../media/image119.png"/><Relationship Id="rId21" Type="http://schemas.openxmlformats.org/officeDocument/2006/relationships/image" Target="../media/image134.png"/><Relationship Id="rId7" Type="http://schemas.openxmlformats.org/officeDocument/2006/relationships/image" Target="../media/image121.png"/><Relationship Id="rId12" Type="http://schemas.openxmlformats.org/officeDocument/2006/relationships/image" Target="../media/image126.png"/><Relationship Id="rId17" Type="http://schemas.openxmlformats.org/officeDocument/2006/relationships/image" Target="../media/image131.png"/><Relationship Id="rId2" Type="http://schemas.openxmlformats.org/officeDocument/2006/relationships/notesSlide" Target="../notesSlides/notesSlide9.xml"/><Relationship Id="rId16" Type="http://schemas.openxmlformats.org/officeDocument/2006/relationships/image" Target="../media/image130.png"/><Relationship Id="rId20" Type="http://schemas.openxmlformats.org/officeDocument/2006/relationships/image" Target="../media/image34.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25.png"/><Relationship Id="rId24" Type="http://schemas.openxmlformats.org/officeDocument/2006/relationships/image" Target="../media/image42.png"/><Relationship Id="rId5" Type="http://schemas.openxmlformats.org/officeDocument/2006/relationships/image" Target="../media/image120.png"/><Relationship Id="rId15" Type="http://schemas.openxmlformats.org/officeDocument/2006/relationships/image" Target="../media/image129.png"/><Relationship Id="rId23" Type="http://schemas.openxmlformats.org/officeDocument/2006/relationships/image" Target="../media/image135.png"/><Relationship Id="rId10" Type="http://schemas.openxmlformats.org/officeDocument/2006/relationships/image" Target="../media/image124.png"/><Relationship Id="rId19" Type="http://schemas.openxmlformats.org/officeDocument/2006/relationships/image" Target="../media/image133.png"/><Relationship Id="rId4" Type="http://schemas.openxmlformats.org/officeDocument/2006/relationships/image" Target="../media/image2.png"/><Relationship Id="rId9" Type="http://schemas.openxmlformats.org/officeDocument/2006/relationships/image" Target="../media/image123.png"/><Relationship Id="rId14" Type="http://schemas.openxmlformats.org/officeDocument/2006/relationships/image" Target="../media/image128.png"/><Relationship Id="rId22"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18" Type="http://schemas.openxmlformats.org/officeDocument/2006/relationships/image" Target="../media/image149.png"/><Relationship Id="rId26" Type="http://schemas.openxmlformats.org/officeDocument/2006/relationships/image" Target="../media/image157.png"/><Relationship Id="rId3" Type="http://schemas.openxmlformats.org/officeDocument/2006/relationships/image" Target="../media/image136.png"/><Relationship Id="rId21" Type="http://schemas.openxmlformats.org/officeDocument/2006/relationships/image" Target="../media/image152.png"/><Relationship Id="rId7" Type="http://schemas.openxmlformats.org/officeDocument/2006/relationships/image" Target="../media/image138.png"/><Relationship Id="rId12" Type="http://schemas.openxmlformats.org/officeDocument/2006/relationships/image" Target="../media/image143.png"/><Relationship Id="rId17" Type="http://schemas.openxmlformats.org/officeDocument/2006/relationships/image" Target="../media/image148.png"/><Relationship Id="rId25" Type="http://schemas.openxmlformats.org/officeDocument/2006/relationships/image" Target="../media/image156.png"/><Relationship Id="rId2" Type="http://schemas.openxmlformats.org/officeDocument/2006/relationships/notesSlide" Target="../notesSlides/notesSlide10.xml"/><Relationship Id="rId16" Type="http://schemas.openxmlformats.org/officeDocument/2006/relationships/image" Target="../media/image147.png"/><Relationship Id="rId20" Type="http://schemas.openxmlformats.org/officeDocument/2006/relationships/image" Target="../media/image151.png"/><Relationship Id="rId29" Type="http://schemas.openxmlformats.org/officeDocument/2006/relationships/image" Target="../media/image160.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42.png"/><Relationship Id="rId24" Type="http://schemas.openxmlformats.org/officeDocument/2006/relationships/image" Target="../media/image155.png"/><Relationship Id="rId5" Type="http://schemas.openxmlformats.org/officeDocument/2006/relationships/image" Target="../media/image137.png"/><Relationship Id="rId15" Type="http://schemas.openxmlformats.org/officeDocument/2006/relationships/image" Target="../media/image146.png"/><Relationship Id="rId23" Type="http://schemas.openxmlformats.org/officeDocument/2006/relationships/image" Target="../media/image154.png"/><Relationship Id="rId28" Type="http://schemas.openxmlformats.org/officeDocument/2006/relationships/image" Target="../media/image159.png"/><Relationship Id="rId10" Type="http://schemas.openxmlformats.org/officeDocument/2006/relationships/image" Target="../media/image141.png"/><Relationship Id="rId19" Type="http://schemas.openxmlformats.org/officeDocument/2006/relationships/image" Target="../media/image150.png"/><Relationship Id="rId4" Type="http://schemas.openxmlformats.org/officeDocument/2006/relationships/image" Target="../media/image2.png"/><Relationship Id="rId9" Type="http://schemas.openxmlformats.org/officeDocument/2006/relationships/image" Target="../media/image140.png"/><Relationship Id="rId14" Type="http://schemas.openxmlformats.org/officeDocument/2006/relationships/image" Target="../media/image145.png"/><Relationship Id="rId22" Type="http://schemas.openxmlformats.org/officeDocument/2006/relationships/image" Target="../media/image153.png"/><Relationship Id="rId27" Type="http://schemas.openxmlformats.org/officeDocument/2006/relationships/image" Target="../media/image158.png"/></Relationships>
</file>

<file path=ppt/slides/_rels/slide11.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18" Type="http://schemas.openxmlformats.org/officeDocument/2006/relationships/image" Target="../media/image174.png"/><Relationship Id="rId3" Type="http://schemas.openxmlformats.org/officeDocument/2006/relationships/image" Target="../media/image161.png"/><Relationship Id="rId21" Type="http://schemas.openxmlformats.org/officeDocument/2006/relationships/image" Target="../media/image177.png"/><Relationship Id="rId7" Type="http://schemas.openxmlformats.org/officeDocument/2006/relationships/image" Target="../media/image163.png"/><Relationship Id="rId12" Type="http://schemas.openxmlformats.org/officeDocument/2006/relationships/image" Target="../media/image168.png"/><Relationship Id="rId17" Type="http://schemas.openxmlformats.org/officeDocument/2006/relationships/image" Target="../media/image173.png"/><Relationship Id="rId2" Type="http://schemas.openxmlformats.org/officeDocument/2006/relationships/notesSlide" Target="../notesSlides/notesSlide11.xml"/><Relationship Id="rId16" Type="http://schemas.openxmlformats.org/officeDocument/2006/relationships/image" Target="../media/image172.png"/><Relationship Id="rId20" Type="http://schemas.openxmlformats.org/officeDocument/2006/relationships/image" Target="../media/image176.png"/><Relationship Id="rId1" Type="http://schemas.openxmlformats.org/officeDocument/2006/relationships/slideLayout" Target="../slideLayouts/slideLayout12.xml"/><Relationship Id="rId6" Type="http://schemas.openxmlformats.org/officeDocument/2006/relationships/image" Target="../media/image12.png"/><Relationship Id="rId11" Type="http://schemas.openxmlformats.org/officeDocument/2006/relationships/image" Target="../media/image167.png"/><Relationship Id="rId5" Type="http://schemas.openxmlformats.org/officeDocument/2006/relationships/image" Target="../media/image162.png"/><Relationship Id="rId15" Type="http://schemas.openxmlformats.org/officeDocument/2006/relationships/image" Target="../media/image171.png"/><Relationship Id="rId23" Type="http://schemas.openxmlformats.org/officeDocument/2006/relationships/image" Target="../media/image179.png"/><Relationship Id="rId10" Type="http://schemas.openxmlformats.org/officeDocument/2006/relationships/image" Target="../media/image166.png"/><Relationship Id="rId19" Type="http://schemas.openxmlformats.org/officeDocument/2006/relationships/image" Target="../media/image175.png"/><Relationship Id="rId4" Type="http://schemas.openxmlformats.org/officeDocument/2006/relationships/image" Target="../media/image2.png"/><Relationship Id="rId9" Type="http://schemas.openxmlformats.org/officeDocument/2006/relationships/image" Target="../media/image165.png"/><Relationship Id="rId14" Type="http://schemas.openxmlformats.org/officeDocument/2006/relationships/image" Target="../media/image170.png"/><Relationship Id="rId22" Type="http://schemas.openxmlformats.org/officeDocument/2006/relationships/image" Target="../media/image178.png"/></Relationships>
</file>

<file path=ppt/slides/_rels/slide12.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18" Type="http://schemas.openxmlformats.org/officeDocument/2006/relationships/image" Target="../media/image194.png"/><Relationship Id="rId3" Type="http://schemas.openxmlformats.org/officeDocument/2006/relationships/image" Target="../media/image1.png"/><Relationship Id="rId21" Type="http://schemas.openxmlformats.org/officeDocument/2006/relationships/image" Target="../media/image197.png"/><Relationship Id="rId7" Type="http://schemas.openxmlformats.org/officeDocument/2006/relationships/image" Target="../media/image183.png"/><Relationship Id="rId12" Type="http://schemas.openxmlformats.org/officeDocument/2006/relationships/image" Target="../media/image188.png"/><Relationship Id="rId17" Type="http://schemas.openxmlformats.org/officeDocument/2006/relationships/image" Target="../media/image193.png"/><Relationship Id="rId2" Type="http://schemas.openxmlformats.org/officeDocument/2006/relationships/notesSlide" Target="../notesSlides/notesSlide12.xml"/><Relationship Id="rId16" Type="http://schemas.openxmlformats.org/officeDocument/2006/relationships/image" Target="../media/image192.png"/><Relationship Id="rId20" Type="http://schemas.openxmlformats.org/officeDocument/2006/relationships/image" Target="../media/image196.png"/><Relationship Id="rId1" Type="http://schemas.openxmlformats.org/officeDocument/2006/relationships/slideLayout" Target="../slideLayouts/slideLayout1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19" Type="http://schemas.openxmlformats.org/officeDocument/2006/relationships/image" Target="../media/image195.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3.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3" Type="http://schemas.openxmlformats.org/officeDocument/2006/relationships/image" Target="../media/image1.png"/><Relationship Id="rId7" Type="http://schemas.openxmlformats.org/officeDocument/2006/relationships/image" Target="../media/image199.png"/><Relationship Id="rId12" Type="http://schemas.openxmlformats.org/officeDocument/2006/relationships/image" Target="../media/image204.png"/><Relationship Id="rId2" Type="http://schemas.openxmlformats.org/officeDocument/2006/relationships/notesSlide" Target="../notesSlides/notesSlide13.xml"/><Relationship Id="rId16" Type="http://schemas.openxmlformats.org/officeDocument/2006/relationships/image" Target="../media/image208.png"/><Relationship Id="rId1" Type="http://schemas.openxmlformats.org/officeDocument/2006/relationships/slideLayout" Target="../slideLayouts/slideLayout12.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81.png"/><Relationship Id="rId15" Type="http://schemas.openxmlformats.org/officeDocument/2006/relationships/image" Target="../media/image207.png"/><Relationship Id="rId10" Type="http://schemas.openxmlformats.org/officeDocument/2006/relationships/image" Target="../media/image202.png"/><Relationship Id="rId4" Type="http://schemas.openxmlformats.org/officeDocument/2006/relationships/image" Target="../media/image180.png"/><Relationship Id="rId9" Type="http://schemas.openxmlformats.org/officeDocument/2006/relationships/image" Target="../media/image201.png"/><Relationship Id="rId14" Type="http://schemas.openxmlformats.org/officeDocument/2006/relationships/image" Target="../media/image206.png"/></Relationships>
</file>

<file path=ppt/slides/_rels/slide14.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80.png"/><Relationship Id="rId7" Type="http://schemas.openxmlformats.org/officeDocument/2006/relationships/image" Target="../media/image190.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86.png"/><Relationship Id="rId5" Type="http://schemas.openxmlformats.org/officeDocument/2006/relationships/image" Target="../media/image182.png"/><Relationship Id="rId4" Type="http://schemas.openxmlformats.org/officeDocument/2006/relationships/image" Target="../media/image181.png"/></Relationships>
</file>

<file path=ppt/slides/_rels/slide15.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215.png"/><Relationship Id="rId3" Type="http://schemas.openxmlformats.org/officeDocument/2006/relationships/image" Target="../media/image1.png"/><Relationship Id="rId7" Type="http://schemas.openxmlformats.org/officeDocument/2006/relationships/image" Target="../media/image210.png"/><Relationship Id="rId12" Type="http://schemas.openxmlformats.org/officeDocument/2006/relationships/image" Target="../media/image214.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09.png"/><Relationship Id="rId11" Type="http://schemas.openxmlformats.org/officeDocument/2006/relationships/image" Target="../media/image191.png"/><Relationship Id="rId5" Type="http://schemas.openxmlformats.org/officeDocument/2006/relationships/image" Target="../media/image181.png"/><Relationship Id="rId15" Type="http://schemas.openxmlformats.org/officeDocument/2006/relationships/image" Target="../media/image217.png"/><Relationship Id="rId10" Type="http://schemas.openxmlformats.org/officeDocument/2006/relationships/image" Target="../media/image213.png"/><Relationship Id="rId4" Type="http://schemas.openxmlformats.org/officeDocument/2006/relationships/image" Target="../media/image180.png"/><Relationship Id="rId9" Type="http://schemas.openxmlformats.org/officeDocument/2006/relationships/image" Target="../media/image212.png"/><Relationship Id="rId14" Type="http://schemas.openxmlformats.org/officeDocument/2006/relationships/image" Target="../media/image216.png"/></Relationships>
</file>

<file path=ppt/slides/_rels/slide16.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180.png"/><Relationship Id="rId7" Type="http://schemas.openxmlformats.org/officeDocument/2006/relationships/image" Target="../media/image220.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19.png"/><Relationship Id="rId5" Type="http://schemas.openxmlformats.org/officeDocument/2006/relationships/image" Target="../media/image218.png"/><Relationship Id="rId4" Type="http://schemas.openxmlformats.org/officeDocument/2006/relationships/image" Target="../media/image181.png"/></Relationships>
</file>

<file path=ppt/slides/_rels/slide17.xml.rels><?xml version="1.0" encoding="UTF-8" standalone="yes"?>
<Relationships xmlns="http://schemas.openxmlformats.org/package/2006/relationships"><Relationship Id="rId8" Type="http://schemas.openxmlformats.org/officeDocument/2006/relationships/image" Target="../media/image224.png"/><Relationship Id="rId3" Type="http://schemas.openxmlformats.org/officeDocument/2006/relationships/image" Target="../media/image1.png"/><Relationship Id="rId7" Type="http://schemas.openxmlformats.org/officeDocument/2006/relationships/image" Target="../media/image191.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23.png"/><Relationship Id="rId5" Type="http://schemas.openxmlformats.org/officeDocument/2006/relationships/image" Target="../media/image222.png"/><Relationship Id="rId4" Type="http://schemas.openxmlformats.org/officeDocument/2006/relationships/image" Target="../media/image180.png"/><Relationship Id="rId9" Type="http://schemas.openxmlformats.org/officeDocument/2006/relationships/image" Target="../media/image225.png"/></Relationships>
</file>

<file path=ppt/slides/_rels/slide18.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236.png"/><Relationship Id="rId18" Type="http://schemas.openxmlformats.org/officeDocument/2006/relationships/image" Target="../media/image241.png"/><Relationship Id="rId3" Type="http://schemas.openxmlformats.org/officeDocument/2006/relationships/image" Target="../media/image226.png"/><Relationship Id="rId21" Type="http://schemas.openxmlformats.org/officeDocument/2006/relationships/image" Target="../media/image244.png"/><Relationship Id="rId7" Type="http://schemas.openxmlformats.org/officeDocument/2006/relationships/image" Target="../media/image230.png"/><Relationship Id="rId12" Type="http://schemas.openxmlformats.org/officeDocument/2006/relationships/image" Target="../media/image235.png"/><Relationship Id="rId17" Type="http://schemas.openxmlformats.org/officeDocument/2006/relationships/image" Target="../media/image240.png"/><Relationship Id="rId2" Type="http://schemas.openxmlformats.org/officeDocument/2006/relationships/notesSlide" Target="../notesSlides/notesSlide18.xml"/><Relationship Id="rId16" Type="http://schemas.openxmlformats.org/officeDocument/2006/relationships/image" Target="../media/image239.png"/><Relationship Id="rId20" Type="http://schemas.openxmlformats.org/officeDocument/2006/relationships/image" Target="../media/image243.png"/><Relationship Id="rId1" Type="http://schemas.openxmlformats.org/officeDocument/2006/relationships/slideLayout" Target="../slideLayouts/slideLayout12.xml"/><Relationship Id="rId6" Type="http://schemas.openxmlformats.org/officeDocument/2006/relationships/image" Target="../media/image229.png"/><Relationship Id="rId11" Type="http://schemas.openxmlformats.org/officeDocument/2006/relationships/image" Target="../media/image234.png"/><Relationship Id="rId5" Type="http://schemas.openxmlformats.org/officeDocument/2006/relationships/image" Target="../media/image228.png"/><Relationship Id="rId15" Type="http://schemas.openxmlformats.org/officeDocument/2006/relationships/image" Target="../media/image238.png"/><Relationship Id="rId10" Type="http://schemas.openxmlformats.org/officeDocument/2006/relationships/image" Target="../media/image233.png"/><Relationship Id="rId19" Type="http://schemas.openxmlformats.org/officeDocument/2006/relationships/image" Target="../media/image242.png"/><Relationship Id="rId4" Type="http://schemas.openxmlformats.org/officeDocument/2006/relationships/image" Target="../media/image227.png"/><Relationship Id="rId9" Type="http://schemas.openxmlformats.org/officeDocument/2006/relationships/image" Target="../media/image232.png"/><Relationship Id="rId14" Type="http://schemas.openxmlformats.org/officeDocument/2006/relationships/image" Target="../media/image23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197533"/>
            <a:ext cx="3563779" cy="3563779"/>
          </a:xfrm>
          <a:prstGeom prst="rect">
            <a:avLst/>
          </a:prstGeom>
        </p:spPr>
      </p:pic>
      <p:pic>
        <p:nvPicPr>
          <p:cNvPr id="5" name="Image 3" descr="preencoded.png"/>
          <p:cNvPicPr>
            <a:picLocks noChangeAspect="1"/>
          </p:cNvPicPr>
          <p:nvPr/>
        </p:nvPicPr>
        <p:blipFill>
          <a:blip r:embed="rId6"/>
          <a:stretch>
            <a:fillRect/>
          </a:stretch>
        </p:blipFill>
        <p:spPr>
          <a:xfrm>
            <a:off x="-1" y="5369211"/>
            <a:ext cx="11879263" cy="1392101"/>
          </a:xfrm>
          <a:prstGeom prst="rect">
            <a:avLst/>
          </a:prstGeom>
        </p:spPr>
      </p:pic>
      <p:pic>
        <p:nvPicPr>
          <p:cNvPr id="6" name="Image 4" descr="preencoded.png"/>
          <p:cNvPicPr>
            <a:picLocks noChangeAspect="1"/>
          </p:cNvPicPr>
          <p:nvPr/>
        </p:nvPicPr>
        <p:blipFill>
          <a:blip r:embed="rId7"/>
          <a:stretch>
            <a:fillRect/>
          </a:stretch>
        </p:blipFill>
        <p:spPr>
          <a:xfrm>
            <a:off x="4672094" y="1629099"/>
            <a:ext cx="556840" cy="556840"/>
          </a:xfrm>
          <a:prstGeom prst="rect">
            <a:avLst/>
          </a:prstGeom>
        </p:spPr>
      </p:pic>
      <p:pic>
        <p:nvPicPr>
          <p:cNvPr id="7" name="Image 5" descr="preencoded.png"/>
          <p:cNvPicPr>
            <a:picLocks noChangeAspect="1"/>
          </p:cNvPicPr>
          <p:nvPr/>
        </p:nvPicPr>
        <p:blipFill>
          <a:blip r:embed="rId8"/>
          <a:stretch>
            <a:fillRect/>
          </a:stretch>
        </p:blipFill>
        <p:spPr>
          <a:xfrm>
            <a:off x="5554484" y="1629099"/>
            <a:ext cx="696051" cy="556840"/>
          </a:xfrm>
          <a:prstGeom prst="rect">
            <a:avLst/>
          </a:prstGeom>
        </p:spPr>
      </p:pic>
      <p:pic>
        <p:nvPicPr>
          <p:cNvPr id="8" name="Image 6" descr="preencoded.png"/>
          <p:cNvPicPr>
            <a:picLocks noChangeAspect="1"/>
          </p:cNvPicPr>
          <p:nvPr/>
        </p:nvPicPr>
        <p:blipFill>
          <a:blip r:embed="rId9"/>
          <a:stretch>
            <a:fillRect/>
          </a:stretch>
        </p:blipFill>
        <p:spPr>
          <a:xfrm>
            <a:off x="6576082" y="1629099"/>
            <a:ext cx="631086" cy="556840"/>
          </a:xfrm>
          <a:prstGeom prst="rect">
            <a:avLst/>
          </a:prstGeom>
        </p:spPr>
      </p:pic>
      <p:pic>
        <p:nvPicPr>
          <p:cNvPr id="9" name="Image 7" descr="preencoded.png"/>
          <p:cNvPicPr>
            <a:picLocks noChangeAspect="1"/>
          </p:cNvPicPr>
          <p:nvPr/>
        </p:nvPicPr>
        <p:blipFill>
          <a:blip r:embed="rId10"/>
          <a:stretch>
            <a:fillRect/>
          </a:stretch>
        </p:blipFill>
        <p:spPr>
          <a:xfrm>
            <a:off x="2375852" y="3875022"/>
            <a:ext cx="7127558" cy="890945"/>
          </a:xfrm>
          <a:prstGeom prst="rect">
            <a:avLst/>
          </a:prstGeom>
        </p:spPr>
      </p:pic>
      <p:pic>
        <p:nvPicPr>
          <p:cNvPr id="10" name="Image 8" descr="preencoded.png"/>
          <p:cNvPicPr>
            <a:picLocks noChangeAspect="1"/>
          </p:cNvPicPr>
          <p:nvPr/>
        </p:nvPicPr>
        <p:blipFill>
          <a:blip r:embed="rId11"/>
          <a:stretch>
            <a:fillRect/>
          </a:stretch>
        </p:blipFill>
        <p:spPr>
          <a:xfrm>
            <a:off x="296981" y="376208"/>
            <a:ext cx="111368" cy="111368"/>
          </a:xfrm>
          <a:prstGeom prst="rect">
            <a:avLst/>
          </a:prstGeom>
        </p:spPr>
      </p:pic>
      <p:pic>
        <p:nvPicPr>
          <p:cNvPr id="11" name="Image 9" descr="preencoded.png"/>
          <p:cNvPicPr>
            <a:picLocks noChangeAspect="1"/>
          </p:cNvPicPr>
          <p:nvPr/>
        </p:nvPicPr>
        <p:blipFill>
          <a:blip r:embed="rId12"/>
          <a:stretch>
            <a:fillRect/>
          </a:stretch>
        </p:blipFill>
        <p:spPr>
          <a:xfrm>
            <a:off x="482595" y="376208"/>
            <a:ext cx="111368" cy="111368"/>
          </a:xfrm>
          <a:prstGeom prst="rect">
            <a:avLst/>
          </a:prstGeom>
        </p:spPr>
      </p:pic>
      <p:pic>
        <p:nvPicPr>
          <p:cNvPr id="12" name="Image 10" descr="preencoded.png"/>
          <p:cNvPicPr>
            <a:picLocks noChangeAspect="1"/>
          </p:cNvPicPr>
          <p:nvPr/>
        </p:nvPicPr>
        <p:blipFill>
          <a:blip r:embed="rId13"/>
          <a:stretch>
            <a:fillRect/>
          </a:stretch>
        </p:blipFill>
        <p:spPr>
          <a:xfrm>
            <a:off x="668208" y="376208"/>
            <a:ext cx="111368" cy="111368"/>
          </a:xfrm>
          <a:prstGeom prst="rect">
            <a:avLst/>
          </a:prstGeom>
        </p:spPr>
      </p:pic>
      <p:sp>
        <p:nvSpPr>
          <p:cNvPr id="13" name="Text 0"/>
          <p:cNvSpPr/>
          <p:nvPr/>
        </p:nvSpPr>
        <p:spPr>
          <a:xfrm>
            <a:off x="-197606" y="2501482"/>
            <a:ext cx="12274329" cy="445472"/>
          </a:xfrm>
          <a:prstGeom prst="rect">
            <a:avLst/>
          </a:prstGeom>
          <a:noFill/>
          <a:ln/>
        </p:spPr>
        <p:txBody>
          <a:bodyPr vert="horz" wrap="square" lIns="0" tIns="0" rIns="0" bIns="0" rtlCol="0" anchor="t"/>
          <a:lstStyle/>
          <a:p>
            <a:pPr algn="ctr">
              <a:lnSpc>
                <a:spcPts val="3507"/>
              </a:lnSpc>
            </a:pPr>
            <a:r>
              <a:rPr lang="en-US" sz="3507" b="1" dirty="0">
                <a:solidFill>
                  <a:srgbClr val="1F2937"/>
                </a:solidFill>
                <a:latin typeface="ui-sans-serif" pitchFamily="34" charset="0"/>
                <a:ea typeface="ui-sans-serif" pitchFamily="34" charset="-122"/>
                <a:cs typeface="ui-sans-serif" pitchFamily="34" charset="-120"/>
              </a:rPr>
              <a:t>An Introduction to AWS CloudWatch</a:t>
            </a:r>
            <a:endParaRPr lang="en-US" sz="3507" dirty="0"/>
          </a:p>
        </p:txBody>
      </p:sp>
      <p:sp>
        <p:nvSpPr>
          <p:cNvPr id="14" name="Text 1"/>
          <p:cNvSpPr/>
          <p:nvPr/>
        </p:nvSpPr>
        <p:spPr>
          <a:xfrm>
            <a:off x="3286113" y="3095446"/>
            <a:ext cx="5307037" cy="334104"/>
          </a:xfrm>
          <a:prstGeom prst="rect">
            <a:avLst/>
          </a:prstGeom>
          <a:noFill/>
          <a:ln/>
        </p:spPr>
        <p:txBody>
          <a:bodyPr vert="horz" wrap="square" lIns="0" tIns="0" rIns="0" bIns="0" rtlCol="0" anchor="t"/>
          <a:lstStyle/>
          <a:p>
            <a:pPr algn="ctr">
              <a:lnSpc>
                <a:spcPts val="2631"/>
              </a:lnSpc>
            </a:pPr>
            <a:r>
              <a:rPr lang="en-US" sz="2192" b="1" dirty="0">
                <a:solidFill>
                  <a:srgbClr val="F97316"/>
                </a:solidFill>
                <a:latin typeface="ui-sans-serif" pitchFamily="34" charset="0"/>
                <a:ea typeface="ui-sans-serif" pitchFamily="34" charset="-122"/>
                <a:cs typeface="ui-sans-serif" pitchFamily="34" charset="-120"/>
              </a:rPr>
              <a:t>Your Eyes on the AWS Cloud</a:t>
            </a:r>
            <a:endParaRPr lang="en-US" sz="219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197533"/>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80"/>
            <a:ext cx="8315484" cy="1225049"/>
          </a:xfrm>
          <a:prstGeom prst="rect">
            <a:avLst/>
          </a:prstGeom>
        </p:spPr>
      </p:pic>
      <p:pic>
        <p:nvPicPr>
          <p:cNvPr id="7" name="Image 5" descr="preencoded.png"/>
          <p:cNvPicPr>
            <a:picLocks noChangeAspect="1"/>
          </p:cNvPicPr>
          <p:nvPr/>
        </p:nvPicPr>
        <p:blipFill>
          <a:blip r:embed="rId8"/>
          <a:stretch>
            <a:fillRect/>
          </a:stretch>
        </p:blipFill>
        <p:spPr>
          <a:xfrm>
            <a:off x="593963" y="3086165"/>
            <a:ext cx="2623241" cy="1819012"/>
          </a:xfrm>
          <a:prstGeom prst="rect">
            <a:avLst/>
          </a:prstGeom>
        </p:spPr>
      </p:pic>
      <p:pic>
        <p:nvPicPr>
          <p:cNvPr id="8" name="Image 6" descr="preencoded.png"/>
          <p:cNvPicPr>
            <a:picLocks noChangeAspect="1"/>
          </p:cNvPicPr>
          <p:nvPr/>
        </p:nvPicPr>
        <p:blipFill>
          <a:blip r:embed="rId9"/>
          <a:stretch>
            <a:fillRect/>
          </a:stretch>
        </p:blipFill>
        <p:spPr>
          <a:xfrm>
            <a:off x="779576" y="3281059"/>
            <a:ext cx="278420" cy="278420"/>
          </a:xfrm>
          <a:prstGeom prst="rect">
            <a:avLst/>
          </a:prstGeom>
        </p:spPr>
      </p:pic>
      <p:pic>
        <p:nvPicPr>
          <p:cNvPr id="9" name="Image 7" descr="preencoded.png"/>
          <p:cNvPicPr>
            <a:picLocks noChangeAspect="1"/>
          </p:cNvPicPr>
          <p:nvPr/>
        </p:nvPicPr>
        <p:blipFill>
          <a:blip r:embed="rId10"/>
          <a:stretch>
            <a:fillRect/>
          </a:stretch>
        </p:blipFill>
        <p:spPr>
          <a:xfrm>
            <a:off x="3439940" y="3086165"/>
            <a:ext cx="2623386" cy="1819012"/>
          </a:xfrm>
          <a:prstGeom prst="rect">
            <a:avLst/>
          </a:prstGeom>
        </p:spPr>
      </p:pic>
      <p:pic>
        <p:nvPicPr>
          <p:cNvPr id="10" name="Image 8" descr="preencoded.png"/>
          <p:cNvPicPr>
            <a:picLocks noChangeAspect="1"/>
          </p:cNvPicPr>
          <p:nvPr/>
        </p:nvPicPr>
        <p:blipFill>
          <a:blip r:embed="rId11"/>
          <a:stretch>
            <a:fillRect/>
          </a:stretch>
        </p:blipFill>
        <p:spPr>
          <a:xfrm>
            <a:off x="3625553" y="3281059"/>
            <a:ext cx="315543" cy="278420"/>
          </a:xfrm>
          <a:prstGeom prst="rect">
            <a:avLst/>
          </a:prstGeom>
        </p:spPr>
      </p:pic>
      <p:pic>
        <p:nvPicPr>
          <p:cNvPr id="11" name="Image 9" descr="preencoded.png"/>
          <p:cNvPicPr>
            <a:picLocks noChangeAspect="1"/>
          </p:cNvPicPr>
          <p:nvPr/>
        </p:nvPicPr>
        <p:blipFill>
          <a:blip r:embed="rId12"/>
          <a:stretch>
            <a:fillRect/>
          </a:stretch>
        </p:blipFill>
        <p:spPr>
          <a:xfrm>
            <a:off x="6286061" y="3086165"/>
            <a:ext cx="2623241" cy="1819012"/>
          </a:xfrm>
          <a:prstGeom prst="rect">
            <a:avLst/>
          </a:prstGeom>
        </p:spPr>
      </p:pic>
      <p:pic>
        <p:nvPicPr>
          <p:cNvPr id="12" name="Image 10" descr="preencoded.png"/>
          <p:cNvPicPr>
            <a:picLocks noChangeAspect="1"/>
          </p:cNvPicPr>
          <p:nvPr/>
        </p:nvPicPr>
        <p:blipFill>
          <a:blip r:embed="rId13"/>
          <a:stretch>
            <a:fillRect/>
          </a:stretch>
        </p:blipFill>
        <p:spPr>
          <a:xfrm>
            <a:off x="6471674" y="3281059"/>
            <a:ext cx="241298" cy="278420"/>
          </a:xfrm>
          <a:prstGeom prst="rect">
            <a:avLst/>
          </a:prstGeom>
        </p:spPr>
      </p:pic>
      <p:pic>
        <p:nvPicPr>
          <p:cNvPr id="13" name="Image 11" descr="preencoded.png"/>
          <p:cNvPicPr>
            <a:picLocks noChangeAspect="1"/>
          </p:cNvPicPr>
          <p:nvPr/>
        </p:nvPicPr>
        <p:blipFill>
          <a:blip r:embed="rId14"/>
          <a:stretch>
            <a:fillRect/>
          </a:stretch>
        </p:blipFill>
        <p:spPr>
          <a:xfrm>
            <a:off x="593963" y="5610508"/>
            <a:ext cx="2079016" cy="371227"/>
          </a:xfrm>
          <a:prstGeom prst="rect">
            <a:avLst/>
          </a:prstGeom>
        </p:spPr>
      </p:pic>
      <p:pic>
        <p:nvPicPr>
          <p:cNvPr id="14" name="Image 12" descr="preencoded.png"/>
          <p:cNvPicPr>
            <a:picLocks noChangeAspect="1"/>
          </p:cNvPicPr>
          <p:nvPr/>
        </p:nvPicPr>
        <p:blipFill>
          <a:blip r:embed="rId15"/>
          <a:stretch>
            <a:fillRect/>
          </a:stretch>
        </p:blipFill>
        <p:spPr>
          <a:xfrm>
            <a:off x="742454" y="5721876"/>
            <a:ext cx="167052" cy="148491"/>
          </a:xfrm>
          <a:prstGeom prst="rect">
            <a:avLst/>
          </a:prstGeom>
        </p:spPr>
      </p:pic>
      <p:pic>
        <p:nvPicPr>
          <p:cNvPr id="15" name="Image 13" descr="preencoded.png"/>
          <p:cNvPicPr>
            <a:picLocks noChangeAspect="1"/>
          </p:cNvPicPr>
          <p:nvPr/>
        </p:nvPicPr>
        <p:blipFill>
          <a:blip r:embed="rId16"/>
          <a:stretch>
            <a:fillRect/>
          </a:stretch>
        </p:blipFill>
        <p:spPr>
          <a:xfrm>
            <a:off x="2821470" y="5610508"/>
            <a:ext cx="3160359" cy="371227"/>
          </a:xfrm>
          <a:prstGeom prst="rect">
            <a:avLst/>
          </a:prstGeom>
        </p:spPr>
      </p:pic>
      <p:pic>
        <p:nvPicPr>
          <p:cNvPr id="16" name="Image 14" descr="preencoded.png"/>
          <p:cNvPicPr>
            <a:picLocks noChangeAspect="1"/>
          </p:cNvPicPr>
          <p:nvPr/>
        </p:nvPicPr>
        <p:blipFill>
          <a:blip r:embed="rId17"/>
          <a:stretch>
            <a:fillRect/>
          </a:stretch>
        </p:blipFill>
        <p:spPr>
          <a:xfrm>
            <a:off x="2969961" y="5721876"/>
            <a:ext cx="129929" cy="148491"/>
          </a:xfrm>
          <a:prstGeom prst="rect">
            <a:avLst/>
          </a:prstGeom>
        </p:spPr>
      </p:pic>
      <p:pic>
        <p:nvPicPr>
          <p:cNvPr id="17" name="Image 15" descr="preencoded.png"/>
          <p:cNvPicPr>
            <a:picLocks noChangeAspect="1"/>
          </p:cNvPicPr>
          <p:nvPr/>
        </p:nvPicPr>
        <p:blipFill>
          <a:blip r:embed="rId18"/>
          <a:stretch>
            <a:fillRect/>
          </a:stretch>
        </p:blipFill>
        <p:spPr>
          <a:xfrm>
            <a:off x="6130320" y="5610508"/>
            <a:ext cx="2377157" cy="371227"/>
          </a:xfrm>
          <a:prstGeom prst="rect">
            <a:avLst/>
          </a:prstGeom>
        </p:spPr>
      </p:pic>
      <p:pic>
        <p:nvPicPr>
          <p:cNvPr id="18" name="Image 16" descr="preencoded.png"/>
          <p:cNvPicPr>
            <a:picLocks noChangeAspect="1"/>
          </p:cNvPicPr>
          <p:nvPr/>
        </p:nvPicPr>
        <p:blipFill>
          <a:blip r:embed="rId19"/>
          <a:stretch>
            <a:fillRect/>
          </a:stretch>
        </p:blipFill>
        <p:spPr>
          <a:xfrm>
            <a:off x="6278811" y="5721876"/>
            <a:ext cx="148491" cy="148491"/>
          </a:xfrm>
          <a:prstGeom prst="rect">
            <a:avLst/>
          </a:prstGeom>
        </p:spPr>
      </p:pic>
      <p:pic>
        <p:nvPicPr>
          <p:cNvPr id="19" name="Image 17" descr="preencoded.png"/>
          <p:cNvPicPr>
            <a:picLocks noChangeAspect="1"/>
          </p:cNvPicPr>
          <p:nvPr/>
        </p:nvPicPr>
        <p:blipFill>
          <a:blip r:embed="rId20"/>
          <a:stretch>
            <a:fillRect/>
          </a:stretch>
        </p:blipFill>
        <p:spPr>
          <a:xfrm>
            <a:off x="8655968" y="5610508"/>
            <a:ext cx="2351491" cy="371227"/>
          </a:xfrm>
          <a:prstGeom prst="rect">
            <a:avLst/>
          </a:prstGeom>
        </p:spPr>
      </p:pic>
      <p:pic>
        <p:nvPicPr>
          <p:cNvPr id="20" name="Image 18" descr="preencoded.png"/>
          <p:cNvPicPr>
            <a:picLocks noChangeAspect="1"/>
          </p:cNvPicPr>
          <p:nvPr/>
        </p:nvPicPr>
        <p:blipFill>
          <a:blip r:embed="rId21"/>
          <a:stretch>
            <a:fillRect/>
          </a:stretch>
        </p:blipFill>
        <p:spPr>
          <a:xfrm>
            <a:off x="8804459" y="5721876"/>
            <a:ext cx="111368" cy="148491"/>
          </a:xfrm>
          <a:prstGeom prst="rect">
            <a:avLst/>
          </a:prstGeom>
        </p:spPr>
      </p:pic>
      <p:sp>
        <p:nvSpPr>
          <p:cNvPr id="21"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What is AWS CloudWatch?</a:t>
            </a:r>
            <a:endParaRPr lang="en-US" sz="2631" dirty="0"/>
          </a:p>
        </p:txBody>
      </p:sp>
      <p:sp>
        <p:nvSpPr>
          <p:cNvPr id="22" name="Text 1"/>
          <p:cNvSpPr/>
          <p:nvPr/>
        </p:nvSpPr>
        <p:spPr>
          <a:xfrm>
            <a:off x="816699" y="1861116"/>
            <a:ext cx="7870011" cy="779577"/>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Amazon CloudWatch is a comprehensive monitoring and management service designed to provide data and actionable insights for AWS, on-premises, hybrid, and other cloud applications and infrastructure resources.</a:t>
            </a:r>
            <a:endParaRPr lang="en-US" sz="1461" dirty="0"/>
          </a:p>
        </p:txBody>
      </p:sp>
      <p:sp>
        <p:nvSpPr>
          <p:cNvPr id="23" name="Text 2"/>
          <p:cNvSpPr/>
          <p:nvPr/>
        </p:nvSpPr>
        <p:spPr>
          <a:xfrm>
            <a:off x="779577" y="3717250"/>
            <a:ext cx="2702416"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Unified Platform</a:t>
            </a:r>
            <a:endParaRPr lang="en-US" sz="1315" dirty="0"/>
          </a:p>
        </p:txBody>
      </p:sp>
      <p:sp>
        <p:nvSpPr>
          <p:cNvPr id="24" name="Text 3"/>
          <p:cNvSpPr/>
          <p:nvPr/>
        </p:nvSpPr>
        <p:spPr>
          <a:xfrm>
            <a:off x="779577" y="4051355"/>
            <a:ext cx="2252014"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Collects and accesses performance and operational data from a single platform</a:t>
            </a:r>
            <a:endParaRPr lang="en-US" sz="1169" dirty="0"/>
          </a:p>
        </p:txBody>
      </p:sp>
      <p:sp>
        <p:nvSpPr>
          <p:cNvPr id="25" name="Text 4"/>
          <p:cNvSpPr/>
          <p:nvPr/>
        </p:nvSpPr>
        <p:spPr>
          <a:xfrm>
            <a:off x="3625553" y="3717250"/>
            <a:ext cx="2702591"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Real-time Monitoring</a:t>
            </a:r>
            <a:endParaRPr lang="en-US" sz="1315" dirty="0"/>
          </a:p>
        </p:txBody>
      </p:sp>
      <p:sp>
        <p:nvSpPr>
          <p:cNvPr id="26" name="Text 5"/>
          <p:cNvSpPr/>
          <p:nvPr/>
        </p:nvSpPr>
        <p:spPr>
          <a:xfrm>
            <a:off x="3625553" y="4051355"/>
            <a:ext cx="225215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Monitors AWS resources and applications in real-time for immediate insights</a:t>
            </a:r>
            <a:endParaRPr lang="en-US" sz="1169" dirty="0"/>
          </a:p>
        </p:txBody>
      </p:sp>
      <p:sp>
        <p:nvSpPr>
          <p:cNvPr id="27" name="Text 6"/>
          <p:cNvSpPr/>
          <p:nvPr/>
        </p:nvSpPr>
        <p:spPr>
          <a:xfrm>
            <a:off x="6471675" y="3717250"/>
            <a:ext cx="2702416"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Automated Actions</a:t>
            </a:r>
            <a:endParaRPr lang="en-US" sz="1315" dirty="0"/>
          </a:p>
        </p:txBody>
      </p:sp>
      <p:sp>
        <p:nvSpPr>
          <p:cNvPr id="28" name="Text 7"/>
          <p:cNvSpPr/>
          <p:nvPr/>
        </p:nvSpPr>
        <p:spPr>
          <a:xfrm>
            <a:off x="6471675" y="4051355"/>
            <a:ext cx="2252014"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Enables automated responses based on metrics and events to reduce MTTR</a:t>
            </a:r>
            <a:endParaRPr lang="en-US" sz="1169" dirty="0"/>
          </a:p>
        </p:txBody>
      </p:sp>
      <p:sp>
        <p:nvSpPr>
          <p:cNvPr id="29" name="Text 8"/>
          <p:cNvSpPr/>
          <p:nvPr/>
        </p:nvSpPr>
        <p:spPr>
          <a:xfrm>
            <a:off x="593963" y="5202158"/>
            <a:ext cx="1069133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Primary Purposes:</a:t>
            </a:r>
            <a:endParaRPr lang="en-US" sz="1461" dirty="0"/>
          </a:p>
        </p:txBody>
      </p:sp>
      <p:sp>
        <p:nvSpPr>
          <p:cNvPr id="30" name="Text 9"/>
          <p:cNvSpPr/>
          <p:nvPr/>
        </p:nvSpPr>
        <p:spPr>
          <a:xfrm>
            <a:off x="983751" y="5684754"/>
            <a:ext cx="184888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Operational Visibility</a:t>
            </a:r>
            <a:endParaRPr lang="en-US" sz="1169" dirty="0"/>
          </a:p>
        </p:txBody>
      </p:sp>
      <p:sp>
        <p:nvSpPr>
          <p:cNvPr id="31" name="Text 10"/>
          <p:cNvSpPr/>
          <p:nvPr/>
        </p:nvSpPr>
        <p:spPr>
          <a:xfrm>
            <a:off x="3174135" y="5684754"/>
            <a:ext cx="3191044"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Application Performance Monitoring</a:t>
            </a:r>
            <a:endParaRPr lang="en-US" sz="1169" dirty="0"/>
          </a:p>
        </p:txBody>
      </p:sp>
      <p:sp>
        <p:nvSpPr>
          <p:cNvPr id="32" name="Text 11"/>
          <p:cNvSpPr/>
          <p:nvPr/>
        </p:nvSpPr>
        <p:spPr>
          <a:xfrm>
            <a:off x="6501548" y="5684754"/>
            <a:ext cx="222892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Infrastructure Monitoring</a:t>
            </a:r>
            <a:endParaRPr lang="en-US" sz="1169" dirty="0"/>
          </a:p>
        </p:txBody>
      </p:sp>
      <p:sp>
        <p:nvSpPr>
          <p:cNvPr id="33" name="Text 12"/>
          <p:cNvSpPr/>
          <p:nvPr/>
        </p:nvSpPr>
        <p:spPr>
          <a:xfrm>
            <a:off x="8990072" y="5684754"/>
            <a:ext cx="224267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Log Collection &amp; Analysis</a:t>
            </a:r>
            <a:endParaRPr lang="en-US" sz="116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6297163"/>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494514"/>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2197707" y="4877335"/>
            <a:ext cx="7483849" cy="27842"/>
          </a:xfrm>
          <a:prstGeom prst="rect">
            <a:avLst/>
          </a:prstGeom>
        </p:spPr>
      </p:pic>
      <p:pic>
        <p:nvPicPr>
          <p:cNvPr id="7" name="Image 5" descr="preencoded.png"/>
          <p:cNvPicPr>
            <a:picLocks noChangeAspect="1"/>
          </p:cNvPicPr>
          <p:nvPr/>
        </p:nvPicPr>
        <p:blipFill>
          <a:blip r:embed="rId8"/>
          <a:stretch>
            <a:fillRect/>
          </a:stretch>
        </p:blipFill>
        <p:spPr>
          <a:xfrm>
            <a:off x="816699" y="2529324"/>
            <a:ext cx="3341043" cy="3303920"/>
          </a:xfrm>
          <a:prstGeom prst="rect">
            <a:avLst/>
          </a:prstGeom>
        </p:spPr>
      </p:pic>
      <p:pic>
        <p:nvPicPr>
          <p:cNvPr id="8" name="Image 6" descr="preencoded.png"/>
          <p:cNvPicPr>
            <a:picLocks noChangeAspect="1"/>
          </p:cNvPicPr>
          <p:nvPr/>
        </p:nvPicPr>
        <p:blipFill>
          <a:blip r:embed="rId9"/>
          <a:stretch>
            <a:fillRect/>
          </a:stretch>
        </p:blipFill>
        <p:spPr>
          <a:xfrm>
            <a:off x="2115993" y="2752060"/>
            <a:ext cx="742454" cy="742454"/>
          </a:xfrm>
          <a:prstGeom prst="rect">
            <a:avLst/>
          </a:prstGeom>
        </p:spPr>
      </p:pic>
      <p:pic>
        <p:nvPicPr>
          <p:cNvPr id="9" name="Image 7" descr="preencoded.png"/>
          <p:cNvPicPr>
            <a:picLocks noChangeAspect="1"/>
          </p:cNvPicPr>
          <p:nvPr/>
        </p:nvPicPr>
        <p:blipFill>
          <a:blip r:embed="rId10"/>
          <a:stretch>
            <a:fillRect/>
          </a:stretch>
        </p:blipFill>
        <p:spPr>
          <a:xfrm>
            <a:off x="2320168" y="2937674"/>
            <a:ext cx="334104" cy="371227"/>
          </a:xfrm>
          <a:prstGeom prst="rect">
            <a:avLst/>
          </a:prstGeom>
        </p:spPr>
      </p:pic>
      <p:pic>
        <p:nvPicPr>
          <p:cNvPr id="10" name="Image 8" descr="preencoded.png"/>
          <p:cNvPicPr>
            <a:picLocks noChangeAspect="1"/>
          </p:cNvPicPr>
          <p:nvPr/>
        </p:nvPicPr>
        <p:blipFill>
          <a:blip r:embed="rId11"/>
          <a:stretch>
            <a:fillRect/>
          </a:stretch>
        </p:blipFill>
        <p:spPr>
          <a:xfrm>
            <a:off x="1039435" y="4682441"/>
            <a:ext cx="148491" cy="148491"/>
          </a:xfrm>
          <a:prstGeom prst="rect">
            <a:avLst/>
          </a:prstGeom>
        </p:spPr>
      </p:pic>
      <p:pic>
        <p:nvPicPr>
          <p:cNvPr id="11" name="Image 9" descr="preencoded.png"/>
          <p:cNvPicPr>
            <a:picLocks noChangeAspect="1"/>
          </p:cNvPicPr>
          <p:nvPr/>
        </p:nvPicPr>
        <p:blipFill>
          <a:blip r:embed="rId11"/>
          <a:stretch>
            <a:fillRect/>
          </a:stretch>
        </p:blipFill>
        <p:spPr>
          <a:xfrm>
            <a:off x="1039435" y="4951313"/>
            <a:ext cx="148491" cy="148491"/>
          </a:xfrm>
          <a:prstGeom prst="rect">
            <a:avLst/>
          </a:prstGeom>
        </p:spPr>
      </p:pic>
      <p:pic>
        <p:nvPicPr>
          <p:cNvPr id="12" name="Image 10" descr="preencoded.png"/>
          <p:cNvPicPr>
            <a:picLocks noChangeAspect="1"/>
          </p:cNvPicPr>
          <p:nvPr/>
        </p:nvPicPr>
        <p:blipFill>
          <a:blip r:embed="rId12"/>
          <a:stretch>
            <a:fillRect/>
          </a:stretch>
        </p:blipFill>
        <p:spPr>
          <a:xfrm>
            <a:off x="4380478" y="2529324"/>
            <a:ext cx="3341043" cy="3081184"/>
          </a:xfrm>
          <a:prstGeom prst="rect">
            <a:avLst/>
          </a:prstGeom>
        </p:spPr>
      </p:pic>
      <p:pic>
        <p:nvPicPr>
          <p:cNvPr id="13" name="Image 11" descr="preencoded.png"/>
          <p:cNvPicPr>
            <a:picLocks noChangeAspect="1"/>
          </p:cNvPicPr>
          <p:nvPr/>
        </p:nvPicPr>
        <p:blipFill>
          <a:blip r:embed="rId13"/>
          <a:stretch>
            <a:fillRect/>
          </a:stretch>
        </p:blipFill>
        <p:spPr>
          <a:xfrm>
            <a:off x="5679772" y="2752060"/>
            <a:ext cx="742454" cy="742454"/>
          </a:xfrm>
          <a:prstGeom prst="rect">
            <a:avLst/>
          </a:prstGeom>
        </p:spPr>
      </p:pic>
      <p:pic>
        <p:nvPicPr>
          <p:cNvPr id="14" name="Image 12" descr="preencoded.png"/>
          <p:cNvPicPr>
            <a:picLocks noChangeAspect="1"/>
          </p:cNvPicPr>
          <p:nvPr/>
        </p:nvPicPr>
        <p:blipFill>
          <a:blip r:embed="rId14"/>
          <a:stretch>
            <a:fillRect/>
          </a:stretch>
        </p:blipFill>
        <p:spPr>
          <a:xfrm>
            <a:off x="5925711" y="2937674"/>
            <a:ext cx="250578" cy="371227"/>
          </a:xfrm>
          <a:prstGeom prst="rect">
            <a:avLst/>
          </a:prstGeom>
        </p:spPr>
      </p:pic>
      <p:pic>
        <p:nvPicPr>
          <p:cNvPr id="15" name="Image 13" descr="preencoded.png"/>
          <p:cNvPicPr>
            <a:picLocks noChangeAspect="1"/>
          </p:cNvPicPr>
          <p:nvPr/>
        </p:nvPicPr>
        <p:blipFill>
          <a:blip r:embed="rId15"/>
          <a:stretch>
            <a:fillRect/>
          </a:stretch>
        </p:blipFill>
        <p:spPr>
          <a:xfrm>
            <a:off x="4603214" y="4814357"/>
            <a:ext cx="148491" cy="148491"/>
          </a:xfrm>
          <a:prstGeom prst="rect">
            <a:avLst/>
          </a:prstGeom>
        </p:spPr>
      </p:pic>
      <p:pic>
        <p:nvPicPr>
          <p:cNvPr id="16" name="Image 14" descr="preencoded.png"/>
          <p:cNvPicPr>
            <a:picLocks noChangeAspect="1"/>
          </p:cNvPicPr>
          <p:nvPr/>
        </p:nvPicPr>
        <p:blipFill>
          <a:blip r:embed="rId15"/>
          <a:stretch>
            <a:fillRect/>
          </a:stretch>
        </p:blipFill>
        <p:spPr>
          <a:xfrm>
            <a:off x="4603214" y="5091869"/>
            <a:ext cx="148491" cy="148491"/>
          </a:xfrm>
          <a:prstGeom prst="rect">
            <a:avLst/>
          </a:prstGeom>
        </p:spPr>
      </p:pic>
      <p:pic>
        <p:nvPicPr>
          <p:cNvPr id="17" name="Image 15" descr="preencoded.png"/>
          <p:cNvPicPr>
            <a:picLocks noChangeAspect="1"/>
          </p:cNvPicPr>
          <p:nvPr/>
        </p:nvPicPr>
        <p:blipFill>
          <a:blip r:embed="rId16"/>
          <a:stretch>
            <a:fillRect/>
          </a:stretch>
        </p:blipFill>
        <p:spPr>
          <a:xfrm>
            <a:off x="7944256" y="2529324"/>
            <a:ext cx="3341043" cy="3081184"/>
          </a:xfrm>
          <a:prstGeom prst="rect">
            <a:avLst/>
          </a:prstGeom>
        </p:spPr>
      </p:pic>
      <p:pic>
        <p:nvPicPr>
          <p:cNvPr id="18" name="Image 16" descr="preencoded.png"/>
          <p:cNvPicPr>
            <a:picLocks noChangeAspect="1"/>
          </p:cNvPicPr>
          <p:nvPr/>
        </p:nvPicPr>
        <p:blipFill>
          <a:blip r:embed="rId17"/>
          <a:stretch>
            <a:fillRect/>
          </a:stretch>
        </p:blipFill>
        <p:spPr>
          <a:xfrm>
            <a:off x="9243551" y="2752060"/>
            <a:ext cx="742454" cy="742454"/>
          </a:xfrm>
          <a:prstGeom prst="rect">
            <a:avLst/>
          </a:prstGeom>
        </p:spPr>
      </p:pic>
      <p:pic>
        <p:nvPicPr>
          <p:cNvPr id="19" name="Image 17" descr="preencoded.png"/>
          <p:cNvPicPr>
            <a:picLocks noChangeAspect="1"/>
          </p:cNvPicPr>
          <p:nvPr/>
        </p:nvPicPr>
        <p:blipFill>
          <a:blip r:embed="rId18"/>
          <a:stretch>
            <a:fillRect/>
          </a:stretch>
        </p:blipFill>
        <p:spPr>
          <a:xfrm>
            <a:off x="9424525" y="2937674"/>
            <a:ext cx="380508" cy="371227"/>
          </a:xfrm>
          <a:prstGeom prst="rect">
            <a:avLst/>
          </a:prstGeom>
        </p:spPr>
      </p:pic>
      <p:pic>
        <p:nvPicPr>
          <p:cNvPr id="20" name="Image 18" descr="preencoded.png"/>
          <p:cNvPicPr>
            <a:picLocks noChangeAspect="1"/>
          </p:cNvPicPr>
          <p:nvPr/>
        </p:nvPicPr>
        <p:blipFill>
          <a:blip r:embed="rId19"/>
          <a:stretch>
            <a:fillRect/>
          </a:stretch>
        </p:blipFill>
        <p:spPr>
          <a:xfrm>
            <a:off x="8166993" y="4682441"/>
            <a:ext cx="148491" cy="148491"/>
          </a:xfrm>
          <a:prstGeom prst="rect">
            <a:avLst/>
          </a:prstGeom>
        </p:spPr>
      </p:pic>
      <p:pic>
        <p:nvPicPr>
          <p:cNvPr id="21" name="Image 19" descr="preencoded.png"/>
          <p:cNvPicPr>
            <a:picLocks noChangeAspect="1"/>
          </p:cNvPicPr>
          <p:nvPr/>
        </p:nvPicPr>
        <p:blipFill>
          <a:blip r:embed="rId19"/>
          <a:stretch>
            <a:fillRect/>
          </a:stretch>
        </p:blipFill>
        <p:spPr>
          <a:xfrm>
            <a:off x="8166993" y="4979422"/>
            <a:ext cx="148491" cy="148491"/>
          </a:xfrm>
          <a:prstGeom prst="rect">
            <a:avLst/>
          </a:prstGeom>
        </p:spPr>
      </p:pic>
      <p:sp>
        <p:nvSpPr>
          <p:cNvPr id="22" name="Text 0"/>
          <p:cNvSpPr/>
          <p:nvPr/>
        </p:nvSpPr>
        <p:spPr>
          <a:xfrm>
            <a:off x="593963" y="673190"/>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The Pillars of Observability</a:t>
            </a:r>
            <a:endParaRPr lang="en-US" sz="2631" dirty="0"/>
          </a:p>
        </p:txBody>
      </p:sp>
      <p:sp>
        <p:nvSpPr>
          <p:cNvPr id="23" name="Text 1"/>
          <p:cNvSpPr/>
          <p:nvPr/>
        </p:nvSpPr>
        <p:spPr>
          <a:xfrm>
            <a:off x="593963" y="1712625"/>
            <a:ext cx="8315484"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Observability in modern systems is built upon three fundamental pillars, each providing unique insights into application and infrastructure health.</a:t>
            </a:r>
            <a:endParaRPr lang="en-US" sz="1461" dirty="0"/>
          </a:p>
        </p:txBody>
      </p:sp>
      <p:sp>
        <p:nvSpPr>
          <p:cNvPr id="24" name="Text 2"/>
          <p:cNvSpPr/>
          <p:nvPr/>
        </p:nvSpPr>
        <p:spPr>
          <a:xfrm>
            <a:off x="1039435" y="3643005"/>
            <a:ext cx="2895570" cy="296982"/>
          </a:xfrm>
          <a:prstGeom prst="rect">
            <a:avLst/>
          </a:prstGeom>
          <a:noFill/>
          <a:ln/>
        </p:spPr>
        <p:txBody>
          <a:bodyPr vert="horz" wrap="square" lIns="0" tIns="0" rIns="0" bIns="0" rtlCol="0" anchor="t"/>
          <a:lstStyle/>
          <a:p>
            <a:pPr algn="ctr">
              <a:lnSpc>
                <a:spcPts val="2338"/>
              </a:lnSpc>
            </a:pPr>
            <a:r>
              <a:rPr lang="en-US" sz="1754" b="1" dirty="0">
                <a:solidFill>
                  <a:srgbClr val="1F2937"/>
                </a:solidFill>
                <a:latin typeface="ui-sans-serif" pitchFamily="34" charset="0"/>
                <a:ea typeface="ui-sans-serif" pitchFamily="34" charset="-122"/>
                <a:cs typeface="ui-sans-serif" pitchFamily="34" charset="-120"/>
              </a:rPr>
              <a:t>Metrics</a:t>
            </a:r>
            <a:endParaRPr lang="en-US" sz="1754" dirty="0"/>
          </a:p>
        </p:txBody>
      </p:sp>
      <p:sp>
        <p:nvSpPr>
          <p:cNvPr id="25" name="Text 3"/>
          <p:cNvSpPr/>
          <p:nvPr/>
        </p:nvSpPr>
        <p:spPr>
          <a:xfrm>
            <a:off x="1039435" y="4051355"/>
            <a:ext cx="2895570" cy="445472"/>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Time-ordered measurements of system performance</a:t>
            </a:r>
            <a:endParaRPr lang="en-US" sz="1169" dirty="0"/>
          </a:p>
        </p:txBody>
      </p:sp>
      <p:sp>
        <p:nvSpPr>
          <p:cNvPr id="26" name="Text 4"/>
          <p:cNvSpPr/>
          <p:nvPr/>
        </p:nvSpPr>
        <p:spPr>
          <a:xfrm>
            <a:off x="1262171" y="4645318"/>
            <a:ext cx="26728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Numerical data points collected over time</a:t>
            </a:r>
            <a:endParaRPr lang="en-US" sz="1169" dirty="0"/>
          </a:p>
        </p:txBody>
      </p:sp>
      <p:sp>
        <p:nvSpPr>
          <p:cNvPr id="27" name="Text 5"/>
          <p:cNvSpPr/>
          <p:nvPr/>
        </p:nvSpPr>
        <p:spPr>
          <a:xfrm>
            <a:off x="1262171" y="4922841"/>
            <a:ext cx="26728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Provide insights into system performance</a:t>
            </a:r>
            <a:endParaRPr lang="en-US" sz="1169" dirty="0"/>
          </a:p>
        </p:txBody>
      </p:sp>
      <p:sp>
        <p:nvSpPr>
          <p:cNvPr id="28" name="Text 6"/>
          <p:cNvSpPr/>
          <p:nvPr/>
        </p:nvSpPr>
        <p:spPr>
          <a:xfrm>
            <a:off x="4603214" y="3643005"/>
            <a:ext cx="2895570" cy="296982"/>
          </a:xfrm>
          <a:prstGeom prst="rect">
            <a:avLst/>
          </a:prstGeom>
          <a:noFill/>
          <a:ln/>
        </p:spPr>
        <p:txBody>
          <a:bodyPr vert="horz" wrap="square" lIns="0" tIns="0" rIns="0" bIns="0" rtlCol="0" anchor="t"/>
          <a:lstStyle/>
          <a:p>
            <a:pPr algn="ctr">
              <a:lnSpc>
                <a:spcPts val="2338"/>
              </a:lnSpc>
            </a:pPr>
            <a:r>
              <a:rPr lang="en-US" sz="1754" b="1" dirty="0">
                <a:solidFill>
                  <a:srgbClr val="1F2937"/>
                </a:solidFill>
                <a:latin typeface="ui-sans-serif" pitchFamily="34" charset="0"/>
                <a:ea typeface="ui-sans-serif" pitchFamily="34" charset="-122"/>
                <a:cs typeface="ui-sans-serif" pitchFamily="34" charset="-120"/>
              </a:rPr>
              <a:t>Logs</a:t>
            </a:r>
            <a:endParaRPr lang="en-US" sz="1754" dirty="0"/>
          </a:p>
        </p:txBody>
      </p:sp>
      <p:sp>
        <p:nvSpPr>
          <p:cNvPr id="29" name="Text 7"/>
          <p:cNvSpPr/>
          <p:nvPr/>
        </p:nvSpPr>
        <p:spPr>
          <a:xfrm>
            <a:off x="4313657" y="4051355"/>
            <a:ext cx="3474684" cy="222736"/>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Structured records of events</a:t>
            </a:r>
            <a:endParaRPr lang="en-US" sz="1169" dirty="0"/>
          </a:p>
        </p:txBody>
      </p:sp>
      <p:sp>
        <p:nvSpPr>
          <p:cNvPr id="30" name="Text 8"/>
          <p:cNvSpPr/>
          <p:nvPr/>
        </p:nvSpPr>
        <p:spPr>
          <a:xfrm>
            <a:off x="4825950" y="4756686"/>
            <a:ext cx="26728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Event information for troubleshooting</a:t>
            </a:r>
            <a:endParaRPr lang="en-US" sz="1169" dirty="0"/>
          </a:p>
        </p:txBody>
      </p:sp>
      <p:sp>
        <p:nvSpPr>
          <p:cNvPr id="31" name="Text 9"/>
          <p:cNvSpPr/>
          <p:nvPr/>
        </p:nvSpPr>
        <p:spPr>
          <a:xfrm>
            <a:off x="4825950" y="5042671"/>
            <a:ext cx="26728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Enable analysis of application behavior</a:t>
            </a:r>
            <a:endParaRPr lang="en-US" sz="1169" dirty="0"/>
          </a:p>
        </p:txBody>
      </p:sp>
      <p:sp>
        <p:nvSpPr>
          <p:cNvPr id="32" name="Text 10"/>
          <p:cNvSpPr/>
          <p:nvPr/>
        </p:nvSpPr>
        <p:spPr>
          <a:xfrm>
            <a:off x="8166993" y="3643005"/>
            <a:ext cx="2895570" cy="296982"/>
          </a:xfrm>
          <a:prstGeom prst="rect">
            <a:avLst/>
          </a:prstGeom>
          <a:noFill/>
          <a:ln/>
        </p:spPr>
        <p:txBody>
          <a:bodyPr vert="horz" wrap="square" lIns="0" tIns="0" rIns="0" bIns="0" rtlCol="0" anchor="t"/>
          <a:lstStyle/>
          <a:p>
            <a:pPr algn="ctr">
              <a:lnSpc>
                <a:spcPts val="2338"/>
              </a:lnSpc>
            </a:pPr>
            <a:r>
              <a:rPr lang="en-US" sz="1754" b="1" dirty="0">
                <a:solidFill>
                  <a:srgbClr val="1F2937"/>
                </a:solidFill>
                <a:latin typeface="ui-sans-serif" pitchFamily="34" charset="0"/>
                <a:ea typeface="ui-sans-serif" pitchFamily="34" charset="-122"/>
                <a:cs typeface="ui-sans-serif" pitchFamily="34" charset="-120"/>
              </a:rPr>
              <a:t>Traces</a:t>
            </a:r>
            <a:endParaRPr lang="en-US" sz="1754" dirty="0"/>
          </a:p>
        </p:txBody>
      </p:sp>
      <p:sp>
        <p:nvSpPr>
          <p:cNvPr id="33" name="Text 11"/>
          <p:cNvSpPr/>
          <p:nvPr/>
        </p:nvSpPr>
        <p:spPr>
          <a:xfrm>
            <a:off x="8166993" y="4051355"/>
            <a:ext cx="2895570" cy="445472"/>
          </a:xfrm>
          <a:prstGeom prst="rect">
            <a:avLst/>
          </a:prstGeom>
          <a:noFill/>
          <a:ln/>
        </p:spPr>
        <p:txBody>
          <a:bodyPr vert="horz" wrap="square" lIns="0" tIns="0" rIns="0" bIns="0" rtlCol="0" anchor="t"/>
          <a:lstStyle/>
          <a:p>
            <a:pPr algn="ctr">
              <a:lnSpc>
                <a:spcPts val="1754"/>
              </a:lnSpc>
            </a:pPr>
            <a:r>
              <a:rPr lang="en-US" sz="1169" dirty="0">
                <a:solidFill>
                  <a:srgbClr val="4B5563"/>
                </a:solidFill>
                <a:latin typeface="ui-sans-serif" pitchFamily="34" charset="0"/>
                <a:ea typeface="ui-sans-serif" pitchFamily="34" charset="-122"/>
                <a:cs typeface="ui-sans-serif" pitchFamily="34" charset="-120"/>
              </a:rPr>
              <a:t>Request flow through distributed systems</a:t>
            </a:r>
            <a:endParaRPr lang="en-US" sz="1169" dirty="0"/>
          </a:p>
        </p:txBody>
      </p:sp>
      <p:sp>
        <p:nvSpPr>
          <p:cNvPr id="34" name="Text 12"/>
          <p:cNvSpPr/>
          <p:nvPr/>
        </p:nvSpPr>
        <p:spPr>
          <a:xfrm>
            <a:off x="8389729" y="4645318"/>
            <a:ext cx="2507348"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End-to-end view of requests</a:t>
            </a:r>
            <a:endParaRPr lang="en-US" sz="1169" dirty="0"/>
          </a:p>
        </p:txBody>
      </p:sp>
      <p:sp>
        <p:nvSpPr>
          <p:cNvPr id="35" name="Text 13"/>
          <p:cNvSpPr/>
          <p:nvPr/>
        </p:nvSpPr>
        <p:spPr>
          <a:xfrm>
            <a:off x="8389729" y="4942300"/>
            <a:ext cx="26728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Help identify performance bottlenecks</a:t>
            </a:r>
            <a:endParaRPr lang="en-US" sz="116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605882"/>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564134"/>
            <a:ext cx="8315484" cy="816699"/>
          </a:xfrm>
          <a:prstGeom prst="rect">
            <a:avLst/>
          </a:prstGeom>
        </p:spPr>
      </p:pic>
      <p:pic>
        <p:nvPicPr>
          <p:cNvPr id="7" name="Image 5" descr="preencoded.png"/>
          <p:cNvPicPr>
            <a:picLocks noChangeAspect="1"/>
          </p:cNvPicPr>
          <p:nvPr/>
        </p:nvPicPr>
        <p:blipFill>
          <a:blip r:embed="rId8"/>
          <a:stretch>
            <a:fillRect/>
          </a:stretch>
        </p:blipFill>
        <p:spPr>
          <a:xfrm>
            <a:off x="593963" y="2603570"/>
            <a:ext cx="10691336" cy="1187926"/>
          </a:xfrm>
          <a:prstGeom prst="rect">
            <a:avLst/>
          </a:prstGeom>
        </p:spPr>
      </p:pic>
      <p:pic>
        <p:nvPicPr>
          <p:cNvPr id="8" name="Image 6" descr="preencoded.png"/>
          <p:cNvPicPr>
            <a:picLocks noChangeAspect="1"/>
          </p:cNvPicPr>
          <p:nvPr/>
        </p:nvPicPr>
        <p:blipFill>
          <a:blip r:embed="rId9"/>
          <a:stretch>
            <a:fillRect/>
          </a:stretch>
        </p:blipFill>
        <p:spPr>
          <a:xfrm>
            <a:off x="593963" y="4088477"/>
            <a:ext cx="5252861" cy="1262172"/>
          </a:xfrm>
          <a:prstGeom prst="rect">
            <a:avLst/>
          </a:prstGeom>
        </p:spPr>
      </p:pic>
      <p:pic>
        <p:nvPicPr>
          <p:cNvPr id="9" name="Image 7" descr="preencoded.png"/>
          <p:cNvPicPr>
            <a:picLocks noChangeAspect="1"/>
          </p:cNvPicPr>
          <p:nvPr/>
        </p:nvPicPr>
        <p:blipFill>
          <a:blip r:embed="rId10"/>
          <a:stretch>
            <a:fillRect/>
          </a:stretch>
        </p:blipFill>
        <p:spPr>
          <a:xfrm>
            <a:off x="742454" y="4283372"/>
            <a:ext cx="315543" cy="278420"/>
          </a:xfrm>
          <a:prstGeom prst="rect">
            <a:avLst/>
          </a:prstGeom>
        </p:spPr>
      </p:pic>
      <p:pic>
        <p:nvPicPr>
          <p:cNvPr id="10" name="Image 8" descr="preencoded.png"/>
          <p:cNvPicPr>
            <a:picLocks noChangeAspect="1"/>
          </p:cNvPicPr>
          <p:nvPr/>
        </p:nvPicPr>
        <p:blipFill>
          <a:blip r:embed="rId11"/>
          <a:stretch>
            <a:fillRect/>
          </a:stretch>
        </p:blipFill>
        <p:spPr>
          <a:xfrm>
            <a:off x="6032438" y="4088477"/>
            <a:ext cx="5252861" cy="1262172"/>
          </a:xfrm>
          <a:prstGeom prst="rect">
            <a:avLst/>
          </a:prstGeom>
        </p:spPr>
      </p:pic>
      <p:pic>
        <p:nvPicPr>
          <p:cNvPr id="11" name="Image 9" descr="preencoded.png"/>
          <p:cNvPicPr>
            <a:picLocks noChangeAspect="1"/>
          </p:cNvPicPr>
          <p:nvPr/>
        </p:nvPicPr>
        <p:blipFill>
          <a:blip r:embed="rId12"/>
          <a:stretch>
            <a:fillRect/>
          </a:stretch>
        </p:blipFill>
        <p:spPr>
          <a:xfrm>
            <a:off x="6180929" y="4283372"/>
            <a:ext cx="278420" cy="278420"/>
          </a:xfrm>
          <a:prstGeom prst="rect">
            <a:avLst/>
          </a:prstGeom>
        </p:spPr>
      </p:pic>
      <p:pic>
        <p:nvPicPr>
          <p:cNvPr id="12" name="Image 10" descr="preencoded.png"/>
          <p:cNvPicPr>
            <a:picLocks noChangeAspect="1"/>
          </p:cNvPicPr>
          <p:nvPr/>
        </p:nvPicPr>
        <p:blipFill>
          <a:blip r:embed="rId13"/>
          <a:stretch>
            <a:fillRect/>
          </a:stretch>
        </p:blipFill>
        <p:spPr>
          <a:xfrm>
            <a:off x="593963" y="5536263"/>
            <a:ext cx="5252861" cy="1039435"/>
          </a:xfrm>
          <a:prstGeom prst="rect">
            <a:avLst/>
          </a:prstGeom>
        </p:spPr>
      </p:pic>
      <p:pic>
        <p:nvPicPr>
          <p:cNvPr id="13" name="Image 11" descr="preencoded.png"/>
          <p:cNvPicPr>
            <a:picLocks noChangeAspect="1"/>
          </p:cNvPicPr>
          <p:nvPr/>
        </p:nvPicPr>
        <p:blipFill>
          <a:blip r:embed="rId14"/>
          <a:stretch>
            <a:fillRect/>
          </a:stretch>
        </p:blipFill>
        <p:spPr>
          <a:xfrm>
            <a:off x="742454" y="5731157"/>
            <a:ext cx="278420" cy="278420"/>
          </a:xfrm>
          <a:prstGeom prst="rect">
            <a:avLst/>
          </a:prstGeom>
        </p:spPr>
      </p:pic>
      <p:pic>
        <p:nvPicPr>
          <p:cNvPr id="14" name="Image 12" descr="preencoded.png"/>
          <p:cNvPicPr>
            <a:picLocks noChangeAspect="1"/>
          </p:cNvPicPr>
          <p:nvPr/>
        </p:nvPicPr>
        <p:blipFill>
          <a:blip r:embed="rId15"/>
          <a:stretch>
            <a:fillRect/>
          </a:stretch>
        </p:blipFill>
        <p:spPr>
          <a:xfrm>
            <a:off x="6032438" y="5536263"/>
            <a:ext cx="5252861" cy="1039435"/>
          </a:xfrm>
          <a:prstGeom prst="rect">
            <a:avLst/>
          </a:prstGeom>
        </p:spPr>
      </p:pic>
      <p:pic>
        <p:nvPicPr>
          <p:cNvPr id="15" name="Image 13" descr="preencoded.png"/>
          <p:cNvPicPr>
            <a:picLocks noChangeAspect="1"/>
          </p:cNvPicPr>
          <p:nvPr/>
        </p:nvPicPr>
        <p:blipFill>
          <a:blip r:embed="rId16"/>
          <a:stretch>
            <a:fillRect/>
          </a:stretch>
        </p:blipFill>
        <p:spPr>
          <a:xfrm>
            <a:off x="6180929" y="5731157"/>
            <a:ext cx="213455" cy="278420"/>
          </a:xfrm>
          <a:prstGeom prst="rect">
            <a:avLst/>
          </a:prstGeom>
        </p:spPr>
      </p:pic>
      <p:sp>
        <p:nvSpPr>
          <p:cNvPr id="16"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Metrics</a:t>
            </a:r>
            <a:endParaRPr lang="en-US" sz="2631" dirty="0"/>
          </a:p>
        </p:txBody>
      </p:sp>
      <p:sp>
        <p:nvSpPr>
          <p:cNvPr id="17" name="Text 1"/>
          <p:cNvSpPr/>
          <p:nvPr/>
        </p:nvSpPr>
        <p:spPr>
          <a:xfrm>
            <a:off x="742454" y="1712625"/>
            <a:ext cx="8018502" cy="519718"/>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CloudWatch Metrics are time-ordered data points representing variables to monitor. They show values over time and are published to CloudWatch by AWS services and custom applications.</a:t>
            </a:r>
            <a:endParaRPr lang="en-US" sz="1315" dirty="0"/>
          </a:p>
        </p:txBody>
      </p:sp>
      <p:sp>
        <p:nvSpPr>
          <p:cNvPr id="18" name="Text 2"/>
          <p:cNvSpPr/>
          <p:nvPr/>
        </p:nvSpPr>
        <p:spPr>
          <a:xfrm>
            <a:off x="1206487" y="4236968"/>
            <a:ext cx="4491846"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Namespaces</a:t>
            </a:r>
            <a:endParaRPr lang="en-US" sz="1461" dirty="0"/>
          </a:p>
        </p:txBody>
      </p:sp>
      <p:sp>
        <p:nvSpPr>
          <p:cNvPr id="19" name="Text 3"/>
          <p:cNvSpPr/>
          <p:nvPr/>
        </p:nvSpPr>
        <p:spPr>
          <a:xfrm>
            <a:off x="1206487" y="4533950"/>
            <a:ext cx="4491846"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Containers for CloudWatch metrics, ensuring isolation between metrics from different applications or services</a:t>
            </a:r>
            <a:endParaRPr lang="en-US" sz="1169" dirty="0"/>
          </a:p>
        </p:txBody>
      </p:sp>
      <p:sp>
        <p:nvSpPr>
          <p:cNvPr id="20" name="Text 4"/>
          <p:cNvSpPr/>
          <p:nvPr/>
        </p:nvSpPr>
        <p:spPr>
          <a:xfrm>
            <a:off x="6607839" y="4236968"/>
            <a:ext cx="4528969"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Dimensions</a:t>
            </a:r>
            <a:endParaRPr lang="en-US" sz="1461" dirty="0"/>
          </a:p>
        </p:txBody>
      </p:sp>
      <p:sp>
        <p:nvSpPr>
          <p:cNvPr id="21" name="Text 5"/>
          <p:cNvSpPr/>
          <p:nvPr/>
        </p:nvSpPr>
        <p:spPr>
          <a:xfrm>
            <a:off x="6607839" y="4533950"/>
            <a:ext cx="452896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Name/value pairs forming part of a metric's identity, helping categorize characteristics and allowing filtering (up to 30 dimensions per metric)</a:t>
            </a:r>
            <a:endParaRPr lang="en-US" sz="1169" dirty="0"/>
          </a:p>
        </p:txBody>
      </p:sp>
      <p:sp>
        <p:nvSpPr>
          <p:cNvPr id="22" name="Text 6"/>
          <p:cNvSpPr/>
          <p:nvPr/>
        </p:nvSpPr>
        <p:spPr>
          <a:xfrm>
            <a:off x="1169365" y="5684753"/>
            <a:ext cx="4528969"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Resolution</a:t>
            </a:r>
            <a:endParaRPr lang="en-US" sz="1461" dirty="0"/>
          </a:p>
        </p:txBody>
      </p:sp>
      <p:sp>
        <p:nvSpPr>
          <p:cNvPr id="23" name="Text 7"/>
          <p:cNvSpPr/>
          <p:nvPr/>
        </p:nvSpPr>
        <p:spPr>
          <a:xfrm>
            <a:off x="1169365" y="5981735"/>
            <a:ext cx="4528969"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Refers to granularity of metric data (standard: 1-minute, high-resolution: 1-second)</a:t>
            </a:r>
            <a:endParaRPr lang="en-US" sz="1169" dirty="0"/>
          </a:p>
        </p:txBody>
      </p:sp>
      <p:sp>
        <p:nvSpPr>
          <p:cNvPr id="24" name="Text 8"/>
          <p:cNvSpPr/>
          <p:nvPr/>
        </p:nvSpPr>
        <p:spPr>
          <a:xfrm>
            <a:off x="6542875" y="5684753"/>
            <a:ext cx="4593934"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Statistics</a:t>
            </a:r>
            <a:endParaRPr lang="en-US" sz="1461" dirty="0"/>
          </a:p>
        </p:txBody>
      </p:sp>
      <p:sp>
        <p:nvSpPr>
          <p:cNvPr id="25" name="Text 9"/>
          <p:cNvSpPr/>
          <p:nvPr/>
        </p:nvSpPr>
        <p:spPr>
          <a:xfrm>
            <a:off x="6542875" y="5981735"/>
            <a:ext cx="4593934"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Aggregations of metric data over specified periods (average, sum, minimum, maximum, and percentile)</a:t>
            </a:r>
            <a:endParaRPr lang="en-US" sz="116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7346091"/>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4366898"/>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80"/>
            <a:ext cx="8315484" cy="1225049"/>
          </a:xfrm>
          <a:prstGeom prst="rect">
            <a:avLst/>
          </a:prstGeom>
        </p:spPr>
      </p:pic>
      <p:pic>
        <p:nvPicPr>
          <p:cNvPr id="7" name="Image 5" descr="preencoded.png"/>
          <p:cNvPicPr>
            <a:picLocks noChangeAspect="1"/>
          </p:cNvPicPr>
          <p:nvPr/>
        </p:nvPicPr>
        <p:blipFill>
          <a:blip r:embed="rId8"/>
          <a:stretch>
            <a:fillRect/>
          </a:stretch>
        </p:blipFill>
        <p:spPr>
          <a:xfrm>
            <a:off x="593963" y="3624444"/>
            <a:ext cx="8315484" cy="37123"/>
          </a:xfrm>
          <a:prstGeom prst="rect">
            <a:avLst/>
          </a:prstGeom>
        </p:spPr>
      </p:pic>
      <p:pic>
        <p:nvPicPr>
          <p:cNvPr id="8" name="Image 6" descr="preencoded.png"/>
          <p:cNvPicPr>
            <a:picLocks noChangeAspect="1"/>
          </p:cNvPicPr>
          <p:nvPr/>
        </p:nvPicPr>
        <p:blipFill>
          <a:blip r:embed="rId9"/>
          <a:stretch>
            <a:fillRect/>
          </a:stretch>
        </p:blipFill>
        <p:spPr>
          <a:xfrm>
            <a:off x="593963" y="4422582"/>
            <a:ext cx="2623241" cy="1819012"/>
          </a:xfrm>
          <a:prstGeom prst="rect">
            <a:avLst/>
          </a:prstGeom>
        </p:spPr>
      </p:pic>
      <p:pic>
        <p:nvPicPr>
          <p:cNvPr id="9" name="Image 7" descr="preencoded.png"/>
          <p:cNvPicPr>
            <a:picLocks noChangeAspect="1"/>
          </p:cNvPicPr>
          <p:nvPr/>
        </p:nvPicPr>
        <p:blipFill>
          <a:blip r:embed="rId10"/>
          <a:stretch>
            <a:fillRect/>
          </a:stretch>
        </p:blipFill>
        <p:spPr>
          <a:xfrm>
            <a:off x="779576" y="4617476"/>
            <a:ext cx="278420" cy="278420"/>
          </a:xfrm>
          <a:prstGeom prst="rect">
            <a:avLst/>
          </a:prstGeom>
        </p:spPr>
      </p:pic>
      <p:pic>
        <p:nvPicPr>
          <p:cNvPr id="10" name="Image 8" descr="preencoded.png"/>
          <p:cNvPicPr>
            <a:picLocks noChangeAspect="1"/>
          </p:cNvPicPr>
          <p:nvPr/>
        </p:nvPicPr>
        <p:blipFill>
          <a:blip r:embed="rId11"/>
          <a:stretch>
            <a:fillRect/>
          </a:stretch>
        </p:blipFill>
        <p:spPr>
          <a:xfrm>
            <a:off x="3439940" y="4422582"/>
            <a:ext cx="2623386" cy="1819012"/>
          </a:xfrm>
          <a:prstGeom prst="rect">
            <a:avLst/>
          </a:prstGeom>
        </p:spPr>
      </p:pic>
      <p:pic>
        <p:nvPicPr>
          <p:cNvPr id="11" name="Image 9" descr="preencoded.png"/>
          <p:cNvPicPr>
            <a:picLocks noChangeAspect="1"/>
          </p:cNvPicPr>
          <p:nvPr/>
        </p:nvPicPr>
        <p:blipFill>
          <a:blip r:embed="rId12"/>
          <a:stretch>
            <a:fillRect/>
          </a:stretch>
        </p:blipFill>
        <p:spPr>
          <a:xfrm>
            <a:off x="3625553" y="4617476"/>
            <a:ext cx="278420" cy="278420"/>
          </a:xfrm>
          <a:prstGeom prst="rect">
            <a:avLst/>
          </a:prstGeom>
        </p:spPr>
      </p:pic>
      <p:pic>
        <p:nvPicPr>
          <p:cNvPr id="12" name="Image 10" descr="preencoded.png"/>
          <p:cNvPicPr>
            <a:picLocks noChangeAspect="1"/>
          </p:cNvPicPr>
          <p:nvPr/>
        </p:nvPicPr>
        <p:blipFill>
          <a:blip r:embed="rId13"/>
          <a:stretch>
            <a:fillRect/>
          </a:stretch>
        </p:blipFill>
        <p:spPr>
          <a:xfrm>
            <a:off x="6286061" y="4422582"/>
            <a:ext cx="2623241" cy="1819012"/>
          </a:xfrm>
          <a:prstGeom prst="rect">
            <a:avLst/>
          </a:prstGeom>
        </p:spPr>
      </p:pic>
      <p:pic>
        <p:nvPicPr>
          <p:cNvPr id="13" name="Image 11" descr="preencoded.png"/>
          <p:cNvPicPr>
            <a:picLocks noChangeAspect="1"/>
          </p:cNvPicPr>
          <p:nvPr/>
        </p:nvPicPr>
        <p:blipFill>
          <a:blip r:embed="rId14"/>
          <a:stretch>
            <a:fillRect/>
          </a:stretch>
        </p:blipFill>
        <p:spPr>
          <a:xfrm>
            <a:off x="6471674" y="4617476"/>
            <a:ext cx="278420" cy="278420"/>
          </a:xfrm>
          <a:prstGeom prst="rect">
            <a:avLst/>
          </a:prstGeom>
        </p:spPr>
      </p:pic>
      <p:pic>
        <p:nvPicPr>
          <p:cNvPr id="14" name="Image 12" descr="preencoded.png"/>
          <p:cNvPicPr>
            <a:picLocks noChangeAspect="1"/>
          </p:cNvPicPr>
          <p:nvPr/>
        </p:nvPicPr>
        <p:blipFill>
          <a:blip r:embed="rId15"/>
          <a:stretch>
            <a:fillRect/>
          </a:stretch>
        </p:blipFill>
        <p:spPr>
          <a:xfrm>
            <a:off x="593963" y="7026151"/>
            <a:ext cx="1650220" cy="371227"/>
          </a:xfrm>
          <a:prstGeom prst="rect">
            <a:avLst/>
          </a:prstGeom>
        </p:spPr>
      </p:pic>
      <p:pic>
        <p:nvPicPr>
          <p:cNvPr id="18" name="Image 16" descr="preencoded.png"/>
          <p:cNvPicPr>
            <a:picLocks noChangeAspect="1"/>
          </p:cNvPicPr>
          <p:nvPr/>
        </p:nvPicPr>
        <p:blipFill>
          <a:blip r:embed="rId16"/>
          <a:stretch>
            <a:fillRect/>
          </a:stretch>
        </p:blipFill>
        <p:spPr>
          <a:xfrm>
            <a:off x="4861768" y="7026151"/>
            <a:ext cx="1788560" cy="371227"/>
          </a:xfrm>
          <a:prstGeom prst="rect">
            <a:avLst/>
          </a:prstGeom>
        </p:spPr>
      </p:pic>
      <p:pic>
        <p:nvPicPr>
          <p:cNvPr id="20" name="Image 18" descr="preencoded.png"/>
          <p:cNvPicPr>
            <a:picLocks noChangeAspect="1"/>
          </p:cNvPicPr>
          <p:nvPr/>
        </p:nvPicPr>
        <p:blipFill>
          <a:blip r:embed="rId17"/>
          <a:stretch>
            <a:fillRect/>
          </a:stretch>
        </p:blipFill>
        <p:spPr>
          <a:xfrm>
            <a:off x="6798819" y="7026151"/>
            <a:ext cx="1717795" cy="371227"/>
          </a:xfrm>
          <a:prstGeom prst="rect">
            <a:avLst/>
          </a:prstGeom>
        </p:spPr>
      </p:pic>
      <p:sp>
        <p:nvSpPr>
          <p:cNvPr id="22"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Logs</a:t>
            </a:r>
            <a:endParaRPr lang="en-US" sz="2631" dirty="0"/>
          </a:p>
        </p:txBody>
      </p:sp>
      <p:sp>
        <p:nvSpPr>
          <p:cNvPr id="23" name="Text 1"/>
          <p:cNvSpPr/>
          <p:nvPr/>
        </p:nvSpPr>
        <p:spPr>
          <a:xfrm>
            <a:off x="816699" y="1861116"/>
            <a:ext cx="7870011" cy="779577"/>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CloudWatch Logs enables you to collect, monitor, and analyze log files from AWS resources and applications, providing insights into system operation and application performance.</a:t>
            </a:r>
            <a:endParaRPr lang="en-US" sz="1461" dirty="0"/>
          </a:p>
        </p:txBody>
      </p:sp>
      <p:sp>
        <p:nvSpPr>
          <p:cNvPr id="24" name="Text 2"/>
          <p:cNvSpPr/>
          <p:nvPr/>
        </p:nvSpPr>
        <p:spPr>
          <a:xfrm>
            <a:off x="779577" y="5053668"/>
            <a:ext cx="2702416"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Log Collection</a:t>
            </a:r>
            <a:endParaRPr lang="en-US" sz="1315" dirty="0"/>
          </a:p>
        </p:txBody>
      </p:sp>
      <p:sp>
        <p:nvSpPr>
          <p:cNvPr id="25" name="Text 3"/>
          <p:cNvSpPr/>
          <p:nvPr/>
        </p:nvSpPr>
        <p:spPr>
          <a:xfrm>
            <a:off x="779577" y="5387772"/>
            <a:ext cx="2252014"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Gathers log data from various AWS resources and applications automatically</a:t>
            </a:r>
            <a:endParaRPr lang="en-US" sz="1169" dirty="0"/>
          </a:p>
        </p:txBody>
      </p:sp>
      <p:sp>
        <p:nvSpPr>
          <p:cNvPr id="26" name="Text 4"/>
          <p:cNvSpPr/>
          <p:nvPr/>
        </p:nvSpPr>
        <p:spPr>
          <a:xfrm>
            <a:off x="3625553" y="5053668"/>
            <a:ext cx="2702591"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Log Analysis</a:t>
            </a:r>
            <a:endParaRPr lang="en-US" sz="1315" dirty="0"/>
          </a:p>
        </p:txBody>
      </p:sp>
      <p:sp>
        <p:nvSpPr>
          <p:cNvPr id="27" name="Text 5"/>
          <p:cNvSpPr/>
          <p:nvPr/>
        </p:nvSpPr>
        <p:spPr>
          <a:xfrm>
            <a:off x="3625553" y="5387772"/>
            <a:ext cx="225215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Searches and filters log data for specific patterns and errors</a:t>
            </a:r>
            <a:endParaRPr lang="en-US" sz="1169" dirty="0"/>
          </a:p>
        </p:txBody>
      </p:sp>
      <p:sp>
        <p:nvSpPr>
          <p:cNvPr id="28" name="Text 6"/>
          <p:cNvSpPr/>
          <p:nvPr/>
        </p:nvSpPr>
        <p:spPr>
          <a:xfrm>
            <a:off x="6471675" y="5053668"/>
            <a:ext cx="2702416"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Visualization</a:t>
            </a:r>
            <a:endParaRPr lang="en-US" sz="1315" dirty="0"/>
          </a:p>
        </p:txBody>
      </p:sp>
      <p:sp>
        <p:nvSpPr>
          <p:cNvPr id="29" name="Text 7"/>
          <p:cNvSpPr/>
          <p:nvPr/>
        </p:nvSpPr>
        <p:spPr>
          <a:xfrm>
            <a:off x="6471675" y="5387772"/>
            <a:ext cx="2252014"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Creates charts and graphs from log data for better understanding</a:t>
            </a:r>
            <a:endParaRPr lang="en-US" sz="116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197533"/>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80"/>
            <a:ext cx="5197177" cy="2301607"/>
          </a:xfrm>
          <a:prstGeom prst="rect">
            <a:avLst/>
          </a:prstGeom>
        </p:spPr>
      </p:pic>
      <p:pic>
        <p:nvPicPr>
          <p:cNvPr id="7" name="Image 5" descr="preencoded.png"/>
          <p:cNvPicPr>
            <a:picLocks noChangeAspect="1"/>
          </p:cNvPicPr>
          <p:nvPr/>
        </p:nvPicPr>
        <p:blipFill>
          <a:blip r:embed="rId8"/>
          <a:stretch>
            <a:fillRect/>
          </a:stretch>
        </p:blipFill>
        <p:spPr>
          <a:xfrm>
            <a:off x="779576" y="2465895"/>
            <a:ext cx="148491" cy="148491"/>
          </a:xfrm>
          <a:prstGeom prst="rect">
            <a:avLst/>
          </a:prstGeom>
        </p:spPr>
      </p:pic>
      <p:pic>
        <p:nvPicPr>
          <p:cNvPr id="8" name="Image 6" descr="preencoded.png"/>
          <p:cNvPicPr>
            <a:picLocks noChangeAspect="1"/>
          </p:cNvPicPr>
          <p:nvPr/>
        </p:nvPicPr>
        <p:blipFill>
          <a:blip r:embed="rId8"/>
          <a:stretch>
            <a:fillRect/>
          </a:stretch>
        </p:blipFill>
        <p:spPr>
          <a:xfrm>
            <a:off x="779576" y="2789183"/>
            <a:ext cx="148491" cy="148491"/>
          </a:xfrm>
          <a:prstGeom prst="rect">
            <a:avLst/>
          </a:prstGeom>
        </p:spPr>
      </p:pic>
      <p:pic>
        <p:nvPicPr>
          <p:cNvPr id="9" name="Image 7" descr="preencoded.png"/>
          <p:cNvPicPr>
            <a:picLocks noChangeAspect="1"/>
          </p:cNvPicPr>
          <p:nvPr/>
        </p:nvPicPr>
        <p:blipFill>
          <a:blip r:embed="rId8"/>
          <a:stretch>
            <a:fillRect/>
          </a:stretch>
        </p:blipFill>
        <p:spPr>
          <a:xfrm>
            <a:off x="779576" y="3346024"/>
            <a:ext cx="148491" cy="148491"/>
          </a:xfrm>
          <a:prstGeom prst="rect">
            <a:avLst/>
          </a:prstGeom>
        </p:spPr>
      </p:pic>
      <p:pic>
        <p:nvPicPr>
          <p:cNvPr id="10" name="Image 8" descr="preencoded.png"/>
          <p:cNvPicPr>
            <a:picLocks noChangeAspect="1"/>
          </p:cNvPicPr>
          <p:nvPr/>
        </p:nvPicPr>
        <p:blipFill>
          <a:blip r:embed="rId9"/>
          <a:stretch>
            <a:fillRect/>
          </a:stretch>
        </p:blipFill>
        <p:spPr>
          <a:xfrm>
            <a:off x="593963" y="4125600"/>
            <a:ext cx="5197177" cy="1299294"/>
          </a:xfrm>
          <a:prstGeom prst="rect">
            <a:avLst/>
          </a:prstGeom>
        </p:spPr>
      </p:pic>
      <p:pic>
        <p:nvPicPr>
          <p:cNvPr id="11" name="Image 9" descr="preencoded.png"/>
          <p:cNvPicPr>
            <a:picLocks noChangeAspect="1"/>
          </p:cNvPicPr>
          <p:nvPr/>
        </p:nvPicPr>
        <p:blipFill>
          <a:blip r:embed="rId10"/>
          <a:stretch>
            <a:fillRect/>
          </a:stretch>
        </p:blipFill>
        <p:spPr>
          <a:xfrm>
            <a:off x="779576" y="4719563"/>
            <a:ext cx="148491" cy="148491"/>
          </a:xfrm>
          <a:prstGeom prst="rect">
            <a:avLst/>
          </a:prstGeom>
        </p:spPr>
      </p:pic>
      <p:pic>
        <p:nvPicPr>
          <p:cNvPr id="12" name="Image 10" descr="preencoded.png"/>
          <p:cNvPicPr>
            <a:picLocks noChangeAspect="1"/>
          </p:cNvPicPr>
          <p:nvPr/>
        </p:nvPicPr>
        <p:blipFill>
          <a:blip r:embed="rId11"/>
          <a:stretch>
            <a:fillRect/>
          </a:stretch>
        </p:blipFill>
        <p:spPr>
          <a:xfrm>
            <a:off x="3248235" y="4719563"/>
            <a:ext cx="148491" cy="148491"/>
          </a:xfrm>
          <a:prstGeom prst="rect">
            <a:avLst/>
          </a:prstGeom>
        </p:spPr>
      </p:pic>
      <p:pic>
        <p:nvPicPr>
          <p:cNvPr id="13" name="Image 11" descr="preencoded.png"/>
          <p:cNvPicPr>
            <a:picLocks noChangeAspect="1"/>
          </p:cNvPicPr>
          <p:nvPr/>
        </p:nvPicPr>
        <p:blipFill>
          <a:blip r:embed="rId12"/>
          <a:stretch>
            <a:fillRect/>
          </a:stretch>
        </p:blipFill>
        <p:spPr>
          <a:xfrm>
            <a:off x="779577" y="5053667"/>
            <a:ext cx="129929" cy="148491"/>
          </a:xfrm>
          <a:prstGeom prst="rect">
            <a:avLst/>
          </a:prstGeom>
        </p:spPr>
      </p:pic>
      <p:pic>
        <p:nvPicPr>
          <p:cNvPr id="14" name="Image 12" descr="preencoded.png"/>
          <p:cNvPicPr>
            <a:picLocks noChangeAspect="1"/>
          </p:cNvPicPr>
          <p:nvPr/>
        </p:nvPicPr>
        <p:blipFill>
          <a:blip r:embed="rId13"/>
          <a:stretch>
            <a:fillRect/>
          </a:stretch>
        </p:blipFill>
        <p:spPr>
          <a:xfrm>
            <a:off x="3248235" y="5053667"/>
            <a:ext cx="148491" cy="148491"/>
          </a:xfrm>
          <a:prstGeom prst="rect">
            <a:avLst/>
          </a:prstGeom>
        </p:spPr>
      </p:pic>
      <p:pic>
        <p:nvPicPr>
          <p:cNvPr id="15" name="Image 13" descr="preencoded.png"/>
          <p:cNvPicPr>
            <a:picLocks noChangeAspect="1"/>
          </p:cNvPicPr>
          <p:nvPr/>
        </p:nvPicPr>
        <p:blipFill>
          <a:blip r:embed="rId14"/>
          <a:stretch>
            <a:fillRect/>
          </a:stretch>
        </p:blipFill>
        <p:spPr>
          <a:xfrm>
            <a:off x="6088122" y="1638379"/>
            <a:ext cx="5197177" cy="4194865"/>
          </a:xfrm>
          <a:prstGeom prst="rect">
            <a:avLst/>
          </a:prstGeom>
        </p:spPr>
      </p:pic>
      <p:pic>
        <p:nvPicPr>
          <p:cNvPr id="16" name="Image 14" descr="preencoded.png"/>
          <p:cNvPicPr>
            <a:picLocks noChangeAspect="1"/>
          </p:cNvPicPr>
          <p:nvPr/>
        </p:nvPicPr>
        <p:blipFill>
          <a:blip r:embed="rId15"/>
          <a:stretch>
            <a:fillRect/>
          </a:stretch>
        </p:blipFill>
        <p:spPr>
          <a:xfrm>
            <a:off x="6236613" y="1786870"/>
            <a:ext cx="250578" cy="296982"/>
          </a:xfrm>
          <a:prstGeom prst="rect">
            <a:avLst/>
          </a:prstGeom>
        </p:spPr>
      </p:pic>
      <p:pic>
        <p:nvPicPr>
          <p:cNvPr id="17" name="Image 15" descr="preencoded.png"/>
          <p:cNvPicPr>
            <a:picLocks noChangeAspect="1"/>
          </p:cNvPicPr>
          <p:nvPr/>
        </p:nvPicPr>
        <p:blipFill>
          <a:blip r:embed="rId16"/>
          <a:stretch>
            <a:fillRect/>
          </a:stretch>
        </p:blipFill>
        <p:spPr>
          <a:xfrm>
            <a:off x="9579250" y="1805432"/>
            <a:ext cx="618905" cy="259859"/>
          </a:xfrm>
          <a:prstGeom prst="rect">
            <a:avLst/>
          </a:prstGeom>
        </p:spPr>
      </p:pic>
      <p:pic>
        <p:nvPicPr>
          <p:cNvPr id="18" name="Image 16" descr="preencoded.png"/>
          <p:cNvPicPr>
            <a:picLocks noChangeAspect="1"/>
          </p:cNvPicPr>
          <p:nvPr/>
        </p:nvPicPr>
        <p:blipFill>
          <a:blip r:embed="rId17"/>
          <a:stretch>
            <a:fillRect/>
          </a:stretch>
        </p:blipFill>
        <p:spPr>
          <a:xfrm>
            <a:off x="9690618" y="1870397"/>
            <a:ext cx="111368" cy="129929"/>
          </a:xfrm>
          <a:prstGeom prst="rect">
            <a:avLst/>
          </a:prstGeom>
        </p:spPr>
      </p:pic>
      <p:pic>
        <p:nvPicPr>
          <p:cNvPr id="19" name="Image 17" descr="preencoded.png"/>
          <p:cNvPicPr>
            <a:picLocks noChangeAspect="1"/>
          </p:cNvPicPr>
          <p:nvPr/>
        </p:nvPicPr>
        <p:blipFill>
          <a:blip r:embed="rId18"/>
          <a:stretch>
            <a:fillRect/>
          </a:stretch>
        </p:blipFill>
        <p:spPr>
          <a:xfrm>
            <a:off x="10272401" y="1805432"/>
            <a:ext cx="864407" cy="259859"/>
          </a:xfrm>
          <a:prstGeom prst="rect">
            <a:avLst/>
          </a:prstGeom>
        </p:spPr>
      </p:pic>
      <p:pic>
        <p:nvPicPr>
          <p:cNvPr id="20" name="Image 18" descr="preencoded.png"/>
          <p:cNvPicPr>
            <a:picLocks noChangeAspect="1"/>
          </p:cNvPicPr>
          <p:nvPr/>
        </p:nvPicPr>
        <p:blipFill>
          <a:blip r:embed="rId19"/>
          <a:stretch>
            <a:fillRect/>
          </a:stretch>
        </p:blipFill>
        <p:spPr>
          <a:xfrm>
            <a:off x="10383769" y="1870397"/>
            <a:ext cx="129929" cy="129929"/>
          </a:xfrm>
          <a:prstGeom prst="rect">
            <a:avLst/>
          </a:prstGeom>
        </p:spPr>
      </p:pic>
      <p:pic>
        <p:nvPicPr>
          <p:cNvPr id="21" name="Image 19" descr="preencoded.png"/>
          <p:cNvPicPr>
            <a:picLocks noChangeAspect="1"/>
          </p:cNvPicPr>
          <p:nvPr/>
        </p:nvPicPr>
        <p:blipFill>
          <a:blip r:embed="rId20"/>
          <a:stretch>
            <a:fillRect/>
          </a:stretch>
        </p:blipFill>
        <p:spPr>
          <a:xfrm>
            <a:off x="6236612" y="2232343"/>
            <a:ext cx="2375853" cy="1447785"/>
          </a:xfrm>
          <a:prstGeom prst="rect">
            <a:avLst/>
          </a:prstGeom>
        </p:spPr>
      </p:pic>
      <p:pic>
        <p:nvPicPr>
          <p:cNvPr id="22" name="Image 20" descr="preencoded.png"/>
          <p:cNvPicPr>
            <a:picLocks noChangeAspect="1"/>
          </p:cNvPicPr>
          <p:nvPr/>
        </p:nvPicPr>
        <p:blipFill>
          <a:blip r:embed="rId21"/>
          <a:stretch>
            <a:fillRect/>
          </a:stretch>
        </p:blipFill>
        <p:spPr>
          <a:xfrm>
            <a:off x="6347981" y="2343711"/>
            <a:ext cx="2153116" cy="259859"/>
          </a:xfrm>
          <a:prstGeom prst="rect">
            <a:avLst/>
          </a:prstGeom>
        </p:spPr>
      </p:pic>
      <p:pic>
        <p:nvPicPr>
          <p:cNvPr id="23" name="Image 21" descr="preencoded.png"/>
          <p:cNvPicPr>
            <a:picLocks noChangeAspect="1"/>
          </p:cNvPicPr>
          <p:nvPr/>
        </p:nvPicPr>
        <p:blipFill>
          <a:blip r:embed="rId22"/>
          <a:stretch>
            <a:fillRect/>
          </a:stretch>
        </p:blipFill>
        <p:spPr>
          <a:xfrm>
            <a:off x="8463974" y="2362272"/>
            <a:ext cx="37123" cy="148491"/>
          </a:xfrm>
          <a:prstGeom prst="rect">
            <a:avLst/>
          </a:prstGeom>
        </p:spPr>
      </p:pic>
      <p:pic>
        <p:nvPicPr>
          <p:cNvPr id="24" name="Image 22" descr="preencoded.png"/>
          <p:cNvPicPr>
            <a:picLocks noChangeAspect="1"/>
          </p:cNvPicPr>
          <p:nvPr/>
        </p:nvPicPr>
        <p:blipFill>
          <a:blip r:embed="rId23"/>
          <a:stretch>
            <a:fillRect/>
          </a:stretch>
        </p:blipFill>
        <p:spPr>
          <a:xfrm>
            <a:off x="6347980" y="2677815"/>
            <a:ext cx="2115994" cy="890945"/>
          </a:xfrm>
          <a:prstGeom prst="rect">
            <a:avLst/>
          </a:prstGeom>
        </p:spPr>
      </p:pic>
      <p:pic>
        <p:nvPicPr>
          <p:cNvPr id="25" name="Image 23" descr="preencoded.png"/>
          <p:cNvPicPr>
            <a:picLocks noChangeAspect="1"/>
          </p:cNvPicPr>
          <p:nvPr/>
        </p:nvPicPr>
        <p:blipFill>
          <a:blip r:embed="rId24"/>
          <a:stretch>
            <a:fillRect/>
          </a:stretch>
        </p:blipFill>
        <p:spPr>
          <a:xfrm>
            <a:off x="8760956" y="2232343"/>
            <a:ext cx="2375853" cy="1447785"/>
          </a:xfrm>
          <a:prstGeom prst="rect">
            <a:avLst/>
          </a:prstGeom>
        </p:spPr>
      </p:pic>
      <p:pic>
        <p:nvPicPr>
          <p:cNvPr id="26" name="Image 24" descr="preencoded.png"/>
          <p:cNvPicPr>
            <a:picLocks noChangeAspect="1"/>
          </p:cNvPicPr>
          <p:nvPr/>
        </p:nvPicPr>
        <p:blipFill>
          <a:blip r:embed="rId21"/>
          <a:stretch>
            <a:fillRect/>
          </a:stretch>
        </p:blipFill>
        <p:spPr>
          <a:xfrm>
            <a:off x="8872324" y="2343711"/>
            <a:ext cx="2153116" cy="259859"/>
          </a:xfrm>
          <a:prstGeom prst="rect">
            <a:avLst/>
          </a:prstGeom>
        </p:spPr>
      </p:pic>
      <p:pic>
        <p:nvPicPr>
          <p:cNvPr id="27" name="Image 25" descr="preencoded.png"/>
          <p:cNvPicPr>
            <a:picLocks noChangeAspect="1"/>
          </p:cNvPicPr>
          <p:nvPr/>
        </p:nvPicPr>
        <p:blipFill>
          <a:blip r:embed="rId22"/>
          <a:stretch>
            <a:fillRect/>
          </a:stretch>
        </p:blipFill>
        <p:spPr>
          <a:xfrm>
            <a:off x="10988317" y="2362272"/>
            <a:ext cx="37123" cy="148491"/>
          </a:xfrm>
          <a:prstGeom prst="rect">
            <a:avLst/>
          </a:prstGeom>
        </p:spPr>
      </p:pic>
      <p:pic>
        <p:nvPicPr>
          <p:cNvPr id="28" name="Image 26" descr="preencoded.png"/>
          <p:cNvPicPr>
            <a:picLocks noChangeAspect="1"/>
          </p:cNvPicPr>
          <p:nvPr/>
        </p:nvPicPr>
        <p:blipFill>
          <a:blip r:embed="rId25"/>
          <a:stretch>
            <a:fillRect/>
          </a:stretch>
        </p:blipFill>
        <p:spPr>
          <a:xfrm>
            <a:off x="8872324" y="2677815"/>
            <a:ext cx="2115994" cy="890945"/>
          </a:xfrm>
          <a:prstGeom prst="rect">
            <a:avLst/>
          </a:prstGeom>
        </p:spPr>
      </p:pic>
      <p:pic>
        <p:nvPicPr>
          <p:cNvPr id="29" name="Image 27" descr="preencoded.png"/>
          <p:cNvPicPr>
            <a:picLocks noChangeAspect="1"/>
          </p:cNvPicPr>
          <p:nvPr/>
        </p:nvPicPr>
        <p:blipFill>
          <a:blip r:embed="rId20"/>
          <a:stretch>
            <a:fillRect/>
          </a:stretch>
        </p:blipFill>
        <p:spPr>
          <a:xfrm>
            <a:off x="6236612" y="3828619"/>
            <a:ext cx="2375853" cy="1447785"/>
          </a:xfrm>
          <a:prstGeom prst="rect">
            <a:avLst/>
          </a:prstGeom>
        </p:spPr>
      </p:pic>
      <p:pic>
        <p:nvPicPr>
          <p:cNvPr id="30" name="Image 28" descr="preencoded.png"/>
          <p:cNvPicPr>
            <a:picLocks noChangeAspect="1"/>
          </p:cNvPicPr>
          <p:nvPr/>
        </p:nvPicPr>
        <p:blipFill>
          <a:blip r:embed="rId21"/>
          <a:stretch>
            <a:fillRect/>
          </a:stretch>
        </p:blipFill>
        <p:spPr>
          <a:xfrm>
            <a:off x="6347981" y="3939987"/>
            <a:ext cx="2153116" cy="259859"/>
          </a:xfrm>
          <a:prstGeom prst="rect">
            <a:avLst/>
          </a:prstGeom>
        </p:spPr>
      </p:pic>
      <p:pic>
        <p:nvPicPr>
          <p:cNvPr id="31" name="Image 29" descr="preencoded.png"/>
          <p:cNvPicPr>
            <a:picLocks noChangeAspect="1"/>
          </p:cNvPicPr>
          <p:nvPr/>
        </p:nvPicPr>
        <p:blipFill>
          <a:blip r:embed="rId22"/>
          <a:stretch>
            <a:fillRect/>
          </a:stretch>
        </p:blipFill>
        <p:spPr>
          <a:xfrm>
            <a:off x="8463974" y="3958548"/>
            <a:ext cx="37123" cy="148491"/>
          </a:xfrm>
          <a:prstGeom prst="rect">
            <a:avLst/>
          </a:prstGeom>
        </p:spPr>
      </p:pic>
      <p:pic>
        <p:nvPicPr>
          <p:cNvPr id="32" name="Image 30" descr="preencoded.png"/>
          <p:cNvPicPr>
            <a:picLocks noChangeAspect="1"/>
          </p:cNvPicPr>
          <p:nvPr/>
        </p:nvPicPr>
        <p:blipFill>
          <a:blip r:embed="rId26"/>
          <a:stretch>
            <a:fillRect/>
          </a:stretch>
        </p:blipFill>
        <p:spPr>
          <a:xfrm>
            <a:off x="6347980" y="4274091"/>
            <a:ext cx="2115994" cy="890945"/>
          </a:xfrm>
          <a:prstGeom prst="rect">
            <a:avLst/>
          </a:prstGeom>
        </p:spPr>
      </p:pic>
      <p:pic>
        <p:nvPicPr>
          <p:cNvPr id="33" name="Image 31" descr="preencoded.png"/>
          <p:cNvPicPr>
            <a:picLocks noChangeAspect="1"/>
          </p:cNvPicPr>
          <p:nvPr/>
        </p:nvPicPr>
        <p:blipFill>
          <a:blip r:embed="rId24"/>
          <a:stretch>
            <a:fillRect/>
          </a:stretch>
        </p:blipFill>
        <p:spPr>
          <a:xfrm>
            <a:off x="8760956" y="3828619"/>
            <a:ext cx="2375853" cy="1447785"/>
          </a:xfrm>
          <a:prstGeom prst="rect">
            <a:avLst/>
          </a:prstGeom>
        </p:spPr>
      </p:pic>
      <p:pic>
        <p:nvPicPr>
          <p:cNvPr id="34" name="Image 32" descr="preencoded.png"/>
          <p:cNvPicPr>
            <a:picLocks noChangeAspect="1"/>
          </p:cNvPicPr>
          <p:nvPr/>
        </p:nvPicPr>
        <p:blipFill>
          <a:blip r:embed="rId21"/>
          <a:stretch>
            <a:fillRect/>
          </a:stretch>
        </p:blipFill>
        <p:spPr>
          <a:xfrm>
            <a:off x="8872324" y="3939987"/>
            <a:ext cx="2153116" cy="259859"/>
          </a:xfrm>
          <a:prstGeom prst="rect">
            <a:avLst/>
          </a:prstGeom>
        </p:spPr>
      </p:pic>
      <p:pic>
        <p:nvPicPr>
          <p:cNvPr id="35" name="Image 33" descr="preencoded.png"/>
          <p:cNvPicPr>
            <a:picLocks noChangeAspect="1"/>
          </p:cNvPicPr>
          <p:nvPr/>
        </p:nvPicPr>
        <p:blipFill>
          <a:blip r:embed="rId22"/>
          <a:stretch>
            <a:fillRect/>
          </a:stretch>
        </p:blipFill>
        <p:spPr>
          <a:xfrm>
            <a:off x="10988317" y="3958548"/>
            <a:ext cx="37123" cy="148491"/>
          </a:xfrm>
          <a:prstGeom prst="rect">
            <a:avLst/>
          </a:prstGeom>
        </p:spPr>
      </p:pic>
      <p:pic>
        <p:nvPicPr>
          <p:cNvPr id="36" name="Image 34" descr="preencoded.png"/>
          <p:cNvPicPr>
            <a:picLocks noChangeAspect="1"/>
          </p:cNvPicPr>
          <p:nvPr/>
        </p:nvPicPr>
        <p:blipFill>
          <a:blip r:embed="rId27"/>
          <a:stretch>
            <a:fillRect/>
          </a:stretch>
        </p:blipFill>
        <p:spPr>
          <a:xfrm>
            <a:off x="8872324" y="4274091"/>
            <a:ext cx="2115994" cy="890945"/>
          </a:xfrm>
          <a:prstGeom prst="rect">
            <a:avLst/>
          </a:prstGeom>
        </p:spPr>
      </p:pic>
      <p:pic>
        <p:nvPicPr>
          <p:cNvPr id="37" name="Image 35" descr="preencoded.png"/>
          <p:cNvPicPr>
            <a:picLocks noChangeAspect="1"/>
          </p:cNvPicPr>
          <p:nvPr/>
        </p:nvPicPr>
        <p:blipFill>
          <a:blip r:embed="rId28"/>
          <a:stretch>
            <a:fillRect/>
          </a:stretch>
        </p:blipFill>
        <p:spPr>
          <a:xfrm>
            <a:off x="6236612" y="5424894"/>
            <a:ext cx="4900196" cy="259859"/>
          </a:xfrm>
          <a:prstGeom prst="rect">
            <a:avLst/>
          </a:prstGeom>
        </p:spPr>
      </p:pic>
      <p:pic>
        <p:nvPicPr>
          <p:cNvPr id="38" name="Image 36" descr="preencoded.png"/>
          <p:cNvPicPr>
            <a:picLocks noChangeAspect="1"/>
          </p:cNvPicPr>
          <p:nvPr/>
        </p:nvPicPr>
        <p:blipFill>
          <a:blip r:embed="rId29"/>
          <a:stretch>
            <a:fillRect/>
          </a:stretch>
        </p:blipFill>
        <p:spPr>
          <a:xfrm>
            <a:off x="6236613" y="5517702"/>
            <a:ext cx="129929" cy="129929"/>
          </a:xfrm>
          <a:prstGeom prst="rect">
            <a:avLst/>
          </a:prstGeom>
        </p:spPr>
      </p:pic>
      <p:pic>
        <p:nvPicPr>
          <p:cNvPr id="39" name="Image 37" descr="preencoded.png"/>
          <p:cNvPicPr>
            <a:picLocks noChangeAspect="1"/>
          </p:cNvPicPr>
          <p:nvPr/>
        </p:nvPicPr>
        <p:blipFill>
          <a:blip r:embed="rId30"/>
          <a:stretch>
            <a:fillRect/>
          </a:stretch>
        </p:blipFill>
        <p:spPr>
          <a:xfrm>
            <a:off x="9806627" y="5536263"/>
            <a:ext cx="111368" cy="111368"/>
          </a:xfrm>
          <a:prstGeom prst="rect">
            <a:avLst/>
          </a:prstGeom>
        </p:spPr>
      </p:pic>
      <p:pic>
        <p:nvPicPr>
          <p:cNvPr id="40" name="Image 38" descr="preencoded.png"/>
          <p:cNvPicPr>
            <a:picLocks noChangeAspect="1"/>
          </p:cNvPicPr>
          <p:nvPr/>
        </p:nvPicPr>
        <p:blipFill>
          <a:blip r:embed="rId31"/>
          <a:stretch>
            <a:fillRect/>
          </a:stretch>
        </p:blipFill>
        <p:spPr>
          <a:xfrm>
            <a:off x="10538205" y="5536263"/>
            <a:ext cx="111368" cy="111368"/>
          </a:xfrm>
          <a:prstGeom prst="rect">
            <a:avLst/>
          </a:prstGeom>
        </p:spPr>
      </p:pic>
      <p:sp>
        <p:nvSpPr>
          <p:cNvPr id="41" name="Text 0"/>
          <p:cNvSpPr/>
          <p:nvPr/>
        </p:nvSpPr>
        <p:spPr>
          <a:xfrm>
            <a:off x="593963" y="673190"/>
            <a:ext cx="12829604"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Dashboards &amp; Visualization</a:t>
            </a:r>
            <a:endParaRPr lang="en-US" sz="2631" dirty="0"/>
          </a:p>
        </p:txBody>
      </p:sp>
      <p:sp>
        <p:nvSpPr>
          <p:cNvPr id="42" name="Text 1"/>
          <p:cNvSpPr/>
          <p:nvPr/>
        </p:nvSpPr>
        <p:spPr>
          <a:xfrm>
            <a:off x="779577" y="1823993"/>
            <a:ext cx="5791140"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What are CloudWatch Dashboards?</a:t>
            </a:r>
            <a:endParaRPr lang="en-US" sz="1461" dirty="0"/>
          </a:p>
        </p:txBody>
      </p:sp>
      <p:sp>
        <p:nvSpPr>
          <p:cNvPr id="43" name="Text 2"/>
          <p:cNvSpPr/>
          <p:nvPr/>
        </p:nvSpPr>
        <p:spPr>
          <a:xfrm>
            <a:off x="983751" y="2417956"/>
            <a:ext cx="4603214"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Customizable home pages for monitoring resources across AWS Regions</a:t>
            </a:r>
            <a:endParaRPr lang="en-US" sz="1169" dirty="0"/>
          </a:p>
        </p:txBody>
      </p:sp>
      <p:sp>
        <p:nvSpPr>
          <p:cNvPr id="44" name="Text 3"/>
          <p:cNvSpPr/>
          <p:nvPr/>
        </p:nvSpPr>
        <p:spPr>
          <a:xfrm>
            <a:off x="1002313" y="2752061"/>
            <a:ext cx="4603214"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Unified view combining metrics and alarms for comprehensive operational health</a:t>
            </a:r>
            <a:endParaRPr lang="en-US" sz="1169" dirty="0"/>
          </a:p>
        </p:txBody>
      </p:sp>
      <p:sp>
        <p:nvSpPr>
          <p:cNvPr id="45" name="Text 4"/>
          <p:cNvSpPr/>
          <p:nvPr/>
        </p:nvSpPr>
        <p:spPr>
          <a:xfrm>
            <a:off x="1002313" y="3308901"/>
            <a:ext cx="4603214"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AWS provides automatic dashboards for various services to simplify setup</a:t>
            </a:r>
            <a:endParaRPr lang="en-US" sz="1169" dirty="0"/>
          </a:p>
        </p:txBody>
      </p:sp>
      <p:sp>
        <p:nvSpPr>
          <p:cNvPr id="46" name="Text 5"/>
          <p:cNvSpPr/>
          <p:nvPr/>
        </p:nvSpPr>
        <p:spPr>
          <a:xfrm>
            <a:off x="779577" y="4311214"/>
            <a:ext cx="4825950"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Key Benefits</a:t>
            </a:r>
            <a:endParaRPr lang="en-US" sz="1461" dirty="0"/>
          </a:p>
        </p:txBody>
      </p:sp>
      <p:sp>
        <p:nvSpPr>
          <p:cNvPr id="47" name="Text 6"/>
          <p:cNvSpPr/>
          <p:nvPr/>
        </p:nvSpPr>
        <p:spPr>
          <a:xfrm>
            <a:off x="1002313" y="4682441"/>
            <a:ext cx="1869591"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Customizable Layout</a:t>
            </a:r>
            <a:endParaRPr lang="en-US" sz="1169" dirty="0"/>
          </a:p>
        </p:txBody>
      </p:sp>
      <p:sp>
        <p:nvSpPr>
          <p:cNvPr id="48" name="Text 7"/>
          <p:cNvSpPr/>
          <p:nvPr/>
        </p:nvSpPr>
        <p:spPr>
          <a:xfrm>
            <a:off x="3470972" y="4682441"/>
            <a:ext cx="1870984"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Multi-Region Support</a:t>
            </a:r>
            <a:endParaRPr lang="en-US" sz="1169" dirty="0"/>
          </a:p>
        </p:txBody>
      </p:sp>
      <p:sp>
        <p:nvSpPr>
          <p:cNvPr id="49" name="Text 8"/>
          <p:cNvSpPr/>
          <p:nvPr/>
        </p:nvSpPr>
        <p:spPr>
          <a:xfrm>
            <a:off x="983752" y="5016545"/>
            <a:ext cx="160700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Integrated Alarms</a:t>
            </a:r>
            <a:endParaRPr lang="en-US" sz="1169" dirty="0"/>
          </a:p>
        </p:txBody>
      </p:sp>
      <p:sp>
        <p:nvSpPr>
          <p:cNvPr id="50" name="Text 9"/>
          <p:cNvSpPr/>
          <p:nvPr/>
        </p:nvSpPr>
        <p:spPr>
          <a:xfrm>
            <a:off x="3470972" y="5016545"/>
            <a:ext cx="1645812"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Real-time Updates</a:t>
            </a:r>
            <a:endParaRPr lang="en-US" sz="1169" dirty="0"/>
          </a:p>
        </p:txBody>
      </p:sp>
      <p:sp>
        <p:nvSpPr>
          <p:cNvPr id="51" name="Text 10"/>
          <p:cNvSpPr/>
          <p:nvPr/>
        </p:nvSpPr>
        <p:spPr>
          <a:xfrm>
            <a:off x="6598559" y="1805432"/>
            <a:ext cx="2348822"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Dashboard Overview</a:t>
            </a:r>
            <a:endParaRPr lang="en-US" sz="1315" dirty="0"/>
          </a:p>
        </p:txBody>
      </p:sp>
      <p:sp>
        <p:nvSpPr>
          <p:cNvPr id="52" name="Text 11"/>
          <p:cNvSpPr/>
          <p:nvPr/>
        </p:nvSpPr>
        <p:spPr>
          <a:xfrm>
            <a:off x="9814341" y="1842555"/>
            <a:ext cx="297213" cy="185613"/>
          </a:xfrm>
          <a:prstGeom prst="rect">
            <a:avLst/>
          </a:prstGeom>
          <a:noFill/>
          <a:ln/>
        </p:spPr>
        <p:txBody>
          <a:bodyPr vert="horz" wrap="square" lIns="0" tIns="0" rIns="0" bIns="0" rtlCol="0" anchor="t"/>
          <a:lstStyle/>
          <a:p>
            <a:pPr algn="ctr">
              <a:lnSpc>
                <a:spcPts val="1461"/>
              </a:lnSpc>
            </a:pPr>
            <a:r>
              <a:rPr lang="en-US" sz="1023" dirty="0">
                <a:solidFill>
                  <a:srgbClr val="000000"/>
                </a:solidFill>
                <a:latin typeface="ui-sans-serif" pitchFamily="34" charset="0"/>
                <a:ea typeface="ui-sans-serif" pitchFamily="34" charset="-122"/>
                <a:cs typeface="ui-sans-serif" pitchFamily="34" charset="-120"/>
              </a:rPr>
              <a:t>24h</a:t>
            </a:r>
            <a:endParaRPr lang="en-US" sz="1023" dirty="0"/>
          </a:p>
        </p:txBody>
      </p:sp>
      <p:sp>
        <p:nvSpPr>
          <p:cNvPr id="53" name="Text 12"/>
          <p:cNvSpPr/>
          <p:nvPr/>
        </p:nvSpPr>
        <p:spPr>
          <a:xfrm>
            <a:off x="10503359" y="1842555"/>
            <a:ext cx="569543" cy="185613"/>
          </a:xfrm>
          <a:prstGeom prst="rect">
            <a:avLst/>
          </a:prstGeom>
          <a:noFill/>
          <a:ln/>
        </p:spPr>
        <p:txBody>
          <a:bodyPr vert="horz" wrap="square" lIns="0" tIns="0" rIns="0" bIns="0" rtlCol="0" anchor="t"/>
          <a:lstStyle/>
          <a:p>
            <a:pPr algn="ctr">
              <a:lnSpc>
                <a:spcPts val="1461"/>
              </a:lnSpc>
            </a:pPr>
            <a:r>
              <a:rPr lang="en-US" sz="1023" dirty="0">
                <a:solidFill>
                  <a:srgbClr val="FFFFFF"/>
                </a:solidFill>
                <a:latin typeface="ui-sans-serif" pitchFamily="34" charset="0"/>
                <a:ea typeface="ui-sans-serif" pitchFamily="34" charset="-122"/>
                <a:cs typeface="ui-sans-serif" pitchFamily="34" charset="-120"/>
              </a:rPr>
              <a:t>Actions</a:t>
            </a:r>
            <a:endParaRPr lang="en-US" sz="1023" dirty="0"/>
          </a:p>
        </p:txBody>
      </p:sp>
      <p:sp>
        <p:nvSpPr>
          <p:cNvPr id="54" name="Text 13"/>
          <p:cNvSpPr/>
          <p:nvPr/>
        </p:nvSpPr>
        <p:spPr>
          <a:xfrm>
            <a:off x="6347981" y="2343711"/>
            <a:ext cx="1147961"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CPU Utilization</a:t>
            </a:r>
            <a:endParaRPr lang="en-US" sz="1023" dirty="0"/>
          </a:p>
        </p:txBody>
      </p:sp>
      <p:sp>
        <p:nvSpPr>
          <p:cNvPr id="55" name="Text 14"/>
          <p:cNvSpPr/>
          <p:nvPr/>
        </p:nvSpPr>
        <p:spPr>
          <a:xfrm>
            <a:off x="8872324" y="2343711"/>
            <a:ext cx="868497"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Error Rates</a:t>
            </a:r>
            <a:endParaRPr lang="en-US" sz="1023" dirty="0"/>
          </a:p>
        </p:txBody>
      </p:sp>
      <p:sp>
        <p:nvSpPr>
          <p:cNvPr id="56" name="Text 15"/>
          <p:cNvSpPr/>
          <p:nvPr/>
        </p:nvSpPr>
        <p:spPr>
          <a:xfrm>
            <a:off x="6347981" y="3939987"/>
            <a:ext cx="921919"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Network I/O</a:t>
            </a:r>
            <a:endParaRPr lang="en-US" sz="1023" dirty="0"/>
          </a:p>
        </p:txBody>
      </p:sp>
      <p:sp>
        <p:nvSpPr>
          <p:cNvPr id="57" name="Text 16"/>
          <p:cNvSpPr/>
          <p:nvPr/>
        </p:nvSpPr>
        <p:spPr>
          <a:xfrm>
            <a:off x="8872324" y="3939987"/>
            <a:ext cx="1241754" cy="185613"/>
          </a:xfrm>
          <a:prstGeom prst="rect">
            <a:avLst/>
          </a:prstGeom>
          <a:noFill/>
          <a:ln/>
        </p:spPr>
        <p:txBody>
          <a:bodyPr vert="horz" wrap="square" lIns="0" tIns="0" rIns="0" bIns="0" rtlCol="0" anchor="t"/>
          <a:lstStyle/>
          <a:p>
            <a:pPr>
              <a:lnSpc>
                <a:spcPts val="1461"/>
              </a:lnSpc>
            </a:pPr>
            <a:r>
              <a:rPr lang="en-US" sz="1023" dirty="0">
                <a:solidFill>
                  <a:srgbClr val="374151"/>
                </a:solidFill>
                <a:latin typeface="ui-sans-serif" pitchFamily="34" charset="0"/>
                <a:ea typeface="ui-sans-serif" pitchFamily="34" charset="-122"/>
                <a:cs typeface="ui-sans-serif" pitchFamily="34" charset="-120"/>
              </a:rPr>
              <a:t>Disk Operations</a:t>
            </a:r>
            <a:endParaRPr lang="en-US" sz="1023" dirty="0"/>
          </a:p>
        </p:txBody>
      </p:sp>
      <p:sp>
        <p:nvSpPr>
          <p:cNvPr id="58" name="Text 17"/>
          <p:cNvSpPr/>
          <p:nvPr/>
        </p:nvSpPr>
        <p:spPr>
          <a:xfrm>
            <a:off x="6403664" y="5499140"/>
            <a:ext cx="2716686" cy="185613"/>
          </a:xfrm>
          <a:prstGeom prst="rect">
            <a:avLst/>
          </a:prstGeom>
          <a:noFill/>
          <a:ln/>
        </p:spPr>
        <p:txBody>
          <a:bodyPr vert="horz" wrap="square" lIns="0" tIns="0" rIns="0" bIns="0" rtlCol="0" anchor="t"/>
          <a:lstStyle/>
          <a:p>
            <a:pPr>
              <a:lnSpc>
                <a:spcPts val="1461"/>
              </a:lnSpc>
            </a:pPr>
            <a:r>
              <a:rPr lang="en-US" sz="1023" dirty="0">
                <a:solidFill>
                  <a:srgbClr val="6B7280"/>
                </a:solidFill>
                <a:latin typeface="ui-sans-serif" pitchFamily="34" charset="0"/>
                <a:ea typeface="ui-sans-serif" pitchFamily="34" charset="-122"/>
                <a:cs typeface="ui-sans-serif" pitchFamily="34" charset="-120"/>
              </a:rPr>
              <a:t> Data refreshes every 5 minutes</a:t>
            </a:r>
            <a:endParaRPr lang="en-US" sz="1023" dirty="0"/>
          </a:p>
        </p:txBody>
      </p:sp>
      <p:sp>
        <p:nvSpPr>
          <p:cNvPr id="59" name="Text 18"/>
          <p:cNvSpPr/>
          <p:nvPr/>
        </p:nvSpPr>
        <p:spPr>
          <a:xfrm>
            <a:off x="9955118" y="5499140"/>
            <a:ext cx="566063"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Metrics</a:t>
            </a:r>
            <a:endParaRPr lang="en-US" sz="1023" dirty="0"/>
          </a:p>
        </p:txBody>
      </p:sp>
      <p:sp>
        <p:nvSpPr>
          <p:cNvPr id="60" name="Text 19"/>
          <p:cNvSpPr/>
          <p:nvPr/>
        </p:nvSpPr>
        <p:spPr>
          <a:xfrm>
            <a:off x="10686697" y="5499140"/>
            <a:ext cx="540135"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Alarms</a:t>
            </a:r>
            <a:endParaRPr lang="en-US" sz="102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197533"/>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564134"/>
            <a:ext cx="5197177" cy="1596276"/>
          </a:xfrm>
          <a:prstGeom prst="rect">
            <a:avLst/>
          </a:prstGeom>
        </p:spPr>
      </p:pic>
      <p:pic>
        <p:nvPicPr>
          <p:cNvPr id="7" name="Image 5" descr="preencoded.png"/>
          <p:cNvPicPr>
            <a:picLocks noChangeAspect="1"/>
          </p:cNvPicPr>
          <p:nvPr/>
        </p:nvPicPr>
        <p:blipFill>
          <a:blip r:embed="rId8"/>
          <a:stretch>
            <a:fillRect/>
          </a:stretch>
        </p:blipFill>
        <p:spPr>
          <a:xfrm>
            <a:off x="779576" y="1786870"/>
            <a:ext cx="222736" cy="296982"/>
          </a:xfrm>
          <a:prstGeom prst="rect">
            <a:avLst/>
          </a:prstGeom>
        </p:spPr>
      </p:pic>
      <p:pic>
        <p:nvPicPr>
          <p:cNvPr id="8" name="Image 6" descr="preencoded.png"/>
          <p:cNvPicPr>
            <a:picLocks noChangeAspect="1"/>
          </p:cNvPicPr>
          <p:nvPr/>
        </p:nvPicPr>
        <p:blipFill>
          <a:blip r:embed="rId9"/>
          <a:stretch>
            <a:fillRect/>
          </a:stretch>
        </p:blipFill>
        <p:spPr>
          <a:xfrm>
            <a:off x="593963" y="3383146"/>
            <a:ext cx="5197177" cy="1819012"/>
          </a:xfrm>
          <a:prstGeom prst="rect">
            <a:avLst/>
          </a:prstGeom>
        </p:spPr>
      </p:pic>
      <p:pic>
        <p:nvPicPr>
          <p:cNvPr id="9" name="Image 7" descr="preencoded.png"/>
          <p:cNvPicPr>
            <a:picLocks noChangeAspect="1"/>
          </p:cNvPicPr>
          <p:nvPr/>
        </p:nvPicPr>
        <p:blipFill>
          <a:blip r:embed="rId10"/>
          <a:stretch>
            <a:fillRect/>
          </a:stretch>
        </p:blipFill>
        <p:spPr>
          <a:xfrm>
            <a:off x="779576" y="3605882"/>
            <a:ext cx="167052" cy="296982"/>
          </a:xfrm>
          <a:prstGeom prst="rect">
            <a:avLst/>
          </a:prstGeom>
        </p:spPr>
      </p:pic>
      <p:pic>
        <p:nvPicPr>
          <p:cNvPr id="10" name="Image 8" descr="preencoded.png"/>
          <p:cNvPicPr>
            <a:picLocks noChangeAspect="1"/>
          </p:cNvPicPr>
          <p:nvPr/>
        </p:nvPicPr>
        <p:blipFill>
          <a:blip r:embed="rId11"/>
          <a:stretch>
            <a:fillRect/>
          </a:stretch>
        </p:blipFill>
        <p:spPr>
          <a:xfrm>
            <a:off x="6088122" y="1601257"/>
            <a:ext cx="232017" cy="185613"/>
          </a:xfrm>
          <a:prstGeom prst="rect">
            <a:avLst/>
          </a:prstGeom>
        </p:spPr>
      </p:pic>
      <p:pic>
        <p:nvPicPr>
          <p:cNvPr id="11" name="Image 9" descr="preencoded.png"/>
          <p:cNvPicPr>
            <a:picLocks noChangeAspect="1"/>
          </p:cNvPicPr>
          <p:nvPr/>
        </p:nvPicPr>
        <p:blipFill>
          <a:blip r:embed="rId12"/>
          <a:stretch>
            <a:fillRect/>
          </a:stretch>
        </p:blipFill>
        <p:spPr>
          <a:xfrm>
            <a:off x="6088122" y="2009606"/>
            <a:ext cx="5197177" cy="946629"/>
          </a:xfrm>
          <a:prstGeom prst="rect">
            <a:avLst/>
          </a:prstGeom>
        </p:spPr>
      </p:pic>
      <p:pic>
        <p:nvPicPr>
          <p:cNvPr id="12" name="Image 10" descr="preencoded.png"/>
          <p:cNvPicPr>
            <a:picLocks noChangeAspect="1"/>
          </p:cNvPicPr>
          <p:nvPr/>
        </p:nvPicPr>
        <p:blipFill>
          <a:blip r:embed="rId13"/>
          <a:stretch>
            <a:fillRect/>
          </a:stretch>
        </p:blipFill>
        <p:spPr>
          <a:xfrm>
            <a:off x="6088122" y="3104726"/>
            <a:ext cx="5197177" cy="631086"/>
          </a:xfrm>
          <a:prstGeom prst="rect">
            <a:avLst/>
          </a:prstGeom>
        </p:spPr>
      </p:pic>
      <p:pic>
        <p:nvPicPr>
          <p:cNvPr id="13" name="Image 11" descr="preencoded.png"/>
          <p:cNvPicPr>
            <a:picLocks noChangeAspect="1"/>
          </p:cNvPicPr>
          <p:nvPr/>
        </p:nvPicPr>
        <p:blipFill>
          <a:blip r:embed="rId14"/>
          <a:stretch>
            <a:fillRect/>
          </a:stretch>
        </p:blipFill>
        <p:spPr>
          <a:xfrm>
            <a:off x="6199490" y="3308901"/>
            <a:ext cx="222736" cy="222736"/>
          </a:xfrm>
          <a:prstGeom prst="rect">
            <a:avLst/>
          </a:prstGeom>
        </p:spPr>
      </p:pic>
      <p:pic>
        <p:nvPicPr>
          <p:cNvPr id="14" name="Image 12" descr="preencoded.png"/>
          <p:cNvPicPr>
            <a:picLocks noChangeAspect="1"/>
          </p:cNvPicPr>
          <p:nvPr/>
        </p:nvPicPr>
        <p:blipFill>
          <a:blip r:embed="rId15"/>
          <a:stretch>
            <a:fillRect/>
          </a:stretch>
        </p:blipFill>
        <p:spPr>
          <a:xfrm>
            <a:off x="6088122" y="3847180"/>
            <a:ext cx="5197177" cy="631086"/>
          </a:xfrm>
          <a:prstGeom prst="rect">
            <a:avLst/>
          </a:prstGeom>
        </p:spPr>
      </p:pic>
      <p:pic>
        <p:nvPicPr>
          <p:cNvPr id="15" name="Image 13" descr="preencoded.png"/>
          <p:cNvPicPr>
            <a:picLocks noChangeAspect="1"/>
          </p:cNvPicPr>
          <p:nvPr/>
        </p:nvPicPr>
        <p:blipFill>
          <a:blip r:embed="rId16"/>
          <a:stretch>
            <a:fillRect/>
          </a:stretch>
        </p:blipFill>
        <p:spPr>
          <a:xfrm>
            <a:off x="6199490" y="4051355"/>
            <a:ext cx="222736" cy="222736"/>
          </a:xfrm>
          <a:prstGeom prst="rect">
            <a:avLst/>
          </a:prstGeom>
        </p:spPr>
      </p:pic>
      <p:pic>
        <p:nvPicPr>
          <p:cNvPr id="16" name="Image 14" descr="preencoded.png"/>
          <p:cNvPicPr>
            <a:picLocks noChangeAspect="1"/>
          </p:cNvPicPr>
          <p:nvPr/>
        </p:nvPicPr>
        <p:blipFill>
          <a:blip r:embed="rId17"/>
          <a:stretch>
            <a:fillRect/>
          </a:stretch>
        </p:blipFill>
        <p:spPr>
          <a:xfrm>
            <a:off x="6088122" y="4589634"/>
            <a:ext cx="5197177" cy="631086"/>
          </a:xfrm>
          <a:prstGeom prst="rect">
            <a:avLst/>
          </a:prstGeom>
        </p:spPr>
      </p:pic>
      <p:pic>
        <p:nvPicPr>
          <p:cNvPr id="17" name="Image 15" descr="preencoded.png"/>
          <p:cNvPicPr>
            <a:picLocks noChangeAspect="1"/>
          </p:cNvPicPr>
          <p:nvPr/>
        </p:nvPicPr>
        <p:blipFill>
          <a:blip r:embed="rId18"/>
          <a:stretch>
            <a:fillRect/>
          </a:stretch>
        </p:blipFill>
        <p:spPr>
          <a:xfrm>
            <a:off x="6199490" y="4793809"/>
            <a:ext cx="222736" cy="222736"/>
          </a:xfrm>
          <a:prstGeom prst="rect">
            <a:avLst/>
          </a:prstGeom>
        </p:spPr>
      </p:pic>
      <p:pic>
        <p:nvPicPr>
          <p:cNvPr id="18" name="Image 16" descr="preencoded.png"/>
          <p:cNvPicPr>
            <a:picLocks noChangeAspect="1"/>
          </p:cNvPicPr>
          <p:nvPr/>
        </p:nvPicPr>
        <p:blipFill>
          <a:blip r:embed="rId19"/>
          <a:stretch>
            <a:fillRect/>
          </a:stretch>
        </p:blipFill>
        <p:spPr>
          <a:xfrm>
            <a:off x="593963" y="5443456"/>
            <a:ext cx="10691336" cy="482595"/>
          </a:xfrm>
          <a:prstGeom prst="rect">
            <a:avLst/>
          </a:prstGeom>
        </p:spPr>
      </p:pic>
      <p:pic>
        <p:nvPicPr>
          <p:cNvPr id="19" name="Image 17" descr="preencoded.png"/>
          <p:cNvPicPr>
            <a:picLocks noChangeAspect="1"/>
          </p:cNvPicPr>
          <p:nvPr/>
        </p:nvPicPr>
        <p:blipFill>
          <a:blip r:embed="rId20"/>
          <a:stretch>
            <a:fillRect/>
          </a:stretch>
        </p:blipFill>
        <p:spPr>
          <a:xfrm>
            <a:off x="705332" y="5554824"/>
            <a:ext cx="139210" cy="259859"/>
          </a:xfrm>
          <a:prstGeom prst="rect">
            <a:avLst/>
          </a:prstGeom>
        </p:spPr>
      </p:pic>
      <p:sp>
        <p:nvSpPr>
          <p:cNvPr id="20"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Logs Insights</a:t>
            </a:r>
            <a:endParaRPr lang="en-US" sz="2631" dirty="0"/>
          </a:p>
        </p:txBody>
      </p:sp>
      <p:sp>
        <p:nvSpPr>
          <p:cNvPr id="21" name="Text 1"/>
          <p:cNvSpPr/>
          <p:nvPr/>
        </p:nvSpPr>
        <p:spPr>
          <a:xfrm>
            <a:off x="1113681" y="1749748"/>
            <a:ext cx="5390215"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Interactive Query Service</a:t>
            </a:r>
            <a:endParaRPr lang="en-US" sz="1461" dirty="0"/>
          </a:p>
        </p:txBody>
      </p:sp>
      <p:sp>
        <p:nvSpPr>
          <p:cNvPr id="22" name="Text 2"/>
          <p:cNvSpPr/>
          <p:nvPr/>
        </p:nvSpPr>
        <p:spPr>
          <a:xfrm>
            <a:off x="1113681" y="2083852"/>
            <a:ext cx="4491846" cy="890945"/>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Logs Insights is an interactive query service designed for efficient analysis of log data. It uses a powerful query language to help you quickly search, filter, and visualize logs.</a:t>
            </a:r>
            <a:endParaRPr lang="en-US" sz="1169" dirty="0"/>
          </a:p>
        </p:txBody>
      </p:sp>
      <p:sp>
        <p:nvSpPr>
          <p:cNvPr id="23" name="Text 3"/>
          <p:cNvSpPr/>
          <p:nvPr/>
        </p:nvSpPr>
        <p:spPr>
          <a:xfrm>
            <a:off x="1057997" y="3568760"/>
            <a:ext cx="3295654"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Key Benefits</a:t>
            </a:r>
            <a:endParaRPr lang="en-US" sz="1461" dirty="0"/>
          </a:p>
        </p:txBody>
      </p:sp>
      <p:sp>
        <p:nvSpPr>
          <p:cNvPr id="24" name="Text 4"/>
          <p:cNvSpPr/>
          <p:nvPr/>
        </p:nvSpPr>
        <p:spPr>
          <a:xfrm>
            <a:off x="1057997" y="3902864"/>
            <a:ext cx="395478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Rapid identification of patterns and errors</a:t>
            </a:r>
            <a:endParaRPr lang="en-US" sz="1169" dirty="0"/>
          </a:p>
        </p:txBody>
      </p:sp>
      <p:sp>
        <p:nvSpPr>
          <p:cNvPr id="25" name="Text 5"/>
          <p:cNvSpPr/>
          <p:nvPr/>
        </p:nvSpPr>
        <p:spPr>
          <a:xfrm>
            <a:off x="1057997" y="4199846"/>
            <a:ext cx="395478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Quick visualization of log data</a:t>
            </a:r>
            <a:endParaRPr lang="en-US" sz="1169" dirty="0"/>
          </a:p>
        </p:txBody>
      </p:sp>
      <p:sp>
        <p:nvSpPr>
          <p:cNvPr id="26" name="Text 6"/>
          <p:cNvSpPr/>
          <p:nvPr/>
        </p:nvSpPr>
        <p:spPr>
          <a:xfrm>
            <a:off x="1057997" y="4496827"/>
            <a:ext cx="395478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Search and filter capabilities</a:t>
            </a:r>
            <a:endParaRPr lang="en-US" sz="1169" dirty="0"/>
          </a:p>
        </p:txBody>
      </p:sp>
      <p:sp>
        <p:nvSpPr>
          <p:cNvPr id="27" name="Text 7"/>
          <p:cNvSpPr/>
          <p:nvPr/>
        </p:nvSpPr>
        <p:spPr>
          <a:xfrm>
            <a:off x="1057997" y="4793809"/>
            <a:ext cx="395478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374151"/>
                </a:solidFill>
                <a:latin typeface="ui-sans-serif" pitchFamily="34" charset="0"/>
                <a:ea typeface="ui-sans-serif" pitchFamily="34" charset="-122"/>
                <a:cs typeface="ui-sans-serif" pitchFamily="34" charset="-120"/>
              </a:rPr>
              <a:t>Efficient analysis of large log volumes</a:t>
            </a:r>
            <a:endParaRPr lang="en-US" sz="1169" dirty="0"/>
          </a:p>
        </p:txBody>
      </p:sp>
      <p:sp>
        <p:nvSpPr>
          <p:cNvPr id="28" name="Text 8"/>
          <p:cNvSpPr/>
          <p:nvPr/>
        </p:nvSpPr>
        <p:spPr>
          <a:xfrm>
            <a:off x="6394384" y="1564134"/>
            <a:ext cx="5197177"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 Query Example</a:t>
            </a:r>
            <a:endParaRPr lang="en-US" sz="1461" dirty="0"/>
          </a:p>
        </p:txBody>
      </p:sp>
      <p:sp>
        <p:nvSpPr>
          <p:cNvPr id="29" name="Text 9"/>
          <p:cNvSpPr/>
          <p:nvPr/>
        </p:nvSpPr>
        <p:spPr>
          <a:xfrm>
            <a:off x="6199490" y="2009606"/>
            <a:ext cx="5197177" cy="946629"/>
          </a:xfrm>
          <a:prstGeom prst="rect">
            <a:avLst/>
          </a:prstGeom>
          <a:noFill/>
          <a:ln/>
        </p:spPr>
        <p:txBody>
          <a:bodyPr vert="horz" wrap="square" lIns="0" tIns="0" rIns="0" bIns="0" rtlCol="0" anchor="t"/>
          <a:lstStyle/>
          <a:p>
            <a:pPr>
              <a:lnSpc>
                <a:spcPts val="1425"/>
              </a:lnSpc>
            </a:pPr>
            <a:r>
              <a:rPr lang="en-US" sz="950" dirty="0">
                <a:solidFill>
                  <a:srgbClr val="6272A4"/>
                </a:solidFill>
                <a:latin typeface="Arial" pitchFamily="34" charset="0"/>
                <a:ea typeface="Arial" pitchFamily="34" charset="-122"/>
                <a:cs typeface="Arial" pitchFamily="34" charset="-120"/>
              </a:rPr>
              <a:t>// Basic query to view recent log messages</a:t>
            </a:r>
            <a:r>
              <a:rPr lang="en-US" sz="950" dirty="0">
                <a:solidFill>
                  <a:srgbClr val="F8F8F2"/>
                </a:solidFill>
                <a:latin typeface="Arial" pitchFamily="34" charset="0"/>
                <a:ea typeface="Arial" pitchFamily="34" charset="-122"/>
                <a:cs typeface="Arial" pitchFamily="34" charset="-120"/>
              </a:rPr>
              <a:t>
</a:t>
            </a:r>
            <a:r>
              <a:rPr lang="en-US" sz="950" dirty="0">
                <a:solidFill>
                  <a:srgbClr val="FF79C6"/>
                </a:solidFill>
                <a:latin typeface="Arial" pitchFamily="34" charset="0"/>
                <a:ea typeface="Arial" pitchFamily="34" charset="-122"/>
                <a:cs typeface="Arial" pitchFamily="34" charset="-120"/>
              </a:rPr>
              <a:t>fields</a:t>
            </a:r>
            <a:r>
              <a:rPr lang="en-US" sz="950" dirty="0">
                <a:solidFill>
                  <a:srgbClr val="F8F8F2"/>
                </a:solidFill>
                <a:latin typeface="Arial" pitchFamily="34" charset="0"/>
                <a:ea typeface="Arial" pitchFamily="34" charset="-122"/>
                <a:cs typeface="Arial" pitchFamily="34" charset="-120"/>
              </a:rPr>
              <a:t> </a:t>
            </a:r>
            <a:r>
              <a:rPr lang="en-US" sz="950" dirty="0">
                <a:solidFill>
                  <a:srgbClr val="50FA7B"/>
                </a:solidFill>
                <a:latin typeface="Arial" pitchFamily="34" charset="0"/>
                <a:ea typeface="Arial" pitchFamily="34" charset="-122"/>
                <a:cs typeface="Arial" pitchFamily="34" charset="-120"/>
              </a:rPr>
              <a:t>@timestamp</a:t>
            </a:r>
            <a:r>
              <a:rPr lang="en-US" sz="950" dirty="0">
                <a:solidFill>
                  <a:srgbClr val="F8F8F2"/>
                </a:solidFill>
                <a:latin typeface="Arial" pitchFamily="34" charset="0"/>
                <a:ea typeface="Arial" pitchFamily="34" charset="-122"/>
                <a:cs typeface="Arial" pitchFamily="34" charset="-120"/>
              </a:rPr>
              <a:t>, </a:t>
            </a:r>
            <a:r>
              <a:rPr lang="en-US" sz="950" dirty="0">
                <a:solidFill>
                  <a:srgbClr val="50FA7B"/>
                </a:solidFill>
                <a:latin typeface="Arial" pitchFamily="34" charset="0"/>
                <a:ea typeface="Arial" pitchFamily="34" charset="-122"/>
                <a:cs typeface="Arial" pitchFamily="34" charset="-120"/>
              </a:rPr>
              <a:t>@message</a:t>
            </a:r>
            <a:r>
              <a:rPr lang="en-US" sz="950" dirty="0">
                <a:solidFill>
                  <a:srgbClr val="F8F8F2"/>
                </a:solidFill>
                <a:latin typeface="Arial" pitchFamily="34" charset="0"/>
                <a:ea typeface="Arial" pitchFamily="34" charset="-122"/>
                <a:cs typeface="Arial" pitchFamily="34" charset="-120"/>
              </a:rPr>
              <a:t>
</a:t>
            </a:r>
            <a:r>
              <a:rPr lang="en-US" sz="950" dirty="0">
                <a:solidFill>
                  <a:srgbClr val="FF79C6"/>
                </a:solidFill>
                <a:latin typeface="Arial" pitchFamily="34" charset="0"/>
                <a:ea typeface="Arial" pitchFamily="34" charset="-122"/>
                <a:cs typeface="Arial" pitchFamily="34" charset="-120"/>
              </a:rPr>
              <a:t>| sort</a:t>
            </a:r>
            <a:r>
              <a:rPr lang="en-US" sz="950" dirty="0">
                <a:solidFill>
                  <a:srgbClr val="F8F8F2"/>
                </a:solidFill>
                <a:latin typeface="Arial" pitchFamily="34" charset="0"/>
                <a:ea typeface="Arial" pitchFamily="34" charset="-122"/>
                <a:cs typeface="Arial" pitchFamily="34" charset="-120"/>
              </a:rPr>
              <a:t> </a:t>
            </a:r>
            <a:r>
              <a:rPr lang="en-US" sz="950" dirty="0">
                <a:solidFill>
                  <a:srgbClr val="50FA7B"/>
                </a:solidFill>
                <a:latin typeface="Arial" pitchFamily="34" charset="0"/>
                <a:ea typeface="Arial" pitchFamily="34" charset="-122"/>
                <a:cs typeface="Arial" pitchFamily="34" charset="-120"/>
              </a:rPr>
              <a:t>@timestamp</a:t>
            </a:r>
            <a:r>
              <a:rPr lang="en-US" sz="950" dirty="0">
                <a:solidFill>
                  <a:srgbClr val="F8F8F2"/>
                </a:solidFill>
                <a:latin typeface="Arial" pitchFamily="34" charset="0"/>
                <a:ea typeface="Arial" pitchFamily="34" charset="-122"/>
                <a:cs typeface="Arial" pitchFamily="34" charset="-120"/>
              </a:rPr>
              <a:t> </a:t>
            </a:r>
            <a:r>
              <a:rPr lang="en-US" sz="950" dirty="0">
                <a:solidFill>
                  <a:srgbClr val="FF79C6"/>
                </a:solidFill>
                <a:latin typeface="Arial" pitchFamily="34" charset="0"/>
                <a:ea typeface="Arial" pitchFamily="34" charset="-122"/>
                <a:cs typeface="Arial" pitchFamily="34" charset="-120"/>
              </a:rPr>
              <a:t>desc</a:t>
            </a:r>
            <a:r>
              <a:rPr lang="en-US" sz="950" dirty="0">
                <a:solidFill>
                  <a:srgbClr val="F8F8F2"/>
                </a:solidFill>
                <a:latin typeface="Arial" pitchFamily="34" charset="0"/>
                <a:ea typeface="Arial" pitchFamily="34" charset="-122"/>
                <a:cs typeface="Arial" pitchFamily="34" charset="-120"/>
              </a:rPr>
              <a:t>
</a:t>
            </a:r>
            <a:r>
              <a:rPr lang="en-US" sz="950" dirty="0">
                <a:solidFill>
                  <a:srgbClr val="FF79C6"/>
                </a:solidFill>
                <a:latin typeface="Arial" pitchFamily="34" charset="0"/>
                <a:ea typeface="Arial" pitchFamily="34" charset="-122"/>
                <a:cs typeface="Arial" pitchFamily="34" charset="-120"/>
              </a:rPr>
              <a:t>| limit</a:t>
            </a:r>
            <a:r>
              <a:rPr lang="en-US" sz="950" dirty="0">
                <a:solidFill>
                  <a:srgbClr val="F8F8F2"/>
                </a:solidFill>
                <a:latin typeface="Arial" pitchFamily="34" charset="0"/>
                <a:ea typeface="Arial" pitchFamily="34" charset="-122"/>
                <a:cs typeface="Arial" pitchFamily="34" charset="-120"/>
              </a:rPr>
              <a:t> </a:t>
            </a:r>
            <a:r>
              <a:rPr lang="en-US" sz="950" dirty="0">
                <a:solidFill>
                  <a:srgbClr val="F1FA8C"/>
                </a:solidFill>
                <a:latin typeface="Arial" pitchFamily="34" charset="0"/>
                <a:ea typeface="Arial" pitchFamily="34" charset="-122"/>
                <a:cs typeface="Arial" pitchFamily="34" charset="-120"/>
              </a:rPr>
              <a:t>20</a:t>
            </a:r>
            <a:endParaRPr lang="en-US" sz="950" dirty="0"/>
          </a:p>
        </p:txBody>
      </p:sp>
      <p:sp>
        <p:nvSpPr>
          <p:cNvPr id="30" name="Text 10"/>
          <p:cNvSpPr/>
          <p:nvPr/>
        </p:nvSpPr>
        <p:spPr>
          <a:xfrm>
            <a:off x="6263585" y="3308901"/>
            <a:ext cx="267283" cy="222736"/>
          </a:xfrm>
          <a:prstGeom prst="rect">
            <a:avLst/>
          </a:prstGeom>
          <a:noFill/>
          <a:ln/>
        </p:spPr>
        <p:txBody>
          <a:bodyPr vert="horz" wrap="square" lIns="0" tIns="0" rIns="0" bIns="0" rtlCol="0" anchor="t"/>
          <a:lstStyle/>
          <a:p>
            <a:pPr>
              <a:lnSpc>
                <a:spcPts val="1754"/>
              </a:lnSpc>
            </a:pPr>
            <a:r>
              <a:rPr lang="en-US" sz="1169" dirty="0">
                <a:solidFill>
                  <a:srgbClr val="FFFFFF"/>
                </a:solidFill>
                <a:latin typeface="ui-sans-serif" pitchFamily="34" charset="0"/>
                <a:ea typeface="ui-sans-serif" pitchFamily="34" charset="-122"/>
                <a:cs typeface="ui-sans-serif" pitchFamily="34" charset="-120"/>
              </a:rPr>
              <a:t>1</a:t>
            </a:r>
            <a:endParaRPr lang="en-US" sz="1169" dirty="0"/>
          </a:p>
        </p:txBody>
      </p:sp>
      <p:sp>
        <p:nvSpPr>
          <p:cNvPr id="31" name="Text 11"/>
          <p:cNvSpPr/>
          <p:nvPr/>
        </p:nvSpPr>
        <p:spPr>
          <a:xfrm>
            <a:off x="6533594" y="3216094"/>
            <a:ext cx="2931939" cy="222736"/>
          </a:xfrm>
          <a:prstGeom prst="rect">
            <a:avLst/>
          </a:prstGeom>
          <a:noFill/>
          <a:ln/>
        </p:spPr>
        <p:txBody>
          <a:bodyPr vert="horz" wrap="square" lIns="0" tIns="0" rIns="0" bIns="0" rtlCol="0" anchor="t"/>
          <a:lstStyle/>
          <a:p>
            <a:pPr>
              <a:lnSpc>
                <a:spcPts val="1754"/>
              </a:lnSpc>
            </a:pPr>
            <a:r>
              <a:rPr lang="en-US" sz="1169" dirty="0">
                <a:solidFill>
                  <a:srgbClr val="1F2937"/>
                </a:solidFill>
                <a:latin typeface="ui-sans-serif" pitchFamily="34" charset="0"/>
                <a:ea typeface="ui-sans-serif" pitchFamily="34" charset="-122"/>
                <a:cs typeface="ui-sans-serif" pitchFamily="34" charset="-120"/>
              </a:rPr>
              <a:t>Fields Selection</a:t>
            </a:r>
            <a:endParaRPr lang="en-US" sz="1169" dirty="0"/>
          </a:p>
        </p:txBody>
      </p:sp>
      <p:sp>
        <p:nvSpPr>
          <p:cNvPr id="32" name="Text 12"/>
          <p:cNvSpPr/>
          <p:nvPr/>
        </p:nvSpPr>
        <p:spPr>
          <a:xfrm>
            <a:off x="6533594" y="3438831"/>
            <a:ext cx="2931939"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Select timestamp and message fields</a:t>
            </a:r>
            <a:endParaRPr lang="en-US" sz="1023" dirty="0"/>
          </a:p>
        </p:txBody>
      </p:sp>
      <p:sp>
        <p:nvSpPr>
          <p:cNvPr id="33" name="Text 13"/>
          <p:cNvSpPr/>
          <p:nvPr/>
        </p:nvSpPr>
        <p:spPr>
          <a:xfrm>
            <a:off x="6263585" y="4051355"/>
            <a:ext cx="267283" cy="222736"/>
          </a:xfrm>
          <a:prstGeom prst="rect">
            <a:avLst/>
          </a:prstGeom>
          <a:noFill/>
          <a:ln/>
        </p:spPr>
        <p:txBody>
          <a:bodyPr vert="horz" wrap="square" lIns="0" tIns="0" rIns="0" bIns="0" rtlCol="0" anchor="t"/>
          <a:lstStyle/>
          <a:p>
            <a:pPr>
              <a:lnSpc>
                <a:spcPts val="1754"/>
              </a:lnSpc>
            </a:pPr>
            <a:r>
              <a:rPr lang="en-US" sz="1169" dirty="0">
                <a:solidFill>
                  <a:srgbClr val="FFFFFF"/>
                </a:solidFill>
                <a:latin typeface="ui-sans-serif" pitchFamily="34" charset="0"/>
                <a:ea typeface="ui-sans-serif" pitchFamily="34" charset="-122"/>
                <a:cs typeface="ui-sans-serif" pitchFamily="34" charset="-120"/>
              </a:rPr>
              <a:t>2</a:t>
            </a:r>
            <a:endParaRPr lang="en-US" sz="1169" dirty="0"/>
          </a:p>
        </p:txBody>
      </p:sp>
      <p:sp>
        <p:nvSpPr>
          <p:cNvPr id="34" name="Text 14"/>
          <p:cNvSpPr/>
          <p:nvPr/>
        </p:nvSpPr>
        <p:spPr>
          <a:xfrm>
            <a:off x="6533594" y="3958548"/>
            <a:ext cx="2545225" cy="222736"/>
          </a:xfrm>
          <a:prstGeom prst="rect">
            <a:avLst/>
          </a:prstGeom>
          <a:noFill/>
          <a:ln/>
        </p:spPr>
        <p:txBody>
          <a:bodyPr vert="horz" wrap="square" lIns="0" tIns="0" rIns="0" bIns="0" rtlCol="0" anchor="t"/>
          <a:lstStyle/>
          <a:p>
            <a:pPr>
              <a:lnSpc>
                <a:spcPts val="1754"/>
              </a:lnSpc>
            </a:pPr>
            <a:r>
              <a:rPr lang="en-US" sz="1169" dirty="0">
                <a:solidFill>
                  <a:srgbClr val="1F2937"/>
                </a:solidFill>
                <a:latin typeface="ui-sans-serif" pitchFamily="34" charset="0"/>
                <a:ea typeface="ui-sans-serif" pitchFamily="34" charset="-122"/>
                <a:cs typeface="ui-sans-serif" pitchFamily="34" charset="-120"/>
              </a:rPr>
              <a:t>Sorting</a:t>
            </a:r>
            <a:endParaRPr lang="en-US" sz="1169" dirty="0"/>
          </a:p>
        </p:txBody>
      </p:sp>
      <p:sp>
        <p:nvSpPr>
          <p:cNvPr id="35" name="Text 15"/>
          <p:cNvSpPr/>
          <p:nvPr/>
        </p:nvSpPr>
        <p:spPr>
          <a:xfrm>
            <a:off x="6533594" y="4181284"/>
            <a:ext cx="3054270"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Sort by timestamp in descending order</a:t>
            </a:r>
            <a:endParaRPr lang="en-US" sz="1023" dirty="0"/>
          </a:p>
        </p:txBody>
      </p:sp>
      <p:sp>
        <p:nvSpPr>
          <p:cNvPr id="36" name="Text 16"/>
          <p:cNvSpPr/>
          <p:nvPr/>
        </p:nvSpPr>
        <p:spPr>
          <a:xfrm>
            <a:off x="6263585" y="4793809"/>
            <a:ext cx="267283" cy="222736"/>
          </a:xfrm>
          <a:prstGeom prst="rect">
            <a:avLst/>
          </a:prstGeom>
          <a:noFill/>
          <a:ln/>
        </p:spPr>
        <p:txBody>
          <a:bodyPr vert="horz" wrap="square" lIns="0" tIns="0" rIns="0" bIns="0" rtlCol="0" anchor="t"/>
          <a:lstStyle/>
          <a:p>
            <a:pPr>
              <a:lnSpc>
                <a:spcPts val="1754"/>
              </a:lnSpc>
            </a:pPr>
            <a:r>
              <a:rPr lang="en-US" sz="1169" dirty="0">
                <a:solidFill>
                  <a:srgbClr val="FFFFFF"/>
                </a:solidFill>
                <a:latin typeface="ui-sans-serif" pitchFamily="34" charset="0"/>
                <a:ea typeface="ui-sans-serif" pitchFamily="34" charset="-122"/>
                <a:cs typeface="ui-sans-serif" pitchFamily="34" charset="-120"/>
              </a:rPr>
              <a:t>3</a:t>
            </a:r>
            <a:endParaRPr lang="en-US" sz="1169" dirty="0"/>
          </a:p>
        </p:txBody>
      </p:sp>
      <p:sp>
        <p:nvSpPr>
          <p:cNvPr id="37" name="Text 17"/>
          <p:cNvSpPr/>
          <p:nvPr/>
        </p:nvSpPr>
        <p:spPr>
          <a:xfrm>
            <a:off x="6533595" y="4701002"/>
            <a:ext cx="2014631" cy="222736"/>
          </a:xfrm>
          <a:prstGeom prst="rect">
            <a:avLst/>
          </a:prstGeom>
          <a:noFill/>
          <a:ln/>
        </p:spPr>
        <p:txBody>
          <a:bodyPr vert="horz" wrap="square" lIns="0" tIns="0" rIns="0" bIns="0" rtlCol="0" anchor="t"/>
          <a:lstStyle/>
          <a:p>
            <a:pPr>
              <a:lnSpc>
                <a:spcPts val="1754"/>
              </a:lnSpc>
            </a:pPr>
            <a:r>
              <a:rPr lang="en-US" sz="1169" dirty="0">
                <a:solidFill>
                  <a:srgbClr val="1F2937"/>
                </a:solidFill>
                <a:latin typeface="ui-sans-serif" pitchFamily="34" charset="0"/>
                <a:ea typeface="ui-sans-serif" pitchFamily="34" charset="-122"/>
                <a:cs typeface="ui-sans-serif" pitchFamily="34" charset="-120"/>
              </a:rPr>
              <a:t>Limiting</a:t>
            </a:r>
            <a:endParaRPr lang="en-US" sz="1169" dirty="0"/>
          </a:p>
        </p:txBody>
      </p:sp>
      <p:sp>
        <p:nvSpPr>
          <p:cNvPr id="38" name="Text 18"/>
          <p:cNvSpPr/>
          <p:nvPr/>
        </p:nvSpPr>
        <p:spPr>
          <a:xfrm>
            <a:off x="6533594" y="4923738"/>
            <a:ext cx="2417558"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Limit to 20 most recent entries</a:t>
            </a:r>
            <a:endParaRPr lang="en-US" sz="1023" dirty="0"/>
          </a:p>
        </p:txBody>
      </p:sp>
      <p:sp>
        <p:nvSpPr>
          <p:cNvPr id="39" name="Text 19"/>
          <p:cNvSpPr/>
          <p:nvPr/>
        </p:nvSpPr>
        <p:spPr>
          <a:xfrm>
            <a:off x="955909" y="5573385"/>
            <a:ext cx="8847847" cy="222736"/>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Pro Tip:</a:t>
            </a:r>
            <a:r>
              <a:rPr lang="en-US" sz="1169" dirty="0">
                <a:solidFill>
                  <a:srgbClr val="374151"/>
                </a:solidFill>
                <a:latin typeface="ui-sans-serif" pitchFamily="34" charset="0"/>
                <a:ea typeface="ui-sans-serif" pitchFamily="34" charset="-122"/>
                <a:cs typeface="ui-sans-serif" pitchFamily="34" charset="-120"/>
              </a:rPr>
              <a:t> Logs Insights integrates with CloudWatch Dashboards for a complete monitoring solution.</a:t>
            </a:r>
            <a:endParaRPr lang="en-US" sz="116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6273736"/>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939987"/>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80"/>
            <a:ext cx="5160055" cy="1484908"/>
          </a:xfrm>
          <a:prstGeom prst="rect">
            <a:avLst/>
          </a:prstGeom>
        </p:spPr>
      </p:pic>
      <p:pic>
        <p:nvPicPr>
          <p:cNvPr id="7" name="Image 5" descr="preencoded.png"/>
          <p:cNvPicPr>
            <a:picLocks noChangeAspect="1"/>
          </p:cNvPicPr>
          <p:nvPr/>
        </p:nvPicPr>
        <p:blipFill>
          <a:blip r:embed="rId8"/>
          <a:stretch>
            <a:fillRect/>
          </a:stretch>
        </p:blipFill>
        <p:spPr>
          <a:xfrm>
            <a:off x="593963" y="3346024"/>
            <a:ext cx="5160055" cy="1707644"/>
          </a:xfrm>
          <a:prstGeom prst="rect">
            <a:avLst/>
          </a:prstGeom>
        </p:spPr>
      </p:pic>
      <p:pic>
        <p:nvPicPr>
          <p:cNvPr id="8" name="Image 6" descr="preencoded.png"/>
          <p:cNvPicPr>
            <a:picLocks noChangeAspect="1"/>
          </p:cNvPicPr>
          <p:nvPr/>
        </p:nvPicPr>
        <p:blipFill>
          <a:blip r:embed="rId9"/>
          <a:stretch>
            <a:fillRect/>
          </a:stretch>
        </p:blipFill>
        <p:spPr>
          <a:xfrm>
            <a:off x="816699" y="3977109"/>
            <a:ext cx="129929" cy="148491"/>
          </a:xfrm>
          <a:prstGeom prst="rect">
            <a:avLst/>
          </a:prstGeom>
        </p:spPr>
      </p:pic>
      <p:pic>
        <p:nvPicPr>
          <p:cNvPr id="9" name="Image 7" descr="preencoded.png"/>
          <p:cNvPicPr>
            <a:picLocks noChangeAspect="1"/>
          </p:cNvPicPr>
          <p:nvPr/>
        </p:nvPicPr>
        <p:blipFill>
          <a:blip r:embed="rId10"/>
          <a:stretch>
            <a:fillRect/>
          </a:stretch>
        </p:blipFill>
        <p:spPr>
          <a:xfrm>
            <a:off x="816699" y="4311214"/>
            <a:ext cx="185613" cy="148491"/>
          </a:xfrm>
          <a:prstGeom prst="rect">
            <a:avLst/>
          </a:prstGeom>
        </p:spPr>
      </p:pic>
      <p:pic>
        <p:nvPicPr>
          <p:cNvPr id="10" name="Image 8" descr="preencoded.png"/>
          <p:cNvPicPr>
            <a:picLocks noChangeAspect="1"/>
          </p:cNvPicPr>
          <p:nvPr/>
        </p:nvPicPr>
        <p:blipFill>
          <a:blip r:embed="rId11"/>
          <a:stretch>
            <a:fillRect/>
          </a:stretch>
        </p:blipFill>
        <p:spPr>
          <a:xfrm>
            <a:off x="816699" y="4645318"/>
            <a:ext cx="129929" cy="148491"/>
          </a:xfrm>
          <a:prstGeom prst="rect">
            <a:avLst/>
          </a:prstGeom>
        </p:spPr>
      </p:pic>
      <p:pic>
        <p:nvPicPr>
          <p:cNvPr id="11" name="Image 9" descr="preencoded.png"/>
          <p:cNvPicPr>
            <a:picLocks noChangeAspect="1"/>
          </p:cNvPicPr>
          <p:nvPr/>
        </p:nvPicPr>
        <p:blipFill>
          <a:blip r:embed="rId12"/>
          <a:stretch>
            <a:fillRect/>
          </a:stretch>
        </p:blipFill>
        <p:spPr>
          <a:xfrm>
            <a:off x="6125245" y="1638380"/>
            <a:ext cx="1620928" cy="1113681"/>
          </a:xfrm>
          <a:prstGeom prst="rect">
            <a:avLst/>
          </a:prstGeom>
        </p:spPr>
      </p:pic>
      <p:pic>
        <p:nvPicPr>
          <p:cNvPr id="12" name="Image 10" descr="preencoded.png"/>
          <p:cNvPicPr>
            <a:picLocks noChangeAspect="1"/>
          </p:cNvPicPr>
          <p:nvPr/>
        </p:nvPicPr>
        <p:blipFill>
          <a:blip r:embed="rId13"/>
          <a:stretch>
            <a:fillRect/>
          </a:stretch>
        </p:blipFill>
        <p:spPr>
          <a:xfrm>
            <a:off x="6796498" y="1796151"/>
            <a:ext cx="278420" cy="278420"/>
          </a:xfrm>
          <a:prstGeom prst="rect">
            <a:avLst/>
          </a:prstGeom>
        </p:spPr>
      </p:pic>
      <p:pic>
        <p:nvPicPr>
          <p:cNvPr id="13" name="Image 11" descr="preencoded.png"/>
          <p:cNvPicPr>
            <a:picLocks noChangeAspect="1"/>
          </p:cNvPicPr>
          <p:nvPr/>
        </p:nvPicPr>
        <p:blipFill>
          <a:blip r:embed="rId14"/>
          <a:stretch>
            <a:fillRect/>
          </a:stretch>
        </p:blipFill>
        <p:spPr>
          <a:xfrm>
            <a:off x="7894663" y="1638380"/>
            <a:ext cx="1621073" cy="1113681"/>
          </a:xfrm>
          <a:prstGeom prst="rect">
            <a:avLst/>
          </a:prstGeom>
        </p:spPr>
      </p:pic>
      <p:pic>
        <p:nvPicPr>
          <p:cNvPr id="14" name="Image 12" descr="preencoded.png"/>
          <p:cNvPicPr>
            <a:picLocks noChangeAspect="1"/>
          </p:cNvPicPr>
          <p:nvPr/>
        </p:nvPicPr>
        <p:blipFill>
          <a:blip r:embed="rId15"/>
          <a:stretch>
            <a:fillRect/>
          </a:stretch>
        </p:blipFill>
        <p:spPr>
          <a:xfrm>
            <a:off x="8565917" y="1796151"/>
            <a:ext cx="278420" cy="278420"/>
          </a:xfrm>
          <a:prstGeom prst="rect">
            <a:avLst/>
          </a:prstGeom>
        </p:spPr>
      </p:pic>
      <p:pic>
        <p:nvPicPr>
          <p:cNvPr id="15" name="Image 13" descr="preencoded.png"/>
          <p:cNvPicPr>
            <a:picLocks noChangeAspect="1"/>
          </p:cNvPicPr>
          <p:nvPr/>
        </p:nvPicPr>
        <p:blipFill>
          <a:blip r:embed="rId16"/>
          <a:stretch>
            <a:fillRect/>
          </a:stretch>
        </p:blipFill>
        <p:spPr>
          <a:xfrm>
            <a:off x="9664226" y="1638380"/>
            <a:ext cx="1621073" cy="1113681"/>
          </a:xfrm>
          <a:prstGeom prst="rect">
            <a:avLst/>
          </a:prstGeom>
        </p:spPr>
      </p:pic>
      <p:pic>
        <p:nvPicPr>
          <p:cNvPr id="16" name="Image 14" descr="preencoded.png"/>
          <p:cNvPicPr>
            <a:picLocks noChangeAspect="1"/>
          </p:cNvPicPr>
          <p:nvPr/>
        </p:nvPicPr>
        <p:blipFill>
          <a:blip r:embed="rId17"/>
          <a:stretch>
            <a:fillRect/>
          </a:stretch>
        </p:blipFill>
        <p:spPr>
          <a:xfrm>
            <a:off x="10335480" y="1796151"/>
            <a:ext cx="278420" cy="278420"/>
          </a:xfrm>
          <a:prstGeom prst="rect">
            <a:avLst/>
          </a:prstGeom>
        </p:spPr>
      </p:pic>
      <p:pic>
        <p:nvPicPr>
          <p:cNvPr id="17" name="Image 15" descr="preencoded.png"/>
          <p:cNvPicPr>
            <a:picLocks noChangeAspect="1"/>
          </p:cNvPicPr>
          <p:nvPr/>
        </p:nvPicPr>
        <p:blipFill>
          <a:blip r:embed="rId18"/>
          <a:stretch>
            <a:fillRect/>
          </a:stretch>
        </p:blipFill>
        <p:spPr>
          <a:xfrm>
            <a:off x="6125244" y="2974796"/>
            <a:ext cx="5160055" cy="2969816"/>
          </a:xfrm>
          <a:prstGeom prst="rect">
            <a:avLst/>
          </a:prstGeom>
        </p:spPr>
      </p:pic>
      <p:pic>
        <p:nvPicPr>
          <p:cNvPr id="18" name="Image 16" descr="preencoded.png"/>
          <p:cNvPicPr>
            <a:picLocks noChangeAspect="1"/>
          </p:cNvPicPr>
          <p:nvPr/>
        </p:nvPicPr>
        <p:blipFill>
          <a:blip r:embed="rId19"/>
          <a:stretch>
            <a:fillRect/>
          </a:stretch>
        </p:blipFill>
        <p:spPr>
          <a:xfrm>
            <a:off x="6347981" y="3605883"/>
            <a:ext cx="4696021" cy="1781889"/>
          </a:xfrm>
          <a:prstGeom prst="rect">
            <a:avLst/>
          </a:prstGeom>
        </p:spPr>
      </p:pic>
      <p:pic>
        <p:nvPicPr>
          <p:cNvPr id="19" name="Image 17" descr="preencoded.png"/>
          <p:cNvPicPr>
            <a:picLocks noChangeAspect="1"/>
          </p:cNvPicPr>
          <p:nvPr/>
        </p:nvPicPr>
        <p:blipFill>
          <a:blip r:embed="rId20"/>
          <a:stretch>
            <a:fillRect/>
          </a:stretch>
        </p:blipFill>
        <p:spPr>
          <a:xfrm>
            <a:off x="6347981" y="5573385"/>
            <a:ext cx="111368" cy="111368"/>
          </a:xfrm>
          <a:prstGeom prst="rect">
            <a:avLst/>
          </a:prstGeom>
        </p:spPr>
      </p:pic>
      <p:pic>
        <p:nvPicPr>
          <p:cNvPr id="20" name="Image 18" descr="preencoded.png"/>
          <p:cNvPicPr>
            <a:picLocks noChangeAspect="1"/>
          </p:cNvPicPr>
          <p:nvPr/>
        </p:nvPicPr>
        <p:blipFill>
          <a:blip r:embed="rId21"/>
          <a:stretch>
            <a:fillRect/>
          </a:stretch>
        </p:blipFill>
        <p:spPr>
          <a:xfrm>
            <a:off x="10236583" y="5573385"/>
            <a:ext cx="111368" cy="111368"/>
          </a:xfrm>
          <a:prstGeom prst="rect">
            <a:avLst/>
          </a:prstGeom>
        </p:spPr>
      </p:pic>
      <p:pic>
        <p:nvPicPr>
          <p:cNvPr id="22" name="Image 20" descr="preencoded.png"/>
          <p:cNvPicPr>
            <a:picLocks noChangeAspect="1"/>
          </p:cNvPicPr>
          <p:nvPr/>
        </p:nvPicPr>
        <p:blipFill>
          <a:blip r:embed="rId22"/>
          <a:stretch>
            <a:fillRect/>
          </a:stretch>
        </p:blipFill>
        <p:spPr>
          <a:xfrm>
            <a:off x="742454" y="6352962"/>
            <a:ext cx="139210" cy="259859"/>
          </a:xfrm>
          <a:prstGeom prst="rect">
            <a:avLst/>
          </a:prstGeom>
        </p:spPr>
      </p:pic>
      <p:sp>
        <p:nvSpPr>
          <p:cNvPr id="23"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Alarms</a:t>
            </a:r>
            <a:endParaRPr lang="en-US" sz="2631" dirty="0"/>
          </a:p>
        </p:txBody>
      </p:sp>
      <p:sp>
        <p:nvSpPr>
          <p:cNvPr id="24" name="Text 1"/>
          <p:cNvSpPr/>
          <p:nvPr/>
        </p:nvSpPr>
        <p:spPr>
          <a:xfrm>
            <a:off x="816699" y="1861116"/>
            <a:ext cx="5657499"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What are CloudWatch Alarms?</a:t>
            </a:r>
            <a:endParaRPr lang="en-US" sz="1461" dirty="0"/>
          </a:p>
        </p:txBody>
      </p:sp>
      <p:sp>
        <p:nvSpPr>
          <p:cNvPr id="25" name="Text 2"/>
          <p:cNvSpPr/>
          <p:nvPr/>
        </p:nvSpPr>
        <p:spPr>
          <a:xfrm>
            <a:off x="816699" y="2232343"/>
            <a:ext cx="4714582" cy="668209"/>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CloudWatch Alarms monitor metrics and trigger automated actions when values cross predefined thresholds, enabling proactive issue detection and response.</a:t>
            </a:r>
            <a:endParaRPr lang="en-US" sz="1169" dirty="0"/>
          </a:p>
        </p:txBody>
      </p:sp>
      <p:sp>
        <p:nvSpPr>
          <p:cNvPr id="26" name="Text 3"/>
          <p:cNvSpPr/>
          <p:nvPr/>
        </p:nvSpPr>
        <p:spPr>
          <a:xfrm>
            <a:off x="816699" y="3568760"/>
            <a:ext cx="4714582"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Key Features</a:t>
            </a:r>
            <a:endParaRPr lang="en-US" sz="1461" dirty="0"/>
          </a:p>
        </p:txBody>
      </p:sp>
      <p:sp>
        <p:nvSpPr>
          <p:cNvPr id="27" name="Text 4"/>
          <p:cNvSpPr/>
          <p:nvPr/>
        </p:nvSpPr>
        <p:spPr>
          <a:xfrm>
            <a:off x="1057997" y="3939987"/>
            <a:ext cx="3876479"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Notify via SNS when thresholds are crossed</a:t>
            </a:r>
            <a:endParaRPr lang="en-US" sz="1169" dirty="0"/>
          </a:p>
        </p:txBody>
      </p:sp>
      <p:sp>
        <p:nvSpPr>
          <p:cNvPr id="28" name="Text 5"/>
          <p:cNvSpPr/>
          <p:nvPr/>
        </p:nvSpPr>
        <p:spPr>
          <a:xfrm>
            <a:off x="1113680" y="4274091"/>
            <a:ext cx="354672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Trigger Auto Scaling to adjust resources</a:t>
            </a:r>
            <a:endParaRPr lang="en-US" sz="1169" dirty="0"/>
          </a:p>
        </p:txBody>
      </p:sp>
      <p:sp>
        <p:nvSpPr>
          <p:cNvPr id="29" name="Text 6"/>
          <p:cNvSpPr/>
          <p:nvPr/>
        </p:nvSpPr>
        <p:spPr>
          <a:xfrm>
            <a:off x="1057997" y="4608195"/>
            <a:ext cx="470460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Invoke Lambda functions for automated remediation</a:t>
            </a:r>
            <a:endParaRPr lang="en-US" sz="1169" dirty="0"/>
          </a:p>
        </p:txBody>
      </p:sp>
      <p:sp>
        <p:nvSpPr>
          <p:cNvPr id="30" name="Text 7"/>
          <p:cNvSpPr/>
          <p:nvPr/>
        </p:nvSpPr>
        <p:spPr>
          <a:xfrm>
            <a:off x="6273736" y="2195220"/>
            <a:ext cx="1323946" cy="222736"/>
          </a:xfrm>
          <a:prstGeom prst="rect">
            <a:avLst/>
          </a:prstGeom>
          <a:noFill/>
          <a:ln/>
        </p:spPr>
        <p:txBody>
          <a:bodyPr vert="horz" wrap="square" lIns="0" tIns="0" rIns="0" bIns="0" rtlCol="0" anchor="t"/>
          <a:lstStyle/>
          <a:p>
            <a:pPr algn="ctr">
              <a:lnSpc>
                <a:spcPts val="1754"/>
              </a:lnSpc>
            </a:pPr>
            <a:r>
              <a:rPr lang="en-US" sz="1169" b="1" dirty="0">
                <a:solidFill>
                  <a:srgbClr val="1F2937"/>
                </a:solidFill>
                <a:latin typeface="ui-sans-serif" pitchFamily="34" charset="0"/>
                <a:ea typeface="ui-sans-serif" pitchFamily="34" charset="-122"/>
                <a:cs typeface="ui-sans-serif" pitchFamily="34" charset="-120"/>
              </a:rPr>
              <a:t>OK</a:t>
            </a:r>
            <a:endParaRPr lang="en-US" sz="1169" dirty="0"/>
          </a:p>
        </p:txBody>
      </p:sp>
      <p:sp>
        <p:nvSpPr>
          <p:cNvPr id="31" name="Text 8"/>
          <p:cNvSpPr/>
          <p:nvPr/>
        </p:nvSpPr>
        <p:spPr>
          <a:xfrm>
            <a:off x="6141341" y="2417956"/>
            <a:ext cx="1588735"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Within threshold</a:t>
            </a:r>
            <a:endParaRPr lang="en-US" sz="1023" dirty="0"/>
          </a:p>
        </p:txBody>
      </p:sp>
      <p:sp>
        <p:nvSpPr>
          <p:cNvPr id="32" name="Text 9"/>
          <p:cNvSpPr/>
          <p:nvPr/>
        </p:nvSpPr>
        <p:spPr>
          <a:xfrm>
            <a:off x="8043154" y="2195220"/>
            <a:ext cx="1324092" cy="222736"/>
          </a:xfrm>
          <a:prstGeom prst="rect">
            <a:avLst/>
          </a:prstGeom>
          <a:noFill/>
          <a:ln/>
        </p:spPr>
        <p:txBody>
          <a:bodyPr vert="horz" wrap="square" lIns="0" tIns="0" rIns="0" bIns="0" rtlCol="0" anchor="t"/>
          <a:lstStyle/>
          <a:p>
            <a:pPr algn="ctr">
              <a:lnSpc>
                <a:spcPts val="1754"/>
              </a:lnSpc>
            </a:pPr>
            <a:r>
              <a:rPr lang="en-US" sz="1169" b="1" dirty="0">
                <a:solidFill>
                  <a:srgbClr val="1F2937"/>
                </a:solidFill>
                <a:latin typeface="ui-sans-serif" pitchFamily="34" charset="0"/>
                <a:ea typeface="ui-sans-serif" pitchFamily="34" charset="-122"/>
                <a:cs typeface="ui-sans-serif" pitchFamily="34" charset="-120"/>
              </a:rPr>
              <a:t>ALARM</a:t>
            </a:r>
            <a:endParaRPr lang="en-US" sz="1169" dirty="0"/>
          </a:p>
        </p:txBody>
      </p:sp>
      <p:sp>
        <p:nvSpPr>
          <p:cNvPr id="33" name="Text 10"/>
          <p:cNvSpPr/>
          <p:nvPr/>
        </p:nvSpPr>
        <p:spPr>
          <a:xfrm>
            <a:off x="7910745" y="2417956"/>
            <a:ext cx="1588910"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Below threshold</a:t>
            </a:r>
            <a:endParaRPr lang="en-US" sz="1023" dirty="0"/>
          </a:p>
        </p:txBody>
      </p:sp>
      <p:sp>
        <p:nvSpPr>
          <p:cNvPr id="34" name="Text 11"/>
          <p:cNvSpPr/>
          <p:nvPr/>
        </p:nvSpPr>
        <p:spPr>
          <a:xfrm>
            <a:off x="9680308" y="2195220"/>
            <a:ext cx="1588910" cy="222736"/>
          </a:xfrm>
          <a:prstGeom prst="rect">
            <a:avLst/>
          </a:prstGeom>
          <a:noFill/>
          <a:ln/>
        </p:spPr>
        <p:txBody>
          <a:bodyPr vert="horz" wrap="square" lIns="0" tIns="0" rIns="0" bIns="0" rtlCol="0" anchor="t"/>
          <a:lstStyle/>
          <a:p>
            <a:pPr algn="ctr">
              <a:lnSpc>
                <a:spcPts val="1754"/>
              </a:lnSpc>
            </a:pPr>
            <a:r>
              <a:rPr lang="en-US" sz="1169" b="1" dirty="0">
                <a:solidFill>
                  <a:srgbClr val="1F2937"/>
                </a:solidFill>
                <a:latin typeface="ui-sans-serif" pitchFamily="34" charset="0"/>
                <a:ea typeface="ui-sans-serif" pitchFamily="34" charset="-122"/>
                <a:cs typeface="ui-sans-serif" pitchFamily="34" charset="-120"/>
              </a:rPr>
              <a:t>INSUFFICIENT</a:t>
            </a:r>
            <a:endParaRPr lang="en-US" sz="1169" dirty="0"/>
          </a:p>
        </p:txBody>
      </p:sp>
      <p:sp>
        <p:nvSpPr>
          <p:cNvPr id="35" name="Text 12"/>
          <p:cNvSpPr/>
          <p:nvPr/>
        </p:nvSpPr>
        <p:spPr>
          <a:xfrm>
            <a:off x="9812717" y="2417956"/>
            <a:ext cx="1324092"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No data</a:t>
            </a:r>
            <a:endParaRPr lang="en-US" sz="1023" dirty="0"/>
          </a:p>
        </p:txBody>
      </p:sp>
      <p:sp>
        <p:nvSpPr>
          <p:cNvPr id="36" name="Text 13"/>
          <p:cNvSpPr/>
          <p:nvPr/>
        </p:nvSpPr>
        <p:spPr>
          <a:xfrm>
            <a:off x="6347981" y="3197533"/>
            <a:ext cx="4714582"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How Alarms Work</a:t>
            </a:r>
            <a:endParaRPr lang="en-US" sz="1461" dirty="0"/>
          </a:p>
        </p:txBody>
      </p:sp>
      <p:sp>
        <p:nvSpPr>
          <p:cNvPr id="37" name="Text 14"/>
          <p:cNvSpPr/>
          <p:nvPr/>
        </p:nvSpPr>
        <p:spPr>
          <a:xfrm>
            <a:off x="6533595" y="5536263"/>
            <a:ext cx="906605"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Metric Data</a:t>
            </a:r>
            <a:endParaRPr lang="en-US" sz="1023" dirty="0"/>
          </a:p>
        </p:txBody>
      </p:sp>
      <p:sp>
        <p:nvSpPr>
          <p:cNvPr id="38" name="Text 15"/>
          <p:cNvSpPr/>
          <p:nvPr/>
        </p:nvSpPr>
        <p:spPr>
          <a:xfrm>
            <a:off x="10422196" y="5536263"/>
            <a:ext cx="768440"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Threshold</a:t>
            </a:r>
            <a:endParaRPr lang="en-US" sz="102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366362"/>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271778"/>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80"/>
            <a:ext cx="10691336" cy="965190"/>
          </a:xfrm>
          <a:prstGeom prst="rect">
            <a:avLst/>
          </a:prstGeom>
        </p:spPr>
      </p:pic>
      <p:pic>
        <p:nvPicPr>
          <p:cNvPr id="7" name="Image 5" descr="preencoded.png"/>
          <p:cNvPicPr>
            <a:picLocks noChangeAspect="1"/>
          </p:cNvPicPr>
          <p:nvPr/>
        </p:nvPicPr>
        <p:blipFill>
          <a:blip r:embed="rId8"/>
          <a:stretch>
            <a:fillRect/>
          </a:stretch>
        </p:blipFill>
        <p:spPr>
          <a:xfrm>
            <a:off x="593963" y="2826306"/>
            <a:ext cx="5234300" cy="1150804"/>
          </a:xfrm>
          <a:prstGeom prst="rect">
            <a:avLst/>
          </a:prstGeom>
        </p:spPr>
      </p:pic>
      <p:pic>
        <p:nvPicPr>
          <p:cNvPr id="8" name="Image 6" descr="preencoded.png"/>
          <p:cNvPicPr>
            <a:picLocks noChangeAspect="1"/>
          </p:cNvPicPr>
          <p:nvPr/>
        </p:nvPicPr>
        <p:blipFill>
          <a:blip r:embed="rId9"/>
          <a:stretch>
            <a:fillRect/>
          </a:stretch>
        </p:blipFill>
        <p:spPr>
          <a:xfrm>
            <a:off x="779576" y="3011920"/>
            <a:ext cx="301477" cy="556840"/>
          </a:xfrm>
          <a:prstGeom prst="rect">
            <a:avLst/>
          </a:prstGeom>
        </p:spPr>
      </p:pic>
      <p:pic>
        <p:nvPicPr>
          <p:cNvPr id="9" name="Image 7" descr="preencoded.png"/>
          <p:cNvPicPr>
            <a:picLocks noChangeAspect="1"/>
          </p:cNvPicPr>
          <p:nvPr/>
        </p:nvPicPr>
        <p:blipFill>
          <a:blip r:embed="rId10"/>
          <a:stretch>
            <a:fillRect/>
          </a:stretch>
        </p:blipFill>
        <p:spPr>
          <a:xfrm>
            <a:off x="818874" y="3141849"/>
            <a:ext cx="222736" cy="296982"/>
          </a:xfrm>
          <a:prstGeom prst="rect">
            <a:avLst/>
          </a:prstGeom>
        </p:spPr>
      </p:pic>
      <p:pic>
        <p:nvPicPr>
          <p:cNvPr id="10" name="Image 8" descr="preencoded.png"/>
          <p:cNvPicPr>
            <a:picLocks noChangeAspect="1"/>
          </p:cNvPicPr>
          <p:nvPr/>
        </p:nvPicPr>
        <p:blipFill>
          <a:blip r:embed="rId11"/>
          <a:stretch>
            <a:fillRect/>
          </a:stretch>
        </p:blipFill>
        <p:spPr>
          <a:xfrm>
            <a:off x="593963" y="4125600"/>
            <a:ext cx="5234300" cy="1150804"/>
          </a:xfrm>
          <a:prstGeom prst="rect">
            <a:avLst/>
          </a:prstGeom>
        </p:spPr>
      </p:pic>
      <p:pic>
        <p:nvPicPr>
          <p:cNvPr id="11" name="Image 9" descr="preencoded.png"/>
          <p:cNvPicPr>
            <a:picLocks noChangeAspect="1"/>
          </p:cNvPicPr>
          <p:nvPr/>
        </p:nvPicPr>
        <p:blipFill>
          <a:blip r:embed="rId12"/>
          <a:stretch>
            <a:fillRect/>
          </a:stretch>
        </p:blipFill>
        <p:spPr>
          <a:xfrm>
            <a:off x="779577" y="4311214"/>
            <a:ext cx="333525" cy="556840"/>
          </a:xfrm>
          <a:prstGeom prst="rect">
            <a:avLst/>
          </a:prstGeom>
        </p:spPr>
      </p:pic>
      <p:pic>
        <p:nvPicPr>
          <p:cNvPr id="12" name="Image 10" descr="preencoded.png"/>
          <p:cNvPicPr>
            <a:picLocks noChangeAspect="1"/>
          </p:cNvPicPr>
          <p:nvPr/>
        </p:nvPicPr>
        <p:blipFill>
          <a:blip r:embed="rId13"/>
          <a:stretch>
            <a:fillRect/>
          </a:stretch>
        </p:blipFill>
        <p:spPr>
          <a:xfrm>
            <a:off x="862812" y="4441143"/>
            <a:ext cx="167052" cy="296982"/>
          </a:xfrm>
          <a:prstGeom prst="rect">
            <a:avLst/>
          </a:prstGeom>
        </p:spPr>
      </p:pic>
      <p:pic>
        <p:nvPicPr>
          <p:cNvPr id="13" name="Image 11" descr="preencoded.png"/>
          <p:cNvPicPr>
            <a:picLocks noChangeAspect="1"/>
          </p:cNvPicPr>
          <p:nvPr/>
        </p:nvPicPr>
        <p:blipFill>
          <a:blip r:embed="rId14"/>
          <a:stretch>
            <a:fillRect/>
          </a:stretch>
        </p:blipFill>
        <p:spPr>
          <a:xfrm>
            <a:off x="6050999" y="2826306"/>
            <a:ext cx="5234300" cy="1150804"/>
          </a:xfrm>
          <a:prstGeom prst="rect">
            <a:avLst/>
          </a:prstGeom>
        </p:spPr>
      </p:pic>
      <p:pic>
        <p:nvPicPr>
          <p:cNvPr id="14" name="Image 12" descr="preencoded.png"/>
          <p:cNvPicPr>
            <a:picLocks noChangeAspect="1"/>
          </p:cNvPicPr>
          <p:nvPr/>
        </p:nvPicPr>
        <p:blipFill>
          <a:blip r:embed="rId15"/>
          <a:stretch>
            <a:fillRect/>
          </a:stretch>
        </p:blipFill>
        <p:spPr>
          <a:xfrm>
            <a:off x="6236613" y="3011920"/>
            <a:ext cx="344255" cy="556840"/>
          </a:xfrm>
          <a:prstGeom prst="rect">
            <a:avLst/>
          </a:prstGeom>
        </p:spPr>
      </p:pic>
      <p:pic>
        <p:nvPicPr>
          <p:cNvPr id="15" name="Image 13" descr="preencoded.png"/>
          <p:cNvPicPr>
            <a:picLocks noChangeAspect="1"/>
          </p:cNvPicPr>
          <p:nvPr/>
        </p:nvPicPr>
        <p:blipFill>
          <a:blip r:embed="rId16"/>
          <a:stretch>
            <a:fillRect/>
          </a:stretch>
        </p:blipFill>
        <p:spPr>
          <a:xfrm>
            <a:off x="6297372" y="3141849"/>
            <a:ext cx="222736" cy="296982"/>
          </a:xfrm>
          <a:prstGeom prst="rect">
            <a:avLst/>
          </a:prstGeom>
        </p:spPr>
      </p:pic>
      <p:pic>
        <p:nvPicPr>
          <p:cNvPr id="16" name="Image 14" descr="preencoded.png"/>
          <p:cNvPicPr>
            <a:picLocks noChangeAspect="1"/>
          </p:cNvPicPr>
          <p:nvPr/>
        </p:nvPicPr>
        <p:blipFill>
          <a:blip r:embed="rId8"/>
          <a:stretch>
            <a:fillRect/>
          </a:stretch>
        </p:blipFill>
        <p:spPr>
          <a:xfrm>
            <a:off x="6050999" y="4125600"/>
            <a:ext cx="5234300" cy="1150804"/>
          </a:xfrm>
          <a:prstGeom prst="rect">
            <a:avLst/>
          </a:prstGeom>
        </p:spPr>
      </p:pic>
      <p:pic>
        <p:nvPicPr>
          <p:cNvPr id="17" name="Image 15" descr="preencoded.png"/>
          <p:cNvPicPr>
            <a:picLocks noChangeAspect="1"/>
          </p:cNvPicPr>
          <p:nvPr/>
        </p:nvPicPr>
        <p:blipFill>
          <a:blip r:embed="rId17"/>
          <a:stretch>
            <a:fillRect/>
          </a:stretch>
        </p:blipFill>
        <p:spPr>
          <a:xfrm>
            <a:off x="6236613" y="4311214"/>
            <a:ext cx="353245" cy="556840"/>
          </a:xfrm>
          <a:prstGeom prst="rect">
            <a:avLst/>
          </a:prstGeom>
        </p:spPr>
      </p:pic>
      <p:pic>
        <p:nvPicPr>
          <p:cNvPr id="18" name="Image 16" descr="preencoded.png"/>
          <p:cNvPicPr>
            <a:picLocks noChangeAspect="1"/>
          </p:cNvPicPr>
          <p:nvPr/>
        </p:nvPicPr>
        <p:blipFill>
          <a:blip r:embed="rId18"/>
          <a:stretch>
            <a:fillRect/>
          </a:stretch>
        </p:blipFill>
        <p:spPr>
          <a:xfrm>
            <a:off x="6274026" y="4441143"/>
            <a:ext cx="278420" cy="296982"/>
          </a:xfrm>
          <a:prstGeom prst="rect">
            <a:avLst/>
          </a:prstGeom>
        </p:spPr>
      </p:pic>
      <p:pic>
        <p:nvPicPr>
          <p:cNvPr id="19" name="Image 17" descr="preencoded.png"/>
          <p:cNvPicPr>
            <a:picLocks noChangeAspect="1"/>
          </p:cNvPicPr>
          <p:nvPr/>
        </p:nvPicPr>
        <p:blipFill>
          <a:blip r:embed="rId19"/>
          <a:stretch>
            <a:fillRect/>
          </a:stretch>
        </p:blipFill>
        <p:spPr>
          <a:xfrm>
            <a:off x="593963" y="5870367"/>
            <a:ext cx="2439222" cy="371227"/>
          </a:xfrm>
          <a:prstGeom prst="rect">
            <a:avLst/>
          </a:prstGeom>
        </p:spPr>
      </p:pic>
      <p:pic>
        <p:nvPicPr>
          <p:cNvPr id="20" name="Image 18" descr="preencoded.png"/>
          <p:cNvPicPr>
            <a:picLocks noChangeAspect="1"/>
          </p:cNvPicPr>
          <p:nvPr/>
        </p:nvPicPr>
        <p:blipFill>
          <a:blip r:embed="rId20"/>
          <a:stretch>
            <a:fillRect/>
          </a:stretch>
        </p:blipFill>
        <p:spPr>
          <a:xfrm>
            <a:off x="742454" y="5981735"/>
            <a:ext cx="148491" cy="148491"/>
          </a:xfrm>
          <a:prstGeom prst="rect">
            <a:avLst/>
          </a:prstGeom>
        </p:spPr>
      </p:pic>
      <p:pic>
        <p:nvPicPr>
          <p:cNvPr id="21" name="Image 19" descr="preencoded.png"/>
          <p:cNvPicPr>
            <a:picLocks noChangeAspect="1"/>
          </p:cNvPicPr>
          <p:nvPr/>
        </p:nvPicPr>
        <p:blipFill>
          <a:blip r:embed="rId21"/>
          <a:stretch>
            <a:fillRect/>
          </a:stretch>
        </p:blipFill>
        <p:spPr>
          <a:xfrm>
            <a:off x="3181677" y="5870367"/>
            <a:ext cx="2147606" cy="371227"/>
          </a:xfrm>
          <a:prstGeom prst="rect">
            <a:avLst/>
          </a:prstGeom>
        </p:spPr>
      </p:pic>
      <p:pic>
        <p:nvPicPr>
          <p:cNvPr id="22" name="Image 20" descr="preencoded.png"/>
          <p:cNvPicPr>
            <a:picLocks noChangeAspect="1"/>
          </p:cNvPicPr>
          <p:nvPr/>
        </p:nvPicPr>
        <p:blipFill>
          <a:blip r:embed="rId22"/>
          <a:stretch>
            <a:fillRect/>
          </a:stretch>
        </p:blipFill>
        <p:spPr>
          <a:xfrm>
            <a:off x="3330167" y="5981735"/>
            <a:ext cx="148491" cy="148491"/>
          </a:xfrm>
          <a:prstGeom prst="rect">
            <a:avLst/>
          </a:prstGeom>
        </p:spPr>
      </p:pic>
      <p:pic>
        <p:nvPicPr>
          <p:cNvPr id="23" name="Image 21" descr="preencoded.png"/>
          <p:cNvPicPr>
            <a:picLocks noChangeAspect="1"/>
          </p:cNvPicPr>
          <p:nvPr/>
        </p:nvPicPr>
        <p:blipFill>
          <a:blip r:embed="rId23"/>
          <a:stretch>
            <a:fillRect/>
          </a:stretch>
        </p:blipFill>
        <p:spPr>
          <a:xfrm>
            <a:off x="5477772" y="5870367"/>
            <a:ext cx="2670949" cy="371227"/>
          </a:xfrm>
          <a:prstGeom prst="rect">
            <a:avLst/>
          </a:prstGeom>
        </p:spPr>
      </p:pic>
      <p:pic>
        <p:nvPicPr>
          <p:cNvPr id="24" name="Image 22" descr="preencoded.png"/>
          <p:cNvPicPr>
            <a:picLocks noChangeAspect="1"/>
          </p:cNvPicPr>
          <p:nvPr/>
        </p:nvPicPr>
        <p:blipFill>
          <a:blip r:embed="rId24"/>
          <a:stretch>
            <a:fillRect/>
          </a:stretch>
        </p:blipFill>
        <p:spPr>
          <a:xfrm>
            <a:off x="5626263" y="5981735"/>
            <a:ext cx="148491" cy="148491"/>
          </a:xfrm>
          <a:prstGeom prst="rect">
            <a:avLst/>
          </a:prstGeom>
        </p:spPr>
      </p:pic>
      <p:sp>
        <p:nvSpPr>
          <p:cNvPr id="25"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Agent</a:t>
            </a:r>
            <a:endParaRPr lang="en-US" sz="2631" dirty="0"/>
          </a:p>
        </p:txBody>
      </p:sp>
      <p:sp>
        <p:nvSpPr>
          <p:cNvPr id="26" name="Text 1"/>
          <p:cNvSpPr/>
          <p:nvPr/>
        </p:nvSpPr>
        <p:spPr>
          <a:xfrm>
            <a:off x="816699" y="1861116"/>
            <a:ext cx="10245864"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The CloudWatch Agent extends CloudWatch's monitoring capabilities by collecting system-level metrics and logs from Amazon EC2 instances and on-premises servers, providing a unified approach to data collection.</a:t>
            </a:r>
            <a:endParaRPr lang="en-US" sz="1461" dirty="0"/>
          </a:p>
        </p:txBody>
      </p:sp>
      <p:sp>
        <p:nvSpPr>
          <p:cNvPr id="27" name="Text 2"/>
          <p:cNvSpPr/>
          <p:nvPr/>
        </p:nvSpPr>
        <p:spPr>
          <a:xfrm>
            <a:off x="1229544" y="3011919"/>
            <a:ext cx="4413105"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System-Level Metrics</a:t>
            </a:r>
            <a:endParaRPr lang="en-US" sz="1315" dirty="0"/>
          </a:p>
        </p:txBody>
      </p:sp>
      <p:sp>
        <p:nvSpPr>
          <p:cNvPr id="28" name="Text 3"/>
          <p:cNvSpPr/>
          <p:nvPr/>
        </p:nvSpPr>
        <p:spPr>
          <a:xfrm>
            <a:off x="1229544" y="3346024"/>
            <a:ext cx="4413105"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Collects memory usage, disk space, process lists, and other system-level metrics for performance monitoring</a:t>
            </a:r>
            <a:endParaRPr lang="en-US" sz="1169" dirty="0"/>
          </a:p>
        </p:txBody>
      </p:sp>
      <p:sp>
        <p:nvSpPr>
          <p:cNvPr id="29" name="Text 4"/>
          <p:cNvSpPr/>
          <p:nvPr/>
        </p:nvSpPr>
        <p:spPr>
          <a:xfrm>
            <a:off x="1261592" y="4311214"/>
            <a:ext cx="4381058"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Log Collection</a:t>
            </a:r>
            <a:endParaRPr lang="en-US" sz="1315" dirty="0"/>
          </a:p>
        </p:txBody>
      </p:sp>
      <p:sp>
        <p:nvSpPr>
          <p:cNvPr id="30" name="Text 5"/>
          <p:cNvSpPr/>
          <p:nvPr/>
        </p:nvSpPr>
        <p:spPr>
          <a:xfrm>
            <a:off x="1261592" y="4645318"/>
            <a:ext cx="4381058"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Gathers log files from both Amazon EC2 instances and on-premises servers into a unified platform</a:t>
            </a:r>
            <a:endParaRPr lang="en-US" sz="1169" dirty="0"/>
          </a:p>
        </p:txBody>
      </p:sp>
      <p:sp>
        <p:nvSpPr>
          <p:cNvPr id="31" name="Text 6"/>
          <p:cNvSpPr/>
          <p:nvPr/>
        </p:nvSpPr>
        <p:spPr>
          <a:xfrm>
            <a:off x="6729359" y="3011919"/>
            <a:ext cx="4370327"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Unified Agent</a:t>
            </a:r>
            <a:endParaRPr lang="en-US" sz="1315" dirty="0"/>
          </a:p>
        </p:txBody>
      </p:sp>
      <p:sp>
        <p:nvSpPr>
          <p:cNvPr id="32" name="Text 7"/>
          <p:cNvSpPr/>
          <p:nvPr/>
        </p:nvSpPr>
        <p:spPr>
          <a:xfrm>
            <a:off x="6729359" y="3346024"/>
            <a:ext cx="4370327"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Simplified installation and configuration for consistent monitoring across diverse environments</a:t>
            </a:r>
            <a:endParaRPr lang="en-US" sz="1169" dirty="0"/>
          </a:p>
        </p:txBody>
      </p:sp>
      <p:sp>
        <p:nvSpPr>
          <p:cNvPr id="33" name="Text 8"/>
          <p:cNvSpPr/>
          <p:nvPr/>
        </p:nvSpPr>
        <p:spPr>
          <a:xfrm>
            <a:off x="6738349" y="4311214"/>
            <a:ext cx="4361337"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Hybrid Monitoring</a:t>
            </a:r>
            <a:endParaRPr lang="en-US" sz="1315" dirty="0"/>
          </a:p>
        </p:txBody>
      </p:sp>
      <p:sp>
        <p:nvSpPr>
          <p:cNvPr id="34" name="Text 9"/>
          <p:cNvSpPr/>
          <p:nvPr/>
        </p:nvSpPr>
        <p:spPr>
          <a:xfrm>
            <a:off x="6738349" y="4645318"/>
            <a:ext cx="4361337"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Bridges on-premises infrastructure with AWS CloudWatch for consistent operational visibility</a:t>
            </a:r>
            <a:endParaRPr lang="en-US" sz="1169" dirty="0"/>
          </a:p>
        </p:txBody>
      </p:sp>
      <p:sp>
        <p:nvSpPr>
          <p:cNvPr id="35" name="Text 10"/>
          <p:cNvSpPr/>
          <p:nvPr/>
        </p:nvSpPr>
        <p:spPr>
          <a:xfrm>
            <a:off x="593963" y="5499140"/>
            <a:ext cx="1069133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Key Benefits:</a:t>
            </a:r>
            <a:endParaRPr lang="en-US" sz="1461" dirty="0"/>
          </a:p>
        </p:txBody>
      </p:sp>
      <p:sp>
        <p:nvSpPr>
          <p:cNvPr id="36" name="Text 11"/>
          <p:cNvSpPr/>
          <p:nvPr/>
        </p:nvSpPr>
        <p:spPr>
          <a:xfrm>
            <a:off x="965190" y="5944612"/>
            <a:ext cx="230340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Simplified Data Collection</a:t>
            </a:r>
            <a:endParaRPr lang="en-US" sz="1169" dirty="0"/>
          </a:p>
        </p:txBody>
      </p:sp>
      <p:sp>
        <p:nvSpPr>
          <p:cNvPr id="37" name="Text 12"/>
          <p:cNvSpPr/>
          <p:nvPr/>
        </p:nvSpPr>
        <p:spPr>
          <a:xfrm>
            <a:off x="3552904" y="5944612"/>
            <a:ext cx="195346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Consistent Monitoring</a:t>
            </a:r>
            <a:endParaRPr lang="en-US" sz="1169" dirty="0"/>
          </a:p>
        </p:txBody>
      </p:sp>
      <p:sp>
        <p:nvSpPr>
          <p:cNvPr id="38" name="Text 13"/>
          <p:cNvSpPr/>
          <p:nvPr/>
        </p:nvSpPr>
        <p:spPr>
          <a:xfrm>
            <a:off x="5848999" y="5944612"/>
            <a:ext cx="2581477"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Reduced Configuration Effort</a:t>
            </a:r>
            <a:endParaRPr lang="en-US" sz="1169"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533594"/>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3643005"/>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2455079"/>
            <a:ext cx="5234300" cy="1522031"/>
          </a:xfrm>
          <a:prstGeom prst="rect">
            <a:avLst/>
          </a:prstGeom>
        </p:spPr>
      </p:pic>
      <p:pic>
        <p:nvPicPr>
          <p:cNvPr id="7" name="Image 5" descr="preencoded.png"/>
          <p:cNvPicPr>
            <a:picLocks noChangeAspect="1"/>
          </p:cNvPicPr>
          <p:nvPr/>
        </p:nvPicPr>
        <p:blipFill>
          <a:blip r:embed="rId8"/>
          <a:stretch>
            <a:fillRect/>
          </a:stretch>
        </p:blipFill>
        <p:spPr>
          <a:xfrm>
            <a:off x="816699" y="2677815"/>
            <a:ext cx="556840" cy="556840"/>
          </a:xfrm>
          <a:prstGeom prst="rect">
            <a:avLst/>
          </a:prstGeom>
        </p:spPr>
      </p:pic>
      <p:pic>
        <p:nvPicPr>
          <p:cNvPr id="8" name="Image 6" descr="preencoded.png"/>
          <p:cNvPicPr>
            <a:picLocks noChangeAspect="1"/>
          </p:cNvPicPr>
          <p:nvPr/>
        </p:nvPicPr>
        <p:blipFill>
          <a:blip r:embed="rId9"/>
          <a:stretch>
            <a:fillRect/>
          </a:stretch>
        </p:blipFill>
        <p:spPr>
          <a:xfrm>
            <a:off x="955909" y="2789183"/>
            <a:ext cx="278420" cy="334104"/>
          </a:xfrm>
          <a:prstGeom prst="rect">
            <a:avLst/>
          </a:prstGeom>
        </p:spPr>
      </p:pic>
      <p:pic>
        <p:nvPicPr>
          <p:cNvPr id="9" name="Image 7" descr="preencoded.png"/>
          <p:cNvPicPr>
            <a:picLocks noChangeAspect="1"/>
          </p:cNvPicPr>
          <p:nvPr/>
        </p:nvPicPr>
        <p:blipFill>
          <a:blip r:embed="rId10"/>
          <a:stretch>
            <a:fillRect/>
          </a:stretch>
        </p:blipFill>
        <p:spPr>
          <a:xfrm>
            <a:off x="1559153" y="3039761"/>
            <a:ext cx="148491" cy="148491"/>
          </a:xfrm>
          <a:prstGeom prst="rect">
            <a:avLst/>
          </a:prstGeom>
        </p:spPr>
      </p:pic>
      <p:pic>
        <p:nvPicPr>
          <p:cNvPr id="10" name="Image 8" descr="preencoded.png"/>
          <p:cNvPicPr>
            <a:picLocks noChangeAspect="1"/>
          </p:cNvPicPr>
          <p:nvPr/>
        </p:nvPicPr>
        <p:blipFill>
          <a:blip r:embed="rId11"/>
          <a:stretch>
            <a:fillRect/>
          </a:stretch>
        </p:blipFill>
        <p:spPr>
          <a:xfrm>
            <a:off x="1559153" y="3299620"/>
            <a:ext cx="185613" cy="148491"/>
          </a:xfrm>
          <a:prstGeom prst="rect">
            <a:avLst/>
          </a:prstGeom>
        </p:spPr>
      </p:pic>
      <p:pic>
        <p:nvPicPr>
          <p:cNvPr id="11" name="Image 9" descr="preencoded.png"/>
          <p:cNvPicPr>
            <a:picLocks noChangeAspect="1"/>
          </p:cNvPicPr>
          <p:nvPr/>
        </p:nvPicPr>
        <p:blipFill>
          <a:blip r:embed="rId12"/>
          <a:stretch>
            <a:fillRect/>
          </a:stretch>
        </p:blipFill>
        <p:spPr>
          <a:xfrm>
            <a:off x="1559153" y="3559479"/>
            <a:ext cx="148491" cy="148491"/>
          </a:xfrm>
          <a:prstGeom prst="rect">
            <a:avLst/>
          </a:prstGeom>
        </p:spPr>
      </p:pic>
      <p:pic>
        <p:nvPicPr>
          <p:cNvPr id="12" name="Image 10" descr="preencoded.png"/>
          <p:cNvPicPr>
            <a:picLocks noChangeAspect="1"/>
          </p:cNvPicPr>
          <p:nvPr/>
        </p:nvPicPr>
        <p:blipFill>
          <a:blip r:embed="rId13"/>
          <a:stretch>
            <a:fillRect/>
          </a:stretch>
        </p:blipFill>
        <p:spPr>
          <a:xfrm>
            <a:off x="6050999" y="2455079"/>
            <a:ext cx="5234300" cy="1522031"/>
          </a:xfrm>
          <a:prstGeom prst="rect">
            <a:avLst/>
          </a:prstGeom>
        </p:spPr>
      </p:pic>
      <p:pic>
        <p:nvPicPr>
          <p:cNvPr id="13" name="Image 11" descr="preencoded.png"/>
          <p:cNvPicPr>
            <a:picLocks noChangeAspect="1"/>
          </p:cNvPicPr>
          <p:nvPr/>
        </p:nvPicPr>
        <p:blipFill>
          <a:blip r:embed="rId14"/>
          <a:stretch>
            <a:fillRect/>
          </a:stretch>
        </p:blipFill>
        <p:spPr>
          <a:xfrm>
            <a:off x="6273735" y="2677815"/>
            <a:ext cx="556840" cy="556840"/>
          </a:xfrm>
          <a:prstGeom prst="rect">
            <a:avLst/>
          </a:prstGeom>
        </p:spPr>
      </p:pic>
      <p:pic>
        <p:nvPicPr>
          <p:cNvPr id="14" name="Image 12" descr="preencoded.png"/>
          <p:cNvPicPr>
            <a:picLocks noChangeAspect="1"/>
          </p:cNvPicPr>
          <p:nvPr/>
        </p:nvPicPr>
        <p:blipFill>
          <a:blip r:embed="rId15"/>
          <a:stretch>
            <a:fillRect/>
          </a:stretch>
        </p:blipFill>
        <p:spPr>
          <a:xfrm>
            <a:off x="6375822" y="2789183"/>
            <a:ext cx="352666" cy="334104"/>
          </a:xfrm>
          <a:prstGeom prst="rect">
            <a:avLst/>
          </a:prstGeom>
        </p:spPr>
      </p:pic>
      <p:pic>
        <p:nvPicPr>
          <p:cNvPr id="15" name="Image 13" descr="preencoded.png"/>
          <p:cNvPicPr>
            <a:picLocks noChangeAspect="1"/>
          </p:cNvPicPr>
          <p:nvPr/>
        </p:nvPicPr>
        <p:blipFill>
          <a:blip r:embed="rId16"/>
          <a:stretch>
            <a:fillRect/>
          </a:stretch>
        </p:blipFill>
        <p:spPr>
          <a:xfrm>
            <a:off x="7016189" y="3039761"/>
            <a:ext cx="129929" cy="148491"/>
          </a:xfrm>
          <a:prstGeom prst="rect">
            <a:avLst/>
          </a:prstGeom>
        </p:spPr>
      </p:pic>
      <p:pic>
        <p:nvPicPr>
          <p:cNvPr id="16" name="Image 14" descr="preencoded.png"/>
          <p:cNvPicPr>
            <a:picLocks noChangeAspect="1"/>
          </p:cNvPicPr>
          <p:nvPr/>
        </p:nvPicPr>
        <p:blipFill>
          <a:blip r:embed="rId17"/>
          <a:stretch>
            <a:fillRect/>
          </a:stretch>
        </p:blipFill>
        <p:spPr>
          <a:xfrm>
            <a:off x="7016189" y="3299620"/>
            <a:ext cx="148491" cy="148491"/>
          </a:xfrm>
          <a:prstGeom prst="rect">
            <a:avLst/>
          </a:prstGeom>
        </p:spPr>
      </p:pic>
      <p:pic>
        <p:nvPicPr>
          <p:cNvPr id="17" name="Image 15" descr="preencoded.png"/>
          <p:cNvPicPr>
            <a:picLocks noChangeAspect="1"/>
          </p:cNvPicPr>
          <p:nvPr/>
        </p:nvPicPr>
        <p:blipFill>
          <a:blip r:embed="rId18"/>
          <a:stretch>
            <a:fillRect/>
          </a:stretch>
        </p:blipFill>
        <p:spPr>
          <a:xfrm>
            <a:off x="593963" y="4199845"/>
            <a:ext cx="5234300" cy="1522031"/>
          </a:xfrm>
          <a:prstGeom prst="rect">
            <a:avLst/>
          </a:prstGeom>
        </p:spPr>
      </p:pic>
      <p:pic>
        <p:nvPicPr>
          <p:cNvPr id="18" name="Image 16" descr="preencoded.png"/>
          <p:cNvPicPr>
            <a:picLocks noChangeAspect="1"/>
          </p:cNvPicPr>
          <p:nvPr/>
        </p:nvPicPr>
        <p:blipFill>
          <a:blip r:embed="rId19"/>
          <a:stretch>
            <a:fillRect/>
          </a:stretch>
        </p:blipFill>
        <p:spPr>
          <a:xfrm>
            <a:off x="816699" y="4422582"/>
            <a:ext cx="556840" cy="556840"/>
          </a:xfrm>
          <a:prstGeom prst="rect">
            <a:avLst/>
          </a:prstGeom>
        </p:spPr>
      </p:pic>
      <p:pic>
        <p:nvPicPr>
          <p:cNvPr id="19" name="Image 17" descr="preencoded.png"/>
          <p:cNvPicPr>
            <a:picLocks noChangeAspect="1"/>
          </p:cNvPicPr>
          <p:nvPr/>
        </p:nvPicPr>
        <p:blipFill>
          <a:blip r:embed="rId20"/>
          <a:stretch>
            <a:fillRect/>
          </a:stretch>
        </p:blipFill>
        <p:spPr>
          <a:xfrm>
            <a:off x="974470" y="4533950"/>
            <a:ext cx="241298" cy="334104"/>
          </a:xfrm>
          <a:prstGeom prst="rect">
            <a:avLst/>
          </a:prstGeom>
        </p:spPr>
      </p:pic>
      <p:pic>
        <p:nvPicPr>
          <p:cNvPr id="20" name="Image 18" descr="preencoded.png"/>
          <p:cNvPicPr>
            <a:picLocks noChangeAspect="1"/>
          </p:cNvPicPr>
          <p:nvPr/>
        </p:nvPicPr>
        <p:blipFill>
          <a:blip r:embed="rId21"/>
          <a:stretch>
            <a:fillRect/>
          </a:stretch>
        </p:blipFill>
        <p:spPr>
          <a:xfrm>
            <a:off x="1559153" y="4784528"/>
            <a:ext cx="185613" cy="148491"/>
          </a:xfrm>
          <a:prstGeom prst="rect">
            <a:avLst/>
          </a:prstGeom>
        </p:spPr>
      </p:pic>
      <p:pic>
        <p:nvPicPr>
          <p:cNvPr id="21" name="Image 19" descr="preencoded.png"/>
          <p:cNvPicPr>
            <a:picLocks noChangeAspect="1"/>
          </p:cNvPicPr>
          <p:nvPr/>
        </p:nvPicPr>
        <p:blipFill>
          <a:blip r:embed="rId22"/>
          <a:stretch>
            <a:fillRect/>
          </a:stretch>
        </p:blipFill>
        <p:spPr>
          <a:xfrm>
            <a:off x="1559153" y="5044387"/>
            <a:ext cx="148491" cy="148491"/>
          </a:xfrm>
          <a:prstGeom prst="rect">
            <a:avLst/>
          </a:prstGeom>
        </p:spPr>
      </p:pic>
      <p:pic>
        <p:nvPicPr>
          <p:cNvPr id="22" name="Image 20" descr="preencoded.png"/>
          <p:cNvPicPr>
            <a:picLocks noChangeAspect="1"/>
          </p:cNvPicPr>
          <p:nvPr/>
        </p:nvPicPr>
        <p:blipFill>
          <a:blip r:embed="rId23"/>
          <a:stretch>
            <a:fillRect/>
          </a:stretch>
        </p:blipFill>
        <p:spPr>
          <a:xfrm>
            <a:off x="1559153" y="5304246"/>
            <a:ext cx="148491" cy="148491"/>
          </a:xfrm>
          <a:prstGeom prst="rect">
            <a:avLst/>
          </a:prstGeom>
        </p:spPr>
      </p:pic>
      <p:pic>
        <p:nvPicPr>
          <p:cNvPr id="23" name="Image 21" descr="preencoded.png"/>
          <p:cNvPicPr>
            <a:picLocks noChangeAspect="1"/>
          </p:cNvPicPr>
          <p:nvPr/>
        </p:nvPicPr>
        <p:blipFill>
          <a:blip r:embed="rId24"/>
          <a:stretch>
            <a:fillRect/>
          </a:stretch>
        </p:blipFill>
        <p:spPr>
          <a:xfrm>
            <a:off x="6050999" y="4199845"/>
            <a:ext cx="5234300" cy="1522031"/>
          </a:xfrm>
          <a:prstGeom prst="rect">
            <a:avLst/>
          </a:prstGeom>
        </p:spPr>
      </p:pic>
      <p:pic>
        <p:nvPicPr>
          <p:cNvPr id="24" name="Image 22" descr="preencoded.png"/>
          <p:cNvPicPr>
            <a:picLocks noChangeAspect="1"/>
          </p:cNvPicPr>
          <p:nvPr/>
        </p:nvPicPr>
        <p:blipFill>
          <a:blip r:embed="rId25"/>
          <a:stretch>
            <a:fillRect/>
          </a:stretch>
        </p:blipFill>
        <p:spPr>
          <a:xfrm>
            <a:off x="6273735" y="4422582"/>
            <a:ext cx="556840" cy="556840"/>
          </a:xfrm>
          <a:prstGeom prst="rect">
            <a:avLst/>
          </a:prstGeom>
        </p:spPr>
      </p:pic>
      <p:pic>
        <p:nvPicPr>
          <p:cNvPr id="25" name="Image 23" descr="preencoded.png"/>
          <p:cNvPicPr>
            <a:picLocks noChangeAspect="1"/>
          </p:cNvPicPr>
          <p:nvPr/>
        </p:nvPicPr>
        <p:blipFill>
          <a:blip r:embed="rId26"/>
          <a:stretch>
            <a:fillRect/>
          </a:stretch>
        </p:blipFill>
        <p:spPr>
          <a:xfrm>
            <a:off x="6375822" y="4533950"/>
            <a:ext cx="352666" cy="334104"/>
          </a:xfrm>
          <a:prstGeom prst="rect">
            <a:avLst/>
          </a:prstGeom>
        </p:spPr>
      </p:pic>
      <p:pic>
        <p:nvPicPr>
          <p:cNvPr id="26" name="Image 24" descr="preencoded.png"/>
          <p:cNvPicPr>
            <a:picLocks noChangeAspect="1"/>
          </p:cNvPicPr>
          <p:nvPr/>
        </p:nvPicPr>
        <p:blipFill>
          <a:blip r:embed="rId27"/>
          <a:stretch>
            <a:fillRect/>
          </a:stretch>
        </p:blipFill>
        <p:spPr>
          <a:xfrm>
            <a:off x="7016189" y="4784528"/>
            <a:ext cx="148491" cy="148491"/>
          </a:xfrm>
          <a:prstGeom prst="rect">
            <a:avLst/>
          </a:prstGeom>
        </p:spPr>
      </p:pic>
      <p:pic>
        <p:nvPicPr>
          <p:cNvPr id="27" name="Image 25" descr="preencoded.png"/>
          <p:cNvPicPr>
            <a:picLocks noChangeAspect="1"/>
          </p:cNvPicPr>
          <p:nvPr/>
        </p:nvPicPr>
        <p:blipFill>
          <a:blip r:embed="rId28"/>
          <a:stretch>
            <a:fillRect/>
          </a:stretch>
        </p:blipFill>
        <p:spPr>
          <a:xfrm>
            <a:off x="7016189" y="5044387"/>
            <a:ext cx="148491" cy="148491"/>
          </a:xfrm>
          <a:prstGeom prst="rect">
            <a:avLst/>
          </a:prstGeom>
        </p:spPr>
      </p:pic>
      <p:pic>
        <p:nvPicPr>
          <p:cNvPr id="29" name="Image 27" descr="preencoded.png"/>
          <p:cNvPicPr>
            <a:picLocks noChangeAspect="1"/>
          </p:cNvPicPr>
          <p:nvPr/>
        </p:nvPicPr>
        <p:blipFill>
          <a:blip r:embed="rId29"/>
          <a:stretch>
            <a:fillRect/>
          </a:stretch>
        </p:blipFill>
        <p:spPr>
          <a:xfrm>
            <a:off x="742454" y="6167348"/>
            <a:ext cx="167052" cy="296982"/>
          </a:xfrm>
          <a:prstGeom prst="rect">
            <a:avLst/>
          </a:prstGeom>
        </p:spPr>
      </p:pic>
      <p:sp>
        <p:nvSpPr>
          <p:cNvPr id="30"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Service Integration</a:t>
            </a:r>
            <a:endParaRPr lang="en-US" sz="2631" dirty="0"/>
          </a:p>
        </p:txBody>
      </p:sp>
      <p:sp>
        <p:nvSpPr>
          <p:cNvPr id="31" name="Text 1"/>
          <p:cNvSpPr/>
          <p:nvPr/>
        </p:nvSpPr>
        <p:spPr>
          <a:xfrm>
            <a:off x="593963" y="1638379"/>
            <a:ext cx="10691336"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CloudWatch seamlessly integrates with over 120 AWS services, providing native logging and metrics publishing capabilities for comprehensive monitoring.</a:t>
            </a:r>
            <a:endParaRPr lang="en-US" sz="1461" dirty="0"/>
          </a:p>
        </p:txBody>
      </p:sp>
      <p:sp>
        <p:nvSpPr>
          <p:cNvPr id="32" name="Text 2"/>
          <p:cNvSpPr/>
          <p:nvPr/>
        </p:nvSpPr>
        <p:spPr>
          <a:xfrm>
            <a:off x="1559153" y="2677815"/>
            <a:ext cx="1921447"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EC2 Monitoring</a:t>
            </a:r>
            <a:endParaRPr lang="en-US" sz="1461" dirty="0"/>
          </a:p>
        </p:txBody>
      </p:sp>
      <p:sp>
        <p:nvSpPr>
          <p:cNvPr id="33" name="Text 3"/>
          <p:cNvSpPr/>
          <p:nvPr/>
        </p:nvSpPr>
        <p:spPr>
          <a:xfrm>
            <a:off x="1596276" y="3011919"/>
            <a:ext cx="2144183"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CPU utilization</a:t>
            </a:r>
            <a:endParaRPr lang="en-US" sz="1169" dirty="0"/>
          </a:p>
        </p:txBody>
      </p:sp>
      <p:sp>
        <p:nvSpPr>
          <p:cNvPr id="34" name="Text 4"/>
          <p:cNvSpPr/>
          <p:nvPr/>
        </p:nvSpPr>
        <p:spPr>
          <a:xfrm>
            <a:off x="1608184" y="3271778"/>
            <a:ext cx="2144183"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Network I/O</a:t>
            </a:r>
            <a:endParaRPr lang="en-US" sz="1169" dirty="0"/>
          </a:p>
        </p:txBody>
      </p:sp>
      <p:sp>
        <p:nvSpPr>
          <p:cNvPr id="35" name="Text 5"/>
          <p:cNvSpPr/>
          <p:nvPr/>
        </p:nvSpPr>
        <p:spPr>
          <a:xfrm>
            <a:off x="1596276" y="3531637"/>
            <a:ext cx="2144183"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Disk operations</a:t>
            </a:r>
            <a:endParaRPr lang="en-US" sz="1169" dirty="0"/>
          </a:p>
        </p:txBody>
      </p:sp>
      <p:sp>
        <p:nvSpPr>
          <p:cNvPr id="36" name="Text 6"/>
          <p:cNvSpPr/>
          <p:nvPr/>
        </p:nvSpPr>
        <p:spPr>
          <a:xfrm>
            <a:off x="7016189" y="2677815"/>
            <a:ext cx="2444355"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Lambda Monitoring</a:t>
            </a:r>
            <a:endParaRPr lang="en-US" sz="1461" dirty="0"/>
          </a:p>
        </p:txBody>
      </p:sp>
      <p:sp>
        <p:nvSpPr>
          <p:cNvPr id="37" name="Text 7"/>
          <p:cNvSpPr/>
          <p:nvPr/>
        </p:nvSpPr>
        <p:spPr>
          <a:xfrm>
            <a:off x="7034751" y="3011919"/>
            <a:ext cx="2667091"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Invocation counts</a:t>
            </a:r>
            <a:endParaRPr lang="en-US" sz="1169" dirty="0"/>
          </a:p>
        </p:txBody>
      </p:sp>
      <p:sp>
        <p:nvSpPr>
          <p:cNvPr id="38" name="Text 8"/>
          <p:cNvSpPr/>
          <p:nvPr/>
        </p:nvSpPr>
        <p:spPr>
          <a:xfrm>
            <a:off x="7053312" y="3271778"/>
            <a:ext cx="2667091"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Errors and throttles</a:t>
            </a:r>
            <a:endParaRPr lang="en-US" sz="1169" dirty="0"/>
          </a:p>
        </p:txBody>
      </p:sp>
      <p:sp>
        <p:nvSpPr>
          <p:cNvPr id="39" name="Text 9"/>
          <p:cNvSpPr/>
          <p:nvPr/>
        </p:nvSpPr>
        <p:spPr>
          <a:xfrm>
            <a:off x="1559154" y="4422582"/>
            <a:ext cx="2293312"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RDS Monitoring</a:t>
            </a:r>
            <a:endParaRPr lang="en-US" sz="1461" dirty="0"/>
          </a:p>
        </p:txBody>
      </p:sp>
      <p:sp>
        <p:nvSpPr>
          <p:cNvPr id="40" name="Text 10"/>
          <p:cNvSpPr/>
          <p:nvPr/>
        </p:nvSpPr>
        <p:spPr>
          <a:xfrm>
            <a:off x="1608184" y="4756686"/>
            <a:ext cx="251604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Database connections</a:t>
            </a:r>
            <a:endParaRPr lang="en-US" sz="1169" dirty="0"/>
          </a:p>
        </p:txBody>
      </p:sp>
      <p:sp>
        <p:nvSpPr>
          <p:cNvPr id="41" name="Text 11"/>
          <p:cNvSpPr/>
          <p:nvPr/>
        </p:nvSpPr>
        <p:spPr>
          <a:xfrm>
            <a:off x="1596276" y="5016545"/>
            <a:ext cx="251604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CPU utilization</a:t>
            </a:r>
            <a:endParaRPr lang="en-US" sz="1169" dirty="0"/>
          </a:p>
        </p:txBody>
      </p:sp>
      <p:sp>
        <p:nvSpPr>
          <p:cNvPr id="42" name="Text 12"/>
          <p:cNvSpPr/>
          <p:nvPr/>
        </p:nvSpPr>
        <p:spPr>
          <a:xfrm>
            <a:off x="1596276" y="5276404"/>
            <a:ext cx="2516049"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Read/write latency</a:t>
            </a:r>
            <a:endParaRPr lang="en-US" sz="1169" dirty="0"/>
          </a:p>
        </p:txBody>
      </p:sp>
      <p:sp>
        <p:nvSpPr>
          <p:cNvPr id="43" name="Text 13"/>
          <p:cNvSpPr/>
          <p:nvPr/>
        </p:nvSpPr>
        <p:spPr>
          <a:xfrm>
            <a:off x="7016189" y="4422582"/>
            <a:ext cx="1766229" cy="259859"/>
          </a:xfrm>
          <a:prstGeom prst="rect">
            <a:avLst/>
          </a:prstGeom>
          <a:noFill/>
          <a:ln/>
        </p:spPr>
        <p:txBody>
          <a:bodyPr vert="horz" wrap="square" lIns="0" tIns="0" rIns="0" bIns="0" rtlCol="0" anchor="t"/>
          <a:lstStyle/>
          <a:p>
            <a:pPr>
              <a:lnSpc>
                <a:spcPts val="2046"/>
              </a:lnSpc>
            </a:pPr>
            <a:r>
              <a:rPr lang="en-US" sz="1461" b="1" dirty="0">
                <a:solidFill>
                  <a:srgbClr val="1F2937"/>
                </a:solidFill>
                <a:latin typeface="ui-sans-serif" pitchFamily="34" charset="0"/>
                <a:ea typeface="ui-sans-serif" pitchFamily="34" charset="-122"/>
                <a:cs typeface="ui-sans-serif" pitchFamily="34" charset="-120"/>
              </a:rPr>
              <a:t>S3 Monitoring</a:t>
            </a:r>
            <a:endParaRPr lang="en-US" sz="1461" dirty="0"/>
          </a:p>
        </p:txBody>
      </p:sp>
      <p:sp>
        <p:nvSpPr>
          <p:cNvPr id="44" name="Text 14"/>
          <p:cNvSpPr/>
          <p:nvPr/>
        </p:nvSpPr>
        <p:spPr>
          <a:xfrm>
            <a:off x="7053312" y="4756686"/>
            <a:ext cx="198896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Request counts</a:t>
            </a:r>
            <a:endParaRPr lang="en-US" sz="1169" dirty="0"/>
          </a:p>
        </p:txBody>
      </p:sp>
      <p:sp>
        <p:nvSpPr>
          <p:cNvPr id="45" name="Text 15"/>
          <p:cNvSpPr/>
          <p:nvPr/>
        </p:nvSpPr>
        <p:spPr>
          <a:xfrm>
            <a:off x="7053312" y="5016545"/>
            <a:ext cx="1988965" cy="222736"/>
          </a:xfrm>
          <a:prstGeom prst="rect">
            <a:avLst/>
          </a:prstGeom>
          <a:noFill/>
          <a:ln/>
        </p:spPr>
        <p:txBody>
          <a:bodyPr vert="horz" wrap="square" lIns="0" tIns="0" rIns="0" bIns="0" rtlCol="0" anchor="t"/>
          <a:lstStyle/>
          <a:p>
            <a:pPr marL="334087" indent="-334087">
              <a:lnSpc>
                <a:spcPts val="1754"/>
              </a:lnSpc>
              <a:buSzPct val="100000"/>
              <a:buChar char="•"/>
            </a:pPr>
            <a:r>
              <a:rPr lang="en-US" sz="1169" dirty="0">
                <a:solidFill>
                  <a:srgbClr val="4B5563"/>
                </a:solidFill>
                <a:latin typeface="ui-sans-serif" pitchFamily="34" charset="0"/>
                <a:ea typeface="ui-sans-serif" pitchFamily="34" charset="-122"/>
                <a:cs typeface="ui-sans-serif" pitchFamily="34" charset="-120"/>
              </a:rPr>
              <a:t>Data transfer</a:t>
            </a:r>
            <a:endParaRPr lang="en-US" sz="1169" dirty="0"/>
          </a:p>
        </p:txBody>
      </p:sp>
      <p:sp>
        <p:nvSpPr>
          <p:cNvPr id="46" name="Text 16"/>
          <p:cNvSpPr/>
          <p:nvPr/>
        </p:nvSpPr>
        <p:spPr>
          <a:xfrm>
            <a:off x="1020874" y="6204471"/>
            <a:ext cx="8916408" cy="222736"/>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Key Benefit:</a:t>
            </a:r>
            <a:r>
              <a:rPr lang="en-US" sz="1169" dirty="0">
                <a:solidFill>
                  <a:srgbClr val="374151"/>
                </a:solidFill>
                <a:latin typeface="ui-sans-serif" pitchFamily="34" charset="0"/>
                <a:ea typeface="ui-sans-serif" pitchFamily="34" charset="-122"/>
                <a:cs typeface="ui-sans-serif" pitchFamily="34" charset="-120"/>
              </a:rPr>
              <a:t> Unified monitoring across your AWS environment with consistent metrics and logging</a:t>
            </a:r>
            <a:endParaRPr lang="en-US" sz="116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6"/>
            <a:ext cx="11879263" cy="6362690"/>
          </a:xfrm>
          <a:prstGeom prst="rect">
            <a:avLst/>
          </a:prstGeom>
        </p:spPr>
      </p:pic>
      <p:pic>
        <p:nvPicPr>
          <p:cNvPr id="3" name="Image 1" descr="preencoded.png"/>
          <p:cNvPicPr>
            <a:picLocks noChangeAspect="1"/>
          </p:cNvPicPr>
          <p:nvPr/>
        </p:nvPicPr>
        <p:blipFill>
          <a:blip r:embed="rId4"/>
          <a:stretch>
            <a:fillRect/>
          </a:stretch>
        </p:blipFill>
        <p:spPr>
          <a:xfrm>
            <a:off x="9503410" y="79226"/>
            <a:ext cx="2375853" cy="2375853"/>
          </a:xfrm>
          <a:prstGeom prst="rect">
            <a:avLst/>
          </a:prstGeom>
        </p:spPr>
      </p:pic>
      <p:pic>
        <p:nvPicPr>
          <p:cNvPr id="4" name="Image 2" descr="preencoded.png"/>
          <p:cNvPicPr>
            <a:picLocks noChangeAspect="1"/>
          </p:cNvPicPr>
          <p:nvPr/>
        </p:nvPicPr>
        <p:blipFill>
          <a:blip r:embed="rId5"/>
          <a:stretch>
            <a:fillRect/>
          </a:stretch>
        </p:blipFill>
        <p:spPr>
          <a:xfrm>
            <a:off x="0" y="4014232"/>
            <a:ext cx="3563779" cy="3563779"/>
          </a:xfrm>
          <a:prstGeom prst="rect">
            <a:avLst/>
          </a:prstGeom>
        </p:spPr>
      </p:pic>
      <p:pic>
        <p:nvPicPr>
          <p:cNvPr id="5" name="Image 3" descr="preencoded.png"/>
          <p:cNvPicPr>
            <a:picLocks noChangeAspect="1"/>
          </p:cNvPicPr>
          <p:nvPr/>
        </p:nvPicPr>
        <p:blipFill>
          <a:blip r:embed="rId6"/>
          <a:stretch>
            <a:fillRect/>
          </a:stretch>
        </p:blipFill>
        <p:spPr>
          <a:xfrm>
            <a:off x="593963" y="1118662"/>
            <a:ext cx="556840" cy="37123"/>
          </a:xfrm>
          <a:prstGeom prst="rect">
            <a:avLst/>
          </a:prstGeom>
        </p:spPr>
      </p:pic>
      <p:pic>
        <p:nvPicPr>
          <p:cNvPr id="6" name="Image 4" descr="preencoded.png"/>
          <p:cNvPicPr>
            <a:picLocks noChangeAspect="1"/>
          </p:cNvPicPr>
          <p:nvPr/>
        </p:nvPicPr>
        <p:blipFill>
          <a:blip r:embed="rId7"/>
          <a:stretch>
            <a:fillRect/>
          </a:stretch>
        </p:blipFill>
        <p:spPr>
          <a:xfrm>
            <a:off x="593963" y="1638379"/>
            <a:ext cx="5234300" cy="1373540"/>
          </a:xfrm>
          <a:prstGeom prst="rect">
            <a:avLst/>
          </a:prstGeom>
        </p:spPr>
      </p:pic>
      <p:pic>
        <p:nvPicPr>
          <p:cNvPr id="7" name="Image 5" descr="preencoded.png"/>
          <p:cNvPicPr>
            <a:picLocks noChangeAspect="1"/>
          </p:cNvPicPr>
          <p:nvPr/>
        </p:nvPicPr>
        <p:blipFill>
          <a:blip r:embed="rId8"/>
          <a:stretch>
            <a:fillRect/>
          </a:stretch>
        </p:blipFill>
        <p:spPr>
          <a:xfrm>
            <a:off x="779576" y="1823993"/>
            <a:ext cx="464034" cy="464034"/>
          </a:xfrm>
          <a:prstGeom prst="rect">
            <a:avLst/>
          </a:prstGeom>
        </p:spPr>
      </p:pic>
      <p:pic>
        <p:nvPicPr>
          <p:cNvPr id="8" name="Image 6" descr="preencoded.png"/>
          <p:cNvPicPr>
            <a:picLocks noChangeAspect="1"/>
          </p:cNvPicPr>
          <p:nvPr/>
        </p:nvPicPr>
        <p:blipFill>
          <a:blip r:embed="rId9"/>
          <a:stretch>
            <a:fillRect/>
          </a:stretch>
        </p:blipFill>
        <p:spPr>
          <a:xfrm>
            <a:off x="918787" y="1926080"/>
            <a:ext cx="185613" cy="259859"/>
          </a:xfrm>
          <a:prstGeom prst="rect">
            <a:avLst/>
          </a:prstGeom>
        </p:spPr>
      </p:pic>
      <p:pic>
        <p:nvPicPr>
          <p:cNvPr id="9" name="Image 7" descr="preencoded.png"/>
          <p:cNvPicPr>
            <a:picLocks noChangeAspect="1"/>
          </p:cNvPicPr>
          <p:nvPr/>
        </p:nvPicPr>
        <p:blipFill>
          <a:blip r:embed="rId10"/>
          <a:stretch>
            <a:fillRect/>
          </a:stretch>
        </p:blipFill>
        <p:spPr>
          <a:xfrm>
            <a:off x="6050999" y="1638379"/>
            <a:ext cx="5234300" cy="1373540"/>
          </a:xfrm>
          <a:prstGeom prst="rect">
            <a:avLst/>
          </a:prstGeom>
        </p:spPr>
      </p:pic>
      <p:pic>
        <p:nvPicPr>
          <p:cNvPr id="10" name="Image 8" descr="preencoded.png"/>
          <p:cNvPicPr>
            <a:picLocks noChangeAspect="1"/>
          </p:cNvPicPr>
          <p:nvPr/>
        </p:nvPicPr>
        <p:blipFill>
          <a:blip r:embed="rId11"/>
          <a:stretch>
            <a:fillRect/>
          </a:stretch>
        </p:blipFill>
        <p:spPr>
          <a:xfrm>
            <a:off x="6236612" y="1823993"/>
            <a:ext cx="464034" cy="464034"/>
          </a:xfrm>
          <a:prstGeom prst="rect">
            <a:avLst/>
          </a:prstGeom>
        </p:spPr>
      </p:pic>
      <p:pic>
        <p:nvPicPr>
          <p:cNvPr id="11" name="Image 9" descr="preencoded.png"/>
          <p:cNvPicPr>
            <a:picLocks noChangeAspect="1"/>
          </p:cNvPicPr>
          <p:nvPr/>
        </p:nvPicPr>
        <p:blipFill>
          <a:blip r:embed="rId12"/>
          <a:stretch>
            <a:fillRect/>
          </a:stretch>
        </p:blipFill>
        <p:spPr>
          <a:xfrm>
            <a:off x="6385103" y="1926080"/>
            <a:ext cx="167052" cy="259859"/>
          </a:xfrm>
          <a:prstGeom prst="rect">
            <a:avLst/>
          </a:prstGeom>
        </p:spPr>
      </p:pic>
      <p:pic>
        <p:nvPicPr>
          <p:cNvPr id="12" name="Image 10" descr="preencoded.png"/>
          <p:cNvPicPr>
            <a:picLocks noChangeAspect="1"/>
          </p:cNvPicPr>
          <p:nvPr/>
        </p:nvPicPr>
        <p:blipFill>
          <a:blip r:embed="rId13"/>
          <a:stretch>
            <a:fillRect/>
          </a:stretch>
        </p:blipFill>
        <p:spPr>
          <a:xfrm>
            <a:off x="593963" y="3234655"/>
            <a:ext cx="5234300" cy="1373540"/>
          </a:xfrm>
          <a:prstGeom prst="rect">
            <a:avLst/>
          </a:prstGeom>
        </p:spPr>
      </p:pic>
      <p:pic>
        <p:nvPicPr>
          <p:cNvPr id="13" name="Image 11" descr="preencoded.png"/>
          <p:cNvPicPr>
            <a:picLocks noChangeAspect="1"/>
          </p:cNvPicPr>
          <p:nvPr/>
        </p:nvPicPr>
        <p:blipFill>
          <a:blip r:embed="rId14"/>
          <a:stretch>
            <a:fillRect/>
          </a:stretch>
        </p:blipFill>
        <p:spPr>
          <a:xfrm>
            <a:off x="779576" y="3420269"/>
            <a:ext cx="464034" cy="464034"/>
          </a:xfrm>
          <a:prstGeom prst="rect">
            <a:avLst/>
          </a:prstGeom>
        </p:spPr>
      </p:pic>
      <p:pic>
        <p:nvPicPr>
          <p:cNvPr id="14" name="Image 12" descr="preencoded.png"/>
          <p:cNvPicPr>
            <a:picLocks noChangeAspect="1"/>
          </p:cNvPicPr>
          <p:nvPr/>
        </p:nvPicPr>
        <p:blipFill>
          <a:blip r:embed="rId15"/>
          <a:stretch>
            <a:fillRect/>
          </a:stretch>
        </p:blipFill>
        <p:spPr>
          <a:xfrm>
            <a:off x="895585" y="3522356"/>
            <a:ext cx="232017" cy="259859"/>
          </a:xfrm>
          <a:prstGeom prst="rect">
            <a:avLst/>
          </a:prstGeom>
        </p:spPr>
      </p:pic>
      <p:pic>
        <p:nvPicPr>
          <p:cNvPr id="15" name="Image 13" descr="preencoded.png"/>
          <p:cNvPicPr>
            <a:picLocks noChangeAspect="1"/>
          </p:cNvPicPr>
          <p:nvPr/>
        </p:nvPicPr>
        <p:blipFill>
          <a:blip r:embed="rId16"/>
          <a:stretch>
            <a:fillRect/>
          </a:stretch>
        </p:blipFill>
        <p:spPr>
          <a:xfrm>
            <a:off x="6050999" y="3234655"/>
            <a:ext cx="5234300" cy="1373540"/>
          </a:xfrm>
          <a:prstGeom prst="rect">
            <a:avLst/>
          </a:prstGeom>
        </p:spPr>
      </p:pic>
      <p:pic>
        <p:nvPicPr>
          <p:cNvPr id="16" name="Image 14" descr="preencoded.png"/>
          <p:cNvPicPr>
            <a:picLocks noChangeAspect="1"/>
          </p:cNvPicPr>
          <p:nvPr/>
        </p:nvPicPr>
        <p:blipFill>
          <a:blip r:embed="rId17"/>
          <a:stretch>
            <a:fillRect/>
          </a:stretch>
        </p:blipFill>
        <p:spPr>
          <a:xfrm>
            <a:off x="6236612" y="3420269"/>
            <a:ext cx="464034" cy="464034"/>
          </a:xfrm>
          <a:prstGeom prst="rect">
            <a:avLst/>
          </a:prstGeom>
        </p:spPr>
      </p:pic>
      <p:pic>
        <p:nvPicPr>
          <p:cNvPr id="17" name="Image 15" descr="preencoded.png"/>
          <p:cNvPicPr>
            <a:picLocks noChangeAspect="1"/>
          </p:cNvPicPr>
          <p:nvPr/>
        </p:nvPicPr>
        <p:blipFill>
          <a:blip r:embed="rId18"/>
          <a:stretch>
            <a:fillRect/>
          </a:stretch>
        </p:blipFill>
        <p:spPr>
          <a:xfrm>
            <a:off x="6385103" y="3522356"/>
            <a:ext cx="167052" cy="259859"/>
          </a:xfrm>
          <a:prstGeom prst="rect">
            <a:avLst/>
          </a:prstGeom>
        </p:spPr>
      </p:pic>
      <p:pic>
        <p:nvPicPr>
          <p:cNvPr id="18" name="Image 16" descr="preencoded.png"/>
          <p:cNvPicPr>
            <a:picLocks noChangeAspect="1"/>
          </p:cNvPicPr>
          <p:nvPr/>
        </p:nvPicPr>
        <p:blipFill>
          <a:blip r:embed="rId19"/>
          <a:stretch>
            <a:fillRect/>
          </a:stretch>
        </p:blipFill>
        <p:spPr>
          <a:xfrm>
            <a:off x="593963" y="4830931"/>
            <a:ext cx="5234300" cy="1373540"/>
          </a:xfrm>
          <a:prstGeom prst="rect">
            <a:avLst/>
          </a:prstGeom>
        </p:spPr>
      </p:pic>
      <p:pic>
        <p:nvPicPr>
          <p:cNvPr id="19" name="Image 17" descr="preencoded.png"/>
          <p:cNvPicPr>
            <a:picLocks noChangeAspect="1"/>
          </p:cNvPicPr>
          <p:nvPr/>
        </p:nvPicPr>
        <p:blipFill>
          <a:blip r:embed="rId20"/>
          <a:stretch>
            <a:fillRect/>
          </a:stretch>
        </p:blipFill>
        <p:spPr>
          <a:xfrm>
            <a:off x="779576" y="5016545"/>
            <a:ext cx="464034" cy="464034"/>
          </a:xfrm>
          <a:prstGeom prst="rect">
            <a:avLst/>
          </a:prstGeom>
        </p:spPr>
      </p:pic>
      <p:pic>
        <p:nvPicPr>
          <p:cNvPr id="20" name="Image 18" descr="preencoded.png"/>
          <p:cNvPicPr>
            <a:picLocks noChangeAspect="1"/>
          </p:cNvPicPr>
          <p:nvPr/>
        </p:nvPicPr>
        <p:blipFill>
          <a:blip r:embed="rId21"/>
          <a:stretch>
            <a:fillRect/>
          </a:stretch>
        </p:blipFill>
        <p:spPr>
          <a:xfrm>
            <a:off x="895585" y="5118632"/>
            <a:ext cx="232017" cy="259859"/>
          </a:xfrm>
          <a:prstGeom prst="rect">
            <a:avLst/>
          </a:prstGeom>
        </p:spPr>
      </p:pic>
      <p:pic>
        <p:nvPicPr>
          <p:cNvPr id="21" name="Image 19" descr="preencoded.png"/>
          <p:cNvPicPr>
            <a:picLocks noChangeAspect="1"/>
          </p:cNvPicPr>
          <p:nvPr/>
        </p:nvPicPr>
        <p:blipFill>
          <a:blip r:embed="rId13"/>
          <a:stretch>
            <a:fillRect/>
          </a:stretch>
        </p:blipFill>
        <p:spPr>
          <a:xfrm>
            <a:off x="6050999" y="4830931"/>
            <a:ext cx="5234300" cy="1373540"/>
          </a:xfrm>
          <a:prstGeom prst="rect">
            <a:avLst/>
          </a:prstGeom>
        </p:spPr>
      </p:pic>
      <p:pic>
        <p:nvPicPr>
          <p:cNvPr id="22" name="Image 20" descr="preencoded.png"/>
          <p:cNvPicPr>
            <a:picLocks noChangeAspect="1"/>
          </p:cNvPicPr>
          <p:nvPr/>
        </p:nvPicPr>
        <p:blipFill>
          <a:blip r:embed="rId22"/>
          <a:stretch>
            <a:fillRect/>
          </a:stretch>
        </p:blipFill>
        <p:spPr>
          <a:xfrm>
            <a:off x="6236612" y="5016545"/>
            <a:ext cx="464034" cy="464034"/>
          </a:xfrm>
          <a:prstGeom prst="rect">
            <a:avLst/>
          </a:prstGeom>
        </p:spPr>
      </p:pic>
      <p:pic>
        <p:nvPicPr>
          <p:cNvPr id="23" name="Image 21" descr="preencoded.png"/>
          <p:cNvPicPr>
            <a:picLocks noChangeAspect="1"/>
          </p:cNvPicPr>
          <p:nvPr/>
        </p:nvPicPr>
        <p:blipFill>
          <a:blip r:embed="rId23"/>
          <a:stretch>
            <a:fillRect/>
          </a:stretch>
        </p:blipFill>
        <p:spPr>
          <a:xfrm>
            <a:off x="6375823" y="5118632"/>
            <a:ext cx="185613" cy="259859"/>
          </a:xfrm>
          <a:prstGeom prst="rect">
            <a:avLst/>
          </a:prstGeom>
        </p:spPr>
      </p:pic>
      <p:sp>
        <p:nvSpPr>
          <p:cNvPr id="26" name="Text 0"/>
          <p:cNvSpPr/>
          <p:nvPr/>
        </p:nvSpPr>
        <p:spPr>
          <a:xfrm>
            <a:off x="593963" y="673190"/>
            <a:ext cx="1069133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Best Practices</a:t>
            </a:r>
            <a:endParaRPr lang="en-US" sz="2631" dirty="0"/>
          </a:p>
        </p:txBody>
      </p:sp>
      <p:sp>
        <p:nvSpPr>
          <p:cNvPr id="27" name="Text 1"/>
          <p:cNvSpPr/>
          <p:nvPr/>
        </p:nvSpPr>
        <p:spPr>
          <a:xfrm>
            <a:off x="1392101" y="1823993"/>
            <a:ext cx="4250549"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Monitor What Matters</a:t>
            </a:r>
            <a:endParaRPr lang="en-US" sz="1315" dirty="0"/>
          </a:p>
        </p:txBody>
      </p:sp>
      <p:sp>
        <p:nvSpPr>
          <p:cNvPr id="28" name="Text 2"/>
          <p:cNvSpPr/>
          <p:nvPr/>
        </p:nvSpPr>
        <p:spPr>
          <a:xfrm>
            <a:off x="1392101" y="2158097"/>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Focus on critical metrics that impact business objectives to avoid alert fatigue and concentrate on actionable insights.</a:t>
            </a:r>
            <a:endParaRPr lang="en-US" sz="1169" dirty="0"/>
          </a:p>
        </p:txBody>
      </p:sp>
      <p:sp>
        <p:nvSpPr>
          <p:cNvPr id="29" name="Text 3"/>
          <p:cNvSpPr/>
          <p:nvPr/>
        </p:nvSpPr>
        <p:spPr>
          <a:xfrm>
            <a:off x="6849137" y="1823993"/>
            <a:ext cx="4250549"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Implement Early</a:t>
            </a:r>
            <a:endParaRPr lang="en-US" sz="1315" dirty="0"/>
          </a:p>
        </p:txBody>
      </p:sp>
      <p:sp>
        <p:nvSpPr>
          <p:cNvPr id="30" name="Text 4"/>
          <p:cNvSpPr/>
          <p:nvPr/>
        </p:nvSpPr>
        <p:spPr>
          <a:xfrm>
            <a:off x="6849137" y="2158097"/>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Integrate observability into the development lifecycle from day one to reduce rework and accelerate development.</a:t>
            </a:r>
            <a:endParaRPr lang="en-US" sz="1169" dirty="0"/>
          </a:p>
        </p:txBody>
      </p:sp>
      <p:sp>
        <p:nvSpPr>
          <p:cNvPr id="31" name="Text 5"/>
          <p:cNvSpPr/>
          <p:nvPr/>
        </p:nvSpPr>
        <p:spPr>
          <a:xfrm>
            <a:off x="1392101" y="3420269"/>
            <a:ext cx="4250549"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Correlate Data</a:t>
            </a:r>
            <a:endParaRPr lang="en-US" sz="1315" dirty="0"/>
          </a:p>
        </p:txBody>
      </p:sp>
      <p:sp>
        <p:nvSpPr>
          <p:cNvPr id="32" name="Text 6"/>
          <p:cNvSpPr/>
          <p:nvPr/>
        </p:nvSpPr>
        <p:spPr>
          <a:xfrm>
            <a:off x="1392101" y="3754373"/>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Combine metrics, logs, and traces to gain a comprehensive view and quickly pinpoint root causes of issues.</a:t>
            </a:r>
            <a:endParaRPr lang="en-US" sz="1169" dirty="0"/>
          </a:p>
        </p:txBody>
      </p:sp>
      <p:sp>
        <p:nvSpPr>
          <p:cNvPr id="33" name="Text 7"/>
          <p:cNvSpPr/>
          <p:nvPr/>
        </p:nvSpPr>
        <p:spPr>
          <a:xfrm>
            <a:off x="6849137" y="3420269"/>
            <a:ext cx="5100658"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Set Appropriate Alarms</a:t>
            </a:r>
            <a:endParaRPr lang="en-US" sz="1315" dirty="0"/>
          </a:p>
        </p:txBody>
      </p:sp>
      <p:sp>
        <p:nvSpPr>
          <p:cNvPr id="34" name="Text 8"/>
          <p:cNvSpPr/>
          <p:nvPr/>
        </p:nvSpPr>
        <p:spPr>
          <a:xfrm>
            <a:off x="6849137" y="3754373"/>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Configure alarms with thoughtful thresholds to ensure they are meaningful and actionable, preventing excessive notifications.</a:t>
            </a:r>
            <a:endParaRPr lang="en-US" sz="1169" dirty="0"/>
          </a:p>
        </p:txBody>
      </p:sp>
      <p:sp>
        <p:nvSpPr>
          <p:cNvPr id="35" name="Text 9"/>
          <p:cNvSpPr/>
          <p:nvPr/>
        </p:nvSpPr>
        <p:spPr>
          <a:xfrm>
            <a:off x="1392101" y="5016545"/>
            <a:ext cx="4250549"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Leverage Automation</a:t>
            </a:r>
            <a:endParaRPr lang="en-US" sz="1315" dirty="0"/>
          </a:p>
        </p:txBody>
      </p:sp>
      <p:sp>
        <p:nvSpPr>
          <p:cNvPr id="36" name="Text 10"/>
          <p:cNvSpPr/>
          <p:nvPr/>
        </p:nvSpPr>
        <p:spPr>
          <a:xfrm>
            <a:off x="1392101" y="5350649"/>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Use CloudWatch Events and AWS Lambda to automate responses to alerts, scaling actions, and incident management.</a:t>
            </a:r>
            <a:endParaRPr lang="en-US" sz="1169" dirty="0"/>
          </a:p>
        </p:txBody>
      </p:sp>
      <p:sp>
        <p:nvSpPr>
          <p:cNvPr id="37" name="Text 11"/>
          <p:cNvSpPr/>
          <p:nvPr/>
        </p:nvSpPr>
        <p:spPr>
          <a:xfrm>
            <a:off x="6849137" y="5016545"/>
            <a:ext cx="4250549" cy="259859"/>
          </a:xfrm>
          <a:prstGeom prst="rect">
            <a:avLst/>
          </a:prstGeom>
          <a:noFill/>
          <a:ln/>
        </p:spPr>
        <p:txBody>
          <a:bodyPr vert="horz" wrap="square" lIns="0" tIns="0" rIns="0" bIns="0" rtlCol="0" anchor="t"/>
          <a:lstStyle/>
          <a:p>
            <a:pPr>
              <a:lnSpc>
                <a:spcPts val="2046"/>
              </a:lnSpc>
            </a:pPr>
            <a:r>
              <a:rPr lang="en-US" sz="1315" b="1" dirty="0">
                <a:solidFill>
                  <a:srgbClr val="1F2937"/>
                </a:solidFill>
                <a:latin typeface="ui-sans-serif" pitchFamily="34" charset="0"/>
                <a:ea typeface="ui-sans-serif" pitchFamily="34" charset="-122"/>
                <a:cs typeface="ui-sans-serif" pitchFamily="34" charset="-120"/>
              </a:rPr>
              <a:t>Utilize Tagging</a:t>
            </a:r>
            <a:endParaRPr lang="en-US" sz="1315" dirty="0"/>
          </a:p>
        </p:txBody>
      </p:sp>
      <p:sp>
        <p:nvSpPr>
          <p:cNvPr id="38" name="Text 12"/>
          <p:cNvSpPr/>
          <p:nvPr/>
        </p:nvSpPr>
        <p:spPr>
          <a:xfrm>
            <a:off x="6849137" y="5350649"/>
            <a:ext cx="4250549"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Apply consistent tagging to AWS resources to help organize resources, filter monitoring data, and allocate costs effectively.</a:t>
            </a:r>
            <a:endParaRPr lang="en-US" sz="116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821680"/>
            <a:ext cx="742454" cy="37123"/>
          </a:xfrm>
          <a:prstGeom prst="rect">
            <a:avLst/>
          </a:prstGeom>
        </p:spPr>
      </p:pic>
      <p:pic>
        <p:nvPicPr>
          <p:cNvPr id="6" name="Image 4" descr="preencoded.png"/>
          <p:cNvPicPr>
            <a:picLocks noChangeAspect="1"/>
          </p:cNvPicPr>
          <p:nvPr/>
        </p:nvPicPr>
        <p:blipFill>
          <a:blip r:embed="rId6"/>
          <a:stretch>
            <a:fillRect/>
          </a:stretch>
        </p:blipFill>
        <p:spPr>
          <a:xfrm>
            <a:off x="742454" y="2046729"/>
            <a:ext cx="371227" cy="371227"/>
          </a:xfrm>
          <a:prstGeom prst="rect">
            <a:avLst/>
          </a:prstGeom>
        </p:spPr>
      </p:pic>
      <p:pic>
        <p:nvPicPr>
          <p:cNvPr id="7" name="Image 5" descr="preencoded.png"/>
          <p:cNvPicPr>
            <a:picLocks noChangeAspect="1"/>
          </p:cNvPicPr>
          <p:nvPr/>
        </p:nvPicPr>
        <p:blipFill>
          <a:blip r:embed="rId7"/>
          <a:stretch>
            <a:fillRect/>
          </a:stretch>
        </p:blipFill>
        <p:spPr>
          <a:xfrm>
            <a:off x="1262172" y="2102413"/>
            <a:ext cx="213455" cy="259859"/>
          </a:xfrm>
          <a:prstGeom prst="rect">
            <a:avLst/>
          </a:prstGeom>
        </p:spPr>
      </p:pic>
      <p:pic>
        <p:nvPicPr>
          <p:cNvPr id="8" name="Image 6" descr="preencoded.png"/>
          <p:cNvPicPr>
            <a:picLocks noChangeAspect="1"/>
          </p:cNvPicPr>
          <p:nvPr/>
        </p:nvPicPr>
        <p:blipFill>
          <a:blip r:embed="rId8"/>
          <a:stretch>
            <a:fillRect/>
          </a:stretch>
        </p:blipFill>
        <p:spPr>
          <a:xfrm>
            <a:off x="1586996" y="2102413"/>
            <a:ext cx="213455" cy="259859"/>
          </a:xfrm>
          <a:prstGeom prst="rect">
            <a:avLst/>
          </a:prstGeom>
        </p:spPr>
      </p:pic>
      <p:pic>
        <p:nvPicPr>
          <p:cNvPr id="9" name="Image 7" descr="preencoded.png"/>
          <p:cNvPicPr>
            <a:picLocks noChangeAspect="1"/>
          </p:cNvPicPr>
          <p:nvPr/>
        </p:nvPicPr>
        <p:blipFill>
          <a:blip r:embed="rId9"/>
          <a:stretch>
            <a:fillRect/>
          </a:stretch>
        </p:blipFill>
        <p:spPr>
          <a:xfrm>
            <a:off x="1911819" y="2102413"/>
            <a:ext cx="185613" cy="259859"/>
          </a:xfrm>
          <a:prstGeom prst="rect">
            <a:avLst/>
          </a:prstGeom>
        </p:spPr>
      </p:pic>
      <p:pic>
        <p:nvPicPr>
          <p:cNvPr id="11" name="Image 9" descr="preencoded.png"/>
          <p:cNvPicPr>
            <a:picLocks noChangeAspect="1"/>
          </p:cNvPicPr>
          <p:nvPr/>
        </p:nvPicPr>
        <p:blipFill>
          <a:blip r:embed="rId10"/>
          <a:stretch>
            <a:fillRect/>
          </a:stretch>
        </p:blipFill>
        <p:spPr>
          <a:xfrm>
            <a:off x="742454" y="2937674"/>
            <a:ext cx="371227" cy="371227"/>
          </a:xfrm>
          <a:prstGeom prst="rect">
            <a:avLst/>
          </a:prstGeom>
        </p:spPr>
      </p:pic>
      <p:pic>
        <p:nvPicPr>
          <p:cNvPr id="12" name="Image 10" descr="preencoded.png"/>
          <p:cNvPicPr>
            <a:picLocks noChangeAspect="1"/>
          </p:cNvPicPr>
          <p:nvPr/>
        </p:nvPicPr>
        <p:blipFill>
          <a:blip r:embed="rId11"/>
          <a:stretch>
            <a:fillRect/>
          </a:stretch>
        </p:blipFill>
        <p:spPr>
          <a:xfrm>
            <a:off x="1262172" y="2993358"/>
            <a:ext cx="185613" cy="259859"/>
          </a:xfrm>
          <a:prstGeom prst="rect">
            <a:avLst/>
          </a:prstGeom>
        </p:spPr>
      </p:pic>
      <p:pic>
        <p:nvPicPr>
          <p:cNvPr id="13" name="Image 11" descr="preencoded.png"/>
          <p:cNvPicPr>
            <a:picLocks noChangeAspect="1"/>
          </p:cNvPicPr>
          <p:nvPr/>
        </p:nvPicPr>
        <p:blipFill>
          <a:blip r:embed="rId12"/>
          <a:stretch>
            <a:fillRect/>
          </a:stretch>
        </p:blipFill>
        <p:spPr>
          <a:xfrm>
            <a:off x="1559153" y="2993358"/>
            <a:ext cx="185613" cy="259859"/>
          </a:xfrm>
          <a:prstGeom prst="rect">
            <a:avLst/>
          </a:prstGeom>
        </p:spPr>
      </p:pic>
      <p:pic>
        <p:nvPicPr>
          <p:cNvPr id="14" name="Image 12" descr="preencoded.png"/>
          <p:cNvPicPr>
            <a:picLocks noChangeAspect="1"/>
          </p:cNvPicPr>
          <p:nvPr/>
        </p:nvPicPr>
        <p:blipFill>
          <a:blip r:embed="rId13"/>
          <a:stretch>
            <a:fillRect/>
          </a:stretch>
        </p:blipFill>
        <p:spPr>
          <a:xfrm>
            <a:off x="1856135" y="2993358"/>
            <a:ext cx="120649" cy="259859"/>
          </a:xfrm>
          <a:prstGeom prst="rect">
            <a:avLst/>
          </a:prstGeom>
        </p:spPr>
      </p:pic>
      <p:pic>
        <p:nvPicPr>
          <p:cNvPr id="16" name="Image 14" descr="preencoded.png"/>
          <p:cNvPicPr>
            <a:picLocks noChangeAspect="1"/>
          </p:cNvPicPr>
          <p:nvPr/>
        </p:nvPicPr>
        <p:blipFill>
          <a:blip r:embed="rId14"/>
          <a:stretch>
            <a:fillRect/>
          </a:stretch>
        </p:blipFill>
        <p:spPr>
          <a:xfrm>
            <a:off x="742454" y="3828619"/>
            <a:ext cx="371227" cy="371227"/>
          </a:xfrm>
          <a:prstGeom prst="rect">
            <a:avLst/>
          </a:prstGeom>
        </p:spPr>
      </p:pic>
      <p:pic>
        <p:nvPicPr>
          <p:cNvPr id="17" name="Image 15" descr="preencoded.png"/>
          <p:cNvPicPr>
            <a:picLocks noChangeAspect="1"/>
          </p:cNvPicPr>
          <p:nvPr/>
        </p:nvPicPr>
        <p:blipFill>
          <a:blip r:embed="rId15"/>
          <a:stretch>
            <a:fillRect/>
          </a:stretch>
        </p:blipFill>
        <p:spPr>
          <a:xfrm>
            <a:off x="1262172" y="3884303"/>
            <a:ext cx="185613" cy="259859"/>
          </a:xfrm>
          <a:prstGeom prst="rect">
            <a:avLst/>
          </a:prstGeom>
        </p:spPr>
      </p:pic>
      <p:pic>
        <p:nvPicPr>
          <p:cNvPr id="18" name="Image 16" descr="preencoded.png"/>
          <p:cNvPicPr>
            <a:picLocks noChangeAspect="1"/>
          </p:cNvPicPr>
          <p:nvPr/>
        </p:nvPicPr>
        <p:blipFill>
          <a:blip r:embed="rId16"/>
          <a:stretch>
            <a:fillRect/>
          </a:stretch>
        </p:blipFill>
        <p:spPr>
          <a:xfrm>
            <a:off x="1559153" y="3884303"/>
            <a:ext cx="185613" cy="259859"/>
          </a:xfrm>
          <a:prstGeom prst="rect">
            <a:avLst/>
          </a:prstGeom>
        </p:spPr>
      </p:pic>
      <p:pic>
        <p:nvPicPr>
          <p:cNvPr id="19" name="Image 17" descr="preencoded.png"/>
          <p:cNvPicPr>
            <a:picLocks noChangeAspect="1"/>
          </p:cNvPicPr>
          <p:nvPr/>
        </p:nvPicPr>
        <p:blipFill>
          <a:blip r:embed="rId17"/>
          <a:stretch>
            <a:fillRect/>
          </a:stretch>
        </p:blipFill>
        <p:spPr>
          <a:xfrm>
            <a:off x="1856135" y="3884303"/>
            <a:ext cx="185613" cy="259859"/>
          </a:xfrm>
          <a:prstGeom prst="rect">
            <a:avLst/>
          </a:prstGeom>
        </p:spPr>
      </p:pic>
      <p:pic>
        <p:nvPicPr>
          <p:cNvPr id="21" name="Image 19" descr="preencoded.png"/>
          <p:cNvPicPr>
            <a:picLocks noChangeAspect="1"/>
          </p:cNvPicPr>
          <p:nvPr/>
        </p:nvPicPr>
        <p:blipFill>
          <a:blip r:embed="rId18"/>
          <a:stretch>
            <a:fillRect/>
          </a:stretch>
        </p:blipFill>
        <p:spPr>
          <a:xfrm>
            <a:off x="742454" y="4719563"/>
            <a:ext cx="371227" cy="371227"/>
          </a:xfrm>
          <a:prstGeom prst="rect">
            <a:avLst/>
          </a:prstGeom>
        </p:spPr>
      </p:pic>
      <p:pic>
        <p:nvPicPr>
          <p:cNvPr id="22" name="Image 20" descr="preencoded.png"/>
          <p:cNvPicPr>
            <a:picLocks noChangeAspect="1"/>
          </p:cNvPicPr>
          <p:nvPr/>
        </p:nvPicPr>
        <p:blipFill>
          <a:blip r:embed="rId19"/>
          <a:stretch>
            <a:fillRect/>
          </a:stretch>
        </p:blipFill>
        <p:spPr>
          <a:xfrm>
            <a:off x="1262172" y="4775247"/>
            <a:ext cx="185613" cy="259859"/>
          </a:xfrm>
          <a:prstGeom prst="rect">
            <a:avLst/>
          </a:prstGeom>
        </p:spPr>
      </p:pic>
      <p:pic>
        <p:nvPicPr>
          <p:cNvPr id="23" name="Image 21" descr="preencoded.png"/>
          <p:cNvPicPr>
            <a:picLocks noChangeAspect="1"/>
          </p:cNvPicPr>
          <p:nvPr/>
        </p:nvPicPr>
        <p:blipFill>
          <a:blip r:embed="rId20"/>
          <a:stretch>
            <a:fillRect/>
          </a:stretch>
        </p:blipFill>
        <p:spPr>
          <a:xfrm>
            <a:off x="1559153" y="4775247"/>
            <a:ext cx="185613" cy="259859"/>
          </a:xfrm>
          <a:prstGeom prst="rect">
            <a:avLst/>
          </a:prstGeom>
        </p:spPr>
      </p:pic>
      <p:pic>
        <p:nvPicPr>
          <p:cNvPr id="24" name="Image 22" descr="preencoded.png"/>
          <p:cNvPicPr>
            <a:picLocks noChangeAspect="1"/>
          </p:cNvPicPr>
          <p:nvPr/>
        </p:nvPicPr>
        <p:blipFill>
          <a:blip r:embed="rId21"/>
          <a:stretch>
            <a:fillRect/>
          </a:stretch>
        </p:blipFill>
        <p:spPr>
          <a:xfrm>
            <a:off x="1856135" y="4775247"/>
            <a:ext cx="120649" cy="259859"/>
          </a:xfrm>
          <a:prstGeom prst="rect">
            <a:avLst/>
          </a:prstGeom>
        </p:spPr>
      </p:pic>
      <p:sp>
        <p:nvSpPr>
          <p:cNvPr id="26"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1</a:t>
            </a:r>
            <a:endParaRPr lang="en-US" sz="2192" dirty="0"/>
          </a:p>
        </p:txBody>
      </p:sp>
      <p:sp>
        <p:nvSpPr>
          <p:cNvPr id="27" name="Text 1"/>
          <p:cNvSpPr/>
          <p:nvPr/>
        </p:nvSpPr>
        <p:spPr>
          <a:xfrm>
            <a:off x="593963" y="1304275"/>
            <a:ext cx="128296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are the possible states of a CloudWatch alarm?</a:t>
            </a:r>
            <a:endParaRPr lang="en-US" sz="1754" dirty="0"/>
          </a:p>
        </p:txBody>
      </p:sp>
      <p:sp>
        <p:nvSpPr>
          <p:cNvPr id="28" name="Text 2"/>
          <p:cNvSpPr/>
          <p:nvPr/>
        </p:nvSpPr>
        <p:spPr>
          <a:xfrm>
            <a:off x="870498" y="204672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9" name="Text 3"/>
          <p:cNvSpPr/>
          <p:nvPr/>
        </p:nvSpPr>
        <p:spPr>
          <a:xfrm>
            <a:off x="2208801" y="2102413"/>
            <a:ext cx="3131358"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ACTIVE, INACTIVE, PENDING</a:t>
            </a:r>
            <a:endParaRPr lang="en-US" sz="1461" dirty="0"/>
          </a:p>
        </p:txBody>
      </p:sp>
      <p:sp>
        <p:nvSpPr>
          <p:cNvPr id="30" name="Text 4"/>
          <p:cNvSpPr/>
          <p:nvPr/>
        </p:nvSpPr>
        <p:spPr>
          <a:xfrm>
            <a:off x="871368" y="2937674"/>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31" name="Text 5"/>
          <p:cNvSpPr/>
          <p:nvPr/>
        </p:nvSpPr>
        <p:spPr>
          <a:xfrm>
            <a:off x="2088152" y="2993358"/>
            <a:ext cx="194580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ON, OFF, PAUSED</a:t>
            </a:r>
            <a:endParaRPr lang="en-US" sz="1461" dirty="0"/>
          </a:p>
        </p:txBody>
      </p:sp>
      <p:sp>
        <p:nvSpPr>
          <p:cNvPr id="32" name="Text 6"/>
          <p:cNvSpPr/>
          <p:nvPr/>
        </p:nvSpPr>
        <p:spPr>
          <a:xfrm>
            <a:off x="873544" y="382861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33" name="Text 7"/>
          <p:cNvSpPr/>
          <p:nvPr/>
        </p:nvSpPr>
        <p:spPr>
          <a:xfrm>
            <a:off x="2153116" y="3884303"/>
            <a:ext cx="3594057"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OK, ALARM, INSUFFICIENT_DATA</a:t>
            </a:r>
            <a:endParaRPr lang="en-US" sz="1461" dirty="0"/>
          </a:p>
        </p:txBody>
      </p:sp>
      <p:sp>
        <p:nvSpPr>
          <p:cNvPr id="34" name="Text 8"/>
          <p:cNvSpPr/>
          <p:nvPr/>
        </p:nvSpPr>
        <p:spPr>
          <a:xfrm>
            <a:off x="866438" y="4719563"/>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35" name="Text 9"/>
          <p:cNvSpPr/>
          <p:nvPr/>
        </p:nvSpPr>
        <p:spPr>
          <a:xfrm>
            <a:off x="2088151" y="4775247"/>
            <a:ext cx="3345045"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NORMAL, WARNING, CRITICAL</a:t>
            </a:r>
            <a:endParaRPr lang="en-US" sz="146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821680"/>
            <a:ext cx="742454" cy="37123"/>
          </a:xfrm>
          <a:prstGeom prst="rect">
            <a:avLst/>
          </a:prstGeom>
        </p:spPr>
      </p:pic>
      <p:pic>
        <p:nvPicPr>
          <p:cNvPr id="5" name="Image 3" descr="preencoded.png"/>
          <p:cNvPicPr>
            <a:picLocks noChangeAspect="1"/>
          </p:cNvPicPr>
          <p:nvPr/>
        </p:nvPicPr>
        <p:blipFill>
          <a:blip r:embed="rId6"/>
          <a:stretch>
            <a:fillRect/>
          </a:stretch>
        </p:blipFill>
        <p:spPr>
          <a:xfrm>
            <a:off x="593963" y="1898238"/>
            <a:ext cx="3415288" cy="1484908"/>
          </a:xfrm>
          <a:prstGeom prst="rect">
            <a:avLst/>
          </a:prstGeom>
        </p:spPr>
      </p:pic>
      <p:pic>
        <p:nvPicPr>
          <p:cNvPr id="6" name="Image 4" descr="preencoded.png"/>
          <p:cNvPicPr>
            <a:picLocks noChangeAspect="1"/>
          </p:cNvPicPr>
          <p:nvPr/>
        </p:nvPicPr>
        <p:blipFill>
          <a:blip r:embed="rId7"/>
          <a:stretch>
            <a:fillRect/>
          </a:stretch>
        </p:blipFill>
        <p:spPr>
          <a:xfrm>
            <a:off x="816699" y="2120975"/>
            <a:ext cx="445472" cy="445472"/>
          </a:xfrm>
          <a:prstGeom prst="rect">
            <a:avLst/>
          </a:prstGeom>
        </p:spPr>
      </p:pic>
      <p:pic>
        <p:nvPicPr>
          <p:cNvPr id="7" name="Image 5" descr="preencoded.png"/>
          <p:cNvPicPr>
            <a:picLocks noChangeAspect="1"/>
          </p:cNvPicPr>
          <p:nvPr/>
        </p:nvPicPr>
        <p:blipFill>
          <a:blip r:embed="rId8"/>
          <a:stretch>
            <a:fillRect/>
          </a:stretch>
        </p:blipFill>
        <p:spPr>
          <a:xfrm>
            <a:off x="928067" y="2195220"/>
            <a:ext cx="222736" cy="296982"/>
          </a:xfrm>
          <a:prstGeom prst="rect">
            <a:avLst/>
          </a:prstGeom>
        </p:spPr>
      </p:pic>
      <p:pic>
        <p:nvPicPr>
          <p:cNvPr id="8" name="Image 6" descr="preencoded.png"/>
          <p:cNvPicPr>
            <a:picLocks noChangeAspect="1"/>
          </p:cNvPicPr>
          <p:nvPr/>
        </p:nvPicPr>
        <p:blipFill>
          <a:blip r:embed="rId9"/>
          <a:stretch>
            <a:fillRect/>
          </a:stretch>
        </p:blipFill>
        <p:spPr>
          <a:xfrm>
            <a:off x="4231987" y="1898238"/>
            <a:ext cx="3415288" cy="1484908"/>
          </a:xfrm>
          <a:prstGeom prst="rect">
            <a:avLst/>
          </a:prstGeom>
        </p:spPr>
      </p:pic>
      <p:pic>
        <p:nvPicPr>
          <p:cNvPr id="9" name="Image 7" descr="preencoded.png"/>
          <p:cNvPicPr>
            <a:picLocks noChangeAspect="1"/>
          </p:cNvPicPr>
          <p:nvPr/>
        </p:nvPicPr>
        <p:blipFill>
          <a:blip r:embed="rId10"/>
          <a:stretch>
            <a:fillRect/>
          </a:stretch>
        </p:blipFill>
        <p:spPr>
          <a:xfrm>
            <a:off x="4454723" y="2120975"/>
            <a:ext cx="445472" cy="445472"/>
          </a:xfrm>
          <a:prstGeom prst="rect">
            <a:avLst/>
          </a:prstGeom>
        </p:spPr>
      </p:pic>
      <p:pic>
        <p:nvPicPr>
          <p:cNvPr id="10" name="Image 8" descr="preencoded.png"/>
          <p:cNvPicPr>
            <a:picLocks noChangeAspect="1"/>
          </p:cNvPicPr>
          <p:nvPr/>
        </p:nvPicPr>
        <p:blipFill>
          <a:blip r:embed="rId11"/>
          <a:stretch>
            <a:fillRect/>
          </a:stretch>
        </p:blipFill>
        <p:spPr>
          <a:xfrm>
            <a:off x="4566091" y="2195220"/>
            <a:ext cx="222736" cy="296982"/>
          </a:xfrm>
          <a:prstGeom prst="rect">
            <a:avLst/>
          </a:prstGeom>
        </p:spPr>
      </p:pic>
      <p:pic>
        <p:nvPicPr>
          <p:cNvPr id="11" name="Image 9" descr="preencoded.png"/>
          <p:cNvPicPr>
            <a:picLocks noChangeAspect="1"/>
          </p:cNvPicPr>
          <p:nvPr/>
        </p:nvPicPr>
        <p:blipFill>
          <a:blip r:embed="rId12"/>
          <a:stretch>
            <a:fillRect/>
          </a:stretch>
        </p:blipFill>
        <p:spPr>
          <a:xfrm>
            <a:off x="7870011" y="1898238"/>
            <a:ext cx="3415288" cy="1484908"/>
          </a:xfrm>
          <a:prstGeom prst="rect">
            <a:avLst/>
          </a:prstGeom>
        </p:spPr>
      </p:pic>
      <p:pic>
        <p:nvPicPr>
          <p:cNvPr id="12" name="Image 10" descr="preencoded.png"/>
          <p:cNvPicPr>
            <a:picLocks noChangeAspect="1"/>
          </p:cNvPicPr>
          <p:nvPr/>
        </p:nvPicPr>
        <p:blipFill>
          <a:blip r:embed="rId13"/>
          <a:stretch>
            <a:fillRect/>
          </a:stretch>
        </p:blipFill>
        <p:spPr>
          <a:xfrm>
            <a:off x="8092748" y="2120975"/>
            <a:ext cx="328304" cy="445472"/>
          </a:xfrm>
          <a:prstGeom prst="rect">
            <a:avLst/>
          </a:prstGeom>
        </p:spPr>
      </p:pic>
      <p:pic>
        <p:nvPicPr>
          <p:cNvPr id="13" name="Image 11" descr="preencoded.png"/>
          <p:cNvPicPr>
            <a:picLocks noChangeAspect="1"/>
          </p:cNvPicPr>
          <p:nvPr/>
        </p:nvPicPr>
        <p:blipFill>
          <a:blip r:embed="rId14"/>
          <a:stretch>
            <a:fillRect/>
          </a:stretch>
        </p:blipFill>
        <p:spPr>
          <a:xfrm>
            <a:off x="8145531" y="2195220"/>
            <a:ext cx="222736" cy="296982"/>
          </a:xfrm>
          <a:prstGeom prst="rect">
            <a:avLst/>
          </a:prstGeom>
        </p:spPr>
      </p:pic>
      <p:pic>
        <p:nvPicPr>
          <p:cNvPr id="14" name="Image 12" descr="preencoded.png"/>
          <p:cNvPicPr>
            <a:picLocks noChangeAspect="1"/>
          </p:cNvPicPr>
          <p:nvPr/>
        </p:nvPicPr>
        <p:blipFill>
          <a:blip r:embed="rId15"/>
          <a:stretch>
            <a:fillRect/>
          </a:stretch>
        </p:blipFill>
        <p:spPr>
          <a:xfrm>
            <a:off x="593963" y="3680128"/>
            <a:ext cx="10691336" cy="742454"/>
          </a:xfrm>
          <a:prstGeom prst="rect">
            <a:avLst/>
          </a:prstGeom>
        </p:spPr>
      </p:pic>
      <p:pic>
        <p:nvPicPr>
          <p:cNvPr id="15" name="Image 13" descr="preencoded.png"/>
          <p:cNvPicPr>
            <a:picLocks noChangeAspect="1"/>
          </p:cNvPicPr>
          <p:nvPr/>
        </p:nvPicPr>
        <p:blipFill>
          <a:blip r:embed="rId16"/>
          <a:stretch>
            <a:fillRect/>
          </a:stretch>
        </p:blipFill>
        <p:spPr>
          <a:xfrm>
            <a:off x="742454" y="3856461"/>
            <a:ext cx="148491" cy="148491"/>
          </a:xfrm>
          <a:prstGeom prst="rect">
            <a:avLst/>
          </a:prstGeom>
        </p:spPr>
      </p:pic>
      <p:sp>
        <p:nvSpPr>
          <p:cNvPr id="18" name="Text 1"/>
          <p:cNvSpPr/>
          <p:nvPr/>
        </p:nvSpPr>
        <p:spPr>
          <a:xfrm>
            <a:off x="593963" y="1322837"/>
            <a:ext cx="2520225" cy="259859"/>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Correct Answer: </a:t>
            </a:r>
            <a:endParaRPr lang="en-US" sz="1754" dirty="0"/>
          </a:p>
        </p:txBody>
      </p:sp>
      <p:sp>
        <p:nvSpPr>
          <p:cNvPr id="19" name="Text 2"/>
          <p:cNvSpPr/>
          <p:nvPr/>
        </p:nvSpPr>
        <p:spPr>
          <a:xfrm>
            <a:off x="2694150" y="1322837"/>
            <a:ext cx="5282328" cy="259859"/>
          </a:xfrm>
          <a:prstGeom prst="rect">
            <a:avLst/>
          </a:prstGeom>
          <a:noFill/>
          <a:ln/>
        </p:spPr>
        <p:txBody>
          <a:bodyPr vert="horz" wrap="square" lIns="0" tIns="0" rIns="0" bIns="0" rtlCol="0" anchor="t"/>
          <a:lstStyle/>
          <a:p>
            <a:pPr>
              <a:lnSpc>
                <a:spcPts val="2338"/>
              </a:lnSpc>
            </a:pPr>
            <a:r>
              <a:rPr lang="en-US" sz="1754" b="1" dirty="0">
                <a:solidFill>
                  <a:srgbClr val="F97316"/>
                </a:solidFill>
                <a:latin typeface="ui-sans-serif" pitchFamily="34" charset="0"/>
                <a:ea typeface="ui-sans-serif" pitchFamily="34" charset="-122"/>
                <a:cs typeface="ui-sans-serif" pitchFamily="34" charset="-120"/>
              </a:rPr>
              <a:t>C) OK, ALARM, INSUFFICIENT_DATA</a:t>
            </a:r>
            <a:endParaRPr lang="en-US" sz="1754" dirty="0"/>
          </a:p>
        </p:txBody>
      </p:sp>
      <p:sp>
        <p:nvSpPr>
          <p:cNvPr id="20" name="Text 3"/>
          <p:cNvSpPr/>
          <p:nvPr/>
        </p:nvSpPr>
        <p:spPr>
          <a:xfrm>
            <a:off x="1410662" y="2195220"/>
            <a:ext cx="434336" cy="296982"/>
          </a:xfrm>
          <a:prstGeom prst="rect">
            <a:avLst/>
          </a:prstGeom>
          <a:noFill/>
          <a:ln/>
        </p:spPr>
        <p:txBody>
          <a:bodyPr vert="horz" wrap="square" lIns="0" tIns="0" rIns="0" bIns="0" rtlCol="0" anchor="t"/>
          <a:lstStyle/>
          <a:p>
            <a:pPr>
              <a:lnSpc>
                <a:spcPts val="2338"/>
              </a:lnSpc>
            </a:pPr>
            <a:r>
              <a:rPr lang="en-US" sz="1754" b="1" dirty="0">
                <a:solidFill>
                  <a:srgbClr val="15803D"/>
                </a:solidFill>
                <a:latin typeface="ui-sans-serif" pitchFamily="34" charset="0"/>
                <a:ea typeface="ui-sans-serif" pitchFamily="34" charset="-122"/>
                <a:cs typeface="ui-sans-serif" pitchFamily="34" charset="-120"/>
              </a:rPr>
              <a:t>OK</a:t>
            </a:r>
            <a:endParaRPr lang="en-US" sz="1754" dirty="0"/>
          </a:p>
        </p:txBody>
      </p:sp>
      <p:sp>
        <p:nvSpPr>
          <p:cNvPr id="21" name="Text 4"/>
          <p:cNvSpPr/>
          <p:nvPr/>
        </p:nvSpPr>
        <p:spPr>
          <a:xfrm>
            <a:off x="816699"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metric is within the defined threshold.</a:t>
            </a:r>
            <a:endParaRPr lang="en-US" sz="1169" dirty="0"/>
          </a:p>
        </p:txBody>
      </p:sp>
      <p:sp>
        <p:nvSpPr>
          <p:cNvPr id="22" name="Text 5"/>
          <p:cNvSpPr/>
          <p:nvPr/>
        </p:nvSpPr>
        <p:spPr>
          <a:xfrm>
            <a:off x="5048687" y="2195220"/>
            <a:ext cx="1055909" cy="296982"/>
          </a:xfrm>
          <a:prstGeom prst="rect">
            <a:avLst/>
          </a:prstGeom>
          <a:noFill/>
          <a:ln/>
        </p:spPr>
        <p:txBody>
          <a:bodyPr vert="horz" wrap="square" lIns="0" tIns="0" rIns="0" bIns="0" rtlCol="0" anchor="t"/>
          <a:lstStyle/>
          <a:p>
            <a:pPr>
              <a:lnSpc>
                <a:spcPts val="2338"/>
              </a:lnSpc>
            </a:pPr>
            <a:r>
              <a:rPr lang="en-US" sz="1754" b="1" dirty="0">
                <a:solidFill>
                  <a:srgbClr val="B91C1C"/>
                </a:solidFill>
                <a:latin typeface="ui-sans-serif" pitchFamily="34" charset="0"/>
                <a:ea typeface="ui-sans-serif" pitchFamily="34" charset="-122"/>
                <a:cs typeface="ui-sans-serif" pitchFamily="34" charset="-120"/>
              </a:rPr>
              <a:t>ALARM</a:t>
            </a:r>
            <a:endParaRPr lang="en-US" sz="1754" dirty="0"/>
          </a:p>
        </p:txBody>
      </p:sp>
      <p:sp>
        <p:nvSpPr>
          <p:cNvPr id="23" name="Text 6"/>
          <p:cNvSpPr/>
          <p:nvPr/>
        </p:nvSpPr>
        <p:spPr>
          <a:xfrm>
            <a:off x="4454723"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metric is outside the defined threshold.</a:t>
            </a:r>
            <a:endParaRPr lang="en-US" sz="1169" dirty="0"/>
          </a:p>
        </p:txBody>
      </p:sp>
      <p:sp>
        <p:nvSpPr>
          <p:cNvPr id="24" name="Text 7"/>
          <p:cNvSpPr/>
          <p:nvPr/>
        </p:nvSpPr>
        <p:spPr>
          <a:xfrm>
            <a:off x="8569542" y="2195220"/>
            <a:ext cx="2991625" cy="296982"/>
          </a:xfrm>
          <a:prstGeom prst="rect">
            <a:avLst/>
          </a:prstGeom>
          <a:noFill/>
          <a:ln/>
        </p:spPr>
        <p:txBody>
          <a:bodyPr vert="horz" wrap="square" lIns="0" tIns="0" rIns="0" bIns="0" rtlCol="0" anchor="t"/>
          <a:lstStyle/>
          <a:p>
            <a:pPr>
              <a:lnSpc>
                <a:spcPts val="2338"/>
              </a:lnSpc>
            </a:pPr>
            <a:r>
              <a:rPr lang="en-US" sz="1754" b="1" dirty="0">
                <a:solidFill>
                  <a:srgbClr val="A16207"/>
                </a:solidFill>
                <a:latin typeface="ui-sans-serif" pitchFamily="34" charset="0"/>
                <a:ea typeface="ui-sans-serif" pitchFamily="34" charset="-122"/>
                <a:cs typeface="ui-sans-serif" pitchFamily="34" charset="-120"/>
              </a:rPr>
              <a:t>INSUFFICIENT_DATA</a:t>
            </a:r>
            <a:endParaRPr lang="en-US" sz="1754" dirty="0"/>
          </a:p>
        </p:txBody>
      </p:sp>
      <p:sp>
        <p:nvSpPr>
          <p:cNvPr id="25" name="Text 8"/>
          <p:cNvSpPr/>
          <p:nvPr/>
        </p:nvSpPr>
        <p:spPr>
          <a:xfrm>
            <a:off x="8092747"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alarm has just started or not enough data is available.</a:t>
            </a:r>
            <a:endParaRPr lang="en-US" sz="1169" dirty="0"/>
          </a:p>
        </p:txBody>
      </p:sp>
      <p:sp>
        <p:nvSpPr>
          <p:cNvPr id="26" name="Text 9"/>
          <p:cNvSpPr/>
          <p:nvPr/>
        </p:nvSpPr>
        <p:spPr>
          <a:xfrm>
            <a:off x="965190" y="3828619"/>
            <a:ext cx="10394355"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 A CloudWatch metric alarm monitors a specific metric or a math expression based on metrics and can be in one of these three states. When an alarm transitions to the ALARM state, it can perform configured actions like sending notifications or invoking Lambda functions.</a:t>
            </a:r>
            <a:endParaRPr lang="en-US" sz="1169"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4"/>
          <a:stretch>
            <a:fillRect/>
          </a:stretch>
        </p:blipFill>
        <p:spPr>
          <a:xfrm>
            <a:off x="593963" y="821680"/>
            <a:ext cx="742454" cy="37123"/>
          </a:xfrm>
          <a:prstGeom prst="rect">
            <a:avLst/>
          </a:prstGeom>
        </p:spPr>
      </p:pic>
      <p:pic>
        <p:nvPicPr>
          <p:cNvPr id="6" name="Image 4" descr="preencoded.png"/>
          <p:cNvPicPr>
            <a:picLocks noChangeAspect="1"/>
          </p:cNvPicPr>
          <p:nvPr/>
        </p:nvPicPr>
        <p:blipFill>
          <a:blip r:embed="rId5"/>
          <a:stretch>
            <a:fillRect/>
          </a:stretch>
        </p:blipFill>
        <p:spPr>
          <a:xfrm>
            <a:off x="742454" y="2046729"/>
            <a:ext cx="371227" cy="371227"/>
          </a:xfrm>
          <a:prstGeom prst="rect">
            <a:avLst/>
          </a:prstGeom>
        </p:spPr>
      </p:pic>
      <p:pic>
        <p:nvPicPr>
          <p:cNvPr id="8" name="Image 6" descr="preencoded.png"/>
          <p:cNvPicPr>
            <a:picLocks noChangeAspect="1"/>
          </p:cNvPicPr>
          <p:nvPr/>
        </p:nvPicPr>
        <p:blipFill>
          <a:blip r:embed="rId6"/>
          <a:stretch>
            <a:fillRect/>
          </a:stretch>
        </p:blipFill>
        <p:spPr>
          <a:xfrm>
            <a:off x="742454" y="2937674"/>
            <a:ext cx="371227" cy="371227"/>
          </a:xfrm>
          <a:prstGeom prst="rect">
            <a:avLst/>
          </a:prstGeom>
        </p:spPr>
      </p:pic>
      <p:pic>
        <p:nvPicPr>
          <p:cNvPr id="11" name="Image 9" descr="preencoded.png"/>
          <p:cNvPicPr>
            <a:picLocks noChangeAspect="1"/>
          </p:cNvPicPr>
          <p:nvPr/>
        </p:nvPicPr>
        <p:blipFill>
          <a:blip r:embed="rId7"/>
          <a:stretch>
            <a:fillRect/>
          </a:stretch>
        </p:blipFill>
        <p:spPr>
          <a:xfrm>
            <a:off x="742454" y="3828619"/>
            <a:ext cx="371227" cy="371227"/>
          </a:xfrm>
          <a:prstGeom prst="rect">
            <a:avLst/>
          </a:prstGeom>
        </p:spPr>
      </p:pic>
      <p:pic>
        <p:nvPicPr>
          <p:cNvPr id="14" name="Image 12" descr="preencoded.png"/>
          <p:cNvPicPr>
            <a:picLocks noChangeAspect="1"/>
          </p:cNvPicPr>
          <p:nvPr/>
        </p:nvPicPr>
        <p:blipFill>
          <a:blip r:embed="rId8"/>
          <a:stretch>
            <a:fillRect/>
          </a:stretch>
        </p:blipFill>
        <p:spPr>
          <a:xfrm>
            <a:off x="742454" y="4719563"/>
            <a:ext cx="371227" cy="371227"/>
          </a:xfrm>
          <a:prstGeom prst="rect">
            <a:avLst/>
          </a:prstGeom>
        </p:spPr>
      </p:pic>
      <p:sp>
        <p:nvSpPr>
          <p:cNvPr id="17"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2</a:t>
            </a:r>
            <a:endParaRPr lang="en-US" sz="2192" dirty="0"/>
          </a:p>
        </p:txBody>
      </p:sp>
      <p:sp>
        <p:nvSpPr>
          <p:cNvPr id="18" name="Text 1"/>
          <p:cNvSpPr/>
          <p:nvPr/>
        </p:nvSpPr>
        <p:spPr>
          <a:xfrm>
            <a:off x="593963" y="1304275"/>
            <a:ext cx="10691336"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a composite alarm in CloudWatch?</a:t>
            </a:r>
            <a:endParaRPr lang="en-US" sz="1754" dirty="0"/>
          </a:p>
        </p:txBody>
      </p:sp>
      <p:sp>
        <p:nvSpPr>
          <p:cNvPr id="19" name="Text 2"/>
          <p:cNvSpPr/>
          <p:nvPr/>
        </p:nvSpPr>
        <p:spPr>
          <a:xfrm>
            <a:off x="870498" y="204672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0" name="Text 3"/>
          <p:cNvSpPr/>
          <p:nvPr/>
        </p:nvSpPr>
        <p:spPr>
          <a:xfrm>
            <a:off x="1512750" y="2074571"/>
            <a:ext cx="773520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alarm that monitors multiple metrics across different AWS regions</a:t>
            </a:r>
            <a:endParaRPr lang="en-US" sz="1461" dirty="0"/>
          </a:p>
        </p:txBody>
      </p:sp>
      <p:sp>
        <p:nvSpPr>
          <p:cNvPr id="21" name="Text 4"/>
          <p:cNvSpPr/>
          <p:nvPr/>
        </p:nvSpPr>
        <p:spPr>
          <a:xfrm>
            <a:off x="871368" y="2937674"/>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22" name="Text 5"/>
          <p:cNvSpPr/>
          <p:nvPr/>
        </p:nvSpPr>
        <p:spPr>
          <a:xfrm>
            <a:off x="1512750" y="2993358"/>
            <a:ext cx="10400213"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alarm that includes a rule expression taking into account the alarm states of other alarms</a:t>
            </a:r>
            <a:endParaRPr lang="en-US" sz="1461" dirty="0"/>
          </a:p>
        </p:txBody>
      </p:sp>
      <p:sp>
        <p:nvSpPr>
          <p:cNvPr id="23" name="Text 6"/>
          <p:cNvSpPr/>
          <p:nvPr/>
        </p:nvSpPr>
        <p:spPr>
          <a:xfrm>
            <a:off x="873544" y="382861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24" name="Text 7"/>
          <p:cNvSpPr/>
          <p:nvPr/>
        </p:nvSpPr>
        <p:spPr>
          <a:xfrm>
            <a:off x="1512750" y="3884303"/>
            <a:ext cx="607686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alarm that triggers multiple actions simultaneously</a:t>
            </a:r>
            <a:endParaRPr lang="en-US" sz="1461" dirty="0"/>
          </a:p>
        </p:txBody>
      </p:sp>
      <p:sp>
        <p:nvSpPr>
          <p:cNvPr id="25" name="Text 8"/>
          <p:cNvSpPr/>
          <p:nvPr/>
        </p:nvSpPr>
        <p:spPr>
          <a:xfrm>
            <a:off x="866438" y="4719563"/>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26" name="Text 9"/>
          <p:cNvSpPr/>
          <p:nvPr/>
        </p:nvSpPr>
        <p:spPr>
          <a:xfrm>
            <a:off x="1512750" y="4775247"/>
            <a:ext cx="7128253"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alarm that combines both metric and log data for evaluation</a:t>
            </a:r>
            <a:endParaRPr lang="en-US" sz="146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747435"/>
            <a:ext cx="742454" cy="37123"/>
          </a:xfrm>
          <a:prstGeom prst="rect">
            <a:avLst/>
          </a:prstGeom>
        </p:spPr>
      </p:pic>
      <p:pic>
        <p:nvPicPr>
          <p:cNvPr id="5" name="Image 3" descr="preencoded.png"/>
          <p:cNvPicPr>
            <a:picLocks noChangeAspect="1"/>
          </p:cNvPicPr>
          <p:nvPr/>
        </p:nvPicPr>
        <p:blipFill>
          <a:blip r:embed="rId6"/>
          <a:stretch>
            <a:fillRect/>
          </a:stretch>
        </p:blipFill>
        <p:spPr>
          <a:xfrm>
            <a:off x="593963" y="1081539"/>
            <a:ext cx="2037543" cy="408350"/>
          </a:xfrm>
          <a:prstGeom prst="rect">
            <a:avLst/>
          </a:prstGeom>
        </p:spPr>
      </p:pic>
      <p:pic>
        <p:nvPicPr>
          <p:cNvPr id="6" name="Image 4" descr="preencoded.png"/>
          <p:cNvPicPr>
            <a:picLocks noChangeAspect="1"/>
          </p:cNvPicPr>
          <p:nvPr/>
        </p:nvPicPr>
        <p:blipFill>
          <a:blip r:embed="rId7"/>
          <a:stretch>
            <a:fillRect/>
          </a:stretch>
        </p:blipFill>
        <p:spPr>
          <a:xfrm>
            <a:off x="742454" y="1202188"/>
            <a:ext cx="167052" cy="167052"/>
          </a:xfrm>
          <a:prstGeom prst="rect">
            <a:avLst/>
          </a:prstGeom>
        </p:spPr>
      </p:pic>
      <p:pic>
        <p:nvPicPr>
          <p:cNvPr id="7" name="Image 5" descr="preencoded.png"/>
          <p:cNvPicPr>
            <a:picLocks noChangeAspect="1"/>
          </p:cNvPicPr>
          <p:nvPr/>
        </p:nvPicPr>
        <p:blipFill>
          <a:blip r:embed="rId8"/>
          <a:stretch>
            <a:fillRect/>
          </a:stretch>
        </p:blipFill>
        <p:spPr>
          <a:xfrm>
            <a:off x="3330457" y="2677815"/>
            <a:ext cx="1187926" cy="742454"/>
          </a:xfrm>
          <a:prstGeom prst="rect">
            <a:avLst/>
          </a:prstGeom>
        </p:spPr>
      </p:pic>
      <p:pic>
        <p:nvPicPr>
          <p:cNvPr id="8" name="Image 6" descr="preencoded.png"/>
          <p:cNvPicPr>
            <a:picLocks noChangeAspect="1"/>
          </p:cNvPicPr>
          <p:nvPr/>
        </p:nvPicPr>
        <p:blipFill>
          <a:blip r:embed="rId9"/>
          <a:stretch>
            <a:fillRect/>
          </a:stretch>
        </p:blipFill>
        <p:spPr>
          <a:xfrm>
            <a:off x="3831614" y="2789183"/>
            <a:ext cx="185613" cy="259859"/>
          </a:xfrm>
          <a:prstGeom prst="rect">
            <a:avLst/>
          </a:prstGeom>
        </p:spPr>
      </p:pic>
      <p:pic>
        <p:nvPicPr>
          <p:cNvPr id="9" name="Image 7" descr="preencoded.png"/>
          <p:cNvPicPr>
            <a:picLocks noChangeAspect="1"/>
          </p:cNvPicPr>
          <p:nvPr/>
        </p:nvPicPr>
        <p:blipFill>
          <a:blip r:embed="rId10"/>
          <a:stretch>
            <a:fillRect/>
          </a:stretch>
        </p:blipFill>
        <p:spPr>
          <a:xfrm>
            <a:off x="5345668" y="2677815"/>
            <a:ext cx="1187926" cy="742454"/>
          </a:xfrm>
          <a:prstGeom prst="rect">
            <a:avLst/>
          </a:prstGeom>
        </p:spPr>
      </p:pic>
      <p:pic>
        <p:nvPicPr>
          <p:cNvPr id="10" name="Image 8" descr="preencoded.png"/>
          <p:cNvPicPr>
            <a:picLocks noChangeAspect="1"/>
          </p:cNvPicPr>
          <p:nvPr/>
        </p:nvPicPr>
        <p:blipFill>
          <a:blip r:embed="rId11"/>
          <a:stretch>
            <a:fillRect/>
          </a:stretch>
        </p:blipFill>
        <p:spPr>
          <a:xfrm>
            <a:off x="5846825" y="2789183"/>
            <a:ext cx="185613" cy="259859"/>
          </a:xfrm>
          <a:prstGeom prst="rect">
            <a:avLst/>
          </a:prstGeom>
        </p:spPr>
      </p:pic>
      <p:pic>
        <p:nvPicPr>
          <p:cNvPr id="11" name="Image 9" descr="preencoded.png"/>
          <p:cNvPicPr>
            <a:picLocks noChangeAspect="1"/>
          </p:cNvPicPr>
          <p:nvPr/>
        </p:nvPicPr>
        <p:blipFill>
          <a:blip r:embed="rId12"/>
          <a:stretch>
            <a:fillRect/>
          </a:stretch>
        </p:blipFill>
        <p:spPr>
          <a:xfrm>
            <a:off x="7360879" y="2677815"/>
            <a:ext cx="1187926" cy="742454"/>
          </a:xfrm>
          <a:prstGeom prst="rect">
            <a:avLst/>
          </a:prstGeom>
        </p:spPr>
      </p:pic>
      <p:pic>
        <p:nvPicPr>
          <p:cNvPr id="12" name="Image 10" descr="preencoded.png"/>
          <p:cNvPicPr>
            <a:picLocks noChangeAspect="1"/>
          </p:cNvPicPr>
          <p:nvPr/>
        </p:nvPicPr>
        <p:blipFill>
          <a:blip r:embed="rId13"/>
          <a:stretch>
            <a:fillRect/>
          </a:stretch>
        </p:blipFill>
        <p:spPr>
          <a:xfrm>
            <a:off x="7862035" y="2677815"/>
            <a:ext cx="185613" cy="259859"/>
          </a:xfrm>
          <a:prstGeom prst="rect">
            <a:avLst/>
          </a:prstGeom>
        </p:spPr>
      </p:pic>
      <p:pic>
        <p:nvPicPr>
          <p:cNvPr id="13" name="Image 11" descr="preencoded.png"/>
          <p:cNvPicPr>
            <a:picLocks noChangeAspect="1"/>
          </p:cNvPicPr>
          <p:nvPr/>
        </p:nvPicPr>
        <p:blipFill>
          <a:blip r:embed="rId14"/>
          <a:stretch>
            <a:fillRect/>
          </a:stretch>
        </p:blipFill>
        <p:spPr>
          <a:xfrm>
            <a:off x="593963" y="3977109"/>
            <a:ext cx="10691336" cy="1150804"/>
          </a:xfrm>
          <a:prstGeom prst="rect">
            <a:avLst/>
          </a:prstGeom>
        </p:spPr>
      </p:pic>
      <p:pic>
        <p:nvPicPr>
          <p:cNvPr id="14" name="Image 12" descr="preencoded.png"/>
          <p:cNvPicPr>
            <a:picLocks noChangeAspect="1"/>
          </p:cNvPicPr>
          <p:nvPr/>
        </p:nvPicPr>
        <p:blipFill>
          <a:blip r:embed="rId15"/>
          <a:stretch>
            <a:fillRect/>
          </a:stretch>
        </p:blipFill>
        <p:spPr>
          <a:xfrm>
            <a:off x="779576" y="4190565"/>
            <a:ext cx="167052" cy="167052"/>
          </a:xfrm>
          <a:prstGeom prst="rect">
            <a:avLst/>
          </a:prstGeom>
        </p:spPr>
      </p:pic>
      <p:sp>
        <p:nvSpPr>
          <p:cNvPr id="17" name="Text 1"/>
          <p:cNvSpPr/>
          <p:nvPr/>
        </p:nvSpPr>
        <p:spPr>
          <a:xfrm>
            <a:off x="983752" y="1081539"/>
            <a:ext cx="2445052" cy="408350"/>
          </a:xfrm>
          <a:prstGeom prst="rect">
            <a:avLst/>
          </a:prstGeom>
          <a:noFill/>
          <a:ln/>
        </p:spPr>
        <p:txBody>
          <a:bodyPr vert="horz" wrap="square" lIns="0" tIns="0" rIns="0" bIns="0" rtlCol="0" anchor="t"/>
          <a:lstStyle/>
          <a:p>
            <a:pPr>
              <a:lnSpc>
                <a:spcPts val="2046"/>
              </a:lnSpc>
            </a:pPr>
            <a:r>
              <a:rPr lang="en-US" sz="1315" dirty="0">
                <a:solidFill>
                  <a:srgbClr val="047857"/>
                </a:solidFill>
                <a:latin typeface="ui-sans-serif" pitchFamily="34" charset="0"/>
                <a:ea typeface="ui-sans-serif" pitchFamily="34" charset="-122"/>
                <a:cs typeface="ui-sans-serif" pitchFamily="34" charset="-120"/>
              </a:rPr>
              <a:t>Correct Answer: B</a:t>
            </a:r>
            <a:endParaRPr lang="en-US" sz="1315" dirty="0"/>
          </a:p>
        </p:txBody>
      </p:sp>
      <p:sp>
        <p:nvSpPr>
          <p:cNvPr id="18" name="Text 2"/>
          <p:cNvSpPr/>
          <p:nvPr/>
        </p:nvSpPr>
        <p:spPr>
          <a:xfrm>
            <a:off x="593963" y="1712625"/>
            <a:ext cx="10691336"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a composite alarm in CloudWatch?</a:t>
            </a:r>
            <a:endParaRPr lang="en-US" sz="1754" dirty="0"/>
          </a:p>
        </p:txBody>
      </p:sp>
      <p:sp>
        <p:nvSpPr>
          <p:cNvPr id="19" name="Text 3"/>
          <p:cNvSpPr/>
          <p:nvPr/>
        </p:nvSpPr>
        <p:spPr>
          <a:xfrm>
            <a:off x="593963" y="2120975"/>
            <a:ext cx="12829604"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An alarm that includes a rule expression taking into account the alarm states of other alarms.</a:t>
            </a:r>
            <a:endParaRPr lang="en-US" sz="1461" dirty="0"/>
          </a:p>
        </p:txBody>
      </p:sp>
      <p:sp>
        <p:nvSpPr>
          <p:cNvPr id="20" name="Text 4"/>
          <p:cNvSpPr/>
          <p:nvPr/>
        </p:nvSpPr>
        <p:spPr>
          <a:xfrm>
            <a:off x="3577265" y="3086165"/>
            <a:ext cx="694310" cy="222736"/>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Alarm 1</a:t>
            </a:r>
            <a:endParaRPr lang="en-US" sz="1169" dirty="0"/>
          </a:p>
        </p:txBody>
      </p:sp>
      <p:sp>
        <p:nvSpPr>
          <p:cNvPr id="21" name="Text 5"/>
          <p:cNvSpPr/>
          <p:nvPr/>
        </p:nvSpPr>
        <p:spPr>
          <a:xfrm>
            <a:off x="3510560" y="3494515"/>
            <a:ext cx="993091"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Metric Alarm</a:t>
            </a:r>
            <a:endParaRPr lang="en-US" sz="1023" dirty="0"/>
          </a:p>
        </p:txBody>
      </p:sp>
      <p:sp>
        <p:nvSpPr>
          <p:cNvPr id="22" name="Text 6"/>
          <p:cNvSpPr/>
          <p:nvPr/>
        </p:nvSpPr>
        <p:spPr>
          <a:xfrm>
            <a:off x="4815365" y="3011919"/>
            <a:ext cx="279986" cy="334104"/>
          </a:xfrm>
          <a:prstGeom prst="rect">
            <a:avLst/>
          </a:prstGeom>
          <a:noFill/>
          <a:ln/>
        </p:spPr>
        <p:txBody>
          <a:bodyPr vert="horz" wrap="square" lIns="0" tIns="0" rIns="0" bIns="0" rtlCol="0" anchor="t"/>
          <a:lstStyle/>
          <a:p>
            <a:pPr>
              <a:lnSpc>
                <a:spcPts val="2631"/>
              </a:lnSpc>
            </a:pPr>
            <a:r>
              <a:rPr lang="en-US" sz="2192" dirty="0">
                <a:solidFill>
                  <a:srgbClr val="9CA3AF"/>
                </a:solidFill>
                <a:latin typeface="ui-sans-serif" pitchFamily="34" charset="0"/>
                <a:ea typeface="ui-sans-serif" pitchFamily="34" charset="-122"/>
                <a:cs typeface="ui-sans-serif" pitchFamily="34" charset="-120"/>
              </a:rPr>
              <a:t>+</a:t>
            </a:r>
            <a:endParaRPr lang="en-US" sz="2192" dirty="0"/>
          </a:p>
        </p:txBody>
      </p:sp>
      <p:sp>
        <p:nvSpPr>
          <p:cNvPr id="23" name="Text 7"/>
          <p:cNvSpPr/>
          <p:nvPr/>
        </p:nvSpPr>
        <p:spPr>
          <a:xfrm>
            <a:off x="5592476" y="3086165"/>
            <a:ext cx="694310" cy="222736"/>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Alarm 2</a:t>
            </a:r>
            <a:endParaRPr lang="en-US" sz="1169" dirty="0"/>
          </a:p>
        </p:txBody>
      </p:sp>
      <p:sp>
        <p:nvSpPr>
          <p:cNvPr id="24" name="Text 8"/>
          <p:cNvSpPr/>
          <p:nvPr/>
        </p:nvSpPr>
        <p:spPr>
          <a:xfrm>
            <a:off x="5525772" y="3494515"/>
            <a:ext cx="993091"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Metric Alarm</a:t>
            </a:r>
            <a:endParaRPr lang="en-US" sz="1023" dirty="0"/>
          </a:p>
        </p:txBody>
      </p:sp>
      <p:sp>
        <p:nvSpPr>
          <p:cNvPr id="25" name="Text 9"/>
          <p:cNvSpPr/>
          <p:nvPr/>
        </p:nvSpPr>
        <p:spPr>
          <a:xfrm>
            <a:off x="6830576" y="3011919"/>
            <a:ext cx="279986" cy="334104"/>
          </a:xfrm>
          <a:prstGeom prst="rect">
            <a:avLst/>
          </a:prstGeom>
          <a:noFill/>
          <a:ln/>
        </p:spPr>
        <p:txBody>
          <a:bodyPr vert="horz" wrap="square" lIns="0" tIns="0" rIns="0" bIns="0" rtlCol="0" anchor="t"/>
          <a:lstStyle/>
          <a:p>
            <a:pPr>
              <a:lnSpc>
                <a:spcPts val="2631"/>
              </a:lnSpc>
            </a:pPr>
            <a:r>
              <a:rPr lang="en-US" sz="2192" dirty="0">
                <a:solidFill>
                  <a:srgbClr val="9CA3AF"/>
                </a:solidFill>
                <a:latin typeface="ui-sans-serif" pitchFamily="34" charset="0"/>
                <a:ea typeface="ui-sans-serif" pitchFamily="34" charset="-122"/>
                <a:cs typeface="ui-sans-serif" pitchFamily="34" charset="-120"/>
              </a:rPr>
              <a:t>=</a:t>
            </a:r>
            <a:endParaRPr lang="en-US" sz="2192" dirty="0"/>
          </a:p>
        </p:txBody>
      </p:sp>
      <p:sp>
        <p:nvSpPr>
          <p:cNvPr id="26" name="Text 10"/>
          <p:cNvSpPr/>
          <p:nvPr/>
        </p:nvSpPr>
        <p:spPr>
          <a:xfrm>
            <a:off x="7360879" y="2974797"/>
            <a:ext cx="1187926" cy="445472"/>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Composite Alarm</a:t>
            </a:r>
            <a:endParaRPr lang="en-US" sz="1169" dirty="0"/>
          </a:p>
        </p:txBody>
      </p:sp>
      <p:sp>
        <p:nvSpPr>
          <p:cNvPr id="27" name="Text 11"/>
          <p:cNvSpPr/>
          <p:nvPr/>
        </p:nvSpPr>
        <p:spPr>
          <a:xfrm>
            <a:off x="7653946" y="3494515"/>
            <a:ext cx="721978" cy="185613"/>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Rule: ALL</a:t>
            </a:r>
            <a:endParaRPr lang="en-US" sz="1023" dirty="0"/>
          </a:p>
        </p:txBody>
      </p:sp>
      <p:sp>
        <p:nvSpPr>
          <p:cNvPr id="28" name="Text 12"/>
          <p:cNvSpPr/>
          <p:nvPr/>
        </p:nvSpPr>
        <p:spPr>
          <a:xfrm>
            <a:off x="1020874" y="4162723"/>
            <a:ext cx="10320109" cy="259859"/>
          </a:xfrm>
          <a:prstGeom prst="rect">
            <a:avLst/>
          </a:prstGeom>
          <a:noFill/>
          <a:ln/>
        </p:spPr>
        <p:txBody>
          <a:bodyPr vert="horz" wrap="square" lIns="0" tIns="0" rIns="0" bIns="0" rtlCol="0" anchor="t"/>
          <a:lstStyle/>
          <a:p>
            <a:pPr>
              <a:lnSpc>
                <a:spcPts val="2046"/>
              </a:lnSpc>
            </a:pPr>
            <a:r>
              <a:rPr lang="en-US" sz="1315" dirty="0">
                <a:solidFill>
                  <a:srgbClr val="1F2937"/>
                </a:solidFill>
                <a:latin typeface="ui-sans-serif" pitchFamily="34" charset="0"/>
                <a:ea typeface="ui-sans-serif" pitchFamily="34" charset="-122"/>
                <a:cs typeface="ui-sans-serif" pitchFamily="34" charset="-120"/>
              </a:rPr>
              <a:t>More Information</a:t>
            </a:r>
            <a:endParaRPr lang="en-US" sz="1315" dirty="0"/>
          </a:p>
        </p:txBody>
      </p:sp>
      <p:sp>
        <p:nvSpPr>
          <p:cNvPr id="29" name="Text 13"/>
          <p:cNvSpPr/>
          <p:nvPr/>
        </p:nvSpPr>
        <p:spPr>
          <a:xfrm>
            <a:off x="779577" y="4496827"/>
            <a:ext cx="10320109"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A composite alarm includes a rule expression that considers the alarm states of other alarms you've created. It goes into an ALARM state only if all conditions of its rule are met, helping to reduce alarm noise.</a:t>
            </a:r>
            <a:endParaRPr lang="en-US" sz="1169"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4"/>
          <a:stretch>
            <a:fillRect/>
          </a:stretch>
        </p:blipFill>
        <p:spPr>
          <a:xfrm>
            <a:off x="593963" y="821680"/>
            <a:ext cx="742454" cy="37123"/>
          </a:xfrm>
          <a:prstGeom prst="rect">
            <a:avLst/>
          </a:prstGeom>
        </p:spPr>
      </p:pic>
      <p:pic>
        <p:nvPicPr>
          <p:cNvPr id="7" name="Image 5" descr="preencoded.png"/>
          <p:cNvPicPr>
            <a:picLocks noChangeAspect="1"/>
          </p:cNvPicPr>
          <p:nvPr/>
        </p:nvPicPr>
        <p:blipFill>
          <a:blip r:embed="rId5"/>
          <a:stretch>
            <a:fillRect/>
          </a:stretch>
        </p:blipFill>
        <p:spPr>
          <a:xfrm>
            <a:off x="705331" y="3123287"/>
            <a:ext cx="371227" cy="371227"/>
          </a:xfrm>
          <a:prstGeom prst="rect">
            <a:avLst/>
          </a:prstGeom>
        </p:spPr>
      </p:pic>
      <p:pic>
        <p:nvPicPr>
          <p:cNvPr id="10" name="Image 8" descr="preencoded.png"/>
          <p:cNvPicPr>
            <a:picLocks noChangeAspect="1"/>
          </p:cNvPicPr>
          <p:nvPr/>
        </p:nvPicPr>
        <p:blipFill>
          <a:blip r:embed="rId6"/>
          <a:stretch>
            <a:fillRect/>
          </a:stretch>
        </p:blipFill>
        <p:spPr>
          <a:xfrm>
            <a:off x="705331" y="3939987"/>
            <a:ext cx="364121" cy="371227"/>
          </a:xfrm>
          <a:prstGeom prst="rect">
            <a:avLst/>
          </a:prstGeom>
        </p:spPr>
      </p:pic>
      <p:pic>
        <p:nvPicPr>
          <p:cNvPr id="13" name="Image 11" descr="preencoded.png"/>
          <p:cNvPicPr>
            <a:picLocks noChangeAspect="1"/>
          </p:cNvPicPr>
          <p:nvPr/>
        </p:nvPicPr>
        <p:blipFill>
          <a:blip r:embed="rId7"/>
          <a:stretch>
            <a:fillRect/>
          </a:stretch>
        </p:blipFill>
        <p:spPr>
          <a:xfrm>
            <a:off x="705331" y="4830931"/>
            <a:ext cx="303942" cy="371227"/>
          </a:xfrm>
          <a:prstGeom prst="rect">
            <a:avLst/>
          </a:prstGeom>
        </p:spPr>
      </p:pic>
      <p:pic>
        <p:nvPicPr>
          <p:cNvPr id="16" name="Image 14" descr="preencoded.png"/>
          <p:cNvPicPr>
            <a:picLocks noChangeAspect="1"/>
          </p:cNvPicPr>
          <p:nvPr/>
        </p:nvPicPr>
        <p:blipFill>
          <a:blip r:embed="rId8"/>
          <a:stretch>
            <a:fillRect/>
          </a:stretch>
        </p:blipFill>
        <p:spPr>
          <a:xfrm>
            <a:off x="705331" y="5647631"/>
            <a:ext cx="371227" cy="371227"/>
          </a:xfrm>
          <a:prstGeom prst="rect">
            <a:avLst/>
          </a:prstGeom>
        </p:spPr>
      </p:pic>
      <p:sp>
        <p:nvSpPr>
          <p:cNvPr id="19"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3</a:t>
            </a:r>
            <a:endParaRPr lang="en-US" sz="2192" dirty="0"/>
          </a:p>
        </p:txBody>
      </p:sp>
      <p:sp>
        <p:nvSpPr>
          <p:cNvPr id="20" name="Text 1"/>
          <p:cNvSpPr/>
          <p:nvPr/>
        </p:nvSpPr>
        <p:spPr>
          <a:xfrm>
            <a:off x="593963" y="1230030"/>
            <a:ext cx="128296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the difference between standard resolution and high-resolution metrics?</a:t>
            </a:r>
            <a:endParaRPr lang="en-US" sz="1754" dirty="0"/>
          </a:p>
        </p:txBody>
      </p:sp>
      <p:sp>
        <p:nvSpPr>
          <p:cNvPr id="21" name="Text 2"/>
          <p:cNvSpPr/>
          <p:nvPr/>
        </p:nvSpPr>
        <p:spPr>
          <a:xfrm>
            <a:off x="833375" y="3123287"/>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2" name="Text 3"/>
          <p:cNvSpPr/>
          <p:nvPr/>
        </p:nvSpPr>
        <p:spPr>
          <a:xfrm>
            <a:off x="1457066" y="3178971"/>
            <a:ext cx="8989493"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Standard resolution metrics are free, while high-resolution metrics incur charges</a:t>
            </a:r>
            <a:endParaRPr lang="en-US" sz="1461" dirty="0"/>
          </a:p>
        </p:txBody>
      </p:sp>
      <p:sp>
        <p:nvSpPr>
          <p:cNvPr id="23" name="Text 4"/>
          <p:cNvSpPr/>
          <p:nvPr/>
        </p:nvSpPr>
        <p:spPr>
          <a:xfrm>
            <a:off x="830765" y="3939987"/>
            <a:ext cx="364121"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24" name="Text 5"/>
          <p:cNvSpPr/>
          <p:nvPr/>
        </p:nvSpPr>
        <p:spPr>
          <a:xfrm>
            <a:off x="1496363" y="3865741"/>
            <a:ext cx="9677568"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Standard resolution metrics are stored for 15 months, while high-resolution metrics are stored for 30 days</a:t>
            </a:r>
            <a:endParaRPr lang="en-US" sz="1461" dirty="0"/>
          </a:p>
        </p:txBody>
      </p:sp>
      <p:sp>
        <p:nvSpPr>
          <p:cNvPr id="25" name="Text 6"/>
          <p:cNvSpPr/>
          <p:nvPr/>
        </p:nvSpPr>
        <p:spPr>
          <a:xfrm>
            <a:off x="802779" y="4830931"/>
            <a:ext cx="303942"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26" name="Text 7"/>
          <p:cNvSpPr/>
          <p:nvPr/>
        </p:nvSpPr>
        <p:spPr>
          <a:xfrm>
            <a:off x="1454746" y="4756686"/>
            <a:ext cx="9719185"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Standard resolution metrics have a one-minute granularity, while high-resolution metrics can have up to one-second granularity</a:t>
            </a:r>
            <a:endParaRPr lang="en-US" sz="1461" dirty="0"/>
          </a:p>
        </p:txBody>
      </p:sp>
      <p:sp>
        <p:nvSpPr>
          <p:cNvPr id="27" name="Text 8"/>
          <p:cNvSpPr/>
          <p:nvPr/>
        </p:nvSpPr>
        <p:spPr>
          <a:xfrm>
            <a:off x="829315" y="5647631"/>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28" name="Text 9"/>
          <p:cNvSpPr/>
          <p:nvPr/>
        </p:nvSpPr>
        <p:spPr>
          <a:xfrm>
            <a:off x="1503469" y="5703315"/>
            <a:ext cx="9715821"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Standard resolution metrics can't be used for alarms, while high-resolution metrics can</a:t>
            </a:r>
            <a:endParaRPr lang="en-US" sz="146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821680"/>
            <a:ext cx="742454" cy="37123"/>
          </a:xfrm>
          <a:prstGeom prst="rect">
            <a:avLst/>
          </a:prstGeom>
        </p:spPr>
      </p:pic>
      <p:pic>
        <p:nvPicPr>
          <p:cNvPr id="5" name="Image 3" descr="preencoded.png"/>
          <p:cNvPicPr>
            <a:picLocks noChangeAspect="1"/>
          </p:cNvPicPr>
          <p:nvPr/>
        </p:nvPicPr>
        <p:blipFill>
          <a:blip r:embed="rId6"/>
          <a:stretch>
            <a:fillRect/>
          </a:stretch>
        </p:blipFill>
        <p:spPr>
          <a:xfrm>
            <a:off x="593963" y="1304275"/>
            <a:ext cx="10691336" cy="1262172"/>
          </a:xfrm>
          <a:prstGeom prst="rect">
            <a:avLst/>
          </a:prstGeom>
        </p:spPr>
      </p:pic>
      <p:pic>
        <p:nvPicPr>
          <p:cNvPr id="6" name="Image 4" descr="preencoded.png"/>
          <p:cNvPicPr>
            <a:picLocks noChangeAspect="1"/>
          </p:cNvPicPr>
          <p:nvPr/>
        </p:nvPicPr>
        <p:blipFill>
          <a:blip r:embed="rId7"/>
          <a:stretch>
            <a:fillRect/>
          </a:stretch>
        </p:blipFill>
        <p:spPr>
          <a:xfrm>
            <a:off x="779577" y="1508450"/>
            <a:ext cx="185613" cy="259859"/>
          </a:xfrm>
          <a:prstGeom prst="rect">
            <a:avLst/>
          </a:prstGeom>
        </p:spPr>
      </p:pic>
      <p:pic>
        <p:nvPicPr>
          <p:cNvPr id="7" name="Image 5" descr="preencoded.png"/>
          <p:cNvPicPr>
            <a:picLocks noChangeAspect="1"/>
          </p:cNvPicPr>
          <p:nvPr/>
        </p:nvPicPr>
        <p:blipFill>
          <a:blip r:embed="rId8"/>
          <a:stretch>
            <a:fillRect/>
          </a:stretch>
        </p:blipFill>
        <p:spPr>
          <a:xfrm>
            <a:off x="593963" y="2789183"/>
            <a:ext cx="10691336" cy="1484908"/>
          </a:xfrm>
          <a:prstGeom prst="rect">
            <a:avLst/>
          </a:prstGeom>
        </p:spPr>
      </p:pic>
      <p:pic>
        <p:nvPicPr>
          <p:cNvPr id="8" name="Image 6" descr="preencoded.png"/>
          <p:cNvPicPr>
            <a:picLocks noChangeAspect="1"/>
          </p:cNvPicPr>
          <p:nvPr/>
        </p:nvPicPr>
        <p:blipFill>
          <a:blip r:embed="rId9"/>
          <a:stretch>
            <a:fillRect/>
          </a:stretch>
        </p:blipFill>
        <p:spPr>
          <a:xfrm>
            <a:off x="593963" y="4942299"/>
            <a:ext cx="9280674" cy="742454"/>
          </a:xfrm>
          <a:prstGeom prst="rect">
            <a:avLst/>
          </a:prstGeom>
        </p:spPr>
      </p:pic>
      <p:sp>
        <p:nvSpPr>
          <p:cNvPr id="11" name="Text 1"/>
          <p:cNvSpPr/>
          <p:nvPr/>
        </p:nvSpPr>
        <p:spPr>
          <a:xfrm>
            <a:off x="1076558" y="1489889"/>
            <a:ext cx="2716337"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Correct Answer: C</a:t>
            </a:r>
            <a:endParaRPr lang="en-US" sz="1754" dirty="0"/>
          </a:p>
        </p:txBody>
      </p:sp>
      <p:sp>
        <p:nvSpPr>
          <p:cNvPr id="12" name="Text 2"/>
          <p:cNvSpPr/>
          <p:nvPr/>
        </p:nvSpPr>
        <p:spPr>
          <a:xfrm>
            <a:off x="1113681" y="1861116"/>
            <a:ext cx="9986005" cy="519718"/>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Standard resolution metrics have a one-minute granularity, while high-resolution metrics can have up to one-second granularity.</a:t>
            </a:r>
            <a:endParaRPr lang="en-US" sz="1461" dirty="0"/>
          </a:p>
        </p:txBody>
      </p:sp>
      <p:sp>
        <p:nvSpPr>
          <p:cNvPr id="13" name="Text 3"/>
          <p:cNvSpPr/>
          <p:nvPr/>
        </p:nvSpPr>
        <p:spPr>
          <a:xfrm>
            <a:off x="779577" y="2974797"/>
            <a:ext cx="10320109"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Explanation:</a:t>
            </a:r>
            <a:endParaRPr lang="en-US" sz="1461" dirty="0"/>
          </a:p>
        </p:txBody>
      </p:sp>
      <p:sp>
        <p:nvSpPr>
          <p:cNvPr id="14" name="Text 4"/>
          <p:cNvSpPr/>
          <p:nvPr/>
        </p:nvSpPr>
        <p:spPr>
          <a:xfrm>
            <a:off x="779577" y="3308901"/>
            <a:ext cx="10320109" cy="779577"/>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Standard resolution metrics are stored for 15 months with one-minute granularity, meaning data points are collected every minute. High-resolution metrics, on the other hand, are stored for 30 days with up to one-second granularity, providing more detailed and immediate insights into your resources' behavior.</a:t>
            </a:r>
            <a:endParaRPr lang="en-US" sz="1315" dirty="0"/>
          </a:p>
        </p:txBody>
      </p:sp>
      <p:sp>
        <p:nvSpPr>
          <p:cNvPr id="15" name="Text 5"/>
          <p:cNvSpPr/>
          <p:nvPr/>
        </p:nvSpPr>
        <p:spPr>
          <a:xfrm>
            <a:off x="593963" y="4571072"/>
            <a:ext cx="1069133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Metric Granularity Comparison:</a:t>
            </a:r>
            <a:endParaRPr lang="en-US" sz="146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900619"/>
          </a:xfrm>
          <a:prstGeom prst="rect">
            <a:avLst/>
          </a:prstGeom>
        </p:spPr>
      </p:pic>
      <p:pic>
        <p:nvPicPr>
          <p:cNvPr id="3" name="Image 1" descr="preencoded.png"/>
          <p:cNvPicPr>
            <a:picLocks noChangeAspect="1"/>
          </p:cNvPicPr>
          <p:nvPr/>
        </p:nvPicPr>
        <p:blipFill>
          <a:blip r:embed="rId4"/>
          <a:stretch>
            <a:fillRect/>
          </a:stretch>
        </p:blipFill>
        <p:spPr>
          <a:xfrm>
            <a:off x="4199505" y="1796151"/>
            <a:ext cx="3480253" cy="4176303"/>
          </a:xfrm>
          <a:prstGeom prst="rect">
            <a:avLst/>
          </a:prstGeom>
        </p:spPr>
      </p:pic>
      <p:pic>
        <p:nvPicPr>
          <p:cNvPr id="4" name="Image 2" descr="preencoded.png"/>
          <p:cNvPicPr>
            <a:picLocks noChangeAspect="1"/>
          </p:cNvPicPr>
          <p:nvPr/>
        </p:nvPicPr>
        <p:blipFill>
          <a:blip r:embed="rId5"/>
          <a:stretch>
            <a:fillRect/>
          </a:stretch>
        </p:blipFill>
        <p:spPr>
          <a:xfrm>
            <a:off x="5345668" y="1564134"/>
            <a:ext cx="1187926" cy="37123"/>
          </a:xfrm>
          <a:prstGeom prst="rect">
            <a:avLst/>
          </a:prstGeom>
        </p:spPr>
      </p:pic>
      <p:pic>
        <p:nvPicPr>
          <p:cNvPr id="5" name="Image 3" descr="preencoded.png"/>
          <p:cNvPicPr>
            <a:picLocks noChangeAspect="1"/>
          </p:cNvPicPr>
          <p:nvPr/>
        </p:nvPicPr>
        <p:blipFill>
          <a:blip r:embed="rId6"/>
          <a:stretch>
            <a:fillRect/>
          </a:stretch>
        </p:blipFill>
        <p:spPr>
          <a:xfrm>
            <a:off x="2209526" y="2195220"/>
            <a:ext cx="3404992" cy="1002313"/>
          </a:xfrm>
          <a:prstGeom prst="rect">
            <a:avLst/>
          </a:prstGeom>
        </p:spPr>
      </p:pic>
      <p:pic>
        <p:nvPicPr>
          <p:cNvPr id="6" name="Image 4" descr="preencoded.png"/>
          <p:cNvPicPr>
            <a:picLocks noChangeAspect="1"/>
          </p:cNvPicPr>
          <p:nvPr/>
        </p:nvPicPr>
        <p:blipFill>
          <a:blip r:embed="rId7"/>
          <a:stretch>
            <a:fillRect/>
          </a:stretch>
        </p:blipFill>
        <p:spPr>
          <a:xfrm>
            <a:off x="3744896" y="2343711"/>
            <a:ext cx="334104" cy="371227"/>
          </a:xfrm>
          <a:prstGeom prst="rect">
            <a:avLst/>
          </a:prstGeom>
        </p:spPr>
      </p:pic>
      <p:pic>
        <p:nvPicPr>
          <p:cNvPr id="7" name="Image 5" descr="preencoded.png"/>
          <p:cNvPicPr>
            <a:picLocks noChangeAspect="1"/>
          </p:cNvPicPr>
          <p:nvPr/>
        </p:nvPicPr>
        <p:blipFill>
          <a:blip r:embed="rId8"/>
          <a:stretch>
            <a:fillRect/>
          </a:stretch>
        </p:blipFill>
        <p:spPr>
          <a:xfrm>
            <a:off x="5911499" y="2195220"/>
            <a:ext cx="3758093" cy="1002313"/>
          </a:xfrm>
          <a:prstGeom prst="rect">
            <a:avLst/>
          </a:prstGeom>
        </p:spPr>
      </p:pic>
      <p:pic>
        <p:nvPicPr>
          <p:cNvPr id="8" name="Image 6" descr="preencoded.png"/>
          <p:cNvPicPr>
            <a:picLocks noChangeAspect="1"/>
          </p:cNvPicPr>
          <p:nvPr/>
        </p:nvPicPr>
        <p:blipFill>
          <a:blip r:embed="rId9"/>
          <a:stretch>
            <a:fillRect/>
          </a:stretch>
        </p:blipFill>
        <p:spPr>
          <a:xfrm>
            <a:off x="7642054" y="2343711"/>
            <a:ext cx="296982" cy="371227"/>
          </a:xfrm>
          <a:prstGeom prst="rect">
            <a:avLst/>
          </a:prstGeom>
        </p:spPr>
      </p:pic>
      <p:pic>
        <p:nvPicPr>
          <p:cNvPr id="9" name="Image 7" descr="preencoded.png"/>
          <p:cNvPicPr>
            <a:picLocks noChangeAspect="1"/>
          </p:cNvPicPr>
          <p:nvPr/>
        </p:nvPicPr>
        <p:blipFill>
          <a:blip r:embed="rId10"/>
          <a:stretch>
            <a:fillRect/>
          </a:stretch>
        </p:blipFill>
        <p:spPr>
          <a:xfrm>
            <a:off x="1544363" y="3643005"/>
            <a:ext cx="8790538" cy="2635711"/>
          </a:xfrm>
          <a:prstGeom prst="rect">
            <a:avLst/>
          </a:prstGeom>
        </p:spPr>
      </p:pic>
      <p:pic>
        <p:nvPicPr>
          <p:cNvPr id="10" name="Image 8" descr="preencoded.png"/>
          <p:cNvPicPr>
            <a:picLocks noChangeAspect="1"/>
          </p:cNvPicPr>
          <p:nvPr/>
        </p:nvPicPr>
        <p:blipFill>
          <a:blip r:embed="rId11"/>
          <a:stretch>
            <a:fillRect/>
          </a:stretch>
        </p:blipFill>
        <p:spPr>
          <a:xfrm>
            <a:off x="1767099" y="3902864"/>
            <a:ext cx="222736" cy="222736"/>
          </a:xfrm>
          <a:prstGeom prst="rect">
            <a:avLst/>
          </a:prstGeom>
        </p:spPr>
      </p:pic>
      <p:pic>
        <p:nvPicPr>
          <p:cNvPr id="11" name="Image 9" descr="preencoded.png"/>
          <p:cNvPicPr>
            <a:picLocks noChangeAspect="1"/>
          </p:cNvPicPr>
          <p:nvPr/>
        </p:nvPicPr>
        <p:blipFill>
          <a:blip r:embed="rId12"/>
          <a:stretch>
            <a:fillRect/>
          </a:stretch>
        </p:blipFill>
        <p:spPr>
          <a:xfrm>
            <a:off x="1767099" y="4311214"/>
            <a:ext cx="4098287" cy="482595"/>
          </a:xfrm>
          <a:prstGeom prst="rect">
            <a:avLst/>
          </a:prstGeom>
        </p:spPr>
      </p:pic>
      <p:pic>
        <p:nvPicPr>
          <p:cNvPr id="12" name="Image 10" descr="preencoded.png"/>
          <p:cNvPicPr>
            <a:picLocks noChangeAspect="1"/>
          </p:cNvPicPr>
          <p:nvPr/>
        </p:nvPicPr>
        <p:blipFill>
          <a:blip r:embed="rId13"/>
          <a:stretch>
            <a:fillRect/>
          </a:stretch>
        </p:blipFill>
        <p:spPr>
          <a:xfrm>
            <a:off x="1878467" y="4422582"/>
            <a:ext cx="185613" cy="259859"/>
          </a:xfrm>
          <a:prstGeom prst="rect">
            <a:avLst/>
          </a:prstGeom>
        </p:spPr>
      </p:pic>
      <p:pic>
        <p:nvPicPr>
          <p:cNvPr id="13" name="Image 11" descr="preencoded.png"/>
          <p:cNvPicPr>
            <a:picLocks noChangeAspect="1"/>
          </p:cNvPicPr>
          <p:nvPr/>
        </p:nvPicPr>
        <p:blipFill>
          <a:blip r:embed="rId14"/>
          <a:stretch>
            <a:fillRect/>
          </a:stretch>
        </p:blipFill>
        <p:spPr>
          <a:xfrm>
            <a:off x="6013876" y="4311214"/>
            <a:ext cx="4098287" cy="482595"/>
          </a:xfrm>
          <a:prstGeom prst="rect">
            <a:avLst/>
          </a:prstGeom>
        </p:spPr>
      </p:pic>
      <p:pic>
        <p:nvPicPr>
          <p:cNvPr id="14" name="Image 12" descr="preencoded.png"/>
          <p:cNvPicPr>
            <a:picLocks noChangeAspect="1"/>
          </p:cNvPicPr>
          <p:nvPr/>
        </p:nvPicPr>
        <p:blipFill>
          <a:blip r:embed="rId15"/>
          <a:stretch>
            <a:fillRect/>
          </a:stretch>
        </p:blipFill>
        <p:spPr>
          <a:xfrm>
            <a:off x="6125245" y="4422582"/>
            <a:ext cx="185613" cy="259859"/>
          </a:xfrm>
          <a:prstGeom prst="rect">
            <a:avLst/>
          </a:prstGeom>
        </p:spPr>
      </p:pic>
      <p:pic>
        <p:nvPicPr>
          <p:cNvPr id="15" name="Image 13" descr="preencoded.png"/>
          <p:cNvPicPr>
            <a:picLocks noChangeAspect="1"/>
          </p:cNvPicPr>
          <p:nvPr/>
        </p:nvPicPr>
        <p:blipFill>
          <a:blip r:embed="rId16"/>
          <a:stretch>
            <a:fillRect/>
          </a:stretch>
        </p:blipFill>
        <p:spPr>
          <a:xfrm>
            <a:off x="1767099" y="4942300"/>
            <a:ext cx="4098287" cy="482595"/>
          </a:xfrm>
          <a:prstGeom prst="rect">
            <a:avLst/>
          </a:prstGeom>
        </p:spPr>
      </p:pic>
      <p:pic>
        <p:nvPicPr>
          <p:cNvPr id="16" name="Image 14" descr="preencoded.png"/>
          <p:cNvPicPr>
            <a:picLocks noChangeAspect="1"/>
          </p:cNvPicPr>
          <p:nvPr/>
        </p:nvPicPr>
        <p:blipFill>
          <a:blip r:embed="rId17"/>
          <a:stretch>
            <a:fillRect/>
          </a:stretch>
        </p:blipFill>
        <p:spPr>
          <a:xfrm>
            <a:off x="1878467" y="5053668"/>
            <a:ext cx="232017" cy="259859"/>
          </a:xfrm>
          <a:prstGeom prst="rect">
            <a:avLst/>
          </a:prstGeom>
        </p:spPr>
      </p:pic>
      <p:pic>
        <p:nvPicPr>
          <p:cNvPr id="17" name="Image 15" descr="preencoded.png"/>
          <p:cNvPicPr>
            <a:picLocks noChangeAspect="1"/>
          </p:cNvPicPr>
          <p:nvPr/>
        </p:nvPicPr>
        <p:blipFill>
          <a:blip r:embed="rId18"/>
          <a:stretch>
            <a:fillRect/>
          </a:stretch>
        </p:blipFill>
        <p:spPr>
          <a:xfrm>
            <a:off x="6013876" y="4942300"/>
            <a:ext cx="4098287" cy="482595"/>
          </a:xfrm>
          <a:prstGeom prst="rect">
            <a:avLst/>
          </a:prstGeom>
        </p:spPr>
      </p:pic>
      <p:pic>
        <p:nvPicPr>
          <p:cNvPr id="18" name="Image 16" descr="preencoded.png"/>
          <p:cNvPicPr>
            <a:picLocks noChangeAspect="1"/>
          </p:cNvPicPr>
          <p:nvPr/>
        </p:nvPicPr>
        <p:blipFill>
          <a:blip r:embed="rId19"/>
          <a:stretch>
            <a:fillRect/>
          </a:stretch>
        </p:blipFill>
        <p:spPr>
          <a:xfrm>
            <a:off x="6125245" y="5053668"/>
            <a:ext cx="185613" cy="259859"/>
          </a:xfrm>
          <a:prstGeom prst="rect">
            <a:avLst/>
          </a:prstGeom>
        </p:spPr>
      </p:pic>
      <p:pic>
        <p:nvPicPr>
          <p:cNvPr id="19" name="Image 17" descr="preencoded.png"/>
          <p:cNvPicPr>
            <a:picLocks noChangeAspect="1"/>
          </p:cNvPicPr>
          <p:nvPr/>
        </p:nvPicPr>
        <p:blipFill>
          <a:blip r:embed="rId20"/>
          <a:stretch>
            <a:fillRect/>
          </a:stretch>
        </p:blipFill>
        <p:spPr>
          <a:xfrm>
            <a:off x="1767099" y="5573385"/>
            <a:ext cx="8345066" cy="482595"/>
          </a:xfrm>
          <a:prstGeom prst="rect">
            <a:avLst/>
          </a:prstGeom>
        </p:spPr>
      </p:pic>
      <p:pic>
        <p:nvPicPr>
          <p:cNvPr id="20" name="Image 18" descr="preencoded.png"/>
          <p:cNvPicPr>
            <a:picLocks noChangeAspect="1"/>
          </p:cNvPicPr>
          <p:nvPr/>
        </p:nvPicPr>
        <p:blipFill>
          <a:blip r:embed="rId21"/>
          <a:stretch>
            <a:fillRect/>
          </a:stretch>
        </p:blipFill>
        <p:spPr>
          <a:xfrm>
            <a:off x="1878467" y="5684753"/>
            <a:ext cx="185613" cy="259859"/>
          </a:xfrm>
          <a:prstGeom prst="rect">
            <a:avLst/>
          </a:prstGeom>
        </p:spPr>
      </p:pic>
      <p:sp>
        <p:nvSpPr>
          <p:cNvPr id="24" name="Text 0"/>
          <p:cNvSpPr/>
          <p:nvPr/>
        </p:nvSpPr>
        <p:spPr>
          <a:xfrm>
            <a:off x="445472" y="524699"/>
            <a:ext cx="10988318" cy="890945"/>
          </a:xfrm>
          <a:prstGeom prst="rect">
            <a:avLst/>
          </a:prstGeom>
          <a:noFill/>
          <a:ln/>
        </p:spPr>
        <p:txBody>
          <a:bodyPr vert="horz" wrap="square" lIns="0" tIns="0" rIns="0" bIns="0" rtlCol="0" anchor="t"/>
          <a:lstStyle/>
          <a:p>
            <a:pPr algn="ctr">
              <a:lnSpc>
                <a:spcPts val="3507"/>
              </a:lnSpc>
            </a:pPr>
            <a:r>
              <a:rPr lang="en-US" sz="3507" b="1" dirty="0">
                <a:solidFill>
                  <a:srgbClr val="2563EB"/>
                </a:solidFill>
                <a:latin typeface="ui-sans-serif" pitchFamily="34" charset="0"/>
                <a:ea typeface="ui-sans-serif" pitchFamily="34" charset="-122"/>
                <a:cs typeface="ui-sans-serif" pitchFamily="34" charset="-120"/>
              </a:rPr>
              <a:t>Stay Connected with Our Cloud Computing Journey!</a:t>
            </a:r>
            <a:endParaRPr lang="en-US" sz="3507" dirty="0"/>
          </a:p>
        </p:txBody>
      </p:sp>
      <p:sp>
        <p:nvSpPr>
          <p:cNvPr id="25" name="Text 1"/>
          <p:cNvSpPr/>
          <p:nvPr/>
        </p:nvSpPr>
        <p:spPr>
          <a:xfrm>
            <a:off x="2358016" y="2789183"/>
            <a:ext cx="3729613"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Like this video if you found it helpful!</a:t>
            </a:r>
            <a:endParaRPr lang="en-US" sz="1315" dirty="0"/>
          </a:p>
        </p:txBody>
      </p:sp>
      <p:sp>
        <p:nvSpPr>
          <p:cNvPr id="26" name="Text 2"/>
          <p:cNvSpPr/>
          <p:nvPr/>
        </p:nvSpPr>
        <p:spPr>
          <a:xfrm>
            <a:off x="6059989" y="2789183"/>
            <a:ext cx="415333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Subscribe for cloud tech updates!</a:t>
            </a:r>
            <a:endParaRPr lang="en-US" sz="1315" dirty="0"/>
          </a:p>
        </p:txBody>
      </p:sp>
      <p:sp>
        <p:nvSpPr>
          <p:cNvPr id="27" name="Text 3"/>
          <p:cNvSpPr/>
          <p:nvPr/>
        </p:nvSpPr>
        <p:spPr>
          <a:xfrm>
            <a:off x="2101203" y="3865741"/>
            <a:ext cx="10014079" cy="296982"/>
          </a:xfrm>
          <a:prstGeom prst="rect">
            <a:avLst/>
          </a:prstGeom>
          <a:noFill/>
          <a:ln/>
        </p:spPr>
        <p:txBody>
          <a:bodyPr vert="horz" wrap="square" lIns="0" tIns="0" rIns="0" bIns="0" rtlCol="0" anchor="t"/>
          <a:lstStyle/>
          <a:p>
            <a:pPr>
              <a:lnSpc>
                <a:spcPts val="2338"/>
              </a:lnSpc>
            </a:pPr>
            <a:r>
              <a:rPr lang="en-US" sz="1754" b="1" dirty="0">
                <a:solidFill>
                  <a:srgbClr val="1F2937"/>
                </a:solidFill>
                <a:latin typeface="ui-sans-serif" pitchFamily="34" charset="0"/>
                <a:ea typeface="ui-sans-serif" pitchFamily="34" charset="-122"/>
                <a:cs typeface="ui-sans-serif" pitchFamily="34" charset="-120"/>
              </a:rPr>
              <a:t>Comment below which cloud topic you want to see next like:</a:t>
            </a:r>
            <a:endParaRPr lang="en-US" sz="1754" dirty="0"/>
          </a:p>
        </p:txBody>
      </p:sp>
      <p:sp>
        <p:nvSpPr>
          <p:cNvPr id="28" name="Text 4"/>
          <p:cNvSpPr/>
          <p:nvPr/>
        </p:nvSpPr>
        <p:spPr>
          <a:xfrm>
            <a:off x="2175449" y="4422582"/>
            <a:ext cx="192701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Cloud Security Tips</a:t>
            </a:r>
            <a:endParaRPr lang="en-US" sz="1315" dirty="0"/>
          </a:p>
        </p:txBody>
      </p:sp>
      <p:sp>
        <p:nvSpPr>
          <p:cNvPr id="29" name="Text 5"/>
          <p:cNvSpPr/>
          <p:nvPr/>
        </p:nvSpPr>
        <p:spPr>
          <a:xfrm>
            <a:off x="6422226" y="4422582"/>
            <a:ext cx="2879213"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Cost Optimization Strategies</a:t>
            </a:r>
            <a:endParaRPr lang="en-US" sz="1315" dirty="0"/>
          </a:p>
        </p:txBody>
      </p:sp>
      <p:sp>
        <p:nvSpPr>
          <p:cNvPr id="30" name="Text 6"/>
          <p:cNvSpPr/>
          <p:nvPr/>
        </p:nvSpPr>
        <p:spPr>
          <a:xfrm>
            <a:off x="2221851" y="5053668"/>
            <a:ext cx="2519355"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Multi-Cloud Management</a:t>
            </a:r>
            <a:endParaRPr lang="en-US" sz="1315" dirty="0"/>
          </a:p>
        </p:txBody>
      </p:sp>
      <p:sp>
        <p:nvSpPr>
          <p:cNvPr id="31" name="Text 7"/>
          <p:cNvSpPr/>
          <p:nvPr/>
        </p:nvSpPr>
        <p:spPr>
          <a:xfrm>
            <a:off x="6422226" y="5053668"/>
            <a:ext cx="220978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Serverless Computing</a:t>
            </a:r>
            <a:endParaRPr lang="en-US" sz="1315" dirty="0"/>
          </a:p>
        </p:txBody>
      </p:sp>
      <p:sp>
        <p:nvSpPr>
          <p:cNvPr id="32" name="Text 8"/>
          <p:cNvSpPr/>
          <p:nvPr/>
        </p:nvSpPr>
        <p:spPr>
          <a:xfrm>
            <a:off x="2175448" y="5684753"/>
            <a:ext cx="2206133"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Cloud Migration Steps</a:t>
            </a:r>
            <a:endParaRPr lang="en-US" sz="1315" dirty="0"/>
          </a:p>
        </p:txBody>
      </p:sp>
      <p:sp>
        <p:nvSpPr>
          <p:cNvPr id="36" name="TextBox 35">
            <a:extLst>
              <a:ext uri="{FF2B5EF4-FFF2-40B4-BE49-F238E27FC236}">
                <a16:creationId xmlns:a16="http://schemas.microsoft.com/office/drawing/2014/main" id="{52820DDF-95CF-B4A2-D906-FF20AE0A41CB}"/>
              </a:ext>
            </a:extLst>
          </p:cNvPr>
          <p:cNvSpPr txBox="1"/>
          <p:nvPr/>
        </p:nvSpPr>
        <p:spPr>
          <a:xfrm>
            <a:off x="193073" y="1023606"/>
            <a:ext cx="11641607" cy="374228"/>
          </a:xfrm>
          <a:prstGeom prst="rect">
            <a:avLst/>
          </a:prstGeom>
          <a:noFill/>
        </p:spPr>
        <p:txBody>
          <a:bodyPr wrap="square">
            <a:spAutoFit/>
          </a:bodyPr>
          <a:lstStyle/>
          <a:p>
            <a:pPr algn="ctr">
              <a:lnSpc>
                <a:spcPts val="2338"/>
              </a:lnSpc>
            </a:pPr>
            <a:r>
              <a:rPr lang="en-US" sz="1754" dirty="0">
                <a:solidFill>
                  <a:srgbClr val="374151"/>
                </a:solidFill>
                <a:latin typeface="ui-sans-serif" pitchFamily="34" charset="0"/>
                <a:ea typeface="ui-sans-serif" pitchFamily="34" charset="-122"/>
                <a:cs typeface="ui-sans-serif" pitchFamily="34" charset="-120"/>
              </a:rPr>
              <a:t> Dive deeper into the cloud world! Check out our specialized playlists for your continuous learning journey!</a:t>
            </a:r>
            <a:endParaRPr lang="en-US" sz="1754" dirty="0"/>
          </a:p>
        </p:txBody>
      </p:sp>
      <p:sp>
        <p:nvSpPr>
          <p:cNvPr id="33" name="Text 8">
            <a:extLst>
              <a:ext uri="{FF2B5EF4-FFF2-40B4-BE49-F238E27FC236}">
                <a16:creationId xmlns:a16="http://schemas.microsoft.com/office/drawing/2014/main" id="{12D73757-DDD7-D57B-261C-664EC6A592BB}"/>
              </a:ext>
            </a:extLst>
          </p:cNvPr>
          <p:cNvSpPr/>
          <p:nvPr/>
        </p:nvSpPr>
        <p:spPr>
          <a:xfrm>
            <a:off x="6422226" y="5704955"/>
            <a:ext cx="2206133" cy="259859"/>
          </a:xfrm>
          <a:prstGeom prst="rect">
            <a:avLst/>
          </a:prstGeom>
          <a:noFill/>
          <a:ln/>
        </p:spPr>
        <p:txBody>
          <a:bodyPr vert="horz" wrap="square" lIns="0" tIns="0" rIns="0" bIns="0" rtlCol="0" anchor="t"/>
          <a:lstStyle/>
          <a:p>
            <a:pPr>
              <a:lnSpc>
                <a:spcPts val="2046"/>
              </a:lnSpc>
            </a:pPr>
            <a:r>
              <a:rPr lang="en-IN" sz="1364" dirty="0"/>
              <a:t>Anything you'd like 🙂</a:t>
            </a:r>
            <a:endParaRPr lang="en-US" sz="1315" dirty="0"/>
          </a:p>
        </p:txBody>
      </p:sp>
      <p:pic>
        <p:nvPicPr>
          <p:cNvPr id="34" name="Image 14" descr="preencoded.png">
            <a:extLst>
              <a:ext uri="{FF2B5EF4-FFF2-40B4-BE49-F238E27FC236}">
                <a16:creationId xmlns:a16="http://schemas.microsoft.com/office/drawing/2014/main" id="{9B3B5FE5-BED3-CA8F-DE9C-F0AE5665F843}"/>
              </a:ext>
            </a:extLst>
          </p:cNvPr>
          <p:cNvPicPr>
            <a:picLocks noChangeAspect="1"/>
          </p:cNvPicPr>
          <p:nvPr/>
        </p:nvPicPr>
        <p:blipFill>
          <a:blip r:embed="rId17"/>
          <a:stretch>
            <a:fillRect/>
          </a:stretch>
        </p:blipFill>
        <p:spPr>
          <a:xfrm>
            <a:off x="6145430" y="5736725"/>
            <a:ext cx="232017" cy="259859"/>
          </a:xfrm>
          <a:prstGeom prst="rect">
            <a:avLst/>
          </a:prstGeom>
        </p:spPr>
      </p:pic>
      <p:cxnSp>
        <p:nvCxnSpPr>
          <p:cNvPr id="37" name="Straight Connector 36">
            <a:extLst>
              <a:ext uri="{FF2B5EF4-FFF2-40B4-BE49-F238E27FC236}">
                <a16:creationId xmlns:a16="http://schemas.microsoft.com/office/drawing/2014/main" id="{F337FD39-6A55-699F-0610-A1B61D3F10E7}"/>
              </a:ext>
            </a:extLst>
          </p:cNvPr>
          <p:cNvCxnSpPr>
            <a:cxnSpLocks/>
          </p:cNvCxnSpPr>
          <p:nvPr/>
        </p:nvCxnSpPr>
        <p:spPr>
          <a:xfrm>
            <a:off x="6047287" y="5718164"/>
            <a:ext cx="0" cy="25985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10</TotalTime>
  <Words>1420</Words>
  <Application>Microsoft Office PowerPoint</Application>
  <PresentationFormat>Custom</PresentationFormat>
  <Paragraphs>233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ui-sans-serif</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40</cp:revision>
  <dcterms:created xsi:type="dcterms:W3CDTF">2025-11-01T13:13:17Z</dcterms:created>
  <dcterms:modified xsi:type="dcterms:W3CDTF">2025-11-10T11:22:18Z</dcterms:modified>
</cp:coreProperties>
</file>