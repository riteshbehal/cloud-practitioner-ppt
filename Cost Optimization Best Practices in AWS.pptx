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image" Target="../media/image-8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800" y="762000"/>
            <a:ext cx="1219200" cy="1219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419600"/>
            <a:ext cx="914400" cy="914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95750"/>
            <a:ext cx="914400" cy="38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6132" y="3086100"/>
            <a:ext cx="1143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1382" y="2800350"/>
            <a:ext cx="7620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9507" y="2990850"/>
            <a:ext cx="76200" cy="76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9507" y="2990850"/>
            <a:ext cx="38100" cy="38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9557" y="2990850"/>
            <a:ext cx="76200" cy="76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9557" y="2990850"/>
            <a:ext cx="38100" cy="38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4757" y="3276600"/>
            <a:ext cx="285750" cy="14287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7498" y="6096000"/>
            <a:ext cx="114300" cy="114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9916864" y="609600"/>
            <a:ext cx="19986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2025-10-29</a:t>
            </a:r>
            <a:endParaRPr lang="en-US" sz="1050" dirty="0"/>
          </a:p>
        </p:txBody>
      </p:sp>
      <p:sp>
        <p:nvSpPr>
          <p:cNvPr id="20" name="Text 1"/>
          <p:cNvSpPr/>
          <p:nvPr/>
        </p:nvSpPr>
        <p:spPr>
          <a:xfrm>
            <a:off x="609600" y="1962150"/>
            <a:ext cx="65835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Best Practices in AWS</a:t>
            </a:r>
            <a:endParaRPr lang="en-US" sz="3600" dirty="0"/>
          </a:p>
        </p:txBody>
      </p:sp>
      <p:sp>
        <p:nvSpPr>
          <p:cNvPr id="21" name="Text 2"/>
          <p:cNvSpPr/>
          <p:nvPr/>
        </p:nvSpPr>
        <p:spPr>
          <a:xfrm>
            <a:off x="609600" y="3105150"/>
            <a:ext cx="658356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Maximize ROI while maintaining cloud agility and scalability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609600" y="4514850"/>
            <a:ext cx="79002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approaches to reduce costs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609600" y="4781550"/>
            <a:ext cx="6583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 operational efficiency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9144446" y="30861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8319046" y="3867150"/>
            <a:ext cx="1504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$avings</a:t>
            </a:r>
            <a:endParaRPr lang="en-US" sz="2250" dirty="0"/>
          </a:p>
        </p:txBody>
      </p:sp>
      <p:sp>
        <p:nvSpPr>
          <p:cNvPr id="26" name="Text 7"/>
          <p:cNvSpPr/>
          <p:nvPr/>
        </p:nvSpPr>
        <p:spPr>
          <a:xfrm>
            <a:off x="9687371" y="3905250"/>
            <a:ext cx="922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609600" y="6057900"/>
            <a:ext cx="263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© 2025 Cloud Cost Management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9937998" y="6057900"/>
            <a:ext cx="19732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Series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7010400" cy="2438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133600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55270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97180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39090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076700"/>
            <a:ext cx="7010400" cy="1828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51435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1950" y="51435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54864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71950" y="548640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4800" y="2419350"/>
            <a:ext cx="476994" cy="571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298" y="2533650"/>
            <a:ext cx="32385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24800" y="3524250"/>
            <a:ext cx="560189" cy="571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23920" y="3638550"/>
            <a:ext cx="361950" cy="342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24800" y="440055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67675" y="4514850"/>
            <a:ext cx="285750" cy="3429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838200" y="1638300"/>
            <a:ext cx="7863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Cost Optimization Matters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123950" y="2095500"/>
            <a:ext cx="4698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Maximizes return on investment (ROI) in AWS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123950" y="2514600"/>
            <a:ext cx="5280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Maintains agility and scalability in cloud computing</a:t>
            </a:r>
            <a:endParaRPr lang="en-US" sz="1350" dirty="0"/>
          </a:p>
        </p:txBody>
      </p:sp>
      <p:sp>
        <p:nvSpPr>
          <p:cNvPr id="29" name="Text 4"/>
          <p:cNvSpPr/>
          <p:nvPr/>
        </p:nvSpPr>
        <p:spPr>
          <a:xfrm>
            <a:off x="1123950" y="2933700"/>
            <a:ext cx="34606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sustainable cloud growth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1123950" y="3352800"/>
            <a:ext cx="39235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manage expenditure effectively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838200" y="4305300"/>
            <a:ext cx="655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32" name="Text 7"/>
          <p:cNvSpPr/>
          <p:nvPr/>
        </p:nvSpPr>
        <p:spPr>
          <a:xfrm>
            <a:off x="838200" y="4762500"/>
            <a:ext cx="7863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presentation covers the essential best practices across key pillars: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1066800" y="5105400"/>
            <a:ext cx="2003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Visibility &amp; Monitoring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4400550" y="5105400"/>
            <a:ext cx="2062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 Optimization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1047750" y="5448300"/>
            <a:ext cx="19436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Optimization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4381500" y="54483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Modernization &amp; Governance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8554194" y="2343150"/>
            <a:ext cx="30282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Maximize ROI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8554194" y="2609850"/>
            <a:ext cx="30282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 the most value from your cloud investment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8637389" y="3448050"/>
            <a:ext cx="3534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Agility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8637389" y="3714750"/>
            <a:ext cx="2945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Maintain flexibility while reducing costs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8648700" y="4438650"/>
            <a:ext cx="29105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Sustainable Growth</a:t>
            </a:r>
            <a:endParaRPr lang="en-US" sz="1500" dirty="0"/>
          </a:p>
        </p:txBody>
      </p:sp>
      <p:sp>
        <p:nvSpPr>
          <p:cNvPr id="42" name="Text 17"/>
          <p:cNvSpPr/>
          <p:nvPr/>
        </p:nvSpPr>
        <p:spPr>
          <a:xfrm>
            <a:off x="8648700" y="4705350"/>
            <a:ext cx="2910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long-term cloud viability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11282809" y="5905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0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28600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886200"/>
            <a:ext cx="3048000" cy="304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7315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056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47900"/>
            <a:ext cx="5372100" cy="1447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438400"/>
            <a:ext cx="28575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25717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2247900"/>
            <a:ext cx="5372100" cy="1447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438400"/>
            <a:ext cx="244673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3599" y="2571750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924300"/>
            <a:ext cx="5372100" cy="1752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114800"/>
            <a:ext cx="260300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638" y="4248150"/>
            <a:ext cx="219075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3924300"/>
            <a:ext cx="5372100" cy="1752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114800"/>
            <a:ext cx="285750" cy="609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248150"/>
            <a:ext cx="28575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981700"/>
            <a:ext cx="10972800" cy="533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6162675"/>
            <a:ext cx="1143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Visibility and Monitoring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4097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cornerstone of effective AWS cost optimization lies in thorough understanding and continuous tracking of your cloud spending.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276350" y="2438400"/>
            <a:ext cx="54178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Cost Explorer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1276350" y="28194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Visualize, understand, and manage AWS costs and usage over time. Analyze spending patterns, identify trends, and forecast future costs.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6835973" y="2438400"/>
            <a:ext cx="45559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Budgets</a:t>
            </a:r>
            <a:endParaRPr lang="en-US" sz="1800" dirty="0"/>
          </a:p>
        </p:txBody>
      </p:sp>
      <p:sp>
        <p:nvSpPr>
          <p:cNvPr id="28" name="Text 5"/>
          <p:cNvSpPr/>
          <p:nvPr/>
        </p:nvSpPr>
        <p:spPr>
          <a:xfrm>
            <a:off x="6835973" y="2819400"/>
            <a:ext cx="45559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 custom budgets that alert you when costs or usage exceed (or are forecasted to exceed) budgeted amounts. Prevent unexpected overspending.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1250900" y="4114800"/>
            <a:ext cx="4540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Cost and Usage Reports (CUR)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1250900" y="4800600"/>
            <a:ext cx="4540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comprehensive AWS cost and usage data. Delivers highly granular details about usage and associated costs for in-depth analysis.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877050" y="4114800"/>
            <a:ext cx="54178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Cost Anomaly Detection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6877050" y="44958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identifies unusual spending patterns using machine learning and alerts you to potential cost anomalies for quick resolution.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952500" y="6134100"/>
            <a:ext cx="1280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Without clear visibility into where and how costs are incurred, it's impossible to implement targeted optimization strategies.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11282809" y="65151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009900"/>
            <a:ext cx="1162794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114675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6694" y="3009900"/>
            <a:ext cx="1585764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9094" y="3114675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8658" y="3009900"/>
            <a:ext cx="1610469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1058" y="3114675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3467100"/>
            <a:ext cx="1128861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571875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533900"/>
            <a:ext cx="171450" cy="171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876800"/>
            <a:ext cx="171450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866900"/>
            <a:ext cx="5181600" cy="762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20193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72263" y="211455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2781300"/>
            <a:ext cx="5181600" cy="762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29337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2263" y="3028950"/>
            <a:ext cx="219075" cy="266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3695700"/>
            <a:ext cx="5181600" cy="7620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3848100"/>
            <a:ext cx="457200" cy="457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2738" y="3943350"/>
            <a:ext cx="238125" cy="2667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4686300"/>
            <a:ext cx="5181600" cy="9525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3200" y="5181600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29425" y="525780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38975" y="5181600"/>
            <a:ext cx="257175" cy="304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2350" y="5257800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81900" y="5181600"/>
            <a:ext cx="228600" cy="3048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Tagging and Allocation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609600" y="1409700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Allocation Tags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609600" y="1828800"/>
            <a:ext cx="518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Labels applied to AWS resources to organize them by categories for cost attribution.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609600" y="25908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Tag Categories</a:t>
            </a:r>
            <a:endParaRPr lang="en-US" sz="1500" dirty="0"/>
          </a:p>
        </p:txBody>
      </p:sp>
      <p:sp>
        <p:nvSpPr>
          <p:cNvPr id="38" name="Text 4"/>
          <p:cNvSpPr/>
          <p:nvPr/>
        </p:nvSpPr>
        <p:spPr>
          <a:xfrm>
            <a:off x="1047750" y="3009900"/>
            <a:ext cx="13953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7B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2286744" y="3009900"/>
            <a:ext cx="19029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3910608" y="3009900"/>
            <a:ext cx="1932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4D2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1066800" y="3467100"/>
            <a:ext cx="1128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B34C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Owner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609600" y="41148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Tips</a:t>
            </a:r>
            <a:endParaRPr lang="en-US" sz="1500" dirty="0"/>
          </a:p>
        </p:txBody>
      </p:sp>
      <p:sp>
        <p:nvSpPr>
          <p:cNvPr id="43" name="Text 9"/>
          <p:cNvSpPr/>
          <p:nvPr/>
        </p:nvSpPr>
        <p:spPr>
          <a:xfrm>
            <a:off x="895350" y="4495800"/>
            <a:ext cx="4181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Apply tags consistently across resources</a:t>
            </a:r>
            <a:endParaRPr lang="en-US" sz="1350" dirty="0"/>
          </a:p>
        </p:txBody>
      </p:sp>
      <p:sp>
        <p:nvSpPr>
          <p:cNvPr id="44" name="Text 10"/>
          <p:cNvSpPr/>
          <p:nvPr/>
        </p:nvSpPr>
        <p:spPr>
          <a:xfrm>
            <a:off x="895350" y="4838700"/>
            <a:ext cx="4033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automated tagging where possible</a:t>
            </a:r>
            <a:endParaRPr lang="en-US" sz="1350" dirty="0"/>
          </a:p>
        </p:txBody>
      </p:sp>
      <p:sp>
        <p:nvSpPr>
          <p:cNvPr id="45" name="Text 11"/>
          <p:cNvSpPr/>
          <p:nvPr/>
        </p:nvSpPr>
        <p:spPr>
          <a:xfrm>
            <a:off x="6400800" y="1409700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 of Tagging</a:t>
            </a:r>
            <a:endParaRPr lang="en-US" sz="1800" dirty="0"/>
          </a:p>
        </p:txBody>
      </p:sp>
      <p:sp>
        <p:nvSpPr>
          <p:cNvPr id="46" name="Text 12"/>
          <p:cNvSpPr/>
          <p:nvPr/>
        </p:nvSpPr>
        <p:spPr>
          <a:xfrm>
            <a:off x="7162800" y="2019300"/>
            <a:ext cx="369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Accurate Cost Allocation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7162800" y="2247900"/>
            <a:ext cx="369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Attribute costs to specific business units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7162800" y="2933700"/>
            <a:ext cx="3318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Chargeback &amp; Showback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7162800" y="3162300"/>
            <a:ext cx="3318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models for cost recovery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7162800" y="3848100"/>
            <a:ext cx="282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7162800" y="4076700"/>
            <a:ext cx="282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Foster cost-conscious behavior</a:t>
            </a:r>
            <a:endParaRPr lang="en-US" sz="1200" dirty="0"/>
          </a:p>
        </p:txBody>
      </p:sp>
      <p:sp>
        <p:nvSpPr>
          <p:cNvPr id="52" name="Text 18"/>
          <p:cNvSpPr/>
          <p:nvPr/>
        </p:nvSpPr>
        <p:spPr>
          <a:xfrm>
            <a:off x="6553200" y="48387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Tagging Impact</a:t>
            </a:r>
            <a:endParaRPr lang="en-US" sz="1350" dirty="0"/>
          </a:p>
        </p:txBody>
      </p:sp>
      <p:sp>
        <p:nvSpPr>
          <p:cNvPr id="53" name="Text 19"/>
          <p:cNvSpPr/>
          <p:nvPr/>
        </p:nvSpPr>
        <p:spPr>
          <a:xfrm>
            <a:off x="9367838" y="5238750"/>
            <a:ext cx="24745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Tags → Organization → Insights</a:t>
            </a:r>
            <a:endParaRPr lang="en-US" sz="1050" dirty="0"/>
          </a:p>
        </p:txBody>
      </p:sp>
      <p:sp>
        <p:nvSpPr>
          <p:cNvPr id="54" name="Text 20"/>
          <p:cNvSpPr/>
          <p:nvPr/>
        </p:nvSpPr>
        <p:spPr>
          <a:xfrm>
            <a:off x="11282809" y="56388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95500"/>
            <a:ext cx="2628900" cy="2076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2860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24003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8194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1623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733800"/>
            <a:ext cx="2247900" cy="95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90900" y="2095500"/>
            <a:ext cx="2628900" cy="2076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81400" y="2362200"/>
            <a:ext cx="327720" cy="381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9535" y="24765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1400" y="2971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81400" y="33147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81400" y="3886200"/>
            <a:ext cx="2247900" cy="952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81400" y="3886200"/>
            <a:ext cx="1618357" cy="952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2095500"/>
            <a:ext cx="2628900" cy="20764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22860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24003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28194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62700" y="31623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3733800"/>
            <a:ext cx="2247900" cy="952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62700" y="3733800"/>
            <a:ext cx="1618357" cy="952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53500" y="2095500"/>
            <a:ext cx="2628900" cy="20764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44000" y="2286000"/>
            <a:ext cx="381000" cy="3810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77350" y="240030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4000" y="28194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44000" y="31623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44000" y="3733800"/>
            <a:ext cx="2247900" cy="952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144000" y="3733800"/>
            <a:ext cx="2023021" cy="952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" y="4400550"/>
            <a:ext cx="10972800" cy="11811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0100" y="4629150"/>
            <a:ext cx="142875" cy="2667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57275" y="493395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7275" y="5200650"/>
            <a:ext cx="152400" cy="1524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Optimizing Compute Costs: Pricing Models</a:t>
            </a:r>
            <a:endParaRPr lang="en-US" sz="2700" dirty="0"/>
          </a:p>
        </p:txBody>
      </p:sp>
      <p:sp>
        <p:nvSpPr>
          <p:cNvPr id="41" name="Text 1"/>
          <p:cNvSpPr/>
          <p:nvPr/>
        </p:nvSpPr>
        <p:spPr>
          <a:xfrm>
            <a:off x="609600" y="13335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offers various pricing models to help optimize compute costs based on your workload characteristics and commitment level.</a:t>
            </a:r>
            <a:endParaRPr lang="en-US" sz="1350" dirty="0"/>
          </a:p>
        </p:txBody>
      </p:sp>
      <p:sp>
        <p:nvSpPr>
          <p:cNvPr id="42" name="Text 2"/>
          <p:cNvSpPr/>
          <p:nvPr/>
        </p:nvSpPr>
        <p:spPr>
          <a:xfrm>
            <a:off x="1295400" y="2343150"/>
            <a:ext cx="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On-Demand</a:t>
            </a:r>
            <a:endParaRPr lang="en-US" sz="1500" dirty="0"/>
          </a:p>
        </p:txBody>
      </p:sp>
      <p:sp>
        <p:nvSpPr>
          <p:cNvPr id="43" name="Text 3"/>
          <p:cNvSpPr/>
          <p:nvPr/>
        </p:nvSpPr>
        <p:spPr>
          <a:xfrm>
            <a:off x="1028700" y="2781300"/>
            <a:ext cx="2267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Unpredictable workloads</a:t>
            </a:r>
            <a:endParaRPr lang="en-US" sz="1200" dirty="0"/>
          </a:p>
        </p:txBody>
      </p:sp>
      <p:sp>
        <p:nvSpPr>
          <p:cNvPr id="44" name="Text 4"/>
          <p:cNvSpPr/>
          <p:nvPr/>
        </p:nvSpPr>
        <p:spPr>
          <a:xfrm>
            <a:off x="1028700" y="3124200"/>
            <a:ext cx="1476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commitment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800100" y="3505200"/>
            <a:ext cx="1377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 Potential</a:t>
            </a:r>
            <a:endParaRPr lang="en-US" sz="1050" dirty="0"/>
          </a:p>
        </p:txBody>
      </p:sp>
      <p:sp>
        <p:nvSpPr>
          <p:cNvPr id="46" name="Text 6"/>
          <p:cNvSpPr/>
          <p:nvPr/>
        </p:nvSpPr>
        <p:spPr>
          <a:xfrm>
            <a:off x="2700040" y="3505200"/>
            <a:ext cx="4175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None</a:t>
            </a:r>
            <a:endParaRPr lang="en-US" sz="1050" dirty="0"/>
          </a:p>
        </p:txBody>
      </p:sp>
      <p:sp>
        <p:nvSpPr>
          <p:cNvPr id="47" name="Text 7"/>
          <p:cNvSpPr/>
          <p:nvPr/>
        </p:nvSpPr>
        <p:spPr>
          <a:xfrm>
            <a:off x="4023420" y="2286000"/>
            <a:ext cx="18058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Reserved Instances</a:t>
            </a:r>
            <a:endParaRPr lang="en-US" sz="1500" dirty="0"/>
          </a:p>
        </p:txBody>
      </p:sp>
      <p:sp>
        <p:nvSpPr>
          <p:cNvPr id="48" name="Text 8"/>
          <p:cNvSpPr/>
          <p:nvPr/>
        </p:nvSpPr>
        <p:spPr>
          <a:xfrm>
            <a:off x="3810000" y="2933700"/>
            <a:ext cx="2149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Steady-state workloads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3810000" y="3276600"/>
            <a:ext cx="860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1-3 years</a:t>
            </a:r>
            <a:endParaRPr lang="en-US" sz="1200" dirty="0"/>
          </a:p>
        </p:txBody>
      </p:sp>
      <p:sp>
        <p:nvSpPr>
          <p:cNvPr id="50" name="Text 10"/>
          <p:cNvSpPr/>
          <p:nvPr/>
        </p:nvSpPr>
        <p:spPr>
          <a:xfrm>
            <a:off x="3581400" y="3657600"/>
            <a:ext cx="1377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 Potential</a:t>
            </a:r>
            <a:endParaRPr lang="en-US" sz="1050" dirty="0"/>
          </a:p>
        </p:txBody>
      </p:sp>
      <p:sp>
        <p:nvSpPr>
          <p:cNvPr id="51" name="Text 11"/>
          <p:cNvSpPr/>
          <p:nvPr/>
        </p:nvSpPr>
        <p:spPr>
          <a:xfrm>
            <a:off x="5131891" y="3657600"/>
            <a:ext cx="836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 to 72%</a:t>
            </a:r>
            <a:endParaRPr lang="en-US" sz="1050" dirty="0"/>
          </a:p>
        </p:txBody>
      </p:sp>
      <p:sp>
        <p:nvSpPr>
          <p:cNvPr id="52" name="Text 12"/>
          <p:cNvSpPr/>
          <p:nvPr/>
        </p:nvSpPr>
        <p:spPr>
          <a:xfrm>
            <a:off x="6858000" y="2343150"/>
            <a:ext cx="1787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 Plans</a:t>
            </a:r>
            <a:endParaRPr lang="en-US" sz="1500" dirty="0"/>
          </a:p>
        </p:txBody>
      </p:sp>
      <p:sp>
        <p:nvSpPr>
          <p:cNvPr id="53" name="Text 13"/>
          <p:cNvSpPr/>
          <p:nvPr/>
        </p:nvSpPr>
        <p:spPr>
          <a:xfrm>
            <a:off x="6591300" y="2781300"/>
            <a:ext cx="2146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Flexible instance usage</a:t>
            </a:r>
            <a:endParaRPr lang="en-US" sz="1200" dirty="0"/>
          </a:p>
        </p:txBody>
      </p:sp>
      <p:sp>
        <p:nvSpPr>
          <p:cNvPr id="54" name="Text 14"/>
          <p:cNvSpPr/>
          <p:nvPr/>
        </p:nvSpPr>
        <p:spPr>
          <a:xfrm>
            <a:off x="6591300" y="3124200"/>
            <a:ext cx="860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1-3 years</a:t>
            </a:r>
            <a:endParaRPr lang="en-US" sz="1200" dirty="0"/>
          </a:p>
        </p:txBody>
      </p:sp>
      <p:sp>
        <p:nvSpPr>
          <p:cNvPr id="55" name="Text 15"/>
          <p:cNvSpPr/>
          <p:nvPr/>
        </p:nvSpPr>
        <p:spPr>
          <a:xfrm>
            <a:off x="6362700" y="3505200"/>
            <a:ext cx="1377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 Potential</a:t>
            </a:r>
            <a:endParaRPr lang="en-US" sz="1050" dirty="0"/>
          </a:p>
        </p:txBody>
      </p:sp>
      <p:sp>
        <p:nvSpPr>
          <p:cNvPr id="56" name="Text 16"/>
          <p:cNvSpPr/>
          <p:nvPr/>
        </p:nvSpPr>
        <p:spPr>
          <a:xfrm>
            <a:off x="7913191" y="3505200"/>
            <a:ext cx="836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 to 72%</a:t>
            </a:r>
            <a:endParaRPr lang="en-US" sz="1050" dirty="0"/>
          </a:p>
        </p:txBody>
      </p:sp>
      <p:sp>
        <p:nvSpPr>
          <p:cNvPr id="57" name="Text 17"/>
          <p:cNvSpPr/>
          <p:nvPr/>
        </p:nvSpPr>
        <p:spPr>
          <a:xfrm>
            <a:off x="9639300" y="2343150"/>
            <a:ext cx="19109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Spot Instances</a:t>
            </a:r>
            <a:endParaRPr lang="en-US" sz="1500" dirty="0"/>
          </a:p>
        </p:txBody>
      </p:sp>
      <p:sp>
        <p:nvSpPr>
          <p:cNvPr id="58" name="Text 18"/>
          <p:cNvSpPr/>
          <p:nvPr/>
        </p:nvSpPr>
        <p:spPr>
          <a:xfrm>
            <a:off x="9372600" y="2781300"/>
            <a:ext cx="2213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Fault-tolerant workloads</a:t>
            </a:r>
            <a:endParaRPr lang="en-US" sz="1200" dirty="0"/>
          </a:p>
        </p:txBody>
      </p:sp>
      <p:sp>
        <p:nvSpPr>
          <p:cNvPr id="59" name="Text 19"/>
          <p:cNvSpPr/>
          <p:nvPr/>
        </p:nvSpPr>
        <p:spPr>
          <a:xfrm>
            <a:off x="9372600" y="3124200"/>
            <a:ext cx="1476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commitment</a:t>
            </a:r>
            <a:endParaRPr lang="en-US" sz="1200" dirty="0"/>
          </a:p>
        </p:txBody>
      </p:sp>
      <p:sp>
        <p:nvSpPr>
          <p:cNvPr id="60" name="Text 20"/>
          <p:cNvSpPr/>
          <p:nvPr/>
        </p:nvSpPr>
        <p:spPr>
          <a:xfrm>
            <a:off x="9144000" y="3505200"/>
            <a:ext cx="1377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Savings Potential</a:t>
            </a:r>
            <a:endParaRPr lang="en-US" sz="1050" dirty="0"/>
          </a:p>
        </p:txBody>
      </p:sp>
      <p:sp>
        <p:nvSpPr>
          <p:cNvPr id="61" name="Text 21"/>
          <p:cNvSpPr/>
          <p:nvPr/>
        </p:nvSpPr>
        <p:spPr>
          <a:xfrm>
            <a:off x="10694491" y="3505200"/>
            <a:ext cx="836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 to 90%</a:t>
            </a:r>
            <a:endParaRPr lang="en-US" sz="1050" dirty="0"/>
          </a:p>
        </p:txBody>
      </p:sp>
      <p:sp>
        <p:nvSpPr>
          <p:cNvPr id="62" name="Text 22"/>
          <p:cNvSpPr/>
          <p:nvPr/>
        </p:nvSpPr>
        <p:spPr>
          <a:xfrm>
            <a:off x="1057275" y="4591050"/>
            <a:ext cx="388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Considerations</a:t>
            </a:r>
            <a:endParaRPr lang="en-US" sz="1350" dirty="0"/>
          </a:p>
        </p:txBody>
      </p:sp>
      <p:sp>
        <p:nvSpPr>
          <p:cNvPr id="63" name="Text 23"/>
          <p:cNvSpPr/>
          <p:nvPr/>
        </p:nvSpPr>
        <p:spPr>
          <a:xfrm>
            <a:off x="1285875" y="4895850"/>
            <a:ext cx="3609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based on workload predictability</a:t>
            </a:r>
            <a:endParaRPr lang="en-US" sz="1200" dirty="0"/>
          </a:p>
        </p:txBody>
      </p:sp>
      <p:sp>
        <p:nvSpPr>
          <p:cNvPr id="64" name="Text 24"/>
          <p:cNvSpPr/>
          <p:nvPr/>
        </p:nvSpPr>
        <p:spPr>
          <a:xfrm>
            <a:off x="1285875" y="5162550"/>
            <a:ext cx="2865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 interruption tolerance</a:t>
            </a:r>
            <a:endParaRPr lang="en-US" sz="1200" dirty="0"/>
          </a:p>
        </p:txBody>
      </p:sp>
      <p:sp>
        <p:nvSpPr>
          <p:cNvPr id="65" name="Text 25"/>
          <p:cNvSpPr/>
          <p:nvPr/>
        </p:nvSpPr>
        <p:spPr>
          <a:xfrm>
            <a:off x="11282809" y="558165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909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96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865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5181600" cy="2400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6668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1051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409950"/>
            <a:ext cx="114300" cy="114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038600"/>
            <a:ext cx="5181600" cy="2057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953000"/>
            <a:ext cx="1968401" cy="914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4953000"/>
            <a:ext cx="1968401" cy="914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5675" y="523875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9525" y="523875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03375" y="5238750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0388" y="51054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4199" y="4953000"/>
            <a:ext cx="1968401" cy="914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94199" y="4953000"/>
            <a:ext cx="1312218" cy="914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06417" y="4953000"/>
            <a:ext cx="656034" cy="914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73600" y="5238750"/>
            <a:ext cx="285750" cy="3429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97450" y="5238750"/>
            <a:ext cx="285750" cy="342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1438275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1866900"/>
            <a:ext cx="5181600" cy="10287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3200" y="2019300"/>
            <a:ext cx="476250" cy="4762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77025" y="2105025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3048000"/>
            <a:ext cx="5181600" cy="10287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3200" y="3200400"/>
            <a:ext cx="476250" cy="4762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77025" y="3286125"/>
            <a:ext cx="228600" cy="304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00800" y="4229100"/>
            <a:ext cx="5181600" cy="10287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53200" y="4381500"/>
            <a:ext cx="476250" cy="4762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77025" y="4467225"/>
            <a:ext cx="228600" cy="3048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Rightsizing Resources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1143000" y="1638300"/>
            <a:ext cx="5669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What is Rightsizing?</a:t>
            </a:r>
            <a:endParaRPr lang="en-US" sz="1800" dirty="0"/>
          </a:p>
        </p:txBody>
      </p:sp>
      <p:sp>
        <p:nvSpPr>
          <p:cNvPr id="37" name="Text 2"/>
          <p:cNvSpPr/>
          <p:nvPr/>
        </p:nvSpPr>
        <p:spPr>
          <a:xfrm>
            <a:off x="838200" y="2095500"/>
            <a:ext cx="472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Provisioning compute resources to precisely match actual workload needs, avoiding the common pitfall of over-provisioning.</a:t>
            </a:r>
            <a:endParaRPr lang="en-US" sz="1350" dirty="0"/>
          </a:p>
        </p:txBody>
      </p:sp>
      <p:sp>
        <p:nvSpPr>
          <p:cNvPr id="38" name="Text 3"/>
          <p:cNvSpPr/>
          <p:nvPr/>
        </p:nvSpPr>
        <p:spPr>
          <a:xfrm>
            <a:off x="1028700" y="3048000"/>
            <a:ext cx="3255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waste from idle capacity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1028700" y="3352800"/>
            <a:ext cx="2912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unnecessary expenses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838200" y="42672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Rightsizing Benefits</a:t>
            </a:r>
            <a:endParaRPr lang="en-US" sz="1500" dirty="0"/>
          </a:p>
        </p:txBody>
      </p:sp>
      <p:sp>
        <p:nvSpPr>
          <p:cNvPr id="41" name="Text 6"/>
          <p:cNvSpPr/>
          <p:nvPr/>
        </p:nvSpPr>
        <p:spPr>
          <a:xfrm>
            <a:off x="641360" y="4648200"/>
            <a:ext cx="2362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Before Rightsizing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1758553" y="5676900"/>
            <a:ext cx="1166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Over-provisioned</a:t>
            </a:r>
            <a:endParaRPr lang="en-US" sz="900" dirty="0"/>
          </a:p>
        </p:txBody>
      </p:sp>
      <p:sp>
        <p:nvSpPr>
          <p:cNvPr id="43" name="Text 8"/>
          <p:cNvSpPr/>
          <p:nvPr/>
        </p:nvSpPr>
        <p:spPr>
          <a:xfrm>
            <a:off x="3397359" y="4648200"/>
            <a:ext cx="2362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 Rightsizing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4901208" y="5676900"/>
            <a:ext cx="7022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</a:t>
            </a:r>
            <a:endParaRPr lang="en-US" sz="900" dirty="0"/>
          </a:p>
        </p:txBody>
      </p:sp>
      <p:sp>
        <p:nvSpPr>
          <p:cNvPr id="45" name="Text 10"/>
          <p:cNvSpPr/>
          <p:nvPr/>
        </p:nvSpPr>
        <p:spPr>
          <a:xfrm>
            <a:off x="6705600" y="1409700"/>
            <a:ext cx="6217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Tools for Rightsizing</a:t>
            </a:r>
            <a:endParaRPr lang="en-US" sz="1800" dirty="0"/>
          </a:p>
        </p:txBody>
      </p:sp>
      <p:sp>
        <p:nvSpPr>
          <p:cNvPr id="46" name="Text 11"/>
          <p:cNvSpPr/>
          <p:nvPr/>
        </p:nvSpPr>
        <p:spPr>
          <a:xfrm>
            <a:off x="7181850" y="2019300"/>
            <a:ext cx="5097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Compute Optimizer</a:t>
            </a:r>
            <a:endParaRPr lang="en-US" sz="1500" dirty="0"/>
          </a:p>
        </p:txBody>
      </p:sp>
      <p:sp>
        <p:nvSpPr>
          <p:cNvPr id="47" name="Text 12"/>
          <p:cNvSpPr/>
          <p:nvPr/>
        </p:nvSpPr>
        <p:spPr>
          <a:xfrm>
            <a:off x="7181850" y="2286000"/>
            <a:ext cx="424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Analyzes configuration and utilization metrics to recommend optimal instance sizes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7181850" y="3200400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Explorer</a:t>
            </a:r>
            <a:endParaRPr lang="en-US" sz="1500" dirty="0"/>
          </a:p>
        </p:txBody>
      </p:sp>
      <p:sp>
        <p:nvSpPr>
          <p:cNvPr id="49" name="Text 14"/>
          <p:cNvSpPr/>
          <p:nvPr/>
        </p:nvSpPr>
        <p:spPr>
          <a:xfrm>
            <a:off x="7181850" y="3467100"/>
            <a:ext cx="424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underutilized EC2 instances through resource optimization reports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7181850" y="4381500"/>
            <a:ext cx="50977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Trusted Advisor</a:t>
            </a:r>
            <a:endParaRPr lang="en-US" sz="1500" dirty="0"/>
          </a:p>
        </p:txBody>
      </p:sp>
      <p:sp>
        <p:nvSpPr>
          <p:cNvPr id="51" name="Text 16"/>
          <p:cNvSpPr/>
          <p:nvPr/>
        </p:nvSpPr>
        <p:spPr>
          <a:xfrm>
            <a:off x="7181850" y="4648200"/>
            <a:ext cx="4248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recommendations for optimizing various AWS resources, including EC2 instances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11282809" y="60960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114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7620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010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3352800" cy="2819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457700"/>
            <a:ext cx="3352800" cy="2362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5105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56388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6172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1409700"/>
            <a:ext cx="3562350" cy="26098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1600200"/>
            <a:ext cx="536674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1737" y="17335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10100" y="2324100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0100" y="2857500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20050" y="1409700"/>
            <a:ext cx="3562350" cy="26098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10550" y="16002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3425" y="1733550"/>
            <a:ext cx="285750" cy="304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62950" y="2324100"/>
            <a:ext cx="762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2950" y="2857500"/>
            <a:ext cx="762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67200" y="4210050"/>
            <a:ext cx="3562350" cy="26098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57700" y="4400550"/>
            <a:ext cx="571500" cy="571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29150" y="4533900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10100" y="5124450"/>
            <a:ext cx="762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610100" y="5657850"/>
            <a:ext cx="762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20050" y="4210050"/>
            <a:ext cx="3562350" cy="26098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10550" y="4400550"/>
            <a:ext cx="437257" cy="5715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86304" y="4533900"/>
            <a:ext cx="285750" cy="304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62950" y="5124450"/>
            <a:ext cx="7620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62950" y="5657850"/>
            <a:ext cx="76200" cy="1524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Automating Elasticity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838200" y="1638300"/>
            <a:ext cx="289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Leveraging AWS Elasticity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838200" y="2400300"/>
            <a:ext cx="289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Automating elasticity allows you to dynamically scale compute capacity to align with real-time demand, ensuring optimal performance while minimizing costs.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838200" y="468630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38" name="Text 4"/>
          <p:cNvSpPr/>
          <p:nvPr/>
        </p:nvSpPr>
        <p:spPr>
          <a:xfrm>
            <a:off x="1104900" y="50673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 only for resources actually used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1104900" y="56007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 over-provisioning during low demand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1104900" y="6134100"/>
            <a:ext cx="262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sufficient capacity during peak times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5146774" y="1619250"/>
            <a:ext cx="24922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Auto Scaling Groups</a:t>
            </a:r>
            <a:endParaRPr lang="en-US" sz="1500" dirty="0"/>
          </a:p>
        </p:txBody>
      </p:sp>
      <p:sp>
        <p:nvSpPr>
          <p:cNvPr id="42" name="Text 8"/>
          <p:cNvSpPr/>
          <p:nvPr/>
        </p:nvSpPr>
        <p:spPr>
          <a:xfrm>
            <a:off x="4762500" y="228600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ASGs with fine-tuned scaling policies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4762500" y="281940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add or remove instances based on demand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8934450" y="1752600"/>
            <a:ext cx="27644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Mixed Instance Types</a:t>
            </a:r>
            <a:endParaRPr lang="en-US" sz="1500" dirty="0"/>
          </a:p>
        </p:txBody>
      </p:sp>
      <p:sp>
        <p:nvSpPr>
          <p:cNvPr id="45" name="Text 11"/>
          <p:cNvSpPr/>
          <p:nvPr/>
        </p:nvSpPr>
        <p:spPr>
          <a:xfrm>
            <a:off x="8515350" y="228600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Balance On-Demand instances for critical workloads</a:t>
            </a:r>
            <a:endParaRPr lang="en-US" sz="1200" dirty="0"/>
          </a:p>
        </p:txBody>
      </p:sp>
      <p:sp>
        <p:nvSpPr>
          <p:cNvPr id="46" name="Text 12"/>
          <p:cNvSpPr/>
          <p:nvPr/>
        </p:nvSpPr>
        <p:spPr>
          <a:xfrm>
            <a:off x="8515350" y="281940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Spot Instances for fault-tolerant tasks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5181600" y="4552950"/>
            <a:ext cx="2612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Workloads</a:t>
            </a:r>
            <a:endParaRPr lang="en-US" sz="1500" dirty="0"/>
          </a:p>
        </p:txBody>
      </p:sp>
      <p:sp>
        <p:nvSpPr>
          <p:cNvPr id="48" name="Text 14"/>
          <p:cNvSpPr/>
          <p:nvPr/>
        </p:nvSpPr>
        <p:spPr>
          <a:xfrm>
            <a:off x="4762500" y="508635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AWS Instance Scheduler to shut down non-production resources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4762500" y="561975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Schedule resources to run only during business hours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8800207" y="4419600"/>
            <a:ext cx="25916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Managed Services Auto-Scaling</a:t>
            </a:r>
            <a:endParaRPr lang="en-US" sz="1500" dirty="0"/>
          </a:p>
        </p:txBody>
      </p:sp>
      <p:sp>
        <p:nvSpPr>
          <p:cNvPr id="51" name="Text 17"/>
          <p:cNvSpPr/>
          <p:nvPr/>
        </p:nvSpPr>
        <p:spPr>
          <a:xfrm>
            <a:off x="8515350" y="508635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Apply auto-scaling to DynamoDB, ECS, RDS</a:t>
            </a:r>
            <a:endParaRPr lang="en-US" sz="1200" dirty="0"/>
          </a:p>
        </p:txBody>
      </p:sp>
      <p:sp>
        <p:nvSpPr>
          <p:cNvPr id="52" name="Text 18"/>
          <p:cNvSpPr/>
          <p:nvPr/>
        </p:nvSpPr>
        <p:spPr>
          <a:xfrm>
            <a:off x="8515350" y="5619750"/>
            <a:ext cx="2876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Extend to serverless architectures (Lambda concurrency)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11282809" y="68199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6195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7124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151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33500"/>
            <a:ext cx="5257800" cy="2400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5525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19812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552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124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924300"/>
            <a:ext cx="5257800" cy="2400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143375"/>
            <a:ext cx="200025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5720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1435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57150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333500"/>
            <a:ext cx="5257800" cy="4991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1981200"/>
            <a:ext cx="24765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2514600"/>
            <a:ext cx="2031950" cy="1066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2876550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53339" y="2895600"/>
            <a:ext cx="200025" cy="304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59801" y="2514600"/>
            <a:ext cx="2031950" cy="1066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74101" y="29718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66399" y="3733800"/>
            <a:ext cx="1625501" cy="6477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42599" y="3981450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4648200"/>
            <a:ext cx="361950" cy="3429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27912" y="5143500"/>
            <a:ext cx="381000" cy="3810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1262" y="5257800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09012" y="5372100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31610" y="51435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26860" y="5257800"/>
            <a:ext cx="190500" cy="1524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102007" y="5372100"/>
            <a:ext cx="133350" cy="1524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966698" y="5143500"/>
            <a:ext cx="381000" cy="3810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080998" y="525780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9600" y="6343650"/>
            <a:ext cx="104775" cy="13335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Storage and Data Optimization: Smart Tiering</a:t>
            </a:r>
            <a:endParaRPr lang="en-US" sz="2700" dirty="0"/>
          </a:p>
        </p:txBody>
      </p:sp>
      <p:sp>
        <p:nvSpPr>
          <p:cNvPr id="39" name="Text 1"/>
          <p:cNvSpPr/>
          <p:nvPr/>
        </p:nvSpPr>
        <p:spPr>
          <a:xfrm>
            <a:off x="1104900" y="1524000"/>
            <a:ext cx="5852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S3 Intelligent-Tiering</a:t>
            </a:r>
            <a:endParaRPr lang="en-US" sz="1800" dirty="0"/>
          </a:p>
        </p:txBody>
      </p:sp>
      <p:sp>
        <p:nvSpPr>
          <p:cNvPr id="40" name="Text 2"/>
          <p:cNvSpPr/>
          <p:nvPr/>
        </p:nvSpPr>
        <p:spPr>
          <a:xfrm>
            <a:off x="1066800" y="19431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moves objects between two access tiers based on changing access patterns</a:t>
            </a:r>
            <a:endParaRPr lang="en-US" sz="1200" dirty="0"/>
          </a:p>
        </p:txBody>
      </p:sp>
      <p:sp>
        <p:nvSpPr>
          <p:cNvPr id="41" name="Text 3"/>
          <p:cNvSpPr/>
          <p:nvPr/>
        </p:nvSpPr>
        <p:spPr>
          <a:xfrm>
            <a:off x="1066800" y="25146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transition between frequent and infrequent access without performance impact</a:t>
            </a:r>
            <a:endParaRPr lang="en-US" sz="1200" dirty="0"/>
          </a:p>
        </p:txBody>
      </p:sp>
      <p:sp>
        <p:nvSpPr>
          <p:cNvPr id="42" name="Text 4"/>
          <p:cNvSpPr/>
          <p:nvPr/>
        </p:nvSpPr>
        <p:spPr>
          <a:xfrm>
            <a:off x="1066800" y="30861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automatically move rarely accessed data to archive access tiers</a:t>
            </a:r>
            <a:endParaRPr lang="en-US" sz="1200" dirty="0"/>
          </a:p>
        </p:txBody>
      </p:sp>
      <p:sp>
        <p:nvSpPr>
          <p:cNvPr id="43" name="Text 5"/>
          <p:cNvSpPr/>
          <p:nvPr/>
        </p:nvSpPr>
        <p:spPr>
          <a:xfrm>
            <a:off x="1076325" y="4114800"/>
            <a:ext cx="5852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S3 Lifecycle Policies</a:t>
            </a:r>
            <a:endParaRPr lang="en-US" sz="1800" dirty="0"/>
          </a:p>
        </p:txBody>
      </p:sp>
      <p:sp>
        <p:nvSpPr>
          <p:cNvPr id="44" name="Text 6"/>
          <p:cNvSpPr/>
          <p:nvPr/>
        </p:nvSpPr>
        <p:spPr>
          <a:xfrm>
            <a:off x="1066800" y="45339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rules to automatically transition objects to different storage classes</a:t>
            </a:r>
            <a:endParaRPr lang="en-US" sz="1200" dirty="0"/>
          </a:p>
        </p:txBody>
      </p:sp>
      <p:sp>
        <p:nvSpPr>
          <p:cNvPr id="45" name="Text 7"/>
          <p:cNvSpPr/>
          <p:nvPr/>
        </p:nvSpPr>
        <p:spPr>
          <a:xfrm>
            <a:off x="1066800" y="51054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automatic expiration of objects after a specified period</a:t>
            </a:r>
            <a:endParaRPr lang="en-US" sz="1200" dirty="0"/>
          </a:p>
        </p:txBody>
      </p:sp>
      <p:sp>
        <p:nvSpPr>
          <p:cNvPr id="46" name="Text 8"/>
          <p:cNvSpPr/>
          <p:nvPr/>
        </p:nvSpPr>
        <p:spPr>
          <a:xfrm>
            <a:off x="1066800" y="5676900"/>
            <a:ext cx="461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data is stored in the most cost-effective tier throughout its lifecycle</a:t>
            </a:r>
            <a:endParaRPr lang="en-US" sz="1200" dirty="0"/>
          </a:p>
        </p:txBody>
      </p:sp>
      <p:sp>
        <p:nvSpPr>
          <p:cNvPr id="47" name="Text 9"/>
          <p:cNvSpPr/>
          <p:nvPr/>
        </p:nvSpPr>
        <p:spPr>
          <a:xfrm>
            <a:off x="6515100" y="1524000"/>
            <a:ext cx="5852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Smart Tiering Works</a:t>
            </a:r>
            <a:endParaRPr lang="en-US" sz="1500" dirty="0"/>
          </a:p>
        </p:txBody>
      </p:sp>
      <p:sp>
        <p:nvSpPr>
          <p:cNvPr id="48" name="Text 10"/>
          <p:cNvSpPr/>
          <p:nvPr/>
        </p:nvSpPr>
        <p:spPr>
          <a:xfrm>
            <a:off x="6877050" y="1943100"/>
            <a:ext cx="3486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S3 Intelligent-Tiering</a:t>
            </a:r>
            <a:endParaRPr lang="en-US" sz="1200" dirty="0"/>
          </a:p>
        </p:txBody>
      </p:sp>
      <p:sp>
        <p:nvSpPr>
          <p:cNvPr id="49" name="Text 11"/>
          <p:cNvSpPr/>
          <p:nvPr/>
        </p:nvSpPr>
        <p:spPr>
          <a:xfrm>
            <a:off x="6877050" y="2171700"/>
            <a:ext cx="34868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tiering based on access patterns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6819900" y="2628900"/>
            <a:ext cx="161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Frequent Access Tier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6819900" y="3086100"/>
            <a:ext cx="1935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IOPS, low latency</a:t>
            </a:r>
            <a:endParaRPr lang="en-US" sz="1050" dirty="0"/>
          </a:p>
        </p:txBody>
      </p:sp>
      <p:sp>
        <p:nvSpPr>
          <p:cNvPr id="52" name="Text 14"/>
          <p:cNvSpPr/>
          <p:nvPr/>
        </p:nvSpPr>
        <p:spPr>
          <a:xfrm>
            <a:off x="9702701" y="2628900"/>
            <a:ext cx="157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Infrequent Access Tier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9702701" y="3086100"/>
            <a:ext cx="157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cost, higher retrieval latency</a:t>
            </a:r>
            <a:endParaRPr lang="en-US" sz="1050" dirty="0"/>
          </a:p>
        </p:txBody>
      </p:sp>
      <p:sp>
        <p:nvSpPr>
          <p:cNvPr id="54" name="Text 16"/>
          <p:cNvSpPr/>
          <p:nvPr/>
        </p:nvSpPr>
        <p:spPr>
          <a:xfrm>
            <a:off x="10109299" y="3810000"/>
            <a:ext cx="14476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Archive Tier</a:t>
            </a:r>
            <a:endParaRPr lang="en-US" sz="1050" dirty="0"/>
          </a:p>
        </p:txBody>
      </p:sp>
      <p:sp>
        <p:nvSpPr>
          <p:cNvPr id="55" name="Text 17"/>
          <p:cNvSpPr/>
          <p:nvPr/>
        </p:nvSpPr>
        <p:spPr>
          <a:xfrm>
            <a:off x="10109299" y="4000500"/>
            <a:ext cx="1206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cost, highest retrieval latency</a:t>
            </a:r>
            <a:endParaRPr lang="en-US" sz="900" dirty="0"/>
          </a:p>
        </p:txBody>
      </p:sp>
      <p:sp>
        <p:nvSpPr>
          <p:cNvPr id="56" name="Text 18"/>
          <p:cNvSpPr/>
          <p:nvPr/>
        </p:nvSpPr>
        <p:spPr>
          <a:xfrm>
            <a:off x="6991350" y="4610100"/>
            <a:ext cx="2790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S3 Lifecycle Policies</a:t>
            </a:r>
            <a:endParaRPr lang="en-US" sz="1200" dirty="0"/>
          </a:p>
        </p:txBody>
      </p:sp>
      <p:sp>
        <p:nvSpPr>
          <p:cNvPr id="57" name="Text 19"/>
          <p:cNvSpPr/>
          <p:nvPr/>
        </p:nvSpPr>
        <p:spPr>
          <a:xfrm>
            <a:off x="6991350" y="4838700"/>
            <a:ext cx="279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storage class transitions</a:t>
            </a:r>
            <a:endParaRPr lang="en-US" sz="1050" dirty="0"/>
          </a:p>
        </p:txBody>
      </p:sp>
      <p:sp>
        <p:nvSpPr>
          <p:cNvPr id="58" name="Text 20"/>
          <p:cNvSpPr/>
          <p:nvPr/>
        </p:nvSpPr>
        <p:spPr>
          <a:xfrm>
            <a:off x="6515100" y="5562600"/>
            <a:ext cx="7281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</a:t>
            </a:r>
            <a:endParaRPr lang="en-US" sz="1050" dirty="0"/>
          </a:p>
        </p:txBody>
      </p:sp>
      <p:sp>
        <p:nvSpPr>
          <p:cNvPr id="59" name="Text 21"/>
          <p:cNvSpPr/>
          <p:nvPr/>
        </p:nvSpPr>
        <p:spPr>
          <a:xfrm>
            <a:off x="8629501" y="5562600"/>
            <a:ext cx="9424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Standard-IA</a:t>
            </a:r>
            <a:endParaRPr lang="en-US" sz="1050" dirty="0"/>
          </a:p>
        </p:txBody>
      </p:sp>
      <p:sp>
        <p:nvSpPr>
          <p:cNvPr id="60" name="Text 22"/>
          <p:cNvSpPr/>
          <p:nvPr/>
        </p:nvSpPr>
        <p:spPr>
          <a:xfrm>
            <a:off x="10922496" y="5562600"/>
            <a:ext cx="563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Glacier</a:t>
            </a:r>
            <a:endParaRPr lang="en-US" sz="1050" dirty="0"/>
          </a:p>
        </p:txBody>
      </p:sp>
      <p:sp>
        <p:nvSpPr>
          <p:cNvPr id="61" name="Text 23"/>
          <p:cNvSpPr/>
          <p:nvPr/>
        </p:nvSpPr>
        <p:spPr>
          <a:xfrm>
            <a:off x="752475" y="6324600"/>
            <a:ext cx="67858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 Tip: Combine Intelligent-Tiering with Lifecycle Policies for optimal cost savings</a:t>
            </a:r>
            <a:endParaRPr lang="en-US" sz="1050" dirty="0"/>
          </a:p>
        </p:txBody>
      </p:sp>
      <p:sp>
        <p:nvSpPr>
          <p:cNvPr id="62" name="Text 24"/>
          <p:cNvSpPr/>
          <p:nvPr/>
        </p:nvSpPr>
        <p:spPr>
          <a:xfrm>
            <a:off x="11282809" y="63246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543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0386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7543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9342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95500"/>
            <a:ext cx="5372100" cy="1371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2479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2333625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0650" y="3124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619500"/>
            <a:ext cx="5372100" cy="1371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7719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385762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0650" y="46482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143500"/>
            <a:ext cx="5372100" cy="1600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2959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" y="5381625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90650" y="6400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2800350"/>
            <a:ext cx="5372100" cy="3238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3448050"/>
            <a:ext cx="4762500" cy="1143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481965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43675" y="4895850"/>
            <a:ext cx="952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72550" y="481965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39225" y="489585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38900" y="53911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54673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72550" y="53911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39225" y="5467350"/>
            <a:ext cx="17145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Reducing Data Transfer Fees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609600" y="13335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transfer costs, especially for egress to the internet or between regions, can accumulate rapidly. Strategic approaches can significantly mitigate these expenses.</a:t>
            </a:r>
            <a:endParaRPr lang="en-US" sz="1350" dirty="0"/>
          </a:p>
        </p:txBody>
      </p:sp>
      <p:sp>
        <p:nvSpPr>
          <p:cNvPr id="33" name="Text 2"/>
          <p:cNvSpPr/>
          <p:nvPr/>
        </p:nvSpPr>
        <p:spPr>
          <a:xfrm>
            <a:off x="1390650" y="2247900"/>
            <a:ext cx="5326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CloudFront (CDN)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1390650" y="2552700"/>
            <a:ext cx="4438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Caches content at edge locations globally, reducing the amount of data transferred directly from origin servers.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1619250" y="3086100"/>
            <a:ext cx="3008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content delivery speed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390650" y="37719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 Endpoints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1390650" y="4076700"/>
            <a:ext cx="4438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traffic to remain within the AWS network, bypassing the internet gateway and NAT Gateway.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619250" y="4610100"/>
            <a:ext cx="2986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data transfer charges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390650" y="52959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Data Paths</a:t>
            </a:r>
            <a:endParaRPr lang="en-US" sz="1500" dirty="0"/>
          </a:p>
        </p:txBody>
      </p:sp>
      <p:sp>
        <p:nvSpPr>
          <p:cNvPr id="40" name="Text 9"/>
          <p:cNvSpPr/>
          <p:nvPr/>
        </p:nvSpPr>
        <p:spPr>
          <a:xfrm>
            <a:off x="1390650" y="5600700"/>
            <a:ext cx="4438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data flow patterns and redesign application architectures to minimize cross-region and public internet egress traffic.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1619250" y="6362700"/>
            <a:ext cx="3408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Consolidate workloads within regions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6438900" y="3028950"/>
            <a:ext cx="5897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Transfer Cost Comparison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6858000" y="4819650"/>
            <a:ext cx="1960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Costs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6858000" y="5048250"/>
            <a:ext cx="19609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data transfer fees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9391650" y="4819650"/>
            <a:ext cx="2085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Performance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9391650" y="5048250"/>
            <a:ext cx="20850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content delivery</a:t>
            </a:r>
            <a:endParaRPr lang="en-US" sz="1050" dirty="0"/>
          </a:p>
        </p:txBody>
      </p:sp>
      <p:sp>
        <p:nvSpPr>
          <p:cNvPr id="47" name="Text 16"/>
          <p:cNvSpPr/>
          <p:nvPr/>
        </p:nvSpPr>
        <p:spPr>
          <a:xfrm>
            <a:off x="6858000" y="5391150"/>
            <a:ext cx="2277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858000" y="5619750"/>
            <a:ext cx="22779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Limited exposure to internet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9391650" y="5391150"/>
            <a:ext cx="2140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 Architecture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9391650" y="5619750"/>
            <a:ext cx="21409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resource placement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11282809" y="67437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009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6957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7200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913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3352800" cy="2667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305300"/>
            <a:ext cx="3352800" cy="1790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914900"/>
            <a:ext cx="123825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52578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56007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1409700"/>
            <a:ext cx="3581400" cy="2400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16002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9150" y="17335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81600" y="335280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0" y="1409700"/>
            <a:ext cx="3581400" cy="2400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1500" y="16002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2950" y="173355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15400" y="33147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3962400"/>
            <a:ext cx="3581400" cy="2438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57700" y="41529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00575" y="428625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81600" y="554355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0" y="3962400"/>
            <a:ext cx="3581400" cy="2438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1500" y="41529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34375" y="4286250"/>
            <a:ext cx="285750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5400" y="603885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6419850"/>
            <a:ext cx="133350" cy="1333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Cleanup Unused Resources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838200" y="1638300"/>
            <a:ext cx="3474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838200" y="2095500"/>
            <a:ext cx="2895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Orphaned or unattached resources continue to incur costs without providing any value.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838200" y="3048000"/>
            <a:ext cx="2895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identification and deletion of these resources are essential for cost savings.</a:t>
            </a:r>
            <a:endParaRPr lang="en-US" sz="1350" dirty="0"/>
          </a:p>
        </p:txBody>
      </p:sp>
      <p:sp>
        <p:nvSpPr>
          <p:cNvPr id="35" name="Text 4"/>
          <p:cNvSpPr/>
          <p:nvPr/>
        </p:nvSpPr>
        <p:spPr>
          <a:xfrm>
            <a:off x="838200" y="4533900"/>
            <a:ext cx="3474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1076325" y="4933950"/>
            <a:ext cx="2953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unnecessary charges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1143000" y="5276850"/>
            <a:ext cx="2979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resource management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1143000" y="5619750"/>
            <a:ext cx="245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account security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5181600" y="16002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Unattached EBS Volumes</a:t>
            </a:r>
            <a:endParaRPr lang="en-US" sz="1500" dirty="0"/>
          </a:p>
        </p:txBody>
      </p:sp>
      <p:sp>
        <p:nvSpPr>
          <p:cNvPr id="40" name="Text 9"/>
          <p:cNvSpPr/>
          <p:nvPr/>
        </p:nvSpPr>
        <p:spPr>
          <a:xfrm>
            <a:off x="5181600" y="220980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Block storage volumes that are no longer connected to an EC2 instance continue to incur charges.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5372100" y="32385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Regularly review and delete unused volumes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8915400" y="1600200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Old Snapshots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8915400" y="194310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EBS snapshots and RDS snapshots can accumulate over time, especially if retention policies are not strictly enforced.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9105900" y="320040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snapshot lifecycle management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5181600" y="4152900"/>
            <a:ext cx="297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Idle Elastic IPs</a:t>
            </a:r>
            <a:endParaRPr lang="en-US" sz="1500" dirty="0"/>
          </a:p>
        </p:txBody>
      </p:sp>
      <p:sp>
        <p:nvSpPr>
          <p:cNvPr id="46" name="Text 15"/>
          <p:cNvSpPr/>
          <p:nvPr/>
        </p:nvSpPr>
        <p:spPr>
          <a:xfrm>
            <a:off x="5181600" y="4495800"/>
            <a:ext cx="2476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Elastic IP addresses that are not associated with a running EC2 instance or network interface incur a small hourly charge.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5372100" y="5524500"/>
            <a:ext cx="211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Release unused Elastic IPs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8915400" y="4152900"/>
            <a:ext cx="2476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Unused Load Balancers</a:t>
            </a:r>
            <a:endParaRPr lang="en-US" sz="1500" dirty="0"/>
          </a:p>
        </p:txBody>
      </p:sp>
      <p:sp>
        <p:nvSpPr>
          <p:cNvPr id="49" name="Text 18"/>
          <p:cNvSpPr/>
          <p:nvPr/>
        </p:nvSpPr>
        <p:spPr>
          <a:xfrm>
            <a:off x="8915400" y="476250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 Load Balancers (ALBs) and Network Load Balancers (NLBs) that are no longer routing traffic should be removed.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9105900" y="6019800"/>
            <a:ext cx="2270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 up idle load balancers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781050" y="6400800"/>
            <a:ext cx="55289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Regular cleanup should be part of your cost optimization strategy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11197977" y="6400800"/>
            <a:ext cx="461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457575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962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53175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71700"/>
            <a:ext cx="3505200" cy="3124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400300"/>
            <a:ext cx="466279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290" y="253365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2004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7719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1148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4686300"/>
            <a:ext cx="3048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8768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2171700"/>
            <a:ext cx="3505200" cy="3124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2400300"/>
            <a:ext cx="581471" cy="609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0736" y="2533650"/>
            <a:ext cx="323850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0" y="3200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0" y="37719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0" y="41148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0" y="4686300"/>
            <a:ext cx="3048000" cy="381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0" y="48768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77200" y="2171700"/>
            <a:ext cx="3505200" cy="31242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05800" y="2400300"/>
            <a:ext cx="547688" cy="609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55819" y="2533650"/>
            <a:ext cx="247650" cy="3429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32004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05800" y="37719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5800" y="43434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5800" y="4686300"/>
            <a:ext cx="3048000" cy="3810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05800" y="4876800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9600" y="5524500"/>
            <a:ext cx="10972800" cy="6096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2000" y="5676900"/>
            <a:ext cx="171450" cy="3048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Leveraging Managed Services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609600" y="14097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Adopting managed services reduces operational overhead and leads to substantial cost savings through pay-per-use pricing models.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1456879" y="2400300"/>
            <a:ext cx="242932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Architectures</a:t>
            </a:r>
            <a:endParaRPr lang="en-US" sz="1800" dirty="0"/>
          </a:p>
        </p:txBody>
      </p:sp>
      <p:sp>
        <p:nvSpPr>
          <p:cNvPr id="38" name="Text 3"/>
          <p:cNvSpPr/>
          <p:nvPr/>
        </p:nvSpPr>
        <p:spPr>
          <a:xfrm>
            <a:off x="1104900" y="31623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Pay-per-use: only pay for compute time consumed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1104900" y="3733800"/>
            <a:ext cx="29167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costs for idle servers</a:t>
            </a:r>
            <a:endParaRPr lang="en-US" sz="1200" dirty="0"/>
          </a:p>
        </p:txBody>
      </p:sp>
      <p:sp>
        <p:nvSpPr>
          <p:cNvPr id="40" name="Text 5"/>
          <p:cNvSpPr/>
          <p:nvPr/>
        </p:nvSpPr>
        <p:spPr>
          <a:xfrm>
            <a:off x="1104900" y="4076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Highly cost-effective for event-driven workloads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1028700" y="4838700"/>
            <a:ext cx="21197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 AWS Lambda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5305871" y="2400300"/>
            <a:ext cx="23141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Container Services</a:t>
            </a:r>
            <a:endParaRPr lang="en-US" sz="1800" dirty="0"/>
          </a:p>
        </p:txBody>
      </p:sp>
      <p:sp>
        <p:nvSpPr>
          <p:cNvPr id="43" name="Text 8"/>
          <p:cNvSpPr/>
          <p:nvPr/>
        </p:nvSpPr>
        <p:spPr>
          <a:xfrm>
            <a:off x="4838700" y="31623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containers without provisioning servers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4838700" y="3733800"/>
            <a:ext cx="30705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administrative overhead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4838700" y="4076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cost-efficient than managing EC2 instances</a:t>
            </a: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4762500" y="4838700"/>
            <a:ext cx="2068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 AWS Fargate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9005888" y="2400300"/>
            <a:ext cx="23479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Managed Databases</a:t>
            </a:r>
            <a:endParaRPr lang="en-US" sz="1800" dirty="0"/>
          </a:p>
        </p:txBody>
      </p:sp>
      <p:sp>
        <p:nvSpPr>
          <p:cNvPr id="48" name="Text 13"/>
          <p:cNvSpPr/>
          <p:nvPr/>
        </p:nvSpPr>
        <p:spPr>
          <a:xfrm>
            <a:off x="8572500" y="31623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database administration costs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8572500" y="37338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Handles patching, backups, and maintenance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8572500" y="4305300"/>
            <a:ext cx="2378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Pay-per-use pricing model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8496300" y="4838700"/>
            <a:ext cx="2321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 Amazon Aurora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1047750" y="5715000"/>
            <a:ext cx="10173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Managed services eliminate costs associated with idle compute and infrastructure maintenance.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11197977" y="6134100"/>
            <a:ext cx="461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11/13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14500"/>
            <a:ext cx="6278761" cy="800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8669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1971675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667000"/>
            <a:ext cx="6278761" cy="800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8194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" y="2924175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619500"/>
            <a:ext cx="6278761" cy="800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7719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75" y="3876675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8882" y="1714500"/>
            <a:ext cx="2857500" cy="2857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93161" y="4724400"/>
            <a:ext cx="4389090" cy="1181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561" y="52578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5561" y="5562600"/>
            <a:ext cx="1524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Improvement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09600" y="11811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is an ongoing process</a:t>
            </a:r>
            <a:endParaRPr lang="en-US" sz="1200" dirty="0"/>
          </a:p>
        </p:txBody>
      </p:sp>
      <p:sp>
        <p:nvSpPr>
          <p:cNvPr id="24" name="Text 2"/>
          <p:cNvSpPr/>
          <p:nvPr/>
        </p:nvSpPr>
        <p:spPr>
          <a:xfrm>
            <a:off x="1390650" y="1866900"/>
            <a:ext cx="3868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Reviews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390650" y="2133600"/>
            <a:ext cx="4642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Trusted Advisor and Cost Optimization Hub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390650" y="2819400"/>
            <a:ext cx="3799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Newer Instance Generations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1390650" y="3086100"/>
            <a:ext cx="3799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Migrate to AWS Graviton-based instances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390650" y="3771900"/>
            <a:ext cx="4671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Lifecycle Policies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390650" y="4038600"/>
            <a:ext cx="467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automated storage and backup policies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345561" y="4876800"/>
            <a:ext cx="4084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Cultural Approach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7612261" y="5219700"/>
            <a:ext cx="4148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cost optimization into development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574161" y="5524500"/>
            <a:ext cx="29192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AI-driven optimization tools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09600" y="5905500"/>
            <a:ext cx="2608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Best Practices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11197977" y="5905500"/>
            <a:ext cx="461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2438400" cy="2438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24000"/>
            <a:ext cx="3048000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352800"/>
            <a:ext cx="2743200" cy="2743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620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33500"/>
            <a:ext cx="3886200" cy="13461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4859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1590675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1333500"/>
            <a:ext cx="3886200" cy="13461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14859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9663" y="1590675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2832050"/>
            <a:ext cx="3886200" cy="13461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298445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3089225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48200" y="2832050"/>
            <a:ext cx="3886200" cy="13461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00600" y="2984450"/>
            <a:ext cx="476250" cy="4762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43475" y="3089225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4330601"/>
            <a:ext cx="3886200" cy="134629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4483001"/>
            <a:ext cx="476250" cy="4762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1063" y="4587776"/>
            <a:ext cx="238125" cy="2667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48200" y="4330601"/>
            <a:ext cx="3886200" cy="1346299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00600" y="4483001"/>
            <a:ext cx="476250" cy="4762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43475" y="4587776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48800" y="1333500"/>
            <a:ext cx="1524000" cy="15240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53625" y="1866900"/>
            <a:ext cx="514350" cy="457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839200" y="4114800"/>
            <a:ext cx="2743200" cy="15621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91600" y="4314825"/>
            <a:ext cx="133350" cy="1714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352550" y="1590675"/>
            <a:ext cx="2890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Visibility &amp; Monitoring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762000" y="203835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AWS Cost Explorer, Budgets, and CUR. Implement robust tagging for cost allocation.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5391150" y="1590675"/>
            <a:ext cx="3457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Rightsizing &amp; Optimization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4800600" y="203835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 resources to workload needs. Use AWS Compute Optimizer and Trusted Advisor.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352550" y="3089225"/>
            <a:ext cx="1896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Models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762000" y="353690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On-Demand, RIs, Savings Plans, or Spot Instances based on workload needs.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5391150" y="3089225"/>
            <a:ext cx="3049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 &amp; Elasticity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4800600" y="3536900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Auto Scaling. Schedule non-production resources to reduce costs.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1352550" y="4587776"/>
            <a:ext cx="1851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Modernization</a:t>
            </a:r>
            <a:endParaRPr lang="en-US" sz="1500" dirty="0"/>
          </a:p>
        </p:txBody>
      </p:sp>
      <p:sp>
        <p:nvSpPr>
          <p:cNvPr id="41" name="Text 10"/>
          <p:cNvSpPr/>
          <p:nvPr/>
        </p:nvSpPr>
        <p:spPr>
          <a:xfrm>
            <a:off x="762000" y="5035451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Adopt managed services and serverless architectures for reduced overhead.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5391150" y="4587776"/>
            <a:ext cx="1531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4800600" y="5035451"/>
            <a:ext cx="358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cost optimization into development processes. Review regularly.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9162455" y="3086100"/>
            <a:ext cx="2096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Maximize ROI</a:t>
            </a:r>
            <a:endParaRPr lang="en-US" sz="1800" dirty="0"/>
          </a:p>
        </p:txBody>
      </p:sp>
      <p:sp>
        <p:nvSpPr>
          <p:cNvPr id="45" name="Text 14"/>
          <p:cNvSpPr/>
          <p:nvPr/>
        </p:nvSpPr>
        <p:spPr>
          <a:xfrm>
            <a:off x="8839200" y="3505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is a continuous journey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9201150" y="4267200"/>
            <a:ext cx="2926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Thought</a:t>
            </a:r>
            <a:endParaRPr lang="en-US" sz="1350" dirty="0"/>
          </a:p>
        </p:txBody>
      </p:sp>
      <p:sp>
        <p:nvSpPr>
          <p:cNvPr id="47" name="Text 16"/>
          <p:cNvSpPr/>
          <p:nvPr/>
        </p:nvSpPr>
        <p:spPr>
          <a:xfrm>
            <a:off x="8991600" y="461010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Effective cost optimization enhances operational efficiency while ensuring sustainable cloud growth.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09600" y="5676900"/>
            <a:ext cx="263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© 2025 Cloud Cost Management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1197977" y="5676900"/>
            <a:ext cx="461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2025-10-29T06:58:50Z</dcterms:created>
  <dcterms:modified xsi:type="dcterms:W3CDTF">2025-10-29T06:58:50Z</dcterms:modified>
</cp:coreProperties>
</file>