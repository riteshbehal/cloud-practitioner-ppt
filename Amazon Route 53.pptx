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5" r:id="rId6"/>
    <p:sldId id="273" r:id="rId7"/>
    <p:sldId id="274" r:id="rId8"/>
    <p:sldId id="267" r:id="rId9"/>
    <p:sldId id="275" r:id="rId10"/>
    <p:sldId id="277" r:id="rId11"/>
    <p:sldId id="276" r:id="rId12"/>
    <p:sldId id="278" r:id="rId13"/>
    <p:sldId id="279" r:id="rId14"/>
    <p:sldId id="261" r:id="rId15"/>
    <p:sldId id="280" r:id="rId16"/>
    <p:sldId id="281" r:id="rId17"/>
    <p:sldId id="282" r:id="rId18"/>
    <p:sldId id="260" r:id="rId19"/>
    <p:sldId id="283" r:id="rId20"/>
    <p:sldId id="262" r:id="rId21"/>
    <p:sldId id="285" r:id="rId22"/>
    <p:sldId id="266" r:id="rId23"/>
    <p:sldId id="263" r:id="rId24"/>
  </p:sldIdLst>
  <p:sldSz cx="118792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35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578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3647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763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1388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2505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3089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732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8392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9519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8518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8219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249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50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5.png"/><Relationship Id="rId3" Type="http://schemas.openxmlformats.org/officeDocument/2006/relationships/image" Target="../media/image25.png"/><Relationship Id="rId21" Type="http://schemas.openxmlformats.org/officeDocument/2006/relationships/image" Target="../media/image41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6.png"/><Relationship Id="rId9" Type="http://schemas.openxmlformats.org/officeDocument/2006/relationships/image" Target="../media/image14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image" Target="../media/image46.png"/><Relationship Id="rId21" Type="http://schemas.openxmlformats.org/officeDocument/2006/relationships/image" Target="../media/image59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29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11" Type="http://schemas.openxmlformats.org/officeDocument/2006/relationships/image" Target="../media/image49.png"/><Relationship Id="rId24" Type="http://schemas.openxmlformats.org/officeDocument/2006/relationships/image" Target="../media/image62.png"/><Relationship Id="rId5" Type="http://schemas.openxmlformats.org/officeDocument/2006/relationships/image" Target="../media/image27.png"/><Relationship Id="rId15" Type="http://schemas.openxmlformats.org/officeDocument/2006/relationships/image" Target="../media/image53.png"/><Relationship Id="rId23" Type="http://schemas.openxmlformats.org/officeDocument/2006/relationships/image" Target="../media/image61.png"/><Relationship Id="rId28" Type="http://schemas.openxmlformats.org/officeDocument/2006/relationships/image" Target="../media/image7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26.png"/><Relationship Id="rId9" Type="http://schemas.openxmlformats.org/officeDocument/2006/relationships/image" Target="../media/image14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" Type="http://schemas.openxmlformats.org/officeDocument/2006/relationships/image" Target="../media/image46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33" Type="http://schemas.openxmlformats.org/officeDocument/2006/relationships/image" Target="../media/image9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32" Type="http://schemas.openxmlformats.org/officeDocument/2006/relationships/image" Target="../media/image95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31" Type="http://schemas.openxmlformats.org/officeDocument/2006/relationships/image" Target="../media/image94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8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4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114.png"/><Relationship Id="rId21" Type="http://schemas.openxmlformats.org/officeDocument/2006/relationships/image" Target="../media/image132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5" Type="http://schemas.openxmlformats.org/officeDocument/2006/relationships/image" Target="../media/image13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24" Type="http://schemas.openxmlformats.org/officeDocument/2006/relationships/image" Target="../media/image135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23" Type="http://schemas.openxmlformats.org/officeDocument/2006/relationships/image" Target="../media/image134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77.png"/><Relationship Id="rId18" Type="http://schemas.openxmlformats.org/officeDocument/2006/relationships/image" Target="../media/image83.png"/><Relationship Id="rId26" Type="http://schemas.openxmlformats.org/officeDocument/2006/relationships/image" Target="../media/image151.png"/><Relationship Id="rId3" Type="http://schemas.openxmlformats.org/officeDocument/2006/relationships/image" Target="../media/image46.png"/><Relationship Id="rId21" Type="http://schemas.openxmlformats.org/officeDocument/2006/relationships/image" Target="../media/image146.png"/><Relationship Id="rId7" Type="http://schemas.openxmlformats.org/officeDocument/2006/relationships/image" Target="../media/image138.png"/><Relationship Id="rId12" Type="http://schemas.openxmlformats.org/officeDocument/2006/relationships/image" Target="../media/image76.png"/><Relationship Id="rId17" Type="http://schemas.openxmlformats.org/officeDocument/2006/relationships/image" Target="../media/image82.png"/><Relationship Id="rId25" Type="http://schemas.openxmlformats.org/officeDocument/2006/relationships/image" Target="../media/image1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3.png"/><Relationship Id="rId20" Type="http://schemas.openxmlformats.org/officeDocument/2006/relationships/image" Target="../media/image145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7.png"/><Relationship Id="rId11" Type="http://schemas.openxmlformats.org/officeDocument/2006/relationships/image" Target="../media/image75.png"/><Relationship Id="rId24" Type="http://schemas.openxmlformats.org/officeDocument/2006/relationships/image" Target="../media/image149.png"/><Relationship Id="rId5" Type="http://schemas.openxmlformats.org/officeDocument/2006/relationships/image" Target="../media/image69.png"/><Relationship Id="rId15" Type="http://schemas.openxmlformats.org/officeDocument/2006/relationships/image" Target="../media/image142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10" Type="http://schemas.openxmlformats.org/officeDocument/2006/relationships/image" Target="../media/image74.png"/><Relationship Id="rId19" Type="http://schemas.openxmlformats.org/officeDocument/2006/relationships/image" Target="../media/image144.png"/><Relationship Id="rId4" Type="http://schemas.openxmlformats.org/officeDocument/2006/relationships/image" Target="../media/image67.png"/><Relationship Id="rId9" Type="http://schemas.openxmlformats.org/officeDocument/2006/relationships/image" Target="../media/image140.png"/><Relationship Id="rId14" Type="http://schemas.openxmlformats.org/officeDocument/2006/relationships/image" Target="../media/image141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Relationship Id="rId30" Type="http://schemas.openxmlformats.org/officeDocument/2006/relationships/image" Target="../media/image1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18" Type="http://schemas.openxmlformats.org/officeDocument/2006/relationships/image" Target="../media/image170.png"/><Relationship Id="rId3" Type="http://schemas.openxmlformats.org/officeDocument/2006/relationships/image" Target="../media/image46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17" Type="http://schemas.openxmlformats.org/officeDocument/2006/relationships/image" Target="../media/image16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8.png"/><Relationship Id="rId20" Type="http://schemas.openxmlformats.org/officeDocument/2006/relationships/image" Target="../media/image1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5" Type="http://schemas.openxmlformats.org/officeDocument/2006/relationships/image" Target="../media/image167.png"/><Relationship Id="rId10" Type="http://schemas.openxmlformats.org/officeDocument/2006/relationships/image" Target="../media/image162.png"/><Relationship Id="rId19" Type="http://schemas.openxmlformats.org/officeDocument/2006/relationships/image" Target="../media/image171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178.png"/><Relationship Id="rId18" Type="http://schemas.openxmlformats.org/officeDocument/2006/relationships/image" Target="../media/image183.png"/><Relationship Id="rId26" Type="http://schemas.openxmlformats.org/officeDocument/2006/relationships/image" Target="../media/image190.png"/><Relationship Id="rId3" Type="http://schemas.openxmlformats.org/officeDocument/2006/relationships/image" Target="../media/image69.png"/><Relationship Id="rId21" Type="http://schemas.openxmlformats.org/officeDocument/2006/relationships/image" Target="../media/image185.png"/><Relationship Id="rId7" Type="http://schemas.openxmlformats.org/officeDocument/2006/relationships/image" Target="../media/image74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5" Type="http://schemas.openxmlformats.org/officeDocument/2006/relationships/image" Target="../media/image18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81.png"/><Relationship Id="rId20" Type="http://schemas.openxmlformats.org/officeDocument/2006/relationships/image" Target="../media/image18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5.png"/><Relationship Id="rId11" Type="http://schemas.openxmlformats.org/officeDocument/2006/relationships/image" Target="../media/image176.png"/><Relationship Id="rId24" Type="http://schemas.openxmlformats.org/officeDocument/2006/relationships/image" Target="../media/image188.png"/><Relationship Id="rId5" Type="http://schemas.openxmlformats.org/officeDocument/2006/relationships/image" Target="../media/image174.png"/><Relationship Id="rId15" Type="http://schemas.openxmlformats.org/officeDocument/2006/relationships/image" Target="../media/image180.png"/><Relationship Id="rId23" Type="http://schemas.openxmlformats.org/officeDocument/2006/relationships/image" Target="../media/image187.png"/><Relationship Id="rId10" Type="http://schemas.openxmlformats.org/officeDocument/2006/relationships/image" Target="../media/image77.png"/><Relationship Id="rId19" Type="http://schemas.openxmlformats.org/officeDocument/2006/relationships/image" Target="../media/image95.png"/><Relationship Id="rId4" Type="http://schemas.openxmlformats.org/officeDocument/2006/relationships/image" Target="../media/image173.png"/><Relationship Id="rId9" Type="http://schemas.openxmlformats.org/officeDocument/2006/relationships/image" Target="../media/image76.png"/><Relationship Id="rId14" Type="http://schemas.openxmlformats.org/officeDocument/2006/relationships/image" Target="../media/image179.png"/><Relationship Id="rId22" Type="http://schemas.openxmlformats.org/officeDocument/2006/relationships/image" Target="../media/image18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3" Type="http://schemas.openxmlformats.org/officeDocument/2006/relationships/image" Target="../media/image46.png"/><Relationship Id="rId21" Type="http://schemas.openxmlformats.org/officeDocument/2006/relationships/image" Target="../media/image208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3.png"/><Relationship Id="rId20" Type="http://schemas.openxmlformats.org/officeDocument/2006/relationships/image" Target="../media/image20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10" Type="http://schemas.openxmlformats.org/officeDocument/2006/relationships/image" Target="../media/image197.png"/><Relationship Id="rId19" Type="http://schemas.openxmlformats.org/officeDocument/2006/relationships/image" Target="../media/image206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Relationship Id="rId22" Type="http://schemas.openxmlformats.org/officeDocument/2006/relationships/image" Target="../media/image20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13" Type="http://schemas.openxmlformats.org/officeDocument/2006/relationships/image" Target="../media/image220.png"/><Relationship Id="rId18" Type="http://schemas.openxmlformats.org/officeDocument/2006/relationships/image" Target="../media/image225.png"/><Relationship Id="rId3" Type="http://schemas.openxmlformats.org/officeDocument/2006/relationships/image" Target="../media/image210.png"/><Relationship Id="rId7" Type="http://schemas.openxmlformats.org/officeDocument/2006/relationships/image" Target="../media/image214.png"/><Relationship Id="rId12" Type="http://schemas.openxmlformats.org/officeDocument/2006/relationships/image" Target="../media/image219.png"/><Relationship Id="rId17" Type="http://schemas.openxmlformats.org/officeDocument/2006/relationships/image" Target="../media/image22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23.png"/><Relationship Id="rId20" Type="http://schemas.openxmlformats.org/officeDocument/2006/relationships/image" Target="../media/image2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3.png"/><Relationship Id="rId11" Type="http://schemas.openxmlformats.org/officeDocument/2006/relationships/image" Target="../media/image218.png"/><Relationship Id="rId5" Type="http://schemas.openxmlformats.org/officeDocument/2006/relationships/image" Target="../media/image212.png"/><Relationship Id="rId15" Type="http://schemas.openxmlformats.org/officeDocument/2006/relationships/image" Target="../media/image222.png"/><Relationship Id="rId10" Type="http://schemas.openxmlformats.org/officeDocument/2006/relationships/image" Target="../media/image217.png"/><Relationship Id="rId19" Type="http://schemas.openxmlformats.org/officeDocument/2006/relationships/image" Target="../media/image226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Relationship Id="rId14" Type="http://schemas.openxmlformats.org/officeDocument/2006/relationships/image" Target="../media/image2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37.png"/><Relationship Id="rId3" Type="http://schemas.openxmlformats.org/officeDocument/2006/relationships/image" Target="../media/image46.png"/><Relationship Id="rId7" Type="http://schemas.openxmlformats.org/officeDocument/2006/relationships/image" Target="../media/image231.png"/><Relationship Id="rId12" Type="http://schemas.openxmlformats.org/officeDocument/2006/relationships/image" Target="../media/image2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5" Type="http://schemas.openxmlformats.org/officeDocument/2006/relationships/image" Target="../media/image23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Relationship Id="rId14" Type="http://schemas.openxmlformats.org/officeDocument/2006/relationships/image" Target="../media/image2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47.png"/><Relationship Id="rId18" Type="http://schemas.openxmlformats.org/officeDocument/2006/relationships/image" Target="../media/image252.png"/><Relationship Id="rId26" Type="http://schemas.openxmlformats.org/officeDocument/2006/relationships/image" Target="../media/image258.png"/><Relationship Id="rId3" Type="http://schemas.openxmlformats.org/officeDocument/2006/relationships/image" Target="../media/image240.png"/><Relationship Id="rId21" Type="http://schemas.openxmlformats.org/officeDocument/2006/relationships/image" Target="../media/image255.png"/><Relationship Id="rId7" Type="http://schemas.openxmlformats.org/officeDocument/2006/relationships/image" Target="../media/image243.png"/><Relationship Id="rId12" Type="http://schemas.openxmlformats.org/officeDocument/2006/relationships/image" Target="../media/image246.png"/><Relationship Id="rId17" Type="http://schemas.openxmlformats.org/officeDocument/2006/relationships/image" Target="../media/image251.png"/><Relationship Id="rId25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50.png"/><Relationship Id="rId20" Type="http://schemas.openxmlformats.org/officeDocument/2006/relationships/image" Target="../media/image2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2.png"/><Relationship Id="rId11" Type="http://schemas.openxmlformats.org/officeDocument/2006/relationships/image" Target="../media/image245.png"/><Relationship Id="rId24" Type="http://schemas.openxmlformats.org/officeDocument/2006/relationships/image" Target="../media/image23.png"/><Relationship Id="rId5" Type="http://schemas.openxmlformats.org/officeDocument/2006/relationships/image" Target="../media/image241.png"/><Relationship Id="rId15" Type="http://schemas.openxmlformats.org/officeDocument/2006/relationships/image" Target="../media/image249.png"/><Relationship Id="rId23" Type="http://schemas.openxmlformats.org/officeDocument/2006/relationships/image" Target="../media/image257.png"/><Relationship Id="rId10" Type="http://schemas.openxmlformats.org/officeDocument/2006/relationships/image" Target="../media/image14.png"/><Relationship Id="rId19" Type="http://schemas.openxmlformats.org/officeDocument/2006/relationships/image" Target="../media/image253.png"/><Relationship Id="rId4" Type="http://schemas.openxmlformats.org/officeDocument/2006/relationships/image" Target="../media/image26.png"/><Relationship Id="rId9" Type="http://schemas.openxmlformats.org/officeDocument/2006/relationships/image" Target="../media/image244.png"/><Relationship Id="rId14" Type="http://schemas.openxmlformats.org/officeDocument/2006/relationships/image" Target="../media/image248.png"/><Relationship Id="rId22" Type="http://schemas.openxmlformats.org/officeDocument/2006/relationships/image" Target="../media/image256.png"/><Relationship Id="rId27" Type="http://schemas.openxmlformats.org/officeDocument/2006/relationships/image" Target="../media/image2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png"/><Relationship Id="rId13" Type="http://schemas.openxmlformats.org/officeDocument/2006/relationships/image" Target="../media/image270.png"/><Relationship Id="rId3" Type="http://schemas.openxmlformats.org/officeDocument/2006/relationships/image" Target="../media/image260.png"/><Relationship Id="rId7" Type="http://schemas.openxmlformats.org/officeDocument/2006/relationships/image" Target="../media/image264.png"/><Relationship Id="rId12" Type="http://schemas.openxmlformats.org/officeDocument/2006/relationships/image" Target="../media/image2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3.png"/><Relationship Id="rId11" Type="http://schemas.openxmlformats.org/officeDocument/2006/relationships/image" Target="../media/image268.png"/><Relationship Id="rId5" Type="http://schemas.openxmlformats.org/officeDocument/2006/relationships/image" Target="../media/image262.png"/><Relationship Id="rId10" Type="http://schemas.openxmlformats.org/officeDocument/2006/relationships/image" Target="../media/image267.png"/><Relationship Id="rId4" Type="http://schemas.openxmlformats.org/officeDocument/2006/relationships/image" Target="../media/image261.png"/><Relationship Id="rId9" Type="http://schemas.openxmlformats.org/officeDocument/2006/relationships/image" Target="../media/image266.png"/><Relationship Id="rId14" Type="http://schemas.openxmlformats.org/officeDocument/2006/relationships/image" Target="../media/image2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6.png"/><Relationship Id="rId13" Type="http://schemas.openxmlformats.org/officeDocument/2006/relationships/image" Target="../media/image281.png"/><Relationship Id="rId3" Type="http://schemas.openxmlformats.org/officeDocument/2006/relationships/image" Target="../media/image46.png"/><Relationship Id="rId7" Type="http://schemas.openxmlformats.org/officeDocument/2006/relationships/image" Target="../media/image275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4.png"/><Relationship Id="rId11" Type="http://schemas.openxmlformats.org/officeDocument/2006/relationships/image" Target="../media/image279.png"/><Relationship Id="rId5" Type="http://schemas.openxmlformats.org/officeDocument/2006/relationships/image" Target="../media/image273.png"/><Relationship Id="rId10" Type="http://schemas.openxmlformats.org/officeDocument/2006/relationships/image" Target="../media/image278.png"/><Relationship Id="rId4" Type="http://schemas.openxmlformats.org/officeDocument/2006/relationships/image" Target="../media/image272.png"/><Relationship Id="rId9" Type="http://schemas.openxmlformats.org/officeDocument/2006/relationships/image" Target="../media/image277.png"/><Relationship Id="rId14" Type="http://schemas.openxmlformats.org/officeDocument/2006/relationships/image" Target="../media/image28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83.png"/><Relationship Id="rId7" Type="http://schemas.openxmlformats.org/officeDocument/2006/relationships/image" Target="../media/image28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8.png"/><Relationship Id="rId11" Type="http://schemas.openxmlformats.org/officeDocument/2006/relationships/image" Target="../media/image288.png"/><Relationship Id="rId5" Type="http://schemas.openxmlformats.org/officeDocument/2006/relationships/image" Target="../media/image284.png"/><Relationship Id="rId10" Type="http://schemas.openxmlformats.org/officeDocument/2006/relationships/image" Target="../media/image287.png"/><Relationship Id="rId4" Type="http://schemas.openxmlformats.org/officeDocument/2006/relationships/image" Target="../media/image261.png"/><Relationship Id="rId9" Type="http://schemas.openxmlformats.org/officeDocument/2006/relationships/image" Target="../media/image28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3" Type="http://schemas.openxmlformats.org/officeDocument/2006/relationships/image" Target="../media/image289.png"/><Relationship Id="rId7" Type="http://schemas.openxmlformats.org/officeDocument/2006/relationships/image" Target="../media/image293.png"/><Relationship Id="rId12" Type="http://schemas.openxmlformats.org/officeDocument/2006/relationships/image" Target="../media/image29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2.png"/><Relationship Id="rId11" Type="http://schemas.openxmlformats.org/officeDocument/2006/relationships/image" Target="../media/image297.png"/><Relationship Id="rId5" Type="http://schemas.openxmlformats.org/officeDocument/2006/relationships/image" Target="../media/image291.png"/><Relationship Id="rId10" Type="http://schemas.openxmlformats.org/officeDocument/2006/relationships/image" Target="../media/image296.png"/><Relationship Id="rId4" Type="http://schemas.openxmlformats.org/officeDocument/2006/relationships/image" Target="../media/image290.png"/><Relationship Id="rId9" Type="http://schemas.openxmlformats.org/officeDocument/2006/relationships/image" Target="../media/image29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13" Type="http://schemas.openxmlformats.org/officeDocument/2006/relationships/image" Target="../media/image309.png"/><Relationship Id="rId3" Type="http://schemas.openxmlformats.org/officeDocument/2006/relationships/image" Target="../media/image299.png"/><Relationship Id="rId7" Type="http://schemas.openxmlformats.org/officeDocument/2006/relationships/image" Target="../media/image303.png"/><Relationship Id="rId12" Type="http://schemas.openxmlformats.org/officeDocument/2006/relationships/image" Target="../media/image30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2.png"/><Relationship Id="rId11" Type="http://schemas.openxmlformats.org/officeDocument/2006/relationships/image" Target="../media/image307.png"/><Relationship Id="rId5" Type="http://schemas.openxmlformats.org/officeDocument/2006/relationships/image" Target="../media/image301.png"/><Relationship Id="rId15" Type="http://schemas.openxmlformats.org/officeDocument/2006/relationships/image" Target="../media/image311.png"/><Relationship Id="rId10" Type="http://schemas.openxmlformats.org/officeDocument/2006/relationships/image" Target="../media/image306.png"/><Relationship Id="rId4" Type="http://schemas.openxmlformats.org/officeDocument/2006/relationships/image" Target="../media/image300.png"/><Relationship Id="rId9" Type="http://schemas.openxmlformats.org/officeDocument/2006/relationships/image" Target="../media/image305.png"/><Relationship Id="rId14" Type="http://schemas.openxmlformats.org/officeDocument/2006/relationships/image" Target="../media/image3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png"/><Relationship Id="rId13" Type="http://schemas.openxmlformats.org/officeDocument/2006/relationships/image" Target="../media/image321.png"/><Relationship Id="rId18" Type="http://schemas.openxmlformats.org/officeDocument/2006/relationships/image" Target="../media/image326.png"/><Relationship Id="rId3" Type="http://schemas.openxmlformats.org/officeDocument/2006/relationships/image" Target="../media/image289.png"/><Relationship Id="rId21" Type="http://schemas.openxmlformats.org/officeDocument/2006/relationships/image" Target="../media/image329.png"/><Relationship Id="rId7" Type="http://schemas.openxmlformats.org/officeDocument/2006/relationships/image" Target="../media/image315.png"/><Relationship Id="rId12" Type="http://schemas.openxmlformats.org/officeDocument/2006/relationships/image" Target="../media/image320.png"/><Relationship Id="rId17" Type="http://schemas.openxmlformats.org/officeDocument/2006/relationships/image" Target="../media/image32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24.png"/><Relationship Id="rId20" Type="http://schemas.openxmlformats.org/officeDocument/2006/relationships/image" Target="../media/image3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4.png"/><Relationship Id="rId11" Type="http://schemas.openxmlformats.org/officeDocument/2006/relationships/image" Target="../media/image319.png"/><Relationship Id="rId5" Type="http://schemas.openxmlformats.org/officeDocument/2006/relationships/image" Target="../media/image313.png"/><Relationship Id="rId15" Type="http://schemas.openxmlformats.org/officeDocument/2006/relationships/image" Target="../media/image323.png"/><Relationship Id="rId23" Type="http://schemas.openxmlformats.org/officeDocument/2006/relationships/image" Target="../media/image331.png"/><Relationship Id="rId10" Type="http://schemas.openxmlformats.org/officeDocument/2006/relationships/image" Target="../media/image318.png"/><Relationship Id="rId19" Type="http://schemas.openxmlformats.org/officeDocument/2006/relationships/image" Target="../media/image327.png"/><Relationship Id="rId4" Type="http://schemas.openxmlformats.org/officeDocument/2006/relationships/image" Target="../media/image312.png"/><Relationship Id="rId9" Type="http://schemas.openxmlformats.org/officeDocument/2006/relationships/image" Target="../media/image317.png"/><Relationship Id="rId14" Type="http://schemas.openxmlformats.org/officeDocument/2006/relationships/image" Target="../media/image322.png"/><Relationship Id="rId22" Type="http://schemas.openxmlformats.org/officeDocument/2006/relationships/image" Target="../media/image3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316.png"/><Relationship Id="rId3" Type="http://schemas.openxmlformats.org/officeDocument/2006/relationships/image" Target="../media/image332.png"/><Relationship Id="rId7" Type="http://schemas.openxmlformats.org/officeDocument/2006/relationships/image" Target="../media/image333.png"/><Relationship Id="rId12" Type="http://schemas.openxmlformats.org/officeDocument/2006/relationships/image" Target="../media/image3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8.png"/><Relationship Id="rId11" Type="http://schemas.openxmlformats.org/officeDocument/2006/relationships/image" Target="../media/image336.png"/><Relationship Id="rId5" Type="http://schemas.openxmlformats.org/officeDocument/2006/relationships/image" Target="../media/image284.png"/><Relationship Id="rId10" Type="http://schemas.openxmlformats.org/officeDocument/2006/relationships/image" Target="../media/image335.png"/><Relationship Id="rId4" Type="http://schemas.openxmlformats.org/officeDocument/2006/relationships/image" Target="../media/image261.png"/><Relationship Id="rId9" Type="http://schemas.openxmlformats.org/officeDocument/2006/relationships/image" Target="../media/image334.png"/><Relationship Id="rId14" Type="http://schemas.openxmlformats.org/officeDocument/2006/relationships/image" Target="../media/image33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png"/><Relationship Id="rId13" Type="http://schemas.openxmlformats.org/officeDocument/2006/relationships/image" Target="../media/image347.png"/><Relationship Id="rId3" Type="http://schemas.openxmlformats.org/officeDocument/2006/relationships/image" Target="../media/image289.png"/><Relationship Id="rId7" Type="http://schemas.openxmlformats.org/officeDocument/2006/relationships/image" Target="../media/image341.png"/><Relationship Id="rId12" Type="http://schemas.openxmlformats.org/officeDocument/2006/relationships/image" Target="../media/image346.png"/><Relationship Id="rId17" Type="http://schemas.openxmlformats.org/officeDocument/2006/relationships/image" Target="../media/image351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3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0.png"/><Relationship Id="rId11" Type="http://schemas.openxmlformats.org/officeDocument/2006/relationships/image" Target="../media/image345.png"/><Relationship Id="rId5" Type="http://schemas.openxmlformats.org/officeDocument/2006/relationships/image" Target="../media/image314.png"/><Relationship Id="rId15" Type="http://schemas.openxmlformats.org/officeDocument/2006/relationships/image" Target="../media/image349.png"/><Relationship Id="rId10" Type="http://schemas.openxmlformats.org/officeDocument/2006/relationships/image" Target="../media/image344.png"/><Relationship Id="rId4" Type="http://schemas.openxmlformats.org/officeDocument/2006/relationships/image" Target="../media/image339.png"/><Relationship Id="rId9" Type="http://schemas.openxmlformats.org/officeDocument/2006/relationships/image" Target="../media/image343.png"/><Relationship Id="rId14" Type="http://schemas.openxmlformats.org/officeDocument/2006/relationships/image" Target="../media/image3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png"/><Relationship Id="rId13" Type="http://schemas.openxmlformats.org/officeDocument/2006/relationships/image" Target="../media/image362.png"/><Relationship Id="rId18" Type="http://schemas.openxmlformats.org/officeDocument/2006/relationships/image" Target="../media/image366.png"/><Relationship Id="rId3" Type="http://schemas.openxmlformats.org/officeDocument/2006/relationships/image" Target="../media/image352.png"/><Relationship Id="rId21" Type="http://schemas.openxmlformats.org/officeDocument/2006/relationships/image" Target="../media/image368.png"/><Relationship Id="rId7" Type="http://schemas.openxmlformats.org/officeDocument/2006/relationships/image" Target="../media/image356.png"/><Relationship Id="rId12" Type="http://schemas.openxmlformats.org/officeDocument/2006/relationships/image" Target="../media/image361.png"/><Relationship Id="rId17" Type="http://schemas.openxmlformats.org/officeDocument/2006/relationships/image" Target="../media/image365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64.png"/><Relationship Id="rId20" Type="http://schemas.openxmlformats.org/officeDocument/2006/relationships/image" Target="../media/image36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5.png"/><Relationship Id="rId11" Type="http://schemas.openxmlformats.org/officeDocument/2006/relationships/image" Target="../media/image360.png"/><Relationship Id="rId5" Type="http://schemas.openxmlformats.org/officeDocument/2006/relationships/image" Target="../media/image354.png"/><Relationship Id="rId15" Type="http://schemas.openxmlformats.org/officeDocument/2006/relationships/image" Target="../media/image235.png"/><Relationship Id="rId10" Type="http://schemas.openxmlformats.org/officeDocument/2006/relationships/image" Target="../media/image359.png"/><Relationship Id="rId19" Type="http://schemas.openxmlformats.org/officeDocument/2006/relationships/image" Target="../media/image205.png"/><Relationship Id="rId4" Type="http://schemas.openxmlformats.org/officeDocument/2006/relationships/image" Target="../media/image353.png"/><Relationship Id="rId9" Type="http://schemas.openxmlformats.org/officeDocument/2006/relationships/image" Target="../media/image358.png"/><Relationship Id="rId14" Type="http://schemas.openxmlformats.org/officeDocument/2006/relationships/image" Target="../media/image3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07294"/>
            <a:ext cx="7127558" cy="185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705" y="1935361"/>
            <a:ext cx="5939631" cy="1856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5852" y="2863429"/>
            <a:ext cx="8315484" cy="185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778" y="4719564"/>
            <a:ext cx="7127558" cy="185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7926" y="5647631"/>
            <a:ext cx="9503410" cy="1856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3779" y="1007294"/>
            <a:ext cx="111368" cy="1113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7557" y="2863429"/>
            <a:ext cx="111368" cy="1113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1705" y="4719563"/>
            <a:ext cx="111368" cy="11136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484" y="1935361"/>
            <a:ext cx="111368" cy="11136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945" y="6195190"/>
            <a:ext cx="129929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3363" y="6195190"/>
            <a:ext cx="185613" cy="14849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890944" y="673190"/>
            <a:ext cx="12116848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4384"/>
              </a:lnSpc>
            </a:pPr>
            <a:r>
              <a:rPr lang="en-US" sz="438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</a:t>
            </a:r>
            <a:r>
              <a:rPr lang="en-US" sz="4384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</a:t>
            </a:r>
            <a:endParaRPr lang="en-US" sz="4384" dirty="0"/>
          </a:p>
        </p:txBody>
      </p:sp>
      <p:sp>
        <p:nvSpPr>
          <p:cNvPr id="20" name="Text 1"/>
          <p:cNvSpPr/>
          <p:nvPr/>
        </p:nvSpPr>
        <p:spPr>
          <a:xfrm>
            <a:off x="890945" y="1378521"/>
            <a:ext cx="10097373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Domain Name Service</a:t>
            </a:r>
            <a:endParaRPr lang="en-US" sz="219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9419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3" y="1471328"/>
            <a:ext cx="4751705" cy="185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557" y="2399395"/>
            <a:ext cx="3563779" cy="1856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5852" y="4255530"/>
            <a:ext cx="5939631" cy="185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483" y="5183597"/>
            <a:ext cx="2969816" cy="185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815" y="1471328"/>
            <a:ext cx="111368" cy="11136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668" y="4255530"/>
            <a:ext cx="111368" cy="1113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3410" y="5183597"/>
            <a:ext cx="111368" cy="1113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944" y="895926"/>
            <a:ext cx="742454" cy="3712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945" y="1898238"/>
            <a:ext cx="3217204" cy="222736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681" y="2120975"/>
            <a:ext cx="334104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0884" y="1898238"/>
            <a:ext cx="3217349" cy="222736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3621" y="2120975"/>
            <a:ext cx="334104" cy="3341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0969" y="1898238"/>
            <a:ext cx="3217204" cy="222736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93705" y="2120975"/>
            <a:ext cx="380508" cy="3341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945" y="4422582"/>
            <a:ext cx="10097373" cy="19303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3681" y="4654599"/>
            <a:ext cx="278420" cy="27842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3681" y="5127913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3876" y="5127913"/>
            <a:ext cx="148491" cy="1484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3681" y="5721876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3876" y="5721876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0945" y="6603540"/>
            <a:ext cx="129929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1" y="79227"/>
            <a:ext cx="11879263" cy="6672804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890945" y="450453"/>
            <a:ext cx="10097373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</a:t>
            </a:r>
            <a:r>
              <a:rPr lang="en-US" sz="2631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Overview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890945" y="1155784"/>
            <a:ext cx="10097373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Route 53 is a highly available and scalable cloud Domain Name System (DNS) web service that serves as a critical component for internet-facing applications.</a:t>
            </a:r>
            <a:endParaRPr lang="en-US" sz="1461" dirty="0"/>
          </a:p>
        </p:txBody>
      </p:sp>
      <p:sp>
        <p:nvSpPr>
          <p:cNvPr id="27" name="Text 2"/>
          <p:cNvSpPr/>
          <p:nvPr/>
        </p:nvSpPr>
        <p:spPr>
          <a:xfrm>
            <a:off x="1113681" y="2640692"/>
            <a:ext cx="332607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Domain Registration</a:t>
            </a:r>
            <a:endParaRPr lang="en-US" sz="1754" dirty="0"/>
          </a:p>
        </p:txBody>
      </p:sp>
      <p:sp>
        <p:nvSpPr>
          <p:cNvPr id="28" name="Text 3"/>
          <p:cNvSpPr/>
          <p:nvPr/>
        </p:nvSpPr>
        <p:spPr>
          <a:xfrm>
            <a:off x="1113681" y="3011919"/>
            <a:ext cx="2771731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Facilitates the purchase, transfer, and management of domain names directly within the AWS ecosystem.</a:t>
            </a:r>
            <a:endParaRPr lang="en-US" sz="1169" dirty="0"/>
          </a:p>
        </p:txBody>
      </p:sp>
      <p:sp>
        <p:nvSpPr>
          <p:cNvPr id="29" name="Text 4"/>
          <p:cNvSpPr/>
          <p:nvPr/>
        </p:nvSpPr>
        <p:spPr>
          <a:xfrm>
            <a:off x="4553621" y="2640692"/>
            <a:ext cx="332625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Routing</a:t>
            </a:r>
            <a:endParaRPr lang="en-US" sz="1754" dirty="0"/>
          </a:p>
        </p:txBody>
      </p:sp>
      <p:sp>
        <p:nvSpPr>
          <p:cNvPr id="30" name="Text 5"/>
          <p:cNvSpPr/>
          <p:nvPr/>
        </p:nvSpPr>
        <p:spPr>
          <a:xfrm>
            <a:off x="4553620" y="3011919"/>
            <a:ext cx="2771877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Translates human-readable domain names into IP addresses, enabling browsers and applications to connect to resources.</a:t>
            </a:r>
            <a:endParaRPr lang="en-US" sz="1169" dirty="0"/>
          </a:p>
        </p:txBody>
      </p:sp>
      <p:sp>
        <p:nvSpPr>
          <p:cNvPr id="31" name="Text 6"/>
          <p:cNvSpPr/>
          <p:nvPr/>
        </p:nvSpPr>
        <p:spPr>
          <a:xfrm>
            <a:off x="7993705" y="2640692"/>
            <a:ext cx="332607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Health Checking</a:t>
            </a:r>
            <a:endParaRPr lang="en-US" sz="1754" dirty="0"/>
          </a:p>
        </p:txBody>
      </p:sp>
      <p:sp>
        <p:nvSpPr>
          <p:cNvPr id="32" name="Text 7"/>
          <p:cNvSpPr/>
          <p:nvPr/>
        </p:nvSpPr>
        <p:spPr>
          <a:xfrm>
            <a:off x="7993705" y="3011919"/>
            <a:ext cx="2771731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Monitors the availability and performance of endpoints and can automatically reroute traffic away from unhealthy resources.</a:t>
            </a:r>
            <a:endParaRPr lang="en-US" sz="1169" dirty="0"/>
          </a:p>
        </p:txBody>
      </p:sp>
      <p:sp>
        <p:nvSpPr>
          <p:cNvPr id="33" name="Text 8"/>
          <p:cNvSpPr/>
          <p:nvPr/>
        </p:nvSpPr>
        <p:spPr>
          <a:xfrm>
            <a:off x="1540592" y="4663879"/>
            <a:ext cx="4033265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Traffic Management</a:t>
            </a:r>
            <a:endParaRPr lang="en-US" sz="1754" dirty="0"/>
          </a:p>
        </p:txBody>
      </p:sp>
      <p:sp>
        <p:nvSpPr>
          <p:cNvPr id="34" name="Text 9"/>
          <p:cNvSpPr/>
          <p:nvPr/>
        </p:nvSpPr>
        <p:spPr>
          <a:xfrm>
            <a:off x="1336417" y="5090790"/>
            <a:ext cx="452896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Highly scalable and available, built on a global network of authoritative DNS servers</a:t>
            </a:r>
            <a:endParaRPr lang="en-US" sz="1169" dirty="0"/>
          </a:p>
        </p:txBody>
      </p:sp>
      <p:sp>
        <p:nvSpPr>
          <p:cNvPr id="35" name="Text 10"/>
          <p:cNvSpPr/>
          <p:nvPr/>
        </p:nvSpPr>
        <p:spPr>
          <a:xfrm>
            <a:off x="6236612" y="5090790"/>
            <a:ext cx="452896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Sophisticated routing policies to optimize user experience and enhance resilience</a:t>
            </a:r>
            <a:endParaRPr lang="en-US" sz="1169" dirty="0"/>
          </a:p>
        </p:txBody>
      </p:sp>
      <p:sp>
        <p:nvSpPr>
          <p:cNvPr id="36" name="Text 11"/>
          <p:cNvSpPr/>
          <p:nvPr/>
        </p:nvSpPr>
        <p:spPr>
          <a:xfrm>
            <a:off x="1336417" y="5684754"/>
            <a:ext cx="452896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integration with other AWS services like EC2, S3, ELB, CloudFront, and VPCs</a:t>
            </a:r>
            <a:endParaRPr lang="en-US" sz="1169" dirty="0"/>
          </a:p>
        </p:txBody>
      </p:sp>
      <p:sp>
        <p:nvSpPr>
          <p:cNvPr id="37" name="Text 12"/>
          <p:cNvSpPr/>
          <p:nvPr/>
        </p:nvSpPr>
        <p:spPr>
          <a:xfrm>
            <a:off x="6236613" y="5684754"/>
            <a:ext cx="508151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for alias records for simplified resource mapping</a:t>
            </a:r>
            <a:endParaRPr lang="en-US" sz="1169" dirty="0"/>
          </a:p>
        </p:txBody>
      </p:sp>
      <p:sp>
        <p:nvSpPr>
          <p:cNvPr id="39" name="Text 14"/>
          <p:cNvSpPr/>
          <p:nvPr/>
        </p:nvSpPr>
        <p:spPr>
          <a:xfrm>
            <a:off x="10675095" y="6594260"/>
            <a:ext cx="286772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90482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926" y="1192907"/>
            <a:ext cx="3563779" cy="185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557" y="3049042"/>
            <a:ext cx="2969816" cy="1856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9815" y="4905177"/>
            <a:ext cx="4751705" cy="185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483" y="1749748"/>
            <a:ext cx="2375853" cy="185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5852" y="1192907"/>
            <a:ext cx="111368" cy="11136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1705" y="4905177"/>
            <a:ext cx="111368" cy="1113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3410" y="1749748"/>
            <a:ext cx="111368" cy="1113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944" y="895926"/>
            <a:ext cx="742454" cy="3712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945" y="1823993"/>
            <a:ext cx="4937318" cy="215311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6558" y="2492202"/>
            <a:ext cx="185613" cy="18561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6558" y="3234656"/>
            <a:ext cx="232017" cy="185613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0999" y="1823993"/>
            <a:ext cx="4937318" cy="215311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3" y="2018887"/>
            <a:ext cx="213455" cy="27842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6613" y="2455079"/>
            <a:ext cx="2245923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6781" y="2455079"/>
            <a:ext cx="2245923" cy="37122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6613" y="2900551"/>
            <a:ext cx="2245923" cy="37122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6781" y="2900551"/>
            <a:ext cx="2245923" cy="37122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945" y="4199845"/>
            <a:ext cx="10097373" cy="211599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76558" y="4413301"/>
            <a:ext cx="222736" cy="222736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66083" y="5062948"/>
            <a:ext cx="241298" cy="27842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25824" y="5452737"/>
            <a:ext cx="1996070" cy="1856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79085" y="4951580"/>
            <a:ext cx="278420" cy="27842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14842" y="5452737"/>
            <a:ext cx="1996070" cy="1856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11953" y="4951580"/>
            <a:ext cx="241298" cy="27842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54293" y="5452737"/>
            <a:ext cx="1996070" cy="1856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14515" y="5062948"/>
            <a:ext cx="352666" cy="27842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0945" y="6566417"/>
            <a:ext cx="129929" cy="14849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1" y="79227"/>
            <a:ext cx="11879263" cy="6904821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890945" y="450453"/>
            <a:ext cx="10097373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</a:t>
            </a:r>
            <a:r>
              <a:rPr lang="en-US" sz="2631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Functionality</a:t>
            </a:r>
            <a:endParaRPr lang="en-US" sz="2631" dirty="0"/>
          </a:p>
        </p:txBody>
      </p:sp>
      <p:sp>
        <p:nvSpPr>
          <p:cNvPr id="32" name="Text 1"/>
          <p:cNvSpPr/>
          <p:nvPr/>
        </p:nvSpPr>
        <p:spPr>
          <a:xfrm>
            <a:off x="890945" y="1155784"/>
            <a:ext cx="10097373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53's core strength lies in its robust DNS management capabilities, organized around hosted zones and DNS record types.</a:t>
            </a:r>
            <a:endParaRPr lang="en-US" sz="1461" dirty="0"/>
          </a:p>
        </p:txBody>
      </p:sp>
      <p:sp>
        <p:nvSpPr>
          <p:cNvPr id="33" name="Text 2"/>
          <p:cNvSpPr/>
          <p:nvPr/>
        </p:nvSpPr>
        <p:spPr>
          <a:xfrm>
            <a:off x="1187926" y="2028168"/>
            <a:ext cx="20679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Hosted Zones</a:t>
            </a:r>
            <a:endParaRPr lang="en-US" sz="1754" dirty="0"/>
          </a:p>
        </p:txBody>
      </p:sp>
      <p:sp>
        <p:nvSpPr>
          <p:cNvPr id="34" name="Text 3"/>
          <p:cNvSpPr/>
          <p:nvPr/>
        </p:nvSpPr>
        <p:spPr>
          <a:xfrm>
            <a:off x="1373539" y="2455079"/>
            <a:ext cx="426911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Hosted Zone</a:t>
            </a:r>
            <a:endParaRPr lang="en-US" sz="1169" dirty="0"/>
          </a:p>
        </p:txBody>
      </p:sp>
      <p:sp>
        <p:nvSpPr>
          <p:cNvPr id="35" name="Text 4"/>
          <p:cNvSpPr/>
          <p:nvPr/>
        </p:nvSpPr>
        <p:spPr>
          <a:xfrm>
            <a:off x="1373539" y="2677815"/>
            <a:ext cx="4269110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traffic on the internet; contains publicly accessible records</a:t>
            </a:r>
            <a:endParaRPr lang="en-US" sz="1023" dirty="0"/>
          </a:p>
        </p:txBody>
      </p:sp>
      <p:sp>
        <p:nvSpPr>
          <p:cNvPr id="36" name="Text 5"/>
          <p:cNvSpPr/>
          <p:nvPr/>
        </p:nvSpPr>
        <p:spPr>
          <a:xfrm>
            <a:off x="1419943" y="3197533"/>
            <a:ext cx="422270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Hosted Zone</a:t>
            </a:r>
            <a:endParaRPr lang="en-US" sz="1169" dirty="0"/>
          </a:p>
        </p:txBody>
      </p:sp>
      <p:sp>
        <p:nvSpPr>
          <p:cNvPr id="37" name="Text 6"/>
          <p:cNvSpPr/>
          <p:nvPr/>
        </p:nvSpPr>
        <p:spPr>
          <a:xfrm>
            <a:off x="1419943" y="3420269"/>
            <a:ext cx="422270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traffic within VPCs; provides private DNS resolution for AWS resources</a:t>
            </a:r>
            <a:endParaRPr lang="en-US" sz="1023" dirty="0"/>
          </a:p>
        </p:txBody>
      </p:sp>
      <p:sp>
        <p:nvSpPr>
          <p:cNvPr id="38" name="Text 7"/>
          <p:cNvSpPr/>
          <p:nvPr/>
        </p:nvSpPr>
        <p:spPr>
          <a:xfrm>
            <a:off x="6561437" y="2028168"/>
            <a:ext cx="273304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Record Types</a:t>
            </a:r>
            <a:endParaRPr lang="en-US" sz="1754" dirty="0"/>
          </a:p>
        </p:txBody>
      </p:sp>
      <p:sp>
        <p:nvSpPr>
          <p:cNvPr id="39" name="Text 8"/>
          <p:cNvSpPr/>
          <p:nvPr/>
        </p:nvSpPr>
        <p:spPr>
          <a:xfrm>
            <a:off x="6310858" y="2529324"/>
            <a:ext cx="12198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169" dirty="0"/>
          </a:p>
        </p:txBody>
      </p:sp>
      <p:sp>
        <p:nvSpPr>
          <p:cNvPr id="40" name="Text 9"/>
          <p:cNvSpPr/>
          <p:nvPr/>
        </p:nvSpPr>
        <p:spPr>
          <a:xfrm>
            <a:off x="6956793" y="2507436"/>
            <a:ext cx="99361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IPv4 address</a:t>
            </a:r>
            <a:endParaRPr lang="en-US" sz="1023" b="1" dirty="0"/>
          </a:p>
        </p:txBody>
      </p:sp>
      <p:sp>
        <p:nvSpPr>
          <p:cNvPr id="41" name="Text 10"/>
          <p:cNvSpPr/>
          <p:nvPr/>
        </p:nvSpPr>
        <p:spPr>
          <a:xfrm>
            <a:off x="8631027" y="2529324"/>
            <a:ext cx="50254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AAAA</a:t>
            </a:r>
            <a:endParaRPr lang="en-US" sz="1169" dirty="0"/>
          </a:p>
        </p:txBody>
      </p:sp>
      <p:sp>
        <p:nvSpPr>
          <p:cNvPr id="42" name="Text 11"/>
          <p:cNvSpPr/>
          <p:nvPr/>
        </p:nvSpPr>
        <p:spPr>
          <a:xfrm>
            <a:off x="9124062" y="2547886"/>
            <a:ext cx="99361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IPv6 address</a:t>
            </a:r>
            <a:endParaRPr lang="en-US" sz="1023" b="1" dirty="0"/>
          </a:p>
        </p:txBody>
      </p:sp>
      <p:sp>
        <p:nvSpPr>
          <p:cNvPr id="43" name="Text 12"/>
          <p:cNvSpPr/>
          <p:nvPr/>
        </p:nvSpPr>
        <p:spPr>
          <a:xfrm>
            <a:off x="6310858" y="2974797"/>
            <a:ext cx="64593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CNAME</a:t>
            </a:r>
            <a:endParaRPr lang="en-US" sz="1169" dirty="0"/>
          </a:p>
        </p:txBody>
      </p:sp>
      <p:sp>
        <p:nvSpPr>
          <p:cNvPr id="44" name="Text 13"/>
          <p:cNvSpPr/>
          <p:nvPr/>
        </p:nvSpPr>
        <p:spPr>
          <a:xfrm>
            <a:off x="6923382" y="2993358"/>
            <a:ext cx="1209736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Alias to domain</a:t>
            </a:r>
            <a:endParaRPr lang="en-US" sz="1023" b="1" dirty="0"/>
          </a:p>
        </p:txBody>
      </p:sp>
      <p:sp>
        <p:nvSpPr>
          <p:cNvPr id="45" name="Text 14"/>
          <p:cNvSpPr/>
          <p:nvPr/>
        </p:nvSpPr>
        <p:spPr>
          <a:xfrm>
            <a:off x="8631027" y="2974797"/>
            <a:ext cx="27581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D948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MX</a:t>
            </a:r>
            <a:endParaRPr lang="en-US" sz="1169" dirty="0"/>
          </a:p>
        </p:txBody>
      </p:sp>
      <p:sp>
        <p:nvSpPr>
          <p:cNvPr id="46" name="Text 15"/>
          <p:cNvSpPr/>
          <p:nvPr/>
        </p:nvSpPr>
        <p:spPr>
          <a:xfrm>
            <a:off x="9133575" y="2953784"/>
            <a:ext cx="85997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Mail server</a:t>
            </a:r>
            <a:endParaRPr lang="en-US" sz="1023" b="1" dirty="0"/>
          </a:p>
        </p:txBody>
      </p:sp>
      <p:sp>
        <p:nvSpPr>
          <p:cNvPr id="47" name="Text 16"/>
          <p:cNvSpPr/>
          <p:nvPr/>
        </p:nvSpPr>
        <p:spPr>
          <a:xfrm>
            <a:off x="1410662" y="4404020"/>
            <a:ext cx="342839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DNS Resolution Works</a:t>
            </a:r>
            <a:endParaRPr lang="en-US" sz="1461" dirty="0"/>
          </a:p>
        </p:txBody>
      </p:sp>
      <p:sp>
        <p:nvSpPr>
          <p:cNvPr id="48" name="Text 17"/>
          <p:cNvSpPr/>
          <p:nvPr/>
        </p:nvSpPr>
        <p:spPr>
          <a:xfrm>
            <a:off x="1447785" y="5462017"/>
            <a:ext cx="87803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</a:t>
            </a:r>
            <a:endParaRPr lang="en-US" sz="1169" dirty="0"/>
          </a:p>
        </p:txBody>
      </p:sp>
      <p:sp>
        <p:nvSpPr>
          <p:cNvPr id="49" name="Text 18"/>
          <p:cNvSpPr/>
          <p:nvPr/>
        </p:nvSpPr>
        <p:spPr>
          <a:xfrm>
            <a:off x="1359982" y="5684754"/>
            <a:ext cx="1053646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example.com</a:t>
            </a:r>
            <a:endParaRPr lang="en-US" sz="1023" dirty="0"/>
          </a:p>
        </p:txBody>
      </p:sp>
      <p:sp>
        <p:nvSpPr>
          <p:cNvPr id="50" name="Text 19"/>
          <p:cNvSpPr/>
          <p:nvPr/>
        </p:nvSpPr>
        <p:spPr>
          <a:xfrm>
            <a:off x="4321893" y="5350649"/>
            <a:ext cx="59294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</a:t>
            </a:r>
            <a:endParaRPr lang="en-US" sz="1169" dirty="0"/>
          </a:p>
        </p:txBody>
      </p:sp>
      <p:sp>
        <p:nvSpPr>
          <p:cNvPr id="51" name="Text 20"/>
          <p:cNvSpPr/>
          <p:nvPr/>
        </p:nvSpPr>
        <p:spPr>
          <a:xfrm>
            <a:off x="4262599" y="5796122"/>
            <a:ext cx="71153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Query</a:t>
            </a:r>
            <a:endParaRPr lang="en-US" sz="1023" dirty="0"/>
          </a:p>
        </p:txBody>
      </p:sp>
      <p:sp>
        <p:nvSpPr>
          <p:cNvPr id="52" name="Text 21"/>
          <p:cNvSpPr/>
          <p:nvPr/>
        </p:nvSpPr>
        <p:spPr>
          <a:xfrm>
            <a:off x="6910912" y="5350649"/>
            <a:ext cx="84338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Hosted Zone</a:t>
            </a:r>
            <a:endParaRPr lang="en-US" sz="1169" dirty="0"/>
          </a:p>
        </p:txBody>
      </p:sp>
      <p:sp>
        <p:nvSpPr>
          <p:cNvPr id="53" name="Text 22"/>
          <p:cNvSpPr/>
          <p:nvPr/>
        </p:nvSpPr>
        <p:spPr>
          <a:xfrm>
            <a:off x="6826574" y="5796122"/>
            <a:ext cx="101205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Records</a:t>
            </a:r>
            <a:endParaRPr lang="en-US" sz="1023" dirty="0"/>
          </a:p>
        </p:txBody>
      </p:sp>
      <p:sp>
        <p:nvSpPr>
          <p:cNvPr id="54" name="Text 23"/>
          <p:cNvSpPr/>
          <p:nvPr/>
        </p:nvSpPr>
        <p:spPr>
          <a:xfrm>
            <a:off x="9682266" y="5462017"/>
            <a:ext cx="81716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</a:t>
            </a:r>
            <a:endParaRPr lang="en-US" sz="1169" dirty="0"/>
          </a:p>
        </p:txBody>
      </p:sp>
      <p:sp>
        <p:nvSpPr>
          <p:cNvPr id="55" name="Text 24"/>
          <p:cNvSpPr/>
          <p:nvPr/>
        </p:nvSpPr>
        <p:spPr>
          <a:xfrm>
            <a:off x="9682266" y="5684754"/>
            <a:ext cx="817163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Address</a:t>
            </a:r>
            <a:endParaRPr lang="en-US" sz="1023" dirty="0"/>
          </a:p>
        </p:txBody>
      </p:sp>
      <p:sp>
        <p:nvSpPr>
          <p:cNvPr id="57" name="Text 26"/>
          <p:cNvSpPr/>
          <p:nvPr/>
        </p:nvSpPr>
        <p:spPr>
          <a:xfrm>
            <a:off x="10675095" y="6557137"/>
            <a:ext cx="286772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926" y="1192907"/>
            <a:ext cx="3563779" cy="185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557" y="3049042"/>
            <a:ext cx="2969816" cy="1856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9815" y="4905177"/>
            <a:ext cx="4751705" cy="185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9446" y="5833244"/>
            <a:ext cx="2375853" cy="185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5852" y="1192907"/>
            <a:ext cx="111368" cy="11136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1705" y="4905177"/>
            <a:ext cx="111368" cy="1113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7373" y="5833244"/>
            <a:ext cx="111368" cy="1113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944" y="895926"/>
            <a:ext cx="742454" cy="3712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945" y="1842555"/>
            <a:ext cx="2412975" cy="141066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435" y="2018887"/>
            <a:ext cx="222736" cy="22273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2411" y="1842555"/>
            <a:ext cx="2412975" cy="141066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0901" y="2018887"/>
            <a:ext cx="278420" cy="22273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3876" y="1842555"/>
            <a:ext cx="2412975" cy="141066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2368" y="2018887"/>
            <a:ext cx="250578" cy="22273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5342" y="1842555"/>
            <a:ext cx="2412975" cy="141066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23833" y="2018887"/>
            <a:ext cx="222736" cy="22273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945" y="3401707"/>
            <a:ext cx="2412975" cy="163339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9435" y="3578041"/>
            <a:ext cx="222736" cy="222736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52411" y="3401707"/>
            <a:ext cx="2412975" cy="163339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00902" y="3578041"/>
            <a:ext cx="250578" cy="222736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13876" y="3401707"/>
            <a:ext cx="2412975" cy="1633399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62367" y="3689409"/>
            <a:ext cx="222736" cy="222736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75342" y="3401707"/>
            <a:ext cx="2412975" cy="1633399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23833" y="3578041"/>
            <a:ext cx="278420" cy="222736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90945" y="5257843"/>
            <a:ext cx="10097373" cy="816699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9435" y="5777560"/>
            <a:ext cx="129929" cy="129929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55681" y="5777560"/>
            <a:ext cx="129929" cy="129929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71927" y="5777560"/>
            <a:ext cx="129929" cy="129929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0945" y="6343681"/>
            <a:ext cx="129929" cy="148491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890945" y="450453"/>
            <a:ext cx="10097373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Routing </a:t>
            </a:r>
            <a:r>
              <a:rPr lang="en-US" sz="2631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Policies</a:t>
            </a:r>
            <a:endParaRPr lang="en-US" sz="2631" dirty="0"/>
          </a:p>
        </p:txBody>
      </p:sp>
      <p:sp>
        <p:nvSpPr>
          <p:cNvPr id="34" name="Text 1"/>
          <p:cNvSpPr/>
          <p:nvPr/>
        </p:nvSpPr>
        <p:spPr>
          <a:xfrm>
            <a:off x="890945" y="1174346"/>
            <a:ext cx="10097373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offers several routing policies to control how DNS queries are answered, enabling various traffic management strategies.</a:t>
            </a:r>
            <a:endParaRPr lang="en-US" sz="1461" dirty="0"/>
          </a:p>
        </p:txBody>
      </p:sp>
      <p:sp>
        <p:nvSpPr>
          <p:cNvPr id="35" name="Text 2"/>
          <p:cNvSpPr/>
          <p:nvPr/>
        </p:nvSpPr>
        <p:spPr>
          <a:xfrm>
            <a:off x="1373540" y="2009607"/>
            <a:ext cx="85579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</a:t>
            </a:r>
            <a:endParaRPr lang="en-US" sz="1461" dirty="0"/>
          </a:p>
        </p:txBody>
      </p:sp>
      <p:sp>
        <p:nvSpPr>
          <p:cNvPr id="36" name="Text 3"/>
          <p:cNvSpPr/>
          <p:nvPr/>
        </p:nvSpPr>
        <p:spPr>
          <a:xfrm>
            <a:off x="1039435" y="2362272"/>
            <a:ext cx="2115994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to a single resource; basic DNS record without health checks.</a:t>
            </a:r>
            <a:endParaRPr lang="en-US" sz="1023" dirty="0"/>
          </a:p>
        </p:txBody>
      </p:sp>
      <p:sp>
        <p:nvSpPr>
          <p:cNvPr id="37" name="Text 4"/>
          <p:cNvSpPr/>
          <p:nvPr/>
        </p:nvSpPr>
        <p:spPr>
          <a:xfrm>
            <a:off x="3990690" y="2009607"/>
            <a:ext cx="12001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Weighted</a:t>
            </a:r>
            <a:endParaRPr lang="en-US" sz="1461" dirty="0"/>
          </a:p>
        </p:txBody>
      </p:sp>
      <p:sp>
        <p:nvSpPr>
          <p:cNvPr id="38" name="Text 5"/>
          <p:cNvSpPr/>
          <p:nvPr/>
        </p:nvSpPr>
        <p:spPr>
          <a:xfrm>
            <a:off x="3600901" y="2362272"/>
            <a:ext cx="211599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Distributes traffic across multiple resources based on assigned weights; useful for load balancing or A/B testing.</a:t>
            </a:r>
            <a:endParaRPr lang="en-US" sz="1023" dirty="0"/>
          </a:p>
        </p:txBody>
      </p:sp>
      <p:sp>
        <p:nvSpPr>
          <p:cNvPr id="39" name="Text 6"/>
          <p:cNvSpPr/>
          <p:nvPr/>
        </p:nvSpPr>
        <p:spPr>
          <a:xfrm>
            <a:off x="6524314" y="2009607"/>
            <a:ext cx="183096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Latency-based</a:t>
            </a:r>
            <a:endParaRPr lang="en-US" sz="1461" dirty="0"/>
          </a:p>
        </p:txBody>
      </p:sp>
      <p:sp>
        <p:nvSpPr>
          <p:cNvPr id="40" name="Text 7"/>
          <p:cNvSpPr/>
          <p:nvPr/>
        </p:nvSpPr>
        <p:spPr>
          <a:xfrm>
            <a:off x="6162367" y="2362272"/>
            <a:ext cx="211599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to the resource with the lowest latency from the user's location; improves performance globally.</a:t>
            </a:r>
            <a:endParaRPr lang="en-US" sz="1023" dirty="0"/>
          </a:p>
        </p:txBody>
      </p:sp>
      <p:sp>
        <p:nvSpPr>
          <p:cNvPr id="41" name="Text 8"/>
          <p:cNvSpPr/>
          <p:nvPr/>
        </p:nvSpPr>
        <p:spPr>
          <a:xfrm>
            <a:off x="9057938" y="2009607"/>
            <a:ext cx="100126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Failover</a:t>
            </a:r>
            <a:endParaRPr lang="en-US" sz="1461" dirty="0"/>
          </a:p>
        </p:txBody>
      </p:sp>
      <p:sp>
        <p:nvSpPr>
          <p:cNvPr id="42" name="Text 9"/>
          <p:cNvSpPr/>
          <p:nvPr/>
        </p:nvSpPr>
        <p:spPr>
          <a:xfrm>
            <a:off x="8723833" y="2362272"/>
            <a:ext cx="211599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Supports active-passive setups, routing traffic to a primary resource and failing over to a secondary if unhealthy.</a:t>
            </a:r>
            <a:endParaRPr lang="en-US" sz="1023" dirty="0"/>
          </a:p>
        </p:txBody>
      </p:sp>
      <p:sp>
        <p:nvSpPr>
          <p:cNvPr id="43" name="Text 10"/>
          <p:cNvSpPr/>
          <p:nvPr/>
        </p:nvSpPr>
        <p:spPr>
          <a:xfrm>
            <a:off x="1373539" y="3568760"/>
            <a:ext cx="149302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Geolocation</a:t>
            </a:r>
            <a:endParaRPr lang="en-US" sz="1461" dirty="0"/>
          </a:p>
        </p:txBody>
      </p:sp>
      <p:sp>
        <p:nvSpPr>
          <p:cNvPr id="44" name="Text 11"/>
          <p:cNvSpPr/>
          <p:nvPr/>
        </p:nvSpPr>
        <p:spPr>
          <a:xfrm>
            <a:off x="1039435" y="3921425"/>
            <a:ext cx="211599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traffic based on geographic origin of DNS queries (continent, country, or state); useful for localization.</a:t>
            </a:r>
            <a:endParaRPr lang="en-US" sz="1023" dirty="0"/>
          </a:p>
        </p:txBody>
      </p:sp>
      <p:sp>
        <p:nvSpPr>
          <p:cNvPr id="45" name="Text 12"/>
          <p:cNvSpPr/>
          <p:nvPr/>
        </p:nvSpPr>
        <p:spPr>
          <a:xfrm>
            <a:off x="3962848" y="3568760"/>
            <a:ext cx="168948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Geoproximity</a:t>
            </a:r>
            <a:endParaRPr lang="en-US" sz="1461" dirty="0"/>
          </a:p>
        </p:txBody>
      </p:sp>
      <p:sp>
        <p:nvSpPr>
          <p:cNvPr id="46" name="Text 13"/>
          <p:cNvSpPr/>
          <p:nvPr/>
        </p:nvSpPr>
        <p:spPr>
          <a:xfrm>
            <a:off x="3600901" y="3921425"/>
            <a:ext cx="211599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based on geographic proximity with bias control to shift traffic between regions dynamically.</a:t>
            </a:r>
            <a:endParaRPr lang="en-US" sz="1023" dirty="0"/>
          </a:p>
        </p:txBody>
      </p:sp>
      <p:sp>
        <p:nvSpPr>
          <p:cNvPr id="47" name="Text 14"/>
          <p:cNvSpPr/>
          <p:nvPr/>
        </p:nvSpPr>
        <p:spPr>
          <a:xfrm>
            <a:off x="6496472" y="3550198"/>
            <a:ext cx="1781889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Multivalue Answer</a:t>
            </a:r>
            <a:endParaRPr lang="en-US" sz="1461" dirty="0"/>
          </a:p>
        </p:txBody>
      </p:sp>
      <p:sp>
        <p:nvSpPr>
          <p:cNvPr id="48" name="Text 15"/>
          <p:cNvSpPr/>
          <p:nvPr/>
        </p:nvSpPr>
        <p:spPr>
          <a:xfrm>
            <a:off x="6162367" y="4144162"/>
            <a:ext cx="211599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up to 8 healthy records at random for load distribution and availability; health checks filter unhealthy resources.</a:t>
            </a:r>
            <a:endParaRPr lang="en-US" sz="1023" dirty="0"/>
          </a:p>
        </p:txBody>
      </p:sp>
      <p:sp>
        <p:nvSpPr>
          <p:cNvPr id="49" name="Text 16"/>
          <p:cNvSpPr/>
          <p:nvPr/>
        </p:nvSpPr>
        <p:spPr>
          <a:xfrm>
            <a:off x="9113622" y="3568760"/>
            <a:ext cx="10875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IP-based</a:t>
            </a:r>
            <a:endParaRPr lang="en-US" sz="1461" dirty="0"/>
          </a:p>
        </p:txBody>
      </p:sp>
      <p:sp>
        <p:nvSpPr>
          <p:cNvPr id="50" name="Text 17"/>
          <p:cNvSpPr/>
          <p:nvPr/>
        </p:nvSpPr>
        <p:spPr>
          <a:xfrm>
            <a:off x="8723833" y="3921425"/>
            <a:ext cx="211599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using client IP address CIDR blocks for detailed network-based traffic management.</a:t>
            </a:r>
            <a:endParaRPr lang="en-US" sz="1023" dirty="0"/>
          </a:p>
        </p:txBody>
      </p:sp>
      <p:sp>
        <p:nvSpPr>
          <p:cNvPr id="51" name="Text 18"/>
          <p:cNvSpPr/>
          <p:nvPr/>
        </p:nvSpPr>
        <p:spPr>
          <a:xfrm>
            <a:off x="1039435" y="5406333"/>
            <a:ext cx="98003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315" dirty="0"/>
          </a:p>
        </p:txBody>
      </p:sp>
      <p:sp>
        <p:nvSpPr>
          <p:cNvPr id="52" name="Text 19"/>
          <p:cNvSpPr/>
          <p:nvPr/>
        </p:nvSpPr>
        <p:spPr>
          <a:xfrm>
            <a:off x="1243610" y="5740438"/>
            <a:ext cx="320026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availability and fault tolerance</a:t>
            </a:r>
            <a:endParaRPr lang="en-US" sz="1023" dirty="0"/>
          </a:p>
        </p:txBody>
      </p:sp>
      <p:sp>
        <p:nvSpPr>
          <p:cNvPr id="53" name="Text 20"/>
          <p:cNvSpPr/>
          <p:nvPr/>
        </p:nvSpPr>
        <p:spPr>
          <a:xfrm>
            <a:off x="4559856" y="5740438"/>
            <a:ext cx="304818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performance for global users</a:t>
            </a:r>
            <a:endParaRPr lang="en-US" sz="1023" dirty="0"/>
          </a:p>
        </p:txBody>
      </p:sp>
      <p:sp>
        <p:nvSpPr>
          <p:cNvPr id="54" name="Text 21"/>
          <p:cNvSpPr/>
          <p:nvPr/>
        </p:nvSpPr>
        <p:spPr>
          <a:xfrm>
            <a:off x="7876102" y="5740438"/>
            <a:ext cx="287294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Flexible traffic distribution strategies</a:t>
            </a:r>
            <a:endParaRPr lang="en-US" sz="1023" dirty="0"/>
          </a:p>
        </p:txBody>
      </p:sp>
      <p:sp>
        <p:nvSpPr>
          <p:cNvPr id="55" name="Text 22"/>
          <p:cNvSpPr/>
          <p:nvPr/>
        </p:nvSpPr>
        <p:spPr>
          <a:xfrm>
            <a:off x="1095120" y="6315839"/>
            <a:ext cx="18648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47195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81" y="1471328"/>
            <a:ext cx="74245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54" y="3327462"/>
            <a:ext cx="74245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0521" y="5183597"/>
            <a:ext cx="74245" cy="7424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8741" y="1935361"/>
            <a:ext cx="74245" cy="7424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2775" y="4719564"/>
            <a:ext cx="74245" cy="742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6640" y="3791496"/>
            <a:ext cx="74245" cy="7424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2704" y="1434205"/>
            <a:ext cx="18561" cy="111368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9813" y="3151129"/>
            <a:ext cx="18561" cy="139210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3931" y="4311214"/>
            <a:ext cx="18561" cy="92806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895926"/>
            <a:ext cx="742454" cy="3712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963" y="1109381"/>
            <a:ext cx="222736" cy="22273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2185939"/>
            <a:ext cx="278420" cy="22273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963" y="2566447"/>
            <a:ext cx="334104" cy="3341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6770" y="2659254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963" y="3011919"/>
            <a:ext cx="334104" cy="33410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6770" y="3104726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963" y="3420269"/>
            <a:ext cx="334104" cy="33410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6770" y="3513076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6613" y="1109381"/>
            <a:ext cx="278420" cy="222736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36613" y="1489889"/>
            <a:ext cx="334104" cy="334104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10858" y="1582695"/>
            <a:ext cx="185613" cy="14849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36613" y="1935361"/>
            <a:ext cx="334104" cy="334104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47981" y="2028168"/>
            <a:ext cx="111368" cy="14849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6613" y="2343711"/>
            <a:ext cx="334104" cy="334104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9419" y="2436517"/>
            <a:ext cx="148491" cy="148491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36612" y="2900551"/>
            <a:ext cx="5048687" cy="1856135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79067" y="3568760"/>
            <a:ext cx="593963" cy="593963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36838" y="3717250"/>
            <a:ext cx="278420" cy="296982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70011" y="3819338"/>
            <a:ext cx="148491" cy="148491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63974" y="3568760"/>
            <a:ext cx="593963" cy="593963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21746" y="3717250"/>
            <a:ext cx="278420" cy="296982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948882" y="3568760"/>
            <a:ext cx="593963" cy="593963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34496" y="3717250"/>
            <a:ext cx="222736" cy="296982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14877" y="3302598"/>
            <a:ext cx="1209823" cy="259859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593963" y="450453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Routing Policy</a:t>
            </a:r>
            <a:endParaRPr lang="en-US" sz="2631" dirty="0"/>
          </a:p>
        </p:txBody>
      </p:sp>
      <p:sp>
        <p:nvSpPr>
          <p:cNvPr id="43" name="Text 1"/>
          <p:cNvSpPr/>
          <p:nvPr/>
        </p:nvSpPr>
        <p:spPr>
          <a:xfrm>
            <a:off x="890944" y="1081539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Definition</a:t>
            </a:r>
            <a:endParaRPr lang="en-US" sz="1754" dirty="0"/>
          </a:p>
        </p:txBody>
      </p:sp>
      <p:sp>
        <p:nvSpPr>
          <p:cNvPr id="44" name="Text 2"/>
          <p:cNvSpPr/>
          <p:nvPr/>
        </p:nvSpPr>
        <p:spPr>
          <a:xfrm>
            <a:off x="593963" y="1489889"/>
            <a:ext cx="504868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most fundamental and default routing policy in Amazon Route 53. Directs traffic to a single resource without health checks.</a:t>
            </a:r>
            <a:endParaRPr lang="en-US" sz="1169" dirty="0"/>
          </a:p>
        </p:txBody>
      </p:sp>
      <p:sp>
        <p:nvSpPr>
          <p:cNvPr id="45" name="Text 3"/>
          <p:cNvSpPr/>
          <p:nvPr/>
        </p:nvSpPr>
        <p:spPr>
          <a:xfrm>
            <a:off x="946628" y="2158097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754" dirty="0"/>
          </a:p>
        </p:txBody>
      </p:sp>
      <p:sp>
        <p:nvSpPr>
          <p:cNvPr id="46" name="Text 4"/>
          <p:cNvSpPr/>
          <p:nvPr/>
        </p:nvSpPr>
        <p:spPr>
          <a:xfrm>
            <a:off x="1039435" y="2622131"/>
            <a:ext cx="414184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the specified value(s) for a DNS query</a:t>
            </a:r>
            <a:endParaRPr lang="en-US" sz="1169" dirty="0"/>
          </a:p>
        </p:txBody>
      </p:sp>
      <p:sp>
        <p:nvSpPr>
          <p:cNvPr id="47" name="Text 5"/>
          <p:cNvSpPr/>
          <p:nvPr/>
        </p:nvSpPr>
        <p:spPr>
          <a:xfrm>
            <a:off x="1039435" y="3067603"/>
            <a:ext cx="440669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return multiple IP addresses in random order</a:t>
            </a:r>
            <a:endParaRPr lang="en-US" sz="1169" dirty="0"/>
          </a:p>
        </p:txBody>
      </p:sp>
      <p:sp>
        <p:nvSpPr>
          <p:cNvPr id="48" name="Text 6"/>
          <p:cNvSpPr/>
          <p:nvPr/>
        </p:nvSpPr>
        <p:spPr>
          <a:xfrm>
            <a:off x="1039435" y="3475953"/>
            <a:ext cx="53221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health checks - traffic sent regardless of resource status</a:t>
            </a:r>
            <a:endParaRPr lang="en-US" sz="1169" dirty="0"/>
          </a:p>
        </p:txBody>
      </p:sp>
      <p:sp>
        <p:nvSpPr>
          <p:cNvPr id="49" name="Text 7"/>
          <p:cNvSpPr/>
          <p:nvPr/>
        </p:nvSpPr>
        <p:spPr>
          <a:xfrm>
            <a:off x="6589278" y="1081539"/>
            <a:ext cx="605842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Applicable Scenarios</a:t>
            </a:r>
            <a:endParaRPr lang="en-US" sz="1754" dirty="0"/>
          </a:p>
        </p:txBody>
      </p:sp>
      <p:sp>
        <p:nvSpPr>
          <p:cNvPr id="50" name="Text 8"/>
          <p:cNvSpPr/>
          <p:nvPr/>
        </p:nvSpPr>
        <p:spPr>
          <a:xfrm>
            <a:off x="6682085" y="1545573"/>
            <a:ext cx="356186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and Testing Environments</a:t>
            </a:r>
            <a:endParaRPr lang="en-US" sz="1169" dirty="0"/>
          </a:p>
        </p:txBody>
      </p:sp>
      <p:sp>
        <p:nvSpPr>
          <p:cNvPr id="51" name="Text 9"/>
          <p:cNvSpPr/>
          <p:nvPr/>
        </p:nvSpPr>
        <p:spPr>
          <a:xfrm>
            <a:off x="6682085" y="1991045"/>
            <a:ext cx="149476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Internal Services</a:t>
            </a:r>
            <a:endParaRPr lang="en-US" sz="1169" dirty="0"/>
          </a:p>
        </p:txBody>
      </p:sp>
      <p:sp>
        <p:nvSpPr>
          <p:cNvPr id="52" name="Text 10"/>
          <p:cNvSpPr/>
          <p:nvPr/>
        </p:nvSpPr>
        <p:spPr>
          <a:xfrm>
            <a:off x="6682085" y="2399395"/>
            <a:ext cx="146831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Websites</a:t>
            </a:r>
            <a:endParaRPr lang="en-US" sz="1169" dirty="0"/>
          </a:p>
        </p:txBody>
      </p:sp>
      <p:sp>
        <p:nvSpPr>
          <p:cNvPr id="53" name="Text 11"/>
          <p:cNvSpPr/>
          <p:nvPr/>
        </p:nvSpPr>
        <p:spPr>
          <a:xfrm>
            <a:off x="6385103" y="2948881"/>
            <a:ext cx="47517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Routing Flow</a:t>
            </a:r>
            <a:endParaRPr lang="en-US" sz="1315" dirty="0"/>
          </a:p>
        </p:txBody>
      </p:sp>
      <p:sp>
        <p:nvSpPr>
          <p:cNvPr id="54" name="Text 12"/>
          <p:cNvSpPr/>
          <p:nvPr/>
        </p:nvSpPr>
        <p:spPr>
          <a:xfrm>
            <a:off x="7087969" y="4348337"/>
            <a:ext cx="45138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</a:t>
            </a:r>
            <a:endParaRPr lang="en-US" sz="1023" dirty="0"/>
          </a:p>
        </p:txBody>
      </p:sp>
      <p:sp>
        <p:nvSpPr>
          <p:cNvPr id="56" name="Text 14"/>
          <p:cNvSpPr/>
          <p:nvPr/>
        </p:nvSpPr>
        <p:spPr>
          <a:xfrm>
            <a:off x="8469050" y="4348337"/>
            <a:ext cx="700574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</a:t>
            </a:r>
            <a:endParaRPr lang="en-US" sz="1023" dirty="0"/>
          </a:p>
        </p:txBody>
      </p:sp>
      <p:sp>
        <p:nvSpPr>
          <p:cNvPr id="57" name="Text 15"/>
          <p:cNvSpPr/>
          <p:nvPr/>
        </p:nvSpPr>
        <p:spPr>
          <a:xfrm>
            <a:off x="9947867" y="4348337"/>
            <a:ext cx="71501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</a:t>
            </a:r>
            <a:endParaRPr lang="en-US" sz="1023" dirty="0"/>
          </a:p>
        </p:txBody>
      </p:sp>
      <p:sp>
        <p:nvSpPr>
          <p:cNvPr id="58" name="Text 16"/>
          <p:cNvSpPr/>
          <p:nvPr/>
        </p:nvSpPr>
        <p:spPr>
          <a:xfrm>
            <a:off x="8332043" y="3329214"/>
            <a:ext cx="145178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IP: 203.0.113.1</a:t>
            </a:r>
            <a:endParaRPr lang="en-US" sz="10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47791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424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981" y="1146504"/>
            <a:ext cx="222736" cy="2227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981" y="2557166"/>
            <a:ext cx="278420" cy="2227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81" y="2965516"/>
            <a:ext cx="167052" cy="16705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81" y="3299620"/>
            <a:ext cx="167052" cy="16705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981" y="3633725"/>
            <a:ext cx="167052" cy="16705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981" y="4116320"/>
            <a:ext cx="167052" cy="222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981" y="4496827"/>
            <a:ext cx="5419914" cy="74245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368" y="1146504"/>
            <a:ext cx="250578" cy="22273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2367" y="1564134"/>
            <a:ext cx="5419914" cy="356377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858" y="1712625"/>
            <a:ext cx="371227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5429" y="1823993"/>
            <a:ext cx="102087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7134" y="2306588"/>
            <a:ext cx="890945" cy="118792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46569" y="2306588"/>
            <a:ext cx="890945" cy="118792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7134" y="4348336"/>
            <a:ext cx="890945" cy="63108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46569" y="4348336"/>
            <a:ext cx="890945" cy="631086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63043" y="2603570"/>
            <a:ext cx="18561" cy="89094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4327" y="3791496"/>
            <a:ext cx="18561" cy="59396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30321" y="3791496"/>
            <a:ext cx="18561" cy="593963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367" y="5276404"/>
            <a:ext cx="5419914" cy="742454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5473" y="283401"/>
            <a:ext cx="5123802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Weighted Routing </a:t>
            </a:r>
            <a:r>
              <a:rPr lang="en-US" sz="2338" b="1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Policy</a:t>
            </a:r>
            <a:endParaRPr lang="en-US" sz="2192" dirty="0">
              <a:solidFill>
                <a:schemeClr val="bg1"/>
              </a:solidFill>
            </a:endParaRPr>
          </a:p>
        </p:txBody>
      </p:sp>
      <p:sp>
        <p:nvSpPr>
          <p:cNvPr id="26" name="Text 1"/>
          <p:cNvSpPr/>
          <p:nvPr/>
        </p:nvSpPr>
        <p:spPr>
          <a:xfrm>
            <a:off x="593963" y="1118662"/>
            <a:ext cx="541991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Definition</a:t>
            </a:r>
            <a:endParaRPr lang="en-US" sz="1754" dirty="0"/>
          </a:p>
        </p:txBody>
      </p:sp>
      <p:sp>
        <p:nvSpPr>
          <p:cNvPr id="27" name="Text 2"/>
          <p:cNvSpPr/>
          <p:nvPr/>
        </p:nvSpPr>
        <p:spPr>
          <a:xfrm>
            <a:off x="296981" y="1527011"/>
            <a:ext cx="5419914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Weighted routing in Amazon Route 53 distributes DNS traffic among multiple resources using relative weights to specify traffic proportions.</a:t>
            </a:r>
            <a:endParaRPr lang="en-US" sz="1315" dirty="0"/>
          </a:p>
        </p:txBody>
      </p:sp>
      <p:sp>
        <p:nvSpPr>
          <p:cNvPr id="28" name="Text 3"/>
          <p:cNvSpPr/>
          <p:nvPr/>
        </p:nvSpPr>
        <p:spPr>
          <a:xfrm>
            <a:off x="649647" y="2529324"/>
            <a:ext cx="541991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754" dirty="0"/>
          </a:p>
        </p:txBody>
      </p:sp>
      <p:sp>
        <p:nvSpPr>
          <p:cNvPr id="29" name="Text 4"/>
          <p:cNvSpPr/>
          <p:nvPr/>
        </p:nvSpPr>
        <p:spPr>
          <a:xfrm>
            <a:off x="352666" y="2937674"/>
            <a:ext cx="67266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multiple records with same name and type</a:t>
            </a:r>
            <a:endParaRPr lang="en-US" sz="1315" dirty="0"/>
          </a:p>
        </p:txBody>
      </p:sp>
      <p:sp>
        <p:nvSpPr>
          <p:cNvPr id="30" name="Text 5"/>
          <p:cNvSpPr/>
          <p:nvPr/>
        </p:nvSpPr>
        <p:spPr>
          <a:xfrm>
            <a:off x="352666" y="3271778"/>
            <a:ext cx="67266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Assigns relative weights (0-255) to each record</a:t>
            </a:r>
            <a:endParaRPr lang="en-US" sz="1315" dirty="0"/>
          </a:p>
        </p:txBody>
      </p:sp>
      <p:sp>
        <p:nvSpPr>
          <p:cNvPr id="31" name="Text 6"/>
          <p:cNvSpPr/>
          <p:nvPr/>
        </p:nvSpPr>
        <p:spPr>
          <a:xfrm>
            <a:off x="352666" y="3605882"/>
            <a:ext cx="67266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Calculates traffic based on weight ratios</a:t>
            </a:r>
            <a:endParaRPr lang="en-US" sz="1315" dirty="0"/>
          </a:p>
        </p:txBody>
      </p:sp>
      <p:sp>
        <p:nvSpPr>
          <p:cNvPr id="32" name="Text 7"/>
          <p:cNvSpPr/>
          <p:nvPr/>
        </p:nvSpPr>
        <p:spPr>
          <a:xfrm>
            <a:off x="538279" y="4088477"/>
            <a:ext cx="541991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Calculation Example</a:t>
            </a:r>
            <a:endParaRPr lang="en-US" sz="1754" dirty="0"/>
          </a:p>
        </p:txBody>
      </p:sp>
      <p:sp>
        <p:nvSpPr>
          <p:cNvPr id="33" name="Text 8"/>
          <p:cNvSpPr/>
          <p:nvPr/>
        </p:nvSpPr>
        <p:spPr>
          <a:xfrm>
            <a:off x="445472" y="4645318"/>
            <a:ext cx="512293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total weight is 256, a record with weight 1 receives 1/256th of traffic.</a:t>
            </a:r>
            <a:endParaRPr lang="en-US" sz="1169" dirty="0"/>
          </a:p>
        </p:txBody>
      </p:sp>
      <p:sp>
        <p:nvSpPr>
          <p:cNvPr id="34" name="Text 9"/>
          <p:cNvSpPr/>
          <p:nvPr/>
        </p:nvSpPr>
        <p:spPr>
          <a:xfrm>
            <a:off x="6487191" y="1118662"/>
            <a:ext cx="650389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Distribution Visual</a:t>
            </a:r>
            <a:endParaRPr lang="en-US" sz="1754" dirty="0"/>
          </a:p>
        </p:txBody>
      </p:sp>
      <p:sp>
        <p:nvSpPr>
          <p:cNvPr id="35" name="Text 10"/>
          <p:cNvSpPr/>
          <p:nvPr/>
        </p:nvSpPr>
        <p:spPr>
          <a:xfrm>
            <a:off x="6756330" y="1786870"/>
            <a:ext cx="116414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Request</a:t>
            </a:r>
            <a:endParaRPr lang="en-US" sz="1169" dirty="0"/>
          </a:p>
        </p:txBody>
      </p:sp>
      <p:sp>
        <p:nvSpPr>
          <p:cNvPr id="36" name="Text 11"/>
          <p:cNvSpPr/>
          <p:nvPr/>
        </p:nvSpPr>
        <p:spPr>
          <a:xfrm>
            <a:off x="8018502" y="2417956"/>
            <a:ext cx="668209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 A</a:t>
            </a:r>
            <a:endParaRPr lang="en-US" sz="1461" dirty="0"/>
          </a:p>
        </p:txBody>
      </p:sp>
      <p:sp>
        <p:nvSpPr>
          <p:cNvPr id="37" name="Text 12"/>
          <p:cNvSpPr/>
          <p:nvPr/>
        </p:nvSpPr>
        <p:spPr>
          <a:xfrm>
            <a:off x="7951681" y="2937674"/>
            <a:ext cx="80185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50</a:t>
            </a:r>
            <a:endParaRPr lang="en-US" sz="1754" dirty="0"/>
          </a:p>
        </p:txBody>
      </p:sp>
      <p:sp>
        <p:nvSpPr>
          <p:cNvPr id="38" name="Text 13"/>
          <p:cNvSpPr/>
          <p:nvPr/>
        </p:nvSpPr>
        <p:spPr>
          <a:xfrm>
            <a:off x="7951681" y="3234655"/>
            <a:ext cx="801850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</a:t>
            </a:r>
            <a:endParaRPr lang="en-US" sz="877" dirty="0"/>
          </a:p>
        </p:txBody>
      </p:sp>
      <p:sp>
        <p:nvSpPr>
          <p:cNvPr id="39" name="Text 14"/>
          <p:cNvSpPr/>
          <p:nvPr/>
        </p:nvSpPr>
        <p:spPr>
          <a:xfrm>
            <a:off x="9057937" y="2417956"/>
            <a:ext cx="668209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 B</a:t>
            </a:r>
            <a:endParaRPr lang="en-US" sz="1461" dirty="0"/>
          </a:p>
        </p:txBody>
      </p:sp>
      <p:sp>
        <p:nvSpPr>
          <p:cNvPr id="40" name="Text 15"/>
          <p:cNvSpPr/>
          <p:nvPr/>
        </p:nvSpPr>
        <p:spPr>
          <a:xfrm>
            <a:off x="8991117" y="2937674"/>
            <a:ext cx="80185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150</a:t>
            </a:r>
            <a:endParaRPr lang="en-US" sz="1754" dirty="0"/>
          </a:p>
        </p:txBody>
      </p:sp>
      <p:sp>
        <p:nvSpPr>
          <p:cNvPr id="41" name="Text 16"/>
          <p:cNvSpPr/>
          <p:nvPr/>
        </p:nvSpPr>
        <p:spPr>
          <a:xfrm>
            <a:off x="8991117" y="3234655"/>
            <a:ext cx="801850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</a:t>
            </a:r>
            <a:endParaRPr lang="en-US" sz="877" dirty="0"/>
          </a:p>
        </p:txBody>
      </p:sp>
      <p:sp>
        <p:nvSpPr>
          <p:cNvPr id="42" name="Text 17"/>
          <p:cNvSpPr/>
          <p:nvPr/>
        </p:nvSpPr>
        <p:spPr>
          <a:xfrm>
            <a:off x="7951681" y="4459705"/>
            <a:ext cx="80185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25%</a:t>
            </a:r>
            <a:endParaRPr lang="en-US" sz="1169" dirty="0"/>
          </a:p>
        </p:txBody>
      </p:sp>
      <p:sp>
        <p:nvSpPr>
          <p:cNvPr id="43" name="Text 18"/>
          <p:cNvSpPr/>
          <p:nvPr/>
        </p:nvSpPr>
        <p:spPr>
          <a:xfrm>
            <a:off x="7951681" y="4682441"/>
            <a:ext cx="80185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</a:t>
            </a:r>
            <a:endParaRPr lang="en-US" sz="1023" dirty="0"/>
          </a:p>
        </p:txBody>
      </p:sp>
      <p:sp>
        <p:nvSpPr>
          <p:cNvPr id="44" name="Text 19"/>
          <p:cNvSpPr/>
          <p:nvPr/>
        </p:nvSpPr>
        <p:spPr>
          <a:xfrm>
            <a:off x="8991117" y="4459705"/>
            <a:ext cx="80185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75%</a:t>
            </a:r>
            <a:endParaRPr lang="en-US" sz="1169" dirty="0"/>
          </a:p>
        </p:txBody>
      </p:sp>
      <p:sp>
        <p:nvSpPr>
          <p:cNvPr id="45" name="Text 20"/>
          <p:cNvSpPr/>
          <p:nvPr/>
        </p:nvSpPr>
        <p:spPr>
          <a:xfrm>
            <a:off x="8991117" y="4682441"/>
            <a:ext cx="80185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</a:t>
            </a:r>
            <a:endParaRPr lang="en-US" sz="1023" dirty="0"/>
          </a:p>
        </p:txBody>
      </p:sp>
      <p:sp>
        <p:nvSpPr>
          <p:cNvPr id="46" name="Text 21"/>
          <p:cNvSpPr/>
          <p:nvPr/>
        </p:nvSpPr>
        <p:spPr>
          <a:xfrm>
            <a:off x="6310858" y="5424895"/>
            <a:ext cx="51229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Proportion Formula:</a:t>
            </a:r>
            <a:endParaRPr lang="en-US" sz="1169" dirty="0"/>
          </a:p>
        </p:txBody>
      </p:sp>
      <p:sp>
        <p:nvSpPr>
          <p:cNvPr id="47" name="Text 22"/>
          <p:cNvSpPr/>
          <p:nvPr/>
        </p:nvSpPr>
        <p:spPr>
          <a:xfrm>
            <a:off x="6310858" y="5647631"/>
            <a:ext cx="614751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Traffic = (Resource Weight) / (Total Weight) × 100%</a:t>
            </a:r>
            <a:endParaRPr lang="en-US" sz="116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37501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6820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736" y="970171"/>
            <a:ext cx="11433790" cy="200462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1489889"/>
            <a:ext cx="185613" cy="25985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27" y="2158097"/>
            <a:ext cx="185613" cy="2598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1" y="1489889"/>
            <a:ext cx="185613" cy="25985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1" y="2158097"/>
            <a:ext cx="185613" cy="2598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736" y="3494514"/>
            <a:ext cx="3811167" cy="185613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898" y="4236968"/>
            <a:ext cx="623777" cy="64964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8851" y="4334416"/>
            <a:ext cx="92807" cy="9280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009" y="4455065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12744" y="4236968"/>
            <a:ext cx="623777" cy="64964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2917" y="4348337"/>
            <a:ext cx="1686763" cy="2784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33903" y="3494514"/>
            <a:ext cx="3811167" cy="185613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78652" y="4236968"/>
            <a:ext cx="636190" cy="64964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64253" y="4236968"/>
            <a:ext cx="683435" cy="64964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22863" y="4334416"/>
            <a:ext cx="92807" cy="9280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5021" y="4455065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96270" y="4348337"/>
            <a:ext cx="1124411" cy="2784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45070" y="3494514"/>
            <a:ext cx="3811167" cy="185613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7098" y="4236968"/>
            <a:ext cx="628910" cy="64964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01184" y="4334416"/>
            <a:ext cx="92807" cy="92807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3342" y="4455065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83597" y="4236968"/>
            <a:ext cx="675257" cy="649647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15251" y="4348337"/>
            <a:ext cx="1686763" cy="27842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2736" y="5833244"/>
            <a:ext cx="167052" cy="259859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83496" y="5833244"/>
            <a:ext cx="167052" cy="259859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44257" y="5833244"/>
            <a:ext cx="167052" cy="259859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45472" y="227717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Failover Routing</a:t>
            </a:r>
            <a:endParaRPr lang="en-US" sz="2631" dirty="0"/>
          </a:p>
        </p:txBody>
      </p:sp>
      <p:sp>
        <p:nvSpPr>
          <p:cNvPr id="33" name="Text 1"/>
          <p:cNvSpPr/>
          <p:nvPr/>
        </p:nvSpPr>
        <p:spPr>
          <a:xfrm>
            <a:off x="371227" y="1118662"/>
            <a:ext cx="1113680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Failover Routing?</a:t>
            </a:r>
            <a:endParaRPr lang="en-US" sz="1754" dirty="0"/>
          </a:p>
        </p:txBody>
      </p:sp>
      <p:sp>
        <p:nvSpPr>
          <p:cNvPr id="34" name="Text 2"/>
          <p:cNvSpPr/>
          <p:nvPr/>
        </p:nvSpPr>
        <p:spPr>
          <a:xfrm>
            <a:off x="705331" y="1489889"/>
            <a:ext cx="44131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Active-Passive Configuration</a:t>
            </a:r>
            <a:endParaRPr lang="en-US" sz="1461" dirty="0"/>
          </a:p>
        </p:txBody>
      </p:sp>
      <p:sp>
        <p:nvSpPr>
          <p:cNvPr id="35" name="Text 3"/>
          <p:cNvSpPr/>
          <p:nvPr/>
        </p:nvSpPr>
        <p:spPr>
          <a:xfrm>
            <a:off x="705331" y="1749748"/>
            <a:ext cx="44131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resource handles traffic until failure</a:t>
            </a:r>
            <a:endParaRPr lang="en-US" sz="1315" dirty="0"/>
          </a:p>
        </p:txBody>
      </p:sp>
      <p:sp>
        <p:nvSpPr>
          <p:cNvPr id="36" name="Text 4"/>
          <p:cNvSpPr/>
          <p:nvPr/>
        </p:nvSpPr>
        <p:spPr>
          <a:xfrm>
            <a:off x="705332" y="2158097"/>
            <a:ext cx="279342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Availability</a:t>
            </a:r>
            <a:endParaRPr lang="en-US" sz="1461" dirty="0"/>
          </a:p>
        </p:txBody>
      </p:sp>
      <p:sp>
        <p:nvSpPr>
          <p:cNvPr id="37" name="Text 5"/>
          <p:cNvSpPr/>
          <p:nvPr/>
        </p:nvSpPr>
        <p:spPr>
          <a:xfrm>
            <a:off x="705332" y="2417956"/>
            <a:ext cx="279342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Ensures business continuity</a:t>
            </a:r>
            <a:endParaRPr lang="en-US" sz="1315" dirty="0"/>
          </a:p>
        </p:txBody>
      </p:sp>
      <p:sp>
        <p:nvSpPr>
          <p:cNvPr id="38" name="Text 6"/>
          <p:cNvSpPr/>
          <p:nvPr/>
        </p:nvSpPr>
        <p:spPr>
          <a:xfrm>
            <a:off x="6273736" y="1489889"/>
            <a:ext cx="388831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Switchover</a:t>
            </a:r>
            <a:endParaRPr lang="en-US" sz="1461" dirty="0"/>
          </a:p>
        </p:txBody>
      </p:sp>
      <p:sp>
        <p:nvSpPr>
          <p:cNvPr id="39" name="Text 7"/>
          <p:cNvSpPr/>
          <p:nvPr/>
        </p:nvSpPr>
        <p:spPr>
          <a:xfrm>
            <a:off x="6273736" y="1749748"/>
            <a:ext cx="388831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monitors and redirects traffic</a:t>
            </a:r>
            <a:endParaRPr lang="en-US" sz="1315" dirty="0"/>
          </a:p>
        </p:txBody>
      </p:sp>
      <p:sp>
        <p:nvSpPr>
          <p:cNvPr id="40" name="Text 8"/>
          <p:cNvSpPr/>
          <p:nvPr/>
        </p:nvSpPr>
        <p:spPr>
          <a:xfrm>
            <a:off x="6273736" y="2158097"/>
            <a:ext cx="45436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Failback Capability</a:t>
            </a:r>
            <a:endParaRPr lang="en-US" sz="1461" dirty="0"/>
          </a:p>
        </p:txBody>
      </p:sp>
      <p:sp>
        <p:nvSpPr>
          <p:cNvPr id="41" name="Text 9"/>
          <p:cNvSpPr/>
          <p:nvPr/>
        </p:nvSpPr>
        <p:spPr>
          <a:xfrm>
            <a:off x="6273736" y="2417956"/>
            <a:ext cx="45436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to primary resource when it recovers</a:t>
            </a:r>
            <a:endParaRPr lang="en-US" sz="1315" dirty="0"/>
          </a:p>
        </p:txBody>
      </p:sp>
      <p:sp>
        <p:nvSpPr>
          <p:cNvPr id="42" name="Text 10"/>
          <p:cNvSpPr/>
          <p:nvPr/>
        </p:nvSpPr>
        <p:spPr>
          <a:xfrm>
            <a:off x="222736" y="3123287"/>
            <a:ext cx="1143379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Failover and Failback Process</a:t>
            </a:r>
            <a:endParaRPr lang="en-US" sz="1754" dirty="0"/>
          </a:p>
        </p:txBody>
      </p:sp>
      <p:sp>
        <p:nvSpPr>
          <p:cNvPr id="43" name="Text 11"/>
          <p:cNvSpPr/>
          <p:nvPr/>
        </p:nvSpPr>
        <p:spPr>
          <a:xfrm>
            <a:off x="371227" y="3643005"/>
            <a:ext cx="421702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Normal Operation</a:t>
            </a:r>
            <a:endParaRPr lang="en-US" sz="1461" dirty="0"/>
          </a:p>
        </p:txBody>
      </p:sp>
      <p:sp>
        <p:nvSpPr>
          <p:cNvPr id="44" name="Text 12"/>
          <p:cNvSpPr/>
          <p:nvPr/>
        </p:nvSpPr>
        <p:spPr>
          <a:xfrm>
            <a:off x="371227" y="3939987"/>
            <a:ext cx="421702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resource handles all traffic</a:t>
            </a:r>
            <a:endParaRPr lang="en-US" sz="1169" dirty="0"/>
          </a:p>
        </p:txBody>
      </p:sp>
      <p:sp>
        <p:nvSpPr>
          <p:cNvPr id="45" name="Text 13"/>
          <p:cNvSpPr/>
          <p:nvPr/>
        </p:nvSpPr>
        <p:spPr>
          <a:xfrm>
            <a:off x="578447" y="4640678"/>
            <a:ext cx="592165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</a:t>
            </a:r>
            <a:endParaRPr lang="en-US" sz="877" dirty="0"/>
          </a:p>
        </p:txBody>
      </p:sp>
      <p:sp>
        <p:nvSpPr>
          <p:cNvPr id="46" name="Text 14"/>
          <p:cNvSpPr/>
          <p:nvPr/>
        </p:nvSpPr>
        <p:spPr>
          <a:xfrm>
            <a:off x="2428201" y="4640678"/>
            <a:ext cx="791931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</a:t>
            </a:r>
            <a:endParaRPr lang="en-US" sz="877" dirty="0"/>
          </a:p>
        </p:txBody>
      </p:sp>
      <p:sp>
        <p:nvSpPr>
          <p:cNvPr id="47" name="Text 15"/>
          <p:cNvSpPr/>
          <p:nvPr/>
        </p:nvSpPr>
        <p:spPr>
          <a:xfrm>
            <a:off x="4182394" y="3643005"/>
            <a:ext cx="351418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Failure</a:t>
            </a:r>
            <a:endParaRPr lang="en-US" sz="1461" dirty="0"/>
          </a:p>
        </p:txBody>
      </p:sp>
      <p:sp>
        <p:nvSpPr>
          <p:cNvPr id="48" name="Text 16"/>
          <p:cNvSpPr/>
          <p:nvPr/>
        </p:nvSpPr>
        <p:spPr>
          <a:xfrm>
            <a:off x="4182394" y="3939987"/>
            <a:ext cx="421702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redirection to secondary</a:t>
            </a:r>
            <a:endParaRPr lang="en-US" sz="1169" dirty="0"/>
          </a:p>
        </p:txBody>
      </p:sp>
      <p:sp>
        <p:nvSpPr>
          <p:cNvPr id="49" name="Text 17"/>
          <p:cNvSpPr/>
          <p:nvPr/>
        </p:nvSpPr>
        <p:spPr>
          <a:xfrm>
            <a:off x="4389614" y="4640678"/>
            <a:ext cx="592165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</a:t>
            </a:r>
            <a:endParaRPr lang="en-US" sz="877" dirty="0"/>
          </a:p>
        </p:txBody>
      </p:sp>
      <p:sp>
        <p:nvSpPr>
          <p:cNvPr id="50" name="Text 18"/>
          <p:cNvSpPr/>
          <p:nvPr/>
        </p:nvSpPr>
        <p:spPr>
          <a:xfrm>
            <a:off x="6239368" y="4640678"/>
            <a:ext cx="791931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</a:t>
            </a:r>
            <a:endParaRPr lang="en-US" sz="877" dirty="0"/>
          </a:p>
        </p:txBody>
      </p:sp>
      <p:sp>
        <p:nvSpPr>
          <p:cNvPr id="51" name="Text 19"/>
          <p:cNvSpPr/>
          <p:nvPr/>
        </p:nvSpPr>
        <p:spPr>
          <a:xfrm>
            <a:off x="7993561" y="3643005"/>
            <a:ext cx="421702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Recovery</a:t>
            </a:r>
            <a:endParaRPr lang="en-US" sz="1461" dirty="0"/>
          </a:p>
        </p:txBody>
      </p:sp>
      <p:sp>
        <p:nvSpPr>
          <p:cNvPr id="52" name="Text 20"/>
          <p:cNvSpPr/>
          <p:nvPr/>
        </p:nvSpPr>
        <p:spPr>
          <a:xfrm>
            <a:off x="7993561" y="3939987"/>
            <a:ext cx="421702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 to primary when healthy</a:t>
            </a:r>
            <a:endParaRPr lang="en-US" sz="1169" dirty="0"/>
          </a:p>
        </p:txBody>
      </p:sp>
      <p:sp>
        <p:nvSpPr>
          <p:cNvPr id="53" name="Text 21"/>
          <p:cNvSpPr/>
          <p:nvPr/>
        </p:nvSpPr>
        <p:spPr>
          <a:xfrm>
            <a:off x="8200781" y="4640678"/>
            <a:ext cx="592165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</a:t>
            </a:r>
            <a:endParaRPr lang="en-US" sz="877" dirty="0"/>
          </a:p>
        </p:txBody>
      </p:sp>
      <p:sp>
        <p:nvSpPr>
          <p:cNvPr id="54" name="Text 22"/>
          <p:cNvSpPr/>
          <p:nvPr/>
        </p:nvSpPr>
        <p:spPr>
          <a:xfrm>
            <a:off x="10050535" y="4640678"/>
            <a:ext cx="791931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</a:t>
            </a:r>
            <a:endParaRPr lang="en-US" sz="877" dirty="0"/>
          </a:p>
        </p:txBody>
      </p:sp>
      <p:sp>
        <p:nvSpPr>
          <p:cNvPr id="55" name="Text 23"/>
          <p:cNvSpPr/>
          <p:nvPr/>
        </p:nvSpPr>
        <p:spPr>
          <a:xfrm>
            <a:off x="222736" y="5499140"/>
            <a:ext cx="1143379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Aspects</a:t>
            </a:r>
            <a:endParaRPr lang="en-US" sz="1461" dirty="0"/>
          </a:p>
        </p:txBody>
      </p:sp>
      <p:sp>
        <p:nvSpPr>
          <p:cNvPr id="56" name="Text 24"/>
          <p:cNvSpPr/>
          <p:nvPr/>
        </p:nvSpPr>
        <p:spPr>
          <a:xfrm>
            <a:off x="464033" y="5833244"/>
            <a:ext cx="270850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Detection</a:t>
            </a:r>
            <a:endParaRPr lang="en-US" sz="1169" dirty="0"/>
          </a:p>
        </p:txBody>
      </p:sp>
      <p:sp>
        <p:nvSpPr>
          <p:cNvPr id="57" name="Text 25"/>
          <p:cNvSpPr/>
          <p:nvPr/>
        </p:nvSpPr>
        <p:spPr>
          <a:xfrm>
            <a:off x="464033" y="6055981"/>
            <a:ext cx="270850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monitors resource health</a:t>
            </a:r>
            <a:endParaRPr lang="en-US" sz="1023" dirty="0"/>
          </a:p>
        </p:txBody>
      </p:sp>
      <p:sp>
        <p:nvSpPr>
          <p:cNvPr id="58" name="Text 26"/>
          <p:cNvSpPr/>
          <p:nvPr/>
        </p:nvSpPr>
        <p:spPr>
          <a:xfrm>
            <a:off x="4324794" y="5833244"/>
            <a:ext cx="263455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Seamless Transition</a:t>
            </a:r>
            <a:endParaRPr lang="en-US" sz="1169" dirty="0"/>
          </a:p>
        </p:txBody>
      </p:sp>
      <p:sp>
        <p:nvSpPr>
          <p:cNvPr id="59" name="Text 27"/>
          <p:cNvSpPr/>
          <p:nvPr/>
        </p:nvSpPr>
        <p:spPr>
          <a:xfrm>
            <a:off x="4324794" y="6055981"/>
            <a:ext cx="263455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configuration changes needed</a:t>
            </a:r>
            <a:endParaRPr lang="en-US" sz="1023" dirty="0"/>
          </a:p>
        </p:txBody>
      </p:sp>
      <p:sp>
        <p:nvSpPr>
          <p:cNvPr id="60" name="Text 28"/>
          <p:cNvSpPr/>
          <p:nvPr/>
        </p:nvSpPr>
        <p:spPr>
          <a:xfrm>
            <a:off x="8185555" y="5833244"/>
            <a:ext cx="276627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Return</a:t>
            </a:r>
            <a:endParaRPr lang="en-US" sz="1169" dirty="0"/>
          </a:p>
        </p:txBody>
      </p:sp>
      <p:sp>
        <p:nvSpPr>
          <p:cNvPr id="61" name="Text 29"/>
          <p:cNvSpPr/>
          <p:nvPr/>
        </p:nvSpPr>
        <p:spPr>
          <a:xfrm>
            <a:off x="8185555" y="6055981"/>
            <a:ext cx="276627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to primary when recovered</a:t>
            </a:r>
            <a:endParaRPr lang="en-US" sz="102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08532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748" y="1749748"/>
            <a:ext cx="74245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521" y="3605883"/>
            <a:ext cx="74245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589" y="5462017"/>
            <a:ext cx="74245" cy="7424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3128" y="2120975"/>
            <a:ext cx="74245" cy="7424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7161" y="4905177"/>
            <a:ext cx="74245" cy="742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027" y="3977110"/>
            <a:ext cx="74245" cy="7424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4284" y="1712625"/>
            <a:ext cx="18561" cy="92806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4200" y="3336743"/>
            <a:ext cx="18561" cy="139210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5511" y="4589634"/>
            <a:ext cx="18561" cy="74245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895926"/>
            <a:ext cx="742454" cy="3712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1109381"/>
            <a:ext cx="222736" cy="22273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963" y="2408676"/>
            <a:ext cx="278420" cy="22273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2789183"/>
            <a:ext cx="334104" cy="3341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6770" y="2881990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3234656"/>
            <a:ext cx="334104" cy="33410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6770" y="3327462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3643005"/>
            <a:ext cx="334104" cy="33410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6770" y="3735812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6613" y="1109381"/>
            <a:ext cx="278420" cy="222736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6613" y="1489889"/>
            <a:ext cx="334104" cy="334104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9419" y="1582695"/>
            <a:ext cx="148491" cy="14849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6613" y="1935361"/>
            <a:ext cx="334104" cy="334104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10858" y="2028168"/>
            <a:ext cx="185613" cy="14849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6612" y="2492201"/>
            <a:ext cx="5048687" cy="2969816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5103" y="3011919"/>
            <a:ext cx="1484908" cy="2283047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88347" y="3443731"/>
            <a:ext cx="278420" cy="296982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51900" y="3011919"/>
            <a:ext cx="1484908" cy="2174728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55144" y="3435326"/>
            <a:ext cx="278420" cy="296982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88347" y="4071313"/>
            <a:ext cx="278420" cy="296982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55144" y="4104932"/>
            <a:ext cx="278420" cy="296982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66993" y="3457392"/>
            <a:ext cx="1187926" cy="1187926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63510" y="3772934"/>
            <a:ext cx="194894" cy="296982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82377" y="3600415"/>
            <a:ext cx="1460177" cy="345041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79358" y="3600415"/>
            <a:ext cx="1460177" cy="345041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82377" y="4157256"/>
            <a:ext cx="1460177" cy="345041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9358" y="4157256"/>
            <a:ext cx="1460177" cy="345041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593963" y="450453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 Routing Policy</a:t>
            </a:r>
            <a:endParaRPr lang="en-US" sz="2631" dirty="0"/>
          </a:p>
        </p:txBody>
      </p:sp>
      <p:sp>
        <p:nvSpPr>
          <p:cNvPr id="47" name="Text 1"/>
          <p:cNvSpPr/>
          <p:nvPr/>
        </p:nvSpPr>
        <p:spPr>
          <a:xfrm>
            <a:off x="890944" y="1081539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Definition</a:t>
            </a:r>
            <a:endParaRPr lang="en-US" sz="1754" dirty="0"/>
          </a:p>
        </p:txBody>
      </p:sp>
      <p:sp>
        <p:nvSpPr>
          <p:cNvPr id="48" name="Text 2"/>
          <p:cNvSpPr/>
          <p:nvPr/>
        </p:nvSpPr>
        <p:spPr>
          <a:xfrm>
            <a:off x="593963" y="1489889"/>
            <a:ext cx="5048687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Directs traffic to the AWS region with the lowest network latency for the querying user, enhancing performance for global applications.</a:t>
            </a:r>
            <a:endParaRPr lang="en-US" sz="1169" dirty="0"/>
          </a:p>
        </p:txBody>
      </p:sp>
      <p:sp>
        <p:nvSpPr>
          <p:cNvPr id="49" name="Text 3"/>
          <p:cNvSpPr/>
          <p:nvPr/>
        </p:nvSpPr>
        <p:spPr>
          <a:xfrm>
            <a:off x="946628" y="2380833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754" dirty="0"/>
          </a:p>
        </p:txBody>
      </p:sp>
      <p:sp>
        <p:nvSpPr>
          <p:cNvPr id="50" name="Text 4"/>
          <p:cNvSpPr/>
          <p:nvPr/>
        </p:nvSpPr>
        <p:spPr>
          <a:xfrm>
            <a:off x="1039436" y="2844867"/>
            <a:ext cx="518992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Monitors network latency between users and AWS regions</a:t>
            </a:r>
            <a:endParaRPr lang="en-US" sz="1169" dirty="0"/>
          </a:p>
        </p:txBody>
      </p:sp>
      <p:sp>
        <p:nvSpPr>
          <p:cNvPr id="51" name="Text 5"/>
          <p:cNvSpPr/>
          <p:nvPr/>
        </p:nvSpPr>
        <p:spPr>
          <a:xfrm>
            <a:off x="1039436" y="3290340"/>
            <a:ext cx="52228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Evaluates latency data to determine lowest-latency region</a:t>
            </a:r>
            <a:endParaRPr lang="en-US" sz="1169" dirty="0"/>
          </a:p>
        </p:txBody>
      </p:sp>
      <p:sp>
        <p:nvSpPr>
          <p:cNvPr id="52" name="Text 6"/>
          <p:cNvSpPr/>
          <p:nvPr/>
        </p:nvSpPr>
        <p:spPr>
          <a:xfrm>
            <a:off x="1039435" y="3698689"/>
            <a:ext cx="46979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to the fastest available endpoint dynamically</a:t>
            </a:r>
            <a:endParaRPr lang="en-US" sz="1169" dirty="0"/>
          </a:p>
        </p:txBody>
      </p:sp>
      <p:sp>
        <p:nvSpPr>
          <p:cNvPr id="53" name="Text 7"/>
          <p:cNvSpPr/>
          <p:nvPr/>
        </p:nvSpPr>
        <p:spPr>
          <a:xfrm>
            <a:off x="6589278" y="1081539"/>
            <a:ext cx="605842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Applicable Scenarios</a:t>
            </a:r>
            <a:endParaRPr lang="en-US" sz="1754" dirty="0"/>
          </a:p>
        </p:txBody>
      </p:sp>
      <p:sp>
        <p:nvSpPr>
          <p:cNvPr id="54" name="Text 8"/>
          <p:cNvSpPr/>
          <p:nvPr/>
        </p:nvSpPr>
        <p:spPr>
          <a:xfrm>
            <a:off x="6682085" y="1545573"/>
            <a:ext cx="171350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Applications</a:t>
            </a:r>
            <a:endParaRPr lang="en-US" sz="1169" dirty="0"/>
          </a:p>
        </p:txBody>
      </p:sp>
      <p:sp>
        <p:nvSpPr>
          <p:cNvPr id="55" name="Text 9"/>
          <p:cNvSpPr/>
          <p:nvPr/>
        </p:nvSpPr>
        <p:spPr>
          <a:xfrm>
            <a:off x="6682085" y="1991045"/>
            <a:ext cx="48674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Latency-Sensitive Services (Gaming, Video Streaming)</a:t>
            </a:r>
            <a:endParaRPr lang="en-US" sz="1169" dirty="0"/>
          </a:p>
        </p:txBody>
      </p:sp>
      <p:sp>
        <p:nvSpPr>
          <p:cNvPr id="56" name="Text 10"/>
          <p:cNvSpPr/>
          <p:nvPr/>
        </p:nvSpPr>
        <p:spPr>
          <a:xfrm>
            <a:off x="6385103" y="2640692"/>
            <a:ext cx="47517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 Routing Example</a:t>
            </a:r>
            <a:endParaRPr lang="en-US" sz="1315" dirty="0"/>
          </a:p>
        </p:txBody>
      </p:sp>
      <p:sp>
        <p:nvSpPr>
          <p:cNvPr id="57" name="Text 11"/>
          <p:cNvSpPr/>
          <p:nvPr/>
        </p:nvSpPr>
        <p:spPr>
          <a:xfrm>
            <a:off x="6548385" y="3772935"/>
            <a:ext cx="138983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 West (Oregon)</a:t>
            </a:r>
            <a:endParaRPr lang="en-US" sz="1023" dirty="0"/>
          </a:p>
        </p:txBody>
      </p:sp>
      <p:sp>
        <p:nvSpPr>
          <p:cNvPr id="58" name="Text 12"/>
          <p:cNvSpPr/>
          <p:nvPr/>
        </p:nvSpPr>
        <p:spPr>
          <a:xfrm>
            <a:off x="6720802" y="3958548"/>
            <a:ext cx="976037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Latency: 40ms</a:t>
            </a:r>
            <a:endParaRPr lang="en-US" sz="877" dirty="0"/>
          </a:p>
        </p:txBody>
      </p:sp>
      <p:sp>
        <p:nvSpPr>
          <p:cNvPr id="59" name="Text 13"/>
          <p:cNvSpPr/>
          <p:nvPr/>
        </p:nvSpPr>
        <p:spPr>
          <a:xfrm>
            <a:off x="9828379" y="3772935"/>
            <a:ext cx="135816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 East (Virginia)</a:t>
            </a:r>
            <a:endParaRPr lang="en-US" sz="1023" dirty="0"/>
          </a:p>
        </p:txBody>
      </p:sp>
      <p:sp>
        <p:nvSpPr>
          <p:cNvPr id="60" name="Text 14"/>
          <p:cNvSpPr/>
          <p:nvPr/>
        </p:nvSpPr>
        <p:spPr>
          <a:xfrm>
            <a:off x="9987600" y="3958548"/>
            <a:ext cx="976037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Latency: 25ms</a:t>
            </a:r>
            <a:endParaRPr lang="en-US" sz="877" dirty="0"/>
          </a:p>
        </p:txBody>
      </p:sp>
      <p:sp>
        <p:nvSpPr>
          <p:cNvPr id="61" name="Text 15"/>
          <p:cNvSpPr/>
          <p:nvPr/>
        </p:nvSpPr>
        <p:spPr>
          <a:xfrm>
            <a:off x="6603055" y="4366898"/>
            <a:ext cx="125880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Europe (Ireland)</a:t>
            </a:r>
            <a:endParaRPr lang="en-US" sz="1023" dirty="0"/>
          </a:p>
        </p:txBody>
      </p:sp>
      <p:sp>
        <p:nvSpPr>
          <p:cNvPr id="62" name="Text 16"/>
          <p:cNvSpPr/>
          <p:nvPr/>
        </p:nvSpPr>
        <p:spPr>
          <a:xfrm>
            <a:off x="6720802" y="4552511"/>
            <a:ext cx="976037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Latency: 60ms</a:t>
            </a:r>
            <a:endParaRPr lang="en-US" sz="877" dirty="0"/>
          </a:p>
        </p:txBody>
      </p:sp>
      <p:sp>
        <p:nvSpPr>
          <p:cNvPr id="63" name="Text 17"/>
          <p:cNvSpPr/>
          <p:nvPr/>
        </p:nvSpPr>
        <p:spPr>
          <a:xfrm>
            <a:off x="9777770" y="4366898"/>
            <a:ext cx="147963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Asia Pacific (Tokyo)</a:t>
            </a:r>
            <a:endParaRPr lang="en-US" sz="1023" dirty="0"/>
          </a:p>
        </p:txBody>
      </p:sp>
      <p:sp>
        <p:nvSpPr>
          <p:cNvPr id="64" name="Text 18"/>
          <p:cNvSpPr/>
          <p:nvPr/>
        </p:nvSpPr>
        <p:spPr>
          <a:xfrm>
            <a:off x="9987600" y="4552511"/>
            <a:ext cx="976037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Latency: 80ms</a:t>
            </a:r>
            <a:endParaRPr lang="en-US" sz="87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3298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5048687" cy="16519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3475953"/>
            <a:ext cx="556840" cy="5568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015" y="3605882"/>
            <a:ext cx="222736" cy="29698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4181284"/>
            <a:ext cx="556840" cy="55684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173" y="4311213"/>
            <a:ext cx="278420" cy="29698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4886616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1015" y="5016545"/>
            <a:ext cx="222736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8398" y="1499170"/>
            <a:ext cx="1390046" cy="92806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9588" y="1591976"/>
            <a:ext cx="222736" cy="29698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01249" y="2687096"/>
            <a:ext cx="241298" cy="3341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0576" y="3949267"/>
            <a:ext cx="1113681" cy="111368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7811" y="4264810"/>
            <a:ext cx="139210" cy="25985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04115" y="3949267"/>
            <a:ext cx="1113681" cy="111368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1352" y="4264810"/>
            <a:ext cx="139210" cy="25985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77655" y="3949267"/>
            <a:ext cx="1113681" cy="111368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64892" y="4264810"/>
            <a:ext cx="139210" cy="259859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593963" y="450453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Geolocation Routing Policy</a:t>
            </a:r>
            <a:endParaRPr lang="en-US" sz="2631" dirty="0"/>
          </a:p>
        </p:txBody>
      </p:sp>
      <p:sp>
        <p:nvSpPr>
          <p:cNvPr id="24" name="Text 1"/>
          <p:cNvSpPr/>
          <p:nvPr/>
        </p:nvSpPr>
        <p:spPr>
          <a:xfrm>
            <a:off x="816699" y="1341398"/>
            <a:ext cx="4603214" cy="1206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sophisticated traffic management strategy that directs user requests to specific network resources based on the geographic location from which those requests originate.</a:t>
            </a:r>
            <a:endParaRPr lang="en-US" sz="1461" dirty="0"/>
          </a:p>
        </p:txBody>
      </p:sp>
      <p:sp>
        <p:nvSpPr>
          <p:cNvPr id="25" name="Text 2"/>
          <p:cNvSpPr/>
          <p:nvPr/>
        </p:nvSpPr>
        <p:spPr>
          <a:xfrm>
            <a:off x="593963" y="3067603"/>
            <a:ext cx="605842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Implementation Features:</a:t>
            </a:r>
            <a:endParaRPr lang="en-US" sz="1461" dirty="0"/>
          </a:p>
        </p:txBody>
      </p:sp>
      <p:sp>
        <p:nvSpPr>
          <p:cNvPr id="26" name="Text 3"/>
          <p:cNvSpPr/>
          <p:nvPr/>
        </p:nvSpPr>
        <p:spPr>
          <a:xfrm>
            <a:off x="1299294" y="3475953"/>
            <a:ext cx="43433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Primarily implemented</a:t>
            </a: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at the Domain Name System (DNS) level</a:t>
            </a:r>
            <a:endParaRPr lang="en-US" sz="1315" dirty="0"/>
          </a:p>
        </p:txBody>
      </p:sp>
      <p:sp>
        <p:nvSpPr>
          <p:cNvPr id="27" name="Text 4"/>
          <p:cNvSpPr/>
          <p:nvPr/>
        </p:nvSpPr>
        <p:spPr>
          <a:xfrm>
            <a:off x="1299294" y="4181284"/>
            <a:ext cx="43433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Tailors' user experiences</a:t>
            </a: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based on geographic location</a:t>
            </a:r>
            <a:endParaRPr lang="en-US" sz="1315" dirty="0"/>
          </a:p>
        </p:txBody>
      </p:sp>
      <p:sp>
        <p:nvSpPr>
          <p:cNvPr id="28" name="Text 5"/>
          <p:cNvSpPr/>
          <p:nvPr/>
        </p:nvSpPr>
        <p:spPr>
          <a:xfrm>
            <a:off x="1299294" y="4886615"/>
            <a:ext cx="43433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Ensures regulatory compliance</a:t>
            </a: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across global infrastructures</a:t>
            </a:r>
            <a:endParaRPr lang="en-US" sz="1315" dirty="0"/>
          </a:p>
        </p:txBody>
      </p:sp>
      <p:sp>
        <p:nvSpPr>
          <p:cNvPr id="29" name="Text 6"/>
          <p:cNvSpPr/>
          <p:nvPr/>
        </p:nvSpPr>
        <p:spPr>
          <a:xfrm>
            <a:off x="8296922" y="1963203"/>
            <a:ext cx="92806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Geolocation DNS Server</a:t>
            </a:r>
            <a:endParaRPr lang="en-US" sz="1023" dirty="0"/>
          </a:p>
        </p:txBody>
      </p:sp>
      <p:sp>
        <p:nvSpPr>
          <p:cNvPr id="30" name="Text 7"/>
          <p:cNvSpPr/>
          <p:nvPr/>
        </p:nvSpPr>
        <p:spPr>
          <a:xfrm>
            <a:off x="7127558" y="3095446"/>
            <a:ext cx="11865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Request</a:t>
            </a:r>
            <a:endParaRPr lang="en-US" sz="1169" dirty="0"/>
          </a:p>
        </p:txBody>
      </p:sp>
      <p:sp>
        <p:nvSpPr>
          <p:cNvPr id="31" name="Text 8"/>
          <p:cNvSpPr/>
          <p:nvPr/>
        </p:nvSpPr>
        <p:spPr>
          <a:xfrm>
            <a:off x="7233560" y="3318182"/>
            <a:ext cx="932186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(IP Address)</a:t>
            </a:r>
            <a:endParaRPr lang="en-US" sz="1023" dirty="0"/>
          </a:p>
        </p:txBody>
      </p:sp>
      <p:sp>
        <p:nvSpPr>
          <p:cNvPr id="32" name="Text 9"/>
          <p:cNvSpPr/>
          <p:nvPr/>
        </p:nvSpPr>
        <p:spPr>
          <a:xfrm>
            <a:off x="7099861" y="4561792"/>
            <a:ext cx="690134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 A</a:t>
            </a:r>
            <a:endParaRPr lang="en-US" sz="1023" dirty="0"/>
          </a:p>
        </p:txBody>
      </p:sp>
      <p:sp>
        <p:nvSpPr>
          <p:cNvPr id="33" name="Text 10"/>
          <p:cNvSpPr/>
          <p:nvPr/>
        </p:nvSpPr>
        <p:spPr>
          <a:xfrm>
            <a:off x="8473255" y="4561792"/>
            <a:ext cx="69030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 B</a:t>
            </a:r>
            <a:endParaRPr lang="en-US" sz="1023" dirty="0"/>
          </a:p>
        </p:txBody>
      </p:sp>
      <p:sp>
        <p:nvSpPr>
          <p:cNvPr id="34" name="Text 11"/>
          <p:cNvSpPr/>
          <p:nvPr/>
        </p:nvSpPr>
        <p:spPr>
          <a:xfrm>
            <a:off x="9846070" y="4561792"/>
            <a:ext cx="69222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Region C</a:t>
            </a:r>
            <a:endParaRPr lang="en-US" sz="102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101" y="1749748"/>
            <a:ext cx="74245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61" y="3605883"/>
            <a:ext cx="74245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135" y="5462017"/>
            <a:ext cx="74245" cy="7424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3128" y="2120975"/>
            <a:ext cx="74245" cy="7424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4355" y="4905177"/>
            <a:ext cx="74245" cy="742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060" y="3977110"/>
            <a:ext cx="74245" cy="7424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830" y="3383146"/>
            <a:ext cx="18561" cy="129929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9108" y="4543230"/>
            <a:ext cx="18561" cy="83526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895926"/>
            <a:ext cx="742454" cy="3712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1109381"/>
            <a:ext cx="222736" cy="22273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2111694"/>
            <a:ext cx="278420" cy="22273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2492202"/>
            <a:ext cx="334104" cy="33410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31" y="2585008"/>
            <a:ext cx="111368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2937674"/>
            <a:ext cx="334104" cy="33410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209" y="3030481"/>
            <a:ext cx="185613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63" y="3346024"/>
            <a:ext cx="334104" cy="33410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770" y="3438830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3963" y="3828619"/>
            <a:ext cx="5048687" cy="1299294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454" y="4004952"/>
            <a:ext cx="129929" cy="167052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9631" y="1888958"/>
            <a:ext cx="111368" cy="111368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6612" y="2547886"/>
            <a:ext cx="5048687" cy="2227362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79067" y="3216094"/>
            <a:ext cx="593963" cy="593963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4680" y="3364585"/>
            <a:ext cx="222736" cy="296982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53312" y="3661566"/>
            <a:ext cx="445472" cy="371227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48882" y="3216094"/>
            <a:ext cx="593963" cy="593963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34496" y="3364585"/>
            <a:ext cx="222736" cy="296982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23128" y="3661566"/>
            <a:ext cx="445472" cy="371227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63974" y="4107039"/>
            <a:ext cx="593963" cy="593963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63510" y="4255529"/>
            <a:ext cx="194894" cy="296982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76048" y="3661566"/>
            <a:ext cx="742454" cy="742454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03410" y="3661566"/>
            <a:ext cx="742454" cy="742454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61570" y="4023513"/>
            <a:ext cx="129929" cy="129929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593963" y="450453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Geoproximity Routing Policy</a:t>
            </a:r>
            <a:endParaRPr lang="en-US" sz="2631" dirty="0"/>
          </a:p>
        </p:txBody>
      </p:sp>
      <p:sp>
        <p:nvSpPr>
          <p:cNvPr id="43" name="Text 1"/>
          <p:cNvSpPr/>
          <p:nvPr/>
        </p:nvSpPr>
        <p:spPr>
          <a:xfrm>
            <a:off x="890944" y="1081539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Definition</a:t>
            </a:r>
            <a:endParaRPr lang="en-US" sz="1754" dirty="0"/>
          </a:p>
        </p:txBody>
      </p:sp>
      <p:sp>
        <p:nvSpPr>
          <p:cNvPr id="44" name="Text 2"/>
          <p:cNvSpPr/>
          <p:nvPr/>
        </p:nvSpPr>
        <p:spPr>
          <a:xfrm>
            <a:off x="593963" y="1489889"/>
            <a:ext cx="504868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Directs traffic based on the geographical location of both users and resources, aiming to route to the closest available resource.</a:t>
            </a:r>
            <a:endParaRPr lang="en-US" sz="1169" dirty="0"/>
          </a:p>
        </p:txBody>
      </p:sp>
      <p:sp>
        <p:nvSpPr>
          <p:cNvPr id="45" name="Text 3"/>
          <p:cNvSpPr/>
          <p:nvPr/>
        </p:nvSpPr>
        <p:spPr>
          <a:xfrm>
            <a:off x="946628" y="2083852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754" dirty="0"/>
          </a:p>
        </p:txBody>
      </p:sp>
      <p:sp>
        <p:nvSpPr>
          <p:cNvPr id="46" name="Text 4"/>
          <p:cNvSpPr/>
          <p:nvPr/>
        </p:nvSpPr>
        <p:spPr>
          <a:xfrm>
            <a:off x="1039436" y="2547886"/>
            <a:ext cx="431968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Determines user location and resource locations</a:t>
            </a:r>
            <a:endParaRPr lang="en-US" sz="1169" dirty="0"/>
          </a:p>
        </p:txBody>
      </p:sp>
      <p:sp>
        <p:nvSpPr>
          <p:cNvPr id="47" name="Text 5"/>
          <p:cNvSpPr/>
          <p:nvPr/>
        </p:nvSpPr>
        <p:spPr>
          <a:xfrm>
            <a:off x="1039436" y="2993358"/>
            <a:ext cx="468128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to geographically closest resource by default</a:t>
            </a:r>
            <a:endParaRPr lang="en-US" sz="1169" dirty="0"/>
          </a:p>
        </p:txBody>
      </p:sp>
      <p:sp>
        <p:nvSpPr>
          <p:cNvPr id="48" name="Text 6"/>
          <p:cNvSpPr/>
          <p:nvPr/>
        </p:nvSpPr>
        <p:spPr>
          <a:xfrm>
            <a:off x="1039436" y="3401708"/>
            <a:ext cx="424329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Applies "bias" to expand/shrink effective region</a:t>
            </a:r>
            <a:endParaRPr lang="en-US" sz="1169" dirty="0"/>
          </a:p>
        </p:txBody>
      </p:sp>
      <p:sp>
        <p:nvSpPr>
          <p:cNvPr id="49" name="Text 7"/>
          <p:cNvSpPr/>
          <p:nvPr/>
        </p:nvSpPr>
        <p:spPr>
          <a:xfrm>
            <a:off x="946628" y="3977109"/>
            <a:ext cx="47517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</a:t>
            </a:r>
            <a:endParaRPr lang="en-US" sz="1315" dirty="0"/>
          </a:p>
        </p:txBody>
      </p:sp>
      <p:sp>
        <p:nvSpPr>
          <p:cNvPr id="50" name="Text 8"/>
          <p:cNvSpPr/>
          <p:nvPr/>
        </p:nvSpPr>
        <p:spPr>
          <a:xfrm>
            <a:off x="742454" y="4311213"/>
            <a:ext cx="4751705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fine-grained control over traffic distribution based on relative geographic proximity, enhancing performance and user experience.</a:t>
            </a:r>
            <a:endParaRPr lang="en-US" sz="1169" dirty="0"/>
          </a:p>
        </p:txBody>
      </p:sp>
      <p:sp>
        <p:nvSpPr>
          <p:cNvPr id="57" name="Text 15"/>
          <p:cNvSpPr/>
          <p:nvPr/>
        </p:nvSpPr>
        <p:spPr>
          <a:xfrm>
            <a:off x="6385103" y="2696376"/>
            <a:ext cx="47517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Bias Effect Example</a:t>
            </a:r>
            <a:endParaRPr lang="en-US" sz="1315" dirty="0"/>
          </a:p>
        </p:txBody>
      </p:sp>
      <p:sp>
        <p:nvSpPr>
          <p:cNvPr id="58" name="Text 16"/>
          <p:cNvSpPr/>
          <p:nvPr/>
        </p:nvSpPr>
        <p:spPr>
          <a:xfrm>
            <a:off x="6835506" y="3995671"/>
            <a:ext cx="105712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Server A</a:t>
            </a:r>
            <a:endParaRPr lang="en-US" sz="1023" dirty="0"/>
          </a:p>
        </p:txBody>
      </p:sp>
      <p:sp>
        <p:nvSpPr>
          <p:cNvPr id="59" name="Text 17"/>
          <p:cNvSpPr/>
          <p:nvPr/>
        </p:nvSpPr>
        <p:spPr>
          <a:xfrm>
            <a:off x="7127557" y="3661566"/>
            <a:ext cx="44547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150 km</a:t>
            </a:r>
            <a:endParaRPr lang="en-US" sz="877" dirty="0"/>
          </a:p>
        </p:txBody>
      </p:sp>
      <p:sp>
        <p:nvSpPr>
          <p:cNvPr id="60" name="Text 18"/>
          <p:cNvSpPr/>
          <p:nvPr/>
        </p:nvSpPr>
        <p:spPr>
          <a:xfrm>
            <a:off x="9805322" y="3995671"/>
            <a:ext cx="105730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Server B</a:t>
            </a:r>
            <a:endParaRPr lang="en-US" sz="1023" dirty="0"/>
          </a:p>
        </p:txBody>
      </p:sp>
      <p:sp>
        <p:nvSpPr>
          <p:cNvPr id="61" name="Text 19"/>
          <p:cNvSpPr/>
          <p:nvPr/>
        </p:nvSpPr>
        <p:spPr>
          <a:xfrm>
            <a:off x="10097373" y="3661566"/>
            <a:ext cx="44547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169"/>
              </a:lnSpc>
            </a:pPr>
            <a:r>
              <a:rPr lang="en-US" sz="877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 km</a:t>
            </a:r>
            <a:endParaRPr lang="en-US" sz="877" dirty="0"/>
          </a:p>
        </p:txBody>
      </p:sp>
      <p:sp>
        <p:nvSpPr>
          <p:cNvPr id="62" name="Text 20"/>
          <p:cNvSpPr/>
          <p:nvPr/>
        </p:nvSpPr>
        <p:spPr>
          <a:xfrm>
            <a:off x="8612756" y="4886616"/>
            <a:ext cx="35550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</a:t>
            </a:r>
            <a:endParaRPr lang="en-US" sz="1023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4864798-CC34-EAA7-6836-02B92346BF8B}"/>
              </a:ext>
            </a:extLst>
          </p:cNvPr>
          <p:cNvCxnSpPr>
            <a:stCxn id="36" idx="3"/>
          </p:cNvCxnSpPr>
          <p:nvPr/>
        </p:nvCxnSpPr>
        <p:spPr>
          <a:xfrm flipV="1">
            <a:off x="9057937" y="3746804"/>
            <a:ext cx="965190" cy="657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2366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69" y="1935361"/>
            <a:ext cx="2784202" cy="278420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539" y="1471327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1007294"/>
            <a:ext cx="890945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1267153"/>
            <a:ext cx="5048687" cy="363802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99" y="3160410"/>
            <a:ext cx="232017" cy="2598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699" y="3717250"/>
            <a:ext cx="185613" cy="2598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699" y="4274091"/>
            <a:ext cx="185613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612" y="1267153"/>
            <a:ext cx="5048687" cy="460321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0576" y="2380834"/>
            <a:ext cx="445472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9786" y="2473640"/>
            <a:ext cx="167052" cy="25985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1585" y="2752061"/>
            <a:ext cx="445472" cy="44547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91515" y="2844867"/>
            <a:ext cx="185613" cy="25985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47615" y="3494515"/>
            <a:ext cx="445472" cy="44547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77545" y="3587321"/>
            <a:ext cx="185613" cy="25985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3276" y="2380834"/>
            <a:ext cx="445472" cy="445472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33205" y="2473640"/>
            <a:ext cx="185613" cy="25985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59349" y="4533950"/>
            <a:ext cx="4603214" cy="111368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70717" y="5016545"/>
            <a:ext cx="148491" cy="148491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593963" y="524699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Geoproximity Routing?</a:t>
            </a:r>
            <a:endParaRPr lang="en-US" sz="2631" dirty="0"/>
          </a:p>
        </p:txBody>
      </p:sp>
      <p:sp>
        <p:nvSpPr>
          <p:cNvPr id="27" name="Text 1"/>
          <p:cNvSpPr/>
          <p:nvPr/>
        </p:nvSpPr>
        <p:spPr>
          <a:xfrm>
            <a:off x="816699" y="1489889"/>
            <a:ext cx="460321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Definition</a:t>
            </a:r>
            <a:endParaRPr lang="en-US" sz="1754" dirty="0"/>
          </a:p>
        </p:txBody>
      </p:sp>
      <p:sp>
        <p:nvSpPr>
          <p:cNvPr id="28" name="Text 2"/>
          <p:cNvSpPr/>
          <p:nvPr/>
        </p:nvSpPr>
        <p:spPr>
          <a:xfrm>
            <a:off x="816699" y="1935361"/>
            <a:ext cx="4603214" cy="1039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Geoproximity Routing is a DNS traffic management strategy that directs user requests to network resources based on the physical distance between the user and available resources.</a:t>
            </a:r>
            <a:endParaRPr lang="en-US" sz="1315" dirty="0"/>
          </a:p>
        </p:txBody>
      </p:sp>
      <p:sp>
        <p:nvSpPr>
          <p:cNvPr id="29" name="Text 3"/>
          <p:cNvSpPr/>
          <p:nvPr/>
        </p:nvSpPr>
        <p:spPr>
          <a:xfrm>
            <a:off x="1160085" y="3123288"/>
            <a:ext cx="42598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Routes users to the nearest available resource based on physical distance</a:t>
            </a:r>
            <a:endParaRPr lang="en-US" sz="1169" dirty="0"/>
          </a:p>
        </p:txBody>
      </p:sp>
      <p:sp>
        <p:nvSpPr>
          <p:cNvPr id="30" name="Text 4"/>
          <p:cNvSpPr/>
          <p:nvPr/>
        </p:nvSpPr>
        <p:spPr>
          <a:xfrm>
            <a:off x="1113680" y="3680128"/>
            <a:ext cx="430623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Incorporates configurable bias values to influence routing decisions</a:t>
            </a:r>
            <a:endParaRPr lang="en-US" sz="1169" dirty="0"/>
          </a:p>
        </p:txBody>
      </p:sp>
      <p:sp>
        <p:nvSpPr>
          <p:cNvPr id="31" name="Text 5"/>
          <p:cNvSpPr/>
          <p:nvPr/>
        </p:nvSpPr>
        <p:spPr>
          <a:xfrm>
            <a:off x="1113680" y="4236968"/>
            <a:ext cx="430623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Optimizes performance by reducing latency and improving response times</a:t>
            </a:r>
            <a:endParaRPr lang="en-US" sz="1169" dirty="0"/>
          </a:p>
        </p:txBody>
      </p:sp>
      <p:sp>
        <p:nvSpPr>
          <p:cNvPr id="32" name="Text 6"/>
          <p:cNvSpPr/>
          <p:nvPr/>
        </p:nvSpPr>
        <p:spPr>
          <a:xfrm>
            <a:off x="6459349" y="1489889"/>
            <a:ext cx="460321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754" dirty="0"/>
          </a:p>
        </p:txBody>
      </p:sp>
      <p:sp>
        <p:nvSpPr>
          <p:cNvPr id="33" name="Text 7"/>
          <p:cNvSpPr/>
          <p:nvPr/>
        </p:nvSpPr>
        <p:spPr>
          <a:xfrm>
            <a:off x="6786028" y="2863429"/>
            <a:ext cx="53456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</a:t>
            </a:r>
            <a:endParaRPr lang="en-US" sz="1169" dirty="0"/>
          </a:p>
        </p:txBody>
      </p:sp>
      <p:sp>
        <p:nvSpPr>
          <p:cNvPr id="34" name="Text 8"/>
          <p:cNvSpPr/>
          <p:nvPr/>
        </p:nvSpPr>
        <p:spPr>
          <a:xfrm>
            <a:off x="9614778" y="3234656"/>
            <a:ext cx="99570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A</a:t>
            </a:r>
            <a:endParaRPr lang="en-US" sz="1169" dirty="0"/>
          </a:p>
        </p:txBody>
      </p:sp>
      <p:sp>
        <p:nvSpPr>
          <p:cNvPr id="35" name="Text 9"/>
          <p:cNvSpPr/>
          <p:nvPr/>
        </p:nvSpPr>
        <p:spPr>
          <a:xfrm>
            <a:off x="9610918" y="3457392"/>
            <a:ext cx="99570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Fareast</a:t>
            </a:r>
            <a:endParaRPr lang="en-US" sz="1023" dirty="0"/>
          </a:p>
        </p:txBody>
      </p:sp>
      <p:sp>
        <p:nvSpPr>
          <p:cNvPr id="36" name="Text 10"/>
          <p:cNvSpPr/>
          <p:nvPr/>
        </p:nvSpPr>
        <p:spPr>
          <a:xfrm>
            <a:off x="8518933" y="3944132"/>
            <a:ext cx="99604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B</a:t>
            </a:r>
            <a:endParaRPr lang="en-US" sz="1169" dirty="0"/>
          </a:p>
        </p:txBody>
      </p:sp>
      <p:sp>
        <p:nvSpPr>
          <p:cNvPr id="37" name="Text 11"/>
          <p:cNvSpPr/>
          <p:nvPr/>
        </p:nvSpPr>
        <p:spPr>
          <a:xfrm>
            <a:off x="8518933" y="4174257"/>
            <a:ext cx="99604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Medium</a:t>
            </a:r>
            <a:endParaRPr lang="en-US" sz="1023" dirty="0"/>
          </a:p>
        </p:txBody>
      </p:sp>
      <p:sp>
        <p:nvSpPr>
          <p:cNvPr id="38" name="Text 12"/>
          <p:cNvSpPr/>
          <p:nvPr/>
        </p:nvSpPr>
        <p:spPr>
          <a:xfrm>
            <a:off x="7749305" y="2836758"/>
            <a:ext cx="99831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C</a:t>
            </a:r>
            <a:endParaRPr lang="en-US" sz="1169" dirty="0"/>
          </a:p>
        </p:txBody>
      </p:sp>
      <p:sp>
        <p:nvSpPr>
          <p:cNvPr id="39" name="Text 13"/>
          <p:cNvSpPr/>
          <p:nvPr/>
        </p:nvSpPr>
        <p:spPr>
          <a:xfrm>
            <a:off x="7719765" y="3041654"/>
            <a:ext cx="99831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</a:rPr>
              <a:t>Nearest</a:t>
            </a:r>
            <a:endParaRPr lang="en-US" sz="1023" dirty="0"/>
          </a:p>
        </p:txBody>
      </p:sp>
      <p:sp>
        <p:nvSpPr>
          <p:cNvPr id="40" name="Text 14"/>
          <p:cNvSpPr/>
          <p:nvPr/>
        </p:nvSpPr>
        <p:spPr>
          <a:xfrm>
            <a:off x="6793453" y="4645318"/>
            <a:ext cx="4157742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Bias Configuration: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Administrators can set bias values to prioritize resources based on factors like capacity, performance, or specific business requirements</a:t>
            </a:r>
            <a:endParaRPr lang="en-US" sz="1169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D5A16F6-7D05-2370-9A93-AC4374AE16AD}"/>
              </a:ext>
            </a:extLst>
          </p:cNvPr>
          <p:cNvCxnSpPr>
            <a:cxnSpLocks/>
          </p:cNvCxnSpPr>
          <p:nvPr/>
        </p:nvCxnSpPr>
        <p:spPr>
          <a:xfrm>
            <a:off x="7276048" y="2622311"/>
            <a:ext cx="727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5088"/>
            <a:ext cx="11879263" cy="7443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945" y="1044416"/>
            <a:ext cx="1187926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44" y="1378521"/>
            <a:ext cx="4751705" cy="16519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44" y="3661566"/>
            <a:ext cx="4751705" cy="74245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35" y="3847180"/>
            <a:ext cx="185613" cy="2598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944" y="4552511"/>
            <a:ext cx="4751705" cy="59396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35" y="4738125"/>
            <a:ext cx="185613" cy="2598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44" y="5165036"/>
            <a:ext cx="4751705" cy="74245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35" y="5480579"/>
            <a:ext cx="185613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944" y="5944612"/>
            <a:ext cx="4751705" cy="74245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35" y="6112021"/>
            <a:ext cx="185613" cy="2598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199" y="1378521"/>
            <a:ext cx="1856135" cy="74245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6781" y="2120975"/>
            <a:ext cx="18561" cy="1856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4849" y="2120975"/>
            <a:ext cx="18561" cy="1856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2916" y="2120975"/>
            <a:ext cx="18561" cy="1856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1899" y="2492202"/>
            <a:ext cx="1856135" cy="74245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0318" y="2789183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351" y="3231260"/>
            <a:ext cx="25355" cy="2535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4849" y="3234656"/>
            <a:ext cx="18561" cy="1856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73553" y="3231260"/>
            <a:ext cx="25355" cy="2535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0356" y="3605883"/>
            <a:ext cx="1272722" cy="70533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0742" y="3941609"/>
            <a:ext cx="185613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7921" y="3595972"/>
            <a:ext cx="1183640" cy="70533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27663" y="3928815"/>
            <a:ext cx="185613" cy="14849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30296" y="3577410"/>
            <a:ext cx="1116898" cy="70533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31548" y="3918543"/>
            <a:ext cx="185613" cy="148491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6613" y="4459705"/>
            <a:ext cx="4751705" cy="1187926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5103" y="4636037"/>
            <a:ext cx="111368" cy="148491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890945" y="524699"/>
            <a:ext cx="1137346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Multivalue</a:t>
            </a: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Answer Routing</a:t>
            </a:r>
            <a:endParaRPr lang="en-US" sz="2631" dirty="0"/>
          </a:p>
        </p:txBody>
      </p:sp>
      <p:sp>
        <p:nvSpPr>
          <p:cNvPr id="32" name="Text 1"/>
          <p:cNvSpPr/>
          <p:nvPr/>
        </p:nvSpPr>
        <p:spPr>
          <a:xfrm>
            <a:off x="1113680" y="1601257"/>
            <a:ext cx="4306233" cy="1206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DNS routing strategy that returns </a:t>
            </a:r>
            <a:r>
              <a:rPr lang="en-US" sz="1461" b="1" dirty="0">
                <a:solidFill>
                  <a:srgbClr val="4F4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multiple resource records</a:t>
            </a: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 response to a single query, enhancing service availability and load distribution.</a:t>
            </a:r>
            <a:endParaRPr lang="en-US" sz="1461" dirty="0"/>
          </a:p>
        </p:txBody>
      </p:sp>
      <p:sp>
        <p:nvSpPr>
          <p:cNvPr id="33" name="Text 2"/>
          <p:cNvSpPr/>
          <p:nvPr/>
        </p:nvSpPr>
        <p:spPr>
          <a:xfrm>
            <a:off x="890944" y="3253217"/>
            <a:ext cx="47517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Characteristics:</a:t>
            </a:r>
            <a:endParaRPr lang="en-US" sz="1461" dirty="0"/>
          </a:p>
        </p:txBody>
      </p:sp>
      <p:sp>
        <p:nvSpPr>
          <p:cNvPr id="34" name="Text 3"/>
          <p:cNvSpPr/>
          <p:nvPr/>
        </p:nvSpPr>
        <p:spPr>
          <a:xfrm>
            <a:off x="1336417" y="3810057"/>
            <a:ext cx="415774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Returns multiple healthy endpoints in a single DNS response</a:t>
            </a:r>
            <a:endParaRPr lang="en-US" sz="1169" dirty="0"/>
          </a:p>
        </p:txBody>
      </p:sp>
      <p:sp>
        <p:nvSpPr>
          <p:cNvPr id="35" name="Text 4"/>
          <p:cNvSpPr/>
          <p:nvPr/>
        </p:nvSpPr>
        <p:spPr>
          <a:xfrm>
            <a:off x="1336417" y="4701002"/>
            <a:ext cx="363094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Enhances client-side failover capabilities</a:t>
            </a:r>
            <a:endParaRPr lang="en-US" sz="1169" dirty="0"/>
          </a:p>
        </p:txBody>
      </p:sp>
      <p:sp>
        <p:nvSpPr>
          <p:cNvPr id="36" name="Text 5"/>
          <p:cNvSpPr/>
          <p:nvPr/>
        </p:nvSpPr>
        <p:spPr>
          <a:xfrm>
            <a:off x="1336417" y="5443456"/>
            <a:ext cx="415774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basic load distribution across multiple resources</a:t>
            </a:r>
            <a:endParaRPr lang="en-US" sz="1169" dirty="0"/>
          </a:p>
        </p:txBody>
      </p:sp>
      <p:sp>
        <p:nvSpPr>
          <p:cNvPr id="37" name="Text 6"/>
          <p:cNvSpPr/>
          <p:nvPr/>
        </p:nvSpPr>
        <p:spPr>
          <a:xfrm>
            <a:off x="1336417" y="6118153"/>
            <a:ext cx="415774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feature in AWS Route 53 for improved service resilience</a:t>
            </a:r>
            <a:endParaRPr lang="en-US" sz="1169" dirty="0"/>
          </a:p>
        </p:txBody>
      </p:sp>
      <p:sp>
        <p:nvSpPr>
          <p:cNvPr id="38" name="Text 7"/>
          <p:cNvSpPr/>
          <p:nvPr/>
        </p:nvSpPr>
        <p:spPr>
          <a:xfrm>
            <a:off x="7312446" y="1356562"/>
            <a:ext cx="1856135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Query</a:t>
            </a:r>
            <a:endParaRPr lang="en-US" sz="1169" dirty="0"/>
          </a:p>
        </p:txBody>
      </p:sp>
      <p:sp>
        <p:nvSpPr>
          <p:cNvPr id="39" name="Text 8"/>
          <p:cNvSpPr/>
          <p:nvPr/>
        </p:nvSpPr>
        <p:spPr>
          <a:xfrm>
            <a:off x="7254199" y="2492202"/>
            <a:ext cx="2227362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30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Server</a:t>
            </a:r>
            <a:endParaRPr lang="en-US" sz="1169" dirty="0"/>
          </a:p>
        </p:txBody>
      </p:sp>
      <p:sp>
        <p:nvSpPr>
          <p:cNvPr id="40" name="Text 9"/>
          <p:cNvSpPr/>
          <p:nvPr/>
        </p:nvSpPr>
        <p:spPr>
          <a:xfrm>
            <a:off x="7025199" y="3652286"/>
            <a:ext cx="1233814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Address 1</a:t>
            </a:r>
            <a:endParaRPr lang="en-US" sz="1169" dirty="0"/>
          </a:p>
        </p:txBody>
      </p:sp>
      <p:sp>
        <p:nvSpPr>
          <p:cNvPr id="41" name="Text 10"/>
          <p:cNvSpPr/>
          <p:nvPr/>
        </p:nvSpPr>
        <p:spPr>
          <a:xfrm>
            <a:off x="8454300" y="3652286"/>
            <a:ext cx="2227362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Address 2</a:t>
            </a:r>
            <a:endParaRPr lang="en-US" sz="1169" dirty="0"/>
          </a:p>
        </p:txBody>
      </p:sp>
      <p:sp>
        <p:nvSpPr>
          <p:cNvPr id="42" name="Text 11"/>
          <p:cNvSpPr/>
          <p:nvPr/>
        </p:nvSpPr>
        <p:spPr>
          <a:xfrm>
            <a:off x="9719933" y="3638050"/>
            <a:ext cx="2227362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 Address 3</a:t>
            </a:r>
            <a:endParaRPr lang="en-US" sz="1169" dirty="0"/>
          </a:p>
        </p:txBody>
      </p:sp>
      <p:sp>
        <p:nvSpPr>
          <p:cNvPr id="43" name="Text 12"/>
          <p:cNvSpPr/>
          <p:nvPr/>
        </p:nvSpPr>
        <p:spPr>
          <a:xfrm>
            <a:off x="6570717" y="4608195"/>
            <a:ext cx="4454723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Unlike traditional DNS responses that provide a single IP address, Multivalue Answer Routing returns multiple healthy endpoints, allowing clients to attempt connections to different resources if the initial attempt fails.</a:t>
            </a:r>
            <a:endParaRPr lang="en-US" sz="1169" dirty="0"/>
          </a:p>
        </p:txBody>
      </p:sp>
      <p:sp>
        <p:nvSpPr>
          <p:cNvPr id="44" name="Text 13"/>
          <p:cNvSpPr/>
          <p:nvPr/>
        </p:nvSpPr>
        <p:spPr>
          <a:xfrm>
            <a:off x="11228600" y="7230326"/>
            <a:ext cx="51351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10</a:t>
            </a:r>
            <a:endParaRPr lang="en-US" sz="116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2366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970171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192907"/>
            <a:ext cx="5048687" cy="172620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3141849"/>
            <a:ext cx="5048687" cy="316471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76" y="4357617"/>
            <a:ext cx="464034" cy="46403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867" y="4459704"/>
            <a:ext cx="213455" cy="2598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576" y="4960861"/>
            <a:ext cx="464034" cy="46403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787" y="5062948"/>
            <a:ext cx="185613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576" y="5564105"/>
            <a:ext cx="464034" cy="46403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67" y="5666192"/>
            <a:ext cx="213455" cy="2598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2" y="2102413"/>
            <a:ext cx="5048687" cy="374939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9349" y="2733499"/>
            <a:ext cx="4584653" cy="2375853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93963" y="524699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IP-Based Routing</a:t>
            </a:r>
            <a:endParaRPr lang="en-US" sz="2631" dirty="0"/>
          </a:p>
        </p:txBody>
      </p:sp>
      <p:sp>
        <p:nvSpPr>
          <p:cNvPr id="16" name="Text 1"/>
          <p:cNvSpPr/>
          <p:nvPr/>
        </p:nvSpPr>
        <p:spPr>
          <a:xfrm>
            <a:off x="779576" y="1332117"/>
            <a:ext cx="467746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Definition</a:t>
            </a:r>
            <a:endParaRPr lang="en-US" sz="1754" dirty="0"/>
          </a:p>
        </p:txBody>
      </p:sp>
      <p:sp>
        <p:nvSpPr>
          <p:cNvPr id="17" name="Text 2"/>
          <p:cNvSpPr/>
          <p:nvPr/>
        </p:nvSpPr>
        <p:spPr>
          <a:xfrm>
            <a:off x="779576" y="1740467"/>
            <a:ext cx="4677460" cy="1039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Route 53 IP-based routing policy is a sophisticated traffic management mechanism that directs internet traffic to specific resources based on the client's originating IP address or subnet.</a:t>
            </a:r>
            <a:endParaRPr lang="en-US" sz="1315" dirty="0"/>
          </a:p>
        </p:txBody>
      </p:sp>
      <p:sp>
        <p:nvSpPr>
          <p:cNvPr id="18" name="Text 3"/>
          <p:cNvSpPr/>
          <p:nvPr/>
        </p:nvSpPr>
        <p:spPr>
          <a:xfrm>
            <a:off x="779576" y="3281059"/>
            <a:ext cx="467746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Purpose</a:t>
            </a:r>
            <a:endParaRPr lang="en-US" sz="1754" dirty="0"/>
          </a:p>
        </p:txBody>
      </p:sp>
      <p:sp>
        <p:nvSpPr>
          <p:cNvPr id="19" name="Text 4"/>
          <p:cNvSpPr/>
          <p:nvPr/>
        </p:nvSpPr>
        <p:spPr>
          <a:xfrm>
            <a:off x="779576" y="3689408"/>
            <a:ext cx="4677460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highly granular control over DNS query resolution, enabling precise routing decisions for:</a:t>
            </a:r>
            <a:endParaRPr lang="en-US" sz="1315" dirty="0"/>
          </a:p>
        </p:txBody>
      </p:sp>
      <p:sp>
        <p:nvSpPr>
          <p:cNvPr id="20" name="Text 5"/>
          <p:cNvSpPr/>
          <p:nvPr/>
        </p:nvSpPr>
        <p:spPr>
          <a:xfrm>
            <a:off x="1382821" y="4459704"/>
            <a:ext cx="22465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performance</a:t>
            </a:r>
            <a:endParaRPr lang="en-US" sz="1315" dirty="0"/>
          </a:p>
        </p:txBody>
      </p:sp>
      <p:sp>
        <p:nvSpPr>
          <p:cNvPr id="21" name="Text 6"/>
          <p:cNvSpPr/>
          <p:nvPr/>
        </p:nvSpPr>
        <p:spPr>
          <a:xfrm>
            <a:off x="1382820" y="5062948"/>
            <a:ext cx="220334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 network costs</a:t>
            </a:r>
            <a:endParaRPr lang="en-US" sz="1315" dirty="0"/>
          </a:p>
        </p:txBody>
      </p:sp>
      <p:sp>
        <p:nvSpPr>
          <p:cNvPr id="22" name="Text 7"/>
          <p:cNvSpPr/>
          <p:nvPr/>
        </p:nvSpPr>
        <p:spPr>
          <a:xfrm>
            <a:off x="1382821" y="5666192"/>
            <a:ext cx="337601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Detailed traffic flow management</a:t>
            </a:r>
            <a:endParaRPr lang="en-US" sz="1315" dirty="0"/>
          </a:p>
        </p:txBody>
      </p:sp>
      <p:sp>
        <p:nvSpPr>
          <p:cNvPr id="23" name="Text 8"/>
          <p:cNvSpPr/>
          <p:nvPr/>
        </p:nvSpPr>
        <p:spPr>
          <a:xfrm>
            <a:off x="5999027" y="2325149"/>
            <a:ext cx="552385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IP-Based Routing Works</a:t>
            </a:r>
            <a:endParaRPr lang="en-US" sz="1461" dirty="0"/>
          </a:p>
        </p:txBody>
      </p:sp>
      <p:sp>
        <p:nvSpPr>
          <p:cNvPr id="24" name="Text 9"/>
          <p:cNvSpPr/>
          <p:nvPr/>
        </p:nvSpPr>
        <p:spPr>
          <a:xfrm>
            <a:off x="6459349" y="5257842"/>
            <a:ext cx="460321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matches client IP addresses to predefined CIDR blocks
to determine the appropriate resource</a:t>
            </a:r>
            <a:endParaRPr lang="en-US" sz="102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83057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926" y="1192907"/>
            <a:ext cx="3563779" cy="185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483" y="3049042"/>
            <a:ext cx="2375853" cy="1856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5852" y="4905177"/>
            <a:ext cx="4751705" cy="185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557" y="5833244"/>
            <a:ext cx="2969816" cy="1856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5852" y="1192907"/>
            <a:ext cx="111368" cy="11136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1705" y="4905177"/>
            <a:ext cx="111368" cy="11136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3010" y="5833244"/>
            <a:ext cx="111368" cy="1113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944" y="895926"/>
            <a:ext cx="742454" cy="3712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5668" y="1898239"/>
            <a:ext cx="1187926" cy="118792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0276" y="2195220"/>
            <a:ext cx="278420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944" y="3457391"/>
            <a:ext cx="1900653" cy="163339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9435" y="3615163"/>
            <a:ext cx="352666" cy="27842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0088" y="3457391"/>
            <a:ext cx="1900653" cy="163339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88579" y="3615163"/>
            <a:ext cx="352666" cy="27842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89231" y="3457391"/>
            <a:ext cx="1900653" cy="163339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37722" y="3615163"/>
            <a:ext cx="352666" cy="27842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38376" y="3457391"/>
            <a:ext cx="1900653" cy="163339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86867" y="3615163"/>
            <a:ext cx="352666" cy="27842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87520" y="3457391"/>
            <a:ext cx="1900798" cy="163339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6010" y="3615163"/>
            <a:ext cx="352666" cy="27842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0945" y="5387772"/>
            <a:ext cx="10097373" cy="853822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9435" y="5907489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13876" y="5907489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0945" y="6492172"/>
            <a:ext cx="129929" cy="14849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1" y="79226"/>
            <a:ext cx="11879263" cy="6830576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-1" y="79226"/>
            <a:ext cx="11879263" cy="6480362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890944" y="450453"/>
            <a:ext cx="1211684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 with </a:t>
            </a:r>
            <a:r>
              <a:rPr lang="en-US" sz="2631" b="1" dirty="0">
                <a:solidFill>
                  <a:srgbClr val="FFA5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Services</a:t>
            </a:r>
            <a:endParaRPr lang="en-US" sz="2631" dirty="0"/>
          </a:p>
        </p:txBody>
      </p:sp>
      <p:sp>
        <p:nvSpPr>
          <p:cNvPr id="30" name="Text 1"/>
          <p:cNvSpPr/>
          <p:nvPr/>
        </p:nvSpPr>
        <p:spPr>
          <a:xfrm>
            <a:off x="890945" y="1155784"/>
            <a:ext cx="10097373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integrates seamlessly with other AWS services, enabling efficient traffic management and resource routing through Alias records and other mechanisms.</a:t>
            </a:r>
            <a:endParaRPr lang="en-US" sz="1461" dirty="0"/>
          </a:p>
        </p:txBody>
      </p:sp>
      <p:sp>
        <p:nvSpPr>
          <p:cNvPr id="31" name="Text 2"/>
          <p:cNvSpPr/>
          <p:nvPr/>
        </p:nvSpPr>
        <p:spPr>
          <a:xfrm>
            <a:off x="5488257" y="2566447"/>
            <a:ext cx="90260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</a:t>
            </a:r>
            <a:endParaRPr lang="en-US" sz="1169" dirty="0"/>
          </a:p>
        </p:txBody>
      </p:sp>
      <p:sp>
        <p:nvSpPr>
          <p:cNvPr id="32" name="Text 3"/>
          <p:cNvSpPr/>
          <p:nvPr/>
        </p:nvSpPr>
        <p:spPr>
          <a:xfrm>
            <a:off x="1039435" y="4051355"/>
            <a:ext cx="16036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</a:t>
            </a:r>
            <a:endParaRPr lang="en-US" sz="1461" dirty="0"/>
          </a:p>
        </p:txBody>
      </p:sp>
      <p:sp>
        <p:nvSpPr>
          <p:cNvPr id="33" name="Text 4"/>
          <p:cNvSpPr/>
          <p:nvPr/>
        </p:nvSpPr>
        <p:spPr>
          <a:xfrm>
            <a:off x="1039435" y="4385459"/>
            <a:ext cx="1603671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Instance registration and health checking for auto-scaling groups</a:t>
            </a:r>
            <a:endParaRPr lang="en-US" sz="1023" dirty="0"/>
          </a:p>
        </p:txBody>
      </p:sp>
      <p:sp>
        <p:nvSpPr>
          <p:cNvPr id="34" name="Text 5"/>
          <p:cNvSpPr/>
          <p:nvPr/>
        </p:nvSpPr>
        <p:spPr>
          <a:xfrm>
            <a:off x="3088579" y="4051355"/>
            <a:ext cx="16036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S3</a:t>
            </a:r>
            <a:endParaRPr lang="en-US" sz="1461" dirty="0"/>
          </a:p>
        </p:txBody>
      </p:sp>
      <p:sp>
        <p:nvSpPr>
          <p:cNvPr id="35" name="Text 6"/>
          <p:cNvSpPr/>
          <p:nvPr/>
        </p:nvSpPr>
        <p:spPr>
          <a:xfrm>
            <a:off x="3088579" y="4385459"/>
            <a:ext cx="1603671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website hosting with custom domains via alias records</a:t>
            </a:r>
            <a:endParaRPr lang="en-US" sz="1023" dirty="0"/>
          </a:p>
        </p:txBody>
      </p:sp>
      <p:sp>
        <p:nvSpPr>
          <p:cNvPr id="36" name="Text 7"/>
          <p:cNvSpPr/>
          <p:nvPr/>
        </p:nvSpPr>
        <p:spPr>
          <a:xfrm>
            <a:off x="5137723" y="4051355"/>
            <a:ext cx="19244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CloudFront</a:t>
            </a:r>
            <a:endParaRPr lang="en-US" sz="1461" dirty="0"/>
          </a:p>
        </p:txBody>
      </p:sp>
      <p:sp>
        <p:nvSpPr>
          <p:cNvPr id="37" name="Text 8"/>
          <p:cNvSpPr/>
          <p:nvPr/>
        </p:nvSpPr>
        <p:spPr>
          <a:xfrm>
            <a:off x="5137722" y="4385459"/>
            <a:ext cx="1603671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content delivery with automatic DNS failover</a:t>
            </a:r>
            <a:endParaRPr lang="en-US" sz="1023" dirty="0"/>
          </a:p>
        </p:txBody>
      </p:sp>
      <p:sp>
        <p:nvSpPr>
          <p:cNvPr id="38" name="Text 9"/>
          <p:cNvSpPr/>
          <p:nvPr/>
        </p:nvSpPr>
        <p:spPr>
          <a:xfrm>
            <a:off x="7186867" y="4051355"/>
            <a:ext cx="16036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ELB</a:t>
            </a:r>
            <a:endParaRPr lang="en-US" sz="1461" dirty="0"/>
          </a:p>
        </p:txBody>
      </p:sp>
      <p:sp>
        <p:nvSpPr>
          <p:cNvPr id="39" name="Text 10"/>
          <p:cNvSpPr/>
          <p:nvPr/>
        </p:nvSpPr>
        <p:spPr>
          <a:xfrm>
            <a:off x="7186867" y="4385459"/>
            <a:ext cx="1603671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Load balancing across multiple availability zones</a:t>
            </a:r>
            <a:endParaRPr lang="en-US" sz="1023" dirty="0"/>
          </a:p>
        </p:txBody>
      </p:sp>
      <p:sp>
        <p:nvSpPr>
          <p:cNvPr id="40" name="Text 11"/>
          <p:cNvSpPr/>
          <p:nvPr/>
        </p:nvSpPr>
        <p:spPr>
          <a:xfrm>
            <a:off x="9236011" y="4051355"/>
            <a:ext cx="160381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VPC</a:t>
            </a:r>
            <a:endParaRPr lang="en-US" sz="1461" dirty="0"/>
          </a:p>
        </p:txBody>
      </p:sp>
      <p:sp>
        <p:nvSpPr>
          <p:cNvPr id="41" name="Text 12"/>
          <p:cNvSpPr/>
          <p:nvPr/>
        </p:nvSpPr>
        <p:spPr>
          <a:xfrm>
            <a:off x="9236011" y="4385459"/>
            <a:ext cx="1603816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DNS resolution within virtual private clouds</a:t>
            </a:r>
            <a:endParaRPr lang="en-US" sz="1023" dirty="0"/>
          </a:p>
        </p:txBody>
      </p:sp>
      <p:sp>
        <p:nvSpPr>
          <p:cNvPr id="42" name="Text 13"/>
          <p:cNvSpPr/>
          <p:nvPr/>
        </p:nvSpPr>
        <p:spPr>
          <a:xfrm>
            <a:off x="1039435" y="5536263"/>
            <a:ext cx="98003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Integration Benefits</a:t>
            </a:r>
            <a:endParaRPr lang="en-US" sz="1461" dirty="0"/>
          </a:p>
        </p:txBody>
      </p:sp>
      <p:sp>
        <p:nvSpPr>
          <p:cNvPr id="43" name="Text 14"/>
          <p:cNvSpPr/>
          <p:nvPr/>
        </p:nvSpPr>
        <p:spPr>
          <a:xfrm>
            <a:off x="1262171" y="5870367"/>
            <a:ext cx="417212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resource mapping with alias records</a:t>
            </a:r>
            <a:endParaRPr lang="en-US" sz="1169" dirty="0"/>
          </a:p>
        </p:txBody>
      </p:sp>
      <p:sp>
        <p:nvSpPr>
          <p:cNvPr id="44" name="Text 15"/>
          <p:cNvSpPr/>
          <p:nvPr/>
        </p:nvSpPr>
        <p:spPr>
          <a:xfrm>
            <a:off x="6236613" y="5870367"/>
            <a:ext cx="350531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health checking and failover</a:t>
            </a:r>
            <a:endParaRPr lang="en-US" sz="116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2" y="524699"/>
            <a:ext cx="74245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83" y="1898238"/>
            <a:ext cx="2159352" cy="51971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89" y="2714938"/>
            <a:ext cx="4046374" cy="107655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380" y="3030481"/>
            <a:ext cx="445472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343" y="3049042"/>
            <a:ext cx="185613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2714938"/>
            <a:ext cx="4046374" cy="107655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490" y="3030481"/>
            <a:ext cx="445472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453" y="3049042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1889" y="4014232"/>
            <a:ext cx="4046374" cy="107655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0380" y="4329775"/>
            <a:ext cx="445472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4343" y="4348336"/>
            <a:ext cx="185613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0999" y="4014232"/>
            <a:ext cx="4046374" cy="107655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9490" y="4329775"/>
            <a:ext cx="445472" cy="4454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93453" y="4348336"/>
            <a:ext cx="129929" cy="148491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68209" y="543260"/>
            <a:ext cx="10816451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1: What is Amazon Route 53 primarily used for?</a:t>
            </a:r>
            <a:endParaRPr lang="en-US" sz="2192" dirty="0"/>
          </a:p>
        </p:txBody>
      </p:sp>
      <p:sp>
        <p:nvSpPr>
          <p:cNvPr id="20" name="Text 2"/>
          <p:cNvSpPr/>
          <p:nvPr/>
        </p:nvSpPr>
        <p:spPr>
          <a:xfrm>
            <a:off x="5082619" y="2028168"/>
            <a:ext cx="6823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1" name="Text 3"/>
          <p:cNvSpPr/>
          <p:nvPr/>
        </p:nvSpPr>
        <p:spPr>
          <a:xfrm>
            <a:off x="5543229" y="2028168"/>
            <a:ext cx="88885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</a:t>
            </a:r>
            <a:endParaRPr lang="en-US" sz="1754" dirty="0"/>
          </a:p>
        </p:txBody>
      </p:sp>
      <p:sp>
        <p:nvSpPr>
          <p:cNvPr id="22" name="Text 4"/>
          <p:cNvSpPr/>
          <p:nvPr/>
        </p:nvSpPr>
        <p:spPr>
          <a:xfrm>
            <a:off x="6124838" y="2037448"/>
            <a:ext cx="37203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53</a:t>
            </a:r>
            <a:endParaRPr lang="en-US" sz="1754" dirty="0"/>
          </a:p>
        </p:txBody>
      </p:sp>
      <p:sp>
        <p:nvSpPr>
          <p:cNvPr id="23" name="Text 5"/>
          <p:cNvSpPr/>
          <p:nvPr/>
        </p:nvSpPr>
        <p:spPr>
          <a:xfrm>
            <a:off x="2066835" y="3104726"/>
            <a:ext cx="20690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24" name="Text 6"/>
          <p:cNvSpPr/>
          <p:nvPr/>
        </p:nvSpPr>
        <p:spPr>
          <a:xfrm>
            <a:off x="2784202" y="2993358"/>
            <a:ext cx="331233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 delivery and caching</a:t>
            </a:r>
            <a:endParaRPr lang="en-US" sz="1315" dirty="0"/>
          </a:p>
        </p:txBody>
      </p:sp>
      <p:sp>
        <p:nvSpPr>
          <p:cNvPr id="25" name="Text 7"/>
          <p:cNvSpPr/>
          <p:nvPr/>
        </p:nvSpPr>
        <p:spPr>
          <a:xfrm>
            <a:off x="2524343" y="3290340"/>
            <a:ext cx="362416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web application content delivery</a:t>
            </a:r>
            <a:endParaRPr lang="en-US" sz="1169" dirty="0"/>
          </a:p>
        </p:txBody>
      </p:sp>
      <p:sp>
        <p:nvSpPr>
          <p:cNvPr id="26" name="Text 8"/>
          <p:cNvSpPr/>
          <p:nvPr/>
        </p:nvSpPr>
        <p:spPr>
          <a:xfrm>
            <a:off x="6337250" y="3104726"/>
            <a:ext cx="2037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27" name="Text 9"/>
          <p:cNvSpPr/>
          <p:nvPr/>
        </p:nvSpPr>
        <p:spPr>
          <a:xfrm>
            <a:off x="7016189" y="2863428"/>
            <a:ext cx="2932693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routing, domain registration, health checking</a:t>
            </a:r>
            <a:endParaRPr lang="en-US" sz="1315" dirty="0"/>
          </a:p>
        </p:txBody>
      </p:sp>
      <p:sp>
        <p:nvSpPr>
          <p:cNvPr id="28" name="Text 10"/>
          <p:cNvSpPr/>
          <p:nvPr/>
        </p:nvSpPr>
        <p:spPr>
          <a:xfrm>
            <a:off x="6793453" y="3420269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Route 53 functions</a:t>
            </a:r>
            <a:endParaRPr lang="en-US" sz="1169" dirty="0"/>
          </a:p>
        </p:txBody>
      </p:sp>
      <p:sp>
        <p:nvSpPr>
          <p:cNvPr id="29" name="Text 11"/>
          <p:cNvSpPr/>
          <p:nvPr/>
        </p:nvSpPr>
        <p:spPr>
          <a:xfrm>
            <a:off x="2071330" y="4404020"/>
            <a:ext cx="19628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30" name="Text 12"/>
          <p:cNvSpPr/>
          <p:nvPr/>
        </p:nvSpPr>
        <p:spPr>
          <a:xfrm>
            <a:off x="2784202" y="4162723"/>
            <a:ext cx="2895570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Serverless function orchestration</a:t>
            </a:r>
            <a:endParaRPr lang="en-US" sz="1315" dirty="0"/>
          </a:p>
        </p:txBody>
      </p:sp>
      <p:sp>
        <p:nvSpPr>
          <p:cNvPr id="31" name="Text 13"/>
          <p:cNvSpPr/>
          <p:nvPr/>
        </p:nvSpPr>
        <p:spPr>
          <a:xfrm>
            <a:off x="2524343" y="4719563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managing serverless workflows</a:t>
            </a:r>
            <a:endParaRPr lang="en-US" sz="1169" dirty="0"/>
          </a:p>
        </p:txBody>
      </p:sp>
      <p:sp>
        <p:nvSpPr>
          <p:cNvPr id="32" name="Text 14"/>
          <p:cNvSpPr/>
          <p:nvPr/>
        </p:nvSpPr>
        <p:spPr>
          <a:xfrm>
            <a:off x="6329710" y="4404020"/>
            <a:ext cx="2218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33" name="Text 15"/>
          <p:cNvSpPr/>
          <p:nvPr/>
        </p:nvSpPr>
        <p:spPr>
          <a:xfrm>
            <a:off x="6997628" y="4162723"/>
            <a:ext cx="2951254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Relational database management</a:t>
            </a:r>
            <a:endParaRPr lang="en-US" sz="1315" dirty="0"/>
          </a:p>
        </p:txBody>
      </p:sp>
      <p:sp>
        <p:nvSpPr>
          <p:cNvPr id="34" name="Text 16"/>
          <p:cNvSpPr/>
          <p:nvPr/>
        </p:nvSpPr>
        <p:spPr>
          <a:xfrm>
            <a:off x="6793453" y="4719563"/>
            <a:ext cx="37865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scaling databases</a:t>
            </a:r>
            <a:endParaRPr lang="en-US" sz="116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74245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15" y="1786870"/>
            <a:ext cx="2643832" cy="6310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6206" y="1935361"/>
            <a:ext cx="278420" cy="3341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889" y="3531637"/>
            <a:ext cx="2623241" cy="167052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7503" y="3717251"/>
            <a:ext cx="371227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8871" y="3828619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7866" y="3531637"/>
            <a:ext cx="2623386" cy="167052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3480" y="3791496"/>
            <a:ext cx="344110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73987" y="3531637"/>
            <a:ext cx="2623241" cy="167052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9600" y="3717251"/>
            <a:ext cx="371227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1688" y="3828619"/>
            <a:ext cx="167052" cy="148491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5193117" y="2000326"/>
            <a:ext cx="210015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</a:t>
            </a:r>
            <a:endParaRPr lang="en-US" sz="1461" dirty="0"/>
          </a:p>
        </p:txBody>
      </p:sp>
      <p:sp>
        <p:nvSpPr>
          <p:cNvPr id="18" name="Text 3"/>
          <p:cNvSpPr/>
          <p:nvPr/>
        </p:nvSpPr>
        <p:spPr>
          <a:xfrm>
            <a:off x="6468796" y="1997361"/>
            <a:ext cx="20376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19" name="Text 4"/>
          <p:cNvSpPr/>
          <p:nvPr/>
        </p:nvSpPr>
        <p:spPr>
          <a:xfrm>
            <a:off x="1781889" y="2714938"/>
            <a:ext cx="8315484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Route 53 is a highly available and scalable Domain Name System (DNS) web service.</a:t>
            </a:r>
            <a:endParaRPr lang="en-US" sz="1461" dirty="0"/>
          </a:p>
        </p:txBody>
      </p:sp>
      <p:sp>
        <p:nvSpPr>
          <p:cNvPr id="20" name="Text 5"/>
          <p:cNvSpPr/>
          <p:nvPr/>
        </p:nvSpPr>
        <p:spPr>
          <a:xfrm>
            <a:off x="2450098" y="3772935"/>
            <a:ext cx="143403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DNS Routing</a:t>
            </a:r>
            <a:endParaRPr lang="en-US" sz="1315" dirty="0"/>
          </a:p>
        </p:txBody>
      </p:sp>
      <p:sp>
        <p:nvSpPr>
          <p:cNvPr id="21" name="Text 6"/>
          <p:cNvSpPr/>
          <p:nvPr/>
        </p:nvSpPr>
        <p:spPr>
          <a:xfrm>
            <a:off x="1967503" y="4199845"/>
            <a:ext cx="2252014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Translates domain names into IP addresses for reliable network access</a:t>
            </a:r>
            <a:endParaRPr lang="en-US" sz="1169" dirty="0"/>
          </a:p>
        </p:txBody>
      </p:sp>
      <p:sp>
        <p:nvSpPr>
          <p:cNvPr id="22" name="Text 7"/>
          <p:cNvSpPr/>
          <p:nvPr/>
        </p:nvSpPr>
        <p:spPr>
          <a:xfrm>
            <a:off x="5268957" y="3717250"/>
            <a:ext cx="1796680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Domain Registration</a:t>
            </a:r>
            <a:endParaRPr lang="en-US" sz="1315" dirty="0"/>
          </a:p>
        </p:txBody>
      </p:sp>
      <p:sp>
        <p:nvSpPr>
          <p:cNvPr id="23" name="Text 8"/>
          <p:cNvSpPr/>
          <p:nvPr/>
        </p:nvSpPr>
        <p:spPr>
          <a:xfrm>
            <a:off x="4813479" y="4348336"/>
            <a:ext cx="2252159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register and manage domain names for internet presence</a:t>
            </a:r>
            <a:endParaRPr lang="en-US" sz="1169" dirty="0"/>
          </a:p>
        </p:txBody>
      </p:sp>
      <p:sp>
        <p:nvSpPr>
          <p:cNvPr id="24" name="Text 9"/>
          <p:cNvSpPr/>
          <p:nvPr/>
        </p:nvSpPr>
        <p:spPr>
          <a:xfrm>
            <a:off x="8142196" y="3772935"/>
            <a:ext cx="184905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Health Checking</a:t>
            </a:r>
            <a:endParaRPr lang="en-US" sz="1315" dirty="0"/>
          </a:p>
        </p:txBody>
      </p:sp>
      <p:sp>
        <p:nvSpPr>
          <p:cNvPr id="25" name="Text 10"/>
          <p:cNvSpPr/>
          <p:nvPr/>
        </p:nvSpPr>
        <p:spPr>
          <a:xfrm>
            <a:off x="7659601" y="4199845"/>
            <a:ext cx="2252014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Monitors the health and performance of your resources</a:t>
            </a:r>
            <a:endParaRPr lang="en-US" sz="116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2" y="673190"/>
            <a:ext cx="56409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83" y="2306588"/>
            <a:ext cx="2159352" cy="51971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89" y="3123288"/>
            <a:ext cx="4046374" cy="81669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380" y="3308901"/>
            <a:ext cx="445472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343" y="3327462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3123288"/>
            <a:ext cx="4046374" cy="81669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490" y="3308901"/>
            <a:ext cx="445472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453" y="3327462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89" y="4162723"/>
            <a:ext cx="4046374" cy="81669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380" y="4348337"/>
            <a:ext cx="445472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4343" y="4366898"/>
            <a:ext cx="185613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4162723"/>
            <a:ext cx="4046374" cy="81669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490" y="4348337"/>
            <a:ext cx="445472" cy="4454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93453" y="4366898"/>
            <a:ext cx="111368" cy="148491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50372" y="524699"/>
            <a:ext cx="10366513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2: Which DNS record type allows routing to AWS resources at the zone apex?</a:t>
            </a:r>
            <a:endParaRPr lang="en-US" sz="2192" dirty="0"/>
          </a:p>
        </p:txBody>
      </p:sp>
      <p:sp>
        <p:nvSpPr>
          <p:cNvPr id="20" name="Text 2"/>
          <p:cNvSpPr/>
          <p:nvPr/>
        </p:nvSpPr>
        <p:spPr>
          <a:xfrm>
            <a:off x="5082619" y="2436518"/>
            <a:ext cx="6823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1" name="Text 3"/>
          <p:cNvSpPr/>
          <p:nvPr/>
        </p:nvSpPr>
        <p:spPr>
          <a:xfrm>
            <a:off x="5698479" y="2436518"/>
            <a:ext cx="88885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</a:t>
            </a:r>
            <a:endParaRPr lang="en-US" sz="1754" dirty="0"/>
          </a:p>
        </p:txBody>
      </p:sp>
      <p:sp>
        <p:nvSpPr>
          <p:cNvPr id="22" name="Text 4"/>
          <p:cNvSpPr/>
          <p:nvPr/>
        </p:nvSpPr>
        <p:spPr>
          <a:xfrm>
            <a:off x="6486466" y="2436518"/>
            <a:ext cx="37203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53</a:t>
            </a:r>
            <a:endParaRPr lang="en-US" sz="1754" dirty="0"/>
          </a:p>
        </p:txBody>
      </p:sp>
      <p:sp>
        <p:nvSpPr>
          <p:cNvPr id="23" name="Text 5"/>
          <p:cNvSpPr/>
          <p:nvPr/>
        </p:nvSpPr>
        <p:spPr>
          <a:xfrm>
            <a:off x="2066835" y="3383146"/>
            <a:ext cx="20690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24" name="Text 6"/>
          <p:cNvSpPr/>
          <p:nvPr/>
        </p:nvSpPr>
        <p:spPr>
          <a:xfrm>
            <a:off x="2747079" y="3271778"/>
            <a:ext cx="16099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CNAME record</a:t>
            </a:r>
            <a:endParaRPr lang="en-US" sz="1315" dirty="0"/>
          </a:p>
        </p:txBody>
      </p:sp>
      <p:sp>
        <p:nvSpPr>
          <p:cNvPr id="25" name="Text 7"/>
          <p:cNvSpPr/>
          <p:nvPr/>
        </p:nvSpPr>
        <p:spPr>
          <a:xfrm>
            <a:off x="2524344" y="3568760"/>
            <a:ext cx="298205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only be used for subdomains</a:t>
            </a:r>
            <a:endParaRPr lang="en-US" sz="1169" dirty="0"/>
          </a:p>
        </p:txBody>
      </p:sp>
      <p:sp>
        <p:nvSpPr>
          <p:cNvPr id="26" name="Text 8"/>
          <p:cNvSpPr/>
          <p:nvPr/>
        </p:nvSpPr>
        <p:spPr>
          <a:xfrm>
            <a:off x="6337250" y="3383146"/>
            <a:ext cx="2037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27" name="Text 9"/>
          <p:cNvSpPr/>
          <p:nvPr/>
        </p:nvSpPr>
        <p:spPr>
          <a:xfrm>
            <a:off x="7016189" y="3271778"/>
            <a:ext cx="115770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MX record</a:t>
            </a:r>
            <a:endParaRPr lang="en-US" sz="1315" dirty="0"/>
          </a:p>
        </p:txBody>
      </p:sp>
      <p:sp>
        <p:nvSpPr>
          <p:cNvPr id="28" name="Text 10"/>
          <p:cNvSpPr/>
          <p:nvPr/>
        </p:nvSpPr>
        <p:spPr>
          <a:xfrm>
            <a:off x="6793453" y="3568760"/>
            <a:ext cx="214053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email server routing</a:t>
            </a:r>
            <a:endParaRPr lang="en-US" sz="1169" dirty="0"/>
          </a:p>
        </p:txBody>
      </p:sp>
      <p:sp>
        <p:nvSpPr>
          <p:cNvPr id="29" name="Text 11"/>
          <p:cNvSpPr/>
          <p:nvPr/>
        </p:nvSpPr>
        <p:spPr>
          <a:xfrm>
            <a:off x="2071330" y="4422582"/>
            <a:ext cx="19628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30" name="Text 12"/>
          <p:cNvSpPr/>
          <p:nvPr/>
        </p:nvSpPr>
        <p:spPr>
          <a:xfrm>
            <a:off x="2784203" y="4311214"/>
            <a:ext cx="135068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Alias record</a:t>
            </a:r>
            <a:endParaRPr lang="en-US" sz="1315" dirty="0"/>
          </a:p>
        </p:txBody>
      </p:sp>
      <p:sp>
        <p:nvSpPr>
          <p:cNvPr id="31" name="Text 13"/>
          <p:cNvSpPr/>
          <p:nvPr/>
        </p:nvSpPr>
        <p:spPr>
          <a:xfrm>
            <a:off x="2524343" y="4608195"/>
            <a:ext cx="256964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be created at zone apex</a:t>
            </a:r>
            <a:endParaRPr lang="en-US" sz="1169" dirty="0"/>
          </a:p>
        </p:txBody>
      </p:sp>
      <p:sp>
        <p:nvSpPr>
          <p:cNvPr id="32" name="Text 14"/>
          <p:cNvSpPr/>
          <p:nvPr/>
        </p:nvSpPr>
        <p:spPr>
          <a:xfrm>
            <a:off x="6329710" y="4422582"/>
            <a:ext cx="2218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33" name="Text 15"/>
          <p:cNvSpPr/>
          <p:nvPr/>
        </p:nvSpPr>
        <p:spPr>
          <a:xfrm>
            <a:off x="6979067" y="4311214"/>
            <a:ext cx="123166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TXT record</a:t>
            </a:r>
            <a:endParaRPr lang="en-US" sz="1315" dirty="0"/>
          </a:p>
        </p:txBody>
      </p:sp>
      <p:sp>
        <p:nvSpPr>
          <p:cNvPr id="34" name="Text 16"/>
          <p:cNvSpPr/>
          <p:nvPr/>
        </p:nvSpPr>
        <p:spPr>
          <a:xfrm>
            <a:off x="6793453" y="4608195"/>
            <a:ext cx="180068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text annotations</a:t>
            </a:r>
            <a:endParaRPr lang="en-US" sz="116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2" y="524699"/>
            <a:ext cx="74245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1192907"/>
            <a:ext cx="10988318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359960"/>
            <a:ext cx="445472" cy="4454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31" y="1434205"/>
            <a:ext cx="222736" cy="29698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2195220"/>
            <a:ext cx="10988318" cy="85382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3271778"/>
            <a:ext cx="5382791" cy="163339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086" y="3503795"/>
            <a:ext cx="167052" cy="16705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085" y="3865741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085" y="4199845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085" y="4533950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0999" y="3271778"/>
            <a:ext cx="5382791" cy="163339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6613" y="3503795"/>
            <a:ext cx="167052" cy="16705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612" y="3865741"/>
            <a:ext cx="92807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612" y="4199845"/>
            <a:ext cx="92807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612" y="4533950"/>
            <a:ext cx="92807" cy="14849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68209" y="543260"/>
            <a:ext cx="174412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endParaRPr lang="en-US" sz="2192" dirty="0"/>
          </a:p>
        </p:txBody>
      </p:sp>
      <p:sp>
        <p:nvSpPr>
          <p:cNvPr id="21" name="Text 2"/>
          <p:cNvSpPr/>
          <p:nvPr/>
        </p:nvSpPr>
        <p:spPr>
          <a:xfrm>
            <a:off x="1187927" y="1341398"/>
            <a:ext cx="734472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C) Alias record</a:t>
            </a:r>
            <a:endParaRPr lang="en-US" sz="1461" dirty="0"/>
          </a:p>
        </p:txBody>
      </p:sp>
      <p:sp>
        <p:nvSpPr>
          <p:cNvPr id="22" name="Text 3"/>
          <p:cNvSpPr/>
          <p:nvPr/>
        </p:nvSpPr>
        <p:spPr>
          <a:xfrm>
            <a:off x="1187927" y="1601257"/>
            <a:ext cx="734472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Alias records are Route 53-specific extensions that allow routing to AWS resources</a:t>
            </a:r>
            <a:endParaRPr lang="en-US" sz="1169" dirty="0"/>
          </a:p>
        </p:txBody>
      </p:sp>
      <p:sp>
        <p:nvSpPr>
          <p:cNvPr id="23" name="Text 4"/>
          <p:cNvSpPr/>
          <p:nvPr/>
        </p:nvSpPr>
        <p:spPr>
          <a:xfrm>
            <a:off x="593963" y="2195220"/>
            <a:ext cx="1083982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24" name="Text 5"/>
          <p:cNvSpPr/>
          <p:nvPr/>
        </p:nvSpPr>
        <p:spPr>
          <a:xfrm>
            <a:off x="593963" y="2529324"/>
            <a:ext cx="10839827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Alias records are a Route 53-specific extension to DNS functionality. They allow you to route traffic to selected AWS resources, such as CloudFront distributions and Amazon S3 buckets.</a:t>
            </a:r>
            <a:endParaRPr lang="en-US" sz="1315" dirty="0"/>
          </a:p>
        </p:txBody>
      </p:sp>
      <p:sp>
        <p:nvSpPr>
          <p:cNvPr id="25" name="Text 6"/>
          <p:cNvSpPr/>
          <p:nvPr/>
        </p:nvSpPr>
        <p:spPr>
          <a:xfrm>
            <a:off x="872383" y="3457392"/>
            <a:ext cx="501156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Alias Record Advantages</a:t>
            </a:r>
            <a:endParaRPr lang="en-US" sz="1315" dirty="0"/>
          </a:p>
        </p:txBody>
      </p:sp>
      <p:sp>
        <p:nvSpPr>
          <p:cNvPr id="26" name="Text 7"/>
          <p:cNvSpPr/>
          <p:nvPr/>
        </p:nvSpPr>
        <p:spPr>
          <a:xfrm>
            <a:off x="890945" y="3828619"/>
            <a:ext cx="39695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be created at zone apex (example.com)</a:t>
            </a:r>
            <a:endParaRPr lang="en-US" sz="1169" dirty="0"/>
          </a:p>
        </p:txBody>
      </p:sp>
      <p:sp>
        <p:nvSpPr>
          <p:cNvPr id="27" name="Text 8"/>
          <p:cNvSpPr/>
          <p:nvPr/>
        </p:nvSpPr>
        <p:spPr>
          <a:xfrm>
            <a:off x="890945" y="4162723"/>
            <a:ext cx="326621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seamlessly with AWS services</a:t>
            </a:r>
            <a:endParaRPr lang="en-US" sz="1169" dirty="0"/>
          </a:p>
        </p:txBody>
      </p:sp>
      <p:sp>
        <p:nvSpPr>
          <p:cNvPr id="28" name="Text 9"/>
          <p:cNvSpPr/>
          <p:nvPr/>
        </p:nvSpPr>
        <p:spPr>
          <a:xfrm>
            <a:off x="890945" y="4496827"/>
            <a:ext cx="40510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recognition of resource IP changes</a:t>
            </a:r>
            <a:endParaRPr lang="en-US" sz="1169" dirty="0"/>
          </a:p>
        </p:txBody>
      </p:sp>
      <p:sp>
        <p:nvSpPr>
          <p:cNvPr id="29" name="Text 10"/>
          <p:cNvSpPr/>
          <p:nvPr/>
        </p:nvSpPr>
        <p:spPr>
          <a:xfrm>
            <a:off x="6477910" y="3457392"/>
            <a:ext cx="501156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CNAME Record Limitations</a:t>
            </a:r>
            <a:endParaRPr lang="en-US" sz="1315" dirty="0"/>
          </a:p>
        </p:txBody>
      </p:sp>
      <p:sp>
        <p:nvSpPr>
          <p:cNvPr id="30" name="Text 11"/>
          <p:cNvSpPr/>
          <p:nvPr/>
        </p:nvSpPr>
        <p:spPr>
          <a:xfrm>
            <a:off x="6440787" y="3828619"/>
            <a:ext cx="286146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Cannot be created at zone apex</a:t>
            </a:r>
            <a:endParaRPr lang="en-US" sz="1169" dirty="0"/>
          </a:p>
        </p:txBody>
      </p:sp>
      <p:sp>
        <p:nvSpPr>
          <p:cNvPr id="31" name="Text 12"/>
          <p:cNvSpPr/>
          <p:nvPr/>
        </p:nvSpPr>
        <p:spPr>
          <a:xfrm>
            <a:off x="6440788" y="4162723"/>
            <a:ext cx="348425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Cannot point to AWS resources directly</a:t>
            </a:r>
            <a:endParaRPr lang="en-US" sz="1169" dirty="0"/>
          </a:p>
        </p:txBody>
      </p:sp>
      <p:sp>
        <p:nvSpPr>
          <p:cNvPr id="32" name="Text 13"/>
          <p:cNvSpPr/>
          <p:nvPr/>
        </p:nvSpPr>
        <p:spPr>
          <a:xfrm>
            <a:off x="6440788" y="4496827"/>
            <a:ext cx="394504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Must be updated manually when IP changes</a:t>
            </a:r>
            <a:endParaRPr lang="en-US" sz="116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2" y="673190"/>
            <a:ext cx="73230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83" y="1972484"/>
            <a:ext cx="2159352" cy="51971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89" y="2789183"/>
            <a:ext cx="4046374" cy="10394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380" y="3086165"/>
            <a:ext cx="445472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343" y="2993358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2789183"/>
            <a:ext cx="4046374" cy="103943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490" y="3086165"/>
            <a:ext cx="445472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453" y="2993358"/>
            <a:ext cx="111368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1889" y="4051355"/>
            <a:ext cx="4046374" cy="12621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0380" y="4459705"/>
            <a:ext cx="445472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4343" y="4255530"/>
            <a:ext cx="185613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0999" y="4051355"/>
            <a:ext cx="4046374" cy="126217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9490" y="4459705"/>
            <a:ext cx="445472" cy="4454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3453" y="4366898"/>
            <a:ext cx="148491" cy="148491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67193" y="524699"/>
            <a:ext cx="10349692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3: What is the primary purpose of a private hosted zone?</a:t>
            </a:r>
            <a:endParaRPr lang="en-US" sz="2192" dirty="0"/>
          </a:p>
        </p:txBody>
      </p:sp>
      <p:sp>
        <p:nvSpPr>
          <p:cNvPr id="20" name="Text 2"/>
          <p:cNvSpPr/>
          <p:nvPr/>
        </p:nvSpPr>
        <p:spPr>
          <a:xfrm>
            <a:off x="5082619" y="2102413"/>
            <a:ext cx="6823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1" name="Text 3"/>
          <p:cNvSpPr/>
          <p:nvPr/>
        </p:nvSpPr>
        <p:spPr>
          <a:xfrm>
            <a:off x="5698479" y="2102413"/>
            <a:ext cx="88885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</a:t>
            </a:r>
            <a:endParaRPr lang="en-US" sz="1754" dirty="0"/>
          </a:p>
        </p:txBody>
      </p:sp>
      <p:sp>
        <p:nvSpPr>
          <p:cNvPr id="22" name="Text 4"/>
          <p:cNvSpPr/>
          <p:nvPr/>
        </p:nvSpPr>
        <p:spPr>
          <a:xfrm>
            <a:off x="6486466" y="2102413"/>
            <a:ext cx="37203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53</a:t>
            </a:r>
            <a:endParaRPr lang="en-US" sz="1754" dirty="0"/>
          </a:p>
        </p:txBody>
      </p:sp>
      <p:sp>
        <p:nvSpPr>
          <p:cNvPr id="23" name="Text 5"/>
          <p:cNvSpPr/>
          <p:nvPr/>
        </p:nvSpPr>
        <p:spPr>
          <a:xfrm>
            <a:off x="2066835" y="3160410"/>
            <a:ext cx="20690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24" name="Text 6"/>
          <p:cNvSpPr/>
          <p:nvPr/>
        </p:nvSpPr>
        <p:spPr>
          <a:xfrm>
            <a:off x="2747080" y="2937674"/>
            <a:ext cx="24930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internet access</a:t>
            </a:r>
            <a:endParaRPr lang="en-US" sz="1315" dirty="0"/>
          </a:p>
        </p:txBody>
      </p:sp>
      <p:sp>
        <p:nvSpPr>
          <p:cNvPr id="25" name="Text 7"/>
          <p:cNvSpPr/>
          <p:nvPr/>
        </p:nvSpPr>
        <p:spPr>
          <a:xfrm>
            <a:off x="2524343" y="3234656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domains accessible only from the public internet</a:t>
            </a:r>
            <a:endParaRPr lang="en-US" sz="1169" dirty="0"/>
          </a:p>
        </p:txBody>
      </p:sp>
      <p:sp>
        <p:nvSpPr>
          <p:cNvPr id="26" name="Text 8"/>
          <p:cNvSpPr/>
          <p:nvPr/>
        </p:nvSpPr>
        <p:spPr>
          <a:xfrm>
            <a:off x="6337250" y="3160410"/>
            <a:ext cx="2037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27" name="Text 9"/>
          <p:cNvSpPr/>
          <p:nvPr/>
        </p:nvSpPr>
        <p:spPr>
          <a:xfrm>
            <a:off x="6979067" y="2937674"/>
            <a:ext cx="318269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DNS for on-premises</a:t>
            </a:r>
            <a:endParaRPr lang="en-US" sz="1315" dirty="0"/>
          </a:p>
        </p:txBody>
      </p:sp>
      <p:sp>
        <p:nvSpPr>
          <p:cNvPr id="28" name="Text 10"/>
          <p:cNvSpPr/>
          <p:nvPr/>
        </p:nvSpPr>
        <p:spPr>
          <a:xfrm>
            <a:off x="6793453" y="3234656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isolated DNS resolution service for on-premises networks</a:t>
            </a:r>
            <a:endParaRPr lang="en-US" sz="1169" dirty="0"/>
          </a:p>
        </p:txBody>
      </p:sp>
      <p:sp>
        <p:nvSpPr>
          <p:cNvPr id="29" name="Text 11"/>
          <p:cNvSpPr/>
          <p:nvPr/>
        </p:nvSpPr>
        <p:spPr>
          <a:xfrm>
            <a:off x="2071330" y="4533950"/>
            <a:ext cx="19628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30" name="Text 12"/>
          <p:cNvSpPr/>
          <p:nvPr/>
        </p:nvSpPr>
        <p:spPr>
          <a:xfrm>
            <a:off x="2784202" y="4199846"/>
            <a:ext cx="18974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VPC DNS routing</a:t>
            </a:r>
            <a:endParaRPr lang="en-US" sz="1315" dirty="0"/>
          </a:p>
        </p:txBody>
      </p:sp>
      <p:sp>
        <p:nvSpPr>
          <p:cNvPr id="31" name="Text 13"/>
          <p:cNvSpPr/>
          <p:nvPr/>
        </p:nvSpPr>
        <p:spPr>
          <a:xfrm>
            <a:off x="2524343" y="4496827"/>
            <a:ext cx="3155429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Routing DNS queries for a domain and its subdomains within one or more Amazon VPCs</a:t>
            </a:r>
            <a:endParaRPr lang="en-US" sz="1169" dirty="0"/>
          </a:p>
        </p:txBody>
      </p:sp>
      <p:sp>
        <p:nvSpPr>
          <p:cNvPr id="32" name="Text 14"/>
          <p:cNvSpPr/>
          <p:nvPr/>
        </p:nvSpPr>
        <p:spPr>
          <a:xfrm>
            <a:off x="6329710" y="4533950"/>
            <a:ext cx="2218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33" name="Text 15"/>
          <p:cNvSpPr/>
          <p:nvPr/>
        </p:nvSpPr>
        <p:spPr>
          <a:xfrm>
            <a:off x="7016189" y="4311214"/>
            <a:ext cx="223136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SSL/TLS certificates</a:t>
            </a:r>
            <a:endParaRPr lang="en-US" sz="1315" dirty="0"/>
          </a:p>
        </p:txBody>
      </p:sp>
      <p:sp>
        <p:nvSpPr>
          <p:cNvPr id="34" name="Text 16"/>
          <p:cNvSpPr/>
          <p:nvPr/>
        </p:nvSpPr>
        <p:spPr>
          <a:xfrm>
            <a:off x="6793453" y="4608195"/>
            <a:ext cx="315542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automatic provisioning of SSL/TLS certificates for internal applications</a:t>
            </a:r>
            <a:endParaRPr lang="en-US" sz="1169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2" y="524699"/>
            <a:ext cx="74245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1378521"/>
            <a:ext cx="5197177" cy="230160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08" y="1601257"/>
            <a:ext cx="593963" cy="59396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08" y="3160410"/>
            <a:ext cx="148491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3902864"/>
            <a:ext cx="5197177" cy="170764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08" y="4533950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09" y="4868054"/>
            <a:ext cx="185613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208" y="5202158"/>
            <a:ext cx="167052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5920" y="2622131"/>
            <a:ext cx="1113681" cy="111368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3946" y="2733499"/>
            <a:ext cx="417630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8585" y="3513076"/>
            <a:ext cx="111368" cy="11136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7076" y="3513076"/>
            <a:ext cx="111368" cy="11136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5567" y="3513076"/>
            <a:ext cx="111368" cy="11136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78216" y="2622131"/>
            <a:ext cx="1113681" cy="111368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68004" y="2603570"/>
            <a:ext cx="334104" cy="37122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30881" y="3643005"/>
            <a:ext cx="111368" cy="11136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79372" y="3643005"/>
            <a:ext cx="111368" cy="11136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27863" y="3643005"/>
            <a:ext cx="111368" cy="111368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10512" y="2622131"/>
            <a:ext cx="1113681" cy="111368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58537" y="2733499"/>
            <a:ext cx="417630" cy="37122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63177" y="3513076"/>
            <a:ext cx="111368" cy="111368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11668" y="3513076"/>
            <a:ext cx="111368" cy="111368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0159" y="3513076"/>
            <a:ext cx="111368" cy="111368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36613" y="4032794"/>
            <a:ext cx="5197177" cy="96519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78112" y="4209126"/>
            <a:ext cx="148491" cy="148491"/>
          </a:xfrm>
          <a:prstGeom prst="rect">
            <a:avLst/>
          </a:prstGeom>
        </p:spPr>
      </p:pic>
      <p:sp>
        <p:nvSpPr>
          <p:cNvPr id="31" name="Text 2"/>
          <p:cNvSpPr/>
          <p:nvPr/>
        </p:nvSpPr>
        <p:spPr>
          <a:xfrm>
            <a:off x="862958" y="1731186"/>
            <a:ext cx="24535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2192" dirty="0"/>
          </a:p>
        </p:txBody>
      </p:sp>
      <p:sp>
        <p:nvSpPr>
          <p:cNvPr id="32" name="Text 3"/>
          <p:cNvSpPr/>
          <p:nvPr/>
        </p:nvSpPr>
        <p:spPr>
          <a:xfrm>
            <a:off x="1410662" y="1749747"/>
            <a:ext cx="271633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C</a:t>
            </a:r>
            <a:endParaRPr lang="en-US" sz="1754" dirty="0"/>
          </a:p>
        </p:txBody>
      </p:sp>
      <p:sp>
        <p:nvSpPr>
          <p:cNvPr id="33" name="Text 4"/>
          <p:cNvSpPr/>
          <p:nvPr/>
        </p:nvSpPr>
        <p:spPr>
          <a:xfrm>
            <a:off x="668208" y="2343711"/>
            <a:ext cx="475170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route DNS queries for a domain and its subdomains within one or more Amazon VPCs</a:t>
            </a:r>
            <a:endParaRPr lang="en-US" sz="1461" dirty="0"/>
          </a:p>
        </p:txBody>
      </p:sp>
      <p:sp>
        <p:nvSpPr>
          <p:cNvPr id="34" name="Text 5"/>
          <p:cNvSpPr/>
          <p:nvPr/>
        </p:nvSpPr>
        <p:spPr>
          <a:xfrm>
            <a:off x="890944" y="3011920"/>
            <a:ext cx="452896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hosted zones enable internal DNS resolution within VPCs</a:t>
            </a:r>
            <a:endParaRPr lang="en-US" sz="1169" dirty="0"/>
          </a:p>
        </p:txBody>
      </p:sp>
      <p:sp>
        <p:nvSpPr>
          <p:cNvPr id="35" name="Text 6"/>
          <p:cNvSpPr/>
          <p:nvPr/>
        </p:nvSpPr>
        <p:spPr>
          <a:xfrm>
            <a:off x="668208" y="4125600"/>
            <a:ext cx="47517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Benefits:</a:t>
            </a:r>
            <a:endParaRPr lang="en-US" sz="1461" dirty="0"/>
          </a:p>
        </p:txBody>
      </p:sp>
      <p:sp>
        <p:nvSpPr>
          <p:cNvPr id="36" name="Text 7"/>
          <p:cNvSpPr/>
          <p:nvPr/>
        </p:nvSpPr>
        <p:spPr>
          <a:xfrm>
            <a:off x="928067" y="4496827"/>
            <a:ext cx="314527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and isolated DNS resolution</a:t>
            </a:r>
            <a:endParaRPr lang="en-US" sz="1169" dirty="0"/>
          </a:p>
        </p:txBody>
      </p:sp>
      <p:sp>
        <p:nvSpPr>
          <p:cNvPr id="37" name="Text 8"/>
          <p:cNvSpPr/>
          <p:nvPr/>
        </p:nvSpPr>
        <p:spPr>
          <a:xfrm>
            <a:off x="965190" y="4830932"/>
            <a:ext cx="480970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Internal domain names not exposed to public internet</a:t>
            </a:r>
            <a:endParaRPr lang="en-US" sz="1169" dirty="0"/>
          </a:p>
        </p:txBody>
      </p:sp>
      <p:sp>
        <p:nvSpPr>
          <p:cNvPr id="38" name="Text 9"/>
          <p:cNvSpPr/>
          <p:nvPr/>
        </p:nvSpPr>
        <p:spPr>
          <a:xfrm>
            <a:off x="946628" y="5165036"/>
            <a:ext cx="520837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 within VPCs can resolve internal domain names</a:t>
            </a:r>
            <a:endParaRPr lang="en-US" sz="1169" dirty="0"/>
          </a:p>
        </p:txBody>
      </p:sp>
      <p:sp>
        <p:nvSpPr>
          <p:cNvPr id="39" name="Text 10"/>
          <p:cNvSpPr/>
          <p:nvPr/>
        </p:nvSpPr>
        <p:spPr>
          <a:xfrm>
            <a:off x="5716895" y="1991045"/>
            <a:ext cx="623661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Hosted Zone Concept</a:t>
            </a:r>
            <a:endParaRPr lang="en-US" sz="1461" dirty="0"/>
          </a:p>
        </p:txBody>
      </p:sp>
      <p:sp>
        <p:nvSpPr>
          <p:cNvPr id="40" name="Text 11"/>
          <p:cNvSpPr/>
          <p:nvPr/>
        </p:nvSpPr>
        <p:spPr>
          <a:xfrm>
            <a:off x="6828401" y="3178971"/>
            <a:ext cx="65846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VPC 1</a:t>
            </a:r>
            <a:endParaRPr lang="en-US" sz="1315" dirty="0"/>
          </a:p>
        </p:txBody>
      </p:sp>
      <p:sp>
        <p:nvSpPr>
          <p:cNvPr id="41" name="Text 12"/>
          <p:cNvSpPr/>
          <p:nvPr/>
        </p:nvSpPr>
        <p:spPr>
          <a:xfrm>
            <a:off x="8278216" y="3049042"/>
            <a:ext cx="111368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Private Zone</a:t>
            </a:r>
            <a:endParaRPr lang="en-US" sz="1315" dirty="0"/>
          </a:p>
        </p:txBody>
      </p:sp>
      <p:sp>
        <p:nvSpPr>
          <p:cNvPr id="42" name="Text 13"/>
          <p:cNvSpPr/>
          <p:nvPr/>
        </p:nvSpPr>
        <p:spPr>
          <a:xfrm>
            <a:off x="10292992" y="3178971"/>
            <a:ext cx="65846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VPC 2</a:t>
            </a:r>
            <a:endParaRPr lang="en-US" sz="1315" dirty="0"/>
          </a:p>
        </p:txBody>
      </p:sp>
      <p:sp>
        <p:nvSpPr>
          <p:cNvPr id="43" name="Text 14"/>
          <p:cNvSpPr/>
          <p:nvPr/>
        </p:nvSpPr>
        <p:spPr>
          <a:xfrm>
            <a:off x="6385103" y="4181284"/>
            <a:ext cx="4900196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Private hosted zones allow resources within your VPCs to resolve internal domain names without exposing them to the public internet</a:t>
            </a:r>
            <a:endParaRPr lang="en-US" sz="1169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2" y="673190"/>
            <a:ext cx="71490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83" y="1786870"/>
            <a:ext cx="2159352" cy="51971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89" y="2603570"/>
            <a:ext cx="4046374" cy="81669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380" y="2789183"/>
            <a:ext cx="445472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343" y="2807744"/>
            <a:ext cx="167052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2603570"/>
            <a:ext cx="4046374" cy="81669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490" y="2789183"/>
            <a:ext cx="445472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453" y="2807744"/>
            <a:ext cx="167052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889" y="3643005"/>
            <a:ext cx="4046374" cy="81669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0380" y="3828619"/>
            <a:ext cx="445472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24343" y="3847180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999" y="3643005"/>
            <a:ext cx="4046374" cy="81669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9490" y="3828619"/>
            <a:ext cx="445472" cy="4454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3453" y="3847180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1889" y="4756686"/>
            <a:ext cx="7424539" cy="742454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65453" y="524699"/>
            <a:ext cx="10233393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4: Which routing policy provides lowest latency for users?</a:t>
            </a:r>
            <a:endParaRPr lang="en-US" sz="2192" dirty="0"/>
          </a:p>
        </p:txBody>
      </p:sp>
      <p:sp>
        <p:nvSpPr>
          <p:cNvPr id="21" name="Text 2"/>
          <p:cNvSpPr/>
          <p:nvPr/>
        </p:nvSpPr>
        <p:spPr>
          <a:xfrm>
            <a:off x="5082619" y="1916800"/>
            <a:ext cx="6823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</a:t>
            </a:r>
            <a:endParaRPr lang="en-US" sz="1754" dirty="0"/>
          </a:p>
        </p:txBody>
      </p:sp>
      <p:sp>
        <p:nvSpPr>
          <p:cNvPr id="22" name="Text 3"/>
          <p:cNvSpPr/>
          <p:nvPr/>
        </p:nvSpPr>
        <p:spPr>
          <a:xfrm>
            <a:off x="5698479" y="1916800"/>
            <a:ext cx="88885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</a:t>
            </a:r>
            <a:endParaRPr lang="en-US" sz="1754" dirty="0"/>
          </a:p>
        </p:txBody>
      </p:sp>
      <p:sp>
        <p:nvSpPr>
          <p:cNvPr id="23" name="Text 4"/>
          <p:cNvSpPr/>
          <p:nvPr/>
        </p:nvSpPr>
        <p:spPr>
          <a:xfrm>
            <a:off x="6486466" y="1916800"/>
            <a:ext cx="37203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53</a:t>
            </a:r>
            <a:endParaRPr lang="en-US" sz="1754" dirty="0"/>
          </a:p>
        </p:txBody>
      </p:sp>
      <p:sp>
        <p:nvSpPr>
          <p:cNvPr id="24" name="Text 5"/>
          <p:cNvSpPr/>
          <p:nvPr/>
        </p:nvSpPr>
        <p:spPr>
          <a:xfrm>
            <a:off x="2066835" y="2863428"/>
            <a:ext cx="20690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25" name="Text 6"/>
          <p:cNvSpPr/>
          <p:nvPr/>
        </p:nvSpPr>
        <p:spPr>
          <a:xfrm>
            <a:off x="2765641" y="2752060"/>
            <a:ext cx="224371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Geolocation routing</a:t>
            </a:r>
            <a:endParaRPr lang="en-US" sz="1315" dirty="0"/>
          </a:p>
        </p:txBody>
      </p:sp>
      <p:sp>
        <p:nvSpPr>
          <p:cNvPr id="26" name="Text 7"/>
          <p:cNvSpPr/>
          <p:nvPr/>
        </p:nvSpPr>
        <p:spPr>
          <a:xfrm>
            <a:off x="2524343" y="3049042"/>
            <a:ext cx="253327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Based on user location</a:t>
            </a:r>
            <a:endParaRPr lang="en-US" sz="1169" dirty="0"/>
          </a:p>
        </p:txBody>
      </p:sp>
      <p:sp>
        <p:nvSpPr>
          <p:cNvPr id="27" name="Text 8"/>
          <p:cNvSpPr/>
          <p:nvPr/>
        </p:nvSpPr>
        <p:spPr>
          <a:xfrm>
            <a:off x="6337250" y="2863428"/>
            <a:ext cx="2037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28" name="Text 9"/>
          <p:cNvSpPr/>
          <p:nvPr/>
        </p:nvSpPr>
        <p:spPr>
          <a:xfrm>
            <a:off x="7034751" y="2752060"/>
            <a:ext cx="254771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Latency-based routing</a:t>
            </a:r>
            <a:endParaRPr lang="en-US" sz="1315" dirty="0"/>
          </a:p>
        </p:txBody>
      </p:sp>
      <p:sp>
        <p:nvSpPr>
          <p:cNvPr id="29" name="Text 10"/>
          <p:cNvSpPr/>
          <p:nvPr/>
        </p:nvSpPr>
        <p:spPr>
          <a:xfrm>
            <a:off x="6793453" y="3049042"/>
            <a:ext cx="283727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Lowest network latency</a:t>
            </a:r>
            <a:endParaRPr lang="en-US" sz="1169" dirty="0"/>
          </a:p>
        </p:txBody>
      </p:sp>
      <p:sp>
        <p:nvSpPr>
          <p:cNvPr id="30" name="Text 11"/>
          <p:cNvSpPr/>
          <p:nvPr/>
        </p:nvSpPr>
        <p:spPr>
          <a:xfrm>
            <a:off x="2071330" y="3902864"/>
            <a:ext cx="19628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31" name="Text 12"/>
          <p:cNvSpPr/>
          <p:nvPr/>
        </p:nvSpPr>
        <p:spPr>
          <a:xfrm>
            <a:off x="2747079" y="3791496"/>
            <a:ext cx="166999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 routing</a:t>
            </a:r>
            <a:endParaRPr lang="en-US" sz="1315" dirty="0"/>
          </a:p>
        </p:txBody>
      </p:sp>
      <p:sp>
        <p:nvSpPr>
          <p:cNvPr id="32" name="Text 13"/>
          <p:cNvSpPr/>
          <p:nvPr/>
        </p:nvSpPr>
        <p:spPr>
          <a:xfrm>
            <a:off x="2524343" y="4088478"/>
            <a:ext cx="193728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First healthy record</a:t>
            </a:r>
            <a:endParaRPr lang="en-US" sz="1169" dirty="0"/>
          </a:p>
        </p:txBody>
      </p:sp>
      <p:sp>
        <p:nvSpPr>
          <p:cNvPr id="33" name="Text 14"/>
          <p:cNvSpPr/>
          <p:nvPr/>
        </p:nvSpPr>
        <p:spPr>
          <a:xfrm>
            <a:off x="6329710" y="3902864"/>
            <a:ext cx="2218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34" name="Text 15"/>
          <p:cNvSpPr/>
          <p:nvPr/>
        </p:nvSpPr>
        <p:spPr>
          <a:xfrm>
            <a:off x="7016190" y="3791496"/>
            <a:ext cx="180103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Failover routing</a:t>
            </a:r>
            <a:endParaRPr lang="en-US" sz="1315" dirty="0"/>
          </a:p>
        </p:txBody>
      </p:sp>
      <p:sp>
        <p:nvSpPr>
          <p:cNvPr id="35" name="Text 16"/>
          <p:cNvSpPr/>
          <p:nvPr/>
        </p:nvSpPr>
        <p:spPr>
          <a:xfrm>
            <a:off x="6793453" y="4088478"/>
            <a:ext cx="206831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to secondary</a:t>
            </a:r>
            <a:endParaRPr lang="en-US" sz="1169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2" y="524699"/>
            <a:ext cx="74245" cy="3712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2881990"/>
            <a:ext cx="5197177" cy="237585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08" y="3513076"/>
            <a:ext cx="148491" cy="14849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08" y="4069916"/>
            <a:ext cx="148491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08" y="4626756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613" y="1712625"/>
            <a:ext cx="5197177" cy="356377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3447" y="2269465"/>
            <a:ext cx="742454" cy="74245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464" y="2473640"/>
            <a:ext cx="278420" cy="33410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1916" y="2269465"/>
            <a:ext cx="742454" cy="74245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43933" y="2473640"/>
            <a:ext cx="278420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2297" y="2269465"/>
            <a:ext cx="742454" cy="74245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24314" y="2473640"/>
            <a:ext cx="278420" cy="3341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8220" y="3754373"/>
            <a:ext cx="593963" cy="59396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37755" y="3902864"/>
            <a:ext cx="194894" cy="29698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0152" y="4496827"/>
            <a:ext cx="2450098" cy="3712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8502" y="4608195"/>
            <a:ext cx="1633399" cy="3712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2677" y="4719563"/>
            <a:ext cx="1225049" cy="37123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445472" y="2399395"/>
            <a:ext cx="623661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</a:t>
            </a:r>
            <a:r>
              <a:rPr lang="en-US" sz="1461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B) Latency-based routing</a:t>
            </a:r>
            <a:endParaRPr lang="en-US" sz="1461" dirty="0"/>
          </a:p>
        </p:txBody>
      </p:sp>
      <p:sp>
        <p:nvSpPr>
          <p:cNvPr id="25" name="Text 4"/>
          <p:cNvSpPr/>
          <p:nvPr/>
        </p:nvSpPr>
        <p:spPr>
          <a:xfrm>
            <a:off x="668208" y="3104726"/>
            <a:ext cx="475170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26" name="Text 5"/>
          <p:cNvSpPr/>
          <p:nvPr/>
        </p:nvSpPr>
        <p:spPr>
          <a:xfrm>
            <a:off x="890944" y="3475953"/>
            <a:ext cx="452896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Latency-based routing directs users to the AWS region that offers the lowest network latency</a:t>
            </a:r>
            <a:endParaRPr lang="en-US" sz="1169" dirty="0"/>
          </a:p>
        </p:txBody>
      </p:sp>
      <p:sp>
        <p:nvSpPr>
          <p:cNvPr id="27" name="Text 6"/>
          <p:cNvSpPr/>
          <p:nvPr/>
        </p:nvSpPr>
        <p:spPr>
          <a:xfrm>
            <a:off x="890944" y="4032794"/>
            <a:ext cx="452896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Optimizes user experience by connecting them to the closest and fastest available endpoint</a:t>
            </a:r>
            <a:endParaRPr lang="en-US" sz="1169" dirty="0"/>
          </a:p>
        </p:txBody>
      </p:sp>
      <p:sp>
        <p:nvSpPr>
          <p:cNvPr id="28" name="Text 7"/>
          <p:cNvSpPr/>
          <p:nvPr/>
        </p:nvSpPr>
        <p:spPr>
          <a:xfrm>
            <a:off x="890944" y="4589634"/>
            <a:ext cx="452896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determines the optimal region based on observed latency between users and AWS data centers</a:t>
            </a:r>
            <a:endParaRPr lang="en-US" sz="1169" dirty="0"/>
          </a:p>
        </p:txBody>
      </p:sp>
      <p:sp>
        <p:nvSpPr>
          <p:cNvPr id="29" name="Text 8"/>
          <p:cNvSpPr/>
          <p:nvPr/>
        </p:nvSpPr>
        <p:spPr>
          <a:xfrm>
            <a:off x="5895084" y="1861116"/>
            <a:ext cx="588023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Latency-based Routing Concept</a:t>
            </a:r>
            <a:endParaRPr lang="en-US" sz="1315" dirty="0"/>
          </a:p>
        </p:txBody>
      </p:sp>
      <p:sp>
        <p:nvSpPr>
          <p:cNvPr id="30" name="Text 9"/>
          <p:cNvSpPr/>
          <p:nvPr/>
        </p:nvSpPr>
        <p:spPr>
          <a:xfrm>
            <a:off x="6709202" y="3086165"/>
            <a:ext cx="890945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 East</a:t>
            </a:r>
            <a:endParaRPr lang="en-US" sz="1023" dirty="0"/>
          </a:p>
        </p:txBody>
      </p:sp>
      <p:sp>
        <p:nvSpPr>
          <p:cNvPr id="31" name="Text 10"/>
          <p:cNvSpPr/>
          <p:nvPr/>
        </p:nvSpPr>
        <p:spPr>
          <a:xfrm>
            <a:off x="6709202" y="3308901"/>
            <a:ext cx="890945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3B82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Latency</a:t>
            </a:r>
            <a:endParaRPr lang="en-US" sz="877" dirty="0"/>
          </a:p>
        </p:txBody>
      </p:sp>
      <p:sp>
        <p:nvSpPr>
          <p:cNvPr id="32" name="Text 11"/>
          <p:cNvSpPr/>
          <p:nvPr/>
        </p:nvSpPr>
        <p:spPr>
          <a:xfrm>
            <a:off x="8230639" y="3086165"/>
            <a:ext cx="1105154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 West</a:t>
            </a:r>
            <a:endParaRPr lang="en-US" sz="1023" dirty="0"/>
          </a:p>
        </p:txBody>
      </p:sp>
      <p:sp>
        <p:nvSpPr>
          <p:cNvPr id="33" name="Text 12"/>
          <p:cNvSpPr/>
          <p:nvPr/>
        </p:nvSpPr>
        <p:spPr>
          <a:xfrm>
            <a:off x="8230639" y="3308901"/>
            <a:ext cx="1105154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22C55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Medium Latency</a:t>
            </a:r>
            <a:endParaRPr lang="en-US" sz="877" dirty="0"/>
          </a:p>
        </p:txBody>
      </p:sp>
      <p:sp>
        <p:nvSpPr>
          <p:cNvPr id="34" name="Text 13"/>
          <p:cNvSpPr/>
          <p:nvPr/>
        </p:nvSpPr>
        <p:spPr>
          <a:xfrm>
            <a:off x="9955929" y="3086165"/>
            <a:ext cx="101519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Asia Pacific</a:t>
            </a:r>
            <a:endParaRPr lang="en-US" sz="1023" dirty="0"/>
          </a:p>
        </p:txBody>
      </p:sp>
      <p:sp>
        <p:nvSpPr>
          <p:cNvPr id="35" name="Text 14"/>
          <p:cNvSpPr/>
          <p:nvPr/>
        </p:nvSpPr>
        <p:spPr>
          <a:xfrm>
            <a:off x="9955929" y="3308901"/>
            <a:ext cx="1015190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877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Latency</a:t>
            </a:r>
            <a:endParaRPr lang="en-US" sz="877" dirty="0"/>
          </a:p>
        </p:txBody>
      </p:sp>
      <p:sp>
        <p:nvSpPr>
          <p:cNvPr id="36" name="Text 15"/>
          <p:cNvSpPr/>
          <p:nvPr/>
        </p:nvSpPr>
        <p:spPr>
          <a:xfrm>
            <a:off x="5895084" y="5016545"/>
            <a:ext cx="5880235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53 directs users to the region with the lowest latency</a:t>
            </a:r>
            <a:endParaRPr lang="en-US" sz="102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90061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505" y="1796151"/>
            <a:ext cx="3480253" cy="417630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668" y="1564134"/>
            <a:ext cx="1187926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526" y="2195220"/>
            <a:ext cx="3404992" cy="100231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4896" y="2343711"/>
            <a:ext cx="334104" cy="37122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1499" y="2195220"/>
            <a:ext cx="3758093" cy="10023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2054" y="2343711"/>
            <a:ext cx="296982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4363" y="3643005"/>
            <a:ext cx="8790538" cy="263571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7099" y="3902864"/>
            <a:ext cx="222736" cy="222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7099" y="4311214"/>
            <a:ext cx="4098287" cy="48259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8467" y="4422582"/>
            <a:ext cx="185613" cy="2598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3876" y="4311214"/>
            <a:ext cx="4098287" cy="48259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5245" y="4422582"/>
            <a:ext cx="185613" cy="25985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67099" y="4942300"/>
            <a:ext cx="4098287" cy="48259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78467" y="5053668"/>
            <a:ext cx="232017" cy="25985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3876" y="4942300"/>
            <a:ext cx="4098287" cy="48259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5245" y="5053668"/>
            <a:ext cx="185613" cy="25985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67099" y="5573385"/>
            <a:ext cx="8345066" cy="48259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78467" y="5684753"/>
            <a:ext cx="185613" cy="259859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45472" y="524699"/>
            <a:ext cx="10988318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507"/>
              </a:lnSpc>
            </a:pPr>
            <a:r>
              <a:rPr lang="en-US" sz="3507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Stay Connected with Our Cloud Computing Journey!</a:t>
            </a:r>
            <a:endParaRPr lang="en-US" sz="3507" dirty="0"/>
          </a:p>
        </p:txBody>
      </p:sp>
      <p:sp>
        <p:nvSpPr>
          <p:cNvPr id="25" name="Text 1"/>
          <p:cNvSpPr/>
          <p:nvPr/>
        </p:nvSpPr>
        <p:spPr>
          <a:xfrm>
            <a:off x="2358016" y="2789183"/>
            <a:ext cx="372961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Like this video if you found it helpful!</a:t>
            </a:r>
            <a:endParaRPr lang="en-US" sz="1315" dirty="0"/>
          </a:p>
        </p:txBody>
      </p:sp>
      <p:sp>
        <p:nvSpPr>
          <p:cNvPr id="26" name="Text 2"/>
          <p:cNvSpPr/>
          <p:nvPr/>
        </p:nvSpPr>
        <p:spPr>
          <a:xfrm>
            <a:off x="6059989" y="2789183"/>
            <a:ext cx="41533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Subscribe for cloud tech updates!</a:t>
            </a:r>
            <a:endParaRPr lang="en-US" sz="1315" dirty="0"/>
          </a:p>
        </p:txBody>
      </p:sp>
      <p:sp>
        <p:nvSpPr>
          <p:cNvPr id="27" name="Text 3"/>
          <p:cNvSpPr/>
          <p:nvPr/>
        </p:nvSpPr>
        <p:spPr>
          <a:xfrm>
            <a:off x="2101203" y="3865741"/>
            <a:ext cx="1001407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Comment below which cloud topic you want to see next like:</a:t>
            </a:r>
            <a:endParaRPr lang="en-US" sz="1754" dirty="0"/>
          </a:p>
        </p:txBody>
      </p:sp>
      <p:sp>
        <p:nvSpPr>
          <p:cNvPr id="28" name="Text 4"/>
          <p:cNvSpPr/>
          <p:nvPr/>
        </p:nvSpPr>
        <p:spPr>
          <a:xfrm>
            <a:off x="2175449" y="4422582"/>
            <a:ext cx="192701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Security Tips</a:t>
            </a:r>
            <a:endParaRPr lang="en-US" sz="1315" dirty="0"/>
          </a:p>
        </p:txBody>
      </p:sp>
      <p:sp>
        <p:nvSpPr>
          <p:cNvPr id="29" name="Text 5"/>
          <p:cNvSpPr/>
          <p:nvPr/>
        </p:nvSpPr>
        <p:spPr>
          <a:xfrm>
            <a:off x="6422226" y="4422582"/>
            <a:ext cx="287921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 Strategies</a:t>
            </a:r>
            <a:endParaRPr lang="en-US" sz="1315" dirty="0"/>
          </a:p>
        </p:txBody>
      </p:sp>
      <p:sp>
        <p:nvSpPr>
          <p:cNvPr id="30" name="Text 6"/>
          <p:cNvSpPr/>
          <p:nvPr/>
        </p:nvSpPr>
        <p:spPr>
          <a:xfrm>
            <a:off x="2221851" y="5053668"/>
            <a:ext cx="25193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Multi-Cloud Management</a:t>
            </a:r>
            <a:endParaRPr lang="en-US" sz="1315" dirty="0"/>
          </a:p>
        </p:txBody>
      </p:sp>
      <p:sp>
        <p:nvSpPr>
          <p:cNvPr id="31" name="Text 7"/>
          <p:cNvSpPr/>
          <p:nvPr/>
        </p:nvSpPr>
        <p:spPr>
          <a:xfrm>
            <a:off x="6422226" y="5053668"/>
            <a:ext cx="220978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Serverless Computing</a:t>
            </a:r>
            <a:endParaRPr lang="en-US" sz="1315" dirty="0"/>
          </a:p>
        </p:txBody>
      </p:sp>
      <p:sp>
        <p:nvSpPr>
          <p:cNvPr id="32" name="Text 8"/>
          <p:cNvSpPr/>
          <p:nvPr/>
        </p:nvSpPr>
        <p:spPr>
          <a:xfrm>
            <a:off x="2175448" y="5684753"/>
            <a:ext cx="22061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Migration Steps</a:t>
            </a:r>
            <a:endParaRPr lang="en-US" sz="1315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820DDF-95CF-B4A2-D906-FF20AE0A41CB}"/>
              </a:ext>
            </a:extLst>
          </p:cNvPr>
          <p:cNvSpPr txBox="1"/>
          <p:nvPr/>
        </p:nvSpPr>
        <p:spPr>
          <a:xfrm>
            <a:off x="193073" y="1023606"/>
            <a:ext cx="11641607" cy="37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38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Dive deeper into the cloud world! Check out our specialized playlists for your continuous learning journey!</a:t>
            </a:r>
            <a:endParaRPr lang="en-US" sz="1754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12D73757-DDD7-D57B-261C-664EC6A592BB}"/>
              </a:ext>
            </a:extLst>
          </p:cNvPr>
          <p:cNvSpPr/>
          <p:nvPr/>
        </p:nvSpPr>
        <p:spPr>
          <a:xfrm>
            <a:off x="6422226" y="5704955"/>
            <a:ext cx="22061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IN" sz="1364" dirty="0"/>
              <a:t>Anything you'd like 🙂</a:t>
            </a:r>
            <a:endParaRPr lang="en-US" sz="1315" dirty="0"/>
          </a:p>
        </p:txBody>
      </p:sp>
      <p:pic>
        <p:nvPicPr>
          <p:cNvPr id="34" name="Image 14" descr="preencoded.png">
            <a:extLst>
              <a:ext uri="{FF2B5EF4-FFF2-40B4-BE49-F238E27FC236}">
                <a16:creationId xmlns:a16="http://schemas.microsoft.com/office/drawing/2014/main" id="{9B3B5FE5-BED3-CA8F-DE9C-F0AE5665F84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45430" y="5736725"/>
            <a:ext cx="232017" cy="259859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337FD39-6A55-699F-0610-A1B61D3F10E7}"/>
              </a:ext>
            </a:extLst>
          </p:cNvPr>
          <p:cNvCxnSpPr>
            <a:cxnSpLocks/>
          </p:cNvCxnSpPr>
          <p:nvPr/>
        </p:nvCxnSpPr>
        <p:spPr>
          <a:xfrm>
            <a:off x="6047287" y="5718164"/>
            <a:ext cx="0" cy="259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183</TotalTime>
  <Words>1943</Words>
  <Application>Microsoft Office PowerPoint</Application>
  <PresentationFormat>Custom</PresentationFormat>
  <Paragraphs>377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ui-sans-serif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Behal</cp:lastModifiedBy>
  <cp:revision>81</cp:revision>
  <dcterms:created xsi:type="dcterms:W3CDTF">2025-10-28T01:52:43Z</dcterms:created>
  <dcterms:modified xsi:type="dcterms:W3CDTF">2025-11-08T13:16:44Z</dcterms:modified>
</cp:coreProperties>
</file>