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64" r:id="rId17"/>
    <p:sldId id="265" r:id="rId18"/>
    <p:sldId id="266" r:id="rId19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67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868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886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5023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816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789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9930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165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1696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3584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987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694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88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1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1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39.png"/><Relationship Id="rId1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11" Type="http://schemas.openxmlformats.org/officeDocument/2006/relationships/image" Target="../media/image48.png"/><Relationship Id="rId5" Type="http://schemas.openxmlformats.org/officeDocument/2006/relationships/image" Target="../media/image11.png"/><Relationship Id="rId15" Type="http://schemas.openxmlformats.org/officeDocument/2006/relationships/image" Target="../media/image51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11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10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11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10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7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11" Type="http://schemas.openxmlformats.org/officeDocument/2006/relationships/image" Target="../media/image82.png"/><Relationship Id="rId5" Type="http://schemas.openxmlformats.org/officeDocument/2006/relationships/image" Target="../media/image11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10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1.png"/><Relationship Id="rId9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0.png"/><Relationship Id="rId4" Type="http://schemas.openxmlformats.org/officeDocument/2006/relationships/image" Target="../media/image9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png"/><Relationship Id="rId5" Type="http://schemas.openxmlformats.org/officeDocument/2006/relationships/image" Target="../media/image104.png"/><Relationship Id="rId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91.png"/><Relationship Id="rId9" Type="http://schemas.openxmlformats.org/officeDocument/2006/relationships/image" Target="../media/image109.png"/><Relationship Id="rId14" Type="http://schemas.openxmlformats.org/officeDocument/2006/relationships/image" Target="../media/image9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2.png"/><Relationship Id="rId5" Type="http://schemas.openxmlformats.org/officeDocument/2006/relationships/image" Target="../media/image114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91.png"/><Relationship Id="rId9" Type="http://schemas.openxmlformats.org/officeDocument/2006/relationships/image" Target="../media/image1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126.png"/><Relationship Id="rId10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1066" y="2028168"/>
            <a:ext cx="556840" cy="5568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6679" y="2213781"/>
            <a:ext cx="371227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3872" y="2213781"/>
            <a:ext cx="464034" cy="46403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3193" y="2696377"/>
            <a:ext cx="938202" cy="2784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1418" y="3735812"/>
            <a:ext cx="1856135" cy="3712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3931" y="6352962"/>
            <a:ext cx="222736" cy="22273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0913" y="6352962"/>
            <a:ext cx="222736" cy="22273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174708" y="3067604"/>
            <a:ext cx="752970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507"/>
              </a:lnSpc>
            </a:pPr>
            <a:r>
              <a:rPr lang="en-US" sz="3507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CloudTrail</a:t>
            </a:r>
            <a:endParaRPr lang="en-US" sz="3507" dirty="0"/>
          </a:p>
        </p:txBody>
      </p:sp>
      <p:sp>
        <p:nvSpPr>
          <p:cNvPr id="12" name="Text 1"/>
          <p:cNvSpPr/>
          <p:nvPr/>
        </p:nvSpPr>
        <p:spPr>
          <a:xfrm>
            <a:off x="2174708" y="3995671"/>
            <a:ext cx="7529701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631"/>
              </a:lnSpc>
            </a:pPr>
            <a:r>
              <a:rPr lang="en-US" sz="2192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AWS CloudTrail Fundamentals</a:t>
            </a:r>
            <a:endParaRPr lang="en-US" sz="219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2297308"/>
            <a:ext cx="5382791" cy="107655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455079"/>
            <a:ext cx="352666" cy="2784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2297308"/>
            <a:ext cx="5382791" cy="107655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491" y="2455079"/>
            <a:ext cx="213455" cy="2784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3596602"/>
            <a:ext cx="5382791" cy="107655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3754373"/>
            <a:ext cx="278420" cy="27842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3596602"/>
            <a:ext cx="5382791" cy="107655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490" y="3754373"/>
            <a:ext cx="278420" cy="27842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472" y="4970141"/>
            <a:ext cx="10988318" cy="74245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63" y="5220720"/>
            <a:ext cx="167052" cy="222736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to CloudTrail</a:t>
            </a:r>
            <a:endParaRPr lang="en-US" sz="2631" dirty="0"/>
          </a:p>
        </p:txBody>
      </p:sp>
      <p:sp>
        <p:nvSpPr>
          <p:cNvPr id="16" name="Text 1"/>
          <p:cNvSpPr/>
          <p:nvPr/>
        </p:nvSpPr>
        <p:spPr>
          <a:xfrm>
            <a:off x="445472" y="1332117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CloudTrail is a service that enables governance, compliance, operational auditing, and risk auditing of your AWS account by tracking user activity and API usage.</a:t>
            </a:r>
            <a:endParaRPr lang="en-US" sz="1461" dirty="0"/>
          </a:p>
        </p:txBody>
      </p:sp>
      <p:sp>
        <p:nvSpPr>
          <p:cNvPr id="17" name="Text 2"/>
          <p:cNvSpPr/>
          <p:nvPr/>
        </p:nvSpPr>
        <p:spPr>
          <a:xfrm>
            <a:off x="1095119" y="2445798"/>
            <a:ext cx="458465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</a:t>
            </a:r>
            <a:endParaRPr lang="en-US" sz="1461" dirty="0"/>
          </a:p>
        </p:txBody>
      </p:sp>
      <p:sp>
        <p:nvSpPr>
          <p:cNvPr id="18" name="Text 3"/>
          <p:cNvSpPr/>
          <p:nvPr/>
        </p:nvSpPr>
        <p:spPr>
          <a:xfrm>
            <a:off x="1095119" y="2779903"/>
            <a:ext cx="458465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Gain visibility into user activities and API calls to secure your AWS environment</a:t>
            </a:r>
            <a:endParaRPr lang="en-US" sz="1169" dirty="0"/>
          </a:p>
        </p:txBody>
      </p:sp>
      <p:sp>
        <p:nvSpPr>
          <p:cNvPr id="19" name="Text 4"/>
          <p:cNvSpPr/>
          <p:nvPr/>
        </p:nvSpPr>
        <p:spPr>
          <a:xfrm>
            <a:off x="6561437" y="2445798"/>
            <a:ext cx="472386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Compliance</a:t>
            </a:r>
            <a:endParaRPr lang="en-US" sz="1461" dirty="0"/>
          </a:p>
        </p:txBody>
      </p:sp>
      <p:sp>
        <p:nvSpPr>
          <p:cNvPr id="20" name="Text 5"/>
          <p:cNvSpPr/>
          <p:nvPr/>
        </p:nvSpPr>
        <p:spPr>
          <a:xfrm>
            <a:off x="6561437" y="2779903"/>
            <a:ext cx="472386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Meet regulatory requirements and audit standards with detailed event logs</a:t>
            </a:r>
            <a:endParaRPr lang="en-US" sz="1169" dirty="0"/>
          </a:p>
        </p:txBody>
      </p:sp>
      <p:sp>
        <p:nvSpPr>
          <p:cNvPr id="21" name="Text 6"/>
          <p:cNvSpPr/>
          <p:nvPr/>
        </p:nvSpPr>
        <p:spPr>
          <a:xfrm>
            <a:off x="1020874" y="3745093"/>
            <a:ext cx="465889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Troubleshooting</a:t>
            </a:r>
            <a:endParaRPr lang="en-US" sz="1461" dirty="0"/>
          </a:p>
        </p:txBody>
      </p:sp>
      <p:sp>
        <p:nvSpPr>
          <p:cNvPr id="22" name="Text 7"/>
          <p:cNvSpPr/>
          <p:nvPr/>
        </p:nvSpPr>
        <p:spPr>
          <a:xfrm>
            <a:off x="1020874" y="4079197"/>
            <a:ext cx="465889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Diagnose issues and understand system behavior through detailed API activity logs</a:t>
            </a:r>
            <a:endParaRPr lang="en-US" sz="1169" dirty="0"/>
          </a:p>
        </p:txBody>
      </p:sp>
      <p:sp>
        <p:nvSpPr>
          <p:cNvPr id="23" name="Text 8"/>
          <p:cNvSpPr/>
          <p:nvPr/>
        </p:nvSpPr>
        <p:spPr>
          <a:xfrm>
            <a:off x="6626401" y="3745093"/>
            <a:ext cx="465889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Tracking</a:t>
            </a:r>
            <a:endParaRPr lang="en-US" sz="1461" dirty="0"/>
          </a:p>
        </p:txBody>
      </p:sp>
      <p:sp>
        <p:nvSpPr>
          <p:cNvPr id="24" name="Text 9"/>
          <p:cNvSpPr/>
          <p:nvPr/>
        </p:nvSpPr>
        <p:spPr>
          <a:xfrm>
            <a:off x="6626401" y="4079197"/>
            <a:ext cx="465889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changes to resources and track who made modifications</a:t>
            </a:r>
            <a:endParaRPr lang="en-US" sz="1169" dirty="0"/>
          </a:p>
        </p:txBody>
      </p:sp>
      <p:sp>
        <p:nvSpPr>
          <p:cNvPr id="25" name="Text 10"/>
          <p:cNvSpPr/>
          <p:nvPr/>
        </p:nvSpPr>
        <p:spPr>
          <a:xfrm>
            <a:off x="872383" y="5118632"/>
            <a:ext cx="1041291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CloudTrail captures all API calls made in your AWS account, including calls from AWS Management Console, AWS CLI, and other services.</a:t>
            </a:r>
            <a:endParaRPr lang="en-US" sz="11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2297308"/>
            <a:ext cx="5345668" cy="144778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08" y="2520044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260" y="2649973"/>
            <a:ext cx="222736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8122" y="2297308"/>
            <a:ext cx="5345668" cy="144778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0858" y="2520044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910" y="2649973"/>
            <a:ext cx="222736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4042074"/>
            <a:ext cx="5345668" cy="144778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208" y="4264811"/>
            <a:ext cx="556840" cy="5568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260" y="4394740"/>
            <a:ext cx="222736" cy="2969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122" y="4042074"/>
            <a:ext cx="5345668" cy="144778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0858" y="4264811"/>
            <a:ext cx="556840" cy="5568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910" y="4394740"/>
            <a:ext cx="222736" cy="29698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472" y="5712595"/>
            <a:ext cx="10988318" cy="59396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963" y="5888928"/>
            <a:ext cx="167052" cy="222736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 of CloudTrail</a:t>
            </a:r>
            <a:endParaRPr lang="en-US" sz="2631" dirty="0"/>
          </a:p>
        </p:txBody>
      </p:sp>
      <p:sp>
        <p:nvSpPr>
          <p:cNvPr id="20" name="Text 1"/>
          <p:cNvSpPr/>
          <p:nvPr/>
        </p:nvSpPr>
        <p:spPr>
          <a:xfrm>
            <a:off x="445472" y="1332117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CloudTrail offers several core capabilities that make it an essential service for monitoring and auditing your AWS account.</a:t>
            </a:r>
            <a:endParaRPr lang="en-US" sz="1461" dirty="0"/>
          </a:p>
        </p:txBody>
      </p:sp>
      <p:sp>
        <p:nvSpPr>
          <p:cNvPr id="21" name="Text 2"/>
          <p:cNvSpPr/>
          <p:nvPr/>
        </p:nvSpPr>
        <p:spPr>
          <a:xfrm>
            <a:off x="1373539" y="2520044"/>
            <a:ext cx="41948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Event History</a:t>
            </a:r>
            <a:endParaRPr lang="en-US" sz="1461" dirty="0"/>
          </a:p>
        </p:txBody>
      </p:sp>
      <p:sp>
        <p:nvSpPr>
          <p:cNvPr id="22" name="Text 3"/>
          <p:cNvSpPr/>
          <p:nvPr/>
        </p:nvSpPr>
        <p:spPr>
          <a:xfrm>
            <a:off x="1373539" y="2854148"/>
            <a:ext cx="4194865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recent API activity for the past 90 days without requiring a trail. Quickly identify changes and troubleshoot issues.</a:t>
            </a:r>
            <a:endParaRPr lang="en-US" sz="1169" dirty="0"/>
          </a:p>
        </p:txBody>
      </p:sp>
      <p:sp>
        <p:nvSpPr>
          <p:cNvPr id="23" name="Text 4"/>
          <p:cNvSpPr/>
          <p:nvPr/>
        </p:nvSpPr>
        <p:spPr>
          <a:xfrm>
            <a:off x="7016189" y="2520044"/>
            <a:ext cx="41948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Trail Creation</a:t>
            </a:r>
            <a:endParaRPr lang="en-US" sz="1461" dirty="0"/>
          </a:p>
        </p:txBody>
      </p:sp>
      <p:sp>
        <p:nvSpPr>
          <p:cNvPr id="24" name="Text 5"/>
          <p:cNvSpPr/>
          <p:nvPr/>
        </p:nvSpPr>
        <p:spPr>
          <a:xfrm>
            <a:off x="7016189" y="2854148"/>
            <a:ext cx="4194865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trails to log all API calls and AWS CodeBuild console events to an S3 bucket for detailed analysis.</a:t>
            </a:r>
            <a:endParaRPr lang="en-US" sz="1169" dirty="0"/>
          </a:p>
        </p:txBody>
      </p:sp>
      <p:sp>
        <p:nvSpPr>
          <p:cNvPr id="25" name="Text 6"/>
          <p:cNvSpPr/>
          <p:nvPr/>
        </p:nvSpPr>
        <p:spPr>
          <a:xfrm>
            <a:off x="1373539" y="4264810"/>
            <a:ext cx="41948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 File Integrity</a:t>
            </a:r>
            <a:endParaRPr lang="en-US" sz="1461" dirty="0"/>
          </a:p>
        </p:txBody>
      </p:sp>
      <p:sp>
        <p:nvSpPr>
          <p:cNvPr id="26" name="Text 7"/>
          <p:cNvSpPr/>
          <p:nvPr/>
        </p:nvSpPr>
        <p:spPr>
          <a:xfrm>
            <a:off x="1373539" y="4598914"/>
            <a:ext cx="4194865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the integrity of log files with digest files and notifications, allowing you to verify logs haven't been altered.</a:t>
            </a:r>
            <a:endParaRPr lang="en-US" sz="1169" dirty="0"/>
          </a:p>
        </p:txBody>
      </p:sp>
      <p:sp>
        <p:nvSpPr>
          <p:cNvPr id="27" name="Text 8"/>
          <p:cNvSpPr/>
          <p:nvPr/>
        </p:nvSpPr>
        <p:spPr>
          <a:xfrm>
            <a:off x="7016189" y="4264810"/>
            <a:ext cx="5033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Service Integration</a:t>
            </a:r>
            <a:endParaRPr lang="en-US" sz="1461" dirty="0"/>
          </a:p>
        </p:txBody>
      </p:sp>
      <p:sp>
        <p:nvSpPr>
          <p:cNvPr id="28" name="Text 9"/>
          <p:cNvSpPr/>
          <p:nvPr/>
        </p:nvSpPr>
        <p:spPr>
          <a:xfrm>
            <a:off x="7016189" y="4598914"/>
            <a:ext cx="4194865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with AWS Config to record configuration changes and integrates with CloudWatch Logs for near real-time insights.</a:t>
            </a:r>
            <a:endParaRPr lang="en-US" sz="1169" dirty="0"/>
          </a:p>
        </p:txBody>
      </p:sp>
      <p:sp>
        <p:nvSpPr>
          <p:cNvPr id="29" name="Text 10"/>
          <p:cNvSpPr/>
          <p:nvPr/>
        </p:nvSpPr>
        <p:spPr>
          <a:xfrm>
            <a:off x="872383" y="5898209"/>
            <a:ext cx="1159254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CloudTrail is a global service that records API calls across all AWS regions, providing a comprehensive view of activity.</a:t>
            </a:r>
            <a:endParaRPr lang="en-US" sz="11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3" y="2297307"/>
            <a:ext cx="3514185" cy="256146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86" y="2501483"/>
            <a:ext cx="534364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862" y="2612851"/>
            <a:ext cx="352666" cy="334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76" y="3262497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76" y="3740191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76" y="4327147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2393" y="2297307"/>
            <a:ext cx="3514331" cy="2561466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8007" y="2482921"/>
            <a:ext cx="556840" cy="5568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5778" y="2594289"/>
            <a:ext cx="241298" cy="33410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6498" y="3225375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6498" y="3745092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6498" y="4264810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9460" y="2297307"/>
            <a:ext cx="3514185" cy="256146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5073" y="2482921"/>
            <a:ext cx="556840" cy="55684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44283" y="2594289"/>
            <a:ext cx="278420" cy="33410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3564" y="3225375"/>
            <a:ext cx="148491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3564" y="3745092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3564" y="4264810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472" y="5155755"/>
            <a:ext cx="10988318" cy="742454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963" y="5406333"/>
            <a:ext cx="167052" cy="222736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 of Events Recorded</a:t>
            </a:r>
            <a:endParaRPr lang="en-US" sz="2631" dirty="0"/>
          </a:p>
        </p:txBody>
      </p:sp>
      <p:sp>
        <p:nvSpPr>
          <p:cNvPr id="26" name="Text 1"/>
          <p:cNvSpPr/>
          <p:nvPr/>
        </p:nvSpPr>
        <p:spPr>
          <a:xfrm>
            <a:off x="445472" y="1332117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captures three main types of events across your AWS environment, each serving different auditing and monitoring purposes.</a:t>
            </a:r>
            <a:endParaRPr lang="en-US" sz="1461" dirty="0"/>
          </a:p>
        </p:txBody>
      </p:sp>
      <p:sp>
        <p:nvSpPr>
          <p:cNvPr id="27" name="Text 2"/>
          <p:cNvSpPr/>
          <p:nvPr/>
        </p:nvSpPr>
        <p:spPr>
          <a:xfrm>
            <a:off x="1313941" y="2482921"/>
            <a:ext cx="2460103" cy="5939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</a:t>
            </a:r>
            <a:endParaRPr lang="en-US" sz="1754" dirty="0"/>
          </a:p>
        </p:txBody>
      </p:sp>
      <p:sp>
        <p:nvSpPr>
          <p:cNvPr id="28" name="Text 3"/>
          <p:cNvSpPr/>
          <p:nvPr/>
        </p:nvSpPr>
        <p:spPr>
          <a:xfrm>
            <a:off x="1002313" y="3225375"/>
            <a:ext cx="277173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API calls that manage AWS resources</a:t>
            </a:r>
            <a:endParaRPr lang="en-US" sz="1169" dirty="0"/>
          </a:p>
        </p:txBody>
      </p:sp>
      <p:sp>
        <p:nvSpPr>
          <p:cNvPr id="29" name="Text 4"/>
          <p:cNvSpPr/>
          <p:nvPr/>
        </p:nvSpPr>
        <p:spPr>
          <a:xfrm>
            <a:off x="1002313" y="3686260"/>
            <a:ext cx="277173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 actions like creating, modifying, or deleting resources</a:t>
            </a:r>
            <a:endParaRPr lang="en-US" sz="1169" dirty="0"/>
          </a:p>
        </p:txBody>
      </p:sp>
      <p:sp>
        <p:nvSpPr>
          <p:cNvPr id="30" name="Text 5"/>
          <p:cNvSpPr/>
          <p:nvPr/>
        </p:nvSpPr>
        <p:spPr>
          <a:xfrm>
            <a:off x="1002313" y="4290025"/>
            <a:ext cx="266361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Enabled by default in all trails</a:t>
            </a:r>
            <a:endParaRPr lang="en-US" sz="1169" dirty="0"/>
          </a:p>
        </p:txBody>
      </p:sp>
      <p:sp>
        <p:nvSpPr>
          <p:cNvPr id="31" name="Text 6"/>
          <p:cNvSpPr/>
          <p:nvPr/>
        </p:nvSpPr>
        <p:spPr>
          <a:xfrm>
            <a:off x="5073338" y="2612850"/>
            <a:ext cx="181878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Events</a:t>
            </a:r>
            <a:endParaRPr lang="en-US" sz="1754" dirty="0"/>
          </a:p>
        </p:txBody>
      </p:sp>
      <p:sp>
        <p:nvSpPr>
          <p:cNvPr id="32" name="Text 7"/>
          <p:cNvSpPr/>
          <p:nvPr/>
        </p:nvSpPr>
        <p:spPr>
          <a:xfrm>
            <a:off x="4739234" y="3188252"/>
            <a:ext cx="277187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API calls that access or modify resource data</a:t>
            </a:r>
            <a:endParaRPr lang="en-US" sz="1169" dirty="0"/>
          </a:p>
        </p:txBody>
      </p:sp>
      <p:sp>
        <p:nvSpPr>
          <p:cNvPr id="33" name="Text 8"/>
          <p:cNvSpPr/>
          <p:nvPr/>
        </p:nvSpPr>
        <p:spPr>
          <a:xfrm>
            <a:off x="4739234" y="3707970"/>
            <a:ext cx="277187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 actions like reading or writing object data in S3</a:t>
            </a:r>
            <a:endParaRPr lang="en-US" sz="1169" dirty="0"/>
          </a:p>
        </p:txBody>
      </p:sp>
      <p:sp>
        <p:nvSpPr>
          <p:cNvPr id="34" name="Text 9"/>
          <p:cNvSpPr/>
          <p:nvPr/>
        </p:nvSpPr>
        <p:spPr>
          <a:xfrm>
            <a:off x="4739234" y="4227688"/>
            <a:ext cx="277187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enabled by default, must be explicitly enabled</a:t>
            </a:r>
            <a:endParaRPr lang="en-US" sz="1169" dirty="0"/>
          </a:p>
        </p:txBody>
      </p:sp>
      <p:sp>
        <p:nvSpPr>
          <p:cNvPr id="35" name="Text 10"/>
          <p:cNvSpPr/>
          <p:nvPr/>
        </p:nvSpPr>
        <p:spPr>
          <a:xfrm>
            <a:off x="8810405" y="2612850"/>
            <a:ext cx="231732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Events</a:t>
            </a:r>
            <a:endParaRPr lang="en-US" sz="1754" dirty="0"/>
          </a:p>
        </p:txBody>
      </p:sp>
      <p:sp>
        <p:nvSpPr>
          <p:cNvPr id="36" name="Text 11"/>
          <p:cNvSpPr/>
          <p:nvPr/>
        </p:nvSpPr>
        <p:spPr>
          <a:xfrm>
            <a:off x="8476301" y="3188252"/>
            <a:ext cx="277173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API calls with unusual patterns or behaviors</a:t>
            </a:r>
            <a:endParaRPr lang="en-US" sz="1169" dirty="0"/>
          </a:p>
        </p:txBody>
      </p:sp>
      <p:sp>
        <p:nvSpPr>
          <p:cNvPr id="37" name="Text 12"/>
          <p:cNvSpPr/>
          <p:nvPr/>
        </p:nvSpPr>
        <p:spPr>
          <a:xfrm>
            <a:off x="8476301" y="3707970"/>
            <a:ext cx="277173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machine learning to detect anomalous activity</a:t>
            </a:r>
            <a:endParaRPr lang="en-US" sz="1169" dirty="0"/>
          </a:p>
        </p:txBody>
      </p:sp>
      <p:sp>
        <p:nvSpPr>
          <p:cNvPr id="38" name="Text 13"/>
          <p:cNvSpPr/>
          <p:nvPr/>
        </p:nvSpPr>
        <p:spPr>
          <a:xfrm>
            <a:off x="8476301" y="4227688"/>
            <a:ext cx="277173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 CloudTrail Insights to be explicitly enabled</a:t>
            </a:r>
            <a:endParaRPr lang="en-US" sz="1169" dirty="0"/>
          </a:p>
        </p:txBody>
      </p:sp>
      <p:sp>
        <p:nvSpPr>
          <p:cNvPr id="39" name="Text 14"/>
          <p:cNvSpPr/>
          <p:nvPr/>
        </p:nvSpPr>
        <p:spPr>
          <a:xfrm>
            <a:off x="872383" y="5304246"/>
            <a:ext cx="1041291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You can configure different trails to capture different types of events, allowing you to customize your logging strategy based on your specific needs.</a:t>
            </a:r>
            <a:endParaRPr lang="en-US" sz="11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3" y="1963203"/>
            <a:ext cx="3514185" cy="155915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3" y="1963203"/>
            <a:ext cx="3514185" cy="51971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2074571"/>
            <a:ext cx="167052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2668534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3188252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2393" y="1963203"/>
            <a:ext cx="3514331" cy="155915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2393" y="1963203"/>
            <a:ext cx="3514331" cy="51971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0884" y="2074571"/>
            <a:ext cx="222736" cy="2969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0884" y="2668534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0884" y="2965516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9460" y="1963203"/>
            <a:ext cx="3514185" cy="155915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9460" y="1963203"/>
            <a:ext cx="3514185" cy="51971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67951" y="2074571"/>
            <a:ext cx="250578" cy="2969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7950" y="2668534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7950" y="3188252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472" y="3745092"/>
            <a:ext cx="10988318" cy="89094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963" y="4264811"/>
            <a:ext cx="139210" cy="18561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13876" y="4264811"/>
            <a:ext cx="167052" cy="185613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Trail Configuration Options</a:t>
            </a:r>
            <a:endParaRPr lang="en-US" sz="2631" dirty="0"/>
          </a:p>
        </p:txBody>
      </p:sp>
      <p:sp>
        <p:nvSpPr>
          <p:cNvPr id="24" name="Text 1"/>
          <p:cNvSpPr/>
          <p:nvPr/>
        </p:nvSpPr>
        <p:spPr>
          <a:xfrm>
            <a:off x="445472" y="1332117"/>
            <a:ext cx="1318598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CloudTrail to optimize logging based on your specific needs and requirements.</a:t>
            </a:r>
            <a:endParaRPr lang="en-US" sz="1461" dirty="0"/>
          </a:p>
        </p:txBody>
      </p:sp>
      <p:sp>
        <p:nvSpPr>
          <p:cNvPr id="25" name="Text 2"/>
          <p:cNvSpPr/>
          <p:nvPr/>
        </p:nvSpPr>
        <p:spPr>
          <a:xfrm>
            <a:off x="872383" y="2093133"/>
            <a:ext cx="249516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Single-Region Trails</a:t>
            </a:r>
            <a:endParaRPr lang="en-US" sz="1461" dirty="0"/>
          </a:p>
        </p:txBody>
      </p:sp>
      <p:sp>
        <p:nvSpPr>
          <p:cNvPr id="26" name="Text 3"/>
          <p:cNvSpPr/>
          <p:nvPr/>
        </p:nvSpPr>
        <p:spPr>
          <a:xfrm>
            <a:off x="816699" y="2631412"/>
            <a:ext cx="299446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 events from a single AWS Region</a:t>
            </a:r>
            <a:endParaRPr lang="en-US" sz="1169" dirty="0"/>
          </a:p>
        </p:txBody>
      </p:sp>
      <p:sp>
        <p:nvSpPr>
          <p:cNvPr id="27" name="Text 4"/>
          <p:cNvSpPr/>
          <p:nvPr/>
        </p:nvSpPr>
        <p:spPr>
          <a:xfrm>
            <a:off x="816699" y="3151130"/>
            <a:ext cx="29383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latency and reduced costs</a:t>
            </a:r>
            <a:endParaRPr lang="en-US" sz="1169" dirty="0"/>
          </a:p>
        </p:txBody>
      </p:sp>
      <p:sp>
        <p:nvSpPr>
          <p:cNvPr id="28" name="Text 5"/>
          <p:cNvSpPr/>
          <p:nvPr/>
        </p:nvSpPr>
        <p:spPr>
          <a:xfrm>
            <a:off x="4664989" y="2093133"/>
            <a:ext cx="235230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Multi-Region Trails</a:t>
            </a:r>
            <a:endParaRPr lang="en-US" sz="1461" dirty="0"/>
          </a:p>
        </p:txBody>
      </p:sp>
      <p:sp>
        <p:nvSpPr>
          <p:cNvPr id="29" name="Text 6"/>
          <p:cNvSpPr/>
          <p:nvPr/>
        </p:nvSpPr>
        <p:spPr>
          <a:xfrm>
            <a:off x="4553621" y="2631412"/>
            <a:ext cx="322636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 events from all AWS Regions</a:t>
            </a:r>
            <a:endParaRPr lang="en-US" sz="1169" dirty="0"/>
          </a:p>
        </p:txBody>
      </p:sp>
      <p:sp>
        <p:nvSpPr>
          <p:cNvPr id="30" name="Text 7"/>
          <p:cNvSpPr/>
          <p:nvPr/>
        </p:nvSpPr>
        <p:spPr>
          <a:xfrm>
            <a:off x="4553621" y="2928393"/>
            <a:ext cx="352375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visibility across regions</a:t>
            </a:r>
            <a:endParaRPr lang="en-US" sz="1169" dirty="0"/>
          </a:p>
        </p:txBody>
      </p:sp>
      <p:sp>
        <p:nvSpPr>
          <p:cNvPr id="31" name="Text 8"/>
          <p:cNvSpPr/>
          <p:nvPr/>
        </p:nvSpPr>
        <p:spPr>
          <a:xfrm>
            <a:off x="8429896" y="2093133"/>
            <a:ext cx="236866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Organization Trails</a:t>
            </a:r>
            <a:endParaRPr lang="en-US" sz="1461" dirty="0"/>
          </a:p>
        </p:txBody>
      </p:sp>
      <p:sp>
        <p:nvSpPr>
          <p:cNvPr id="32" name="Text 9"/>
          <p:cNvSpPr/>
          <p:nvPr/>
        </p:nvSpPr>
        <p:spPr>
          <a:xfrm>
            <a:off x="8290687" y="2631412"/>
            <a:ext cx="299446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Apply to all accounts in an AWS Organization</a:t>
            </a:r>
            <a:endParaRPr lang="en-US" sz="1169" dirty="0"/>
          </a:p>
        </p:txBody>
      </p:sp>
      <p:sp>
        <p:nvSpPr>
          <p:cNvPr id="33" name="Text 10"/>
          <p:cNvSpPr/>
          <p:nvPr/>
        </p:nvSpPr>
        <p:spPr>
          <a:xfrm>
            <a:off x="8290687" y="3151130"/>
            <a:ext cx="29702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logging configuration</a:t>
            </a:r>
            <a:endParaRPr lang="en-US" sz="1169" dirty="0"/>
          </a:p>
        </p:txBody>
      </p:sp>
      <p:sp>
        <p:nvSpPr>
          <p:cNvPr id="34" name="Text 11"/>
          <p:cNvSpPr/>
          <p:nvPr/>
        </p:nvSpPr>
        <p:spPr>
          <a:xfrm>
            <a:off x="593963" y="3893583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Configuration Settings</a:t>
            </a:r>
            <a:endParaRPr lang="en-US" sz="1315" dirty="0"/>
          </a:p>
        </p:txBody>
      </p:sp>
      <p:sp>
        <p:nvSpPr>
          <p:cNvPr id="35" name="Text 12"/>
          <p:cNvSpPr/>
          <p:nvPr/>
        </p:nvSpPr>
        <p:spPr>
          <a:xfrm>
            <a:off x="844541" y="4227688"/>
            <a:ext cx="491202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 File Validation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Enable to verify log file integrity</a:t>
            </a:r>
            <a:endParaRPr lang="en-US" sz="1169" dirty="0"/>
          </a:p>
        </p:txBody>
      </p:sp>
      <p:sp>
        <p:nvSpPr>
          <p:cNvPr id="36" name="Text 13"/>
          <p:cNvSpPr/>
          <p:nvPr/>
        </p:nvSpPr>
        <p:spPr>
          <a:xfrm>
            <a:off x="6292297" y="4227688"/>
            <a:ext cx="420240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 Events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- Enable for advanced insights</a:t>
            </a:r>
            <a:endParaRPr lang="en-US" sz="11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2297308"/>
            <a:ext cx="5345668" cy="144778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86" y="2482921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980" y="2612850"/>
            <a:ext cx="167052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8122" y="2297308"/>
            <a:ext cx="5345668" cy="144778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735" y="2482921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0787" y="2612850"/>
            <a:ext cx="222736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472" y="4042074"/>
            <a:ext cx="5345668" cy="144778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86" y="4227688"/>
            <a:ext cx="556840" cy="5568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138" y="4357617"/>
            <a:ext cx="222736" cy="2969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8122" y="4042074"/>
            <a:ext cx="5345668" cy="144778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3735" y="4227688"/>
            <a:ext cx="556840" cy="5568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2945" y="4357617"/>
            <a:ext cx="278420" cy="296982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 File Management</a:t>
            </a:r>
            <a:endParaRPr lang="en-US" sz="2631" dirty="0"/>
          </a:p>
        </p:txBody>
      </p:sp>
      <p:sp>
        <p:nvSpPr>
          <p:cNvPr id="18" name="Text 1"/>
          <p:cNvSpPr/>
          <p:nvPr/>
        </p:nvSpPr>
        <p:spPr>
          <a:xfrm>
            <a:off x="445472" y="1332117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delivers log files to S3 buckets and optionally integrates with CloudWatch Logs for near real-time monitoring.</a:t>
            </a:r>
            <a:endParaRPr lang="en-US" sz="1461" dirty="0"/>
          </a:p>
        </p:txBody>
      </p:sp>
      <p:sp>
        <p:nvSpPr>
          <p:cNvPr id="19" name="Text 2"/>
          <p:cNvSpPr/>
          <p:nvPr/>
        </p:nvSpPr>
        <p:spPr>
          <a:xfrm>
            <a:off x="1336417" y="2482921"/>
            <a:ext cx="33620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 Delivery</a:t>
            </a:r>
            <a:endParaRPr lang="en-US" sz="1461" dirty="0"/>
          </a:p>
        </p:txBody>
      </p:sp>
      <p:sp>
        <p:nvSpPr>
          <p:cNvPr id="20" name="Text 3"/>
          <p:cNvSpPr/>
          <p:nvPr/>
        </p:nvSpPr>
        <p:spPr>
          <a:xfrm>
            <a:off x="1336417" y="2817025"/>
            <a:ext cx="403448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delivers logs to S3 buckets</a:t>
            </a:r>
            <a:endParaRPr lang="en-US" sz="1169" dirty="0"/>
          </a:p>
        </p:txBody>
      </p:sp>
      <p:sp>
        <p:nvSpPr>
          <p:cNvPr id="21" name="Text 4"/>
          <p:cNvSpPr/>
          <p:nvPr/>
        </p:nvSpPr>
        <p:spPr>
          <a:xfrm>
            <a:off x="1336417" y="3076884"/>
            <a:ext cx="403448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Optional integration with CloudWatch Logs</a:t>
            </a:r>
            <a:endParaRPr lang="en-US" sz="1169" dirty="0"/>
          </a:p>
        </p:txBody>
      </p:sp>
      <p:sp>
        <p:nvSpPr>
          <p:cNvPr id="22" name="Text 5"/>
          <p:cNvSpPr/>
          <p:nvPr/>
        </p:nvSpPr>
        <p:spPr>
          <a:xfrm>
            <a:off x="1336417" y="3336743"/>
            <a:ext cx="403448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Logs stored in JSON format</a:t>
            </a:r>
            <a:endParaRPr lang="en-US" sz="1169" dirty="0"/>
          </a:p>
        </p:txBody>
      </p:sp>
      <p:sp>
        <p:nvSpPr>
          <p:cNvPr id="23" name="Text 6"/>
          <p:cNvSpPr/>
          <p:nvPr/>
        </p:nvSpPr>
        <p:spPr>
          <a:xfrm>
            <a:off x="6979067" y="2482921"/>
            <a:ext cx="351140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Encryption Options</a:t>
            </a:r>
            <a:endParaRPr lang="en-US" sz="1461" dirty="0"/>
          </a:p>
        </p:txBody>
      </p:sp>
      <p:sp>
        <p:nvSpPr>
          <p:cNvPr id="24" name="Text 7"/>
          <p:cNvSpPr/>
          <p:nvPr/>
        </p:nvSpPr>
        <p:spPr>
          <a:xfrm>
            <a:off x="6979067" y="2817025"/>
            <a:ext cx="351140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Server-side encryption with S3</a:t>
            </a:r>
            <a:endParaRPr lang="en-US" sz="1169" dirty="0"/>
          </a:p>
        </p:txBody>
      </p:sp>
      <p:sp>
        <p:nvSpPr>
          <p:cNvPr id="25" name="Text 8"/>
          <p:cNvSpPr/>
          <p:nvPr/>
        </p:nvSpPr>
        <p:spPr>
          <a:xfrm>
            <a:off x="6979067" y="3076884"/>
            <a:ext cx="351140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Client-side encryption with AWS KMS</a:t>
            </a:r>
            <a:endParaRPr lang="en-US" sz="1169" dirty="0"/>
          </a:p>
        </p:txBody>
      </p:sp>
      <p:sp>
        <p:nvSpPr>
          <p:cNvPr id="26" name="Text 9"/>
          <p:cNvSpPr/>
          <p:nvPr/>
        </p:nvSpPr>
        <p:spPr>
          <a:xfrm>
            <a:off x="6979067" y="3336743"/>
            <a:ext cx="351140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Encryption at rest and in transit</a:t>
            </a:r>
            <a:endParaRPr lang="en-US" sz="1169" dirty="0"/>
          </a:p>
        </p:txBody>
      </p:sp>
      <p:sp>
        <p:nvSpPr>
          <p:cNvPr id="27" name="Text 10"/>
          <p:cNvSpPr/>
          <p:nvPr/>
        </p:nvSpPr>
        <p:spPr>
          <a:xfrm>
            <a:off x="1336417" y="4227688"/>
            <a:ext cx="302729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 File Integrity</a:t>
            </a:r>
            <a:endParaRPr lang="en-US" sz="1461" dirty="0"/>
          </a:p>
        </p:txBody>
      </p:sp>
      <p:sp>
        <p:nvSpPr>
          <p:cNvPr id="28" name="Text 11"/>
          <p:cNvSpPr/>
          <p:nvPr/>
        </p:nvSpPr>
        <p:spPr>
          <a:xfrm>
            <a:off x="1336417" y="4561792"/>
            <a:ext cx="302729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Signature validation for logs</a:t>
            </a:r>
            <a:endParaRPr lang="en-US" sz="1169" dirty="0"/>
          </a:p>
        </p:txBody>
      </p:sp>
      <p:sp>
        <p:nvSpPr>
          <p:cNvPr id="29" name="Text 12"/>
          <p:cNvSpPr/>
          <p:nvPr/>
        </p:nvSpPr>
        <p:spPr>
          <a:xfrm>
            <a:off x="1336417" y="4821651"/>
            <a:ext cx="302729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Immutable logs with versioning</a:t>
            </a:r>
            <a:endParaRPr lang="en-US" sz="1169" dirty="0"/>
          </a:p>
        </p:txBody>
      </p:sp>
      <p:sp>
        <p:nvSpPr>
          <p:cNvPr id="30" name="Text 13"/>
          <p:cNvSpPr/>
          <p:nvPr/>
        </p:nvSpPr>
        <p:spPr>
          <a:xfrm>
            <a:off x="1336417" y="5081510"/>
            <a:ext cx="302729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integrity checks</a:t>
            </a:r>
            <a:endParaRPr lang="en-US" sz="1169" dirty="0"/>
          </a:p>
        </p:txBody>
      </p:sp>
      <p:sp>
        <p:nvSpPr>
          <p:cNvPr id="31" name="Text 14"/>
          <p:cNvSpPr/>
          <p:nvPr/>
        </p:nvSpPr>
        <p:spPr>
          <a:xfrm>
            <a:off x="6979067" y="4227688"/>
            <a:ext cx="365826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S3 &amp; CloudWatch Integration</a:t>
            </a:r>
            <a:endParaRPr lang="en-US" sz="1461" dirty="0"/>
          </a:p>
        </p:txBody>
      </p:sp>
      <p:sp>
        <p:nvSpPr>
          <p:cNvPr id="32" name="Text 15"/>
          <p:cNvSpPr/>
          <p:nvPr/>
        </p:nvSpPr>
        <p:spPr>
          <a:xfrm>
            <a:off x="6979067" y="4561792"/>
            <a:ext cx="365826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log delivery to S3</a:t>
            </a:r>
            <a:endParaRPr lang="en-US" sz="1169" dirty="0"/>
          </a:p>
        </p:txBody>
      </p:sp>
      <p:sp>
        <p:nvSpPr>
          <p:cNvPr id="33" name="Text 16"/>
          <p:cNvSpPr/>
          <p:nvPr/>
        </p:nvSpPr>
        <p:spPr>
          <a:xfrm>
            <a:off x="6979067" y="4821651"/>
            <a:ext cx="365826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monitoring with CloudWatch</a:t>
            </a:r>
            <a:endParaRPr lang="en-US" sz="1169" dirty="0"/>
          </a:p>
        </p:txBody>
      </p:sp>
      <p:sp>
        <p:nvSpPr>
          <p:cNvPr id="34" name="Text 17"/>
          <p:cNvSpPr/>
          <p:nvPr/>
        </p:nvSpPr>
        <p:spPr>
          <a:xfrm>
            <a:off x="6979067" y="5081510"/>
            <a:ext cx="365826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Alarms for unusual activity</a:t>
            </a:r>
            <a:endParaRPr lang="en-US" sz="116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963203"/>
            <a:ext cx="5382791" cy="144778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86" y="2148817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060" y="2278746"/>
            <a:ext cx="194894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999" y="1963203"/>
            <a:ext cx="5382791" cy="144778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6613" y="2148817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823" y="2278746"/>
            <a:ext cx="278420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3633725"/>
            <a:ext cx="5382791" cy="144778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6" y="3819338"/>
            <a:ext cx="556840" cy="5568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138" y="3949267"/>
            <a:ext cx="222736" cy="2969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0999" y="3633725"/>
            <a:ext cx="5382791" cy="144778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3" y="3819338"/>
            <a:ext cx="556840" cy="5568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3665" y="3949267"/>
            <a:ext cx="222736" cy="29698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472" y="5304246"/>
            <a:ext cx="10988318" cy="593963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3963" y="5480579"/>
            <a:ext cx="167052" cy="222736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Best Practices</a:t>
            </a:r>
            <a:endParaRPr lang="en-US" sz="2631" dirty="0"/>
          </a:p>
        </p:txBody>
      </p:sp>
      <p:sp>
        <p:nvSpPr>
          <p:cNvPr id="20" name="Text 1"/>
          <p:cNvSpPr/>
          <p:nvPr/>
        </p:nvSpPr>
        <p:spPr>
          <a:xfrm>
            <a:off x="445472" y="1332117"/>
            <a:ext cx="1318598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Follow these security best practices to protect your CloudTrail implementation and maintain compliance.</a:t>
            </a:r>
            <a:endParaRPr lang="en-US" sz="1461" dirty="0"/>
          </a:p>
        </p:txBody>
      </p:sp>
      <p:sp>
        <p:nvSpPr>
          <p:cNvPr id="21" name="Text 2"/>
          <p:cNvSpPr/>
          <p:nvPr/>
        </p:nvSpPr>
        <p:spPr>
          <a:xfrm>
            <a:off x="1336417" y="2148817"/>
            <a:ext cx="481649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Secure CloudTrail Logs</a:t>
            </a:r>
            <a:endParaRPr lang="en-US" sz="1461" dirty="0"/>
          </a:p>
        </p:txBody>
      </p:sp>
      <p:sp>
        <p:nvSpPr>
          <p:cNvPr id="22" name="Text 3"/>
          <p:cNvSpPr/>
          <p:nvPr/>
        </p:nvSpPr>
        <p:spPr>
          <a:xfrm>
            <a:off x="1336417" y="2482921"/>
            <a:ext cx="481649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logs in secure, dedicated S3 buckets</a:t>
            </a:r>
            <a:endParaRPr lang="en-US" sz="1169" dirty="0"/>
          </a:p>
        </p:txBody>
      </p:sp>
      <p:sp>
        <p:nvSpPr>
          <p:cNvPr id="23" name="Text 4"/>
          <p:cNvSpPr/>
          <p:nvPr/>
        </p:nvSpPr>
        <p:spPr>
          <a:xfrm>
            <a:off x="1336417" y="2742780"/>
            <a:ext cx="481649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server-side encryption (SSE-S3)</a:t>
            </a:r>
            <a:endParaRPr lang="en-US" sz="1169" dirty="0"/>
          </a:p>
        </p:txBody>
      </p:sp>
      <p:sp>
        <p:nvSpPr>
          <p:cNvPr id="24" name="Text 5"/>
          <p:cNvSpPr/>
          <p:nvPr/>
        </p:nvSpPr>
        <p:spPr>
          <a:xfrm>
            <a:off x="1336417" y="3002639"/>
            <a:ext cx="481649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Restrict bucket permissions to necessary personnel</a:t>
            </a:r>
            <a:endParaRPr lang="en-US" sz="1169" dirty="0"/>
          </a:p>
        </p:txBody>
      </p:sp>
      <p:sp>
        <p:nvSpPr>
          <p:cNvPr id="25" name="Text 6"/>
          <p:cNvSpPr/>
          <p:nvPr/>
        </p:nvSpPr>
        <p:spPr>
          <a:xfrm>
            <a:off x="6941944" y="2148817"/>
            <a:ext cx="481493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Least Privilege</a:t>
            </a:r>
            <a:endParaRPr lang="en-US" sz="1461" dirty="0"/>
          </a:p>
        </p:txBody>
      </p:sp>
      <p:sp>
        <p:nvSpPr>
          <p:cNvPr id="26" name="Text 7"/>
          <p:cNvSpPr/>
          <p:nvPr/>
        </p:nvSpPr>
        <p:spPr>
          <a:xfrm>
            <a:off x="6941944" y="2482921"/>
            <a:ext cx="481493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Grant minimal necessary permissions for CloudTrail</a:t>
            </a:r>
            <a:endParaRPr lang="en-US" sz="1169" dirty="0"/>
          </a:p>
        </p:txBody>
      </p:sp>
      <p:sp>
        <p:nvSpPr>
          <p:cNvPr id="27" name="Text 8"/>
          <p:cNvSpPr/>
          <p:nvPr/>
        </p:nvSpPr>
        <p:spPr>
          <a:xfrm>
            <a:off x="6941944" y="2742780"/>
            <a:ext cx="481493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IAM policies to control access</a:t>
            </a:r>
            <a:endParaRPr lang="en-US" sz="1169" dirty="0"/>
          </a:p>
        </p:txBody>
      </p:sp>
      <p:sp>
        <p:nvSpPr>
          <p:cNvPr id="28" name="Text 9"/>
          <p:cNvSpPr/>
          <p:nvPr/>
        </p:nvSpPr>
        <p:spPr>
          <a:xfrm>
            <a:off x="6941944" y="3002639"/>
            <a:ext cx="481493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Regularly review and update permissions</a:t>
            </a:r>
            <a:endParaRPr lang="en-US" sz="1169" dirty="0"/>
          </a:p>
        </p:txBody>
      </p:sp>
      <p:sp>
        <p:nvSpPr>
          <p:cNvPr id="29" name="Text 10"/>
          <p:cNvSpPr/>
          <p:nvPr/>
        </p:nvSpPr>
        <p:spPr>
          <a:xfrm>
            <a:off x="1336417" y="3819338"/>
            <a:ext cx="425252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Log File Validation</a:t>
            </a:r>
            <a:endParaRPr lang="en-US" sz="1461" dirty="0"/>
          </a:p>
        </p:txBody>
      </p:sp>
      <p:sp>
        <p:nvSpPr>
          <p:cNvPr id="30" name="Text 11"/>
          <p:cNvSpPr/>
          <p:nvPr/>
        </p:nvSpPr>
        <p:spPr>
          <a:xfrm>
            <a:off x="1336417" y="4153442"/>
            <a:ext cx="42525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Activate log file validation to ensure integrity</a:t>
            </a:r>
            <a:endParaRPr lang="en-US" sz="1169" dirty="0"/>
          </a:p>
        </p:txBody>
      </p:sp>
      <p:sp>
        <p:nvSpPr>
          <p:cNvPr id="31" name="Text 12"/>
          <p:cNvSpPr/>
          <p:nvPr/>
        </p:nvSpPr>
        <p:spPr>
          <a:xfrm>
            <a:off x="1336417" y="4413301"/>
            <a:ext cx="42525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Verify signature files to detect tampering</a:t>
            </a:r>
            <a:endParaRPr lang="en-US" sz="1169" dirty="0"/>
          </a:p>
        </p:txBody>
      </p:sp>
      <p:sp>
        <p:nvSpPr>
          <p:cNvPr id="32" name="Text 13"/>
          <p:cNvSpPr/>
          <p:nvPr/>
        </p:nvSpPr>
        <p:spPr>
          <a:xfrm>
            <a:off x="1336417" y="4673160"/>
            <a:ext cx="42525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validation logs in secure locations</a:t>
            </a:r>
            <a:endParaRPr lang="en-US" sz="1169" dirty="0"/>
          </a:p>
        </p:txBody>
      </p:sp>
      <p:sp>
        <p:nvSpPr>
          <p:cNvPr id="33" name="Text 14"/>
          <p:cNvSpPr/>
          <p:nvPr/>
        </p:nvSpPr>
        <p:spPr>
          <a:xfrm>
            <a:off x="6941944" y="3819338"/>
            <a:ext cx="51265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for Unauthorized Activity</a:t>
            </a:r>
            <a:endParaRPr lang="en-US" sz="1461" dirty="0"/>
          </a:p>
        </p:txBody>
      </p:sp>
      <p:sp>
        <p:nvSpPr>
          <p:cNvPr id="34" name="Text 15"/>
          <p:cNvSpPr/>
          <p:nvPr/>
        </p:nvSpPr>
        <p:spPr>
          <a:xfrm>
            <a:off x="6941944" y="4153442"/>
            <a:ext cx="512658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Set up CloudTrail Insights for anomaly detection</a:t>
            </a:r>
            <a:endParaRPr lang="en-US" sz="1169" dirty="0"/>
          </a:p>
        </p:txBody>
      </p:sp>
      <p:sp>
        <p:nvSpPr>
          <p:cNvPr id="35" name="Text 16"/>
          <p:cNvSpPr/>
          <p:nvPr/>
        </p:nvSpPr>
        <p:spPr>
          <a:xfrm>
            <a:off x="6941944" y="4413301"/>
            <a:ext cx="512658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Amazon EventBridge for real-time alerts</a:t>
            </a:r>
            <a:endParaRPr lang="en-US" sz="1169" dirty="0"/>
          </a:p>
        </p:txBody>
      </p:sp>
      <p:sp>
        <p:nvSpPr>
          <p:cNvPr id="36" name="Text 17"/>
          <p:cNvSpPr/>
          <p:nvPr/>
        </p:nvSpPr>
        <p:spPr>
          <a:xfrm>
            <a:off x="6941944" y="4673160"/>
            <a:ext cx="512658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third-party SIEM integration for log analysis</a:t>
            </a:r>
            <a:endParaRPr lang="en-US" sz="1169" dirty="0"/>
          </a:p>
        </p:txBody>
      </p:sp>
      <p:sp>
        <p:nvSpPr>
          <p:cNvPr id="37" name="Text 18"/>
          <p:cNvSpPr/>
          <p:nvPr/>
        </p:nvSpPr>
        <p:spPr>
          <a:xfrm>
            <a:off x="872383" y="5489859"/>
            <a:ext cx="807818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 Tip: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Regularly audit your CloudTrail configurations and access logs to ensure security.</a:t>
            </a:r>
            <a:endParaRPr lang="en-US" sz="11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72" y="524699"/>
            <a:ext cx="11433790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988733"/>
            <a:ext cx="1392101" cy="2784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2148817"/>
            <a:ext cx="5382791" cy="17447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86" y="2343711"/>
            <a:ext cx="213455" cy="2784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2148817"/>
            <a:ext cx="5382791" cy="174476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613" y="2343711"/>
            <a:ext cx="278420" cy="2784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" y="4116319"/>
            <a:ext cx="10988318" cy="120648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489" y="4719563"/>
            <a:ext cx="1113681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237" y="4830931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83976" y="4719563"/>
            <a:ext cx="1113681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67850" y="4830931"/>
            <a:ext cx="167052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90464" y="4719563"/>
            <a:ext cx="1113681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64824" y="4830931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6952" y="4719563"/>
            <a:ext cx="1113681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89671" y="4830931"/>
            <a:ext cx="185613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03439" y="4719563"/>
            <a:ext cx="1113681" cy="37122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6216" y="4830931"/>
            <a:ext cx="111368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5472" y="5647631"/>
            <a:ext cx="167052" cy="222736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Compliance and Auditing</a:t>
            </a:r>
            <a:endParaRPr lang="en-US" sz="2631" dirty="0"/>
          </a:p>
        </p:txBody>
      </p:sp>
      <p:sp>
        <p:nvSpPr>
          <p:cNvPr id="22" name="Text 1"/>
          <p:cNvSpPr/>
          <p:nvPr/>
        </p:nvSpPr>
        <p:spPr>
          <a:xfrm>
            <a:off x="445472" y="1332117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provides comprehensive logging and monitoring capabilities that help organizations meet compliance requirements and facilitate audit processes.</a:t>
            </a:r>
            <a:endParaRPr lang="en-US" sz="1461" dirty="0"/>
          </a:p>
        </p:txBody>
      </p:sp>
      <p:sp>
        <p:nvSpPr>
          <p:cNvPr id="23" name="Text 2"/>
          <p:cNvSpPr/>
          <p:nvPr/>
        </p:nvSpPr>
        <p:spPr>
          <a:xfrm>
            <a:off x="993032" y="2334430"/>
            <a:ext cx="46496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Compliance Support</a:t>
            </a:r>
            <a:endParaRPr lang="en-US" sz="1461" dirty="0"/>
          </a:p>
        </p:txBody>
      </p:sp>
      <p:sp>
        <p:nvSpPr>
          <p:cNvPr id="24" name="Text 3"/>
          <p:cNvSpPr/>
          <p:nvPr/>
        </p:nvSpPr>
        <p:spPr>
          <a:xfrm>
            <a:off x="993032" y="2668535"/>
            <a:ext cx="557954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detailed records of API calls and user activity</a:t>
            </a:r>
            <a:endParaRPr lang="en-US" sz="1169" dirty="0"/>
          </a:p>
        </p:txBody>
      </p:sp>
      <p:sp>
        <p:nvSpPr>
          <p:cNvPr id="25" name="Text 4"/>
          <p:cNvSpPr/>
          <p:nvPr/>
        </p:nvSpPr>
        <p:spPr>
          <a:xfrm>
            <a:off x="993032" y="2965516"/>
            <a:ext cx="464961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demonstrate compliance with regulatory requirements</a:t>
            </a:r>
            <a:endParaRPr lang="en-US" sz="1169" dirty="0"/>
          </a:p>
        </p:txBody>
      </p:sp>
      <p:sp>
        <p:nvSpPr>
          <p:cNvPr id="26" name="Text 5"/>
          <p:cNvSpPr/>
          <p:nvPr/>
        </p:nvSpPr>
        <p:spPr>
          <a:xfrm>
            <a:off x="993032" y="3266701"/>
            <a:ext cx="557954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Facilitates security audits and risk assessments</a:t>
            </a:r>
            <a:endParaRPr lang="en-US" sz="1169" dirty="0"/>
          </a:p>
        </p:txBody>
      </p:sp>
      <p:sp>
        <p:nvSpPr>
          <p:cNvPr id="27" name="Text 6"/>
          <p:cNvSpPr/>
          <p:nvPr/>
        </p:nvSpPr>
        <p:spPr>
          <a:xfrm>
            <a:off x="6663524" y="2334430"/>
            <a:ext cx="44312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Audit Process Enhancement</a:t>
            </a:r>
            <a:endParaRPr lang="en-US" sz="1461" dirty="0"/>
          </a:p>
        </p:txBody>
      </p:sp>
      <p:sp>
        <p:nvSpPr>
          <p:cNvPr id="28" name="Text 7"/>
          <p:cNvSpPr/>
          <p:nvPr/>
        </p:nvSpPr>
        <p:spPr>
          <a:xfrm>
            <a:off x="6663524" y="2668535"/>
            <a:ext cx="4431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Simplifies audit trail creation and management</a:t>
            </a:r>
            <a:endParaRPr lang="en-US" sz="1169" dirty="0"/>
          </a:p>
        </p:txBody>
      </p:sp>
      <p:sp>
        <p:nvSpPr>
          <p:cNvPr id="29" name="Text 8"/>
          <p:cNvSpPr/>
          <p:nvPr/>
        </p:nvSpPr>
        <p:spPr>
          <a:xfrm>
            <a:off x="6663524" y="2965516"/>
            <a:ext cx="4431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event history for forensic analysis</a:t>
            </a:r>
            <a:endParaRPr lang="en-US" sz="1169" dirty="0"/>
          </a:p>
        </p:txBody>
      </p:sp>
      <p:sp>
        <p:nvSpPr>
          <p:cNvPr id="30" name="Text 9"/>
          <p:cNvSpPr/>
          <p:nvPr/>
        </p:nvSpPr>
        <p:spPr>
          <a:xfrm>
            <a:off x="6663524" y="3262498"/>
            <a:ext cx="4431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identify unauthorized activities</a:t>
            </a:r>
            <a:endParaRPr lang="en-US" sz="1169" dirty="0"/>
          </a:p>
        </p:txBody>
      </p:sp>
      <p:sp>
        <p:nvSpPr>
          <p:cNvPr id="31" name="Text 10"/>
          <p:cNvSpPr/>
          <p:nvPr/>
        </p:nvSpPr>
        <p:spPr>
          <a:xfrm>
            <a:off x="631086" y="4301933"/>
            <a:ext cx="1061709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Supported Regulatory Frameworks</a:t>
            </a:r>
            <a:endParaRPr lang="en-US" sz="1461" dirty="0"/>
          </a:p>
        </p:txBody>
      </p:sp>
      <p:sp>
        <p:nvSpPr>
          <p:cNvPr id="32" name="Text 11"/>
          <p:cNvSpPr/>
          <p:nvPr/>
        </p:nvSpPr>
        <p:spPr>
          <a:xfrm>
            <a:off x="1017973" y="4719563"/>
            <a:ext cx="133641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PCI DSS</a:t>
            </a:r>
            <a:endParaRPr lang="en-US" sz="1169" dirty="0"/>
          </a:p>
        </p:txBody>
      </p:sp>
      <p:sp>
        <p:nvSpPr>
          <p:cNvPr id="33" name="Text 12"/>
          <p:cNvSpPr/>
          <p:nvPr/>
        </p:nvSpPr>
        <p:spPr>
          <a:xfrm>
            <a:off x="2309147" y="4719563"/>
            <a:ext cx="11136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HIPAA</a:t>
            </a:r>
            <a:endParaRPr lang="en-US" sz="1169" dirty="0"/>
          </a:p>
        </p:txBody>
      </p:sp>
      <p:sp>
        <p:nvSpPr>
          <p:cNvPr id="34" name="Text 13"/>
          <p:cNvSpPr/>
          <p:nvPr/>
        </p:nvSpPr>
        <p:spPr>
          <a:xfrm>
            <a:off x="3587560" y="4719563"/>
            <a:ext cx="11136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SOC</a:t>
            </a:r>
            <a:endParaRPr lang="en-US" sz="1169" dirty="0"/>
          </a:p>
        </p:txBody>
      </p:sp>
      <p:sp>
        <p:nvSpPr>
          <p:cNvPr id="35" name="Text 14"/>
          <p:cNvSpPr/>
          <p:nvPr/>
        </p:nvSpPr>
        <p:spPr>
          <a:xfrm>
            <a:off x="4749530" y="4719563"/>
            <a:ext cx="11136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GDPR</a:t>
            </a:r>
            <a:endParaRPr lang="en-US" sz="1169" dirty="0"/>
          </a:p>
        </p:txBody>
      </p:sp>
      <p:sp>
        <p:nvSpPr>
          <p:cNvPr id="36" name="Text 15"/>
          <p:cNvSpPr/>
          <p:nvPr/>
        </p:nvSpPr>
        <p:spPr>
          <a:xfrm>
            <a:off x="5981829" y="4719563"/>
            <a:ext cx="11136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SOX</a:t>
            </a:r>
            <a:endParaRPr lang="en-US" sz="1169" dirty="0"/>
          </a:p>
        </p:txBody>
      </p:sp>
      <p:sp>
        <p:nvSpPr>
          <p:cNvPr id="37" name="Text 16"/>
          <p:cNvSpPr/>
          <p:nvPr/>
        </p:nvSpPr>
        <p:spPr>
          <a:xfrm>
            <a:off x="723892" y="5545543"/>
            <a:ext cx="1070989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CloudTrail log files can be used as evidence during audits and compliance assessments, helping organizations demonstrate they've implemented appropriate security measures.</a:t>
            </a:r>
            <a:endParaRPr lang="en-US" sz="11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160" y="524699"/>
            <a:ext cx="417630" cy="371227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</a:t>
            </a:r>
            <a:endParaRPr lang="en-US" sz="2192" dirty="0"/>
          </a:p>
        </p:txBody>
      </p:sp>
      <p:sp>
        <p:nvSpPr>
          <p:cNvPr id="8" name="Text 1"/>
          <p:cNvSpPr/>
          <p:nvPr/>
        </p:nvSpPr>
        <p:spPr>
          <a:xfrm>
            <a:off x="445472" y="1155785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the primary purpose of AWS CloudTrail?</a:t>
            </a:r>
            <a:endParaRPr lang="en-US" sz="2631" dirty="0"/>
          </a:p>
        </p:txBody>
      </p:sp>
      <p:sp>
        <p:nvSpPr>
          <p:cNvPr id="9" name="Text 2"/>
          <p:cNvSpPr/>
          <p:nvPr/>
        </p:nvSpPr>
        <p:spPr>
          <a:xfrm>
            <a:off x="705331" y="2009607"/>
            <a:ext cx="2742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A)</a:t>
            </a:r>
            <a:endParaRPr lang="en-US" sz="1461" dirty="0"/>
          </a:p>
        </p:txBody>
      </p:sp>
      <p:sp>
        <p:nvSpPr>
          <p:cNvPr id="10" name="Text 3"/>
          <p:cNvSpPr/>
          <p:nvPr/>
        </p:nvSpPr>
        <p:spPr>
          <a:xfrm>
            <a:off x="1045236" y="2009607"/>
            <a:ext cx="62141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monitor application performance and health metrics.</a:t>
            </a:r>
            <a:endParaRPr lang="en-US" sz="1461" dirty="0"/>
          </a:p>
        </p:txBody>
      </p:sp>
      <p:sp>
        <p:nvSpPr>
          <p:cNvPr id="11" name="Text 4"/>
          <p:cNvSpPr/>
          <p:nvPr/>
        </p:nvSpPr>
        <p:spPr>
          <a:xfrm>
            <a:off x="705331" y="2677815"/>
            <a:ext cx="2716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</a:t>
            </a:r>
            <a:endParaRPr lang="en-US" sz="1461" dirty="0"/>
          </a:p>
        </p:txBody>
      </p:sp>
      <p:sp>
        <p:nvSpPr>
          <p:cNvPr id="12" name="Text 5"/>
          <p:cNvSpPr/>
          <p:nvPr/>
        </p:nvSpPr>
        <p:spPr>
          <a:xfrm>
            <a:off x="1043061" y="2677815"/>
            <a:ext cx="83111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provide a content delivery network for static and dynamic web content.</a:t>
            </a:r>
            <a:endParaRPr lang="en-US" sz="1461" dirty="0"/>
          </a:p>
        </p:txBody>
      </p:sp>
      <p:sp>
        <p:nvSpPr>
          <p:cNvPr id="13" name="Text 6"/>
          <p:cNvSpPr/>
          <p:nvPr/>
        </p:nvSpPr>
        <p:spPr>
          <a:xfrm>
            <a:off x="705331" y="3346024"/>
            <a:ext cx="2653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C)</a:t>
            </a:r>
            <a:endParaRPr lang="en-US" sz="1461" dirty="0"/>
          </a:p>
        </p:txBody>
      </p:sp>
      <p:sp>
        <p:nvSpPr>
          <p:cNvPr id="14" name="Text 7"/>
          <p:cNvSpPr/>
          <p:nvPr/>
        </p:nvSpPr>
        <p:spPr>
          <a:xfrm>
            <a:off x="1037841" y="3346024"/>
            <a:ext cx="99406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enable operational and risk auditing, governance, and compliance of an AWS account.</a:t>
            </a:r>
            <a:endParaRPr lang="en-US" sz="1461" dirty="0"/>
          </a:p>
        </p:txBody>
      </p:sp>
      <p:sp>
        <p:nvSpPr>
          <p:cNvPr id="15" name="Text 8"/>
          <p:cNvSpPr/>
          <p:nvPr/>
        </p:nvSpPr>
        <p:spPr>
          <a:xfrm>
            <a:off x="705331" y="4014232"/>
            <a:ext cx="2867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D)</a:t>
            </a:r>
            <a:endParaRPr lang="en-US" sz="1461" dirty="0"/>
          </a:p>
        </p:txBody>
      </p:sp>
      <p:sp>
        <p:nvSpPr>
          <p:cNvPr id="16" name="Text 9"/>
          <p:cNvSpPr/>
          <p:nvPr/>
        </p:nvSpPr>
        <p:spPr>
          <a:xfrm>
            <a:off x="1055677" y="4014232"/>
            <a:ext cx="61247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manage and orchestrate containerized applications.</a:t>
            </a:r>
            <a:endParaRPr lang="en-US" sz="146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1081539"/>
            <a:ext cx="10988318" cy="10394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86" y="1452766"/>
            <a:ext cx="222736" cy="29698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2417956"/>
            <a:ext cx="10988318" cy="215311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09" y="3123287"/>
            <a:ext cx="185613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09" y="4088477"/>
            <a:ext cx="185613" cy="2598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31987" y="4088477"/>
            <a:ext cx="185613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5766" y="4088477"/>
            <a:ext cx="185613" cy="259859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1002312" y="1267152"/>
            <a:ext cx="10245864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C)</a:t>
            </a:r>
            <a:r>
              <a:rPr lang="en-US" sz="2192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enable operational and risk auditing, governance, and compliance of an AWS account.</a:t>
            </a:r>
            <a:endParaRPr lang="en-US" sz="2192" dirty="0"/>
          </a:p>
        </p:txBody>
      </p:sp>
      <p:sp>
        <p:nvSpPr>
          <p:cNvPr id="17" name="Text 3"/>
          <p:cNvSpPr/>
          <p:nvPr/>
        </p:nvSpPr>
        <p:spPr>
          <a:xfrm>
            <a:off x="668209" y="2640692"/>
            <a:ext cx="10542845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754" dirty="0"/>
          </a:p>
        </p:txBody>
      </p:sp>
      <p:sp>
        <p:nvSpPr>
          <p:cNvPr id="18" name="Text 4"/>
          <p:cNvSpPr/>
          <p:nvPr/>
        </p:nvSpPr>
        <p:spPr>
          <a:xfrm>
            <a:off x="1002313" y="3086165"/>
            <a:ext cx="10208741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CloudTrail is specifically designed to record actions taken by a user, role, or an AWS service as events, providing a historical record of activity within your AWS infrastructure for auditing, governance, and compliance purposes.</a:t>
            </a:r>
            <a:endParaRPr lang="en-US" sz="1461" dirty="0"/>
          </a:p>
        </p:txBody>
      </p:sp>
      <p:sp>
        <p:nvSpPr>
          <p:cNvPr id="19" name="Text 5"/>
          <p:cNvSpPr/>
          <p:nvPr/>
        </p:nvSpPr>
        <p:spPr>
          <a:xfrm>
            <a:off x="965190" y="4088477"/>
            <a:ext cx="270276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record of activity</a:t>
            </a:r>
            <a:endParaRPr lang="en-US" sz="1315" dirty="0"/>
          </a:p>
        </p:txBody>
      </p:sp>
      <p:sp>
        <p:nvSpPr>
          <p:cNvPr id="20" name="Text 6"/>
          <p:cNvSpPr/>
          <p:nvPr/>
        </p:nvSpPr>
        <p:spPr>
          <a:xfrm>
            <a:off x="4528969" y="4088477"/>
            <a:ext cx="230079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Auditing &amp; governance</a:t>
            </a:r>
            <a:endParaRPr lang="en-US" sz="1315" dirty="0"/>
          </a:p>
        </p:txBody>
      </p:sp>
      <p:sp>
        <p:nvSpPr>
          <p:cNvPr id="21" name="Text 7"/>
          <p:cNvSpPr/>
          <p:nvPr/>
        </p:nvSpPr>
        <p:spPr>
          <a:xfrm>
            <a:off x="8092747" y="4088477"/>
            <a:ext cx="226842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Compliance assurance</a:t>
            </a:r>
            <a:endParaRPr lang="en-US" sz="131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2640692"/>
            <a:ext cx="5308545" cy="85382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245" y="2640692"/>
            <a:ext cx="5308545" cy="85382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3717251"/>
            <a:ext cx="5308545" cy="85382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245" y="3717251"/>
            <a:ext cx="5308545" cy="853822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445472" y="524699"/>
            <a:ext cx="2037862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</a:t>
            </a:r>
            <a:endParaRPr lang="en-US" sz="2192" dirty="0"/>
          </a:p>
        </p:txBody>
      </p:sp>
      <p:sp>
        <p:nvSpPr>
          <p:cNvPr id="13" name="Text 2"/>
          <p:cNvSpPr/>
          <p:nvPr/>
        </p:nvSpPr>
        <p:spPr>
          <a:xfrm>
            <a:off x="445472" y="1081539"/>
            <a:ext cx="10988318" cy="111368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of the following event types in CloudTrail captures control plane operations, such as creating or deleting an S3 bucket?</a:t>
            </a:r>
            <a:endParaRPr lang="en-US" sz="2631" dirty="0"/>
          </a:p>
        </p:txBody>
      </p:sp>
      <p:sp>
        <p:nvSpPr>
          <p:cNvPr id="14" name="Text 3"/>
          <p:cNvSpPr/>
          <p:nvPr/>
        </p:nvSpPr>
        <p:spPr>
          <a:xfrm>
            <a:off x="742454" y="2789183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15" name="Text 4"/>
          <p:cNvSpPr/>
          <p:nvPr/>
        </p:nvSpPr>
        <p:spPr>
          <a:xfrm>
            <a:off x="1063363" y="2789183"/>
            <a:ext cx="392848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Events</a:t>
            </a:r>
            <a:endParaRPr lang="en-US" sz="1461" dirty="0"/>
          </a:p>
        </p:txBody>
      </p:sp>
      <p:sp>
        <p:nvSpPr>
          <p:cNvPr id="16" name="Text 5"/>
          <p:cNvSpPr/>
          <p:nvPr/>
        </p:nvSpPr>
        <p:spPr>
          <a:xfrm>
            <a:off x="1063363" y="3123288"/>
            <a:ext cx="471417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operations on AWS resources like S3 objects</a:t>
            </a:r>
            <a:endParaRPr lang="en-US" sz="1169" dirty="0"/>
          </a:p>
        </p:txBody>
      </p:sp>
      <p:sp>
        <p:nvSpPr>
          <p:cNvPr id="17" name="Text 6"/>
          <p:cNvSpPr/>
          <p:nvPr/>
        </p:nvSpPr>
        <p:spPr>
          <a:xfrm>
            <a:off x="6273736" y="2789183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18" name="Text 7"/>
          <p:cNvSpPr/>
          <p:nvPr/>
        </p:nvSpPr>
        <p:spPr>
          <a:xfrm>
            <a:off x="6592034" y="2789183"/>
            <a:ext cx="276888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Events</a:t>
            </a:r>
            <a:endParaRPr lang="en-US" sz="1461" dirty="0"/>
          </a:p>
        </p:txBody>
      </p:sp>
      <p:sp>
        <p:nvSpPr>
          <p:cNvPr id="19" name="Text 8"/>
          <p:cNvSpPr/>
          <p:nvPr/>
        </p:nvSpPr>
        <p:spPr>
          <a:xfrm>
            <a:off x="6592034" y="3123288"/>
            <a:ext cx="276888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 unusual API call activity</a:t>
            </a:r>
            <a:endParaRPr lang="en-US" sz="1169" dirty="0"/>
          </a:p>
        </p:txBody>
      </p:sp>
      <p:sp>
        <p:nvSpPr>
          <p:cNvPr id="20" name="Text 9"/>
          <p:cNvSpPr/>
          <p:nvPr/>
        </p:nvSpPr>
        <p:spPr>
          <a:xfrm>
            <a:off x="742454" y="3865741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21" name="Text 10"/>
          <p:cNvSpPr/>
          <p:nvPr/>
        </p:nvSpPr>
        <p:spPr>
          <a:xfrm>
            <a:off x="1054516" y="3865741"/>
            <a:ext cx="302242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Activity Events</a:t>
            </a:r>
            <a:endParaRPr lang="en-US" sz="1461" dirty="0"/>
          </a:p>
        </p:txBody>
      </p:sp>
      <p:sp>
        <p:nvSpPr>
          <p:cNvPr id="22" name="Text 11"/>
          <p:cNvSpPr/>
          <p:nvPr/>
        </p:nvSpPr>
        <p:spPr>
          <a:xfrm>
            <a:off x="1054516" y="4199846"/>
            <a:ext cx="302242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 network connectivity issues</a:t>
            </a:r>
            <a:endParaRPr lang="en-US" sz="1169" dirty="0"/>
          </a:p>
        </p:txBody>
      </p:sp>
      <p:sp>
        <p:nvSpPr>
          <p:cNvPr id="23" name="Text 12"/>
          <p:cNvSpPr/>
          <p:nvPr/>
        </p:nvSpPr>
        <p:spPr>
          <a:xfrm>
            <a:off x="6273736" y="3865741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24" name="Text 13"/>
          <p:cNvSpPr/>
          <p:nvPr/>
        </p:nvSpPr>
        <p:spPr>
          <a:xfrm>
            <a:off x="6607115" y="3865741"/>
            <a:ext cx="418761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</a:t>
            </a:r>
            <a:endParaRPr lang="en-US" sz="1461" dirty="0"/>
          </a:p>
        </p:txBody>
      </p:sp>
      <p:sp>
        <p:nvSpPr>
          <p:cNvPr id="25" name="Text 14"/>
          <p:cNvSpPr/>
          <p:nvPr/>
        </p:nvSpPr>
        <p:spPr>
          <a:xfrm>
            <a:off x="6607114" y="4199846"/>
            <a:ext cx="502513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control plane operations like S3 bucket creation</a:t>
            </a:r>
            <a:endParaRPr lang="en-US" sz="11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1081539"/>
            <a:ext cx="10988318" cy="6682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2046730"/>
            <a:ext cx="10988318" cy="182829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209" y="3392427"/>
            <a:ext cx="139210" cy="259859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631086" y="1267152"/>
            <a:ext cx="34402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D)</a:t>
            </a:r>
            <a:endParaRPr lang="en-US" sz="1754" dirty="0"/>
          </a:p>
        </p:txBody>
      </p:sp>
      <p:sp>
        <p:nvSpPr>
          <p:cNvPr id="14" name="Text 3"/>
          <p:cNvSpPr/>
          <p:nvPr/>
        </p:nvSpPr>
        <p:spPr>
          <a:xfrm>
            <a:off x="1029140" y="1267152"/>
            <a:ext cx="275061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</a:t>
            </a:r>
            <a:endParaRPr lang="en-US" sz="1754" dirty="0"/>
          </a:p>
        </p:txBody>
      </p:sp>
      <p:sp>
        <p:nvSpPr>
          <p:cNvPr id="15" name="Text 4"/>
          <p:cNvSpPr/>
          <p:nvPr/>
        </p:nvSpPr>
        <p:spPr>
          <a:xfrm>
            <a:off x="668209" y="2269465"/>
            <a:ext cx="1054284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16" name="Text 5"/>
          <p:cNvSpPr/>
          <p:nvPr/>
        </p:nvSpPr>
        <p:spPr>
          <a:xfrm>
            <a:off x="668209" y="2640693"/>
            <a:ext cx="10542845" cy="6032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Events, also known as control plane operations, provide information about management operations performed on resources in your AWS account, such as creating or deleting an S3 bucket.</a:t>
            </a:r>
            <a:endParaRPr lang="en-US" sz="1461" dirty="0"/>
          </a:p>
        </p:txBody>
      </p:sp>
      <p:sp>
        <p:nvSpPr>
          <p:cNvPr id="17" name="Text 6"/>
          <p:cNvSpPr/>
          <p:nvPr/>
        </p:nvSpPr>
        <p:spPr>
          <a:xfrm>
            <a:off x="918787" y="3392427"/>
            <a:ext cx="117810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 capture the "who", "what", "when", and "source" of administrative actions in your AWS account.</a:t>
            </a:r>
            <a:endParaRPr lang="en-US" sz="131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218" y="1192907"/>
            <a:ext cx="1883977" cy="250578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6160" y="524699"/>
            <a:ext cx="417630" cy="37122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</a:t>
            </a:r>
            <a:endParaRPr lang="en-US" sz="2192" dirty="0"/>
          </a:p>
        </p:txBody>
      </p:sp>
      <p:sp>
        <p:nvSpPr>
          <p:cNvPr id="9" name="Text 1"/>
          <p:cNvSpPr/>
          <p:nvPr/>
        </p:nvSpPr>
        <p:spPr>
          <a:xfrm>
            <a:off x="445472" y="1007294"/>
            <a:ext cx="10988318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default, which CloudTrail event types are logged by trails and event data stores?</a:t>
            </a:r>
            <a:endParaRPr lang="en-US" sz="2631" dirty="0"/>
          </a:p>
        </p:txBody>
      </p:sp>
      <p:sp>
        <p:nvSpPr>
          <p:cNvPr id="10" name="Text 2"/>
          <p:cNvSpPr/>
          <p:nvPr/>
        </p:nvSpPr>
        <p:spPr>
          <a:xfrm>
            <a:off x="705331" y="2232343"/>
            <a:ext cx="2742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A)</a:t>
            </a:r>
            <a:endParaRPr lang="en-US" sz="1461" dirty="0"/>
          </a:p>
        </p:txBody>
      </p:sp>
      <p:sp>
        <p:nvSpPr>
          <p:cNvPr id="11" name="Text 3"/>
          <p:cNvSpPr/>
          <p:nvPr/>
        </p:nvSpPr>
        <p:spPr>
          <a:xfrm>
            <a:off x="1045236" y="2232343"/>
            <a:ext cx="189882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Events only</a:t>
            </a:r>
            <a:endParaRPr lang="en-US" sz="1461" dirty="0"/>
          </a:p>
        </p:txBody>
      </p:sp>
      <p:sp>
        <p:nvSpPr>
          <p:cNvPr id="12" name="Text 4"/>
          <p:cNvSpPr/>
          <p:nvPr/>
        </p:nvSpPr>
        <p:spPr>
          <a:xfrm>
            <a:off x="705331" y="2900551"/>
            <a:ext cx="2716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</a:t>
            </a:r>
            <a:endParaRPr lang="en-US" sz="1461" dirty="0"/>
          </a:p>
        </p:txBody>
      </p:sp>
      <p:sp>
        <p:nvSpPr>
          <p:cNvPr id="13" name="Text 5"/>
          <p:cNvSpPr/>
          <p:nvPr/>
        </p:nvSpPr>
        <p:spPr>
          <a:xfrm>
            <a:off x="1043061" y="2900551"/>
            <a:ext cx="28341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 only</a:t>
            </a:r>
            <a:endParaRPr lang="en-US" sz="1461" dirty="0"/>
          </a:p>
        </p:txBody>
      </p:sp>
      <p:sp>
        <p:nvSpPr>
          <p:cNvPr id="14" name="Text 6"/>
          <p:cNvSpPr/>
          <p:nvPr/>
        </p:nvSpPr>
        <p:spPr>
          <a:xfrm>
            <a:off x="705331" y="3568760"/>
            <a:ext cx="2653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C)</a:t>
            </a:r>
            <a:endParaRPr lang="en-US" sz="1461" dirty="0"/>
          </a:p>
        </p:txBody>
      </p:sp>
      <p:sp>
        <p:nvSpPr>
          <p:cNvPr id="15" name="Text 7"/>
          <p:cNvSpPr/>
          <p:nvPr/>
        </p:nvSpPr>
        <p:spPr>
          <a:xfrm>
            <a:off x="1037841" y="3568760"/>
            <a:ext cx="223762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Events only</a:t>
            </a:r>
            <a:endParaRPr lang="en-US" sz="1461" dirty="0"/>
          </a:p>
        </p:txBody>
      </p:sp>
      <p:sp>
        <p:nvSpPr>
          <p:cNvPr id="16" name="Text 8"/>
          <p:cNvSpPr/>
          <p:nvPr/>
        </p:nvSpPr>
        <p:spPr>
          <a:xfrm>
            <a:off x="705331" y="4236968"/>
            <a:ext cx="2867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D)</a:t>
            </a:r>
            <a:endParaRPr lang="en-US" sz="1461" dirty="0"/>
          </a:p>
        </p:txBody>
      </p:sp>
      <p:sp>
        <p:nvSpPr>
          <p:cNvPr id="17" name="Text 9"/>
          <p:cNvSpPr/>
          <p:nvPr/>
        </p:nvSpPr>
        <p:spPr>
          <a:xfrm>
            <a:off x="1055677" y="4236968"/>
            <a:ext cx="703881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event types (Management, Data, Network Activity, Insights)</a:t>
            </a:r>
            <a:endParaRPr lang="en-US" sz="146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1081539"/>
            <a:ext cx="10988318" cy="29698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6873" y="3095445"/>
            <a:ext cx="464034" cy="46403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680" y="3178971"/>
            <a:ext cx="278420" cy="29698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489" y="3095445"/>
            <a:ext cx="464034" cy="46403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5060" y="3178971"/>
            <a:ext cx="194894" cy="29698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0887" y="3095445"/>
            <a:ext cx="464034" cy="46403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3694" y="3178971"/>
            <a:ext cx="278420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1285" y="3095445"/>
            <a:ext cx="464034" cy="46403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9776" y="3178971"/>
            <a:ext cx="167052" cy="2969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6160" y="524699"/>
            <a:ext cx="417630" cy="371227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3</a:t>
            </a:r>
            <a:endParaRPr lang="en-US" sz="2192" dirty="0"/>
          </a:p>
        </p:txBody>
      </p:sp>
      <p:sp>
        <p:nvSpPr>
          <p:cNvPr id="17" name="Text 1"/>
          <p:cNvSpPr/>
          <p:nvPr/>
        </p:nvSpPr>
        <p:spPr>
          <a:xfrm>
            <a:off x="593963" y="1081539"/>
            <a:ext cx="32592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</a:t>
            </a:r>
            <a:endParaRPr lang="en-US" sz="1754" dirty="0"/>
          </a:p>
        </p:txBody>
      </p:sp>
      <p:sp>
        <p:nvSpPr>
          <p:cNvPr id="18" name="Text 2"/>
          <p:cNvSpPr/>
          <p:nvPr/>
        </p:nvSpPr>
        <p:spPr>
          <a:xfrm>
            <a:off x="976936" y="1081539"/>
            <a:ext cx="340107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 only</a:t>
            </a:r>
            <a:endParaRPr lang="en-US" sz="1754" dirty="0"/>
          </a:p>
        </p:txBody>
      </p:sp>
      <p:sp>
        <p:nvSpPr>
          <p:cNvPr id="19" name="Text 3"/>
          <p:cNvSpPr/>
          <p:nvPr/>
        </p:nvSpPr>
        <p:spPr>
          <a:xfrm>
            <a:off x="445472" y="1675502"/>
            <a:ext cx="109883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20" name="Text 4"/>
          <p:cNvSpPr/>
          <p:nvPr/>
        </p:nvSpPr>
        <p:spPr>
          <a:xfrm>
            <a:off x="445472" y="2046730"/>
            <a:ext cx="10988318" cy="6032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default, trails and event data stores log management events. Data events, Network activity events, and Insights events are not logged by default and require explicit configuration.</a:t>
            </a:r>
            <a:endParaRPr lang="en-US" sz="1461" dirty="0"/>
          </a:p>
        </p:txBody>
      </p:sp>
      <p:sp>
        <p:nvSpPr>
          <p:cNvPr id="21" name="Text 5"/>
          <p:cNvSpPr/>
          <p:nvPr/>
        </p:nvSpPr>
        <p:spPr>
          <a:xfrm>
            <a:off x="999268" y="3670847"/>
            <a:ext cx="206309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Events</a:t>
            </a:r>
            <a:endParaRPr lang="en-US" sz="1315" dirty="0"/>
          </a:p>
        </p:txBody>
      </p:sp>
      <p:sp>
        <p:nvSpPr>
          <p:cNvPr id="22" name="Text 6"/>
          <p:cNvSpPr/>
          <p:nvPr/>
        </p:nvSpPr>
        <p:spPr>
          <a:xfrm>
            <a:off x="1220119" y="3930706"/>
            <a:ext cx="153305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(Logged by default)</a:t>
            </a:r>
            <a:endParaRPr lang="en-US" sz="1023" dirty="0"/>
          </a:p>
        </p:txBody>
      </p:sp>
      <p:sp>
        <p:nvSpPr>
          <p:cNvPr id="23" name="Text 7"/>
          <p:cNvSpPr/>
          <p:nvPr/>
        </p:nvSpPr>
        <p:spPr>
          <a:xfrm>
            <a:off x="4123664" y="3670847"/>
            <a:ext cx="122122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Events</a:t>
            </a:r>
            <a:endParaRPr lang="en-US" sz="1315" dirty="0"/>
          </a:p>
        </p:txBody>
      </p:sp>
      <p:sp>
        <p:nvSpPr>
          <p:cNvPr id="24" name="Text 8"/>
          <p:cNvSpPr/>
          <p:nvPr/>
        </p:nvSpPr>
        <p:spPr>
          <a:xfrm>
            <a:off x="3826102" y="3930706"/>
            <a:ext cx="193536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(Requires explicit config)</a:t>
            </a:r>
            <a:endParaRPr lang="en-US" sz="1023" dirty="0"/>
          </a:p>
        </p:txBody>
      </p:sp>
      <p:sp>
        <p:nvSpPr>
          <p:cNvPr id="25" name="Text 9"/>
          <p:cNvSpPr/>
          <p:nvPr/>
        </p:nvSpPr>
        <p:spPr>
          <a:xfrm>
            <a:off x="6665119" y="3670847"/>
            <a:ext cx="165051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Activity</a:t>
            </a:r>
            <a:endParaRPr lang="en-US" sz="1315" dirty="0"/>
          </a:p>
        </p:txBody>
      </p:sp>
      <p:sp>
        <p:nvSpPr>
          <p:cNvPr id="26" name="Text 10"/>
          <p:cNvSpPr/>
          <p:nvPr/>
        </p:nvSpPr>
        <p:spPr>
          <a:xfrm>
            <a:off x="6546500" y="3930706"/>
            <a:ext cx="193536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(Requires explicit config)</a:t>
            </a:r>
            <a:endParaRPr lang="en-US" sz="1023" dirty="0"/>
          </a:p>
        </p:txBody>
      </p:sp>
      <p:sp>
        <p:nvSpPr>
          <p:cNvPr id="27" name="Text 11"/>
          <p:cNvSpPr/>
          <p:nvPr/>
        </p:nvSpPr>
        <p:spPr>
          <a:xfrm>
            <a:off x="9437430" y="3670847"/>
            <a:ext cx="152609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 Events</a:t>
            </a:r>
            <a:endParaRPr lang="en-US" sz="1315" dirty="0"/>
          </a:p>
        </p:txBody>
      </p:sp>
      <p:sp>
        <p:nvSpPr>
          <p:cNvPr id="28" name="Text 12"/>
          <p:cNvSpPr/>
          <p:nvPr/>
        </p:nvSpPr>
        <p:spPr>
          <a:xfrm>
            <a:off x="9266897" y="3930706"/>
            <a:ext cx="1935369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(Requires explicit config)</a:t>
            </a:r>
            <a:endParaRPr lang="en-US" sz="10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2195220"/>
            <a:ext cx="7424539" cy="7424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6160" y="524699"/>
            <a:ext cx="417630" cy="37122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</a:t>
            </a:r>
            <a:endParaRPr lang="en-US" sz="2192" dirty="0"/>
          </a:p>
        </p:txBody>
      </p:sp>
      <p:sp>
        <p:nvSpPr>
          <p:cNvPr id="9" name="Text 1"/>
          <p:cNvSpPr/>
          <p:nvPr/>
        </p:nvSpPr>
        <p:spPr>
          <a:xfrm>
            <a:off x="445472" y="1155785"/>
            <a:ext cx="10988318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the maximum retention period for CloudTrail Event History in an AWS Region?</a:t>
            </a:r>
            <a:endParaRPr lang="en-US" sz="2631" dirty="0"/>
          </a:p>
        </p:txBody>
      </p:sp>
      <p:sp>
        <p:nvSpPr>
          <p:cNvPr id="10" name="Text 2"/>
          <p:cNvSpPr/>
          <p:nvPr/>
        </p:nvSpPr>
        <p:spPr>
          <a:xfrm>
            <a:off x="705331" y="3271778"/>
            <a:ext cx="2742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A)</a:t>
            </a:r>
            <a:endParaRPr lang="en-US" sz="1461" dirty="0"/>
          </a:p>
        </p:txBody>
      </p:sp>
      <p:sp>
        <p:nvSpPr>
          <p:cNvPr id="11" name="Text 3"/>
          <p:cNvSpPr/>
          <p:nvPr/>
        </p:nvSpPr>
        <p:spPr>
          <a:xfrm>
            <a:off x="1045236" y="3271778"/>
            <a:ext cx="73833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days</a:t>
            </a:r>
            <a:endParaRPr lang="en-US" sz="1461" dirty="0"/>
          </a:p>
        </p:txBody>
      </p:sp>
      <p:sp>
        <p:nvSpPr>
          <p:cNvPr id="12" name="Text 4"/>
          <p:cNvSpPr/>
          <p:nvPr/>
        </p:nvSpPr>
        <p:spPr>
          <a:xfrm>
            <a:off x="705331" y="3939987"/>
            <a:ext cx="2716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</a:t>
            </a:r>
            <a:endParaRPr lang="en-US" sz="1461" dirty="0"/>
          </a:p>
        </p:txBody>
      </p:sp>
      <p:sp>
        <p:nvSpPr>
          <p:cNvPr id="13" name="Text 5"/>
          <p:cNvSpPr/>
          <p:nvPr/>
        </p:nvSpPr>
        <p:spPr>
          <a:xfrm>
            <a:off x="1043061" y="3939987"/>
            <a:ext cx="87998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 days</a:t>
            </a:r>
            <a:endParaRPr lang="en-US" sz="1461" dirty="0"/>
          </a:p>
        </p:txBody>
      </p:sp>
      <p:sp>
        <p:nvSpPr>
          <p:cNvPr id="14" name="Text 6"/>
          <p:cNvSpPr/>
          <p:nvPr/>
        </p:nvSpPr>
        <p:spPr>
          <a:xfrm>
            <a:off x="705331" y="4608195"/>
            <a:ext cx="2653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C)</a:t>
            </a:r>
            <a:endParaRPr lang="en-US" sz="1461" dirty="0"/>
          </a:p>
        </p:txBody>
      </p:sp>
      <p:sp>
        <p:nvSpPr>
          <p:cNvPr id="15" name="Text 7"/>
          <p:cNvSpPr/>
          <p:nvPr/>
        </p:nvSpPr>
        <p:spPr>
          <a:xfrm>
            <a:off x="1037841" y="4608195"/>
            <a:ext cx="87998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 days</a:t>
            </a:r>
            <a:endParaRPr lang="en-US" sz="1461" dirty="0"/>
          </a:p>
        </p:txBody>
      </p:sp>
      <p:sp>
        <p:nvSpPr>
          <p:cNvPr id="16" name="Text 8"/>
          <p:cNvSpPr/>
          <p:nvPr/>
        </p:nvSpPr>
        <p:spPr>
          <a:xfrm>
            <a:off x="705331" y="5276404"/>
            <a:ext cx="2867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D)</a:t>
            </a:r>
            <a:endParaRPr lang="en-US" sz="1461" dirty="0"/>
          </a:p>
        </p:txBody>
      </p:sp>
      <p:sp>
        <p:nvSpPr>
          <p:cNvPr id="17" name="Text 9"/>
          <p:cNvSpPr/>
          <p:nvPr/>
        </p:nvSpPr>
        <p:spPr>
          <a:xfrm>
            <a:off x="1055677" y="5276404"/>
            <a:ext cx="70945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year</a:t>
            </a:r>
            <a:endParaRPr lang="en-US" sz="146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1081539"/>
            <a:ext cx="10988318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08" y="1304275"/>
            <a:ext cx="278420" cy="33410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3615163"/>
            <a:ext cx="167052" cy="2598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4097758"/>
            <a:ext cx="10988318" cy="5568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" y="4060635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1605" y="4060635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7738" y="4060635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3790" y="4060635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472" y="4598915"/>
            <a:ext cx="10988318" cy="59396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4784528"/>
            <a:ext cx="185613" cy="259859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4</a:t>
            </a:r>
            <a:endParaRPr lang="en-US" sz="2192" dirty="0"/>
          </a:p>
        </p:txBody>
      </p:sp>
      <p:sp>
        <p:nvSpPr>
          <p:cNvPr id="17" name="Text 1"/>
          <p:cNvSpPr/>
          <p:nvPr/>
        </p:nvSpPr>
        <p:spPr>
          <a:xfrm>
            <a:off x="1095119" y="1304275"/>
            <a:ext cx="1966517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C) 90 days</a:t>
            </a:r>
            <a:endParaRPr lang="en-US" sz="2192" dirty="0"/>
          </a:p>
        </p:txBody>
      </p:sp>
      <p:sp>
        <p:nvSpPr>
          <p:cNvPr id="18" name="Text 2"/>
          <p:cNvSpPr/>
          <p:nvPr/>
        </p:nvSpPr>
        <p:spPr>
          <a:xfrm>
            <a:off x="445472" y="2158097"/>
            <a:ext cx="1098831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754" dirty="0"/>
          </a:p>
        </p:txBody>
      </p:sp>
      <p:sp>
        <p:nvSpPr>
          <p:cNvPr id="19" name="Text 3"/>
          <p:cNvSpPr/>
          <p:nvPr/>
        </p:nvSpPr>
        <p:spPr>
          <a:xfrm>
            <a:off x="445472" y="2566447"/>
            <a:ext cx="10988318" cy="6032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Event History provides a viewable, searchable, downloadable, and immutable record of the past 90 days of CloudTrail management events within an AWS Region.</a:t>
            </a:r>
            <a:endParaRPr lang="en-US" sz="1461" dirty="0"/>
          </a:p>
        </p:txBody>
      </p:sp>
      <p:sp>
        <p:nvSpPr>
          <p:cNvPr id="20" name="Text 4"/>
          <p:cNvSpPr/>
          <p:nvPr/>
        </p:nvSpPr>
        <p:spPr>
          <a:xfrm>
            <a:off x="686769" y="3615163"/>
            <a:ext cx="523082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Event History Retention Period</a:t>
            </a:r>
            <a:endParaRPr lang="en-US" sz="1461" dirty="0"/>
          </a:p>
        </p:txBody>
      </p:sp>
      <p:sp>
        <p:nvSpPr>
          <p:cNvPr id="21" name="Text 5"/>
          <p:cNvSpPr/>
          <p:nvPr/>
        </p:nvSpPr>
        <p:spPr>
          <a:xfrm>
            <a:off x="230132" y="4283372"/>
            <a:ext cx="51681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 days</a:t>
            </a:r>
            <a:endParaRPr lang="en-US" sz="1023" dirty="0"/>
          </a:p>
        </p:txBody>
      </p:sp>
      <p:sp>
        <p:nvSpPr>
          <p:cNvPr id="22" name="Text 6"/>
          <p:cNvSpPr/>
          <p:nvPr/>
        </p:nvSpPr>
        <p:spPr>
          <a:xfrm>
            <a:off x="3814936" y="4283372"/>
            <a:ext cx="616005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 days</a:t>
            </a:r>
            <a:endParaRPr lang="en-US" sz="1023" dirty="0"/>
          </a:p>
        </p:txBody>
      </p:sp>
      <p:sp>
        <p:nvSpPr>
          <p:cNvPr id="23" name="Text 7"/>
          <p:cNvSpPr/>
          <p:nvPr/>
        </p:nvSpPr>
        <p:spPr>
          <a:xfrm>
            <a:off x="7441070" y="4283372"/>
            <a:ext cx="616005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 days</a:t>
            </a:r>
            <a:endParaRPr lang="en-US" sz="1023" dirty="0"/>
          </a:p>
        </p:txBody>
      </p:sp>
      <p:sp>
        <p:nvSpPr>
          <p:cNvPr id="24" name="Text 8"/>
          <p:cNvSpPr/>
          <p:nvPr/>
        </p:nvSpPr>
        <p:spPr>
          <a:xfrm>
            <a:off x="11280441" y="4283372"/>
            <a:ext cx="30669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 days</a:t>
            </a:r>
            <a:endParaRPr lang="en-US" sz="1023" dirty="0"/>
          </a:p>
        </p:txBody>
      </p:sp>
      <p:sp>
        <p:nvSpPr>
          <p:cNvPr id="25" name="Text 9"/>
          <p:cNvSpPr/>
          <p:nvPr/>
        </p:nvSpPr>
        <p:spPr>
          <a:xfrm>
            <a:off x="890944" y="4747405"/>
            <a:ext cx="629647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Note:</a:t>
            </a: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Viewing the 90-day Event History in CloudTrail is free of charge.</a:t>
            </a:r>
            <a:endParaRPr lang="en-US" sz="1169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968" y="524699"/>
            <a:ext cx="278420" cy="445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2634" y="524699"/>
            <a:ext cx="501156" cy="44547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5</a:t>
            </a:r>
            <a:endParaRPr lang="en-US" sz="2192" dirty="0"/>
          </a:p>
        </p:txBody>
      </p:sp>
      <p:sp>
        <p:nvSpPr>
          <p:cNvPr id="9" name="Text 1"/>
          <p:cNvSpPr/>
          <p:nvPr/>
        </p:nvSpPr>
        <p:spPr>
          <a:xfrm>
            <a:off x="445472" y="1155785"/>
            <a:ext cx="10988318" cy="7424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statement is true regarding the cost of viewing CloudTrail Event History?</a:t>
            </a:r>
            <a:endParaRPr lang="en-US" sz="2631" dirty="0"/>
          </a:p>
        </p:txBody>
      </p:sp>
      <p:sp>
        <p:nvSpPr>
          <p:cNvPr id="10" name="Text 2"/>
          <p:cNvSpPr/>
          <p:nvPr/>
        </p:nvSpPr>
        <p:spPr>
          <a:xfrm>
            <a:off x="705331" y="2380833"/>
            <a:ext cx="2742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A)</a:t>
            </a:r>
            <a:endParaRPr lang="en-US" sz="1461" dirty="0"/>
          </a:p>
        </p:txBody>
      </p:sp>
      <p:sp>
        <p:nvSpPr>
          <p:cNvPr id="11" name="Text 3"/>
          <p:cNvSpPr/>
          <p:nvPr/>
        </p:nvSpPr>
        <p:spPr>
          <a:xfrm>
            <a:off x="1045236" y="2380833"/>
            <a:ext cx="635877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incurs charges based on the number of events viewed.</a:t>
            </a:r>
            <a:endParaRPr lang="en-US" sz="1461" dirty="0"/>
          </a:p>
        </p:txBody>
      </p:sp>
      <p:sp>
        <p:nvSpPr>
          <p:cNvPr id="12" name="Text 4"/>
          <p:cNvSpPr/>
          <p:nvPr/>
        </p:nvSpPr>
        <p:spPr>
          <a:xfrm>
            <a:off x="705331" y="3049042"/>
            <a:ext cx="2716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</a:t>
            </a:r>
            <a:endParaRPr lang="en-US" sz="1461" dirty="0"/>
          </a:p>
        </p:txBody>
      </p:sp>
      <p:sp>
        <p:nvSpPr>
          <p:cNvPr id="13" name="Text 5"/>
          <p:cNvSpPr/>
          <p:nvPr/>
        </p:nvSpPr>
        <p:spPr>
          <a:xfrm>
            <a:off x="1043061" y="3049042"/>
            <a:ext cx="210503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is free of charge.</a:t>
            </a:r>
            <a:endParaRPr lang="en-US" sz="1461" dirty="0"/>
          </a:p>
        </p:txBody>
      </p:sp>
      <p:sp>
        <p:nvSpPr>
          <p:cNvPr id="14" name="Text 6"/>
          <p:cNvSpPr/>
          <p:nvPr/>
        </p:nvSpPr>
        <p:spPr>
          <a:xfrm>
            <a:off x="705331" y="3717250"/>
            <a:ext cx="2653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C)</a:t>
            </a:r>
            <a:endParaRPr lang="en-US" sz="1461" dirty="0"/>
          </a:p>
        </p:txBody>
      </p:sp>
      <p:sp>
        <p:nvSpPr>
          <p:cNvPr id="15" name="Text 7"/>
          <p:cNvSpPr/>
          <p:nvPr/>
        </p:nvSpPr>
        <p:spPr>
          <a:xfrm>
            <a:off x="1037841" y="3717250"/>
            <a:ext cx="55992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is free for the first 30 days, then incurs charges.</a:t>
            </a:r>
            <a:endParaRPr lang="en-US" sz="1461" dirty="0"/>
          </a:p>
        </p:txBody>
      </p:sp>
      <p:sp>
        <p:nvSpPr>
          <p:cNvPr id="16" name="Text 8"/>
          <p:cNvSpPr/>
          <p:nvPr/>
        </p:nvSpPr>
        <p:spPr>
          <a:xfrm>
            <a:off x="705331" y="4385459"/>
            <a:ext cx="2867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D)</a:t>
            </a:r>
            <a:endParaRPr lang="en-US" sz="1461" dirty="0"/>
          </a:p>
        </p:txBody>
      </p:sp>
      <p:sp>
        <p:nvSpPr>
          <p:cNvPr id="17" name="Text 9"/>
          <p:cNvSpPr/>
          <p:nvPr/>
        </p:nvSpPr>
        <p:spPr>
          <a:xfrm>
            <a:off x="1055677" y="4385459"/>
            <a:ext cx="667982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is included in the AWS Free Tier for up to 1 million events.</a:t>
            </a:r>
            <a:endParaRPr lang="en-US" sz="146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74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72" y="1081539"/>
            <a:ext cx="10988318" cy="70533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86" y="1285714"/>
            <a:ext cx="222736" cy="29698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2974797"/>
            <a:ext cx="501156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5090790"/>
            <a:ext cx="10988318" cy="122504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86" y="5304246"/>
            <a:ext cx="167052" cy="22273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6160" y="524699"/>
            <a:ext cx="417630" cy="371227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45472" y="524699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5</a:t>
            </a:r>
            <a:endParaRPr lang="en-US" sz="2192" dirty="0"/>
          </a:p>
        </p:txBody>
      </p:sp>
      <p:sp>
        <p:nvSpPr>
          <p:cNvPr id="13" name="Text 1"/>
          <p:cNvSpPr/>
          <p:nvPr/>
        </p:nvSpPr>
        <p:spPr>
          <a:xfrm>
            <a:off x="1002313" y="1267153"/>
            <a:ext cx="4143415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B) It is free of charge.</a:t>
            </a:r>
            <a:endParaRPr lang="en-US" sz="2192" dirty="0"/>
          </a:p>
        </p:txBody>
      </p:sp>
      <p:sp>
        <p:nvSpPr>
          <p:cNvPr id="14" name="Text 2"/>
          <p:cNvSpPr/>
          <p:nvPr/>
        </p:nvSpPr>
        <p:spPr>
          <a:xfrm>
            <a:off x="445472" y="2009606"/>
            <a:ext cx="1098831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754" dirty="0"/>
          </a:p>
        </p:txBody>
      </p:sp>
      <p:sp>
        <p:nvSpPr>
          <p:cNvPr id="15" name="Text 3"/>
          <p:cNvSpPr/>
          <p:nvPr/>
        </p:nvSpPr>
        <p:spPr>
          <a:xfrm>
            <a:off x="445472" y="2417956"/>
            <a:ext cx="1318598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Viewing the 90-day Event History in CloudTrail is free of charge.</a:t>
            </a:r>
            <a:endParaRPr lang="en-US" sz="1461" dirty="0"/>
          </a:p>
        </p:txBody>
      </p:sp>
      <p:sp>
        <p:nvSpPr>
          <p:cNvPr id="16" name="Text 4"/>
          <p:cNvSpPr/>
          <p:nvPr/>
        </p:nvSpPr>
        <p:spPr>
          <a:xfrm>
            <a:off x="1095120" y="3076884"/>
            <a:ext cx="1228772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 can view and download your CloudTrail Event History for the past 90 days without any additional charges.</a:t>
            </a:r>
            <a:endParaRPr lang="en-US" sz="1461" dirty="0"/>
          </a:p>
        </p:txBody>
      </p:sp>
      <p:sp>
        <p:nvSpPr>
          <p:cNvPr id="17" name="Text 5"/>
          <p:cNvSpPr/>
          <p:nvPr/>
        </p:nvSpPr>
        <p:spPr>
          <a:xfrm>
            <a:off x="909506" y="5276404"/>
            <a:ext cx="103386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Did you know?</a:t>
            </a:r>
            <a:endParaRPr lang="en-US" sz="1461" dirty="0"/>
          </a:p>
        </p:txBody>
      </p:sp>
      <p:sp>
        <p:nvSpPr>
          <p:cNvPr id="18" name="Text 6"/>
          <p:cNvSpPr/>
          <p:nvPr/>
        </p:nvSpPr>
        <p:spPr>
          <a:xfrm>
            <a:off x="909506" y="5610508"/>
            <a:ext cx="1033867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CloudTrail Event History provides a viewable, searchable, downloadable, and immutable record of the past 90 days of CloudTrail management events within an AWS Region.</a:t>
            </a:r>
            <a:endParaRPr lang="en-US" sz="131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1398</Words>
  <Application>Microsoft Office PowerPoint</Application>
  <PresentationFormat>Custom</PresentationFormat>
  <Paragraphs>220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13</cp:revision>
  <dcterms:created xsi:type="dcterms:W3CDTF">2025-10-28T05:24:32Z</dcterms:created>
  <dcterms:modified xsi:type="dcterms:W3CDTF">2025-11-10T11:33:34Z</dcterms:modified>
</cp:coreProperties>
</file>