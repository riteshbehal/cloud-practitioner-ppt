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8"/>
  </p:notesMasterIdLst>
  <p:sldIdLst>
    <p:sldId id="256" r:id="rId2"/>
    <p:sldId id="265" r:id="rId3"/>
    <p:sldId id="267" r:id="rId4"/>
    <p:sldId id="258" r:id="rId5"/>
    <p:sldId id="259" r:id="rId6"/>
    <p:sldId id="260" r:id="rId7"/>
    <p:sldId id="261" r:id="rId8"/>
    <p:sldId id="262" r:id="rId9"/>
    <p:sldId id="257" r:id="rId10"/>
    <p:sldId id="269" r:id="rId11"/>
    <p:sldId id="270" r:id="rId12"/>
    <p:sldId id="271" r:id="rId13"/>
    <p:sldId id="272" r:id="rId14"/>
    <p:sldId id="273" r:id="rId15"/>
    <p:sldId id="274" r:id="rId16"/>
    <p:sldId id="264" r:id="rId17"/>
  </p:sldIdLst>
  <p:sldSz cx="11879263" cy="6840538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7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5642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1pPr>
    <a:lvl2pPr marL="449245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2pPr>
    <a:lvl3pPr marL="898489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3pPr>
    <a:lvl4pPr marL="1347734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4pPr>
    <a:lvl5pPr marL="1796979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5pPr>
    <a:lvl6pPr marL="2246224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6pPr>
    <a:lvl7pPr marL="2695468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7pPr>
    <a:lvl8pPr marL="3144713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8pPr>
    <a:lvl9pPr marL="3593958" algn="l" defTabSz="898489" rtl="0" eaLnBrk="1" latinLnBrk="0" hangingPunct="1">
      <a:defRPr sz="117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4908" y="1119505"/>
            <a:ext cx="8909447" cy="2381521"/>
          </a:xfrm>
        </p:spPr>
        <p:txBody>
          <a:bodyPr anchor="b"/>
          <a:lstStyle>
            <a:lvl1pPr algn="ctr">
              <a:defRPr sz="584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908" y="3592866"/>
            <a:ext cx="8909447" cy="1651546"/>
          </a:xfrm>
        </p:spPr>
        <p:txBody>
          <a:bodyPr/>
          <a:lstStyle>
            <a:lvl1pPr marL="0" indent="0" algn="ctr">
              <a:buNone/>
              <a:defRPr sz="2338"/>
            </a:lvl1pPr>
            <a:lvl2pPr marL="445450" indent="0" algn="ctr">
              <a:buNone/>
              <a:defRPr sz="1949"/>
            </a:lvl2pPr>
            <a:lvl3pPr marL="890900" indent="0" algn="ctr">
              <a:buNone/>
              <a:defRPr sz="1754"/>
            </a:lvl3pPr>
            <a:lvl4pPr marL="1336350" indent="0" algn="ctr">
              <a:buNone/>
              <a:defRPr sz="1559"/>
            </a:lvl4pPr>
            <a:lvl5pPr marL="1781800" indent="0" algn="ctr">
              <a:buNone/>
              <a:defRPr sz="1559"/>
            </a:lvl5pPr>
            <a:lvl6pPr marL="2227250" indent="0" algn="ctr">
              <a:buNone/>
              <a:defRPr sz="1559"/>
            </a:lvl6pPr>
            <a:lvl7pPr marL="2672700" indent="0" algn="ctr">
              <a:buNone/>
              <a:defRPr sz="1559"/>
            </a:lvl7pPr>
            <a:lvl8pPr marL="3118150" indent="0" algn="ctr">
              <a:buNone/>
              <a:defRPr sz="1559"/>
            </a:lvl8pPr>
            <a:lvl9pPr marL="3563600" indent="0" algn="ctr">
              <a:buNone/>
              <a:defRPr sz="155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07991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14805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512" y="1705385"/>
            <a:ext cx="10245864" cy="2845473"/>
          </a:xfrm>
        </p:spPr>
        <p:txBody>
          <a:bodyPr anchor="b"/>
          <a:lstStyle>
            <a:lvl1pPr>
              <a:defRPr sz="584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512" y="4577778"/>
            <a:ext cx="10245864" cy="1496367"/>
          </a:xfrm>
        </p:spPr>
        <p:txBody>
          <a:bodyPr/>
          <a:lstStyle>
            <a:lvl1pPr marL="0" indent="0">
              <a:buNone/>
              <a:defRPr sz="2338">
                <a:solidFill>
                  <a:schemeClr val="tx1">
                    <a:tint val="75000"/>
                  </a:schemeClr>
                </a:solidFill>
              </a:defRPr>
            </a:lvl1pPr>
            <a:lvl2pPr marL="445450" indent="0">
              <a:buNone/>
              <a:defRPr sz="1949">
                <a:solidFill>
                  <a:schemeClr val="tx1">
                    <a:tint val="75000"/>
                  </a:schemeClr>
                </a:solidFill>
              </a:defRPr>
            </a:lvl2pPr>
            <a:lvl3pPr marL="890900" indent="0">
              <a:buNone/>
              <a:defRPr sz="1754">
                <a:solidFill>
                  <a:schemeClr val="tx1">
                    <a:tint val="75000"/>
                  </a:schemeClr>
                </a:solidFill>
              </a:defRPr>
            </a:lvl3pPr>
            <a:lvl4pPr marL="13363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4pPr>
            <a:lvl5pPr marL="17818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5pPr>
            <a:lvl6pPr marL="22272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6pPr>
            <a:lvl7pPr marL="26727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7pPr>
            <a:lvl8pPr marL="311815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8pPr>
            <a:lvl9pPr marL="3563600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05372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6699" y="1820976"/>
            <a:ext cx="5048687" cy="4340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3877" y="1820976"/>
            <a:ext cx="5048687" cy="4340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36241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364196"/>
            <a:ext cx="10245864" cy="13221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247" y="1676882"/>
            <a:ext cx="5025485" cy="821814"/>
          </a:xfrm>
        </p:spPr>
        <p:txBody>
          <a:bodyPr anchor="b"/>
          <a:lstStyle>
            <a:lvl1pPr marL="0" indent="0">
              <a:buNone/>
              <a:defRPr sz="2338" b="1"/>
            </a:lvl1pPr>
            <a:lvl2pPr marL="445450" indent="0">
              <a:buNone/>
              <a:defRPr sz="1949" b="1"/>
            </a:lvl2pPr>
            <a:lvl3pPr marL="890900" indent="0">
              <a:buNone/>
              <a:defRPr sz="1754" b="1"/>
            </a:lvl3pPr>
            <a:lvl4pPr marL="1336350" indent="0">
              <a:buNone/>
              <a:defRPr sz="1559" b="1"/>
            </a:lvl4pPr>
            <a:lvl5pPr marL="1781800" indent="0">
              <a:buNone/>
              <a:defRPr sz="1559" b="1"/>
            </a:lvl5pPr>
            <a:lvl6pPr marL="2227250" indent="0">
              <a:buNone/>
              <a:defRPr sz="1559" b="1"/>
            </a:lvl6pPr>
            <a:lvl7pPr marL="2672700" indent="0">
              <a:buNone/>
              <a:defRPr sz="1559" b="1"/>
            </a:lvl7pPr>
            <a:lvl8pPr marL="3118150" indent="0">
              <a:buNone/>
              <a:defRPr sz="1559" b="1"/>
            </a:lvl8pPr>
            <a:lvl9pPr marL="3563600" indent="0">
              <a:buNone/>
              <a:defRPr sz="15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247" y="2498697"/>
            <a:ext cx="5025485" cy="36752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13877" y="1676882"/>
            <a:ext cx="5050234" cy="821814"/>
          </a:xfrm>
        </p:spPr>
        <p:txBody>
          <a:bodyPr anchor="b"/>
          <a:lstStyle>
            <a:lvl1pPr marL="0" indent="0">
              <a:buNone/>
              <a:defRPr sz="2338" b="1"/>
            </a:lvl1pPr>
            <a:lvl2pPr marL="445450" indent="0">
              <a:buNone/>
              <a:defRPr sz="1949" b="1"/>
            </a:lvl2pPr>
            <a:lvl3pPr marL="890900" indent="0">
              <a:buNone/>
              <a:defRPr sz="1754" b="1"/>
            </a:lvl3pPr>
            <a:lvl4pPr marL="1336350" indent="0">
              <a:buNone/>
              <a:defRPr sz="1559" b="1"/>
            </a:lvl4pPr>
            <a:lvl5pPr marL="1781800" indent="0">
              <a:buNone/>
              <a:defRPr sz="1559" b="1"/>
            </a:lvl5pPr>
            <a:lvl6pPr marL="2227250" indent="0">
              <a:buNone/>
              <a:defRPr sz="1559" b="1"/>
            </a:lvl6pPr>
            <a:lvl7pPr marL="2672700" indent="0">
              <a:buNone/>
              <a:defRPr sz="1559" b="1"/>
            </a:lvl7pPr>
            <a:lvl8pPr marL="3118150" indent="0">
              <a:buNone/>
              <a:defRPr sz="1559" b="1"/>
            </a:lvl8pPr>
            <a:lvl9pPr marL="3563600" indent="0">
              <a:buNone/>
              <a:defRPr sz="155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13877" y="2498697"/>
            <a:ext cx="5050234" cy="36752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02994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87146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6089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56036"/>
            <a:ext cx="3831371" cy="1596126"/>
          </a:xfrm>
        </p:spPr>
        <p:txBody>
          <a:bodyPr anchor="b"/>
          <a:lstStyle>
            <a:lvl1pPr>
              <a:defRPr sz="31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0234" y="984911"/>
            <a:ext cx="6013877" cy="4861216"/>
          </a:xfrm>
        </p:spPr>
        <p:txBody>
          <a:bodyPr/>
          <a:lstStyle>
            <a:lvl1pPr>
              <a:defRPr sz="3118"/>
            </a:lvl1pPr>
            <a:lvl2pPr>
              <a:defRPr sz="2728"/>
            </a:lvl2pPr>
            <a:lvl3pPr>
              <a:defRPr sz="2338"/>
            </a:lvl3pPr>
            <a:lvl4pPr>
              <a:defRPr sz="1949"/>
            </a:lvl4pPr>
            <a:lvl5pPr>
              <a:defRPr sz="1949"/>
            </a:lvl5pPr>
            <a:lvl6pPr>
              <a:defRPr sz="1949"/>
            </a:lvl6pPr>
            <a:lvl7pPr>
              <a:defRPr sz="1949"/>
            </a:lvl7pPr>
            <a:lvl8pPr>
              <a:defRPr sz="1949"/>
            </a:lvl8pPr>
            <a:lvl9pPr>
              <a:defRPr sz="194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052161"/>
            <a:ext cx="3831371" cy="3801883"/>
          </a:xfrm>
        </p:spPr>
        <p:txBody>
          <a:bodyPr/>
          <a:lstStyle>
            <a:lvl1pPr marL="0" indent="0">
              <a:buNone/>
              <a:defRPr sz="1559"/>
            </a:lvl1pPr>
            <a:lvl2pPr marL="445450" indent="0">
              <a:buNone/>
              <a:defRPr sz="1364"/>
            </a:lvl2pPr>
            <a:lvl3pPr marL="890900" indent="0">
              <a:buNone/>
              <a:defRPr sz="1169"/>
            </a:lvl3pPr>
            <a:lvl4pPr marL="1336350" indent="0">
              <a:buNone/>
              <a:defRPr sz="974"/>
            </a:lvl4pPr>
            <a:lvl5pPr marL="1781800" indent="0">
              <a:buNone/>
              <a:defRPr sz="974"/>
            </a:lvl5pPr>
            <a:lvl6pPr marL="2227250" indent="0">
              <a:buNone/>
              <a:defRPr sz="974"/>
            </a:lvl6pPr>
            <a:lvl7pPr marL="2672700" indent="0">
              <a:buNone/>
              <a:defRPr sz="974"/>
            </a:lvl7pPr>
            <a:lvl8pPr marL="3118150" indent="0">
              <a:buNone/>
              <a:defRPr sz="974"/>
            </a:lvl8pPr>
            <a:lvl9pPr marL="3563600" indent="0">
              <a:buNone/>
              <a:defRPr sz="9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91104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247" y="456036"/>
            <a:ext cx="3831371" cy="1596126"/>
          </a:xfrm>
        </p:spPr>
        <p:txBody>
          <a:bodyPr anchor="b"/>
          <a:lstStyle>
            <a:lvl1pPr>
              <a:defRPr sz="311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50234" y="984911"/>
            <a:ext cx="6013877" cy="4861216"/>
          </a:xfrm>
        </p:spPr>
        <p:txBody>
          <a:bodyPr anchor="t"/>
          <a:lstStyle>
            <a:lvl1pPr marL="0" indent="0">
              <a:buNone/>
              <a:defRPr sz="3118"/>
            </a:lvl1pPr>
            <a:lvl2pPr marL="445450" indent="0">
              <a:buNone/>
              <a:defRPr sz="2728"/>
            </a:lvl2pPr>
            <a:lvl3pPr marL="890900" indent="0">
              <a:buNone/>
              <a:defRPr sz="2338"/>
            </a:lvl3pPr>
            <a:lvl4pPr marL="1336350" indent="0">
              <a:buNone/>
              <a:defRPr sz="1949"/>
            </a:lvl4pPr>
            <a:lvl5pPr marL="1781800" indent="0">
              <a:buNone/>
              <a:defRPr sz="1949"/>
            </a:lvl5pPr>
            <a:lvl6pPr marL="2227250" indent="0">
              <a:buNone/>
              <a:defRPr sz="1949"/>
            </a:lvl6pPr>
            <a:lvl7pPr marL="2672700" indent="0">
              <a:buNone/>
              <a:defRPr sz="1949"/>
            </a:lvl7pPr>
            <a:lvl8pPr marL="3118150" indent="0">
              <a:buNone/>
              <a:defRPr sz="1949"/>
            </a:lvl8pPr>
            <a:lvl9pPr marL="3563600" indent="0">
              <a:buNone/>
              <a:defRPr sz="1949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247" y="2052161"/>
            <a:ext cx="3831371" cy="3801883"/>
          </a:xfrm>
        </p:spPr>
        <p:txBody>
          <a:bodyPr/>
          <a:lstStyle>
            <a:lvl1pPr marL="0" indent="0">
              <a:buNone/>
              <a:defRPr sz="1559"/>
            </a:lvl1pPr>
            <a:lvl2pPr marL="445450" indent="0">
              <a:buNone/>
              <a:defRPr sz="1364"/>
            </a:lvl2pPr>
            <a:lvl3pPr marL="890900" indent="0">
              <a:buNone/>
              <a:defRPr sz="1169"/>
            </a:lvl3pPr>
            <a:lvl4pPr marL="1336350" indent="0">
              <a:buNone/>
              <a:defRPr sz="974"/>
            </a:lvl4pPr>
            <a:lvl5pPr marL="1781800" indent="0">
              <a:buNone/>
              <a:defRPr sz="974"/>
            </a:lvl5pPr>
            <a:lvl6pPr marL="2227250" indent="0">
              <a:buNone/>
              <a:defRPr sz="974"/>
            </a:lvl6pPr>
            <a:lvl7pPr marL="2672700" indent="0">
              <a:buNone/>
              <a:defRPr sz="974"/>
            </a:lvl7pPr>
            <a:lvl8pPr marL="3118150" indent="0">
              <a:buNone/>
              <a:defRPr sz="974"/>
            </a:lvl8pPr>
            <a:lvl9pPr marL="3563600" indent="0">
              <a:buNone/>
              <a:defRPr sz="97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13659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652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01098" y="364195"/>
            <a:ext cx="2561466" cy="57970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6700" y="364195"/>
            <a:ext cx="7535907" cy="57970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78579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542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6700" y="364196"/>
            <a:ext cx="10245864" cy="1322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6700" y="1820976"/>
            <a:ext cx="10245864" cy="4340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6699" y="6340166"/>
            <a:ext cx="267283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35006" y="6340166"/>
            <a:ext cx="4009251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9730" y="6340166"/>
            <a:ext cx="2672834" cy="3641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961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890900" rtl="0" eaLnBrk="1" latinLnBrk="0" hangingPunct="1">
        <a:lnSpc>
          <a:spcPct val="90000"/>
        </a:lnSpc>
        <a:spcBef>
          <a:spcPct val="0"/>
        </a:spcBef>
        <a:buNone/>
        <a:defRPr sz="42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2725" indent="-222725" algn="l" defTabSz="890900" rtl="0" eaLnBrk="1" latinLnBrk="0" hangingPunct="1">
        <a:lnSpc>
          <a:spcPct val="90000"/>
        </a:lnSpc>
        <a:spcBef>
          <a:spcPts val="974"/>
        </a:spcBef>
        <a:buFont typeface="Arial" panose="020B0604020202020204" pitchFamily="34" charset="0"/>
        <a:buChar char="•"/>
        <a:defRPr sz="2728" kern="1200">
          <a:solidFill>
            <a:schemeClr val="tx1"/>
          </a:solidFill>
          <a:latin typeface="+mn-lt"/>
          <a:ea typeface="+mn-ea"/>
          <a:cs typeface="+mn-cs"/>
        </a:defRPr>
      </a:lvl1pPr>
      <a:lvl2pPr marL="6681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136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949" kern="1200">
          <a:solidFill>
            <a:schemeClr val="tx1"/>
          </a:solidFill>
          <a:latin typeface="+mn-lt"/>
          <a:ea typeface="+mn-ea"/>
          <a:cs typeface="+mn-cs"/>
        </a:defRPr>
      </a:lvl3pPr>
      <a:lvl4pPr marL="15590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20045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4499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8954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34087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786325" indent="-222725" algn="l" defTabSz="890900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1pPr>
      <a:lvl2pPr marL="4454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2pPr>
      <a:lvl3pPr marL="8909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3363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4pPr>
      <a:lvl5pPr marL="17818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5pPr>
      <a:lvl6pPr marL="22272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6pPr>
      <a:lvl7pPr marL="26727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7pPr>
      <a:lvl8pPr marL="311815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8pPr>
      <a:lvl9pPr marL="3563600" algn="l" defTabSz="890900" rtl="0" eaLnBrk="1" latinLnBrk="0" hangingPunct="1">
        <a:defRPr sz="17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3" Type="http://schemas.openxmlformats.org/officeDocument/2006/relationships/image" Target="../media/image1.png"/><Relationship Id="rId21" Type="http://schemas.openxmlformats.org/officeDocument/2006/relationships/image" Target="../media/image44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12.png"/><Relationship Id="rId15" Type="http://schemas.openxmlformats.org/officeDocument/2006/relationships/image" Target="../media/image38.png"/><Relationship Id="rId23" Type="http://schemas.openxmlformats.org/officeDocument/2006/relationships/image" Target="../media/image46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4" Type="http://schemas.openxmlformats.org/officeDocument/2006/relationships/image" Target="../media/image28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Relationship Id="rId22" Type="http://schemas.openxmlformats.org/officeDocument/2006/relationships/image" Target="../media/image4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9.png"/><Relationship Id="rId20" Type="http://schemas.openxmlformats.org/officeDocument/2006/relationships/image" Target="../media/image6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4" Type="http://schemas.openxmlformats.org/officeDocument/2006/relationships/image" Target="../media/image2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0.png"/><Relationship Id="rId3" Type="http://schemas.openxmlformats.org/officeDocument/2006/relationships/image" Target="../media/image1.png"/><Relationship Id="rId7" Type="http://schemas.openxmlformats.org/officeDocument/2006/relationships/image" Target="../media/image65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png"/><Relationship Id="rId11" Type="http://schemas.openxmlformats.org/officeDocument/2006/relationships/image" Target="../media/image68.png"/><Relationship Id="rId5" Type="http://schemas.openxmlformats.org/officeDocument/2006/relationships/image" Target="../media/image48.png"/><Relationship Id="rId15" Type="http://schemas.openxmlformats.org/officeDocument/2006/relationships/image" Target="../media/image71.png"/><Relationship Id="rId10" Type="http://schemas.openxmlformats.org/officeDocument/2006/relationships/image" Target="../media/image67.png"/><Relationship Id="rId4" Type="http://schemas.openxmlformats.org/officeDocument/2006/relationships/image" Target="../media/image2.png"/><Relationship Id="rId9" Type="http://schemas.openxmlformats.org/officeDocument/2006/relationships/image" Target="../media/image21.png"/><Relationship Id="rId1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18" Type="http://schemas.openxmlformats.org/officeDocument/2006/relationships/image" Target="../media/image84.png"/><Relationship Id="rId3" Type="http://schemas.openxmlformats.org/officeDocument/2006/relationships/image" Target="../media/image1.png"/><Relationship Id="rId21" Type="http://schemas.openxmlformats.org/officeDocument/2006/relationships/image" Target="../media/image87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2.png"/><Relationship Id="rId20" Type="http://schemas.openxmlformats.org/officeDocument/2006/relationships/image" Target="../media/image8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48.png"/><Relationship Id="rId15" Type="http://schemas.openxmlformats.org/officeDocument/2006/relationships/image" Target="../media/image81.png"/><Relationship Id="rId10" Type="http://schemas.openxmlformats.org/officeDocument/2006/relationships/image" Target="../media/image76.png"/><Relationship Id="rId19" Type="http://schemas.openxmlformats.org/officeDocument/2006/relationships/image" Target="../media/image85.png"/><Relationship Id="rId4" Type="http://schemas.openxmlformats.org/officeDocument/2006/relationships/image" Target="../media/image2.png"/><Relationship Id="rId9" Type="http://schemas.openxmlformats.org/officeDocument/2006/relationships/image" Target="../media/image75.png"/><Relationship Id="rId14" Type="http://schemas.openxmlformats.org/officeDocument/2006/relationships/image" Target="../media/image80.png"/><Relationship Id="rId22" Type="http://schemas.openxmlformats.org/officeDocument/2006/relationships/image" Target="../media/image8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5.png"/><Relationship Id="rId3" Type="http://schemas.openxmlformats.org/officeDocument/2006/relationships/image" Target="../media/image89.png"/><Relationship Id="rId7" Type="http://schemas.openxmlformats.org/officeDocument/2006/relationships/image" Target="../media/image65.png"/><Relationship Id="rId12" Type="http://schemas.openxmlformats.org/officeDocument/2006/relationships/image" Target="../media/image9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9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0.png"/><Relationship Id="rId11" Type="http://schemas.openxmlformats.org/officeDocument/2006/relationships/image" Target="../media/image93.png"/><Relationship Id="rId5" Type="http://schemas.openxmlformats.org/officeDocument/2006/relationships/image" Target="../media/image48.png"/><Relationship Id="rId15" Type="http://schemas.openxmlformats.org/officeDocument/2006/relationships/image" Target="../media/image97.png"/><Relationship Id="rId10" Type="http://schemas.openxmlformats.org/officeDocument/2006/relationships/image" Target="../media/image92.png"/><Relationship Id="rId4" Type="http://schemas.openxmlformats.org/officeDocument/2006/relationships/image" Target="../media/image2.png"/><Relationship Id="rId9" Type="http://schemas.openxmlformats.org/officeDocument/2006/relationships/image" Target="../media/image21.png"/><Relationship Id="rId14" Type="http://schemas.openxmlformats.org/officeDocument/2006/relationships/image" Target="../media/image9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18" Type="http://schemas.openxmlformats.org/officeDocument/2006/relationships/image" Target="../media/image110.png"/><Relationship Id="rId26" Type="http://schemas.openxmlformats.org/officeDocument/2006/relationships/image" Target="../media/image8.png"/><Relationship Id="rId3" Type="http://schemas.openxmlformats.org/officeDocument/2006/relationships/image" Target="../media/image1.png"/><Relationship Id="rId21" Type="http://schemas.openxmlformats.org/officeDocument/2006/relationships/image" Target="../media/image113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17" Type="http://schemas.openxmlformats.org/officeDocument/2006/relationships/image" Target="../media/image109.png"/><Relationship Id="rId25" Type="http://schemas.openxmlformats.org/officeDocument/2006/relationships/image" Target="../media/image11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08.png"/><Relationship Id="rId20" Type="http://schemas.openxmlformats.org/officeDocument/2006/relationships/image" Target="../media/image1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24" Type="http://schemas.openxmlformats.org/officeDocument/2006/relationships/image" Target="../media/image116.png"/><Relationship Id="rId5" Type="http://schemas.openxmlformats.org/officeDocument/2006/relationships/image" Target="../media/image48.png"/><Relationship Id="rId15" Type="http://schemas.openxmlformats.org/officeDocument/2006/relationships/image" Target="../media/image55.png"/><Relationship Id="rId23" Type="http://schemas.openxmlformats.org/officeDocument/2006/relationships/image" Target="../media/image115.png"/><Relationship Id="rId10" Type="http://schemas.openxmlformats.org/officeDocument/2006/relationships/image" Target="../media/image103.png"/><Relationship Id="rId19" Type="http://schemas.openxmlformats.org/officeDocument/2006/relationships/image" Target="../media/image111.png"/><Relationship Id="rId4" Type="http://schemas.openxmlformats.org/officeDocument/2006/relationships/image" Target="../media/image2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Relationship Id="rId22" Type="http://schemas.openxmlformats.org/officeDocument/2006/relationships/image" Target="../media/image114.png"/><Relationship Id="rId27" Type="http://schemas.openxmlformats.org/officeDocument/2006/relationships/image" Target="../media/image1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png"/><Relationship Id="rId3" Type="http://schemas.openxmlformats.org/officeDocument/2006/relationships/image" Target="../media/image1.png"/><Relationship Id="rId7" Type="http://schemas.openxmlformats.org/officeDocument/2006/relationships/image" Target="../media/image122.png"/><Relationship Id="rId12" Type="http://schemas.openxmlformats.org/officeDocument/2006/relationships/image" Target="../media/image1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5" Type="http://schemas.openxmlformats.org/officeDocument/2006/relationships/image" Target="../media/image120.png"/><Relationship Id="rId10" Type="http://schemas.openxmlformats.org/officeDocument/2006/relationships/image" Target="../media/image125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.png"/><Relationship Id="rId7" Type="http://schemas.openxmlformats.org/officeDocument/2006/relationships/image" Target="../media/image129.png"/><Relationship Id="rId12" Type="http://schemas.openxmlformats.org/officeDocument/2006/relationships/image" Target="../media/image1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1.png"/><Relationship Id="rId11" Type="http://schemas.openxmlformats.org/officeDocument/2006/relationships/image" Target="../media/image133.png"/><Relationship Id="rId5" Type="http://schemas.openxmlformats.org/officeDocument/2006/relationships/image" Target="../media/image120.png"/><Relationship Id="rId10" Type="http://schemas.openxmlformats.org/officeDocument/2006/relationships/image" Target="../media/image132.png"/><Relationship Id="rId4" Type="http://schemas.openxmlformats.org/officeDocument/2006/relationships/image" Target="../media/image119.png"/><Relationship Id="rId9" Type="http://schemas.openxmlformats.org/officeDocument/2006/relationships/image" Target="../media/image1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8.png"/><Relationship Id="rId13" Type="http://schemas.openxmlformats.org/officeDocument/2006/relationships/image" Target="../media/image143.png"/><Relationship Id="rId3" Type="http://schemas.openxmlformats.org/officeDocument/2006/relationships/image" Target="../media/image135.png"/><Relationship Id="rId7" Type="http://schemas.openxmlformats.org/officeDocument/2006/relationships/image" Target="../media/image121.png"/><Relationship Id="rId12" Type="http://schemas.openxmlformats.org/officeDocument/2006/relationships/image" Target="../media/image142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4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0.png"/><Relationship Id="rId11" Type="http://schemas.openxmlformats.org/officeDocument/2006/relationships/image" Target="../media/image141.png"/><Relationship Id="rId5" Type="http://schemas.openxmlformats.org/officeDocument/2006/relationships/image" Target="../media/image137.png"/><Relationship Id="rId15" Type="http://schemas.openxmlformats.org/officeDocument/2006/relationships/image" Target="../media/image144.png"/><Relationship Id="rId10" Type="http://schemas.openxmlformats.org/officeDocument/2006/relationships/image" Target="../media/image140.png"/><Relationship Id="rId4" Type="http://schemas.openxmlformats.org/officeDocument/2006/relationships/image" Target="../media/image136.png"/><Relationship Id="rId9" Type="http://schemas.openxmlformats.org/officeDocument/2006/relationships/image" Target="../media/image139.png"/><Relationship Id="rId14" Type="http://schemas.openxmlformats.org/officeDocument/2006/relationships/image" Target="../media/image1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152.png"/><Relationship Id="rId3" Type="http://schemas.openxmlformats.org/officeDocument/2006/relationships/image" Target="../media/image1.png"/><Relationship Id="rId7" Type="http://schemas.openxmlformats.org/officeDocument/2006/relationships/image" Target="../media/image147.png"/><Relationship Id="rId12" Type="http://schemas.openxmlformats.org/officeDocument/2006/relationships/image" Target="../media/image15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6.png"/><Relationship Id="rId11" Type="http://schemas.openxmlformats.org/officeDocument/2006/relationships/image" Target="../media/image150.png"/><Relationship Id="rId5" Type="http://schemas.openxmlformats.org/officeDocument/2006/relationships/image" Target="../media/image120.png"/><Relationship Id="rId10" Type="http://schemas.openxmlformats.org/officeDocument/2006/relationships/image" Target="../media/image149.png"/><Relationship Id="rId4" Type="http://schemas.openxmlformats.org/officeDocument/2006/relationships/image" Target="../media/image119.png"/><Relationship Id="rId9" Type="http://schemas.openxmlformats.org/officeDocument/2006/relationships/image" Target="../media/image148.png"/><Relationship Id="rId14" Type="http://schemas.openxmlformats.org/officeDocument/2006/relationships/image" Target="../media/image15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1.png"/><Relationship Id="rId7" Type="http://schemas.openxmlformats.org/officeDocument/2006/relationships/image" Target="../media/image15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1.png"/><Relationship Id="rId11" Type="http://schemas.openxmlformats.org/officeDocument/2006/relationships/image" Target="../media/image158.png"/><Relationship Id="rId5" Type="http://schemas.openxmlformats.org/officeDocument/2006/relationships/image" Target="../media/image120.png"/><Relationship Id="rId10" Type="http://schemas.openxmlformats.org/officeDocument/2006/relationships/image" Target="../media/image157.png"/><Relationship Id="rId4" Type="http://schemas.openxmlformats.org/officeDocument/2006/relationships/image" Target="../media/image119.png"/><Relationship Id="rId9" Type="http://schemas.openxmlformats.org/officeDocument/2006/relationships/image" Target="../media/image15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159.png"/><Relationship Id="rId7" Type="http://schemas.openxmlformats.org/officeDocument/2006/relationships/image" Target="../media/image162.png"/><Relationship Id="rId12" Type="http://schemas.openxmlformats.org/officeDocument/2006/relationships/image" Target="../media/image16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1.png"/><Relationship Id="rId11" Type="http://schemas.openxmlformats.org/officeDocument/2006/relationships/image" Target="../media/image166.png"/><Relationship Id="rId5" Type="http://schemas.openxmlformats.org/officeDocument/2006/relationships/image" Target="../media/image120.png"/><Relationship Id="rId10" Type="http://schemas.openxmlformats.org/officeDocument/2006/relationships/image" Target="../media/image165.png"/><Relationship Id="rId4" Type="http://schemas.openxmlformats.org/officeDocument/2006/relationships/image" Target="../media/image160.png"/><Relationship Id="rId9" Type="http://schemas.openxmlformats.org/officeDocument/2006/relationships/image" Target="../media/image16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image" Target="../media/image174.png"/><Relationship Id="rId18" Type="http://schemas.openxmlformats.org/officeDocument/2006/relationships/image" Target="../media/image179.png"/><Relationship Id="rId3" Type="http://schemas.openxmlformats.org/officeDocument/2006/relationships/image" Target="../media/image1.png"/><Relationship Id="rId21" Type="http://schemas.openxmlformats.org/officeDocument/2006/relationships/image" Target="../media/image182.png"/><Relationship Id="rId7" Type="http://schemas.openxmlformats.org/officeDocument/2006/relationships/image" Target="../media/image168.png"/><Relationship Id="rId12" Type="http://schemas.openxmlformats.org/officeDocument/2006/relationships/image" Target="../media/image173.png"/><Relationship Id="rId17" Type="http://schemas.openxmlformats.org/officeDocument/2006/relationships/image" Target="../media/image178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77.png"/><Relationship Id="rId20" Type="http://schemas.openxmlformats.org/officeDocument/2006/relationships/image" Target="../media/image18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1.png"/><Relationship Id="rId11" Type="http://schemas.openxmlformats.org/officeDocument/2006/relationships/image" Target="../media/image172.png"/><Relationship Id="rId5" Type="http://schemas.openxmlformats.org/officeDocument/2006/relationships/image" Target="../media/image120.png"/><Relationship Id="rId15" Type="http://schemas.openxmlformats.org/officeDocument/2006/relationships/image" Target="../media/image176.png"/><Relationship Id="rId10" Type="http://schemas.openxmlformats.org/officeDocument/2006/relationships/image" Target="../media/image171.png"/><Relationship Id="rId19" Type="http://schemas.openxmlformats.org/officeDocument/2006/relationships/image" Target="../media/image180.png"/><Relationship Id="rId4" Type="http://schemas.openxmlformats.org/officeDocument/2006/relationships/image" Target="../media/image119.png"/><Relationship Id="rId9" Type="http://schemas.openxmlformats.org/officeDocument/2006/relationships/image" Target="../media/image170.png"/><Relationship Id="rId14" Type="http://schemas.openxmlformats.org/officeDocument/2006/relationships/image" Target="../media/image175.png"/><Relationship Id="rId22" Type="http://schemas.openxmlformats.org/officeDocument/2006/relationships/image" Target="../media/image16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image" Target="../media/image183.png"/><Relationship Id="rId7" Type="http://schemas.openxmlformats.org/officeDocument/2006/relationships/image" Target="../media/image18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5.png"/><Relationship Id="rId5" Type="http://schemas.openxmlformats.org/officeDocument/2006/relationships/image" Target="../media/image120.png"/><Relationship Id="rId4" Type="http://schemas.openxmlformats.org/officeDocument/2006/relationships/image" Target="../media/image184.png"/><Relationship Id="rId9" Type="http://schemas.openxmlformats.org/officeDocument/2006/relationships/image" Target="../media/image1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6"/>
            <a:ext cx="11879263" cy="11136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8969" y="3178971"/>
            <a:ext cx="742454" cy="74245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1382" y="3364585"/>
            <a:ext cx="417630" cy="37122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8404" y="3178971"/>
            <a:ext cx="742454" cy="74245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30817" y="3364585"/>
            <a:ext cx="417630" cy="37122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7839" y="3178971"/>
            <a:ext cx="742454" cy="74245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2014" y="3364585"/>
            <a:ext cx="334104" cy="371227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" y="6167349"/>
            <a:ext cx="11879263" cy="593963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43455" y="6390085"/>
            <a:ext cx="167052" cy="129929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1979988" y="1731187"/>
            <a:ext cx="7919141" cy="5568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4384"/>
              </a:lnSpc>
            </a:pPr>
            <a:r>
              <a:rPr lang="en-US" sz="438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CloudFormation</a:t>
            </a:r>
            <a:endParaRPr lang="en-US" sz="4384" dirty="0"/>
          </a:p>
        </p:txBody>
      </p:sp>
      <p:sp>
        <p:nvSpPr>
          <p:cNvPr id="14" name="Text 1"/>
          <p:cNvSpPr/>
          <p:nvPr/>
        </p:nvSpPr>
        <p:spPr>
          <a:xfrm>
            <a:off x="3876711" y="2436517"/>
            <a:ext cx="4125840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338"/>
              </a:lnSpc>
            </a:pPr>
            <a:r>
              <a:rPr lang="en-US" sz="1754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Infrastructure as Code for AWS</a:t>
            </a:r>
            <a:endParaRPr lang="en-US" sz="1754" dirty="0"/>
          </a:p>
        </p:txBody>
      </p:sp>
      <p:sp>
        <p:nvSpPr>
          <p:cNvPr id="15" name="Text 2"/>
          <p:cNvSpPr/>
          <p:nvPr/>
        </p:nvSpPr>
        <p:spPr>
          <a:xfrm>
            <a:off x="2660886" y="4366898"/>
            <a:ext cx="655749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Transform your AWS infrastructure management with code</a:t>
            </a:r>
            <a:endParaRPr lang="en-US" sz="1461" dirty="0"/>
          </a:p>
        </p:txBody>
      </p:sp>
      <p:sp>
        <p:nvSpPr>
          <p:cNvPr id="16" name="Text 3"/>
          <p:cNvSpPr/>
          <p:nvPr/>
        </p:nvSpPr>
        <p:spPr>
          <a:xfrm>
            <a:off x="598169" y="6390085"/>
            <a:ext cx="1367913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endParaRPr lang="en-US" sz="102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6"/>
            <a:ext cx="11879263" cy="712755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192907"/>
            <a:ext cx="742454" cy="3712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1452766"/>
            <a:ext cx="10691336" cy="159627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3271778"/>
            <a:ext cx="5234300" cy="204174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9576" y="3457392"/>
            <a:ext cx="371227" cy="37122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944" y="3568760"/>
            <a:ext cx="148491" cy="14849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9576" y="3977109"/>
            <a:ext cx="148491" cy="14849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9576" y="4274091"/>
            <a:ext cx="148491" cy="14849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9576" y="4571072"/>
            <a:ext cx="148491" cy="14849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9576" y="4868054"/>
            <a:ext cx="148491" cy="14849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50999" y="3271778"/>
            <a:ext cx="5234300" cy="2041748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36613" y="3457392"/>
            <a:ext cx="371227" cy="371227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9420" y="3568760"/>
            <a:ext cx="185613" cy="14849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36612" y="3977109"/>
            <a:ext cx="148491" cy="148491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36612" y="4274091"/>
            <a:ext cx="148491" cy="14849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36612" y="4571072"/>
            <a:ext cx="148491" cy="148491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36612" y="4868054"/>
            <a:ext cx="148491" cy="148491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3963" y="5981735"/>
            <a:ext cx="2672834" cy="705331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5331" y="6130226"/>
            <a:ext cx="129929" cy="148491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66797" y="5981735"/>
            <a:ext cx="2672834" cy="705331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78165" y="6130226"/>
            <a:ext cx="148491" cy="14849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39631" y="5981735"/>
            <a:ext cx="2672834" cy="705331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50999" y="6130226"/>
            <a:ext cx="148491" cy="148491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12465" y="5981735"/>
            <a:ext cx="2672834" cy="705331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23833" y="6130226"/>
            <a:ext cx="185613" cy="148491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593963" y="673190"/>
            <a:ext cx="12829604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507"/>
              </a:lnSpc>
            </a:pPr>
            <a:r>
              <a:rPr lang="en-US" sz="3507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Infrastructure as Code Solution</a:t>
            </a:r>
            <a:endParaRPr lang="en-US" sz="3507" dirty="0"/>
          </a:p>
        </p:txBody>
      </p:sp>
      <p:sp>
        <p:nvSpPr>
          <p:cNvPr id="29" name="Text 1"/>
          <p:cNvSpPr/>
          <p:nvPr/>
        </p:nvSpPr>
        <p:spPr>
          <a:xfrm>
            <a:off x="742454" y="1601257"/>
            <a:ext cx="10394355" cy="77957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Infrastructure as Code (IaC)</a:t>
            </a: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is a methodology that involves managing and provisioning computing infrastructure through machine-readable definition files, rather than through manual hardware configuration or interactive configuration tools.</a:t>
            </a:r>
            <a:endParaRPr lang="en-US" sz="1315" dirty="0"/>
          </a:p>
        </p:txBody>
      </p:sp>
      <p:sp>
        <p:nvSpPr>
          <p:cNvPr id="30" name="Text 2"/>
          <p:cNvSpPr/>
          <p:nvPr/>
        </p:nvSpPr>
        <p:spPr>
          <a:xfrm>
            <a:off x="742454" y="2455079"/>
            <a:ext cx="10394355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 defined by Red Hat: "Infrastructure as Code (IaC) is the managing and provisioning of infrastructure through code instead of manual processes."</a:t>
            </a:r>
            <a:endParaRPr lang="en-US" sz="1169" dirty="0"/>
          </a:p>
        </p:txBody>
      </p:sp>
      <p:sp>
        <p:nvSpPr>
          <p:cNvPr id="31" name="Text 3"/>
          <p:cNvSpPr/>
          <p:nvPr/>
        </p:nvSpPr>
        <p:spPr>
          <a:xfrm>
            <a:off x="1262172" y="3513076"/>
            <a:ext cx="218838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Manual Approach</a:t>
            </a:r>
            <a:endParaRPr lang="en-US" sz="1461" dirty="0"/>
          </a:p>
        </p:txBody>
      </p:sp>
      <p:sp>
        <p:nvSpPr>
          <p:cNvPr id="32" name="Text 4"/>
          <p:cNvSpPr/>
          <p:nvPr/>
        </p:nvSpPr>
        <p:spPr>
          <a:xfrm>
            <a:off x="1002313" y="3939987"/>
            <a:ext cx="343779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Time-consuming manual configuration</a:t>
            </a:r>
            <a:endParaRPr lang="en-US" sz="1169" dirty="0"/>
          </a:p>
        </p:txBody>
      </p:sp>
      <p:sp>
        <p:nvSpPr>
          <p:cNvPr id="33" name="Text 5"/>
          <p:cNvSpPr/>
          <p:nvPr/>
        </p:nvSpPr>
        <p:spPr>
          <a:xfrm>
            <a:off x="1002313" y="4236968"/>
            <a:ext cx="217968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High risk of human error</a:t>
            </a:r>
            <a:endParaRPr lang="en-US" sz="1169" dirty="0"/>
          </a:p>
        </p:txBody>
      </p:sp>
      <p:sp>
        <p:nvSpPr>
          <p:cNvPr id="34" name="Text 6"/>
          <p:cNvSpPr/>
          <p:nvPr/>
        </p:nvSpPr>
        <p:spPr>
          <a:xfrm>
            <a:off x="1002312" y="4533950"/>
            <a:ext cx="224023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Difficult to track changes</a:t>
            </a:r>
            <a:endParaRPr lang="en-US" sz="1169" dirty="0"/>
          </a:p>
        </p:txBody>
      </p:sp>
      <p:sp>
        <p:nvSpPr>
          <p:cNvPr id="35" name="Text 7"/>
          <p:cNvSpPr/>
          <p:nvPr/>
        </p:nvSpPr>
        <p:spPr>
          <a:xfrm>
            <a:off x="1002313" y="4830932"/>
            <a:ext cx="240781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Environment inconsistency</a:t>
            </a:r>
            <a:endParaRPr lang="en-US" sz="1169" dirty="0"/>
          </a:p>
        </p:txBody>
      </p:sp>
      <p:sp>
        <p:nvSpPr>
          <p:cNvPr id="36" name="Text 8"/>
          <p:cNvSpPr/>
          <p:nvPr/>
        </p:nvSpPr>
        <p:spPr>
          <a:xfrm>
            <a:off x="6719208" y="3513076"/>
            <a:ext cx="282892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Infrastructure as Code</a:t>
            </a:r>
            <a:endParaRPr lang="en-US" sz="1461" dirty="0"/>
          </a:p>
        </p:txBody>
      </p:sp>
      <p:sp>
        <p:nvSpPr>
          <p:cNvPr id="37" name="Text 9"/>
          <p:cNvSpPr/>
          <p:nvPr/>
        </p:nvSpPr>
        <p:spPr>
          <a:xfrm>
            <a:off x="6459349" y="3939987"/>
            <a:ext cx="246401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Code-defined infrastructure</a:t>
            </a:r>
            <a:endParaRPr lang="en-US" sz="1169" dirty="0"/>
          </a:p>
        </p:txBody>
      </p:sp>
      <p:sp>
        <p:nvSpPr>
          <p:cNvPr id="38" name="Text 10"/>
          <p:cNvSpPr/>
          <p:nvPr/>
        </p:nvSpPr>
        <p:spPr>
          <a:xfrm>
            <a:off x="6459349" y="4236968"/>
            <a:ext cx="284806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Version-controlled configuration</a:t>
            </a:r>
            <a:endParaRPr lang="en-US" sz="1169" dirty="0"/>
          </a:p>
        </p:txBody>
      </p:sp>
      <p:sp>
        <p:nvSpPr>
          <p:cNvPr id="39" name="Text 11"/>
          <p:cNvSpPr/>
          <p:nvPr/>
        </p:nvSpPr>
        <p:spPr>
          <a:xfrm>
            <a:off x="6459349" y="4533950"/>
            <a:ext cx="213200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Automated provisioning</a:t>
            </a:r>
            <a:endParaRPr lang="en-US" sz="1169" dirty="0"/>
          </a:p>
        </p:txBody>
      </p:sp>
      <p:sp>
        <p:nvSpPr>
          <p:cNvPr id="40" name="Text 12"/>
          <p:cNvSpPr/>
          <p:nvPr/>
        </p:nvSpPr>
        <p:spPr>
          <a:xfrm>
            <a:off x="6459349" y="4830932"/>
            <a:ext cx="222823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Consistent environments</a:t>
            </a:r>
            <a:endParaRPr lang="en-US" sz="1169" dirty="0"/>
          </a:p>
        </p:txBody>
      </p:sp>
      <p:sp>
        <p:nvSpPr>
          <p:cNvPr id="41" name="Text 13"/>
          <p:cNvSpPr/>
          <p:nvPr/>
        </p:nvSpPr>
        <p:spPr>
          <a:xfrm>
            <a:off x="593963" y="5610508"/>
            <a:ext cx="1069133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Characteristics:</a:t>
            </a:r>
            <a:endParaRPr lang="en-US" sz="1461" dirty="0"/>
          </a:p>
        </p:txBody>
      </p:sp>
      <p:sp>
        <p:nvSpPr>
          <p:cNvPr id="42" name="Text 14"/>
          <p:cNvSpPr/>
          <p:nvPr/>
        </p:nvSpPr>
        <p:spPr>
          <a:xfrm>
            <a:off x="909506" y="6093103"/>
            <a:ext cx="114709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Declarative</a:t>
            </a:r>
            <a:endParaRPr lang="en-US" sz="1169" dirty="0"/>
          </a:p>
        </p:txBody>
      </p:sp>
      <p:sp>
        <p:nvSpPr>
          <p:cNvPr id="43" name="Text 15"/>
          <p:cNvSpPr/>
          <p:nvPr/>
        </p:nvSpPr>
        <p:spPr>
          <a:xfrm>
            <a:off x="705331" y="6390085"/>
            <a:ext cx="2940117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Describe desired state</a:t>
            </a:r>
            <a:endParaRPr lang="en-US" sz="1023" dirty="0"/>
          </a:p>
        </p:txBody>
      </p:sp>
      <p:sp>
        <p:nvSpPr>
          <p:cNvPr id="44" name="Text 16"/>
          <p:cNvSpPr/>
          <p:nvPr/>
        </p:nvSpPr>
        <p:spPr>
          <a:xfrm>
            <a:off x="3600901" y="6093103"/>
            <a:ext cx="155201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Version Control</a:t>
            </a:r>
            <a:endParaRPr lang="en-US" sz="1169" dirty="0"/>
          </a:p>
        </p:txBody>
      </p:sp>
      <p:sp>
        <p:nvSpPr>
          <p:cNvPr id="45" name="Text 17"/>
          <p:cNvSpPr/>
          <p:nvPr/>
        </p:nvSpPr>
        <p:spPr>
          <a:xfrm>
            <a:off x="3378165" y="6390085"/>
            <a:ext cx="2940117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Track changes like code</a:t>
            </a:r>
            <a:endParaRPr lang="en-US" sz="1023" dirty="0"/>
          </a:p>
        </p:txBody>
      </p:sp>
      <p:sp>
        <p:nvSpPr>
          <p:cNvPr id="46" name="Text 18"/>
          <p:cNvSpPr/>
          <p:nvPr/>
        </p:nvSpPr>
        <p:spPr>
          <a:xfrm>
            <a:off x="6273736" y="6093103"/>
            <a:ext cx="116849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Idempotent</a:t>
            </a:r>
            <a:endParaRPr lang="en-US" sz="1169" dirty="0"/>
          </a:p>
        </p:txBody>
      </p:sp>
      <p:sp>
        <p:nvSpPr>
          <p:cNvPr id="47" name="Text 19"/>
          <p:cNvSpPr/>
          <p:nvPr/>
        </p:nvSpPr>
        <p:spPr>
          <a:xfrm>
            <a:off x="6050999" y="6390085"/>
            <a:ext cx="2940117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Apply safely multiple times</a:t>
            </a:r>
            <a:endParaRPr lang="en-US" sz="1023" dirty="0"/>
          </a:p>
        </p:txBody>
      </p:sp>
      <p:sp>
        <p:nvSpPr>
          <p:cNvPr id="48" name="Text 20"/>
          <p:cNvSpPr/>
          <p:nvPr/>
        </p:nvSpPr>
        <p:spPr>
          <a:xfrm>
            <a:off x="8983692" y="6093103"/>
            <a:ext cx="83978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Testable</a:t>
            </a:r>
            <a:endParaRPr lang="en-US" sz="1169" dirty="0"/>
          </a:p>
        </p:txBody>
      </p:sp>
      <p:sp>
        <p:nvSpPr>
          <p:cNvPr id="49" name="Text 21"/>
          <p:cNvSpPr/>
          <p:nvPr/>
        </p:nvSpPr>
        <p:spPr>
          <a:xfrm>
            <a:off x="8723833" y="6390085"/>
            <a:ext cx="2940117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 testing</a:t>
            </a:r>
            <a:endParaRPr lang="en-US" sz="1023" dirty="0"/>
          </a:p>
        </p:txBody>
      </p:sp>
      <p:sp>
        <p:nvSpPr>
          <p:cNvPr id="51" name="Text 23"/>
          <p:cNvSpPr/>
          <p:nvPr/>
        </p:nvSpPr>
        <p:spPr>
          <a:xfrm>
            <a:off x="10652183" y="6914783"/>
            <a:ext cx="75973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1118662"/>
            <a:ext cx="742454" cy="3712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927" y="2148817"/>
            <a:ext cx="464034" cy="46403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104" y="2250904"/>
            <a:ext cx="185613" cy="25985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6417" y="2083852"/>
            <a:ext cx="2375853" cy="59396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60760" y="2083852"/>
            <a:ext cx="2375853" cy="593963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5103" y="2083852"/>
            <a:ext cx="2375853" cy="593963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09446" y="2083852"/>
            <a:ext cx="2375853" cy="593963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8927" y="2891270"/>
            <a:ext cx="464034" cy="46403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9650" y="2993358"/>
            <a:ext cx="232017" cy="259859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6417" y="2826306"/>
            <a:ext cx="2375853" cy="593963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60760" y="2826306"/>
            <a:ext cx="2375853" cy="593963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5103" y="2826306"/>
            <a:ext cx="2375853" cy="593963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09446" y="2826306"/>
            <a:ext cx="2375853" cy="593963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927" y="3633724"/>
            <a:ext cx="464034" cy="464034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8648" y="3735812"/>
            <a:ext cx="185613" cy="259859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6417" y="3568760"/>
            <a:ext cx="2375853" cy="593963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60760" y="3568760"/>
            <a:ext cx="2375853" cy="593963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5103" y="3568760"/>
            <a:ext cx="2375853" cy="593963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09446" y="3568760"/>
            <a:ext cx="2375853" cy="593963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927" y="4376178"/>
            <a:ext cx="464034" cy="464034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7449" y="4478266"/>
            <a:ext cx="167052" cy="259859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6417" y="4311214"/>
            <a:ext cx="2375853" cy="593963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60760" y="4311214"/>
            <a:ext cx="2375853" cy="593963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5103" y="4311214"/>
            <a:ext cx="2375853" cy="593963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09446" y="4311214"/>
            <a:ext cx="2375853" cy="593963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8927" y="5118632"/>
            <a:ext cx="464034" cy="464034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7394" y="5220720"/>
            <a:ext cx="167052" cy="259859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36417" y="5053668"/>
            <a:ext cx="2375853" cy="593963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60760" y="5053668"/>
            <a:ext cx="2375853" cy="593963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385103" y="5053668"/>
            <a:ext cx="2375853" cy="593963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909446" y="5053668"/>
            <a:ext cx="2375853" cy="593963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593963" y="673190"/>
            <a:ext cx="1282960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Services Across Environments</a:t>
            </a:r>
            <a:endParaRPr lang="en-US" sz="2631" dirty="0"/>
          </a:p>
        </p:txBody>
      </p:sp>
      <p:sp>
        <p:nvSpPr>
          <p:cNvPr id="36" name="Text 1"/>
          <p:cNvSpPr/>
          <p:nvPr/>
        </p:nvSpPr>
        <p:spPr>
          <a:xfrm>
            <a:off x="593963" y="1378521"/>
            <a:ext cx="1282960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same set of core AWS services is deployed across all SDLC environments, ensuring a uniform foundation from development to production.</a:t>
            </a:r>
            <a:endParaRPr lang="en-US" sz="1169" dirty="0"/>
          </a:p>
        </p:txBody>
      </p:sp>
      <p:sp>
        <p:nvSpPr>
          <p:cNvPr id="37" name="Text 2"/>
          <p:cNvSpPr/>
          <p:nvPr/>
        </p:nvSpPr>
        <p:spPr>
          <a:xfrm>
            <a:off x="593963" y="1749748"/>
            <a:ext cx="267283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046"/>
              </a:lnSpc>
            </a:pPr>
            <a:r>
              <a:rPr lang="en-US" sz="1315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Development</a:t>
            </a:r>
            <a:endParaRPr lang="en-US" sz="1315" dirty="0"/>
          </a:p>
        </p:txBody>
      </p:sp>
      <p:sp>
        <p:nvSpPr>
          <p:cNvPr id="38" name="Text 3"/>
          <p:cNvSpPr/>
          <p:nvPr/>
        </p:nvSpPr>
        <p:spPr>
          <a:xfrm>
            <a:off x="3266797" y="1749748"/>
            <a:ext cx="267283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046"/>
              </a:lnSpc>
            </a:pPr>
            <a:r>
              <a:rPr lang="en-US" sz="1315" b="1" dirty="0">
                <a:solidFill>
                  <a:srgbClr val="A1620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QA/Testing</a:t>
            </a:r>
            <a:endParaRPr lang="en-US" sz="1315" dirty="0"/>
          </a:p>
        </p:txBody>
      </p:sp>
      <p:sp>
        <p:nvSpPr>
          <p:cNvPr id="39" name="Text 4"/>
          <p:cNvSpPr/>
          <p:nvPr/>
        </p:nvSpPr>
        <p:spPr>
          <a:xfrm>
            <a:off x="5939631" y="1749748"/>
            <a:ext cx="267283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046"/>
              </a:lnSpc>
            </a:pPr>
            <a:r>
              <a:rPr lang="en-US" sz="1315" b="1" dirty="0">
                <a:solidFill>
                  <a:srgbClr val="7E22C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UAT</a:t>
            </a:r>
            <a:endParaRPr lang="en-US" sz="1315" dirty="0"/>
          </a:p>
        </p:txBody>
      </p:sp>
      <p:sp>
        <p:nvSpPr>
          <p:cNvPr id="40" name="Text 5"/>
          <p:cNvSpPr/>
          <p:nvPr/>
        </p:nvSpPr>
        <p:spPr>
          <a:xfrm>
            <a:off x="8612465" y="1749748"/>
            <a:ext cx="267283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046"/>
              </a:lnSpc>
            </a:pPr>
            <a:r>
              <a:rPr lang="en-US" sz="1315" b="1" dirty="0">
                <a:solidFill>
                  <a:srgbClr val="B91C1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Production</a:t>
            </a:r>
            <a:endParaRPr lang="en-US" sz="1315" dirty="0"/>
          </a:p>
        </p:txBody>
      </p:sp>
      <p:sp>
        <p:nvSpPr>
          <p:cNvPr id="41" name="Text 6"/>
          <p:cNvSpPr/>
          <p:nvPr/>
        </p:nvSpPr>
        <p:spPr>
          <a:xfrm>
            <a:off x="810059" y="2288027"/>
            <a:ext cx="329580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>
              <a:lnSpc>
                <a:spcPts val="1461"/>
              </a:lnSpc>
            </a:pPr>
            <a:r>
              <a:rPr lang="en-US" sz="1023" b="1" dirty="0">
                <a:solidFill>
                  <a:srgbClr val="1D4ED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EC2</a:t>
            </a:r>
            <a:endParaRPr lang="en-US" sz="1023" dirty="0"/>
          </a:p>
        </p:txBody>
      </p:sp>
      <p:sp>
        <p:nvSpPr>
          <p:cNvPr id="42" name="Text 7"/>
          <p:cNvSpPr/>
          <p:nvPr/>
        </p:nvSpPr>
        <p:spPr>
          <a:xfrm>
            <a:off x="2038848" y="2269466"/>
            <a:ext cx="116501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EC2 Instance</a:t>
            </a:r>
            <a:endParaRPr lang="en-US" sz="1169" dirty="0"/>
          </a:p>
        </p:txBody>
      </p:sp>
      <p:sp>
        <p:nvSpPr>
          <p:cNvPr id="43" name="Text 8"/>
          <p:cNvSpPr/>
          <p:nvPr/>
        </p:nvSpPr>
        <p:spPr>
          <a:xfrm>
            <a:off x="4563191" y="2269466"/>
            <a:ext cx="116501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854D0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EC2 Instance</a:t>
            </a:r>
            <a:endParaRPr lang="en-US" sz="1169" dirty="0"/>
          </a:p>
        </p:txBody>
      </p:sp>
      <p:sp>
        <p:nvSpPr>
          <p:cNvPr id="44" name="Text 9"/>
          <p:cNvSpPr/>
          <p:nvPr/>
        </p:nvSpPr>
        <p:spPr>
          <a:xfrm>
            <a:off x="7087535" y="2269466"/>
            <a:ext cx="116501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EC2 Instance</a:t>
            </a:r>
            <a:endParaRPr lang="en-US" sz="1169" dirty="0"/>
          </a:p>
        </p:txBody>
      </p:sp>
      <p:sp>
        <p:nvSpPr>
          <p:cNvPr id="45" name="Text 10"/>
          <p:cNvSpPr/>
          <p:nvPr/>
        </p:nvSpPr>
        <p:spPr>
          <a:xfrm>
            <a:off x="9611878" y="2269466"/>
            <a:ext cx="116501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991B1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EC2 Instance</a:t>
            </a:r>
            <a:endParaRPr lang="en-US" sz="1169" dirty="0"/>
          </a:p>
        </p:txBody>
      </p:sp>
      <p:sp>
        <p:nvSpPr>
          <p:cNvPr id="46" name="Text 11"/>
          <p:cNvSpPr/>
          <p:nvPr/>
        </p:nvSpPr>
        <p:spPr>
          <a:xfrm>
            <a:off x="619863" y="3030481"/>
            <a:ext cx="695528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>
              <a:lnSpc>
                <a:spcPts val="1461"/>
              </a:lnSpc>
            </a:pPr>
            <a:r>
              <a:rPr lang="en-US" sz="1023" b="1" dirty="0">
                <a:solidFill>
                  <a:srgbClr val="A1620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Lambda</a:t>
            </a:r>
            <a:endParaRPr lang="en-US" sz="1023" dirty="0"/>
          </a:p>
        </p:txBody>
      </p:sp>
      <p:sp>
        <p:nvSpPr>
          <p:cNvPr id="47" name="Text 12"/>
          <p:cNvSpPr/>
          <p:nvPr/>
        </p:nvSpPr>
        <p:spPr>
          <a:xfrm>
            <a:off x="1886008" y="3011919"/>
            <a:ext cx="153200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Lambda Function</a:t>
            </a:r>
            <a:endParaRPr lang="en-US" sz="1169" dirty="0"/>
          </a:p>
        </p:txBody>
      </p:sp>
      <p:sp>
        <p:nvSpPr>
          <p:cNvPr id="48" name="Text 13"/>
          <p:cNvSpPr/>
          <p:nvPr/>
        </p:nvSpPr>
        <p:spPr>
          <a:xfrm>
            <a:off x="4410351" y="3011919"/>
            <a:ext cx="153200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854D0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Lambda Function</a:t>
            </a:r>
            <a:endParaRPr lang="en-US" sz="1169" dirty="0"/>
          </a:p>
        </p:txBody>
      </p:sp>
      <p:sp>
        <p:nvSpPr>
          <p:cNvPr id="49" name="Text 14"/>
          <p:cNvSpPr/>
          <p:nvPr/>
        </p:nvSpPr>
        <p:spPr>
          <a:xfrm>
            <a:off x="6934694" y="3011919"/>
            <a:ext cx="153200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Lambda Function</a:t>
            </a:r>
            <a:endParaRPr lang="en-US" sz="1169" dirty="0"/>
          </a:p>
        </p:txBody>
      </p:sp>
      <p:sp>
        <p:nvSpPr>
          <p:cNvPr id="50" name="Text 15"/>
          <p:cNvSpPr/>
          <p:nvPr/>
        </p:nvSpPr>
        <p:spPr>
          <a:xfrm>
            <a:off x="9459037" y="3011919"/>
            <a:ext cx="153200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991B1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Lambda Function</a:t>
            </a:r>
            <a:endParaRPr lang="en-US" sz="1169" dirty="0"/>
          </a:p>
        </p:txBody>
      </p:sp>
      <p:sp>
        <p:nvSpPr>
          <p:cNvPr id="51" name="Text 16"/>
          <p:cNvSpPr/>
          <p:nvPr/>
        </p:nvSpPr>
        <p:spPr>
          <a:xfrm>
            <a:off x="793991" y="3772935"/>
            <a:ext cx="357248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>
              <a:lnSpc>
                <a:spcPts val="1461"/>
              </a:lnSpc>
            </a:pPr>
            <a:r>
              <a:rPr lang="en-US" sz="1023" b="1" dirty="0">
                <a:solidFill>
                  <a:srgbClr val="7E22C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SQS</a:t>
            </a:r>
            <a:endParaRPr lang="en-US" sz="1023" dirty="0"/>
          </a:p>
        </p:txBody>
      </p:sp>
      <p:sp>
        <p:nvSpPr>
          <p:cNvPr id="52" name="Text 17"/>
          <p:cNvSpPr/>
          <p:nvPr/>
        </p:nvSpPr>
        <p:spPr>
          <a:xfrm>
            <a:off x="2104103" y="3754373"/>
            <a:ext cx="100857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SQS Queue</a:t>
            </a:r>
            <a:endParaRPr lang="en-US" sz="1169" dirty="0"/>
          </a:p>
        </p:txBody>
      </p:sp>
      <p:sp>
        <p:nvSpPr>
          <p:cNvPr id="53" name="Text 18"/>
          <p:cNvSpPr/>
          <p:nvPr/>
        </p:nvSpPr>
        <p:spPr>
          <a:xfrm>
            <a:off x="4628446" y="3754373"/>
            <a:ext cx="100857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854D0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SQS Queue</a:t>
            </a:r>
            <a:endParaRPr lang="en-US" sz="1169" dirty="0"/>
          </a:p>
        </p:txBody>
      </p:sp>
      <p:sp>
        <p:nvSpPr>
          <p:cNvPr id="54" name="Text 19"/>
          <p:cNvSpPr/>
          <p:nvPr/>
        </p:nvSpPr>
        <p:spPr>
          <a:xfrm>
            <a:off x="7152789" y="3754373"/>
            <a:ext cx="100857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SQS Queue</a:t>
            </a:r>
            <a:endParaRPr lang="en-US" sz="1169" dirty="0"/>
          </a:p>
        </p:txBody>
      </p:sp>
      <p:sp>
        <p:nvSpPr>
          <p:cNvPr id="55" name="Text 20"/>
          <p:cNvSpPr/>
          <p:nvPr/>
        </p:nvSpPr>
        <p:spPr>
          <a:xfrm>
            <a:off x="9677133" y="3754373"/>
            <a:ext cx="100857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991B1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SQS Queue</a:t>
            </a:r>
            <a:endParaRPr lang="en-US" sz="1169" dirty="0"/>
          </a:p>
        </p:txBody>
      </p:sp>
      <p:sp>
        <p:nvSpPr>
          <p:cNvPr id="56" name="Text 21"/>
          <p:cNvSpPr/>
          <p:nvPr/>
        </p:nvSpPr>
        <p:spPr>
          <a:xfrm>
            <a:off x="759977" y="4515389"/>
            <a:ext cx="355160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>
              <a:lnSpc>
                <a:spcPts val="1461"/>
              </a:lnSpc>
            </a:pPr>
            <a:r>
              <a:rPr lang="en-US" sz="1023" b="1" dirty="0">
                <a:solidFill>
                  <a:srgbClr val="B91C1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SNS</a:t>
            </a:r>
            <a:endParaRPr lang="en-US" sz="1023" dirty="0"/>
          </a:p>
        </p:txBody>
      </p:sp>
      <p:sp>
        <p:nvSpPr>
          <p:cNvPr id="57" name="Text 22"/>
          <p:cNvSpPr/>
          <p:nvPr/>
        </p:nvSpPr>
        <p:spPr>
          <a:xfrm>
            <a:off x="2164137" y="4496827"/>
            <a:ext cx="86432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SNS Topic</a:t>
            </a:r>
            <a:endParaRPr lang="en-US" sz="1169" dirty="0"/>
          </a:p>
        </p:txBody>
      </p:sp>
      <p:sp>
        <p:nvSpPr>
          <p:cNvPr id="58" name="Text 23"/>
          <p:cNvSpPr/>
          <p:nvPr/>
        </p:nvSpPr>
        <p:spPr>
          <a:xfrm>
            <a:off x="4688481" y="4496827"/>
            <a:ext cx="86432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854D0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SNS Topic</a:t>
            </a:r>
            <a:endParaRPr lang="en-US" sz="1169" dirty="0"/>
          </a:p>
        </p:txBody>
      </p:sp>
      <p:sp>
        <p:nvSpPr>
          <p:cNvPr id="59" name="Text 24"/>
          <p:cNvSpPr/>
          <p:nvPr/>
        </p:nvSpPr>
        <p:spPr>
          <a:xfrm>
            <a:off x="7212824" y="4496827"/>
            <a:ext cx="86432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SNS Topic</a:t>
            </a:r>
            <a:endParaRPr lang="en-US" sz="1169" dirty="0"/>
          </a:p>
        </p:txBody>
      </p:sp>
      <p:sp>
        <p:nvSpPr>
          <p:cNvPr id="60" name="Text 25"/>
          <p:cNvSpPr/>
          <p:nvPr/>
        </p:nvSpPr>
        <p:spPr>
          <a:xfrm>
            <a:off x="9737167" y="4496827"/>
            <a:ext cx="86432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991B1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SNS Topic</a:t>
            </a:r>
            <a:endParaRPr lang="en-US" sz="1169" dirty="0"/>
          </a:p>
        </p:txBody>
      </p:sp>
      <p:sp>
        <p:nvSpPr>
          <p:cNvPr id="61" name="Text 26"/>
          <p:cNvSpPr/>
          <p:nvPr/>
        </p:nvSpPr>
        <p:spPr>
          <a:xfrm>
            <a:off x="782071" y="5257843"/>
            <a:ext cx="361772" cy="18561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r">
              <a:lnSpc>
                <a:spcPts val="1461"/>
              </a:lnSpc>
            </a:pPr>
            <a:r>
              <a:rPr lang="en-US" sz="1023" b="1" dirty="0">
                <a:solidFill>
                  <a:srgbClr val="15803D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RDS</a:t>
            </a:r>
            <a:endParaRPr lang="en-US" sz="1023" dirty="0"/>
          </a:p>
        </p:txBody>
      </p:sp>
      <p:sp>
        <p:nvSpPr>
          <p:cNvPr id="62" name="Text 27"/>
          <p:cNvSpPr/>
          <p:nvPr/>
        </p:nvSpPr>
        <p:spPr>
          <a:xfrm>
            <a:off x="1990560" y="5239281"/>
            <a:ext cx="128108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166534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RDS Database</a:t>
            </a:r>
            <a:endParaRPr lang="en-US" sz="1169" dirty="0"/>
          </a:p>
        </p:txBody>
      </p:sp>
      <p:sp>
        <p:nvSpPr>
          <p:cNvPr id="63" name="Text 28"/>
          <p:cNvSpPr/>
          <p:nvPr/>
        </p:nvSpPr>
        <p:spPr>
          <a:xfrm>
            <a:off x="4514903" y="5239281"/>
            <a:ext cx="128108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854D0E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RDS Database</a:t>
            </a:r>
            <a:endParaRPr lang="en-US" sz="1169" dirty="0"/>
          </a:p>
        </p:txBody>
      </p:sp>
      <p:sp>
        <p:nvSpPr>
          <p:cNvPr id="64" name="Text 29"/>
          <p:cNvSpPr/>
          <p:nvPr/>
        </p:nvSpPr>
        <p:spPr>
          <a:xfrm>
            <a:off x="7039247" y="5239281"/>
            <a:ext cx="128108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6B21A8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RDS Database</a:t>
            </a:r>
            <a:endParaRPr lang="en-US" sz="1169" dirty="0"/>
          </a:p>
        </p:txBody>
      </p:sp>
      <p:sp>
        <p:nvSpPr>
          <p:cNvPr id="65" name="Text 30"/>
          <p:cNvSpPr/>
          <p:nvPr/>
        </p:nvSpPr>
        <p:spPr>
          <a:xfrm>
            <a:off x="9563590" y="5239281"/>
            <a:ext cx="128108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991B1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RDS Database</a:t>
            </a:r>
            <a:endParaRPr lang="en-US" sz="1169" dirty="0"/>
          </a:p>
        </p:txBody>
      </p:sp>
      <p:sp>
        <p:nvSpPr>
          <p:cNvPr id="67" name="Text 32"/>
          <p:cNvSpPr/>
          <p:nvPr/>
        </p:nvSpPr>
        <p:spPr>
          <a:xfrm>
            <a:off x="10669874" y="6390085"/>
            <a:ext cx="73851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endParaRPr lang="en-US" sz="116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53359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6"/>
            <a:ext cx="11879263" cy="11136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858803"/>
            <a:ext cx="742454" cy="3712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1146504"/>
            <a:ext cx="222736" cy="22273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4042074"/>
            <a:ext cx="250578" cy="22273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63" y="4459704"/>
            <a:ext cx="2450098" cy="100231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454" y="4608195"/>
            <a:ext cx="139210" cy="25985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2551" y="4459704"/>
            <a:ext cx="2450098" cy="1002313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41043" y="4608195"/>
            <a:ext cx="213455" cy="259859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63" y="5610508"/>
            <a:ext cx="2450098" cy="1002313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454" y="5758999"/>
            <a:ext cx="167052" cy="259859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2551" y="5610508"/>
            <a:ext cx="2450098" cy="1002313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41043" y="5758999"/>
            <a:ext cx="185613" cy="259859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36613" y="1146504"/>
            <a:ext cx="222736" cy="222736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36612" y="1564134"/>
            <a:ext cx="5048687" cy="467746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9349" y="1786871"/>
            <a:ext cx="334104" cy="334104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2155" y="1879677"/>
            <a:ext cx="148491" cy="148491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59349" y="2900551"/>
            <a:ext cx="334104" cy="334104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61436" y="2993358"/>
            <a:ext cx="129929" cy="148491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9349" y="4014232"/>
            <a:ext cx="334104" cy="334104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33594" y="4107039"/>
            <a:ext cx="185613" cy="148491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59349" y="5127913"/>
            <a:ext cx="334104" cy="334104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33594" y="5220720"/>
            <a:ext cx="185613" cy="148491"/>
          </a:xfrm>
          <a:prstGeom prst="rect">
            <a:avLst/>
          </a:prstGeom>
        </p:spPr>
      </p:pic>
      <p:sp>
        <p:nvSpPr>
          <p:cNvPr id="27" name="Text 0"/>
          <p:cNvSpPr/>
          <p:nvPr/>
        </p:nvSpPr>
        <p:spPr>
          <a:xfrm>
            <a:off x="593963" y="413331"/>
            <a:ext cx="1069133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CloudFormation Overview</a:t>
            </a:r>
            <a:endParaRPr lang="en-US" sz="2631" dirty="0"/>
          </a:p>
        </p:txBody>
      </p:sp>
      <p:sp>
        <p:nvSpPr>
          <p:cNvPr id="28" name="Text 1"/>
          <p:cNvSpPr/>
          <p:nvPr/>
        </p:nvSpPr>
        <p:spPr>
          <a:xfrm>
            <a:off x="890944" y="1118662"/>
            <a:ext cx="6058424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CloudFormation?</a:t>
            </a:r>
            <a:endParaRPr lang="en-US" sz="1754" dirty="0"/>
          </a:p>
        </p:txBody>
      </p:sp>
      <p:sp>
        <p:nvSpPr>
          <p:cNvPr id="29" name="Text 2"/>
          <p:cNvSpPr/>
          <p:nvPr/>
        </p:nvSpPr>
        <p:spPr>
          <a:xfrm>
            <a:off x="593963" y="1564134"/>
            <a:ext cx="5048687" cy="10394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CloudFormation is a fully managed service that enables users to model, provision, and manage AWS and third-party resources declaratively through reusable templates.</a:t>
            </a:r>
            <a:endParaRPr lang="en-US" sz="1315" dirty="0"/>
          </a:p>
        </p:txBody>
      </p:sp>
      <p:sp>
        <p:nvSpPr>
          <p:cNvPr id="30" name="Text 3"/>
          <p:cNvSpPr/>
          <p:nvPr/>
        </p:nvSpPr>
        <p:spPr>
          <a:xfrm>
            <a:off x="593963" y="2752061"/>
            <a:ext cx="5048687" cy="10394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 allows infrastructure to be treated as code, abstracting away the complexities of manual resource creation and configuration, thereby simplifying infrastructure management and promoting automation.</a:t>
            </a:r>
            <a:endParaRPr lang="en-US" sz="1315" dirty="0"/>
          </a:p>
        </p:txBody>
      </p:sp>
      <p:sp>
        <p:nvSpPr>
          <p:cNvPr id="31" name="Text 4"/>
          <p:cNvSpPr/>
          <p:nvPr/>
        </p:nvSpPr>
        <p:spPr>
          <a:xfrm>
            <a:off x="918786" y="4014232"/>
            <a:ext cx="5048687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Capabilities</a:t>
            </a:r>
            <a:endParaRPr lang="en-US" sz="1754" dirty="0"/>
          </a:p>
        </p:txBody>
      </p:sp>
      <p:sp>
        <p:nvSpPr>
          <p:cNvPr id="32" name="Text 5"/>
          <p:cNvSpPr/>
          <p:nvPr/>
        </p:nvSpPr>
        <p:spPr>
          <a:xfrm>
            <a:off x="993032" y="4626757"/>
            <a:ext cx="198304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Declarative Templates</a:t>
            </a:r>
            <a:endParaRPr lang="en-US" sz="1169" dirty="0"/>
          </a:p>
        </p:txBody>
      </p:sp>
      <p:sp>
        <p:nvSpPr>
          <p:cNvPr id="33" name="Text 6"/>
          <p:cNvSpPr/>
          <p:nvPr/>
        </p:nvSpPr>
        <p:spPr>
          <a:xfrm>
            <a:off x="742454" y="4942299"/>
            <a:ext cx="215311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Define infrastructure using YAML or JSON templates</a:t>
            </a:r>
            <a:endParaRPr lang="en-US" sz="1023" dirty="0"/>
          </a:p>
        </p:txBody>
      </p:sp>
      <p:sp>
        <p:nvSpPr>
          <p:cNvPr id="34" name="Text 7"/>
          <p:cNvSpPr/>
          <p:nvPr/>
        </p:nvSpPr>
        <p:spPr>
          <a:xfrm>
            <a:off x="3665866" y="4626757"/>
            <a:ext cx="172376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Stack Management</a:t>
            </a:r>
            <a:endParaRPr lang="en-US" sz="1169" dirty="0"/>
          </a:p>
        </p:txBody>
      </p:sp>
      <p:sp>
        <p:nvSpPr>
          <p:cNvPr id="35" name="Text 8"/>
          <p:cNvSpPr/>
          <p:nvPr/>
        </p:nvSpPr>
        <p:spPr>
          <a:xfrm>
            <a:off x="3341042" y="4942299"/>
            <a:ext cx="215311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Unified lifecycle management of related resources</a:t>
            </a:r>
            <a:endParaRPr lang="en-US" sz="1023" dirty="0"/>
          </a:p>
        </p:txBody>
      </p:sp>
      <p:sp>
        <p:nvSpPr>
          <p:cNvPr id="36" name="Text 9"/>
          <p:cNvSpPr/>
          <p:nvPr/>
        </p:nvSpPr>
        <p:spPr>
          <a:xfrm>
            <a:off x="1020874" y="5777560"/>
            <a:ext cx="112429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Change Sets</a:t>
            </a:r>
            <a:endParaRPr lang="en-US" sz="1169" dirty="0"/>
          </a:p>
        </p:txBody>
      </p:sp>
      <p:sp>
        <p:nvSpPr>
          <p:cNvPr id="37" name="Text 10"/>
          <p:cNvSpPr/>
          <p:nvPr/>
        </p:nvSpPr>
        <p:spPr>
          <a:xfrm>
            <a:off x="742454" y="6093103"/>
            <a:ext cx="215311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Preview changes before execution</a:t>
            </a:r>
            <a:endParaRPr lang="en-US" sz="1023" dirty="0"/>
          </a:p>
        </p:txBody>
      </p:sp>
      <p:sp>
        <p:nvSpPr>
          <p:cNvPr id="38" name="Text 11"/>
          <p:cNvSpPr/>
          <p:nvPr/>
        </p:nvSpPr>
        <p:spPr>
          <a:xfrm>
            <a:off x="3638025" y="5777560"/>
            <a:ext cx="120903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Stack Policies</a:t>
            </a:r>
            <a:endParaRPr lang="en-US" sz="1169" dirty="0"/>
          </a:p>
        </p:txBody>
      </p:sp>
      <p:sp>
        <p:nvSpPr>
          <p:cNvPr id="39" name="Text 12"/>
          <p:cNvSpPr/>
          <p:nvPr/>
        </p:nvSpPr>
        <p:spPr>
          <a:xfrm>
            <a:off x="3341042" y="6093103"/>
            <a:ext cx="215311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Protect critical resources from unintended updates</a:t>
            </a:r>
            <a:endParaRPr lang="en-US" sz="1023" dirty="0"/>
          </a:p>
        </p:txBody>
      </p:sp>
      <p:sp>
        <p:nvSpPr>
          <p:cNvPr id="40" name="Text 13"/>
          <p:cNvSpPr/>
          <p:nvPr/>
        </p:nvSpPr>
        <p:spPr>
          <a:xfrm>
            <a:off x="6533594" y="1118662"/>
            <a:ext cx="6058424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CloudFormation Workflow</a:t>
            </a:r>
            <a:endParaRPr lang="en-US" sz="1754" dirty="0"/>
          </a:p>
        </p:txBody>
      </p:sp>
      <p:sp>
        <p:nvSpPr>
          <p:cNvPr id="41" name="Text 14"/>
          <p:cNvSpPr/>
          <p:nvPr/>
        </p:nvSpPr>
        <p:spPr>
          <a:xfrm>
            <a:off x="6941944" y="1786870"/>
            <a:ext cx="494474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Template Creation</a:t>
            </a:r>
            <a:endParaRPr lang="en-US" sz="1315" dirty="0"/>
          </a:p>
        </p:txBody>
      </p:sp>
      <p:sp>
        <p:nvSpPr>
          <p:cNvPr id="42" name="Text 15"/>
          <p:cNvSpPr/>
          <p:nvPr/>
        </p:nvSpPr>
        <p:spPr>
          <a:xfrm>
            <a:off x="6941944" y="2046729"/>
            <a:ext cx="412061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Define your desired infrastructure using declarative templates in YAML or JSON format</a:t>
            </a:r>
            <a:endParaRPr lang="en-US" sz="1169" dirty="0"/>
          </a:p>
        </p:txBody>
      </p:sp>
      <p:sp>
        <p:nvSpPr>
          <p:cNvPr id="43" name="Text 16"/>
          <p:cNvSpPr/>
          <p:nvPr/>
        </p:nvSpPr>
        <p:spPr>
          <a:xfrm>
            <a:off x="6941944" y="2900551"/>
            <a:ext cx="412061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Template Storage</a:t>
            </a:r>
            <a:endParaRPr lang="en-US" sz="1315" dirty="0"/>
          </a:p>
        </p:txBody>
      </p:sp>
      <p:sp>
        <p:nvSpPr>
          <p:cNvPr id="44" name="Text 17"/>
          <p:cNvSpPr/>
          <p:nvPr/>
        </p:nvSpPr>
        <p:spPr>
          <a:xfrm>
            <a:off x="6941944" y="3160410"/>
            <a:ext cx="412061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Save the template locally or upload to an Amazon S3 bucket for version control</a:t>
            </a:r>
            <a:endParaRPr lang="en-US" sz="1169" dirty="0"/>
          </a:p>
        </p:txBody>
      </p:sp>
      <p:sp>
        <p:nvSpPr>
          <p:cNvPr id="45" name="Text 18"/>
          <p:cNvSpPr/>
          <p:nvPr/>
        </p:nvSpPr>
        <p:spPr>
          <a:xfrm>
            <a:off x="6941944" y="4014232"/>
            <a:ext cx="412061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Stack Creation</a:t>
            </a:r>
            <a:endParaRPr lang="en-US" sz="1315" dirty="0"/>
          </a:p>
        </p:txBody>
      </p:sp>
      <p:sp>
        <p:nvSpPr>
          <p:cNvPr id="46" name="Text 19"/>
          <p:cNvSpPr/>
          <p:nvPr/>
        </p:nvSpPr>
        <p:spPr>
          <a:xfrm>
            <a:off x="6941944" y="4274091"/>
            <a:ext cx="412061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Deploy the template as a "stack" via AWS Console, CLI, SDKs, or APIs</a:t>
            </a:r>
            <a:endParaRPr lang="en-US" sz="1169" dirty="0"/>
          </a:p>
        </p:txBody>
      </p:sp>
      <p:sp>
        <p:nvSpPr>
          <p:cNvPr id="47" name="Text 20"/>
          <p:cNvSpPr/>
          <p:nvPr/>
        </p:nvSpPr>
        <p:spPr>
          <a:xfrm>
            <a:off x="6941944" y="5127913"/>
            <a:ext cx="494474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4. Resource Provisioning</a:t>
            </a:r>
            <a:endParaRPr lang="en-US" sz="1315" dirty="0"/>
          </a:p>
        </p:txBody>
      </p:sp>
      <p:sp>
        <p:nvSpPr>
          <p:cNvPr id="48" name="Text 21"/>
          <p:cNvSpPr/>
          <p:nvPr/>
        </p:nvSpPr>
        <p:spPr>
          <a:xfrm>
            <a:off x="6941944" y="5387772"/>
            <a:ext cx="412061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CloudFormation interprets the template and makes necessary AWS API calls to provision resources</a:t>
            </a:r>
            <a:endParaRPr lang="en-US" sz="1169" dirty="0"/>
          </a:p>
        </p:txBody>
      </p:sp>
      <p:sp>
        <p:nvSpPr>
          <p:cNvPr id="49" name="Text 22"/>
          <p:cNvSpPr/>
          <p:nvPr/>
        </p:nvSpPr>
        <p:spPr>
          <a:xfrm>
            <a:off x="616730" y="6914783"/>
            <a:ext cx="1633283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endParaRPr lang="en-US" sz="1023" dirty="0"/>
          </a:p>
        </p:txBody>
      </p:sp>
      <p:sp>
        <p:nvSpPr>
          <p:cNvPr id="50" name="Text 23"/>
          <p:cNvSpPr/>
          <p:nvPr/>
        </p:nvSpPr>
        <p:spPr>
          <a:xfrm>
            <a:off x="11298930" y="6914783"/>
            <a:ext cx="250926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endParaRPr lang="en-US" sz="102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6"/>
            <a:ext cx="11879263" cy="11136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858803"/>
            <a:ext cx="742454" cy="3712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1861116"/>
            <a:ext cx="3415288" cy="430623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699" y="2083852"/>
            <a:ext cx="556840" cy="5568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1593" y="2213781"/>
            <a:ext cx="167052" cy="29698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699" y="2826306"/>
            <a:ext cx="148491" cy="14849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699" y="3456310"/>
            <a:ext cx="148491" cy="14849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699" y="3967376"/>
            <a:ext cx="148491" cy="14849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699" y="4556294"/>
            <a:ext cx="148491" cy="14849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1987" y="1861116"/>
            <a:ext cx="3415288" cy="4306233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4723" y="2083852"/>
            <a:ext cx="556840" cy="55684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21775" y="2213781"/>
            <a:ext cx="222736" cy="296982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4723" y="2826306"/>
            <a:ext cx="148491" cy="14849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4723" y="3346024"/>
            <a:ext cx="148491" cy="148491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4723" y="3865741"/>
            <a:ext cx="148491" cy="14849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4723" y="4469794"/>
            <a:ext cx="148491" cy="148491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0011" y="1861116"/>
            <a:ext cx="3415288" cy="4306233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92748" y="2083852"/>
            <a:ext cx="556840" cy="55684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59800" y="2213781"/>
            <a:ext cx="222736" cy="296982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2747" y="2860902"/>
            <a:ext cx="148491" cy="148491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2747" y="3421705"/>
            <a:ext cx="148491" cy="14849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2747" y="3958723"/>
            <a:ext cx="148491" cy="148491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2747" y="4469791"/>
            <a:ext cx="148491" cy="148491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1" y="6167349"/>
            <a:ext cx="11879263" cy="593963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1227" y="6390085"/>
            <a:ext cx="129929" cy="129929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593963" y="413331"/>
            <a:ext cx="1069133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Components</a:t>
            </a:r>
            <a:endParaRPr lang="en-US" sz="2631" dirty="0"/>
          </a:p>
        </p:txBody>
      </p:sp>
      <p:sp>
        <p:nvSpPr>
          <p:cNvPr id="29" name="Text 1"/>
          <p:cNvSpPr/>
          <p:nvPr/>
        </p:nvSpPr>
        <p:spPr>
          <a:xfrm>
            <a:off x="593963" y="1118662"/>
            <a:ext cx="10691336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CloudFormation is built upon several core components that work together to provide a comprehensive infrastructure as code solution. These fundamental building blocks enable users to define, deploy, and manage AWS resources declaratively.</a:t>
            </a:r>
            <a:endParaRPr lang="en-US" sz="1315" dirty="0"/>
          </a:p>
        </p:txBody>
      </p:sp>
      <p:sp>
        <p:nvSpPr>
          <p:cNvPr id="30" name="Text 2"/>
          <p:cNvSpPr/>
          <p:nvPr/>
        </p:nvSpPr>
        <p:spPr>
          <a:xfrm>
            <a:off x="1522030" y="2213781"/>
            <a:ext cx="1538098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Templates</a:t>
            </a:r>
            <a:endParaRPr lang="en-US" sz="1754" dirty="0"/>
          </a:p>
        </p:txBody>
      </p:sp>
      <p:sp>
        <p:nvSpPr>
          <p:cNvPr id="31" name="Text 3"/>
          <p:cNvSpPr/>
          <p:nvPr/>
        </p:nvSpPr>
        <p:spPr>
          <a:xfrm>
            <a:off x="1039435" y="2789183"/>
            <a:ext cx="2747079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Declarative text files (YAML/JSON) that serve as blueprints for AWS resources</a:t>
            </a:r>
            <a:endParaRPr lang="en-US" sz="1169" dirty="0"/>
          </a:p>
        </p:txBody>
      </p:sp>
      <p:sp>
        <p:nvSpPr>
          <p:cNvPr id="32" name="Text 4"/>
          <p:cNvSpPr/>
          <p:nvPr/>
        </p:nvSpPr>
        <p:spPr>
          <a:xfrm>
            <a:off x="1039435" y="3393238"/>
            <a:ext cx="274707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Specify the desired state of infrastructure</a:t>
            </a:r>
            <a:endParaRPr lang="en-US" sz="1169" dirty="0"/>
          </a:p>
        </p:txBody>
      </p:sp>
      <p:sp>
        <p:nvSpPr>
          <p:cNvPr id="33" name="Text 5"/>
          <p:cNvSpPr/>
          <p:nvPr/>
        </p:nvSpPr>
        <p:spPr>
          <a:xfrm>
            <a:off x="1039435" y="3861055"/>
            <a:ext cx="274707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sections: Parameters, Resources, and Outputs</a:t>
            </a:r>
            <a:endParaRPr lang="en-US" sz="1169" dirty="0"/>
          </a:p>
        </p:txBody>
      </p:sp>
      <p:sp>
        <p:nvSpPr>
          <p:cNvPr id="34" name="Text 6"/>
          <p:cNvSpPr/>
          <p:nvPr/>
        </p:nvSpPr>
        <p:spPr>
          <a:xfrm>
            <a:off x="1039435" y="4475926"/>
            <a:ext cx="274707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 flexibility and reusability through parameterization</a:t>
            </a:r>
            <a:endParaRPr lang="en-US" sz="1169" dirty="0"/>
          </a:p>
        </p:txBody>
      </p:sp>
      <p:sp>
        <p:nvSpPr>
          <p:cNvPr id="35" name="Text 7"/>
          <p:cNvSpPr/>
          <p:nvPr/>
        </p:nvSpPr>
        <p:spPr>
          <a:xfrm>
            <a:off x="5160055" y="2213781"/>
            <a:ext cx="996049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Stacks</a:t>
            </a:r>
            <a:endParaRPr lang="en-US" sz="1754" dirty="0"/>
          </a:p>
        </p:txBody>
      </p:sp>
      <p:sp>
        <p:nvSpPr>
          <p:cNvPr id="36" name="Text 8"/>
          <p:cNvSpPr/>
          <p:nvPr/>
        </p:nvSpPr>
        <p:spPr>
          <a:xfrm>
            <a:off x="4677460" y="2789183"/>
            <a:ext cx="274707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Logical collections of AWS resources managed as a single unit</a:t>
            </a:r>
            <a:endParaRPr lang="en-US" sz="1169" dirty="0"/>
          </a:p>
        </p:txBody>
      </p:sp>
      <p:sp>
        <p:nvSpPr>
          <p:cNvPr id="37" name="Text 9"/>
          <p:cNvSpPr/>
          <p:nvPr/>
        </p:nvSpPr>
        <p:spPr>
          <a:xfrm>
            <a:off x="4677460" y="3308901"/>
            <a:ext cx="274707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Represent deployed resources with a single name</a:t>
            </a:r>
            <a:endParaRPr lang="en-US" sz="1169" dirty="0"/>
          </a:p>
        </p:txBody>
      </p:sp>
      <p:sp>
        <p:nvSpPr>
          <p:cNvPr id="38" name="Text 10"/>
          <p:cNvSpPr/>
          <p:nvPr/>
        </p:nvSpPr>
        <p:spPr>
          <a:xfrm>
            <a:off x="4677460" y="3828618"/>
            <a:ext cx="2747079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 unified lifecycle management (create, update, delete)</a:t>
            </a:r>
            <a:endParaRPr lang="en-US" sz="1169" dirty="0"/>
          </a:p>
        </p:txBody>
      </p:sp>
      <p:sp>
        <p:nvSpPr>
          <p:cNvPr id="39" name="Text 11"/>
          <p:cNvSpPr/>
          <p:nvPr/>
        </p:nvSpPr>
        <p:spPr>
          <a:xfrm>
            <a:off x="4677460" y="4389423"/>
            <a:ext cx="274707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Allow for dependency resolution and ordering</a:t>
            </a:r>
            <a:endParaRPr lang="en-US" sz="1169" dirty="0"/>
          </a:p>
        </p:txBody>
      </p:sp>
      <p:sp>
        <p:nvSpPr>
          <p:cNvPr id="40" name="Text 12"/>
          <p:cNvSpPr/>
          <p:nvPr/>
        </p:nvSpPr>
        <p:spPr>
          <a:xfrm>
            <a:off x="8798079" y="2213781"/>
            <a:ext cx="188351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Change Sets</a:t>
            </a:r>
            <a:endParaRPr lang="en-US" sz="1754" dirty="0"/>
          </a:p>
        </p:txBody>
      </p:sp>
      <p:sp>
        <p:nvSpPr>
          <p:cNvPr id="41" name="Text 13"/>
          <p:cNvSpPr/>
          <p:nvPr/>
        </p:nvSpPr>
        <p:spPr>
          <a:xfrm>
            <a:off x="8315484" y="2781969"/>
            <a:ext cx="2747079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Preview mechanisms that show how proposed changes will impact a stack</a:t>
            </a:r>
            <a:endParaRPr lang="en-US" sz="1169" dirty="0"/>
          </a:p>
        </p:txBody>
      </p:sp>
      <p:sp>
        <p:nvSpPr>
          <p:cNvPr id="42" name="Text 14"/>
          <p:cNvSpPr/>
          <p:nvPr/>
        </p:nvSpPr>
        <p:spPr>
          <a:xfrm>
            <a:off x="8315484" y="3358632"/>
            <a:ext cx="274707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Show which resources will be added, modified, or deleted</a:t>
            </a:r>
            <a:endParaRPr lang="en-US" sz="1169" dirty="0"/>
          </a:p>
        </p:txBody>
      </p:sp>
      <p:sp>
        <p:nvSpPr>
          <p:cNvPr id="43" name="Text 15"/>
          <p:cNvSpPr/>
          <p:nvPr/>
        </p:nvSpPr>
        <p:spPr>
          <a:xfrm>
            <a:off x="8315484" y="3921601"/>
            <a:ext cx="274707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Help mitigate risks associated with infrastructure updates</a:t>
            </a:r>
            <a:endParaRPr lang="en-US" sz="1169" dirty="0"/>
          </a:p>
        </p:txBody>
      </p:sp>
      <p:sp>
        <p:nvSpPr>
          <p:cNvPr id="44" name="Text 16"/>
          <p:cNvSpPr/>
          <p:nvPr/>
        </p:nvSpPr>
        <p:spPr>
          <a:xfrm>
            <a:off x="8315484" y="4441319"/>
            <a:ext cx="2747079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Allow for safe, controlled updates with the ability to roll back if needed</a:t>
            </a:r>
            <a:endParaRPr lang="en-US" sz="116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6"/>
            <a:ext cx="11879263" cy="608812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6"/>
            <a:ext cx="11879263" cy="11136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858803"/>
            <a:ext cx="742454" cy="3712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1554854"/>
            <a:ext cx="167052" cy="22273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1935361"/>
            <a:ext cx="5234300" cy="81669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331" y="2046729"/>
            <a:ext cx="334104" cy="33410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138" y="2139536"/>
            <a:ext cx="148491" cy="14849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2863429"/>
            <a:ext cx="5234300" cy="816699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331" y="2974797"/>
            <a:ext cx="334104" cy="33410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8138" y="3067603"/>
            <a:ext cx="148491" cy="14849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3791496"/>
            <a:ext cx="5234300" cy="816699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5331" y="3902864"/>
            <a:ext cx="334104" cy="33410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7419" y="3995671"/>
            <a:ext cx="129929" cy="14849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4719563"/>
            <a:ext cx="5234300" cy="816699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5331" y="4830932"/>
            <a:ext cx="334104" cy="334104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8138" y="4923738"/>
            <a:ext cx="148491" cy="14849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50999" y="1554854"/>
            <a:ext cx="222736" cy="222736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0999" y="1935361"/>
            <a:ext cx="5234300" cy="816699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62367" y="2046729"/>
            <a:ext cx="334104" cy="334104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55174" y="2139536"/>
            <a:ext cx="148491" cy="148491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0999" y="2863429"/>
            <a:ext cx="5234300" cy="816699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62367" y="2974797"/>
            <a:ext cx="334104" cy="334104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255174" y="3067603"/>
            <a:ext cx="148491" cy="148491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0999" y="3791496"/>
            <a:ext cx="5234300" cy="816699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62367" y="3902864"/>
            <a:ext cx="334104" cy="334104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55174" y="3995671"/>
            <a:ext cx="148491" cy="148491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593963" y="413331"/>
            <a:ext cx="1069133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Features</a:t>
            </a:r>
            <a:endParaRPr lang="en-US" sz="2631" dirty="0"/>
          </a:p>
        </p:txBody>
      </p:sp>
      <p:sp>
        <p:nvSpPr>
          <p:cNvPr id="31" name="Text 1"/>
          <p:cNvSpPr/>
          <p:nvPr/>
        </p:nvSpPr>
        <p:spPr>
          <a:xfrm>
            <a:off x="593963" y="1118662"/>
            <a:ext cx="1282960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CloudFormation offers powerful features for both template functionality and management capabilities.</a:t>
            </a:r>
            <a:endParaRPr lang="en-US" sz="1315" dirty="0"/>
          </a:p>
        </p:txBody>
      </p:sp>
      <p:sp>
        <p:nvSpPr>
          <p:cNvPr id="32" name="Text 2"/>
          <p:cNvSpPr/>
          <p:nvPr/>
        </p:nvSpPr>
        <p:spPr>
          <a:xfrm>
            <a:off x="835260" y="1527011"/>
            <a:ext cx="6281160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Template Functionality</a:t>
            </a:r>
            <a:endParaRPr lang="en-US" sz="1754" dirty="0"/>
          </a:p>
        </p:txBody>
      </p:sp>
      <p:sp>
        <p:nvSpPr>
          <p:cNvPr id="33" name="Text 3"/>
          <p:cNvSpPr/>
          <p:nvPr/>
        </p:nvSpPr>
        <p:spPr>
          <a:xfrm>
            <a:off x="1150803" y="2046729"/>
            <a:ext cx="456609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Parameters</a:t>
            </a:r>
            <a:endParaRPr lang="en-US" sz="1169" dirty="0"/>
          </a:p>
        </p:txBody>
      </p:sp>
      <p:sp>
        <p:nvSpPr>
          <p:cNvPr id="34" name="Text 4"/>
          <p:cNvSpPr/>
          <p:nvPr/>
        </p:nvSpPr>
        <p:spPr>
          <a:xfrm>
            <a:off x="1150803" y="2269465"/>
            <a:ext cx="4566092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Input variables for customization without modifying template code. Enables reuse across environments.</a:t>
            </a:r>
            <a:endParaRPr lang="en-US" sz="1023" dirty="0"/>
          </a:p>
        </p:txBody>
      </p:sp>
      <p:sp>
        <p:nvSpPr>
          <p:cNvPr id="35" name="Text 5"/>
          <p:cNvSpPr/>
          <p:nvPr/>
        </p:nvSpPr>
        <p:spPr>
          <a:xfrm>
            <a:off x="1150803" y="2974797"/>
            <a:ext cx="456609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Mappings</a:t>
            </a:r>
            <a:endParaRPr lang="en-US" sz="1169" dirty="0"/>
          </a:p>
        </p:txBody>
      </p:sp>
      <p:sp>
        <p:nvSpPr>
          <p:cNvPr id="36" name="Text 6"/>
          <p:cNvSpPr/>
          <p:nvPr/>
        </p:nvSpPr>
        <p:spPr>
          <a:xfrm>
            <a:off x="1150803" y="3197533"/>
            <a:ext cx="4566092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Static key-value lookup tables for region-specific or environment-specific settings.</a:t>
            </a:r>
            <a:endParaRPr lang="en-US" sz="1023" dirty="0"/>
          </a:p>
        </p:txBody>
      </p:sp>
      <p:sp>
        <p:nvSpPr>
          <p:cNvPr id="37" name="Text 7"/>
          <p:cNvSpPr/>
          <p:nvPr/>
        </p:nvSpPr>
        <p:spPr>
          <a:xfrm>
            <a:off x="1150803" y="3902864"/>
            <a:ext cx="456609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Conditions</a:t>
            </a:r>
            <a:endParaRPr lang="en-US" sz="1169" dirty="0"/>
          </a:p>
        </p:txBody>
      </p:sp>
      <p:sp>
        <p:nvSpPr>
          <p:cNvPr id="38" name="Text 8"/>
          <p:cNvSpPr/>
          <p:nvPr/>
        </p:nvSpPr>
        <p:spPr>
          <a:xfrm>
            <a:off x="1150803" y="4125600"/>
            <a:ext cx="4566092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Logic that enables conditional creation of resources based on predefined criteria.</a:t>
            </a:r>
            <a:endParaRPr lang="en-US" sz="1023" dirty="0"/>
          </a:p>
        </p:txBody>
      </p:sp>
      <p:sp>
        <p:nvSpPr>
          <p:cNvPr id="39" name="Text 9"/>
          <p:cNvSpPr/>
          <p:nvPr/>
        </p:nvSpPr>
        <p:spPr>
          <a:xfrm>
            <a:off x="1150803" y="4830932"/>
            <a:ext cx="456609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Outputs</a:t>
            </a:r>
            <a:endParaRPr lang="en-US" sz="1169" dirty="0"/>
          </a:p>
        </p:txBody>
      </p:sp>
      <p:sp>
        <p:nvSpPr>
          <p:cNvPr id="40" name="Text 10"/>
          <p:cNvSpPr/>
          <p:nvPr/>
        </p:nvSpPr>
        <p:spPr>
          <a:xfrm>
            <a:off x="1150803" y="5053668"/>
            <a:ext cx="4566092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Values exported from a stack that can be referenced by other stacks or used operationally.</a:t>
            </a:r>
            <a:endParaRPr lang="en-US" sz="1023" dirty="0"/>
          </a:p>
        </p:txBody>
      </p:sp>
      <p:sp>
        <p:nvSpPr>
          <p:cNvPr id="41" name="Text 11"/>
          <p:cNvSpPr/>
          <p:nvPr/>
        </p:nvSpPr>
        <p:spPr>
          <a:xfrm>
            <a:off x="6347981" y="1527011"/>
            <a:ext cx="6281160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Management Functionality</a:t>
            </a:r>
            <a:endParaRPr lang="en-US" sz="1754" dirty="0"/>
          </a:p>
        </p:txBody>
      </p:sp>
      <p:sp>
        <p:nvSpPr>
          <p:cNvPr id="42" name="Text 12"/>
          <p:cNvSpPr/>
          <p:nvPr/>
        </p:nvSpPr>
        <p:spPr>
          <a:xfrm>
            <a:off x="6607839" y="2046729"/>
            <a:ext cx="456609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Stack Sets</a:t>
            </a:r>
            <a:endParaRPr lang="en-US" sz="1169" dirty="0"/>
          </a:p>
        </p:txBody>
      </p:sp>
      <p:sp>
        <p:nvSpPr>
          <p:cNvPr id="43" name="Text 13"/>
          <p:cNvSpPr/>
          <p:nvPr/>
        </p:nvSpPr>
        <p:spPr>
          <a:xfrm>
            <a:off x="6607839" y="2269465"/>
            <a:ext cx="4566092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Deploy and manage stacks across multiple AWS accounts and regions from a single template.</a:t>
            </a:r>
            <a:endParaRPr lang="en-US" sz="1023" dirty="0"/>
          </a:p>
        </p:txBody>
      </p:sp>
      <p:sp>
        <p:nvSpPr>
          <p:cNvPr id="44" name="Text 14"/>
          <p:cNvSpPr/>
          <p:nvPr/>
        </p:nvSpPr>
        <p:spPr>
          <a:xfrm>
            <a:off x="6607839" y="2974797"/>
            <a:ext cx="456609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Drift Detection</a:t>
            </a:r>
            <a:endParaRPr lang="en-US" sz="1169" dirty="0"/>
          </a:p>
        </p:txBody>
      </p:sp>
      <p:sp>
        <p:nvSpPr>
          <p:cNvPr id="45" name="Text 15"/>
          <p:cNvSpPr/>
          <p:nvPr/>
        </p:nvSpPr>
        <p:spPr>
          <a:xfrm>
            <a:off x="6607839" y="3197533"/>
            <a:ext cx="4566092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Identifies manual or out-of-band changes made to stack resources after provisioning.</a:t>
            </a:r>
            <a:endParaRPr lang="en-US" sz="1023" dirty="0"/>
          </a:p>
        </p:txBody>
      </p:sp>
      <p:sp>
        <p:nvSpPr>
          <p:cNvPr id="46" name="Text 16"/>
          <p:cNvSpPr/>
          <p:nvPr/>
        </p:nvSpPr>
        <p:spPr>
          <a:xfrm>
            <a:off x="6607839" y="3902864"/>
            <a:ext cx="456609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Rollback Triggers</a:t>
            </a:r>
            <a:endParaRPr lang="en-US" sz="1169" dirty="0"/>
          </a:p>
        </p:txBody>
      </p:sp>
      <p:sp>
        <p:nvSpPr>
          <p:cNvPr id="47" name="Text 17"/>
          <p:cNvSpPr/>
          <p:nvPr/>
        </p:nvSpPr>
        <p:spPr>
          <a:xfrm>
            <a:off x="6607839" y="4125600"/>
            <a:ext cx="4566092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CloudWatch alarms that automatically initiate a rollback if issues arise during stack updates.</a:t>
            </a:r>
            <a:endParaRPr lang="en-US" sz="1023" dirty="0"/>
          </a:p>
        </p:txBody>
      </p:sp>
      <p:sp>
        <p:nvSpPr>
          <p:cNvPr id="48" name="Text 18"/>
          <p:cNvSpPr/>
          <p:nvPr/>
        </p:nvSpPr>
        <p:spPr>
          <a:xfrm>
            <a:off x="653853" y="6390085"/>
            <a:ext cx="1002661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endParaRPr lang="en-US" sz="1023" dirty="0"/>
          </a:p>
        </p:txBody>
      </p:sp>
      <p:sp>
        <p:nvSpPr>
          <p:cNvPr id="49" name="Text 19"/>
          <p:cNvSpPr/>
          <p:nvPr/>
        </p:nvSpPr>
        <p:spPr>
          <a:xfrm>
            <a:off x="11298930" y="6390085"/>
            <a:ext cx="250926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endParaRPr lang="en-US" sz="102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6"/>
            <a:ext cx="11879263" cy="11136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858803"/>
            <a:ext cx="742454" cy="3712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1861116"/>
            <a:ext cx="5234300" cy="241297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699" y="2083852"/>
            <a:ext cx="556840" cy="5568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3751" y="2213781"/>
            <a:ext cx="222736" cy="29698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2030" y="2780175"/>
            <a:ext cx="148491" cy="14849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2030" y="3049042"/>
            <a:ext cx="148491" cy="14849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2030" y="3346024"/>
            <a:ext cx="148491" cy="14849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2030" y="3643005"/>
            <a:ext cx="148491" cy="148491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0999" y="1861116"/>
            <a:ext cx="5234300" cy="2412975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3735" y="2083852"/>
            <a:ext cx="556840" cy="55684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0787" y="2213781"/>
            <a:ext cx="222736" cy="296982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9066" y="2771521"/>
            <a:ext cx="148491" cy="14849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9066" y="3049042"/>
            <a:ext cx="148491" cy="148491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9066" y="3346024"/>
            <a:ext cx="148491" cy="14849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9066" y="3643005"/>
            <a:ext cx="148491" cy="148491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3963" y="4496827"/>
            <a:ext cx="5234300" cy="2190239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6699" y="4719564"/>
            <a:ext cx="556840" cy="55684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97673" y="4849493"/>
            <a:ext cx="194894" cy="296982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2030" y="5165036"/>
            <a:ext cx="148491" cy="148491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2030" y="5462017"/>
            <a:ext cx="148491" cy="14849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2030" y="5758999"/>
            <a:ext cx="148491" cy="148491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2030" y="6055980"/>
            <a:ext cx="148491" cy="148491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50999" y="4496827"/>
            <a:ext cx="5234300" cy="2190239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73735" y="4719564"/>
            <a:ext cx="556840" cy="55684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0787" y="4849493"/>
            <a:ext cx="222736" cy="296982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9066" y="5165036"/>
            <a:ext cx="148491" cy="148491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9066" y="5462017"/>
            <a:ext cx="148491" cy="148491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9066" y="5758999"/>
            <a:ext cx="148491" cy="148491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9066" y="6053816"/>
            <a:ext cx="148491" cy="148491"/>
          </a:xfrm>
          <a:prstGeom prst="rect">
            <a:avLst/>
          </a:prstGeom>
        </p:spPr>
      </p:pic>
      <p:sp>
        <p:nvSpPr>
          <p:cNvPr id="35" name="Text 0"/>
          <p:cNvSpPr/>
          <p:nvPr/>
        </p:nvSpPr>
        <p:spPr>
          <a:xfrm>
            <a:off x="593963" y="413331"/>
            <a:ext cx="1069133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Benefits</a:t>
            </a:r>
            <a:endParaRPr lang="en-US" sz="2631" dirty="0"/>
          </a:p>
        </p:txBody>
      </p:sp>
      <p:sp>
        <p:nvSpPr>
          <p:cNvPr id="36" name="Text 1"/>
          <p:cNvSpPr/>
          <p:nvPr/>
        </p:nvSpPr>
        <p:spPr>
          <a:xfrm>
            <a:off x="593963" y="1118662"/>
            <a:ext cx="10691336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CloudFormation offers significant advantages for managing cloud infrastructure, transforming how organizations provision and maintain their AWS resources.</a:t>
            </a:r>
            <a:endParaRPr lang="en-US" sz="1315" dirty="0"/>
          </a:p>
        </p:txBody>
      </p:sp>
      <p:sp>
        <p:nvSpPr>
          <p:cNvPr id="37" name="Text 2"/>
          <p:cNvSpPr/>
          <p:nvPr/>
        </p:nvSpPr>
        <p:spPr>
          <a:xfrm>
            <a:off x="1522030" y="2083852"/>
            <a:ext cx="490019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Automation &amp; Speed</a:t>
            </a:r>
            <a:endParaRPr lang="en-US" sz="1754" dirty="0"/>
          </a:p>
        </p:txBody>
      </p:sp>
      <p:sp>
        <p:nvSpPr>
          <p:cNvPr id="38" name="Text 3"/>
          <p:cNvSpPr/>
          <p:nvPr/>
        </p:nvSpPr>
        <p:spPr>
          <a:xfrm>
            <a:off x="1744767" y="2736021"/>
            <a:ext cx="3860760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Automates provisioning and updating of infrastructure</a:t>
            </a:r>
            <a:endParaRPr lang="en-US" sz="1169" dirty="0"/>
          </a:p>
        </p:txBody>
      </p:sp>
      <p:sp>
        <p:nvSpPr>
          <p:cNvPr id="39" name="Text 4"/>
          <p:cNvSpPr/>
          <p:nvPr/>
        </p:nvSpPr>
        <p:spPr>
          <a:xfrm>
            <a:off x="1744767" y="3011919"/>
            <a:ext cx="312265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Significantly reduces manual effort</a:t>
            </a:r>
            <a:endParaRPr lang="en-US" sz="1169" dirty="0"/>
          </a:p>
        </p:txBody>
      </p:sp>
      <p:sp>
        <p:nvSpPr>
          <p:cNvPr id="40" name="Text 5"/>
          <p:cNvSpPr/>
          <p:nvPr/>
        </p:nvSpPr>
        <p:spPr>
          <a:xfrm>
            <a:off x="1744767" y="3308901"/>
            <a:ext cx="2712857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Accelerates deployment times</a:t>
            </a:r>
            <a:endParaRPr lang="en-US" sz="1169" dirty="0"/>
          </a:p>
        </p:txBody>
      </p:sp>
      <p:sp>
        <p:nvSpPr>
          <p:cNvPr id="41" name="Text 6"/>
          <p:cNvSpPr/>
          <p:nvPr/>
        </p:nvSpPr>
        <p:spPr>
          <a:xfrm>
            <a:off x="1744767" y="3605883"/>
            <a:ext cx="3860760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Enables rapid deployment of complex environments</a:t>
            </a:r>
            <a:endParaRPr lang="en-US" sz="1169" dirty="0"/>
          </a:p>
        </p:txBody>
      </p:sp>
      <p:sp>
        <p:nvSpPr>
          <p:cNvPr id="42" name="Text 7"/>
          <p:cNvSpPr/>
          <p:nvPr/>
        </p:nvSpPr>
        <p:spPr>
          <a:xfrm>
            <a:off x="6979066" y="2083852"/>
            <a:ext cx="490019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Consistency &amp; Repeatability</a:t>
            </a:r>
            <a:endParaRPr lang="en-US" sz="1754" dirty="0"/>
          </a:p>
        </p:txBody>
      </p:sp>
      <p:sp>
        <p:nvSpPr>
          <p:cNvPr id="43" name="Text 8"/>
          <p:cNvSpPr/>
          <p:nvPr/>
        </p:nvSpPr>
        <p:spPr>
          <a:xfrm>
            <a:off x="7201803" y="2717104"/>
            <a:ext cx="3860760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Ensures identical deployments across environments</a:t>
            </a:r>
            <a:endParaRPr lang="en-US" sz="1169" dirty="0"/>
          </a:p>
        </p:txBody>
      </p:sp>
      <p:sp>
        <p:nvSpPr>
          <p:cNvPr id="44" name="Text 9"/>
          <p:cNvSpPr/>
          <p:nvPr/>
        </p:nvSpPr>
        <p:spPr>
          <a:xfrm>
            <a:off x="7201803" y="3011919"/>
            <a:ext cx="258983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Eliminates configuration drift</a:t>
            </a:r>
            <a:endParaRPr lang="en-US" sz="1169" dirty="0"/>
          </a:p>
        </p:txBody>
      </p:sp>
      <p:sp>
        <p:nvSpPr>
          <p:cNvPr id="45" name="Text 10"/>
          <p:cNvSpPr/>
          <p:nvPr/>
        </p:nvSpPr>
        <p:spPr>
          <a:xfrm>
            <a:off x="7201803" y="3308901"/>
            <a:ext cx="191814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Reduces human error</a:t>
            </a:r>
            <a:endParaRPr lang="en-US" sz="1169" dirty="0"/>
          </a:p>
        </p:txBody>
      </p:sp>
      <p:sp>
        <p:nvSpPr>
          <p:cNvPr id="46" name="Text 11"/>
          <p:cNvSpPr/>
          <p:nvPr/>
        </p:nvSpPr>
        <p:spPr>
          <a:xfrm>
            <a:off x="7201803" y="3605883"/>
            <a:ext cx="3535589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Creates reliable systems across regions</a:t>
            </a:r>
            <a:endParaRPr lang="en-US" sz="1169" dirty="0"/>
          </a:p>
        </p:txBody>
      </p:sp>
      <p:sp>
        <p:nvSpPr>
          <p:cNvPr id="47" name="Text 12"/>
          <p:cNvSpPr/>
          <p:nvPr/>
        </p:nvSpPr>
        <p:spPr>
          <a:xfrm>
            <a:off x="1522031" y="4719563"/>
            <a:ext cx="4537727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Infrastructure Version Control</a:t>
            </a:r>
            <a:endParaRPr lang="en-US" sz="1754" dirty="0"/>
          </a:p>
        </p:txBody>
      </p:sp>
      <p:sp>
        <p:nvSpPr>
          <p:cNvPr id="48" name="Text 13"/>
          <p:cNvSpPr/>
          <p:nvPr/>
        </p:nvSpPr>
        <p:spPr>
          <a:xfrm>
            <a:off x="1744766" y="5127913"/>
            <a:ext cx="273426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Treating infrastructure as code</a:t>
            </a:r>
            <a:endParaRPr lang="en-US" sz="1169" dirty="0"/>
          </a:p>
        </p:txBody>
      </p:sp>
      <p:sp>
        <p:nvSpPr>
          <p:cNvPr id="49" name="Text 14"/>
          <p:cNvSpPr/>
          <p:nvPr/>
        </p:nvSpPr>
        <p:spPr>
          <a:xfrm>
            <a:off x="1744767" y="5424895"/>
            <a:ext cx="3914066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Stores templates in version control systems</a:t>
            </a:r>
            <a:endParaRPr lang="en-US" sz="1169" dirty="0"/>
          </a:p>
        </p:txBody>
      </p:sp>
      <p:sp>
        <p:nvSpPr>
          <p:cNvPr id="50" name="Text 15"/>
          <p:cNvSpPr/>
          <p:nvPr/>
        </p:nvSpPr>
        <p:spPr>
          <a:xfrm>
            <a:off x="1744766" y="5721876"/>
            <a:ext cx="412879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Enables tracking of changes and collaboration</a:t>
            </a:r>
            <a:endParaRPr lang="en-US" sz="1169" dirty="0"/>
          </a:p>
        </p:txBody>
      </p:sp>
      <p:sp>
        <p:nvSpPr>
          <p:cNvPr id="51" name="Text 16"/>
          <p:cNvSpPr/>
          <p:nvPr/>
        </p:nvSpPr>
        <p:spPr>
          <a:xfrm>
            <a:off x="1744766" y="6018858"/>
            <a:ext cx="3779381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Facilitates easy rollback to previous states</a:t>
            </a:r>
            <a:endParaRPr lang="en-US" sz="1169" dirty="0"/>
          </a:p>
        </p:txBody>
      </p:sp>
      <p:sp>
        <p:nvSpPr>
          <p:cNvPr id="52" name="Text 17"/>
          <p:cNvSpPr/>
          <p:nvPr/>
        </p:nvSpPr>
        <p:spPr>
          <a:xfrm>
            <a:off x="6979066" y="4719563"/>
            <a:ext cx="490019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Security &amp; Compliance</a:t>
            </a:r>
            <a:endParaRPr lang="en-US" sz="1754" dirty="0"/>
          </a:p>
        </p:txBody>
      </p:sp>
      <p:sp>
        <p:nvSpPr>
          <p:cNvPr id="53" name="Text 18"/>
          <p:cNvSpPr/>
          <p:nvPr/>
        </p:nvSpPr>
        <p:spPr>
          <a:xfrm>
            <a:off x="7201803" y="5127913"/>
            <a:ext cx="368158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Embeds security and compliance policies</a:t>
            </a:r>
            <a:endParaRPr lang="en-US" sz="1169" dirty="0"/>
          </a:p>
        </p:txBody>
      </p:sp>
      <p:sp>
        <p:nvSpPr>
          <p:cNvPr id="54" name="Text 19"/>
          <p:cNvSpPr/>
          <p:nvPr/>
        </p:nvSpPr>
        <p:spPr>
          <a:xfrm>
            <a:off x="7201803" y="5424895"/>
            <a:ext cx="347920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Ensures resources adhere to standards</a:t>
            </a:r>
            <a:endParaRPr lang="en-US" sz="1169" dirty="0"/>
          </a:p>
        </p:txBody>
      </p:sp>
      <p:sp>
        <p:nvSpPr>
          <p:cNvPr id="55" name="Text 20"/>
          <p:cNvSpPr/>
          <p:nvPr/>
        </p:nvSpPr>
        <p:spPr>
          <a:xfrm>
            <a:off x="7201803" y="5721876"/>
            <a:ext cx="3860760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Automates encryption, access controls, and auditing</a:t>
            </a:r>
            <a:endParaRPr lang="en-US" sz="1169" dirty="0"/>
          </a:p>
        </p:txBody>
      </p:sp>
      <p:sp>
        <p:nvSpPr>
          <p:cNvPr id="56" name="Text 21"/>
          <p:cNvSpPr/>
          <p:nvPr/>
        </p:nvSpPr>
        <p:spPr>
          <a:xfrm>
            <a:off x="7201803" y="6008044"/>
            <a:ext cx="3024688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Enhances overall security posture</a:t>
            </a:r>
            <a:endParaRPr lang="en-US" sz="1169" dirty="0"/>
          </a:p>
        </p:txBody>
      </p:sp>
      <p:sp>
        <p:nvSpPr>
          <p:cNvPr id="57" name="Text 22"/>
          <p:cNvSpPr/>
          <p:nvPr/>
        </p:nvSpPr>
        <p:spPr>
          <a:xfrm>
            <a:off x="616730" y="6989029"/>
            <a:ext cx="970468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endParaRPr lang="en-US" sz="1023" dirty="0"/>
          </a:p>
        </p:txBody>
      </p:sp>
      <p:sp>
        <p:nvSpPr>
          <p:cNvPr id="58" name="Text 23"/>
          <p:cNvSpPr/>
          <p:nvPr/>
        </p:nvSpPr>
        <p:spPr>
          <a:xfrm>
            <a:off x="11298930" y="6989029"/>
            <a:ext cx="250926" cy="14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endParaRPr lang="en-US" sz="1023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6"/>
            <a:ext cx="11879263" cy="11136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963" y="858803"/>
            <a:ext cx="742454" cy="3712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63" y="1601257"/>
            <a:ext cx="2561466" cy="124361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54" y="1749748"/>
            <a:ext cx="464034" cy="46403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1664" y="1851835"/>
            <a:ext cx="185613" cy="259859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3920" y="1601257"/>
            <a:ext cx="2561466" cy="124361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52410" y="1749748"/>
            <a:ext cx="464034" cy="46403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91621" y="1851835"/>
            <a:ext cx="185613" cy="259859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3876" y="1601257"/>
            <a:ext cx="2561466" cy="124361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62367" y="1749748"/>
            <a:ext cx="464034" cy="46403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0858" y="1851835"/>
            <a:ext cx="167052" cy="259859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23833" y="1601257"/>
            <a:ext cx="2561466" cy="124361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72324" y="1749748"/>
            <a:ext cx="464034" cy="464034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11534" y="1851835"/>
            <a:ext cx="185613" cy="259859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3963" y="2993358"/>
            <a:ext cx="2561466" cy="124361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2454" y="3141849"/>
            <a:ext cx="464034" cy="464034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1664" y="3243936"/>
            <a:ext cx="185613" cy="259859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03920" y="2993358"/>
            <a:ext cx="2561466" cy="124361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452410" y="3141849"/>
            <a:ext cx="464034" cy="464034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00901" y="3243936"/>
            <a:ext cx="167052" cy="259859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13876" y="2993358"/>
            <a:ext cx="2561466" cy="124361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62367" y="3141849"/>
            <a:ext cx="464034" cy="464034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10858" y="3243936"/>
            <a:ext cx="167052" cy="259859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23833" y="2993358"/>
            <a:ext cx="2561466" cy="124361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872324" y="3141849"/>
            <a:ext cx="464034" cy="464034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011534" y="3243936"/>
            <a:ext cx="185613" cy="259859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-1" y="6167349"/>
            <a:ext cx="11879263" cy="593963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71227" y="6390085"/>
            <a:ext cx="129929" cy="129929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593963" y="413331"/>
            <a:ext cx="10691336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923"/>
              </a:lnSpc>
            </a:pPr>
            <a:r>
              <a:rPr lang="en-US" sz="263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Cases</a:t>
            </a:r>
            <a:endParaRPr lang="en-US" sz="2631" dirty="0"/>
          </a:p>
        </p:txBody>
      </p:sp>
      <p:sp>
        <p:nvSpPr>
          <p:cNvPr id="32" name="Text 1"/>
          <p:cNvSpPr/>
          <p:nvPr/>
        </p:nvSpPr>
        <p:spPr>
          <a:xfrm>
            <a:off x="593963" y="1118662"/>
            <a:ext cx="1282960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CloudFormation enables efficient management of diverse infrastructure scenarios.</a:t>
            </a:r>
            <a:endParaRPr lang="en-US" sz="1315" dirty="0"/>
          </a:p>
        </p:txBody>
      </p:sp>
      <p:sp>
        <p:nvSpPr>
          <p:cNvPr id="33" name="Text 2"/>
          <p:cNvSpPr/>
          <p:nvPr/>
        </p:nvSpPr>
        <p:spPr>
          <a:xfrm>
            <a:off x="1317855" y="1759029"/>
            <a:ext cx="1689083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Simplified Management</a:t>
            </a:r>
            <a:endParaRPr lang="en-US" sz="1169" dirty="0"/>
          </a:p>
        </p:txBody>
      </p:sp>
      <p:sp>
        <p:nvSpPr>
          <p:cNvPr id="34" name="Text 3"/>
          <p:cNvSpPr/>
          <p:nvPr/>
        </p:nvSpPr>
        <p:spPr>
          <a:xfrm>
            <a:off x="742454" y="2325149"/>
            <a:ext cx="226448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Define entire application stacks in a single template.</a:t>
            </a:r>
            <a:endParaRPr lang="en-US" sz="1023" dirty="0"/>
          </a:p>
        </p:txBody>
      </p:sp>
      <p:sp>
        <p:nvSpPr>
          <p:cNvPr id="35" name="Text 4"/>
          <p:cNvSpPr/>
          <p:nvPr/>
        </p:nvSpPr>
        <p:spPr>
          <a:xfrm>
            <a:off x="4027812" y="1759029"/>
            <a:ext cx="1689083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Multi-Region Deployments</a:t>
            </a:r>
            <a:endParaRPr lang="en-US" sz="1169" dirty="0"/>
          </a:p>
        </p:txBody>
      </p:sp>
      <p:sp>
        <p:nvSpPr>
          <p:cNvPr id="36" name="Text 5"/>
          <p:cNvSpPr/>
          <p:nvPr/>
        </p:nvSpPr>
        <p:spPr>
          <a:xfrm>
            <a:off x="3452411" y="2325149"/>
            <a:ext cx="226448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Stack Sets for consistent infrastructure across regions.</a:t>
            </a:r>
            <a:endParaRPr lang="en-US" sz="1023" dirty="0"/>
          </a:p>
        </p:txBody>
      </p:sp>
      <p:sp>
        <p:nvSpPr>
          <p:cNvPr id="37" name="Text 6"/>
          <p:cNvSpPr/>
          <p:nvPr/>
        </p:nvSpPr>
        <p:spPr>
          <a:xfrm>
            <a:off x="6737769" y="1870397"/>
            <a:ext cx="196251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DevOps Integration</a:t>
            </a:r>
            <a:endParaRPr lang="en-US" sz="1169" dirty="0"/>
          </a:p>
        </p:txBody>
      </p:sp>
      <p:sp>
        <p:nvSpPr>
          <p:cNvPr id="38" name="Text 7"/>
          <p:cNvSpPr/>
          <p:nvPr/>
        </p:nvSpPr>
        <p:spPr>
          <a:xfrm>
            <a:off x="6162367" y="2325149"/>
            <a:ext cx="226448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 testing and deployment with CI/CD pipelines.</a:t>
            </a:r>
            <a:endParaRPr lang="en-US" sz="1023" dirty="0"/>
          </a:p>
        </p:txBody>
      </p:sp>
      <p:sp>
        <p:nvSpPr>
          <p:cNvPr id="39" name="Text 8"/>
          <p:cNvSpPr/>
          <p:nvPr/>
        </p:nvSpPr>
        <p:spPr>
          <a:xfrm>
            <a:off x="9447726" y="1870397"/>
            <a:ext cx="182452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Disaster Recovery</a:t>
            </a:r>
            <a:endParaRPr lang="en-US" sz="1169" dirty="0"/>
          </a:p>
        </p:txBody>
      </p:sp>
      <p:sp>
        <p:nvSpPr>
          <p:cNvPr id="40" name="Text 9"/>
          <p:cNvSpPr/>
          <p:nvPr/>
        </p:nvSpPr>
        <p:spPr>
          <a:xfrm>
            <a:off x="8872324" y="2325149"/>
            <a:ext cx="226448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Quickly recover environments by redeploying templates.</a:t>
            </a:r>
            <a:endParaRPr lang="en-US" sz="1023" dirty="0"/>
          </a:p>
        </p:txBody>
      </p:sp>
      <p:sp>
        <p:nvSpPr>
          <p:cNvPr id="41" name="Text 10"/>
          <p:cNvSpPr/>
          <p:nvPr/>
        </p:nvSpPr>
        <p:spPr>
          <a:xfrm>
            <a:off x="1317856" y="3262498"/>
            <a:ext cx="155184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Change Control</a:t>
            </a:r>
            <a:endParaRPr lang="en-US" sz="1169" dirty="0"/>
          </a:p>
        </p:txBody>
      </p:sp>
      <p:sp>
        <p:nvSpPr>
          <p:cNvPr id="42" name="Text 11"/>
          <p:cNvSpPr/>
          <p:nvPr/>
        </p:nvSpPr>
        <p:spPr>
          <a:xfrm>
            <a:off x="742454" y="3717251"/>
            <a:ext cx="226448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change sets to preview infrastructure modifications.</a:t>
            </a:r>
            <a:endParaRPr lang="en-US" sz="1023" dirty="0"/>
          </a:p>
        </p:txBody>
      </p:sp>
      <p:sp>
        <p:nvSpPr>
          <p:cNvPr id="43" name="Text 12"/>
          <p:cNvSpPr/>
          <p:nvPr/>
        </p:nvSpPr>
        <p:spPr>
          <a:xfrm>
            <a:off x="4027812" y="3151130"/>
            <a:ext cx="1689083" cy="44547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Compliance Enforcement</a:t>
            </a:r>
            <a:endParaRPr lang="en-US" sz="1169" dirty="0"/>
          </a:p>
        </p:txBody>
      </p:sp>
      <p:sp>
        <p:nvSpPr>
          <p:cNvPr id="44" name="Text 13"/>
          <p:cNvSpPr/>
          <p:nvPr/>
        </p:nvSpPr>
        <p:spPr>
          <a:xfrm>
            <a:off x="3452411" y="3717251"/>
            <a:ext cx="226448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Embed security standards into infrastructure definitions.</a:t>
            </a:r>
            <a:endParaRPr lang="en-US" sz="1023" dirty="0"/>
          </a:p>
        </p:txBody>
      </p:sp>
      <p:sp>
        <p:nvSpPr>
          <p:cNvPr id="45" name="Text 14"/>
          <p:cNvSpPr/>
          <p:nvPr/>
        </p:nvSpPr>
        <p:spPr>
          <a:xfrm>
            <a:off x="6737769" y="3262498"/>
            <a:ext cx="1570986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Scalable Stacks</a:t>
            </a:r>
            <a:endParaRPr lang="en-US" sz="1169" dirty="0"/>
          </a:p>
        </p:txBody>
      </p:sp>
      <p:sp>
        <p:nvSpPr>
          <p:cNvPr id="46" name="Text 15"/>
          <p:cNvSpPr/>
          <p:nvPr/>
        </p:nvSpPr>
        <p:spPr>
          <a:xfrm>
            <a:off x="6162367" y="3717251"/>
            <a:ext cx="226448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Assign Auto Scaling and Load Balancing to services.</a:t>
            </a:r>
            <a:endParaRPr lang="en-US" sz="1023" dirty="0"/>
          </a:p>
        </p:txBody>
      </p:sp>
      <p:sp>
        <p:nvSpPr>
          <p:cNvPr id="47" name="Text 16"/>
          <p:cNvSpPr/>
          <p:nvPr/>
        </p:nvSpPr>
        <p:spPr>
          <a:xfrm>
            <a:off x="9447726" y="3262498"/>
            <a:ext cx="1798072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Cost Optimization</a:t>
            </a:r>
            <a:endParaRPr lang="en-US" sz="1169" dirty="0"/>
          </a:p>
        </p:txBody>
      </p:sp>
      <p:sp>
        <p:nvSpPr>
          <p:cNvPr id="48" name="Text 17"/>
          <p:cNvSpPr/>
          <p:nvPr/>
        </p:nvSpPr>
        <p:spPr>
          <a:xfrm>
            <a:off x="8872324" y="3717251"/>
            <a:ext cx="2264484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 resource scaling based on demand.</a:t>
            </a:r>
            <a:endParaRPr lang="en-US" sz="102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79226"/>
            <a:ext cx="11879263" cy="77957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1712625"/>
            <a:ext cx="742454" cy="3712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2120975"/>
            <a:ext cx="445472" cy="44547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2171" y="2195220"/>
            <a:ext cx="167052" cy="29698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963" y="2789183"/>
            <a:ext cx="445472" cy="44547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2171" y="2863428"/>
            <a:ext cx="278420" cy="29698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963" y="3457392"/>
            <a:ext cx="445472" cy="445472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2171" y="3531637"/>
            <a:ext cx="278420" cy="29698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963" y="4125600"/>
            <a:ext cx="445472" cy="44547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62171" y="4199845"/>
            <a:ext cx="222736" cy="296982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445472" y="301963"/>
            <a:ext cx="10988318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1</a:t>
            </a:r>
            <a:endParaRPr lang="en-US" sz="2192" dirty="0"/>
          </a:p>
        </p:txBody>
      </p:sp>
      <p:sp>
        <p:nvSpPr>
          <p:cNvPr id="16" name="Text 1"/>
          <p:cNvSpPr/>
          <p:nvPr/>
        </p:nvSpPr>
        <p:spPr>
          <a:xfrm>
            <a:off x="445472" y="1304275"/>
            <a:ext cx="13185981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AWS CloudFormation primarily used for?</a:t>
            </a:r>
            <a:endParaRPr lang="en-US" sz="2192" dirty="0"/>
          </a:p>
        </p:txBody>
      </p:sp>
      <p:sp>
        <p:nvSpPr>
          <p:cNvPr id="17" name="Text 2"/>
          <p:cNvSpPr/>
          <p:nvPr/>
        </p:nvSpPr>
        <p:spPr>
          <a:xfrm>
            <a:off x="730418" y="2195220"/>
            <a:ext cx="206901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</a:t>
            </a:r>
            <a:endParaRPr lang="en-US" sz="1754" dirty="0"/>
          </a:p>
        </p:txBody>
      </p:sp>
      <p:sp>
        <p:nvSpPr>
          <p:cNvPr id="18" name="Text 3"/>
          <p:cNvSpPr/>
          <p:nvPr/>
        </p:nvSpPr>
        <p:spPr>
          <a:xfrm>
            <a:off x="1577715" y="2213781"/>
            <a:ext cx="3763371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Managing AWS billing information</a:t>
            </a:r>
            <a:endParaRPr lang="en-US" sz="1461" dirty="0"/>
          </a:p>
        </p:txBody>
      </p:sp>
      <p:sp>
        <p:nvSpPr>
          <p:cNvPr id="19" name="Text 4"/>
          <p:cNvSpPr/>
          <p:nvPr/>
        </p:nvSpPr>
        <p:spPr>
          <a:xfrm>
            <a:off x="731723" y="2863428"/>
            <a:ext cx="203769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</a:t>
            </a:r>
            <a:endParaRPr lang="en-US" sz="1754" dirty="0"/>
          </a:p>
        </p:txBody>
      </p:sp>
      <p:sp>
        <p:nvSpPr>
          <p:cNvPr id="20" name="Text 5"/>
          <p:cNvSpPr/>
          <p:nvPr/>
        </p:nvSpPr>
        <p:spPr>
          <a:xfrm>
            <a:off x="1689083" y="2881990"/>
            <a:ext cx="593504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Modeling and provisioning AWS resources using code</a:t>
            </a:r>
            <a:endParaRPr lang="en-US" sz="1461" dirty="0"/>
          </a:p>
        </p:txBody>
      </p:sp>
      <p:sp>
        <p:nvSpPr>
          <p:cNvPr id="21" name="Text 6"/>
          <p:cNvSpPr/>
          <p:nvPr/>
        </p:nvSpPr>
        <p:spPr>
          <a:xfrm>
            <a:off x="734913" y="3531637"/>
            <a:ext cx="19628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1754" dirty="0"/>
          </a:p>
        </p:txBody>
      </p:sp>
      <p:sp>
        <p:nvSpPr>
          <p:cNvPr id="22" name="Text 7"/>
          <p:cNvSpPr/>
          <p:nvPr/>
        </p:nvSpPr>
        <p:spPr>
          <a:xfrm>
            <a:off x="1689083" y="3550198"/>
            <a:ext cx="462021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Writing application code for AWS Lambda</a:t>
            </a:r>
            <a:endParaRPr lang="en-US" sz="1461" dirty="0"/>
          </a:p>
        </p:txBody>
      </p:sp>
      <p:sp>
        <p:nvSpPr>
          <p:cNvPr id="23" name="Text 8"/>
          <p:cNvSpPr/>
          <p:nvPr/>
        </p:nvSpPr>
        <p:spPr>
          <a:xfrm>
            <a:off x="724183" y="4199845"/>
            <a:ext cx="22186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</a:t>
            </a:r>
            <a:endParaRPr lang="en-US" sz="1754" dirty="0"/>
          </a:p>
        </p:txBody>
      </p:sp>
      <p:sp>
        <p:nvSpPr>
          <p:cNvPr id="24" name="Text 9"/>
          <p:cNvSpPr/>
          <p:nvPr/>
        </p:nvSpPr>
        <p:spPr>
          <a:xfrm>
            <a:off x="1633398" y="4218407"/>
            <a:ext cx="354098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Monitoring AWS resource usage</a:t>
            </a:r>
            <a:endParaRPr lang="en-US" sz="146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6"/>
            <a:ext cx="11879263" cy="612524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79226"/>
            <a:ext cx="11879263" cy="77957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1675502"/>
            <a:ext cx="742454" cy="3712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72" y="1935361"/>
            <a:ext cx="10988318" cy="118792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208" y="2158097"/>
            <a:ext cx="371227" cy="37122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576" y="2269465"/>
            <a:ext cx="148491" cy="14849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5473" y="3457392"/>
            <a:ext cx="139210" cy="185613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6699" y="4865734"/>
            <a:ext cx="74245" cy="14849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6699" y="5199838"/>
            <a:ext cx="74245" cy="14849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92492" y="6343681"/>
            <a:ext cx="92807" cy="148491"/>
          </a:xfrm>
          <a:prstGeom prst="rect">
            <a:avLst/>
          </a:prstGeom>
        </p:spPr>
      </p:pic>
      <p:sp>
        <p:nvSpPr>
          <p:cNvPr id="18" name="Text 1"/>
          <p:cNvSpPr/>
          <p:nvPr/>
        </p:nvSpPr>
        <p:spPr>
          <a:xfrm>
            <a:off x="445472" y="1304275"/>
            <a:ext cx="13185981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AWS CloudFormation primarily used for?</a:t>
            </a:r>
            <a:endParaRPr lang="en-US" sz="1754" dirty="0"/>
          </a:p>
        </p:txBody>
      </p:sp>
      <p:sp>
        <p:nvSpPr>
          <p:cNvPr id="19" name="Text 2"/>
          <p:cNvSpPr/>
          <p:nvPr/>
        </p:nvSpPr>
        <p:spPr>
          <a:xfrm>
            <a:off x="1187927" y="2213781"/>
            <a:ext cx="226999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Correct Answer: B</a:t>
            </a:r>
            <a:endParaRPr lang="en-US" sz="1461" dirty="0"/>
          </a:p>
        </p:txBody>
      </p:sp>
      <p:sp>
        <p:nvSpPr>
          <p:cNvPr id="20" name="Text 3"/>
          <p:cNvSpPr/>
          <p:nvPr/>
        </p:nvSpPr>
        <p:spPr>
          <a:xfrm>
            <a:off x="1187926" y="2640692"/>
            <a:ext cx="1202775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Modeling and provisioning AWS resources using code</a:t>
            </a:r>
            <a:endParaRPr lang="en-US" sz="1461" dirty="0"/>
          </a:p>
        </p:txBody>
      </p:sp>
      <p:sp>
        <p:nvSpPr>
          <p:cNvPr id="21" name="Text 4"/>
          <p:cNvSpPr/>
          <p:nvPr/>
        </p:nvSpPr>
        <p:spPr>
          <a:xfrm>
            <a:off x="696050" y="3420269"/>
            <a:ext cx="1098831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Explanation</a:t>
            </a:r>
            <a:endParaRPr lang="en-US" sz="1461" dirty="0"/>
          </a:p>
        </p:txBody>
      </p:sp>
      <p:sp>
        <p:nvSpPr>
          <p:cNvPr id="22" name="Text 5"/>
          <p:cNvSpPr/>
          <p:nvPr/>
        </p:nvSpPr>
        <p:spPr>
          <a:xfrm>
            <a:off x="816699" y="3791497"/>
            <a:ext cx="10617091" cy="8143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38"/>
              </a:lnSpc>
            </a:pPr>
            <a:r>
              <a:rPr lang="en-US" sz="1315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CloudFormation is a service that helps users model and set up their AWS resources by creating a template that describes all the desired AWS resources. This allows for the provisioning and configuration of these resources as code, reducing manual management and focusing on applications.</a:t>
            </a:r>
            <a:endParaRPr lang="en-US" sz="1315" dirty="0"/>
          </a:p>
        </p:txBody>
      </p:sp>
      <p:sp>
        <p:nvSpPr>
          <p:cNvPr id="23" name="Text 6"/>
          <p:cNvSpPr/>
          <p:nvPr/>
        </p:nvSpPr>
        <p:spPr>
          <a:xfrm>
            <a:off x="1002312" y="4828611"/>
            <a:ext cx="695650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Templates are declarative text files that define infrastructure as code</a:t>
            </a:r>
            <a:endParaRPr lang="en-US" sz="1315" dirty="0"/>
          </a:p>
        </p:txBody>
      </p:sp>
      <p:sp>
        <p:nvSpPr>
          <p:cNvPr id="24" name="Text 7"/>
          <p:cNvSpPr/>
          <p:nvPr/>
        </p:nvSpPr>
        <p:spPr>
          <a:xfrm>
            <a:off x="1002313" y="5162716"/>
            <a:ext cx="492873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Templates can be written in JSON or YAML format</a:t>
            </a:r>
            <a:endParaRPr lang="en-US" sz="1315" dirty="0"/>
          </a:p>
        </p:txBody>
      </p:sp>
      <p:sp>
        <p:nvSpPr>
          <p:cNvPr id="27" name="Text 10"/>
          <p:cNvSpPr/>
          <p:nvPr/>
        </p:nvSpPr>
        <p:spPr>
          <a:xfrm>
            <a:off x="9903248" y="6334401"/>
            <a:ext cx="1325455" cy="1763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1754"/>
              </a:lnSpc>
            </a:pPr>
            <a:r>
              <a:rPr lang="en-US" sz="1169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Next Question </a:t>
            </a:r>
            <a:endParaRPr lang="en-US" sz="116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73776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631446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7302" y="1471328"/>
            <a:ext cx="1187926" cy="118792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79226"/>
            <a:ext cx="11879263" cy="77957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472" y="1712625"/>
            <a:ext cx="742454" cy="37123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63" y="2120975"/>
            <a:ext cx="10839827" cy="74245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454" y="2269466"/>
            <a:ext cx="445472" cy="44547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10662" y="2343711"/>
            <a:ext cx="222736" cy="29698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63" y="3086165"/>
            <a:ext cx="10839827" cy="74245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454" y="3234656"/>
            <a:ext cx="445472" cy="44547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10662" y="3308901"/>
            <a:ext cx="278420" cy="29698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3963" y="4051355"/>
            <a:ext cx="10839827" cy="74245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454" y="4199846"/>
            <a:ext cx="445472" cy="445472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10662" y="4274091"/>
            <a:ext cx="278420" cy="296982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963" y="5016545"/>
            <a:ext cx="10839827" cy="742454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2454" y="5165036"/>
            <a:ext cx="445472" cy="445472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10662" y="5239281"/>
            <a:ext cx="222736" cy="296982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445472" y="301963"/>
            <a:ext cx="5295727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2</a:t>
            </a:r>
            <a:endParaRPr lang="en-US" sz="2192" dirty="0"/>
          </a:p>
        </p:txBody>
      </p:sp>
      <p:sp>
        <p:nvSpPr>
          <p:cNvPr id="22" name="Text 2"/>
          <p:cNvSpPr/>
          <p:nvPr/>
        </p:nvSpPr>
        <p:spPr>
          <a:xfrm>
            <a:off x="445472" y="1304275"/>
            <a:ext cx="10988318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is a CloudFormation stack?</a:t>
            </a:r>
            <a:endParaRPr lang="en-US" sz="2192" dirty="0"/>
          </a:p>
        </p:txBody>
      </p:sp>
      <p:sp>
        <p:nvSpPr>
          <p:cNvPr id="23" name="Text 3"/>
          <p:cNvSpPr/>
          <p:nvPr/>
        </p:nvSpPr>
        <p:spPr>
          <a:xfrm>
            <a:off x="878908" y="2343711"/>
            <a:ext cx="206901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</a:t>
            </a:r>
            <a:endParaRPr lang="en-US" sz="1754" dirty="0"/>
          </a:p>
        </p:txBody>
      </p:sp>
      <p:sp>
        <p:nvSpPr>
          <p:cNvPr id="24" name="Text 4"/>
          <p:cNvSpPr/>
          <p:nvPr/>
        </p:nvSpPr>
        <p:spPr>
          <a:xfrm>
            <a:off x="1781890" y="2362272"/>
            <a:ext cx="276975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collection of templates</a:t>
            </a:r>
            <a:endParaRPr lang="en-US" sz="1461" dirty="0"/>
          </a:p>
        </p:txBody>
      </p:sp>
      <p:sp>
        <p:nvSpPr>
          <p:cNvPr id="25" name="Text 5"/>
          <p:cNvSpPr/>
          <p:nvPr/>
        </p:nvSpPr>
        <p:spPr>
          <a:xfrm>
            <a:off x="880214" y="3308901"/>
            <a:ext cx="203769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</a:t>
            </a:r>
            <a:endParaRPr lang="en-US" sz="1754" dirty="0"/>
          </a:p>
        </p:txBody>
      </p:sp>
      <p:sp>
        <p:nvSpPr>
          <p:cNvPr id="26" name="Text 6"/>
          <p:cNvSpPr/>
          <p:nvPr/>
        </p:nvSpPr>
        <p:spPr>
          <a:xfrm>
            <a:off x="1837573" y="3327462"/>
            <a:ext cx="5217769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deployment of a CloudFormation template</a:t>
            </a:r>
            <a:endParaRPr lang="en-US" sz="1461" dirty="0"/>
          </a:p>
        </p:txBody>
      </p:sp>
      <p:sp>
        <p:nvSpPr>
          <p:cNvPr id="27" name="Text 7"/>
          <p:cNvSpPr/>
          <p:nvPr/>
        </p:nvSpPr>
        <p:spPr>
          <a:xfrm>
            <a:off x="883404" y="4274091"/>
            <a:ext cx="19628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1754" dirty="0"/>
          </a:p>
        </p:txBody>
      </p:sp>
      <p:sp>
        <p:nvSpPr>
          <p:cNvPr id="28" name="Text 8"/>
          <p:cNvSpPr/>
          <p:nvPr/>
        </p:nvSpPr>
        <p:spPr>
          <a:xfrm>
            <a:off x="1837573" y="4292652"/>
            <a:ext cx="534566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programming language for defining resources</a:t>
            </a:r>
            <a:endParaRPr lang="en-US" sz="1461" dirty="0"/>
          </a:p>
        </p:txBody>
      </p:sp>
      <p:sp>
        <p:nvSpPr>
          <p:cNvPr id="29" name="Text 9"/>
          <p:cNvSpPr/>
          <p:nvPr/>
        </p:nvSpPr>
        <p:spPr>
          <a:xfrm>
            <a:off x="872674" y="5239281"/>
            <a:ext cx="22186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</a:t>
            </a:r>
            <a:endParaRPr lang="en-US" sz="1754" dirty="0"/>
          </a:p>
        </p:txBody>
      </p:sp>
      <p:sp>
        <p:nvSpPr>
          <p:cNvPr id="30" name="Text 10"/>
          <p:cNvSpPr/>
          <p:nvPr/>
        </p:nvSpPr>
        <p:spPr>
          <a:xfrm>
            <a:off x="1781889" y="5257842"/>
            <a:ext cx="478813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monitoring dashboard for AWS resources</a:t>
            </a:r>
            <a:endParaRPr lang="en-US" sz="146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79226"/>
            <a:ext cx="11879263" cy="77957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1304275"/>
            <a:ext cx="2240703" cy="4083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1424924"/>
            <a:ext cx="167052" cy="16705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72" y="4366898"/>
            <a:ext cx="148491" cy="14849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72" y="4701002"/>
            <a:ext cx="148491" cy="14849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6716" y="2622131"/>
            <a:ext cx="2598589" cy="371227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22963" y="2733499"/>
            <a:ext cx="185613" cy="14849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36716" y="3271778"/>
            <a:ext cx="2598589" cy="371227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4536" y="3383146"/>
            <a:ext cx="167052" cy="14849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36716" y="3921425"/>
            <a:ext cx="2598589" cy="371227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892190" y="4032793"/>
            <a:ext cx="148491" cy="148491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445472" y="301963"/>
            <a:ext cx="10988318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Answer 2</a:t>
            </a:r>
            <a:endParaRPr lang="en-US" sz="2192" dirty="0"/>
          </a:p>
        </p:txBody>
      </p:sp>
      <p:sp>
        <p:nvSpPr>
          <p:cNvPr id="17" name="Text 1"/>
          <p:cNvSpPr/>
          <p:nvPr/>
        </p:nvSpPr>
        <p:spPr>
          <a:xfrm>
            <a:off x="835261" y="1332117"/>
            <a:ext cx="2688844" cy="4083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Correct Answer: B</a:t>
            </a:r>
            <a:endParaRPr lang="en-US" sz="1315" dirty="0"/>
          </a:p>
        </p:txBody>
      </p:sp>
      <p:sp>
        <p:nvSpPr>
          <p:cNvPr id="18" name="Text 2"/>
          <p:cNvSpPr/>
          <p:nvPr/>
        </p:nvSpPr>
        <p:spPr>
          <a:xfrm>
            <a:off x="445473" y="2009606"/>
            <a:ext cx="6295922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Explanation:</a:t>
            </a:r>
            <a:endParaRPr lang="en-US" sz="1754" dirty="0"/>
          </a:p>
        </p:txBody>
      </p:sp>
      <p:sp>
        <p:nvSpPr>
          <p:cNvPr id="19" name="Text 3"/>
          <p:cNvSpPr/>
          <p:nvPr/>
        </p:nvSpPr>
        <p:spPr>
          <a:xfrm>
            <a:off x="445473" y="2455079"/>
            <a:ext cx="6295922" cy="120648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75"/>
              </a:lnSpc>
            </a:pPr>
            <a:r>
              <a:rPr lang="en-US" sz="146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CloudFormation stack is the deployment of a CloudFormation template. It represents a collection of AWS resources that CloudFormation manages as a single unit, based on the definitions provided in a single template.</a:t>
            </a:r>
            <a:endParaRPr lang="en-US" sz="1461" dirty="0"/>
          </a:p>
        </p:txBody>
      </p:sp>
      <p:sp>
        <p:nvSpPr>
          <p:cNvPr id="20" name="Text 4"/>
          <p:cNvSpPr/>
          <p:nvPr/>
        </p:nvSpPr>
        <p:spPr>
          <a:xfrm>
            <a:off x="445473" y="3958548"/>
            <a:ext cx="629592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Points:</a:t>
            </a:r>
            <a:endParaRPr lang="en-US" sz="1461" dirty="0"/>
          </a:p>
        </p:txBody>
      </p:sp>
      <p:sp>
        <p:nvSpPr>
          <p:cNvPr id="21" name="Text 5"/>
          <p:cNvSpPr/>
          <p:nvPr/>
        </p:nvSpPr>
        <p:spPr>
          <a:xfrm>
            <a:off x="705331" y="4329775"/>
            <a:ext cx="2439483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Stack = deployed template</a:t>
            </a:r>
            <a:endParaRPr lang="en-US" sz="1169" dirty="0"/>
          </a:p>
        </p:txBody>
      </p:sp>
      <p:sp>
        <p:nvSpPr>
          <p:cNvPr id="22" name="Text 6"/>
          <p:cNvSpPr/>
          <p:nvPr/>
        </p:nvSpPr>
        <p:spPr>
          <a:xfrm>
            <a:off x="705331" y="4663879"/>
            <a:ext cx="3218015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Resources managed as a single unit</a:t>
            </a:r>
            <a:endParaRPr lang="en-US" sz="1169" dirty="0"/>
          </a:p>
        </p:txBody>
      </p:sp>
      <p:sp>
        <p:nvSpPr>
          <p:cNvPr id="23" name="Text 7"/>
          <p:cNvSpPr/>
          <p:nvPr/>
        </p:nvSpPr>
        <p:spPr>
          <a:xfrm>
            <a:off x="8982822" y="2622131"/>
            <a:ext cx="2598589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Template</a:t>
            </a:r>
            <a:endParaRPr lang="en-US" sz="1169" dirty="0"/>
          </a:p>
        </p:txBody>
      </p:sp>
      <p:sp>
        <p:nvSpPr>
          <p:cNvPr id="24" name="Text 8"/>
          <p:cNvSpPr/>
          <p:nvPr/>
        </p:nvSpPr>
        <p:spPr>
          <a:xfrm>
            <a:off x="8925833" y="3271778"/>
            <a:ext cx="2598589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Resources</a:t>
            </a:r>
            <a:endParaRPr lang="en-US" sz="1169" dirty="0"/>
          </a:p>
        </p:txBody>
      </p:sp>
      <p:sp>
        <p:nvSpPr>
          <p:cNvPr id="25" name="Text 9"/>
          <p:cNvSpPr/>
          <p:nvPr/>
        </p:nvSpPr>
        <p:spPr>
          <a:xfrm>
            <a:off x="9114926" y="3921425"/>
            <a:ext cx="2598589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Stack</a:t>
            </a:r>
            <a:endParaRPr lang="en-US" sz="1169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79226"/>
            <a:ext cx="11879263" cy="77957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1712625"/>
            <a:ext cx="742454" cy="3712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2120975"/>
            <a:ext cx="556840" cy="5568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5657" y="2232343"/>
            <a:ext cx="213455" cy="33410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2900551"/>
            <a:ext cx="556840" cy="55684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657" y="3011919"/>
            <a:ext cx="213455" cy="33410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3680128"/>
            <a:ext cx="556840" cy="55684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5657" y="3791496"/>
            <a:ext cx="213455" cy="33410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4459705"/>
            <a:ext cx="556840" cy="55684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5657" y="4571073"/>
            <a:ext cx="213455" cy="334104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445472" y="301963"/>
            <a:ext cx="10988318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3</a:t>
            </a:r>
            <a:endParaRPr lang="en-US" sz="2192" dirty="0"/>
          </a:p>
        </p:txBody>
      </p:sp>
      <p:sp>
        <p:nvSpPr>
          <p:cNvPr id="16" name="Text 1"/>
          <p:cNvSpPr/>
          <p:nvPr/>
        </p:nvSpPr>
        <p:spPr>
          <a:xfrm>
            <a:off x="445472" y="1304275"/>
            <a:ext cx="13185981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Which file formats can CloudFormation templates use?</a:t>
            </a:r>
            <a:endParaRPr lang="en-US" sz="2192" dirty="0"/>
          </a:p>
        </p:txBody>
      </p:sp>
      <p:sp>
        <p:nvSpPr>
          <p:cNvPr id="17" name="Text 2"/>
          <p:cNvSpPr/>
          <p:nvPr/>
        </p:nvSpPr>
        <p:spPr>
          <a:xfrm>
            <a:off x="1299294" y="2120974"/>
            <a:ext cx="1158199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</a:t>
            </a:r>
            <a:endParaRPr lang="en-US" sz="1754" dirty="0"/>
          </a:p>
        </p:txBody>
      </p:sp>
      <p:sp>
        <p:nvSpPr>
          <p:cNvPr id="18" name="Text 3"/>
          <p:cNvSpPr/>
          <p:nvPr/>
        </p:nvSpPr>
        <p:spPr>
          <a:xfrm>
            <a:off x="1299294" y="2417956"/>
            <a:ext cx="1478933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XML and CSV</a:t>
            </a:r>
            <a:endParaRPr lang="en-US" sz="1461" dirty="0"/>
          </a:p>
        </p:txBody>
      </p:sp>
      <p:sp>
        <p:nvSpPr>
          <p:cNvPr id="19" name="Text 4"/>
          <p:cNvSpPr/>
          <p:nvPr/>
        </p:nvSpPr>
        <p:spPr>
          <a:xfrm>
            <a:off x="1299294" y="2900551"/>
            <a:ext cx="1340043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</a:t>
            </a:r>
            <a:endParaRPr lang="en-US" sz="1754" dirty="0"/>
          </a:p>
        </p:txBody>
      </p:sp>
      <p:sp>
        <p:nvSpPr>
          <p:cNvPr id="20" name="Text 5"/>
          <p:cNvSpPr/>
          <p:nvPr/>
        </p:nvSpPr>
        <p:spPr>
          <a:xfrm>
            <a:off x="1299295" y="3197533"/>
            <a:ext cx="169714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JSON and YAML</a:t>
            </a:r>
            <a:endParaRPr lang="en-US" sz="1461" dirty="0"/>
          </a:p>
        </p:txBody>
      </p:sp>
      <p:sp>
        <p:nvSpPr>
          <p:cNvPr id="21" name="Text 6"/>
          <p:cNvSpPr/>
          <p:nvPr/>
        </p:nvSpPr>
        <p:spPr>
          <a:xfrm>
            <a:off x="1299294" y="3680128"/>
            <a:ext cx="1966778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1754" dirty="0"/>
          </a:p>
        </p:txBody>
      </p:sp>
      <p:sp>
        <p:nvSpPr>
          <p:cNvPr id="22" name="Text 7"/>
          <p:cNvSpPr/>
          <p:nvPr/>
        </p:nvSpPr>
        <p:spPr>
          <a:xfrm>
            <a:off x="1299294" y="3977109"/>
            <a:ext cx="244922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Python and JavaScript</a:t>
            </a:r>
            <a:endParaRPr lang="en-US" sz="1461" dirty="0"/>
          </a:p>
        </p:txBody>
      </p:sp>
      <p:sp>
        <p:nvSpPr>
          <p:cNvPr id="23" name="Text 8"/>
          <p:cNvSpPr/>
          <p:nvPr/>
        </p:nvSpPr>
        <p:spPr>
          <a:xfrm>
            <a:off x="1299294" y="4459704"/>
            <a:ext cx="1274788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</a:t>
            </a:r>
            <a:endParaRPr lang="en-US" sz="1754" dirty="0"/>
          </a:p>
        </p:txBody>
      </p:sp>
      <p:sp>
        <p:nvSpPr>
          <p:cNvPr id="24" name="Text 9"/>
          <p:cNvSpPr/>
          <p:nvPr/>
        </p:nvSpPr>
        <p:spPr>
          <a:xfrm>
            <a:off x="1299294" y="4756686"/>
            <a:ext cx="1618840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HTML and CSS</a:t>
            </a:r>
            <a:endParaRPr lang="en-US" sz="146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6"/>
            <a:ext cx="11879263" cy="736885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6"/>
            <a:ext cx="11879263" cy="736885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79226"/>
            <a:ext cx="11879263" cy="77957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1304275"/>
            <a:ext cx="2033047" cy="37122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1406363"/>
            <a:ext cx="148491" cy="14849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72" y="3234655"/>
            <a:ext cx="167052" cy="29698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5472" y="3717251"/>
            <a:ext cx="5345668" cy="267283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8122" y="3234655"/>
            <a:ext cx="167052" cy="296982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8122" y="3717251"/>
            <a:ext cx="5345668" cy="1559153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" y="7007590"/>
            <a:ext cx="11879263" cy="519718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445472" y="301963"/>
            <a:ext cx="10988318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Answer 3</a:t>
            </a:r>
            <a:endParaRPr lang="en-US" sz="2192" dirty="0"/>
          </a:p>
        </p:txBody>
      </p:sp>
      <p:sp>
        <p:nvSpPr>
          <p:cNvPr id="13" name="Text 1"/>
          <p:cNvSpPr/>
          <p:nvPr/>
        </p:nvSpPr>
        <p:spPr>
          <a:xfrm>
            <a:off x="816699" y="1375277"/>
            <a:ext cx="2439657" cy="3712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b="1" dirty="0">
                <a:solidFill>
                  <a:srgbClr val="059669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Correct Answer: B</a:t>
            </a:r>
            <a:endParaRPr lang="en-US" sz="1169" dirty="0"/>
          </a:p>
        </p:txBody>
      </p:sp>
      <p:sp>
        <p:nvSpPr>
          <p:cNvPr id="14" name="Text 2"/>
          <p:cNvSpPr/>
          <p:nvPr/>
        </p:nvSpPr>
        <p:spPr>
          <a:xfrm>
            <a:off x="445472" y="2009606"/>
            <a:ext cx="13185981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Which file formats can CloudFormation templates use?</a:t>
            </a:r>
            <a:endParaRPr lang="en-US" sz="1754" dirty="0"/>
          </a:p>
        </p:txBody>
      </p:sp>
      <p:sp>
        <p:nvSpPr>
          <p:cNvPr id="15" name="Text 3"/>
          <p:cNvSpPr/>
          <p:nvPr/>
        </p:nvSpPr>
        <p:spPr>
          <a:xfrm>
            <a:off x="445472" y="2417956"/>
            <a:ext cx="10988318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correct answer is B. CloudFormation templates are declarative text files that define infrastructure as code. These templates can be written in either JSON or YAML format.</a:t>
            </a:r>
            <a:endParaRPr lang="en-US" sz="1461" dirty="0"/>
          </a:p>
        </p:txBody>
      </p:sp>
      <p:sp>
        <p:nvSpPr>
          <p:cNvPr id="16" name="Text 4"/>
          <p:cNvSpPr/>
          <p:nvPr/>
        </p:nvSpPr>
        <p:spPr>
          <a:xfrm>
            <a:off x="723893" y="3253217"/>
            <a:ext cx="1761704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JSON Example</a:t>
            </a:r>
            <a:endParaRPr lang="en-US" sz="1461" dirty="0"/>
          </a:p>
        </p:txBody>
      </p:sp>
      <p:sp>
        <p:nvSpPr>
          <p:cNvPr id="17" name="Text 5"/>
          <p:cNvSpPr/>
          <p:nvPr/>
        </p:nvSpPr>
        <p:spPr>
          <a:xfrm>
            <a:off x="556840" y="3856461"/>
            <a:ext cx="3831758" cy="239441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endParaRPr lang="en-US" sz="1169" dirty="0"/>
          </a:p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"AWSTemplateFormatVersion": "2010-09-09",</a:t>
            </a:r>
            <a:endParaRPr lang="en-US" sz="1169" dirty="0"/>
          </a:p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"Resources": {</a:t>
            </a:r>
            <a:endParaRPr lang="en-US" sz="1169" dirty="0"/>
          </a:p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"MyS3Bucket": {</a:t>
            </a:r>
            <a:endParaRPr lang="en-US" sz="1169" dirty="0"/>
          </a:p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"Type": "AWS::S3::Bucket",</a:t>
            </a:r>
            <a:endParaRPr lang="en-US" sz="1169" dirty="0"/>
          </a:p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"Properties": {</a:t>
            </a:r>
            <a:endParaRPr lang="en-US" sz="1169" dirty="0"/>
          </a:p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"BucketName": "my-bucket"</a:t>
            </a:r>
            <a:endParaRPr lang="en-US" sz="1169" dirty="0"/>
          </a:p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}</a:t>
            </a:r>
            <a:endParaRPr lang="en-US" sz="1169" dirty="0"/>
          </a:p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}</a:t>
            </a:r>
            <a:endParaRPr lang="en-US" sz="1169" dirty="0"/>
          </a:p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}</a:t>
            </a:r>
            <a:endParaRPr lang="en-US" sz="1169" dirty="0"/>
          </a:p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169" dirty="0"/>
          </a:p>
        </p:txBody>
      </p:sp>
      <p:sp>
        <p:nvSpPr>
          <p:cNvPr id="18" name="Text 6"/>
          <p:cNvSpPr/>
          <p:nvPr/>
        </p:nvSpPr>
        <p:spPr>
          <a:xfrm>
            <a:off x="6366542" y="3253217"/>
            <a:ext cx="181860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YAML Example</a:t>
            </a:r>
            <a:endParaRPr lang="en-US" sz="1461" dirty="0"/>
          </a:p>
        </p:txBody>
      </p:sp>
      <p:sp>
        <p:nvSpPr>
          <p:cNvPr id="19" name="Text 7"/>
          <p:cNvSpPr/>
          <p:nvPr/>
        </p:nvSpPr>
        <p:spPr>
          <a:xfrm>
            <a:off x="6199490" y="3856461"/>
            <a:ext cx="3386141" cy="12807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AWSTemplateFormatVersion: '2010-09-09'</a:t>
            </a:r>
            <a:endParaRPr lang="en-US" sz="1169" dirty="0"/>
          </a:p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Resources:</a:t>
            </a:r>
            <a:endParaRPr lang="en-US" sz="1169" dirty="0"/>
          </a:p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MyS3Bucket:</a:t>
            </a:r>
            <a:endParaRPr lang="en-US" sz="1169" dirty="0"/>
          </a:p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Type: AWS::S3::Bucket</a:t>
            </a:r>
            <a:endParaRPr lang="en-US" sz="1169" dirty="0"/>
          </a:p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Properties:</a:t>
            </a:r>
            <a:endParaRPr lang="en-US" sz="1169" dirty="0"/>
          </a:p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374151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BucketName: my-bucket</a:t>
            </a:r>
            <a:endParaRPr lang="en-US" sz="1169" dirty="0"/>
          </a:p>
        </p:txBody>
      </p:sp>
      <p:sp>
        <p:nvSpPr>
          <p:cNvPr id="20" name="Text 8"/>
          <p:cNvSpPr/>
          <p:nvPr/>
        </p:nvSpPr>
        <p:spPr>
          <a:xfrm>
            <a:off x="445472" y="7174642"/>
            <a:ext cx="2319414" cy="1763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CloudFormation Quiz</a:t>
            </a:r>
            <a:endParaRPr lang="en-US" sz="1169" dirty="0"/>
          </a:p>
        </p:txBody>
      </p:sp>
      <p:sp>
        <p:nvSpPr>
          <p:cNvPr id="21" name="Text 9"/>
          <p:cNvSpPr/>
          <p:nvPr/>
        </p:nvSpPr>
        <p:spPr>
          <a:xfrm>
            <a:off x="10318659" y="7174642"/>
            <a:ext cx="1338157" cy="1763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Answer 3 of 30</a:t>
            </a:r>
            <a:endParaRPr lang="en-US" sz="1169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7"/>
            <a:ext cx="11879263" cy="668208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79226"/>
            <a:ext cx="11879263" cy="77957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2046729"/>
            <a:ext cx="742454" cy="3712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2455079"/>
            <a:ext cx="5271423" cy="118792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454" y="2603570"/>
            <a:ext cx="561916" cy="59396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4129" y="2733499"/>
            <a:ext cx="278420" cy="33410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7106" y="2603570"/>
            <a:ext cx="371227" cy="371227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2367" y="2455079"/>
            <a:ext cx="5271423" cy="118792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0858" y="2603570"/>
            <a:ext cx="593963" cy="593963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68630" y="2733499"/>
            <a:ext cx="278420" cy="33410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27557" y="2603570"/>
            <a:ext cx="371227" cy="371227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3963" y="3939987"/>
            <a:ext cx="5271423" cy="1187926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2454" y="4088478"/>
            <a:ext cx="556840" cy="593963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1664" y="4218407"/>
            <a:ext cx="278420" cy="334104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22030" y="4088477"/>
            <a:ext cx="371227" cy="371227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162367" y="3939987"/>
            <a:ext cx="5271423" cy="1187926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10858" y="4088478"/>
            <a:ext cx="593963" cy="593963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50068" y="4218407"/>
            <a:ext cx="315543" cy="334104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27557" y="4088477"/>
            <a:ext cx="371227" cy="371227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-1" y="6241594"/>
            <a:ext cx="11879263" cy="519718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445472" y="301963"/>
            <a:ext cx="10988318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4</a:t>
            </a:r>
            <a:endParaRPr lang="en-US" sz="2192" dirty="0"/>
          </a:p>
        </p:txBody>
      </p:sp>
      <p:sp>
        <p:nvSpPr>
          <p:cNvPr id="24" name="Text 1"/>
          <p:cNvSpPr/>
          <p:nvPr/>
        </p:nvSpPr>
        <p:spPr>
          <a:xfrm>
            <a:off x="445472" y="1304275"/>
            <a:ext cx="10988318" cy="6682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Which section of a CloudFormation template defines the AWS resources to be created?</a:t>
            </a:r>
            <a:endParaRPr lang="en-US" sz="2192" dirty="0"/>
          </a:p>
        </p:txBody>
      </p:sp>
      <p:sp>
        <p:nvSpPr>
          <p:cNvPr id="25" name="Text 2"/>
          <p:cNvSpPr/>
          <p:nvPr/>
        </p:nvSpPr>
        <p:spPr>
          <a:xfrm>
            <a:off x="1640794" y="2659254"/>
            <a:ext cx="172446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</a:t>
            </a:r>
            <a:endParaRPr lang="en-US" sz="1461" dirty="0"/>
          </a:p>
        </p:txBody>
      </p:sp>
      <p:sp>
        <p:nvSpPr>
          <p:cNvPr id="26" name="Text 3"/>
          <p:cNvSpPr/>
          <p:nvPr/>
        </p:nvSpPr>
        <p:spPr>
          <a:xfrm>
            <a:off x="2009701" y="2640692"/>
            <a:ext cx="1740996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Parameters</a:t>
            </a:r>
            <a:endParaRPr lang="en-US" sz="1754" dirty="0"/>
          </a:p>
        </p:txBody>
      </p:sp>
      <p:sp>
        <p:nvSpPr>
          <p:cNvPr id="28" name="Text 5"/>
          <p:cNvSpPr/>
          <p:nvPr/>
        </p:nvSpPr>
        <p:spPr>
          <a:xfrm>
            <a:off x="7242406" y="2659254"/>
            <a:ext cx="169837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</a:t>
            </a:r>
            <a:endParaRPr lang="en-US" sz="1461" dirty="0"/>
          </a:p>
        </p:txBody>
      </p:sp>
      <p:sp>
        <p:nvSpPr>
          <p:cNvPr id="29" name="Text 6"/>
          <p:cNvSpPr/>
          <p:nvPr/>
        </p:nvSpPr>
        <p:spPr>
          <a:xfrm>
            <a:off x="7610153" y="2640692"/>
            <a:ext cx="1550800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Resources</a:t>
            </a:r>
            <a:endParaRPr lang="en-US" sz="1754" dirty="0"/>
          </a:p>
        </p:txBody>
      </p:sp>
      <p:sp>
        <p:nvSpPr>
          <p:cNvPr id="31" name="Text 8"/>
          <p:cNvSpPr/>
          <p:nvPr/>
        </p:nvSpPr>
        <p:spPr>
          <a:xfrm>
            <a:off x="1639489" y="4144161"/>
            <a:ext cx="163572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</a:t>
            </a:r>
            <a:endParaRPr lang="en-US" sz="1461" dirty="0"/>
          </a:p>
        </p:txBody>
      </p:sp>
      <p:sp>
        <p:nvSpPr>
          <p:cNvPr id="32" name="Text 9"/>
          <p:cNvSpPr/>
          <p:nvPr/>
        </p:nvSpPr>
        <p:spPr>
          <a:xfrm>
            <a:off x="2004626" y="4125600"/>
            <a:ext cx="1213738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Outputs</a:t>
            </a:r>
            <a:endParaRPr lang="en-US" sz="1754" dirty="0"/>
          </a:p>
        </p:txBody>
      </p:sp>
      <p:sp>
        <p:nvSpPr>
          <p:cNvPr id="34" name="Text 11"/>
          <p:cNvSpPr/>
          <p:nvPr/>
        </p:nvSpPr>
        <p:spPr>
          <a:xfrm>
            <a:off x="7236025" y="4144161"/>
            <a:ext cx="184975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</a:t>
            </a:r>
            <a:endParaRPr lang="en-US" sz="1461" dirty="0"/>
          </a:p>
        </p:txBody>
      </p:sp>
      <p:sp>
        <p:nvSpPr>
          <p:cNvPr id="35" name="Text 12"/>
          <p:cNvSpPr/>
          <p:nvPr/>
        </p:nvSpPr>
        <p:spPr>
          <a:xfrm>
            <a:off x="7610152" y="4125600"/>
            <a:ext cx="1461358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Mappings</a:t>
            </a:r>
            <a:endParaRPr lang="en-US" sz="175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9226"/>
            <a:ext cx="11879263" cy="799994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79226"/>
            <a:ext cx="11879263" cy="799994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79226"/>
            <a:ext cx="11879263" cy="77957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472" y="1304275"/>
            <a:ext cx="10988318" cy="63108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963" y="1452766"/>
            <a:ext cx="278420" cy="33410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472" y="4756686"/>
            <a:ext cx="10988318" cy="233873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" y="7638676"/>
            <a:ext cx="11879263" cy="519718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445472" y="301963"/>
            <a:ext cx="10988318" cy="33410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631"/>
              </a:lnSpc>
            </a:pPr>
            <a:r>
              <a:rPr lang="en-US" sz="2192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Answer 4</a:t>
            </a:r>
            <a:endParaRPr lang="en-US" sz="2192" dirty="0"/>
          </a:p>
        </p:txBody>
      </p:sp>
      <p:sp>
        <p:nvSpPr>
          <p:cNvPr id="10" name="Text 1"/>
          <p:cNvSpPr/>
          <p:nvPr/>
        </p:nvSpPr>
        <p:spPr>
          <a:xfrm>
            <a:off x="1020874" y="1471327"/>
            <a:ext cx="5309474" cy="29698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338"/>
              </a:lnSpc>
            </a:pPr>
            <a:r>
              <a:rPr lang="en-US" sz="1754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correct answer is B) Resources</a:t>
            </a:r>
            <a:endParaRPr lang="en-US" sz="1754" dirty="0"/>
          </a:p>
        </p:txBody>
      </p:sp>
      <p:sp>
        <p:nvSpPr>
          <p:cNvPr id="11" name="Text 2"/>
          <p:cNvSpPr/>
          <p:nvPr/>
        </p:nvSpPr>
        <p:spPr>
          <a:xfrm>
            <a:off x="445472" y="2232343"/>
            <a:ext cx="1098831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Explanation:</a:t>
            </a:r>
            <a:endParaRPr lang="en-US" sz="1461" dirty="0"/>
          </a:p>
        </p:txBody>
      </p:sp>
      <p:sp>
        <p:nvSpPr>
          <p:cNvPr id="12" name="Text 3"/>
          <p:cNvSpPr/>
          <p:nvPr/>
        </p:nvSpPr>
        <p:spPr>
          <a:xfrm>
            <a:off x="445472" y="2603570"/>
            <a:ext cx="10988318" cy="5197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315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</a:t>
            </a:r>
            <a:r>
              <a:rPr lang="en-US" sz="1315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Resources</a:t>
            </a:r>
            <a:r>
              <a:rPr lang="en-US" sz="1315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section is a mandatory part of a CloudFormation template. It is where you declare the AWS resources that you want to provision and configure.</a:t>
            </a:r>
            <a:endParaRPr lang="en-US" sz="1315" dirty="0"/>
          </a:p>
        </p:txBody>
      </p:sp>
      <p:sp>
        <p:nvSpPr>
          <p:cNvPr id="13" name="Text 4"/>
          <p:cNvSpPr/>
          <p:nvPr/>
        </p:nvSpPr>
        <p:spPr>
          <a:xfrm>
            <a:off x="482595" y="3271778"/>
            <a:ext cx="1314143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Resources are declared using a logical ID and a resource type</a:t>
            </a:r>
            <a:endParaRPr lang="en-US" sz="1169" dirty="0"/>
          </a:p>
        </p:txBody>
      </p:sp>
      <p:sp>
        <p:nvSpPr>
          <p:cNvPr id="14" name="Text 5"/>
          <p:cNvSpPr/>
          <p:nvPr/>
        </p:nvSpPr>
        <p:spPr>
          <a:xfrm>
            <a:off x="482595" y="3568760"/>
            <a:ext cx="1314143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Each resource can have properties that specify how it should be configured</a:t>
            </a:r>
            <a:endParaRPr lang="en-US" sz="1169" dirty="0"/>
          </a:p>
        </p:txBody>
      </p:sp>
      <p:sp>
        <p:nvSpPr>
          <p:cNvPr id="15" name="Text 6"/>
          <p:cNvSpPr/>
          <p:nvPr/>
        </p:nvSpPr>
        <p:spPr>
          <a:xfrm>
            <a:off x="482595" y="3865741"/>
            <a:ext cx="13141434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34087" indent="-334087">
              <a:lnSpc>
                <a:spcPts val="1754"/>
              </a:lnSpc>
              <a:buSzPct val="100000"/>
              <a:buChar char="•"/>
            </a:pPr>
            <a:r>
              <a:rPr lang="en-US" sz="1169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Resources can depend on other resources using the DependsOn attribute</a:t>
            </a:r>
            <a:endParaRPr lang="en-US" sz="1169" dirty="0"/>
          </a:p>
        </p:txBody>
      </p:sp>
      <p:sp>
        <p:nvSpPr>
          <p:cNvPr id="16" name="Text 7"/>
          <p:cNvSpPr/>
          <p:nvPr/>
        </p:nvSpPr>
        <p:spPr>
          <a:xfrm>
            <a:off x="445472" y="4385459"/>
            <a:ext cx="10988318" cy="2598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046"/>
              </a:lnSpc>
            </a:pPr>
            <a:r>
              <a:rPr lang="en-US" sz="1461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Example:</a:t>
            </a:r>
            <a:endParaRPr lang="en-US" sz="1461" dirty="0"/>
          </a:p>
        </p:txBody>
      </p:sp>
      <p:sp>
        <p:nvSpPr>
          <p:cNvPr id="17" name="Text 8"/>
          <p:cNvSpPr/>
          <p:nvPr/>
        </p:nvSpPr>
        <p:spPr>
          <a:xfrm>
            <a:off x="593963" y="4923738"/>
            <a:ext cx="2729098" cy="200462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{</a:t>
            </a:r>
            <a:endParaRPr lang="en-US" sz="1023" dirty="0"/>
          </a:p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"Resources": {</a:t>
            </a:r>
            <a:endParaRPr lang="en-US" sz="1023" dirty="0"/>
          </a:p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"MyEC2Instance": {</a:t>
            </a:r>
            <a:endParaRPr lang="en-US" sz="1023" dirty="0"/>
          </a:p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"Type": "AWS::EC2::Instance",</a:t>
            </a:r>
            <a:endParaRPr lang="en-US" sz="1023" dirty="0"/>
          </a:p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"Properties": {</a:t>
            </a:r>
            <a:endParaRPr lang="en-US" sz="1023" dirty="0"/>
          </a:p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"ImageId": "ami-12345678",</a:t>
            </a:r>
            <a:endParaRPr lang="en-US" sz="1023" dirty="0"/>
          </a:p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  "InstanceType": "t2.micro"</a:t>
            </a:r>
            <a:endParaRPr lang="en-US" sz="1023" dirty="0"/>
          </a:p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  }</a:t>
            </a:r>
            <a:endParaRPr lang="en-US" sz="1023" dirty="0"/>
          </a:p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  }</a:t>
            </a:r>
            <a:endParaRPr lang="en-US" sz="1023" dirty="0"/>
          </a:p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  }</a:t>
            </a:r>
            <a:endParaRPr lang="en-US" sz="1023" dirty="0"/>
          </a:p>
          <a:p>
            <a:pPr>
              <a:lnSpc>
                <a:spcPts val="1461"/>
              </a:lnSpc>
            </a:pPr>
            <a:r>
              <a:rPr lang="en-US" sz="1023" dirty="0">
                <a:solidFill>
                  <a:srgbClr val="1F293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}</a:t>
            </a:r>
            <a:endParaRPr lang="en-US" sz="1023" dirty="0"/>
          </a:p>
        </p:txBody>
      </p:sp>
      <p:sp>
        <p:nvSpPr>
          <p:cNvPr id="18" name="Text 9"/>
          <p:cNvSpPr/>
          <p:nvPr/>
        </p:nvSpPr>
        <p:spPr>
          <a:xfrm>
            <a:off x="445472" y="7805728"/>
            <a:ext cx="2319414" cy="1763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AWS CloudFormation Quiz</a:t>
            </a:r>
            <a:endParaRPr lang="en-US" sz="1169" dirty="0"/>
          </a:p>
        </p:txBody>
      </p:sp>
      <p:sp>
        <p:nvSpPr>
          <p:cNvPr id="19" name="Text 10"/>
          <p:cNvSpPr/>
          <p:nvPr/>
        </p:nvSpPr>
        <p:spPr>
          <a:xfrm>
            <a:off x="10201491" y="7787167"/>
            <a:ext cx="1478760" cy="2227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754"/>
              </a:lnSpc>
            </a:pPr>
            <a:r>
              <a:rPr lang="en-US" sz="1169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Question 4 of 30</a:t>
            </a:r>
            <a:endParaRPr lang="en-US" sz="116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</TotalTime>
  <Words>1399</Words>
  <Application>Microsoft Office PowerPoint</Application>
  <PresentationFormat>Custom</PresentationFormat>
  <Paragraphs>273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ui-monospace</vt:lpstr>
      <vt:lpstr>ui-sans-serif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Ritesh Behal</cp:lastModifiedBy>
  <cp:revision>43</cp:revision>
  <dcterms:created xsi:type="dcterms:W3CDTF">2025-10-28T02:16:51Z</dcterms:created>
  <dcterms:modified xsi:type="dcterms:W3CDTF">2025-11-10T11:30:27Z</dcterms:modified>
</cp:coreProperties>
</file>