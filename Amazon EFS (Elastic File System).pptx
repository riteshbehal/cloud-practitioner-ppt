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75" r:id="rId7"/>
    <p:sldId id="260" r:id="rId8"/>
    <p:sldId id="276" r:id="rId9"/>
    <p:sldId id="277" r:id="rId10"/>
    <p:sldId id="278" r:id="rId11"/>
    <p:sldId id="279" r:id="rId12"/>
    <p:sldId id="284" r:id="rId13"/>
    <p:sldId id="263" r:id="rId14"/>
  </p:sldIdLst>
  <p:sldSz cx="11879263" cy="68405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28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119505"/>
            <a:ext cx="8909447" cy="2381521"/>
          </a:xfrm>
        </p:spPr>
        <p:txBody>
          <a:bodyPr anchor="b"/>
          <a:lstStyle>
            <a:lvl1pPr algn="ctr"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592866"/>
            <a:ext cx="8909447" cy="1651546"/>
          </a:xfrm>
        </p:spPr>
        <p:txBody>
          <a:bodyPr/>
          <a:lstStyle>
            <a:lvl1pPr marL="0" indent="0" algn="ctr">
              <a:buNone/>
              <a:defRPr sz="2338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20628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062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979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1363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511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6933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7218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54314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5969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885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0775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50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42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" Type="http://schemas.openxmlformats.org/officeDocument/2006/relationships/image" Target="../media/image1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33" Type="http://schemas.openxmlformats.org/officeDocument/2006/relationships/image" Target="../media/image62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29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32" Type="http://schemas.openxmlformats.org/officeDocument/2006/relationships/image" Target="../media/image61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28" Type="http://schemas.openxmlformats.org/officeDocument/2006/relationships/image" Target="../media/image57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31" Type="http://schemas.openxmlformats.org/officeDocument/2006/relationships/image" Target="../media/image60.png"/><Relationship Id="rId4" Type="http://schemas.openxmlformats.org/officeDocument/2006/relationships/image" Target="../media/image12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Relationship Id="rId27" Type="http://schemas.openxmlformats.org/officeDocument/2006/relationships/image" Target="../media/image56.png"/><Relationship Id="rId30" Type="http://schemas.openxmlformats.org/officeDocument/2006/relationships/image" Target="../media/image59.png"/><Relationship Id="rId8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1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19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1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82.png"/><Relationship Id="rId10" Type="http://schemas.openxmlformats.org/officeDocument/2006/relationships/image" Target="../media/image86.png"/><Relationship Id="rId4" Type="http://schemas.openxmlformats.org/officeDocument/2006/relationships/image" Target="../media/image1.png"/><Relationship Id="rId9" Type="http://schemas.openxmlformats.org/officeDocument/2006/relationships/image" Target="../media/image8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4.png"/><Relationship Id="rId3" Type="http://schemas.openxmlformats.org/officeDocument/2006/relationships/image" Target="../media/image87.png"/><Relationship Id="rId7" Type="http://schemas.openxmlformats.org/officeDocument/2006/relationships/image" Target="../media/image89.png"/><Relationship Id="rId12" Type="http://schemas.openxmlformats.org/officeDocument/2006/relationships/image" Target="../media/image9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8.png"/><Relationship Id="rId11" Type="http://schemas.openxmlformats.org/officeDocument/2006/relationships/image" Target="../media/image92.png"/><Relationship Id="rId5" Type="http://schemas.openxmlformats.org/officeDocument/2006/relationships/image" Target="../media/image12.png"/><Relationship Id="rId15" Type="http://schemas.openxmlformats.org/officeDocument/2006/relationships/image" Target="../media/image96.png"/><Relationship Id="rId10" Type="http://schemas.openxmlformats.org/officeDocument/2006/relationships/image" Target="../media/image77.png"/><Relationship Id="rId4" Type="http://schemas.openxmlformats.org/officeDocument/2006/relationships/image" Target="../media/image82.png"/><Relationship Id="rId9" Type="http://schemas.openxmlformats.org/officeDocument/2006/relationships/image" Target="../media/image91.png"/><Relationship Id="rId14" Type="http://schemas.openxmlformats.org/officeDocument/2006/relationships/image" Target="../media/image9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png"/><Relationship Id="rId5" Type="http://schemas.openxmlformats.org/officeDocument/2006/relationships/image" Target="../media/image12.png"/><Relationship Id="rId4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1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12.png"/><Relationship Id="rId10" Type="http://schemas.openxmlformats.org/officeDocument/2006/relationships/image" Target="../media/image102.png"/><Relationship Id="rId4" Type="http://schemas.openxmlformats.org/officeDocument/2006/relationships/image" Target="../media/image82.png"/><Relationship Id="rId9" Type="http://schemas.openxmlformats.org/officeDocument/2006/relationships/image" Target="../media/image10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2.png"/><Relationship Id="rId3" Type="http://schemas.openxmlformats.org/officeDocument/2006/relationships/image" Target="../media/image1.png"/><Relationship Id="rId7" Type="http://schemas.openxmlformats.org/officeDocument/2006/relationships/image" Target="../media/image107.pn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5" Type="http://schemas.openxmlformats.org/officeDocument/2006/relationships/image" Target="../media/image12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82.png"/><Relationship Id="rId9" Type="http://schemas.openxmlformats.org/officeDocument/2006/relationships/image" Target="../media/image97.png"/><Relationship Id="rId14" Type="http://schemas.openxmlformats.org/officeDocument/2006/relationships/image" Target="../media/image1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.png"/><Relationship Id="rId21" Type="http://schemas.openxmlformats.org/officeDocument/2006/relationships/image" Target="../media/image12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8.png"/><Relationship Id="rId11" Type="http://schemas.openxmlformats.org/officeDocument/2006/relationships/image" Target="../media/image119.png"/><Relationship Id="rId5" Type="http://schemas.openxmlformats.org/officeDocument/2006/relationships/image" Target="../media/image12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4" Type="http://schemas.openxmlformats.org/officeDocument/2006/relationships/image" Target="../media/image8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1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0.png"/><Relationship Id="rId5" Type="http://schemas.openxmlformats.org/officeDocument/2006/relationships/image" Target="../media/image12.png"/><Relationship Id="rId10" Type="http://schemas.openxmlformats.org/officeDocument/2006/relationships/image" Target="../media/image133.png"/><Relationship Id="rId4" Type="http://schemas.openxmlformats.org/officeDocument/2006/relationships/image" Target="../media/image82.png"/><Relationship Id="rId9" Type="http://schemas.openxmlformats.org/officeDocument/2006/relationships/image" Target="../media/image1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3" Type="http://schemas.openxmlformats.org/officeDocument/2006/relationships/image" Target="../media/image134.png"/><Relationship Id="rId21" Type="http://schemas.openxmlformats.org/officeDocument/2006/relationships/image" Target="../media/image152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134" y="1007294"/>
            <a:ext cx="1113681" cy="11136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236" y="1471328"/>
            <a:ext cx="928067" cy="92806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337" y="1935361"/>
            <a:ext cx="742454" cy="74245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3833" y="4533950"/>
            <a:ext cx="835261" cy="83526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4707" y="4812370"/>
            <a:ext cx="1020874" cy="102087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5523" y="3083845"/>
            <a:ext cx="1187926" cy="3712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5242" y="4086158"/>
            <a:ext cx="2168633" cy="22737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926" y="4104719"/>
            <a:ext cx="167052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" y="6464330"/>
            <a:ext cx="11879263" cy="29698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11985" y="450453"/>
            <a:ext cx="696051" cy="575402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24389" y="2257865"/>
            <a:ext cx="4614815" cy="649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4384"/>
              </a:lnSpc>
            </a:pPr>
            <a:r>
              <a:rPr lang="en-US" sz="4384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EFS</a:t>
            </a:r>
            <a:endParaRPr lang="en-US" sz="4384" dirty="0"/>
          </a:p>
        </p:txBody>
      </p:sp>
      <p:sp>
        <p:nvSpPr>
          <p:cNvPr id="14" name="Text 1"/>
          <p:cNvSpPr/>
          <p:nvPr/>
        </p:nvSpPr>
        <p:spPr>
          <a:xfrm>
            <a:off x="4106350" y="2257865"/>
            <a:ext cx="7705976" cy="649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4384"/>
              </a:lnSpc>
            </a:pPr>
            <a:r>
              <a:rPr lang="en-US" sz="438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(Elastic File System)</a:t>
            </a:r>
            <a:endParaRPr lang="en-US" sz="4384" dirty="0"/>
          </a:p>
        </p:txBody>
      </p:sp>
      <p:sp>
        <p:nvSpPr>
          <p:cNvPr id="15" name="Text 2"/>
          <p:cNvSpPr/>
          <p:nvPr/>
        </p:nvSpPr>
        <p:spPr>
          <a:xfrm>
            <a:off x="-3799" y="3417949"/>
            <a:ext cx="855306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scalable, fully managed cloud file storage service for AWS</a:t>
            </a:r>
            <a:endParaRPr lang="en-US" sz="1754" dirty="0"/>
          </a:p>
        </p:txBody>
      </p:sp>
      <p:sp>
        <p:nvSpPr>
          <p:cNvPr id="16" name="Text 3"/>
          <p:cNvSpPr/>
          <p:nvPr/>
        </p:nvSpPr>
        <p:spPr>
          <a:xfrm>
            <a:off x="4638379" y="4086158"/>
            <a:ext cx="2602359" cy="2273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25"/>
              </a:lnSpc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/aws/elastic-file-system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784557"/>
            <a:ext cx="890945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2455079"/>
            <a:ext cx="6830576" cy="92806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54" y="2636146"/>
            <a:ext cx="222736" cy="2969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3568760"/>
            <a:ext cx="6830576" cy="70533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54" y="3772934"/>
            <a:ext cx="278420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4459705"/>
            <a:ext cx="6830576" cy="92806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54" y="4657581"/>
            <a:ext cx="194894" cy="29698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770" y="2752061"/>
            <a:ext cx="9281" cy="593963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593963" y="301963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 to </a:t>
            </a:r>
            <a:r>
              <a:rPr lang="en-US" sz="2631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EFS</a:t>
            </a:r>
            <a:endParaRPr lang="en-US" sz="2631" dirty="0"/>
          </a:p>
        </p:txBody>
      </p:sp>
      <p:sp>
        <p:nvSpPr>
          <p:cNvPr id="23" name="Text 1"/>
          <p:cNvSpPr/>
          <p:nvPr/>
        </p:nvSpPr>
        <p:spPr>
          <a:xfrm>
            <a:off x="593963" y="1192908"/>
            <a:ext cx="6830576" cy="1039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Elastic File System (EFS) is a serverless, fully elastic cloud file storage service that offers a simple, scalable, and fully managed Network File System (NFS) compatible with AWS compute services and on-premises resources.</a:t>
            </a:r>
            <a:endParaRPr lang="en-US" sz="1461" dirty="0"/>
          </a:p>
        </p:txBody>
      </p:sp>
      <p:sp>
        <p:nvSpPr>
          <p:cNvPr id="24" name="Text 2"/>
          <p:cNvSpPr/>
          <p:nvPr/>
        </p:nvSpPr>
        <p:spPr>
          <a:xfrm>
            <a:off x="1113681" y="2566447"/>
            <a:ext cx="608812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Serverless &amp; Fully Elastic</a:t>
            </a:r>
            <a:endParaRPr lang="en-US" sz="1315" dirty="0"/>
          </a:p>
        </p:txBody>
      </p:sp>
      <p:sp>
        <p:nvSpPr>
          <p:cNvPr id="25" name="Text 3"/>
          <p:cNvSpPr/>
          <p:nvPr/>
        </p:nvSpPr>
        <p:spPr>
          <a:xfrm>
            <a:off x="1113681" y="2826306"/>
            <a:ext cx="608812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scales storage capacity and performance without manual provisioning</a:t>
            </a:r>
            <a:endParaRPr lang="en-US" sz="1169" dirty="0"/>
          </a:p>
        </p:txBody>
      </p:sp>
      <p:sp>
        <p:nvSpPr>
          <p:cNvPr id="26" name="Text 4"/>
          <p:cNvSpPr/>
          <p:nvPr/>
        </p:nvSpPr>
        <p:spPr>
          <a:xfrm>
            <a:off x="1169365" y="3680128"/>
            <a:ext cx="657437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&amp; On-Premises Compatible</a:t>
            </a:r>
            <a:endParaRPr lang="en-US" sz="1315" dirty="0"/>
          </a:p>
        </p:txBody>
      </p:sp>
      <p:sp>
        <p:nvSpPr>
          <p:cNvPr id="27" name="Text 5"/>
          <p:cNvSpPr/>
          <p:nvPr/>
        </p:nvSpPr>
        <p:spPr>
          <a:xfrm>
            <a:off x="1169365" y="3939987"/>
            <a:ext cx="657437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Works seamlessly with AWS compute services and on-premises resources</a:t>
            </a:r>
            <a:endParaRPr lang="en-US" sz="1169" dirty="0"/>
          </a:p>
        </p:txBody>
      </p:sp>
      <p:sp>
        <p:nvSpPr>
          <p:cNvPr id="28" name="Text 6"/>
          <p:cNvSpPr/>
          <p:nvPr/>
        </p:nvSpPr>
        <p:spPr>
          <a:xfrm>
            <a:off x="1085839" y="4571072"/>
            <a:ext cx="611596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Scalable from GB to PB</a:t>
            </a:r>
            <a:endParaRPr lang="en-US" sz="1315" dirty="0"/>
          </a:p>
        </p:txBody>
      </p:sp>
      <p:sp>
        <p:nvSpPr>
          <p:cNvPr id="29" name="Text 7"/>
          <p:cNvSpPr/>
          <p:nvPr/>
        </p:nvSpPr>
        <p:spPr>
          <a:xfrm>
            <a:off x="1085839" y="4830932"/>
            <a:ext cx="611596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Seamlessly scales from gigabytes to petabytes while maintaining high throughput</a:t>
            </a:r>
            <a:endParaRPr lang="en-US" sz="1169" dirty="0"/>
          </a:p>
        </p:txBody>
      </p:sp>
      <p:pic>
        <p:nvPicPr>
          <p:cNvPr id="31" name="Image 18" descr="preencoded.png">
            <a:extLst>
              <a:ext uri="{FF2B5EF4-FFF2-40B4-BE49-F238E27FC236}">
                <a16:creationId xmlns:a16="http://schemas.microsoft.com/office/drawing/2014/main" id="{5EDE1C52-12CB-140F-CB9C-FD0AC3D340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1706" y="2659254"/>
            <a:ext cx="4825950" cy="14849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784557"/>
            <a:ext cx="890945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18662"/>
            <a:ext cx="5122932" cy="122504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54" y="1304275"/>
            <a:ext cx="371227" cy="37122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463" y="1359959"/>
            <a:ext cx="139210" cy="2598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2492202"/>
            <a:ext cx="5122932" cy="100231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54" y="2677815"/>
            <a:ext cx="371227" cy="37122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060" y="2733499"/>
            <a:ext cx="232017" cy="2598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63" y="3643005"/>
            <a:ext cx="5122932" cy="122504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454" y="3828619"/>
            <a:ext cx="371227" cy="37122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060" y="3884303"/>
            <a:ext cx="232017" cy="2598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367" y="1118662"/>
            <a:ext cx="5122932" cy="122504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0858" y="1304275"/>
            <a:ext cx="371227" cy="37122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2945" y="1359959"/>
            <a:ext cx="167052" cy="25985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367" y="2492202"/>
            <a:ext cx="5122932" cy="100231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0858" y="2677815"/>
            <a:ext cx="371227" cy="37122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3665" y="2733499"/>
            <a:ext cx="185613" cy="25985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62367" y="3643005"/>
            <a:ext cx="5122932" cy="178188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10858" y="3791496"/>
            <a:ext cx="4825950" cy="1484908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93963" y="301963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Concepts and </a:t>
            </a:r>
            <a:r>
              <a:rPr lang="en-US" sz="2631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</a:t>
            </a:r>
            <a:endParaRPr lang="en-US" sz="2631" dirty="0"/>
          </a:p>
        </p:txBody>
      </p:sp>
      <p:sp>
        <p:nvSpPr>
          <p:cNvPr id="22" name="Text 1"/>
          <p:cNvSpPr/>
          <p:nvPr/>
        </p:nvSpPr>
        <p:spPr>
          <a:xfrm>
            <a:off x="1262171" y="1267153"/>
            <a:ext cx="43062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Mount Targets</a:t>
            </a:r>
            <a:endParaRPr lang="en-US" sz="1315" dirty="0"/>
          </a:p>
        </p:txBody>
      </p:sp>
      <p:sp>
        <p:nvSpPr>
          <p:cNvPr id="23" name="Text 2"/>
          <p:cNvSpPr/>
          <p:nvPr/>
        </p:nvSpPr>
        <p:spPr>
          <a:xfrm>
            <a:off x="1262171" y="1527011"/>
            <a:ext cx="4306233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VPC endpoints that provide IP addresses for NFSv4 endpoints, with flexibility to create one per Availability Zone</a:t>
            </a:r>
            <a:endParaRPr lang="en-US" sz="1169" dirty="0"/>
          </a:p>
        </p:txBody>
      </p:sp>
      <p:sp>
        <p:nvSpPr>
          <p:cNvPr id="24" name="Text 3"/>
          <p:cNvSpPr/>
          <p:nvPr/>
        </p:nvSpPr>
        <p:spPr>
          <a:xfrm>
            <a:off x="1262171" y="2640692"/>
            <a:ext cx="43062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NFSv4 Protocol</a:t>
            </a:r>
            <a:endParaRPr lang="en-US" sz="1315" dirty="0"/>
          </a:p>
        </p:txBody>
      </p:sp>
      <p:sp>
        <p:nvSpPr>
          <p:cNvPr id="25" name="Text 4"/>
          <p:cNvSpPr/>
          <p:nvPr/>
        </p:nvSpPr>
        <p:spPr>
          <a:xfrm>
            <a:off x="1262171" y="2900551"/>
            <a:ext cx="430623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Supports NFSv4.0 and NFSv4.1 protocols for compatibility with most Linux-based systems</a:t>
            </a:r>
            <a:endParaRPr lang="en-US" sz="1169" dirty="0"/>
          </a:p>
        </p:txBody>
      </p:sp>
      <p:sp>
        <p:nvSpPr>
          <p:cNvPr id="26" name="Text 5"/>
          <p:cNvSpPr/>
          <p:nvPr/>
        </p:nvSpPr>
        <p:spPr>
          <a:xfrm>
            <a:off x="1262171" y="3791496"/>
            <a:ext cx="43062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Concurrent Access</a:t>
            </a:r>
            <a:endParaRPr lang="en-US" sz="1315" dirty="0"/>
          </a:p>
        </p:txBody>
      </p:sp>
      <p:sp>
        <p:nvSpPr>
          <p:cNvPr id="27" name="Text 6"/>
          <p:cNvSpPr/>
          <p:nvPr/>
        </p:nvSpPr>
        <p:spPr>
          <a:xfrm>
            <a:off x="1262171" y="4051355"/>
            <a:ext cx="4306233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Facilitates simultaneous access for thousands of EC2 instances, container services, Lambda functions, and on-premises servers</a:t>
            </a:r>
            <a:endParaRPr lang="en-US" sz="1169" dirty="0"/>
          </a:p>
        </p:txBody>
      </p:sp>
      <p:sp>
        <p:nvSpPr>
          <p:cNvPr id="28" name="Text 7"/>
          <p:cNvSpPr/>
          <p:nvPr/>
        </p:nvSpPr>
        <p:spPr>
          <a:xfrm>
            <a:off x="6830576" y="1267153"/>
            <a:ext cx="43062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Scaling</a:t>
            </a:r>
            <a:endParaRPr lang="en-US" sz="1315" dirty="0"/>
          </a:p>
        </p:txBody>
      </p:sp>
      <p:sp>
        <p:nvSpPr>
          <p:cNvPr id="29" name="Text 8"/>
          <p:cNvSpPr/>
          <p:nvPr/>
        </p:nvSpPr>
        <p:spPr>
          <a:xfrm>
            <a:off x="6830576" y="1527011"/>
            <a:ext cx="4306233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Elastic file system automatically expands and contracts storage capacity without manual provisioning, scaling from GB to PB</a:t>
            </a:r>
            <a:endParaRPr lang="en-US" sz="1169" dirty="0"/>
          </a:p>
        </p:txBody>
      </p:sp>
      <p:sp>
        <p:nvSpPr>
          <p:cNvPr id="30" name="Text 9"/>
          <p:cNvSpPr/>
          <p:nvPr/>
        </p:nvSpPr>
        <p:spPr>
          <a:xfrm>
            <a:off x="6830576" y="2640692"/>
            <a:ext cx="51674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Durability &amp; Availability</a:t>
            </a:r>
            <a:endParaRPr lang="en-US" sz="1315" dirty="0"/>
          </a:p>
        </p:txBody>
      </p:sp>
      <p:sp>
        <p:nvSpPr>
          <p:cNvPr id="31" name="Text 10"/>
          <p:cNvSpPr/>
          <p:nvPr/>
        </p:nvSpPr>
        <p:spPr>
          <a:xfrm>
            <a:off x="6830576" y="2900551"/>
            <a:ext cx="430623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Two file system types: Regional and One Zone (replication within AZ availability)</a:t>
            </a:r>
            <a:endParaRPr lang="en-US" sz="11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784557"/>
            <a:ext cx="890945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46504"/>
            <a:ext cx="250578" cy="2227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564134"/>
            <a:ext cx="3415288" cy="12621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31" y="1675502"/>
            <a:ext cx="371227" cy="37122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260" y="1786870"/>
            <a:ext cx="111368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7926" y="2547886"/>
            <a:ext cx="129929" cy="12992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2974796"/>
            <a:ext cx="3415288" cy="12621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31" y="3086165"/>
            <a:ext cx="371227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699" y="3197533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7926" y="3958548"/>
            <a:ext cx="129929" cy="12992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6232" y="1146504"/>
            <a:ext cx="222736" cy="22273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6233" y="1564134"/>
            <a:ext cx="3266797" cy="126217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7600" y="1675502"/>
            <a:ext cx="371227" cy="37122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8249" y="1786870"/>
            <a:ext cx="129929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0196" y="2547886"/>
            <a:ext cx="129929" cy="12992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6233" y="2974796"/>
            <a:ext cx="3266797" cy="1262172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7600" y="3086165"/>
            <a:ext cx="371227" cy="371227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0407" y="3197533"/>
            <a:ext cx="185613" cy="1484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0196" y="3958548"/>
            <a:ext cx="129929" cy="129929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70012" y="1146504"/>
            <a:ext cx="194894" cy="222736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0011" y="1564134"/>
            <a:ext cx="3415288" cy="779577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81379" y="1768309"/>
            <a:ext cx="371227" cy="371227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2747" y="1879677"/>
            <a:ext cx="148491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70011" y="2455079"/>
            <a:ext cx="3415288" cy="779577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81379" y="2659254"/>
            <a:ext cx="371227" cy="371227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11309" y="2770622"/>
            <a:ext cx="111368" cy="14849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70011" y="3485234"/>
            <a:ext cx="222736" cy="222736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70011" y="3865741"/>
            <a:ext cx="3415288" cy="1484908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3345" y="4459704"/>
            <a:ext cx="371227" cy="371227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34713" y="4571072"/>
            <a:ext cx="148491" cy="148491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14030" y="4728844"/>
            <a:ext cx="371227" cy="18561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36995" y="4459704"/>
            <a:ext cx="371227" cy="371227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66925" y="4571072"/>
            <a:ext cx="111368" cy="148491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059960" y="4728844"/>
            <a:ext cx="371227" cy="18561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705692" y="4459704"/>
            <a:ext cx="371227" cy="371227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817060" y="4571072"/>
            <a:ext cx="148491" cy="148491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593963" y="301963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and </a:t>
            </a:r>
            <a:r>
              <a:rPr lang="en-US" sz="2631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Storage Options</a:t>
            </a:r>
            <a:endParaRPr lang="en-US" sz="2631" dirty="0"/>
          </a:p>
        </p:txBody>
      </p:sp>
      <p:sp>
        <p:nvSpPr>
          <p:cNvPr id="40" name="Text 1"/>
          <p:cNvSpPr/>
          <p:nvPr/>
        </p:nvSpPr>
        <p:spPr>
          <a:xfrm>
            <a:off x="918786" y="1118662"/>
            <a:ext cx="409834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Performance Modes </a:t>
            </a: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(Latency)</a:t>
            </a:r>
            <a:endParaRPr lang="en-US" sz="1169" dirty="0"/>
          </a:p>
        </p:txBody>
      </p:sp>
      <p:sp>
        <p:nvSpPr>
          <p:cNvPr id="41" name="Text 2"/>
          <p:cNvSpPr/>
          <p:nvPr/>
        </p:nvSpPr>
        <p:spPr>
          <a:xfrm>
            <a:off x="1187926" y="1675502"/>
            <a:ext cx="320740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General Purpose</a:t>
            </a:r>
            <a:endParaRPr lang="en-US" sz="1315" dirty="0"/>
          </a:p>
        </p:txBody>
      </p:sp>
      <p:sp>
        <p:nvSpPr>
          <p:cNvPr id="42" name="Text 3"/>
          <p:cNvSpPr/>
          <p:nvPr/>
        </p:nvSpPr>
        <p:spPr>
          <a:xfrm>
            <a:off x="1187926" y="1935361"/>
            <a:ext cx="2672834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 mode optimized for latency-sensitive applications like web serving and content management</a:t>
            </a:r>
            <a:endParaRPr lang="en-US" sz="1023" dirty="0"/>
          </a:p>
        </p:txBody>
      </p:sp>
      <p:sp>
        <p:nvSpPr>
          <p:cNvPr id="43" name="Text 4"/>
          <p:cNvSpPr/>
          <p:nvPr/>
        </p:nvSpPr>
        <p:spPr>
          <a:xfrm>
            <a:off x="1354978" y="2529325"/>
            <a:ext cx="3207401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Lowest per-operation latency</a:t>
            </a:r>
            <a:endParaRPr lang="en-US" sz="1023" dirty="0"/>
          </a:p>
        </p:txBody>
      </p:sp>
      <p:sp>
        <p:nvSpPr>
          <p:cNvPr id="44" name="Text 5"/>
          <p:cNvSpPr/>
          <p:nvPr/>
        </p:nvSpPr>
        <p:spPr>
          <a:xfrm>
            <a:off x="1187926" y="3086165"/>
            <a:ext cx="26728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I/O</a:t>
            </a:r>
            <a:endParaRPr lang="en-US" sz="1315" dirty="0"/>
          </a:p>
        </p:txBody>
      </p:sp>
      <p:sp>
        <p:nvSpPr>
          <p:cNvPr id="45" name="Text 6"/>
          <p:cNvSpPr/>
          <p:nvPr/>
        </p:nvSpPr>
        <p:spPr>
          <a:xfrm>
            <a:off x="1187926" y="3346024"/>
            <a:ext cx="2672834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Designed for highly parallelized workloads that can tolerate slightly higher latencies</a:t>
            </a:r>
            <a:endParaRPr lang="en-US" sz="1023" dirty="0"/>
          </a:p>
        </p:txBody>
      </p:sp>
      <p:sp>
        <p:nvSpPr>
          <p:cNvPr id="46" name="Text 7"/>
          <p:cNvSpPr/>
          <p:nvPr/>
        </p:nvSpPr>
        <p:spPr>
          <a:xfrm>
            <a:off x="1354978" y="3939987"/>
            <a:ext cx="3207401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Higher aggregate throughput</a:t>
            </a:r>
            <a:endParaRPr lang="en-US" sz="1023" dirty="0"/>
          </a:p>
        </p:txBody>
      </p:sp>
      <p:sp>
        <p:nvSpPr>
          <p:cNvPr id="47" name="Text 8"/>
          <p:cNvSpPr/>
          <p:nvPr/>
        </p:nvSpPr>
        <p:spPr>
          <a:xfrm>
            <a:off x="4603214" y="1118662"/>
            <a:ext cx="392015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Throughput Modes </a:t>
            </a: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</a:t>
            </a:r>
            <a:r>
              <a:rPr lang="en-IN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r>
              <a:rPr lang="en-IN" sz="1169" b="1" dirty="0"/>
              <a:t>ata transfer speed)</a:t>
            </a:r>
            <a:endParaRPr lang="en-US" sz="1169" b="1" dirty="0"/>
          </a:p>
        </p:txBody>
      </p:sp>
      <p:sp>
        <p:nvSpPr>
          <p:cNvPr id="48" name="Text 9"/>
          <p:cNvSpPr/>
          <p:nvPr/>
        </p:nvSpPr>
        <p:spPr>
          <a:xfrm>
            <a:off x="4900196" y="1675502"/>
            <a:ext cx="252434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Elastic</a:t>
            </a:r>
            <a:endParaRPr lang="en-US" sz="1315" dirty="0"/>
          </a:p>
        </p:txBody>
      </p:sp>
      <p:sp>
        <p:nvSpPr>
          <p:cNvPr id="49" name="Text 10"/>
          <p:cNvSpPr/>
          <p:nvPr/>
        </p:nvSpPr>
        <p:spPr>
          <a:xfrm>
            <a:off x="4900196" y="1935361"/>
            <a:ext cx="2524343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Recommended mode that automatically scales throughput based on workload activity</a:t>
            </a:r>
            <a:endParaRPr lang="en-US" sz="1023" dirty="0"/>
          </a:p>
        </p:txBody>
      </p:sp>
      <p:sp>
        <p:nvSpPr>
          <p:cNvPr id="50" name="Text 11"/>
          <p:cNvSpPr/>
          <p:nvPr/>
        </p:nvSpPr>
        <p:spPr>
          <a:xfrm>
            <a:off x="5067248" y="2529325"/>
            <a:ext cx="3029212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Pay only for data read/write</a:t>
            </a:r>
            <a:endParaRPr lang="en-US" sz="1023" dirty="0"/>
          </a:p>
        </p:txBody>
      </p:sp>
      <p:sp>
        <p:nvSpPr>
          <p:cNvPr id="51" name="Text 12"/>
          <p:cNvSpPr/>
          <p:nvPr/>
        </p:nvSpPr>
        <p:spPr>
          <a:xfrm>
            <a:off x="4900196" y="3086165"/>
            <a:ext cx="252434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Provisioned</a:t>
            </a:r>
            <a:endParaRPr lang="en-US" sz="1315" dirty="0"/>
          </a:p>
        </p:txBody>
      </p:sp>
      <p:sp>
        <p:nvSpPr>
          <p:cNvPr id="52" name="Text 13"/>
          <p:cNvSpPr/>
          <p:nvPr/>
        </p:nvSpPr>
        <p:spPr>
          <a:xfrm>
            <a:off x="4900196" y="3346024"/>
            <a:ext cx="2524343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Specify a consistent level of throughput, independent of file system size</a:t>
            </a:r>
            <a:endParaRPr lang="en-US" sz="1023" dirty="0"/>
          </a:p>
        </p:txBody>
      </p:sp>
      <p:sp>
        <p:nvSpPr>
          <p:cNvPr id="53" name="Text 14"/>
          <p:cNvSpPr/>
          <p:nvPr/>
        </p:nvSpPr>
        <p:spPr>
          <a:xfrm>
            <a:off x="5067248" y="3939987"/>
            <a:ext cx="3029212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Guaranteed throughput level</a:t>
            </a:r>
            <a:endParaRPr lang="en-US" sz="1023" dirty="0"/>
          </a:p>
        </p:txBody>
      </p:sp>
      <p:sp>
        <p:nvSpPr>
          <p:cNvPr id="54" name="Text 15"/>
          <p:cNvSpPr/>
          <p:nvPr/>
        </p:nvSpPr>
        <p:spPr>
          <a:xfrm>
            <a:off x="8139150" y="1118662"/>
            <a:ext cx="409834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Storage Classes</a:t>
            </a:r>
            <a:endParaRPr lang="en-US" sz="1754" dirty="0"/>
          </a:p>
        </p:txBody>
      </p:sp>
      <p:sp>
        <p:nvSpPr>
          <p:cNvPr id="55" name="Text 16"/>
          <p:cNvSpPr/>
          <p:nvPr/>
        </p:nvSpPr>
        <p:spPr>
          <a:xfrm>
            <a:off x="8463974" y="1638380"/>
            <a:ext cx="26728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Standard</a:t>
            </a:r>
            <a:endParaRPr lang="en-US" sz="1315" dirty="0"/>
          </a:p>
        </p:txBody>
      </p:sp>
      <p:sp>
        <p:nvSpPr>
          <p:cNvPr id="56" name="Text 17"/>
          <p:cNvSpPr/>
          <p:nvPr/>
        </p:nvSpPr>
        <p:spPr>
          <a:xfrm>
            <a:off x="8463974" y="1898238"/>
            <a:ext cx="267283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frequently accessed data with sub-millisecond latency</a:t>
            </a:r>
            <a:endParaRPr lang="en-US" sz="1023" dirty="0"/>
          </a:p>
        </p:txBody>
      </p:sp>
      <p:sp>
        <p:nvSpPr>
          <p:cNvPr id="57" name="Text 18"/>
          <p:cNvSpPr/>
          <p:nvPr/>
        </p:nvSpPr>
        <p:spPr>
          <a:xfrm>
            <a:off x="8463974" y="2529324"/>
            <a:ext cx="320740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Infrequent Access</a:t>
            </a:r>
            <a:endParaRPr lang="en-US" sz="1315" dirty="0"/>
          </a:p>
        </p:txBody>
      </p:sp>
      <p:sp>
        <p:nvSpPr>
          <p:cNvPr id="58" name="Text 19"/>
          <p:cNvSpPr/>
          <p:nvPr/>
        </p:nvSpPr>
        <p:spPr>
          <a:xfrm>
            <a:off x="8463974" y="2789183"/>
            <a:ext cx="267283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Cost-optimized for data accessed a few times per quarter</a:t>
            </a:r>
            <a:endParaRPr lang="en-US" sz="1023" dirty="0"/>
          </a:p>
        </p:txBody>
      </p:sp>
      <p:sp>
        <p:nvSpPr>
          <p:cNvPr id="59" name="Text 20"/>
          <p:cNvSpPr/>
          <p:nvPr/>
        </p:nvSpPr>
        <p:spPr>
          <a:xfrm>
            <a:off x="8166993" y="3457391"/>
            <a:ext cx="409834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Lifecycle Management</a:t>
            </a:r>
            <a:endParaRPr lang="en-US" sz="1754" dirty="0"/>
          </a:p>
        </p:txBody>
      </p:sp>
      <p:sp>
        <p:nvSpPr>
          <p:cNvPr id="60" name="Text 21"/>
          <p:cNvSpPr/>
          <p:nvPr/>
        </p:nvSpPr>
        <p:spPr>
          <a:xfrm>
            <a:off x="7981379" y="3977109"/>
            <a:ext cx="319255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transitions files between storage classes based on inactivity policies:</a:t>
            </a:r>
            <a:endParaRPr lang="en-US" sz="1023" dirty="0"/>
          </a:p>
        </p:txBody>
      </p:sp>
      <p:sp>
        <p:nvSpPr>
          <p:cNvPr id="61" name="Text 22"/>
          <p:cNvSpPr/>
          <p:nvPr/>
        </p:nvSpPr>
        <p:spPr>
          <a:xfrm>
            <a:off x="8004958" y="4868054"/>
            <a:ext cx="608001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87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</a:t>
            </a:r>
            <a:endParaRPr lang="en-US" sz="877" dirty="0"/>
          </a:p>
        </p:txBody>
      </p:sp>
      <p:sp>
        <p:nvSpPr>
          <p:cNvPr id="62" name="Text 23"/>
          <p:cNvSpPr/>
          <p:nvPr/>
        </p:nvSpPr>
        <p:spPr>
          <a:xfrm>
            <a:off x="9436995" y="4868054"/>
            <a:ext cx="371227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87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IA</a:t>
            </a:r>
            <a:endParaRPr lang="en-US" sz="877" dirty="0"/>
          </a:p>
        </p:txBody>
      </p:sp>
      <p:sp>
        <p:nvSpPr>
          <p:cNvPr id="63" name="Text 24"/>
          <p:cNvSpPr/>
          <p:nvPr/>
        </p:nvSpPr>
        <p:spPr>
          <a:xfrm>
            <a:off x="10641250" y="4868054"/>
            <a:ext cx="500112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877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Archive</a:t>
            </a:r>
            <a:endParaRPr lang="en-US" sz="877" dirty="0"/>
          </a:p>
        </p:txBody>
      </p:sp>
      <p:sp>
        <p:nvSpPr>
          <p:cNvPr id="64" name="Text 25"/>
          <p:cNvSpPr/>
          <p:nvPr/>
        </p:nvSpPr>
        <p:spPr>
          <a:xfrm>
            <a:off x="7662124" y="5090790"/>
            <a:ext cx="3831062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87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 1, 7, 14, 30, 60, or 90 days of inactivity</a:t>
            </a:r>
            <a:endParaRPr lang="en-US" sz="877" dirty="0"/>
          </a:p>
        </p:txBody>
      </p:sp>
      <p:pic>
        <p:nvPicPr>
          <p:cNvPr id="65" name="Image 16" descr="preencoded.png">
            <a:extLst>
              <a:ext uri="{FF2B5EF4-FFF2-40B4-BE49-F238E27FC236}">
                <a16:creationId xmlns:a16="http://schemas.microsoft.com/office/drawing/2014/main" id="{40D88BA2-77E4-ADBC-EC3C-64886731FC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9707" y="4381494"/>
            <a:ext cx="3266797" cy="1262172"/>
          </a:xfrm>
          <a:prstGeom prst="rect">
            <a:avLst/>
          </a:prstGeom>
        </p:spPr>
      </p:pic>
      <p:sp>
        <p:nvSpPr>
          <p:cNvPr id="66" name="Text 12">
            <a:extLst>
              <a:ext uri="{FF2B5EF4-FFF2-40B4-BE49-F238E27FC236}">
                <a16:creationId xmlns:a16="http://schemas.microsoft.com/office/drawing/2014/main" id="{6A28E4BC-80EE-B682-7687-37E157B6ED0B}"/>
              </a:ext>
            </a:extLst>
          </p:cNvPr>
          <p:cNvSpPr/>
          <p:nvPr/>
        </p:nvSpPr>
        <p:spPr>
          <a:xfrm>
            <a:off x="4874456" y="4468985"/>
            <a:ext cx="252434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Bursting</a:t>
            </a:r>
            <a:endParaRPr lang="en-US" sz="1315" dirty="0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DDEBF422-A673-D00C-3A1F-5E835A1039F2}"/>
              </a:ext>
            </a:extLst>
          </p:cNvPr>
          <p:cNvSpPr/>
          <p:nvPr/>
        </p:nvSpPr>
        <p:spPr>
          <a:xfrm>
            <a:off x="4855648" y="4830932"/>
            <a:ext cx="2524343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Throughput automatically scales with the size of your EFS (more data -&gt; more throughput).</a:t>
            </a:r>
          </a:p>
        </p:txBody>
      </p:sp>
      <p:pic>
        <p:nvPicPr>
          <p:cNvPr id="68" name="Image 18" descr="Bar graph with upward trend outline">
            <a:extLst>
              <a:ext uri="{FF2B5EF4-FFF2-40B4-BE49-F238E27FC236}">
                <a16:creationId xmlns:a16="http://schemas.microsoft.com/office/drawing/2014/main" id="{2A45B6A4-271D-E2BD-1CA4-1CEB1624295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4473284" y="4496466"/>
            <a:ext cx="271242" cy="271242"/>
          </a:xfrm>
          <a:prstGeom prst="rect">
            <a:avLst/>
          </a:prstGeom>
        </p:spPr>
      </p:pic>
      <p:pic>
        <p:nvPicPr>
          <p:cNvPr id="69" name="Image 19" descr="preencoded.png">
            <a:extLst>
              <a:ext uri="{FF2B5EF4-FFF2-40B4-BE49-F238E27FC236}">
                <a16:creationId xmlns:a16="http://schemas.microsoft.com/office/drawing/2014/main" id="{C32F2B58-C016-5199-C3B3-099D51E042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2673" y="5321815"/>
            <a:ext cx="129929" cy="129929"/>
          </a:xfrm>
          <a:prstGeom prst="rect">
            <a:avLst/>
          </a:prstGeom>
        </p:spPr>
      </p:pic>
      <p:sp>
        <p:nvSpPr>
          <p:cNvPr id="70" name="Text 14">
            <a:extLst>
              <a:ext uri="{FF2B5EF4-FFF2-40B4-BE49-F238E27FC236}">
                <a16:creationId xmlns:a16="http://schemas.microsoft.com/office/drawing/2014/main" id="{ED7729D9-94E3-D487-D89B-76B04FE1F175}"/>
              </a:ext>
            </a:extLst>
          </p:cNvPr>
          <p:cNvSpPr/>
          <p:nvPr/>
        </p:nvSpPr>
        <p:spPr>
          <a:xfrm>
            <a:off x="5109939" y="5291001"/>
            <a:ext cx="3029212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Scale with Size</a:t>
            </a:r>
            <a:endParaRPr lang="en-US" sz="102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784557"/>
            <a:ext cx="890945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46504"/>
            <a:ext cx="222736" cy="2227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564134"/>
            <a:ext cx="5122932" cy="81669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31" y="1675502"/>
            <a:ext cx="464034" cy="46403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41" y="1777590"/>
            <a:ext cx="185613" cy="25985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2492202"/>
            <a:ext cx="5122932" cy="81669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31" y="2603570"/>
            <a:ext cx="464034" cy="46403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541" y="2705657"/>
            <a:ext cx="185613" cy="25985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3420269"/>
            <a:ext cx="5122932" cy="81669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31" y="3531637"/>
            <a:ext cx="464034" cy="46403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340" y="3633724"/>
            <a:ext cx="232017" cy="25985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4348337"/>
            <a:ext cx="5122932" cy="81669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31" y="4459704"/>
            <a:ext cx="464034" cy="46403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541" y="4561792"/>
            <a:ext cx="185613" cy="25985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5276404"/>
            <a:ext cx="5122932" cy="81669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331" y="5387772"/>
            <a:ext cx="464034" cy="46403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4541" y="5489859"/>
            <a:ext cx="185613" cy="25985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2367" y="1146504"/>
            <a:ext cx="167052" cy="222736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2367" y="1564134"/>
            <a:ext cx="2487221" cy="2283046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0858" y="1712625"/>
            <a:ext cx="464034" cy="46403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26867" y="1814712"/>
            <a:ext cx="232017" cy="259859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59349" y="2315869"/>
            <a:ext cx="148491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59349" y="2612850"/>
            <a:ext cx="148491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59349" y="2909832"/>
            <a:ext cx="148491" cy="148491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59349" y="3206813"/>
            <a:ext cx="148491" cy="148491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59349" y="3503795"/>
            <a:ext cx="148491" cy="14849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0956" y="1675502"/>
            <a:ext cx="2487221" cy="2283046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46570" y="1712625"/>
            <a:ext cx="450548" cy="464034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02167" y="1814712"/>
            <a:ext cx="139210" cy="259859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5060" y="2315869"/>
            <a:ext cx="148491" cy="148491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5060" y="2612850"/>
            <a:ext cx="148491" cy="148491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5060" y="2909832"/>
            <a:ext cx="148491" cy="148491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5060" y="3206813"/>
            <a:ext cx="148491" cy="148491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5060" y="3503795"/>
            <a:ext cx="148491" cy="148491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62367" y="4069916"/>
            <a:ext cx="5122932" cy="1484908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593963" y="301963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Cases and </a:t>
            </a:r>
            <a:r>
              <a:rPr lang="en-US" sz="2631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</a:t>
            </a:r>
            <a:endParaRPr lang="en-US" sz="2631" dirty="0"/>
          </a:p>
        </p:txBody>
      </p:sp>
      <p:sp>
        <p:nvSpPr>
          <p:cNvPr id="40" name="Text 1"/>
          <p:cNvSpPr/>
          <p:nvPr/>
        </p:nvSpPr>
        <p:spPr>
          <a:xfrm>
            <a:off x="890944" y="1118662"/>
            <a:ext cx="512293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Common Use Cases</a:t>
            </a:r>
            <a:endParaRPr lang="en-US" sz="1754" dirty="0"/>
          </a:p>
        </p:txBody>
      </p:sp>
      <p:sp>
        <p:nvSpPr>
          <p:cNvPr id="41" name="Text 2"/>
          <p:cNvSpPr/>
          <p:nvPr/>
        </p:nvSpPr>
        <p:spPr>
          <a:xfrm>
            <a:off x="1280733" y="1675502"/>
            <a:ext cx="518975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 Serving &amp; Content Management</a:t>
            </a:r>
            <a:endParaRPr lang="en-US" sz="1169" dirty="0"/>
          </a:p>
        </p:txBody>
      </p:sp>
      <p:sp>
        <p:nvSpPr>
          <p:cNvPr id="42" name="Text 3"/>
          <p:cNvSpPr/>
          <p:nvPr/>
        </p:nvSpPr>
        <p:spPr>
          <a:xfrm>
            <a:off x="1280733" y="1898238"/>
            <a:ext cx="432479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Common data source for web servers, CMS, and media hosting platforms</a:t>
            </a:r>
            <a:endParaRPr lang="en-US" sz="1023" dirty="0"/>
          </a:p>
        </p:txBody>
      </p:sp>
      <p:sp>
        <p:nvSpPr>
          <p:cNvPr id="43" name="Text 4"/>
          <p:cNvSpPr/>
          <p:nvPr/>
        </p:nvSpPr>
        <p:spPr>
          <a:xfrm>
            <a:off x="1280733" y="2603570"/>
            <a:ext cx="518975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Container Persistent Storage</a:t>
            </a:r>
            <a:endParaRPr lang="en-US" sz="1169" dirty="0"/>
          </a:p>
        </p:txBody>
      </p:sp>
      <p:sp>
        <p:nvSpPr>
          <p:cNvPr id="44" name="Text 5"/>
          <p:cNvSpPr/>
          <p:nvPr/>
        </p:nvSpPr>
        <p:spPr>
          <a:xfrm>
            <a:off x="1280733" y="2826306"/>
            <a:ext cx="432479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Persistent storage for stateful containerized applications on ECS, EKS, or Fargate</a:t>
            </a:r>
            <a:endParaRPr lang="en-US" sz="1023" dirty="0"/>
          </a:p>
        </p:txBody>
      </p:sp>
      <p:sp>
        <p:nvSpPr>
          <p:cNvPr id="45" name="Text 6"/>
          <p:cNvSpPr/>
          <p:nvPr/>
        </p:nvSpPr>
        <p:spPr>
          <a:xfrm>
            <a:off x="1280733" y="3531637"/>
            <a:ext cx="432479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Serverless Applications</a:t>
            </a:r>
            <a:endParaRPr lang="en-US" sz="1169" dirty="0"/>
          </a:p>
        </p:txBody>
      </p:sp>
      <p:sp>
        <p:nvSpPr>
          <p:cNvPr id="46" name="Text 7"/>
          <p:cNvSpPr/>
          <p:nvPr/>
        </p:nvSpPr>
        <p:spPr>
          <a:xfrm>
            <a:off x="1280733" y="3754373"/>
            <a:ext cx="432479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Lambda functions to access shared, persistent storage for stateful workloads</a:t>
            </a:r>
            <a:endParaRPr lang="en-US" sz="1023" dirty="0"/>
          </a:p>
        </p:txBody>
      </p:sp>
      <p:sp>
        <p:nvSpPr>
          <p:cNvPr id="47" name="Text 8"/>
          <p:cNvSpPr/>
          <p:nvPr/>
        </p:nvSpPr>
        <p:spPr>
          <a:xfrm>
            <a:off x="1280733" y="4459705"/>
            <a:ext cx="432479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Big Data Analytics &amp; ML</a:t>
            </a:r>
            <a:endParaRPr lang="en-US" sz="1169" dirty="0"/>
          </a:p>
        </p:txBody>
      </p:sp>
      <p:sp>
        <p:nvSpPr>
          <p:cNvPr id="48" name="Text 9"/>
          <p:cNvSpPr/>
          <p:nvPr/>
        </p:nvSpPr>
        <p:spPr>
          <a:xfrm>
            <a:off x="1280733" y="4682441"/>
            <a:ext cx="432479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Centralized data source for HPC clusters, Spark jobs, and ML training scripts</a:t>
            </a:r>
            <a:endParaRPr lang="en-US" sz="1023" dirty="0"/>
          </a:p>
        </p:txBody>
      </p:sp>
      <p:sp>
        <p:nvSpPr>
          <p:cNvPr id="49" name="Text 10"/>
          <p:cNvSpPr/>
          <p:nvPr/>
        </p:nvSpPr>
        <p:spPr>
          <a:xfrm>
            <a:off x="1280733" y="5387772"/>
            <a:ext cx="518975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Home Directories</a:t>
            </a:r>
            <a:endParaRPr lang="en-US" sz="1169" dirty="0"/>
          </a:p>
        </p:txBody>
      </p:sp>
      <p:sp>
        <p:nvSpPr>
          <p:cNvPr id="50" name="Text 11"/>
          <p:cNvSpPr/>
          <p:nvPr/>
        </p:nvSpPr>
        <p:spPr>
          <a:xfrm>
            <a:off x="1280733" y="5610508"/>
            <a:ext cx="432479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Shared file systems for enterprise applications, home directories, and internal tools</a:t>
            </a:r>
            <a:endParaRPr lang="en-US" sz="1023" dirty="0"/>
          </a:p>
        </p:txBody>
      </p:sp>
      <p:sp>
        <p:nvSpPr>
          <p:cNvPr id="51" name="Text 12"/>
          <p:cNvSpPr/>
          <p:nvPr/>
        </p:nvSpPr>
        <p:spPr>
          <a:xfrm>
            <a:off x="6403665" y="1118662"/>
            <a:ext cx="512293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Integration</a:t>
            </a:r>
            <a:endParaRPr lang="en-US" sz="1754" dirty="0"/>
          </a:p>
        </p:txBody>
      </p:sp>
      <p:sp>
        <p:nvSpPr>
          <p:cNvPr id="52" name="Text 13"/>
          <p:cNvSpPr/>
          <p:nvPr/>
        </p:nvSpPr>
        <p:spPr>
          <a:xfrm>
            <a:off x="6886260" y="1833274"/>
            <a:ext cx="136373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Services</a:t>
            </a:r>
            <a:endParaRPr lang="en-US" sz="1169" dirty="0"/>
          </a:p>
        </p:txBody>
      </p:sp>
      <p:sp>
        <p:nvSpPr>
          <p:cNvPr id="53" name="Text 14"/>
          <p:cNvSpPr/>
          <p:nvPr/>
        </p:nvSpPr>
        <p:spPr>
          <a:xfrm>
            <a:off x="6496471" y="2288027"/>
            <a:ext cx="26728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Amazon EC2</a:t>
            </a:r>
            <a:endParaRPr lang="en-US" sz="1169" dirty="0"/>
          </a:p>
        </p:txBody>
      </p:sp>
      <p:sp>
        <p:nvSpPr>
          <p:cNvPr id="54" name="Text 15"/>
          <p:cNvSpPr/>
          <p:nvPr/>
        </p:nvSpPr>
        <p:spPr>
          <a:xfrm>
            <a:off x="6496471" y="2585008"/>
            <a:ext cx="222736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Amazon ECS</a:t>
            </a:r>
            <a:endParaRPr lang="en-US" sz="1169" dirty="0"/>
          </a:p>
        </p:txBody>
      </p:sp>
      <p:sp>
        <p:nvSpPr>
          <p:cNvPr id="55" name="Text 16"/>
          <p:cNvSpPr/>
          <p:nvPr/>
        </p:nvSpPr>
        <p:spPr>
          <a:xfrm>
            <a:off x="6496471" y="2881990"/>
            <a:ext cx="222736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Amazon EKS</a:t>
            </a:r>
            <a:endParaRPr lang="en-US" sz="1169" dirty="0"/>
          </a:p>
        </p:txBody>
      </p:sp>
      <p:sp>
        <p:nvSpPr>
          <p:cNvPr id="56" name="Text 17"/>
          <p:cNvSpPr/>
          <p:nvPr/>
        </p:nvSpPr>
        <p:spPr>
          <a:xfrm>
            <a:off x="6496471" y="3178972"/>
            <a:ext cx="222736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AWS Lambda</a:t>
            </a:r>
            <a:endParaRPr lang="en-US" sz="1169" dirty="0"/>
          </a:p>
        </p:txBody>
      </p:sp>
      <p:sp>
        <p:nvSpPr>
          <p:cNvPr id="57" name="Text 18"/>
          <p:cNvSpPr/>
          <p:nvPr/>
        </p:nvSpPr>
        <p:spPr>
          <a:xfrm>
            <a:off x="6496471" y="3475953"/>
            <a:ext cx="26728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AWS Fargate</a:t>
            </a:r>
            <a:endParaRPr lang="en-US" sz="1169" dirty="0"/>
          </a:p>
        </p:txBody>
      </p:sp>
      <p:sp>
        <p:nvSpPr>
          <p:cNvPr id="58" name="Text 19"/>
          <p:cNvSpPr/>
          <p:nvPr/>
        </p:nvSpPr>
        <p:spPr>
          <a:xfrm>
            <a:off x="9508486" y="1805432"/>
            <a:ext cx="162832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On-premises Access</a:t>
            </a:r>
            <a:endParaRPr lang="en-US" sz="1169" dirty="0"/>
          </a:p>
        </p:txBody>
      </p:sp>
      <p:sp>
        <p:nvSpPr>
          <p:cNvPr id="59" name="Text 20"/>
          <p:cNvSpPr/>
          <p:nvPr/>
        </p:nvSpPr>
        <p:spPr>
          <a:xfrm>
            <a:off x="9132183" y="2288027"/>
            <a:ext cx="26728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AWS Direct Connect</a:t>
            </a:r>
            <a:endParaRPr lang="en-US" sz="1169" dirty="0"/>
          </a:p>
        </p:txBody>
      </p:sp>
      <p:sp>
        <p:nvSpPr>
          <p:cNvPr id="60" name="Text 21"/>
          <p:cNvSpPr/>
          <p:nvPr/>
        </p:nvSpPr>
        <p:spPr>
          <a:xfrm>
            <a:off x="9132183" y="2585008"/>
            <a:ext cx="222736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AWS VPN</a:t>
            </a:r>
            <a:endParaRPr lang="en-US" sz="1169" dirty="0"/>
          </a:p>
        </p:txBody>
      </p:sp>
      <p:sp>
        <p:nvSpPr>
          <p:cNvPr id="61" name="Text 22"/>
          <p:cNvSpPr/>
          <p:nvPr/>
        </p:nvSpPr>
        <p:spPr>
          <a:xfrm>
            <a:off x="9132183" y="2881990"/>
            <a:ext cx="26728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Data migration</a:t>
            </a:r>
            <a:endParaRPr lang="en-US" sz="1169" dirty="0"/>
          </a:p>
        </p:txBody>
      </p:sp>
      <p:sp>
        <p:nvSpPr>
          <p:cNvPr id="62" name="Text 23"/>
          <p:cNvSpPr/>
          <p:nvPr/>
        </p:nvSpPr>
        <p:spPr>
          <a:xfrm>
            <a:off x="9132183" y="3178972"/>
            <a:ext cx="26728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Cloud bursting</a:t>
            </a:r>
            <a:endParaRPr lang="en-US" sz="1169" dirty="0"/>
          </a:p>
        </p:txBody>
      </p:sp>
      <p:sp>
        <p:nvSpPr>
          <p:cNvPr id="63" name="Text 24"/>
          <p:cNvSpPr/>
          <p:nvPr/>
        </p:nvSpPr>
        <p:spPr>
          <a:xfrm>
            <a:off x="9132183" y="3475953"/>
            <a:ext cx="26728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On-premises backup</a:t>
            </a:r>
            <a:endParaRPr lang="en-US" sz="1169" dirty="0"/>
          </a:p>
        </p:txBody>
      </p:sp>
      <p:sp>
        <p:nvSpPr>
          <p:cNvPr id="65" name="Text 26"/>
          <p:cNvSpPr/>
          <p:nvPr/>
        </p:nvSpPr>
        <p:spPr>
          <a:xfrm>
            <a:off x="11076194" y="6427208"/>
            <a:ext cx="250926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endParaRPr lang="en-US" sz="1023" dirty="0"/>
          </a:p>
        </p:txBody>
      </p:sp>
      <p:pic>
        <p:nvPicPr>
          <p:cNvPr id="64" name="Image 18" descr="preencoded.png">
            <a:extLst>
              <a:ext uri="{FF2B5EF4-FFF2-40B4-BE49-F238E27FC236}">
                <a16:creationId xmlns:a16="http://schemas.microsoft.com/office/drawing/2014/main" id="{B9433440-7DA5-8514-C121-784DC0AD233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10858" y="3791496"/>
            <a:ext cx="4825950" cy="14849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15">
            <a:extLst>
              <a:ext uri="{FF2B5EF4-FFF2-40B4-BE49-F238E27FC236}">
                <a16:creationId xmlns:a16="http://schemas.microsoft.com/office/drawing/2014/main" id="{1BE6B93D-06D8-5BC9-3A41-90E98C75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487" y="2557166"/>
            <a:ext cx="5085809" cy="1113681"/>
          </a:xfrm>
          <a:prstGeom prst="rect">
            <a:avLst/>
          </a:prstGeom>
        </p:spPr>
      </p:pic>
      <p:pic>
        <p:nvPicPr>
          <p:cNvPr id="39" name="Image 15">
            <a:extLst>
              <a:ext uri="{FF2B5EF4-FFF2-40B4-BE49-F238E27FC236}">
                <a16:creationId xmlns:a16="http://schemas.microsoft.com/office/drawing/2014/main" id="{90B52FF9-5F4E-D9A3-8426-8EB106796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999" y="2561807"/>
            <a:ext cx="5085809" cy="1113681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970171"/>
            <a:ext cx="890945" cy="3712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596" y="2833125"/>
            <a:ext cx="296982" cy="29698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1341" y="2833125"/>
            <a:ext cx="296982" cy="29698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539" y="4169542"/>
            <a:ext cx="296982" cy="296982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1085" y="4169542"/>
            <a:ext cx="296982" cy="296982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593963" y="524699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1</a:t>
            </a:r>
            <a:endParaRPr lang="en-US" sz="2631" dirty="0"/>
          </a:p>
        </p:txBody>
      </p:sp>
      <p:sp>
        <p:nvSpPr>
          <p:cNvPr id="25" name="Text 1"/>
          <p:cNvSpPr/>
          <p:nvPr/>
        </p:nvSpPr>
        <p:spPr>
          <a:xfrm>
            <a:off x="593963" y="1378521"/>
            <a:ext cx="10691336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company needs a highly available and durable file system for a critical production application that must withstand an Availability Zone (AZ) outage. Which EFS file system type should they choose?</a:t>
            </a:r>
            <a:endParaRPr lang="en-US" sz="1754" dirty="0"/>
          </a:p>
        </p:txBody>
      </p:sp>
      <p:sp>
        <p:nvSpPr>
          <p:cNvPr id="26" name="Text 2"/>
          <p:cNvSpPr/>
          <p:nvPr/>
        </p:nvSpPr>
        <p:spPr>
          <a:xfrm>
            <a:off x="1149517" y="2833125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169" dirty="0"/>
          </a:p>
        </p:txBody>
      </p:sp>
      <p:sp>
        <p:nvSpPr>
          <p:cNvPr id="27" name="Text 3"/>
          <p:cNvSpPr/>
          <p:nvPr/>
        </p:nvSpPr>
        <p:spPr>
          <a:xfrm>
            <a:off x="1429823" y="2851687"/>
            <a:ext cx="174308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One Zone</a:t>
            </a:r>
            <a:endParaRPr lang="en-US" sz="1461" dirty="0"/>
          </a:p>
        </p:txBody>
      </p:sp>
      <p:sp>
        <p:nvSpPr>
          <p:cNvPr id="29" name="Text 5"/>
          <p:cNvSpPr/>
          <p:nvPr/>
        </p:nvSpPr>
        <p:spPr>
          <a:xfrm>
            <a:off x="6453132" y="2833125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169" dirty="0"/>
          </a:p>
        </p:txBody>
      </p:sp>
      <p:sp>
        <p:nvSpPr>
          <p:cNvPr id="30" name="Text 6"/>
          <p:cNvSpPr/>
          <p:nvPr/>
        </p:nvSpPr>
        <p:spPr>
          <a:xfrm>
            <a:off x="6732569" y="2851687"/>
            <a:ext cx="163902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Regional</a:t>
            </a:r>
            <a:endParaRPr lang="en-US" sz="1461" dirty="0"/>
          </a:p>
        </p:txBody>
      </p:sp>
      <p:sp>
        <p:nvSpPr>
          <p:cNvPr id="32" name="Text 8"/>
          <p:cNvSpPr/>
          <p:nvPr/>
        </p:nvSpPr>
        <p:spPr>
          <a:xfrm>
            <a:off x="1206507" y="4169542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169" dirty="0"/>
          </a:p>
        </p:txBody>
      </p:sp>
      <p:sp>
        <p:nvSpPr>
          <p:cNvPr id="33" name="Text 9"/>
          <p:cNvSpPr/>
          <p:nvPr/>
        </p:nvSpPr>
        <p:spPr>
          <a:xfrm>
            <a:off x="1483767" y="4188104"/>
            <a:ext cx="204482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Standard-IA</a:t>
            </a:r>
            <a:endParaRPr lang="en-US" sz="1461" dirty="0"/>
          </a:p>
        </p:txBody>
      </p:sp>
      <p:sp>
        <p:nvSpPr>
          <p:cNvPr id="35" name="Text 11"/>
          <p:cNvSpPr/>
          <p:nvPr/>
        </p:nvSpPr>
        <p:spPr>
          <a:xfrm>
            <a:off x="6507946" y="4169542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169" dirty="0"/>
          </a:p>
        </p:txBody>
      </p:sp>
      <p:sp>
        <p:nvSpPr>
          <p:cNvPr id="36" name="Text 12"/>
          <p:cNvSpPr/>
          <p:nvPr/>
        </p:nvSpPr>
        <p:spPr>
          <a:xfrm>
            <a:off x="6792313" y="4188104"/>
            <a:ext cx="148780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Archive</a:t>
            </a:r>
            <a:endParaRPr lang="en-US" sz="146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86769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970171"/>
            <a:ext cx="890945" cy="3712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378521"/>
            <a:ext cx="445472" cy="4454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2046729"/>
            <a:ext cx="10691336" cy="66820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2937674"/>
            <a:ext cx="3464736" cy="152203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9926" y="3086165"/>
            <a:ext cx="352666" cy="3341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2013" y="4162723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7190" y="2937674"/>
            <a:ext cx="3464736" cy="152203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0276" y="3086165"/>
            <a:ext cx="278420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5240" y="4162723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0418" y="2937674"/>
            <a:ext cx="3464881" cy="152203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3648" y="3086165"/>
            <a:ext cx="278420" cy="33410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8612" y="4162723"/>
            <a:ext cx="148491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963" y="4682441"/>
            <a:ext cx="10691336" cy="137354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93963" y="524699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2: File System Types</a:t>
            </a:r>
            <a:endParaRPr lang="en-US" sz="2631" dirty="0"/>
          </a:p>
        </p:txBody>
      </p:sp>
      <p:sp>
        <p:nvSpPr>
          <p:cNvPr id="22" name="Text 1"/>
          <p:cNvSpPr/>
          <p:nvPr/>
        </p:nvSpPr>
        <p:spPr>
          <a:xfrm>
            <a:off x="745934" y="1378521"/>
            <a:ext cx="44547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461" dirty="0"/>
          </a:p>
        </p:txBody>
      </p:sp>
      <p:sp>
        <p:nvSpPr>
          <p:cNvPr id="23" name="Text 2"/>
          <p:cNvSpPr/>
          <p:nvPr/>
        </p:nvSpPr>
        <p:spPr>
          <a:xfrm>
            <a:off x="1187926" y="1452766"/>
            <a:ext cx="172568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Regional</a:t>
            </a:r>
            <a:endParaRPr lang="en-US" sz="1754" dirty="0"/>
          </a:p>
        </p:txBody>
      </p:sp>
      <p:sp>
        <p:nvSpPr>
          <p:cNvPr id="24" name="Text 3"/>
          <p:cNvSpPr/>
          <p:nvPr/>
        </p:nvSpPr>
        <p:spPr>
          <a:xfrm>
            <a:off x="742454" y="2120975"/>
            <a:ext cx="1054284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Regional file systems are designed for the highest levels of durability and availability by storing data redundantly across multiple geographically separated Availability Zones within the same AWS Region.</a:t>
            </a:r>
            <a:endParaRPr lang="en-US" sz="1461" dirty="0"/>
          </a:p>
        </p:txBody>
      </p:sp>
      <p:sp>
        <p:nvSpPr>
          <p:cNvPr id="25" name="Text 4"/>
          <p:cNvSpPr/>
          <p:nvPr/>
        </p:nvSpPr>
        <p:spPr>
          <a:xfrm>
            <a:off x="742453" y="3494514"/>
            <a:ext cx="31677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Regional</a:t>
            </a:r>
            <a:endParaRPr lang="en-US" sz="1315" dirty="0"/>
          </a:p>
        </p:txBody>
      </p:sp>
      <p:sp>
        <p:nvSpPr>
          <p:cNvPr id="26" name="Text 5"/>
          <p:cNvSpPr/>
          <p:nvPr/>
        </p:nvSpPr>
        <p:spPr>
          <a:xfrm>
            <a:off x="425678" y="3828619"/>
            <a:ext cx="380130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stored across multiple AZs</a:t>
            </a:r>
            <a:endParaRPr lang="en-US" sz="1169" dirty="0"/>
          </a:p>
        </p:txBody>
      </p:sp>
      <p:sp>
        <p:nvSpPr>
          <p:cNvPr id="27" name="Text 6"/>
          <p:cNvSpPr/>
          <p:nvPr/>
        </p:nvSpPr>
        <p:spPr>
          <a:xfrm>
            <a:off x="4355680" y="3494514"/>
            <a:ext cx="31677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Durability</a:t>
            </a:r>
            <a:endParaRPr lang="en-US" sz="1315" dirty="0"/>
          </a:p>
        </p:txBody>
      </p:sp>
      <p:sp>
        <p:nvSpPr>
          <p:cNvPr id="28" name="Text 7"/>
          <p:cNvSpPr/>
          <p:nvPr/>
        </p:nvSpPr>
        <p:spPr>
          <a:xfrm>
            <a:off x="4038905" y="3828619"/>
            <a:ext cx="380130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Resilient to AZ outages</a:t>
            </a:r>
            <a:endParaRPr lang="en-US" sz="1169" dirty="0"/>
          </a:p>
        </p:txBody>
      </p:sp>
      <p:sp>
        <p:nvSpPr>
          <p:cNvPr id="29" name="Text 8"/>
          <p:cNvSpPr/>
          <p:nvPr/>
        </p:nvSpPr>
        <p:spPr>
          <a:xfrm>
            <a:off x="7652119" y="3494514"/>
            <a:ext cx="380148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Failover</a:t>
            </a:r>
            <a:endParaRPr lang="en-US" sz="1315" dirty="0"/>
          </a:p>
        </p:txBody>
      </p:sp>
      <p:sp>
        <p:nvSpPr>
          <p:cNvPr id="30" name="Text 9"/>
          <p:cNvSpPr/>
          <p:nvPr/>
        </p:nvSpPr>
        <p:spPr>
          <a:xfrm>
            <a:off x="7652119" y="3828619"/>
            <a:ext cx="380148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Continued availability during failures</a:t>
            </a:r>
            <a:endParaRPr lang="en-US" sz="1169" dirty="0"/>
          </a:p>
        </p:txBody>
      </p:sp>
      <p:sp>
        <p:nvSpPr>
          <p:cNvPr id="31" name="Text 10"/>
          <p:cNvSpPr/>
          <p:nvPr/>
        </p:nvSpPr>
        <p:spPr>
          <a:xfrm>
            <a:off x="742454" y="4830931"/>
            <a:ext cx="103943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Benefits:</a:t>
            </a:r>
            <a:endParaRPr lang="en-US" sz="1315" dirty="0"/>
          </a:p>
        </p:txBody>
      </p:sp>
      <p:sp>
        <p:nvSpPr>
          <p:cNvPr id="32" name="Text 11"/>
          <p:cNvSpPr/>
          <p:nvPr/>
        </p:nvSpPr>
        <p:spPr>
          <a:xfrm>
            <a:off x="779576" y="5165036"/>
            <a:ext cx="1035723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redundancy across multiple AZs</a:t>
            </a:r>
            <a:endParaRPr lang="en-US" sz="1169" dirty="0"/>
          </a:p>
        </p:txBody>
      </p:sp>
      <p:sp>
        <p:nvSpPr>
          <p:cNvPr id="33" name="Text 12"/>
          <p:cNvSpPr/>
          <p:nvPr/>
        </p:nvSpPr>
        <p:spPr>
          <a:xfrm>
            <a:off x="779576" y="5424895"/>
            <a:ext cx="1035723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failover in case of AZ failure</a:t>
            </a:r>
            <a:endParaRPr lang="en-US" sz="1169" dirty="0"/>
          </a:p>
        </p:txBody>
      </p:sp>
      <p:sp>
        <p:nvSpPr>
          <p:cNvPr id="34" name="Text 13"/>
          <p:cNvSpPr/>
          <p:nvPr/>
        </p:nvSpPr>
        <p:spPr>
          <a:xfrm>
            <a:off x="779576" y="5684754"/>
            <a:ext cx="1035723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Highest durability level for critical data</a:t>
            </a:r>
            <a:endParaRPr lang="en-US" sz="11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970171"/>
            <a:ext cx="890945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22" y="2677815"/>
            <a:ext cx="371227" cy="37122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22" y="3420269"/>
            <a:ext cx="371227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22" y="4162723"/>
            <a:ext cx="371227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22" y="4905177"/>
            <a:ext cx="371227" cy="371227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93963" y="524699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2</a:t>
            </a:r>
            <a:endParaRPr lang="en-US" sz="2631" dirty="0"/>
          </a:p>
        </p:txBody>
      </p:sp>
      <p:sp>
        <p:nvSpPr>
          <p:cNvPr id="18" name="Text 1"/>
          <p:cNvSpPr/>
          <p:nvPr/>
        </p:nvSpPr>
        <p:spPr>
          <a:xfrm>
            <a:off x="593963" y="1378521"/>
            <a:ext cx="10691336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data analytics team needs to store large datasets that are accessed only a few times a year for compliance and historical analysis. Cost optimization is a major concern. Which EFS storage class is most appropriate for this use case?</a:t>
            </a:r>
            <a:endParaRPr lang="en-US" sz="1754" dirty="0"/>
          </a:p>
        </p:txBody>
      </p:sp>
      <p:sp>
        <p:nvSpPr>
          <p:cNvPr id="19" name="Text 2"/>
          <p:cNvSpPr/>
          <p:nvPr/>
        </p:nvSpPr>
        <p:spPr>
          <a:xfrm>
            <a:off x="981866" y="2677815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169" dirty="0"/>
          </a:p>
        </p:txBody>
      </p:sp>
      <p:sp>
        <p:nvSpPr>
          <p:cNvPr id="20" name="Text 3"/>
          <p:cNvSpPr/>
          <p:nvPr/>
        </p:nvSpPr>
        <p:spPr>
          <a:xfrm>
            <a:off x="1373540" y="2677815"/>
            <a:ext cx="149041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Standard</a:t>
            </a:r>
            <a:endParaRPr lang="en-US" sz="1461" dirty="0"/>
          </a:p>
        </p:txBody>
      </p:sp>
      <p:sp>
        <p:nvSpPr>
          <p:cNvPr id="21" name="Text 4"/>
          <p:cNvSpPr/>
          <p:nvPr/>
        </p:nvSpPr>
        <p:spPr>
          <a:xfrm>
            <a:off x="982736" y="3420269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169" dirty="0"/>
          </a:p>
        </p:txBody>
      </p:sp>
      <p:sp>
        <p:nvSpPr>
          <p:cNvPr id="22" name="Text 5"/>
          <p:cNvSpPr/>
          <p:nvPr/>
        </p:nvSpPr>
        <p:spPr>
          <a:xfrm>
            <a:off x="1373539" y="3420269"/>
            <a:ext cx="293019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Infrequent Access (IA)</a:t>
            </a:r>
            <a:endParaRPr lang="en-US" sz="1461" dirty="0"/>
          </a:p>
        </p:txBody>
      </p:sp>
      <p:sp>
        <p:nvSpPr>
          <p:cNvPr id="23" name="Text 6"/>
          <p:cNvSpPr/>
          <p:nvPr/>
        </p:nvSpPr>
        <p:spPr>
          <a:xfrm>
            <a:off x="984912" y="4162723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169" dirty="0"/>
          </a:p>
        </p:txBody>
      </p:sp>
      <p:sp>
        <p:nvSpPr>
          <p:cNvPr id="24" name="Text 7"/>
          <p:cNvSpPr/>
          <p:nvPr/>
        </p:nvSpPr>
        <p:spPr>
          <a:xfrm>
            <a:off x="1373539" y="4162723"/>
            <a:ext cx="131066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Archive</a:t>
            </a:r>
            <a:endParaRPr lang="en-US" sz="1461" dirty="0"/>
          </a:p>
        </p:txBody>
      </p:sp>
      <p:sp>
        <p:nvSpPr>
          <p:cNvPr id="25" name="Text 8"/>
          <p:cNvSpPr/>
          <p:nvPr/>
        </p:nvSpPr>
        <p:spPr>
          <a:xfrm>
            <a:off x="977806" y="4905177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169" dirty="0"/>
          </a:p>
        </p:txBody>
      </p:sp>
      <p:sp>
        <p:nvSpPr>
          <p:cNvPr id="26" name="Text 9"/>
          <p:cNvSpPr/>
          <p:nvPr/>
        </p:nvSpPr>
        <p:spPr>
          <a:xfrm>
            <a:off x="1373539" y="4905177"/>
            <a:ext cx="156855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One Zone</a:t>
            </a:r>
            <a:endParaRPr lang="en-US" sz="146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970171"/>
            <a:ext cx="890945" cy="3712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411004"/>
            <a:ext cx="243908" cy="23201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1898238"/>
            <a:ext cx="10691336" cy="408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54" y="2603570"/>
            <a:ext cx="371227" cy="37122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822" y="2714938"/>
            <a:ext cx="148491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54" y="3197533"/>
            <a:ext cx="371227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822" y="3308901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54" y="3791496"/>
            <a:ext cx="371227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822" y="3902864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454" y="4385459"/>
            <a:ext cx="371227" cy="37122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822" y="4496827"/>
            <a:ext cx="148491" cy="14849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93963" y="524699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2</a:t>
            </a:r>
            <a:endParaRPr lang="en-US" sz="2631" dirty="0"/>
          </a:p>
        </p:txBody>
      </p:sp>
      <p:sp>
        <p:nvSpPr>
          <p:cNvPr id="20" name="Text 1"/>
          <p:cNvSpPr/>
          <p:nvPr/>
        </p:nvSpPr>
        <p:spPr>
          <a:xfrm>
            <a:off x="668209" y="1411004"/>
            <a:ext cx="243908" cy="2320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35"/>
              </a:lnSpc>
            </a:pPr>
            <a:r>
              <a:rPr lang="en-US" sz="1023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023" dirty="0"/>
          </a:p>
        </p:txBody>
      </p:sp>
      <p:sp>
        <p:nvSpPr>
          <p:cNvPr id="21" name="Text 2"/>
          <p:cNvSpPr/>
          <p:nvPr/>
        </p:nvSpPr>
        <p:spPr>
          <a:xfrm>
            <a:off x="949239" y="1378521"/>
            <a:ext cx="178537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Archive</a:t>
            </a:r>
            <a:endParaRPr lang="en-US" sz="1754" dirty="0"/>
          </a:p>
        </p:txBody>
      </p:sp>
      <p:sp>
        <p:nvSpPr>
          <p:cNvPr id="22" name="Text 3"/>
          <p:cNvSpPr/>
          <p:nvPr/>
        </p:nvSpPr>
        <p:spPr>
          <a:xfrm>
            <a:off x="742453" y="1972484"/>
            <a:ext cx="1265141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Archive is cost-optimized for long-lived data that is accessed only a few times a year or less.</a:t>
            </a:r>
            <a:endParaRPr lang="en-US" sz="1461" dirty="0"/>
          </a:p>
        </p:txBody>
      </p:sp>
      <p:sp>
        <p:nvSpPr>
          <p:cNvPr id="23" name="Text 4"/>
          <p:cNvSpPr/>
          <p:nvPr/>
        </p:nvSpPr>
        <p:spPr>
          <a:xfrm>
            <a:off x="1262172" y="2603570"/>
            <a:ext cx="646526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Offers the lowest storage cost among EFS storage classes</a:t>
            </a:r>
            <a:endParaRPr lang="en-US" sz="1461" dirty="0"/>
          </a:p>
        </p:txBody>
      </p:sp>
      <p:sp>
        <p:nvSpPr>
          <p:cNvPr id="24" name="Text 5"/>
          <p:cNvSpPr/>
          <p:nvPr/>
        </p:nvSpPr>
        <p:spPr>
          <a:xfrm>
            <a:off x="1262171" y="3197533"/>
            <a:ext cx="971999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Ideal for archival purposes where retrieval latency of tens of milliseconds is acceptable</a:t>
            </a:r>
            <a:endParaRPr lang="en-US" sz="1461" dirty="0"/>
          </a:p>
        </p:txBody>
      </p:sp>
      <p:sp>
        <p:nvSpPr>
          <p:cNvPr id="25" name="Text 6"/>
          <p:cNvSpPr/>
          <p:nvPr/>
        </p:nvSpPr>
        <p:spPr>
          <a:xfrm>
            <a:off x="1262171" y="3791496"/>
            <a:ext cx="500321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Standard is for frequently accessed data</a:t>
            </a:r>
            <a:endParaRPr lang="en-US" sz="1461" dirty="0"/>
          </a:p>
        </p:txBody>
      </p:sp>
      <p:sp>
        <p:nvSpPr>
          <p:cNvPr id="26" name="Text 7"/>
          <p:cNvSpPr/>
          <p:nvPr/>
        </p:nvSpPr>
        <p:spPr>
          <a:xfrm>
            <a:off x="1262172" y="4385459"/>
            <a:ext cx="793219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Infrequent Access (IA) is for data accessed a few times per quarter</a:t>
            </a:r>
            <a:endParaRPr lang="en-US" sz="146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970171"/>
            <a:ext cx="890945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22" y="2427237"/>
            <a:ext cx="371227" cy="37122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3539" y="2380833"/>
            <a:ext cx="464034" cy="46403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2030" y="2501482"/>
            <a:ext cx="167052" cy="2227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822" y="3262498"/>
            <a:ext cx="371227" cy="37122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3539" y="3216094"/>
            <a:ext cx="464034" cy="46403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0268" y="3336743"/>
            <a:ext cx="250578" cy="22273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822" y="4097758"/>
            <a:ext cx="371227" cy="37122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3539" y="4051355"/>
            <a:ext cx="464034" cy="46403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2030" y="4172004"/>
            <a:ext cx="167052" cy="222736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822" y="4933019"/>
            <a:ext cx="371227" cy="371227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3539" y="4886615"/>
            <a:ext cx="464034" cy="46403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6346" y="5007264"/>
            <a:ext cx="278420" cy="222736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593963" y="524699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3</a:t>
            </a:r>
            <a:endParaRPr lang="en-US" sz="2631" dirty="0"/>
          </a:p>
        </p:txBody>
      </p:sp>
      <p:sp>
        <p:nvSpPr>
          <p:cNvPr id="26" name="Text 1"/>
          <p:cNvSpPr/>
          <p:nvPr/>
        </p:nvSpPr>
        <p:spPr>
          <a:xfrm>
            <a:off x="593963" y="1378521"/>
            <a:ext cx="10691336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web-serving application requires a file system with the lowest possible per-operation latency for its active data. Which EFS performance mode should be selected?</a:t>
            </a:r>
            <a:endParaRPr lang="en-US" sz="1754" dirty="0"/>
          </a:p>
        </p:txBody>
      </p:sp>
      <p:sp>
        <p:nvSpPr>
          <p:cNvPr id="27" name="Text 2"/>
          <p:cNvSpPr/>
          <p:nvPr/>
        </p:nvSpPr>
        <p:spPr>
          <a:xfrm>
            <a:off x="981866" y="2427237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169" dirty="0"/>
          </a:p>
        </p:txBody>
      </p:sp>
      <p:sp>
        <p:nvSpPr>
          <p:cNvPr id="28" name="Text 3"/>
          <p:cNvSpPr/>
          <p:nvPr/>
        </p:nvSpPr>
        <p:spPr>
          <a:xfrm>
            <a:off x="1976784" y="2482921"/>
            <a:ext cx="154993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I/O mode</a:t>
            </a:r>
            <a:endParaRPr lang="en-US" sz="1461" dirty="0"/>
          </a:p>
        </p:txBody>
      </p:sp>
      <p:sp>
        <p:nvSpPr>
          <p:cNvPr id="29" name="Text 4"/>
          <p:cNvSpPr/>
          <p:nvPr/>
        </p:nvSpPr>
        <p:spPr>
          <a:xfrm>
            <a:off x="982736" y="3262498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169" dirty="0"/>
          </a:p>
        </p:txBody>
      </p:sp>
      <p:sp>
        <p:nvSpPr>
          <p:cNvPr id="30" name="Text 5"/>
          <p:cNvSpPr/>
          <p:nvPr/>
        </p:nvSpPr>
        <p:spPr>
          <a:xfrm>
            <a:off x="1976783" y="3318182"/>
            <a:ext cx="254493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General Purpose mode</a:t>
            </a:r>
            <a:endParaRPr lang="en-US" sz="1461" dirty="0"/>
          </a:p>
        </p:txBody>
      </p:sp>
      <p:sp>
        <p:nvSpPr>
          <p:cNvPr id="31" name="Text 6"/>
          <p:cNvSpPr/>
          <p:nvPr/>
        </p:nvSpPr>
        <p:spPr>
          <a:xfrm>
            <a:off x="984912" y="4097758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169" dirty="0"/>
          </a:p>
        </p:txBody>
      </p:sp>
      <p:sp>
        <p:nvSpPr>
          <p:cNvPr id="32" name="Text 7"/>
          <p:cNvSpPr/>
          <p:nvPr/>
        </p:nvSpPr>
        <p:spPr>
          <a:xfrm>
            <a:off x="1976783" y="4153442"/>
            <a:ext cx="33480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Provisioned Throughput mode</a:t>
            </a:r>
            <a:endParaRPr lang="en-US" sz="1461" dirty="0"/>
          </a:p>
        </p:txBody>
      </p:sp>
      <p:sp>
        <p:nvSpPr>
          <p:cNvPr id="33" name="Text 8"/>
          <p:cNvSpPr/>
          <p:nvPr/>
        </p:nvSpPr>
        <p:spPr>
          <a:xfrm>
            <a:off x="977806" y="4933019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169" dirty="0"/>
          </a:p>
        </p:txBody>
      </p:sp>
      <p:sp>
        <p:nvSpPr>
          <p:cNvPr id="34" name="Text 9"/>
          <p:cNvSpPr/>
          <p:nvPr/>
        </p:nvSpPr>
        <p:spPr>
          <a:xfrm>
            <a:off x="1976783" y="4988703"/>
            <a:ext cx="300050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Bursting Throughput mode</a:t>
            </a:r>
            <a:endParaRPr lang="en-US" sz="146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970171"/>
            <a:ext cx="890945" cy="3712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378521"/>
            <a:ext cx="445472" cy="4454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2046729"/>
            <a:ext cx="10691336" cy="263571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99" y="3271778"/>
            <a:ext cx="3316245" cy="118792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190" y="3475953"/>
            <a:ext cx="111368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190" y="4051355"/>
            <a:ext cx="3019264" cy="7424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190" y="4051355"/>
            <a:ext cx="2717207" cy="7424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1435" y="3271778"/>
            <a:ext cx="3316245" cy="118792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9926" y="3475953"/>
            <a:ext cx="167052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9926" y="4051355"/>
            <a:ext cx="3019264" cy="7424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29926" y="4051355"/>
            <a:ext cx="1811472" cy="7424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46173" y="3271778"/>
            <a:ext cx="3316391" cy="118792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94663" y="3475953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94664" y="4051355"/>
            <a:ext cx="3019409" cy="7424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94663" y="4051355"/>
            <a:ext cx="2264484" cy="7424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3963" y="4905177"/>
            <a:ext cx="10691336" cy="74245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2454" y="5090790"/>
            <a:ext cx="185613" cy="259859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593963" y="524699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3</a:t>
            </a:r>
            <a:endParaRPr lang="en-US" sz="2631" dirty="0"/>
          </a:p>
        </p:txBody>
      </p:sp>
      <p:sp>
        <p:nvSpPr>
          <p:cNvPr id="26" name="Text 1"/>
          <p:cNvSpPr/>
          <p:nvPr/>
        </p:nvSpPr>
        <p:spPr>
          <a:xfrm>
            <a:off x="745934" y="1378521"/>
            <a:ext cx="44547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461" dirty="0"/>
          </a:p>
        </p:txBody>
      </p:sp>
      <p:sp>
        <p:nvSpPr>
          <p:cNvPr id="27" name="Text 2"/>
          <p:cNvSpPr/>
          <p:nvPr/>
        </p:nvSpPr>
        <p:spPr>
          <a:xfrm>
            <a:off x="1187926" y="1452766"/>
            <a:ext cx="305392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General Purpose mode</a:t>
            </a:r>
            <a:endParaRPr lang="en-US" sz="1754" dirty="0"/>
          </a:p>
        </p:txBody>
      </p:sp>
      <p:sp>
        <p:nvSpPr>
          <p:cNvPr id="28" name="Text 3"/>
          <p:cNvSpPr/>
          <p:nvPr/>
        </p:nvSpPr>
        <p:spPr>
          <a:xfrm>
            <a:off x="816699" y="2269465"/>
            <a:ext cx="10245864" cy="77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General Purpose mode is the default and recommended performance mode for most EFS file systems, offering the lowest per-operation latency. It is ideal for latency-sensitive applications like web servers and content management systems.</a:t>
            </a:r>
            <a:endParaRPr lang="en-US" sz="1461" dirty="0"/>
          </a:p>
        </p:txBody>
      </p:sp>
      <p:sp>
        <p:nvSpPr>
          <p:cNvPr id="29" name="Text 4"/>
          <p:cNvSpPr/>
          <p:nvPr/>
        </p:nvSpPr>
        <p:spPr>
          <a:xfrm>
            <a:off x="1150803" y="3420269"/>
            <a:ext cx="187690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General Purpose</a:t>
            </a:r>
            <a:endParaRPr lang="en-US" sz="1315" dirty="0"/>
          </a:p>
        </p:txBody>
      </p:sp>
      <p:sp>
        <p:nvSpPr>
          <p:cNvPr id="30" name="Text 5"/>
          <p:cNvSpPr/>
          <p:nvPr/>
        </p:nvSpPr>
        <p:spPr>
          <a:xfrm>
            <a:off x="965190" y="3754373"/>
            <a:ext cx="362311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 mode with lowest latency</a:t>
            </a:r>
            <a:endParaRPr lang="en-US" sz="1023" dirty="0"/>
          </a:p>
        </p:txBody>
      </p:sp>
      <p:sp>
        <p:nvSpPr>
          <p:cNvPr id="31" name="Text 6"/>
          <p:cNvSpPr/>
          <p:nvPr/>
        </p:nvSpPr>
        <p:spPr>
          <a:xfrm>
            <a:off x="965190" y="4162723"/>
            <a:ext cx="3019264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169"/>
              </a:lnSpc>
            </a:pPr>
            <a:r>
              <a:rPr lang="en-US" sz="87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 latency</a:t>
            </a:r>
            <a:endParaRPr lang="en-US" sz="877" dirty="0"/>
          </a:p>
        </p:txBody>
      </p:sp>
      <p:sp>
        <p:nvSpPr>
          <p:cNvPr id="32" name="Text 7"/>
          <p:cNvSpPr/>
          <p:nvPr/>
        </p:nvSpPr>
        <p:spPr>
          <a:xfrm>
            <a:off x="4671224" y="3420269"/>
            <a:ext cx="85214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I/O</a:t>
            </a:r>
            <a:endParaRPr lang="en-US" sz="1315" dirty="0"/>
          </a:p>
        </p:txBody>
      </p:sp>
      <p:sp>
        <p:nvSpPr>
          <p:cNvPr id="33" name="Text 8"/>
          <p:cNvSpPr/>
          <p:nvPr/>
        </p:nvSpPr>
        <p:spPr>
          <a:xfrm>
            <a:off x="4429926" y="3754373"/>
            <a:ext cx="362311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highly parallel workloads</a:t>
            </a:r>
            <a:endParaRPr lang="en-US" sz="1023" dirty="0"/>
          </a:p>
        </p:txBody>
      </p:sp>
      <p:sp>
        <p:nvSpPr>
          <p:cNvPr id="34" name="Text 9"/>
          <p:cNvSpPr/>
          <p:nvPr/>
        </p:nvSpPr>
        <p:spPr>
          <a:xfrm>
            <a:off x="4429926" y="4162723"/>
            <a:ext cx="3019264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169"/>
              </a:lnSpc>
            </a:pPr>
            <a:r>
              <a:rPr lang="en-US" sz="87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latency</a:t>
            </a:r>
            <a:endParaRPr lang="en-US" sz="877" dirty="0"/>
          </a:p>
        </p:txBody>
      </p:sp>
      <p:sp>
        <p:nvSpPr>
          <p:cNvPr id="35" name="Text 10"/>
          <p:cNvSpPr/>
          <p:nvPr/>
        </p:nvSpPr>
        <p:spPr>
          <a:xfrm>
            <a:off x="8117400" y="3420269"/>
            <a:ext cx="133084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Provisioned</a:t>
            </a:r>
            <a:endParaRPr lang="en-US" sz="1315" dirty="0"/>
          </a:p>
        </p:txBody>
      </p:sp>
      <p:sp>
        <p:nvSpPr>
          <p:cNvPr id="36" name="Text 11"/>
          <p:cNvSpPr/>
          <p:nvPr/>
        </p:nvSpPr>
        <p:spPr>
          <a:xfrm>
            <a:off x="7894664" y="3754373"/>
            <a:ext cx="3623291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consistent performance</a:t>
            </a:r>
            <a:endParaRPr lang="en-US" sz="1023" dirty="0"/>
          </a:p>
        </p:txBody>
      </p:sp>
      <p:sp>
        <p:nvSpPr>
          <p:cNvPr id="37" name="Text 12"/>
          <p:cNvSpPr/>
          <p:nvPr/>
        </p:nvSpPr>
        <p:spPr>
          <a:xfrm>
            <a:off x="7894664" y="4162723"/>
            <a:ext cx="3019409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169"/>
              </a:lnSpc>
            </a:pPr>
            <a:r>
              <a:rPr lang="en-US" sz="87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Medium latency</a:t>
            </a:r>
            <a:endParaRPr lang="en-US" sz="877" dirty="0"/>
          </a:p>
        </p:txBody>
      </p:sp>
      <p:sp>
        <p:nvSpPr>
          <p:cNvPr id="38" name="Text 13"/>
          <p:cNvSpPr/>
          <p:nvPr/>
        </p:nvSpPr>
        <p:spPr>
          <a:xfrm>
            <a:off x="1039435" y="5053668"/>
            <a:ext cx="1009737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Point: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Performance modes affect per-operation latency, not throughput. General Purpose mode offers the best balance for most applications.</a:t>
            </a:r>
            <a:endParaRPr lang="en-US" sz="116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970171"/>
            <a:ext cx="890945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22" y="2083852"/>
            <a:ext cx="371227" cy="37122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3540" y="2102413"/>
            <a:ext cx="194894" cy="22273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822" y="2826306"/>
            <a:ext cx="371227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3540" y="2844867"/>
            <a:ext cx="222736" cy="22273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822" y="3568760"/>
            <a:ext cx="371227" cy="37122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822" y="4311214"/>
            <a:ext cx="371227" cy="37122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3540" y="4329775"/>
            <a:ext cx="222736" cy="222736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93963" y="524699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7: Encryption</a:t>
            </a:r>
            <a:endParaRPr lang="en-US" sz="2631" dirty="0"/>
          </a:p>
        </p:txBody>
      </p:sp>
      <p:sp>
        <p:nvSpPr>
          <p:cNvPr id="21" name="Text 1"/>
          <p:cNvSpPr/>
          <p:nvPr/>
        </p:nvSpPr>
        <p:spPr>
          <a:xfrm>
            <a:off x="593963" y="1378521"/>
            <a:ext cx="1282960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does Amazon EFS manage data encryption for file systems?</a:t>
            </a:r>
            <a:endParaRPr lang="en-US" sz="1754" dirty="0"/>
          </a:p>
        </p:txBody>
      </p:sp>
      <p:sp>
        <p:nvSpPr>
          <p:cNvPr id="22" name="Text 2"/>
          <p:cNvSpPr/>
          <p:nvPr/>
        </p:nvSpPr>
        <p:spPr>
          <a:xfrm>
            <a:off x="981866" y="2083852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169" dirty="0"/>
          </a:p>
        </p:txBody>
      </p:sp>
      <p:sp>
        <p:nvSpPr>
          <p:cNvPr id="23" name="Text 3"/>
          <p:cNvSpPr/>
          <p:nvPr/>
        </p:nvSpPr>
        <p:spPr>
          <a:xfrm>
            <a:off x="1679802" y="2083852"/>
            <a:ext cx="850156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only supports encryption at rest, configured during file system creation.</a:t>
            </a:r>
            <a:endParaRPr lang="en-US" sz="1461" dirty="0"/>
          </a:p>
        </p:txBody>
      </p:sp>
      <p:sp>
        <p:nvSpPr>
          <p:cNvPr id="24" name="Text 4"/>
          <p:cNvSpPr/>
          <p:nvPr/>
        </p:nvSpPr>
        <p:spPr>
          <a:xfrm>
            <a:off x="982736" y="2826306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169" dirty="0"/>
          </a:p>
        </p:txBody>
      </p:sp>
      <p:sp>
        <p:nvSpPr>
          <p:cNvPr id="25" name="Text 5"/>
          <p:cNvSpPr/>
          <p:nvPr/>
        </p:nvSpPr>
        <p:spPr>
          <a:xfrm>
            <a:off x="1707644" y="2826306"/>
            <a:ext cx="850086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only supports encryption in transit using TLS, enabled during mounting.</a:t>
            </a:r>
            <a:endParaRPr lang="en-US" sz="1461" dirty="0"/>
          </a:p>
        </p:txBody>
      </p:sp>
      <p:sp>
        <p:nvSpPr>
          <p:cNvPr id="26" name="Text 6"/>
          <p:cNvSpPr/>
          <p:nvPr/>
        </p:nvSpPr>
        <p:spPr>
          <a:xfrm>
            <a:off x="984912" y="3568760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169" dirty="0"/>
          </a:p>
        </p:txBody>
      </p:sp>
      <p:sp>
        <p:nvSpPr>
          <p:cNvPr id="27" name="Text 7"/>
          <p:cNvSpPr/>
          <p:nvPr/>
        </p:nvSpPr>
        <p:spPr>
          <a:xfrm>
            <a:off x="1484908" y="3568760"/>
            <a:ext cx="69707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supports both encryption at rest and encryption in transit.</a:t>
            </a:r>
            <a:endParaRPr lang="en-US" sz="1461" dirty="0"/>
          </a:p>
        </p:txBody>
      </p:sp>
      <p:sp>
        <p:nvSpPr>
          <p:cNvPr id="28" name="Text 8"/>
          <p:cNvSpPr/>
          <p:nvPr/>
        </p:nvSpPr>
        <p:spPr>
          <a:xfrm>
            <a:off x="977806" y="4311214"/>
            <a:ext cx="37122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169" dirty="0"/>
          </a:p>
        </p:txBody>
      </p:sp>
      <p:sp>
        <p:nvSpPr>
          <p:cNvPr id="29" name="Text 9"/>
          <p:cNvSpPr/>
          <p:nvPr/>
        </p:nvSpPr>
        <p:spPr>
          <a:xfrm>
            <a:off x="1707644" y="4311214"/>
            <a:ext cx="958896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EFS encryption is automatically enabled for all file systems and cannot be configured.</a:t>
            </a:r>
            <a:endParaRPr lang="en-US" sz="146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90061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505" y="1796151"/>
            <a:ext cx="3480253" cy="417630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668" y="1564134"/>
            <a:ext cx="1187926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526" y="2195220"/>
            <a:ext cx="3404992" cy="100231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4896" y="2343711"/>
            <a:ext cx="334104" cy="37122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1499" y="2195220"/>
            <a:ext cx="3758093" cy="100231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2054" y="2343711"/>
            <a:ext cx="296982" cy="37122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4363" y="3643005"/>
            <a:ext cx="8790538" cy="263571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7099" y="3902864"/>
            <a:ext cx="222736" cy="2227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7099" y="4311214"/>
            <a:ext cx="4098287" cy="48259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8467" y="4422582"/>
            <a:ext cx="185613" cy="2598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3876" y="4311214"/>
            <a:ext cx="4098287" cy="48259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25245" y="4422582"/>
            <a:ext cx="185613" cy="25985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67099" y="4942300"/>
            <a:ext cx="4098287" cy="48259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78467" y="5053668"/>
            <a:ext cx="232017" cy="25985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3876" y="4942300"/>
            <a:ext cx="4098287" cy="48259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5245" y="5053668"/>
            <a:ext cx="185613" cy="25985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67099" y="5573385"/>
            <a:ext cx="8345066" cy="48259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78467" y="5684753"/>
            <a:ext cx="185613" cy="259859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45472" y="524699"/>
            <a:ext cx="10988318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507"/>
              </a:lnSpc>
            </a:pPr>
            <a:r>
              <a:rPr lang="en-US" sz="3507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Stay Connected with Our Cloud Computing Journey!</a:t>
            </a:r>
            <a:endParaRPr lang="en-US" sz="3507" dirty="0"/>
          </a:p>
        </p:txBody>
      </p:sp>
      <p:sp>
        <p:nvSpPr>
          <p:cNvPr id="25" name="Text 1"/>
          <p:cNvSpPr/>
          <p:nvPr/>
        </p:nvSpPr>
        <p:spPr>
          <a:xfrm>
            <a:off x="2358016" y="2789183"/>
            <a:ext cx="372961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Like this video if you found it helpful!</a:t>
            </a:r>
            <a:endParaRPr lang="en-US" sz="1315" dirty="0"/>
          </a:p>
        </p:txBody>
      </p:sp>
      <p:sp>
        <p:nvSpPr>
          <p:cNvPr id="26" name="Text 2"/>
          <p:cNvSpPr/>
          <p:nvPr/>
        </p:nvSpPr>
        <p:spPr>
          <a:xfrm>
            <a:off x="6059989" y="2789183"/>
            <a:ext cx="41533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Subscribe for cloud tech updates!</a:t>
            </a:r>
            <a:endParaRPr lang="en-US" sz="1315" dirty="0"/>
          </a:p>
        </p:txBody>
      </p:sp>
      <p:sp>
        <p:nvSpPr>
          <p:cNvPr id="27" name="Text 3"/>
          <p:cNvSpPr/>
          <p:nvPr/>
        </p:nvSpPr>
        <p:spPr>
          <a:xfrm>
            <a:off x="2101203" y="3865741"/>
            <a:ext cx="1001407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Comment below which cloud topic you want to see next like:</a:t>
            </a:r>
            <a:endParaRPr lang="en-US" sz="1754" dirty="0"/>
          </a:p>
        </p:txBody>
      </p:sp>
      <p:sp>
        <p:nvSpPr>
          <p:cNvPr id="28" name="Text 4"/>
          <p:cNvSpPr/>
          <p:nvPr/>
        </p:nvSpPr>
        <p:spPr>
          <a:xfrm>
            <a:off x="2175449" y="4422582"/>
            <a:ext cx="192701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Security Tips</a:t>
            </a:r>
            <a:endParaRPr lang="en-US" sz="1315" dirty="0"/>
          </a:p>
        </p:txBody>
      </p:sp>
      <p:sp>
        <p:nvSpPr>
          <p:cNvPr id="29" name="Text 5"/>
          <p:cNvSpPr/>
          <p:nvPr/>
        </p:nvSpPr>
        <p:spPr>
          <a:xfrm>
            <a:off x="6422226" y="4422582"/>
            <a:ext cx="287921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 Strategies</a:t>
            </a:r>
            <a:endParaRPr lang="en-US" sz="1315" dirty="0"/>
          </a:p>
        </p:txBody>
      </p:sp>
      <p:sp>
        <p:nvSpPr>
          <p:cNvPr id="30" name="Text 6"/>
          <p:cNvSpPr/>
          <p:nvPr/>
        </p:nvSpPr>
        <p:spPr>
          <a:xfrm>
            <a:off x="2221851" y="5053668"/>
            <a:ext cx="25193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Multi-Cloud Management</a:t>
            </a:r>
            <a:endParaRPr lang="en-US" sz="1315" dirty="0"/>
          </a:p>
        </p:txBody>
      </p:sp>
      <p:sp>
        <p:nvSpPr>
          <p:cNvPr id="31" name="Text 7"/>
          <p:cNvSpPr/>
          <p:nvPr/>
        </p:nvSpPr>
        <p:spPr>
          <a:xfrm>
            <a:off x="6422226" y="5053668"/>
            <a:ext cx="220978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Serverless Computing</a:t>
            </a:r>
            <a:endParaRPr lang="en-US" sz="1315" dirty="0"/>
          </a:p>
        </p:txBody>
      </p:sp>
      <p:sp>
        <p:nvSpPr>
          <p:cNvPr id="32" name="Text 8"/>
          <p:cNvSpPr/>
          <p:nvPr/>
        </p:nvSpPr>
        <p:spPr>
          <a:xfrm>
            <a:off x="2175448" y="5684753"/>
            <a:ext cx="22061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Migration Steps</a:t>
            </a:r>
            <a:endParaRPr lang="en-US" sz="1315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820DDF-95CF-B4A2-D906-FF20AE0A41CB}"/>
              </a:ext>
            </a:extLst>
          </p:cNvPr>
          <p:cNvSpPr txBox="1"/>
          <p:nvPr/>
        </p:nvSpPr>
        <p:spPr>
          <a:xfrm>
            <a:off x="193073" y="1023606"/>
            <a:ext cx="11641607" cy="37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Dive deeper into the cloud world! Check out our specialized playlists for your continuous learning journey!</a:t>
            </a:r>
            <a:endParaRPr lang="en-US" sz="1754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12D73757-DDD7-D57B-261C-664EC6A592BB}"/>
              </a:ext>
            </a:extLst>
          </p:cNvPr>
          <p:cNvSpPr/>
          <p:nvPr/>
        </p:nvSpPr>
        <p:spPr>
          <a:xfrm>
            <a:off x="6422226" y="5704955"/>
            <a:ext cx="22061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IN" sz="1364" dirty="0"/>
              <a:t>Anything you'd like 🙂</a:t>
            </a:r>
            <a:endParaRPr lang="en-US" sz="1315" dirty="0"/>
          </a:p>
        </p:txBody>
      </p:sp>
      <p:pic>
        <p:nvPicPr>
          <p:cNvPr id="34" name="Image 14" descr="preencoded.png">
            <a:extLst>
              <a:ext uri="{FF2B5EF4-FFF2-40B4-BE49-F238E27FC236}">
                <a16:creationId xmlns:a16="http://schemas.microsoft.com/office/drawing/2014/main" id="{9B3B5FE5-BED3-CA8F-DE9C-F0AE5665F84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45430" y="5736725"/>
            <a:ext cx="232017" cy="259859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337FD39-6A55-699F-0610-A1B61D3F10E7}"/>
              </a:ext>
            </a:extLst>
          </p:cNvPr>
          <p:cNvCxnSpPr>
            <a:cxnSpLocks/>
          </p:cNvCxnSpPr>
          <p:nvPr/>
        </p:nvCxnSpPr>
        <p:spPr>
          <a:xfrm>
            <a:off x="6047287" y="5718164"/>
            <a:ext cx="0" cy="259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</TotalTime>
  <Words>1050</Words>
  <Application>Microsoft Office PowerPoint</Application>
  <PresentationFormat>Custom</PresentationFormat>
  <Paragraphs>177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ui-sans-serif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Behal</cp:lastModifiedBy>
  <cp:revision>45</cp:revision>
  <dcterms:created xsi:type="dcterms:W3CDTF">2025-10-28T02:09:39Z</dcterms:created>
  <dcterms:modified xsi:type="dcterms:W3CDTF">2025-11-08T13:08:57Z</dcterms:modified>
</cp:coreProperties>
</file>