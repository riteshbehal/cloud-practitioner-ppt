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30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691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4997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3090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36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311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1652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341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3726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475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888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6669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44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3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32.png"/><Relationship Id="rId18" Type="http://schemas.openxmlformats.org/officeDocument/2006/relationships/image" Target="../media/image58.png"/><Relationship Id="rId3" Type="http://schemas.openxmlformats.org/officeDocument/2006/relationships/image" Target="../media/image1.png"/><Relationship Id="rId21" Type="http://schemas.openxmlformats.org/officeDocument/2006/relationships/image" Target="../media/image61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19" Type="http://schemas.openxmlformats.org/officeDocument/2006/relationships/image" Target="../media/image59.png"/><Relationship Id="rId4" Type="http://schemas.openxmlformats.org/officeDocument/2006/relationships/image" Target="../media/image11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3.png"/><Relationship Id="rId3" Type="http://schemas.openxmlformats.org/officeDocument/2006/relationships/image" Target="../media/image1.png"/><Relationship Id="rId21" Type="http://schemas.openxmlformats.org/officeDocument/2006/relationships/image" Target="../media/image76.png"/><Relationship Id="rId7" Type="http://schemas.openxmlformats.org/officeDocument/2006/relationships/image" Target="../media/image61.png"/><Relationship Id="rId12" Type="http://schemas.openxmlformats.org/officeDocument/2006/relationships/image" Target="../media/image68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11" Type="http://schemas.openxmlformats.org/officeDocument/2006/relationships/image" Target="../media/image67.png"/><Relationship Id="rId24" Type="http://schemas.openxmlformats.org/officeDocument/2006/relationships/image" Target="../media/image79.png"/><Relationship Id="rId5" Type="http://schemas.openxmlformats.org/officeDocument/2006/relationships/image" Target="../media/image62.png"/><Relationship Id="rId15" Type="http://schemas.openxmlformats.org/officeDocument/2006/relationships/image" Target="../media/image71.png"/><Relationship Id="rId23" Type="http://schemas.openxmlformats.org/officeDocument/2006/relationships/image" Target="../media/image78.png"/><Relationship Id="rId10" Type="http://schemas.openxmlformats.org/officeDocument/2006/relationships/image" Target="../media/image66.png"/><Relationship Id="rId19" Type="http://schemas.openxmlformats.org/officeDocument/2006/relationships/image" Target="../media/image74.png"/><Relationship Id="rId4" Type="http://schemas.openxmlformats.org/officeDocument/2006/relationships/image" Target="../media/image11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11.png"/><Relationship Id="rId9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12" Type="http://schemas.openxmlformats.org/officeDocument/2006/relationships/image" Target="../media/image61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8.png"/><Relationship Id="rId10" Type="http://schemas.openxmlformats.org/officeDocument/2006/relationships/image" Target="../media/image94.png"/><Relationship Id="rId19" Type="http://schemas.openxmlformats.org/officeDocument/2006/relationships/image" Target="../media/image102.png"/><Relationship Id="rId4" Type="http://schemas.openxmlformats.org/officeDocument/2006/relationships/image" Target="../media/image11.png"/><Relationship Id="rId9" Type="http://schemas.openxmlformats.org/officeDocument/2006/relationships/image" Target="../media/image93.png"/><Relationship Id="rId14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1.png"/><Relationship Id="rId21" Type="http://schemas.openxmlformats.org/officeDocument/2006/relationships/image" Target="../media/image116.png"/><Relationship Id="rId7" Type="http://schemas.openxmlformats.org/officeDocument/2006/relationships/image" Target="../media/image5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png"/><Relationship Id="rId11" Type="http://schemas.openxmlformats.org/officeDocument/2006/relationships/image" Target="../media/image17.png"/><Relationship Id="rId5" Type="http://schemas.openxmlformats.org/officeDocument/2006/relationships/image" Target="../media/image103.png"/><Relationship Id="rId15" Type="http://schemas.openxmlformats.org/officeDocument/2006/relationships/image" Target="../media/image110.png"/><Relationship Id="rId10" Type="http://schemas.openxmlformats.org/officeDocument/2006/relationships/image" Target="../media/image106.png"/><Relationship Id="rId19" Type="http://schemas.openxmlformats.org/officeDocument/2006/relationships/image" Target="../media/image114.png"/><Relationship Id="rId4" Type="http://schemas.openxmlformats.org/officeDocument/2006/relationships/image" Target="../media/image11.png"/><Relationship Id="rId9" Type="http://schemas.openxmlformats.org/officeDocument/2006/relationships/image" Target="../media/image70.png"/><Relationship Id="rId14" Type="http://schemas.openxmlformats.org/officeDocument/2006/relationships/image" Target="../media/image10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2.png"/><Relationship Id="rId3" Type="http://schemas.openxmlformats.org/officeDocument/2006/relationships/image" Target="../media/image1.png"/><Relationship Id="rId7" Type="http://schemas.openxmlformats.org/officeDocument/2006/relationships/image" Target="../media/image118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11" Type="http://schemas.openxmlformats.org/officeDocument/2006/relationships/image" Target="../media/image120.png"/><Relationship Id="rId5" Type="http://schemas.openxmlformats.org/officeDocument/2006/relationships/image" Target="../media/image117.png"/><Relationship Id="rId15" Type="http://schemas.openxmlformats.org/officeDocument/2006/relationships/image" Target="../media/image124.png"/><Relationship Id="rId10" Type="http://schemas.openxmlformats.org/officeDocument/2006/relationships/image" Target="../media/image74.png"/><Relationship Id="rId4" Type="http://schemas.openxmlformats.org/officeDocument/2006/relationships/image" Target="../media/image11.png"/><Relationship Id="rId9" Type="http://schemas.openxmlformats.org/officeDocument/2006/relationships/image" Target="../media/image116.png"/><Relationship Id="rId14" Type="http://schemas.openxmlformats.org/officeDocument/2006/relationships/image" Target="../media/image1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1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4" Type="http://schemas.openxmlformats.org/officeDocument/2006/relationships/image" Target="../media/image11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10" Type="http://schemas.openxmlformats.org/officeDocument/2006/relationships/image" Target="../media/image144.png"/><Relationship Id="rId4" Type="http://schemas.openxmlformats.org/officeDocument/2006/relationships/image" Target="../media/image11.png"/><Relationship Id="rId9" Type="http://schemas.openxmlformats.org/officeDocument/2006/relationships/image" Target="../media/image1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1.png"/><Relationship Id="rId18" Type="http://schemas.openxmlformats.org/officeDocument/2006/relationships/image" Target="../media/image154.png"/><Relationship Id="rId3" Type="http://schemas.openxmlformats.org/officeDocument/2006/relationships/image" Target="../media/image1.png"/><Relationship Id="rId21" Type="http://schemas.openxmlformats.org/officeDocument/2006/relationships/image" Target="../media/image156.png"/><Relationship Id="rId7" Type="http://schemas.openxmlformats.org/officeDocument/2006/relationships/image" Target="../media/image147.png"/><Relationship Id="rId12" Type="http://schemas.openxmlformats.org/officeDocument/2006/relationships/image" Target="../media/image150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3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6.png"/><Relationship Id="rId11" Type="http://schemas.openxmlformats.org/officeDocument/2006/relationships/image" Target="../media/image74.png"/><Relationship Id="rId5" Type="http://schemas.openxmlformats.org/officeDocument/2006/relationships/image" Target="../media/image145.png"/><Relationship Id="rId15" Type="http://schemas.openxmlformats.org/officeDocument/2006/relationships/image" Target="../media/image75.png"/><Relationship Id="rId23" Type="http://schemas.openxmlformats.org/officeDocument/2006/relationships/image" Target="../media/image84.png"/><Relationship Id="rId10" Type="http://schemas.openxmlformats.org/officeDocument/2006/relationships/image" Target="../media/image149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39.png"/><Relationship Id="rId14" Type="http://schemas.openxmlformats.org/officeDocument/2006/relationships/image" Target="../media/image152.png"/><Relationship Id="rId22" Type="http://schemas.openxmlformats.org/officeDocument/2006/relationships/image" Target="../media/image1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4454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098" y="3939987"/>
            <a:ext cx="111368" cy="1113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232" y="4218407"/>
            <a:ext cx="111368" cy="11136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367" y="4032794"/>
            <a:ext cx="111368" cy="1113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502" y="4311214"/>
            <a:ext cx="111368" cy="1113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637" y="4125600"/>
            <a:ext cx="111368" cy="1113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974" y="3986425"/>
            <a:ext cx="1795217" cy="17541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1108" y="3922312"/>
            <a:ext cx="1795217" cy="17541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6440" y="4172145"/>
            <a:ext cx="1776321" cy="3309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2894" y="4014327"/>
            <a:ext cx="1785512" cy="26895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3626" y="6352962"/>
            <a:ext cx="129929" cy="12992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513155" y="1666222"/>
            <a:ext cx="1023368" cy="3805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2631" dirty="0"/>
          </a:p>
        </p:txBody>
      </p:sp>
      <p:sp>
        <p:nvSpPr>
          <p:cNvPr id="15" name="Text 1"/>
          <p:cNvSpPr/>
          <p:nvPr/>
        </p:nvSpPr>
        <p:spPr>
          <a:xfrm>
            <a:off x="2264310" y="2195220"/>
            <a:ext cx="7350642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4384"/>
              </a:lnSpc>
            </a:pPr>
            <a:r>
              <a:rPr lang="en-US" sz="438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CloudFront</a:t>
            </a:r>
            <a:endParaRPr lang="en-US" sz="4384" dirty="0"/>
          </a:p>
        </p:txBody>
      </p:sp>
      <p:sp>
        <p:nvSpPr>
          <p:cNvPr id="16" name="Text 2"/>
          <p:cNvSpPr/>
          <p:nvPr/>
        </p:nvSpPr>
        <p:spPr>
          <a:xfrm>
            <a:off x="1967967" y="2974797"/>
            <a:ext cx="7943329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631"/>
              </a:lnSpc>
            </a:pPr>
            <a:r>
              <a:rPr lang="en-US" sz="219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Content Delivery Network (CDN) Service</a:t>
            </a:r>
            <a:endParaRPr lang="en-US" sz="2192" dirty="0"/>
          </a:p>
        </p:txBody>
      </p:sp>
      <p:sp>
        <p:nvSpPr>
          <p:cNvPr id="18" name="Text 4"/>
          <p:cNvSpPr/>
          <p:nvPr/>
        </p:nvSpPr>
        <p:spPr>
          <a:xfrm>
            <a:off x="8817801" y="6334401"/>
            <a:ext cx="338419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Accelerating content delivery worldwide</a:t>
            </a:r>
            <a:endParaRPr lang="en-US" sz="102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2213781"/>
            <a:ext cx="3365695" cy="15962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00" y="2436518"/>
            <a:ext cx="213455" cy="3341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6639" y="2213781"/>
            <a:ext cx="3365840" cy="15962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9375" y="2436518"/>
            <a:ext cx="278420" cy="334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9460" y="2213781"/>
            <a:ext cx="3365695" cy="15962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2195" y="2436518"/>
            <a:ext cx="352666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4515388"/>
            <a:ext cx="2032468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454" y="4626756"/>
            <a:ext cx="111368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74921" y="4515388"/>
            <a:ext cx="1062202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3412" y="4626756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85615" y="4515388"/>
            <a:ext cx="1616142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34105" y="4626756"/>
            <a:ext cx="167052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50247" y="4515388"/>
            <a:ext cx="813509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98738" y="4626756"/>
            <a:ext cx="129929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1" y="6315839"/>
            <a:ext cx="11879263" cy="445472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45472" y="227717"/>
            <a:ext cx="602379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to CloudFront</a:t>
            </a:r>
            <a:endParaRPr lang="en-US" sz="2631" dirty="0"/>
          </a:p>
        </p:txBody>
      </p:sp>
      <p:sp>
        <p:nvSpPr>
          <p:cNvPr id="20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1" name="Text 2"/>
          <p:cNvSpPr/>
          <p:nvPr/>
        </p:nvSpPr>
        <p:spPr>
          <a:xfrm>
            <a:off x="593963" y="1044416"/>
            <a:ext cx="10691336" cy="7238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CloudFront is a fast, highly secure, and programmable Content Delivery Network (CDN) service that accelerates the distribution of content to users globally.</a:t>
            </a:r>
            <a:endParaRPr lang="en-US" sz="1754" dirty="0"/>
          </a:p>
        </p:txBody>
      </p:sp>
      <p:sp>
        <p:nvSpPr>
          <p:cNvPr id="22" name="Text 3"/>
          <p:cNvSpPr/>
          <p:nvPr/>
        </p:nvSpPr>
        <p:spPr>
          <a:xfrm>
            <a:off x="1178646" y="2473640"/>
            <a:ext cx="52847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</a:t>
            </a:r>
            <a:endParaRPr lang="en-US" sz="1461" dirty="0"/>
          </a:p>
        </p:txBody>
      </p:sp>
      <p:sp>
        <p:nvSpPr>
          <p:cNvPr id="23" name="Text 4"/>
          <p:cNvSpPr/>
          <p:nvPr/>
        </p:nvSpPr>
        <p:spPr>
          <a:xfrm>
            <a:off x="816700" y="2919112"/>
            <a:ext cx="2920222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Delivers content with minimal latency by routing users to the nearest edge location worldwide.</a:t>
            </a:r>
            <a:endParaRPr lang="en-US" sz="1169" dirty="0"/>
          </a:p>
        </p:txBody>
      </p:sp>
      <p:sp>
        <p:nvSpPr>
          <p:cNvPr id="24" name="Text 5"/>
          <p:cNvSpPr/>
          <p:nvPr/>
        </p:nvSpPr>
        <p:spPr>
          <a:xfrm>
            <a:off x="4906287" y="2473640"/>
            <a:ext cx="8631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</a:t>
            </a:r>
            <a:endParaRPr lang="en-US" sz="1461" dirty="0"/>
          </a:p>
        </p:txBody>
      </p:sp>
      <p:sp>
        <p:nvSpPr>
          <p:cNvPr id="25" name="Text 6"/>
          <p:cNvSpPr/>
          <p:nvPr/>
        </p:nvSpPr>
        <p:spPr>
          <a:xfrm>
            <a:off x="4479375" y="2919112"/>
            <a:ext cx="2920367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Protects content with integrated DDoS protection, Web Application Firewall, and HTTPS support.</a:t>
            </a:r>
            <a:endParaRPr lang="en-US" sz="1169" dirty="0"/>
          </a:p>
        </p:txBody>
      </p:sp>
      <p:sp>
        <p:nvSpPr>
          <p:cNvPr id="26" name="Text 7"/>
          <p:cNvSpPr/>
          <p:nvPr/>
        </p:nvSpPr>
        <p:spPr>
          <a:xfrm>
            <a:off x="8643353" y="2473640"/>
            <a:ext cx="18471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Programmable</a:t>
            </a:r>
            <a:endParaRPr lang="en-US" sz="1461" dirty="0"/>
          </a:p>
        </p:txBody>
      </p:sp>
      <p:sp>
        <p:nvSpPr>
          <p:cNvPr id="27" name="Text 8"/>
          <p:cNvSpPr/>
          <p:nvPr/>
        </p:nvSpPr>
        <p:spPr>
          <a:xfrm>
            <a:off x="8142196" y="2919112"/>
            <a:ext cx="2920222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Customizes content delivery with edge computing capabilities and API integration.</a:t>
            </a:r>
            <a:endParaRPr lang="en-US" sz="1169" dirty="0"/>
          </a:p>
        </p:txBody>
      </p:sp>
      <p:sp>
        <p:nvSpPr>
          <p:cNvPr id="28" name="Text 9"/>
          <p:cNvSpPr/>
          <p:nvPr/>
        </p:nvSpPr>
        <p:spPr>
          <a:xfrm>
            <a:off x="593963" y="4107039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 Types Supported:</a:t>
            </a:r>
            <a:endParaRPr lang="en-US" sz="1461" dirty="0"/>
          </a:p>
        </p:txBody>
      </p:sp>
      <p:sp>
        <p:nvSpPr>
          <p:cNvPr id="29" name="Text 10"/>
          <p:cNvSpPr/>
          <p:nvPr/>
        </p:nvSpPr>
        <p:spPr>
          <a:xfrm>
            <a:off x="928067" y="4589634"/>
            <a:ext cx="185984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HTML/CSS/JavaScript</a:t>
            </a:r>
            <a:endParaRPr lang="en-US" sz="1169" dirty="0"/>
          </a:p>
        </p:txBody>
      </p:sp>
      <p:sp>
        <p:nvSpPr>
          <p:cNvPr id="30" name="Text 11"/>
          <p:cNvSpPr/>
          <p:nvPr/>
        </p:nvSpPr>
        <p:spPr>
          <a:xfrm>
            <a:off x="3146149" y="4589634"/>
            <a:ext cx="6509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Images</a:t>
            </a:r>
            <a:endParaRPr lang="en-US" sz="1169" dirty="0"/>
          </a:p>
        </p:txBody>
      </p:sp>
      <p:sp>
        <p:nvSpPr>
          <p:cNvPr id="31" name="Text 12"/>
          <p:cNvSpPr/>
          <p:nvPr/>
        </p:nvSpPr>
        <p:spPr>
          <a:xfrm>
            <a:off x="4375403" y="4589634"/>
            <a:ext cx="129343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Video Streams</a:t>
            </a:r>
            <a:endParaRPr lang="en-US" sz="1169" dirty="0"/>
          </a:p>
        </p:txBody>
      </p:sp>
      <p:sp>
        <p:nvSpPr>
          <p:cNvPr id="32" name="Text 13"/>
          <p:cNvSpPr/>
          <p:nvPr/>
        </p:nvSpPr>
        <p:spPr>
          <a:xfrm>
            <a:off x="6102913" y="4589634"/>
            <a:ext cx="37482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APIs</a:t>
            </a:r>
            <a:endParaRPr lang="en-US" sz="1169" dirty="0"/>
          </a:p>
        </p:txBody>
      </p:sp>
      <p:sp>
        <p:nvSpPr>
          <p:cNvPr id="34" name="Text 15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34798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712625"/>
            <a:ext cx="5234300" cy="189325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99" y="1935361"/>
            <a:ext cx="278420" cy="3341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1712625"/>
            <a:ext cx="5234300" cy="189325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735" y="1935361"/>
            <a:ext cx="278420" cy="334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3828618"/>
            <a:ext cx="5234300" cy="211599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99" y="4051355"/>
            <a:ext cx="241298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0999" y="3828618"/>
            <a:ext cx="5234300" cy="211599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735" y="4051355"/>
            <a:ext cx="352666" cy="3341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3778" y="3383146"/>
            <a:ext cx="1113681" cy="1856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3594" y="3383146"/>
            <a:ext cx="1113681" cy="1856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3778" y="5053668"/>
            <a:ext cx="1113681" cy="1856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3594" y="5053668"/>
            <a:ext cx="1113681" cy="18561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45472" y="227717"/>
            <a:ext cx="7199425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Concepts and Architecture</a:t>
            </a:r>
            <a:endParaRPr lang="en-US" sz="2631" dirty="0"/>
          </a:p>
        </p:txBody>
      </p:sp>
      <p:sp>
        <p:nvSpPr>
          <p:cNvPr id="18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9" name="Text 2"/>
          <p:cNvSpPr/>
          <p:nvPr/>
        </p:nvSpPr>
        <p:spPr>
          <a:xfrm>
            <a:off x="593963" y="970171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CloudFront's architecture consists of interconnected components that work together to optimize content delivery at global scale.</a:t>
            </a:r>
            <a:endParaRPr lang="en-US" sz="1461" dirty="0"/>
          </a:p>
        </p:txBody>
      </p:sp>
      <p:sp>
        <p:nvSpPr>
          <p:cNvPr id="20" name="Text 3"/>
          <p:cNvSpPr/>
          <p:nvPr/>
        </p:nvSpPr>
        <p:spPr>
          <a:xfrm>
            <a:off x="1243611" y="1972484"/>
            <a:ext cx="282961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Edge Locations (POPs)</a:t>
            </a:r>
            <a:endParaRPr lang="en-US" sz="1461" dirty="0"/>
          </a:p>
        </p:txBody>
      </p:sp>
      <p:sp>
        <p:nvSpPr>
          <p:cNvPr id="21" name="Text 4"/>
          <p:cNvSpPr/>
          <p:nvPr/>
        </p:nvSpPr>
        <p:spPr>
          <a:xfrm>
            <a:off x="816699" y="2380834"/>
            <a:ext cx="478882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network of data centers that cache content and serve user requests with lowest latency.</a:t>
            </a:r>
            <a:endParaRPr lang="en-US" sz="1169" dirty="0"/>
          </a:p>
        </p:txBody>
      </p:sp>
      <p:sp>
        <p:nvSpPr>
          <p:cNvPr id="22" name="Text 5"/>
          <p:cNvSpPr/>
          <p:nvPr/>
        </p:nvSpPr>
        <p:spPr>
          <a:xfrm>
            <a:off x="816699" y="2937674"/>
            <a:ext cx="57465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Located in over 47 countries</a:t>
            </a:r>
            <a:endParaRPr lang="en-US" sz="1169" dirty="0"/>
          </a:p>
        </p:txBody>
      </p:sp>
      <p:sp>
        <p:nvSpPr>
          <p:cNvPr id="23" name="Text 6"/>
          <p:cNvSpPr/>
          <p:nvPr/>
        </p:nvSpPr>
        <p:spPr>
          <a:xfrm>
            <a:off x="816699" y="3160410"/>
            <a:ext cx="57465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cache hit for frequently requested content</a:t>
            </a:r>
            <a:endParaRPr lang="en-US" sz="1169" dirty="0"/>
          </a:p>
        </p:txBody>
      </p:sp>
      <p:sp>
        <p:nvSpPr>
          <p:cNvPr id="24" name="Text 7"/>
          <p:cNvSpPr/>
          <p:nvPr/>
        </p:nvSpPr>
        <p:spPr>
          <a:xfrm>
            <a:off x="6700646" y="1972484"/>
            <a:ext cx="276192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Regional Edge Caches</a:t>
            </a:r>
            <a:endParaRPr lang="en-US" sz="1461" dirty="0"/>
          </a:p>
        </p:txBody>
      </p:sp>
      <p:sp>
        <p:nvSpPr>
          <p:cNvPr id="25" name="Text 8"/>
          <p:cNvSpPr/>
          <p:nvPr/>
        </p:nvSpPr>
        <p:spPr>
          <a:xfrm>
            <a:off x="6273735" y="2380834"/>
            <a:ext cx="478882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Larger intermediate caches positioned between origin servers and edge locations.</a:t>
            </a:r>
            <a:endParaRPr lang="en-US" sz="1169" dirty="0"/>
          </a:p>
        </p:txBody>
      </p:sp>
      <p:sp>
        <p:nvSpPr>
          <p:cNvPr id="26" name="Text 9"/>
          <p:cNvSpPr/>
          <p:nvPr/>
        </p:nvSpPr>
        <p:spPr>
          <a:xfrm>
            <a:off x="6273735" y="2937674"/>
            <a:ext cx="57465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cache hit ratios for less popular content</a:t>
            </a:r>
            <a:endParaRPr lang="en-US" sz="1169" dirty="0"/>
          </a:p>
        </p:txBody>
      </p:sp>
      <p:sp>
        <p:nvSpPr>
          <p:cNvPr id="27" name="Text 10"/>
          <p:cNvSpPr/>
          <p:nvPr/>
        </p:nvSpPr>
        <p:spPr>
          <a:xfrm>
            <a:off x="6273735" y="3160410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origin server load</a:t>
            </a:r>
            <a:endParaRPr lang="en-US" sz="1169" dirty="0"/>
          </a:p>
        </p:txBody>
      </p:sp>
      <p:sp>
        <p:nvSpPr>
          <p:cNvPr id="28" name="Text 11"/>
          <p:cNvSpPr/>
          <p:nvPr/>
        </p:nvSpPr>
        <p:spPr>
          <a:xfrm>
            <a:off x="1206487" y="4088477"/>
            <a:ext cx="902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Origins</a:t>
            </a:r>
            <a:endParaRPr lang="en-US" sz="1461" dirty="0"/>
          </a:p>
        </p:txBody>
      </p:sp>
      <p:sp>
        <p:nvSpPr>
          <p:cNvPr id="29" name="Text 12"/>
          <p:cNvSpPr/>
          <p:nvPr/>
        </p:nvSpPr>
        <p:spPr>
          <a:xfrm>
            <a:off x="816699" y="4496827"/>
            <a:ext cx="57465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definitive source of content for CloudFront to distribute.</a:t>
            </a:r>
            <a:endParaRPr lang="en-US" sz="1169" dirty="0"/>
          </a:p>
        </p:txBody>
      </p:sp>
      <p:sp>
        <p:nvSpPr>
          <p:cNvPr id="30" name="Text 13"/>
          <p:cNvSpPr/>
          <p:nvPr/>
        </p:nvSpPr>
        <p:spPr>
          <a:xfrm>
            <a:off x="816699" y="4830932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S3 buckets</a:t>
            </a:r>
            <a:endParaRPr lang="en-US" sz="1169" dirty="0"/>
          </a:p>
        </p:txBody>
      </p:sp>
      <p:sp>
        <p:nvSpPr>
          <p:cNvPr id="31" name="Text 14"/>
          <p:cNvSpPr/>
          <p:nvPr/>
        </p:nvSpPr>
        <p:spPr>
          <a:xfrm>
            <a:off x="816699" y="5053668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EC2 instances</a:t>
            </a:r>
            <a:endParaRPr lang="en-US" sz="1169" dirty="0"/>
          </a:p>
        </p:txBody>
      </p:sp>
      <p:sp>
        <p:nvSpPr>
          <p:cNvPr id="32" name="Text 15"/>
          <p:cNvSpPr/>
          <p:nvPr/>
        </p:nvSpPr>
        <p:spPr>
          <a:xfrm>
            <a:off x="816699" y="5276404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 Services</a:t>
            </a:r>
            <a:endParaRPr lang="en-US" sz="1169" dirty="0"/>
          </a:p>
        </p:txBody>
      </p:sp>
      <p:sp>
        <p:nvSpPr>
          <p:cNvPr id="33" name="Text 16"/>
          <p:cNvSpPr/>
          <p:nvPr/>
        </p:nvSpPr>
        <p:spPr>
          <a:xfrm>
            <a:off x="816699" y="5499140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 HTTP servers</a:t>
            </a:r>
            <a:endParaRPr lang="en-US" sz="1169" dirty="0"/>
          </a:p>
        </p:txBody>
      </p:sp>
      <p:sp>
        <p:nvSpPr>
          <p:cNvPr id="34" name="Text 17"/>
          <p:cNvSpPr/>
          <p:nvPr/>
        </p:nvSpPr>
        <p:spPr>
          <a:xfrm>
            <a:off x="6774892" y="4088477"/>
            <a:ext cx="163154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Distributions</a:t>
            </a:r>
            <a:endParaRPr lang="en-US" sz="1461" dirty="0"/>
          </a:p>
        </p:txBody>
      </p:sp>
      <p:sp>
        <p:nvSpPr>
          <p:cNvPr id="35" name="Text 18"/>
          <p:cNvSpPr/>
          <p:nvPr/>
        </p:nvSpPr>
        <p:spPr>
          <a:xfrm>
            <a:off x="6273735" y="4496827"/>
            <a:ext cx="57465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Configurable units that define how content is delivered to users.</a:t>
            </a:r>
            <a:endParaRPr lang="en-US" sz="1169" dirty="0"/>
          </a:p>
        </p:txBody>
      </p:sp>
      <p:sp>
        <p:nvSpPr>
          <p:cNvPr id="36" name="Text 19"/>
          <p:cNvSpPr/>
          <p:nvPr/>
        </p:nvSpPr>
        <p:spPr>
          <a:xfrm>
            <a:off x="6273735" y="4830932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 servers</a:t>
            </a:r>
            <a:endParaRPr lang="en-US" sz="1169" dirty="0"/>
          </a:p>
        </p:txBody>
      </p:sp>
      <p:sp>
        <p:nvSpPr>
          <p:cNvPr id="37" name="Text 20"/>
          <p:cNvSpPr/>
          <p:nvPr/>
        </p:nvSpPr>
        <p:spPr>
          <a:xfrm>
            <a:off x="6273735" y="5053668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and security rules</a:t>
            </a:r>
            <a:endParaRPr lang="en-US" sz="1169" dirty="0"/>
          </a:p>
        </p:txBody>
      </p:sp>
      <p:sp>
        <p:nvSpPr>
          <p:cNvPr id="38" name="Text 21"/>
          <p:cNvSpPr/>
          <p:nvPr/>
        </p:nvSpPr>
        <p:spPr>
          <a:xfrm>
            <a:off x="6273735" y="5276404"/>
            <a:ext cx="47888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Caching behaviors</a:t>
            </a:r>
            <a:endParaRPr lang="en-US" sz="1169" dirty="0"/>
          </a:p>
        </p:txBody>
      </p:sp>
      <p:sp>
        <p:nvSpPr>
          <p:cNvPr id="39" name="Text 22"/>
          <p:cNvSpPr/>
          <p:nvPr/>
        </p:nvSpPr>
        <p:spPr>
          <a:xfrm>
            <a:off x="6273735" y="5499140"/>
            <a:ext cx="57465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Domain names and SSL certificates</a:t>
            </a:r>
            <a:endParaRPr lang="en-US" sz="1169" dirty="0"/>
          </a:p>
        </p:txBody>
      </p:sp>
      <p:sp>
        <p:nvSpPr>
          <p:cNvPr id="40" name="Text 23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41" name="Text 24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728068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568775"/>
            <a:ext cx="3365695" cy="141066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6639" y="1568775"/>
            <a:ext cx="3365840" cy="141066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460" y="1568775"/>
            <a:ext cx="3365695" cy="141066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3276419"/>
            <a:ext cx="10691336" cy="231639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6081880"/>
            <a:ext cx="1718810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54" y="6184604"/>
            <a:ext cx="111368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1264" y="6073235"/>
            <a:ext cx="1456486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9754" y="6175953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9491" y="6073237"/>
            <a:ext cx="1718810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6632" y="6175950"/>
            <a:ext cx="148491" cy="148491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45472" y="227717"/>
            <a:ext cx="680058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Network Infrastructure</a:t>
            </a:r>
            <a:endParaRPr lang="en-US" sz="2631" dirty="0"/>
          </a:p>
        </p:txBody>
      </p:sp>
      <p:sp>
        <p:nvSpPr>
          <p:cNvPr id="1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17" name="Text 2"/>
          <p:cNvSpPr/>
          <p:nvPr/>
        </p:nvSpPr>
        <p:spPr>
          <a:xfrm>
            <a:off x="593963" y="1044417"/>
            <a:ext cx="12829604" cy="3016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leverages a vast global network infrastructure to ensure content is delivered with minimal latency.</a:t>
            </a:r>
            <a:endParaRPr lang="en-US" sz="1461" dirty="0"/>
          </a:p>
        </p:txBody>
      </p:sp>
      <p:sp>
        <p:nvSpPr>
          <p:cNvPr id="18" name="Text 3"/>
          <p:cNvSpPr/>
          <p:nvPr/>
        </p:nvSpPr>
        <p:spPr>
          <a:xfrm>
            <a:off x="816699" y="2051369"/>
            <a:ext cx="156385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507"/>
              </a:lnSpc>
            </a:pPr>
            <a:r>
              <a:rPr lang="en-US" sz="3507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600+</a:t>
            </a:r>
            <a:endParaRPr lang="en-US" sz="3507" dirty="0"/>
          </a:p>
        </p:txBody>
      </p:sp>
      <p:sp>
        <p:nvSpPr>
          <p:cNvPr id="19" name="Text 4"/>
          <p:cNvSpPr/>
          <p:nvPr/>
        </p:nvSpPr>
        <p:spPr>
          <a:xfrm>
            <a:off x="2268399" y="1791511"/>
            <a:ext cx="146852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Edge Locations</a:t>
            </a:r>
            <a:endParaRPr lang="en-US" sz="1461" dirty="0"/>
          </a:p>
        </p:txBody>
      </p:sp>
      <p:sp>
        <p:nvSpPr>
          <p:cNvPr id="20" name="Text 5"/>
          <p:cNvSpPr/>
          <p:nvPr/>
        </p:nvSpPr>
        <p:spPr>
          <a:xfrm>
            <a:off x="2268399" y="2311229"/>
            <a:ext cx="146852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Points of Presence worldwide</a:t>
            </a:r>
            <a:endParaRPr lang="en-US" sz="1169" dirty="0"/>
          </a:p>
        </p:txBody>
      </p:sp>
      <p:sp>
        <p:nvSpPr>
          <p:cNvPr id="21" name="Text 6"/>
          <p:cNvSpPr/>
          <p:nvPr/>
        </p:nvSpPr>
        <p:spPr>
          <a:xfrm>
            <a:off x="4479376" y="2051369"/>
            <a:ext cx="119181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507"/>
              </a:lnSpc>
            </a:pPr>
            <a:r>
              <a:rPr lang="en-US" sz="3507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90+</a:t>
            </a:r>
            <a:endParaRPr lang="en-US" sz="3507" dirty="0"/>
          </a:p>
        </p:txBody>
      </p:sp>
      <p:sp>
        <p:nvSpPr>
          <p:cNvPr id="22" name="Text 7"/>
          <p:cNvSpPr/>
          <p:nvPr/>
        </p:nvSpPr>
        <p:spPr>
          <a:xfrm>
            <a:off x="5621043" y="1921441"/>
            <a:ext cx="17786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Cities</a:t>
            </a:r>
            <a:endParaRPr lang="en-US" sz="1461" dirty="0"/>
          </a:p>
        </p:txBody>
      </p:sp>
      <p:sp>
        <p:nvSpPr>
          <p:cNvPr id="23" name="Text 8"/>
          <p:cNvSpPr/>
          <p:nvPr/>
        </p:nvSpPr>
        <p:spPr>
          <a:xfrm>
            <a:off x="5621043" y="2181300"/>
            <a:ext cx="177869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Strategically located worldwide</a:t>
            </a:r>
            <a:endParaRPr lang="en-US" sz="1169" dirty="0"/>
          </a:p>
        </p:txBody>
      </p:sp>
      <p:sp>
        <p:nvSpPr>
          <p:cNvPr id="24" name="Text 9"/>
          <p:cNvSpPr/>
          <p:nvPr/>
        </p:nvSpPr>
        <p:spPr>
          <a:xfrm>
            <a:off x="8142195" y="2051369"/>
            <a:ext cx="74390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507"/>
              </a:lnSpc>
            </a:pPr>
            <a:r>
              <a:rPr lang="en-US" sz="3507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47</a:t>
            </a:r>
            <a:endParaRPr lang="en-US" sz="3507" dirty="0"/>
          </a:p>
        </p:txBody>
      </p:sp>
      <p:sp>
        <p:nvSpPr>
          <p:cNvPr id="25" name="Text 10"/>
          <p:cNvSpPr/>
          <p:nvPr/>
        </p:nvSpPr>
        <p:spPr>
          <a:xfrm>
            <a:off x="8910607" y="1921441"/>
            <a:ext cx="215181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Countries</a:t>
            </a:r>
            <a:endParaRPr lang="en-US" sz="1461" dirty="0"/>
          </a:p>
        </p:txBody>
      </p:sp>
      <p:sp>
        <p:nvSpPr>
          <p:cNvPr id="26" name="Text 11"/>
          <p:cNvSpPr/>
          <p:nvPr/>
        </p:nvSpPr>
        <p:spPr>
          <a:xfrm>
            <a:off x="8910607" y="2181300"/>
            <a:ext cx="215181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Covered by CloudFront network</a:t>
            </a:r>
            <a:endParaRPr lang="en-US" sz="1169" dirty="0"/>
          </a:p>
        </p:txBody>
      </p:sp>
      <p:sp>
        <p:nvSpPr>
          <p:cNvPr id="27" name="Text 12"/>
          <p:cNvSpPr/>
          <p:nvPr/>
        </p:nvSpPr>
        <p:spPr>
          <a:xfrm>
            <a:off x="928067" y="5641427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 of Global Infrastructure:</a:t>
            </a:r>
            <a:endParaRPr lang="en-US" sz="1461" dirty="0"/>
          </a:p>
        </p:txBody>
      </p:sp>
      <p:sp>
        <p:nvSpPr>
          <p:cNvPr id="28" name="Text 13"/>
          <p:cNvSpPr/>
          <p:nvPr/>
        </p:nvSpPr>
        <p:spPr>
          <a:xfrm>
            <a:off x="928067" y="6147475"/>
            <a:ext cx="148345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latency</a:t>
            </a:r>
            <a:endParaRPr lang="en-US" sz="1169" dirty="0"/>
          </a:p>
        </p:txBody>
      </p:sp>
      <p:sp>
        <p:nvSpPr>
          <p:cNvPr id="29" name="Text 14"/>
          <p:cNvSpPr/>
          <p:nvPr/>
        </p:nvSpPr>
        <p:spPr>
          <a:xfrm>
            <a:off x="2832491" y="6147479"/>
            <a:ext cx="11241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reach</a:t>
            </a:r>
            <a:endParaRPr lang="en-US" sz="1169" dirty="0"/>
          </a:p>
        </p:txBody>
      </p:sp>
      <p:sp>
        <p:nvSpPr>
          <p:cNvPr id="30" name="Text 15"/>
          <p:cNvSpPr/>
          <p:nvPr/>
        </p:nvSpPr>
        <p:spPr>
          <a:xfrm>
            <a:off x="4515319" y="6121532"/>
            <a:ext cx="160544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Optimized routing</a:t>
            </a:r>
            <a:endParaRPr lang="en-US" sz="11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3" y="1786870"/>
            <a:ext cx="3514185" cy="107655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104" y="1675502"/>
            <a:ext cx="296982" cy="2969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85" y="2009607"/>
            <a:ext cx="241298" cy="3341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2393" y="1786870"/>
            <a:ext cx="3514331" cy="107655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1025" y="1675502"/>
            <a:ext cx="296982" cy="29698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8007" y="2009607"/>
            <a:ext cx="278420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9460" y="1786870"/>
            <a:ext cx="3514185" cy="107655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8091" y="1675502"/>
            <a:ext cx="296982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5073" y="2009607"/>
            <a:ext cx="241298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73" y="3086165"/>
            <a:ext cx="3514185" cy="107655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104" y="2974796"/>
            <a:ext cx="296982" cy="29698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086" y="3308901"/>
            <a:ext cx="278420" cy="3341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2393" y="3086165"/>
            <a:ext cx="3514331" cy="107655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71025" y="2974796"/>
            <a:ext cx="296982" cy="2969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68007" y="3308901"/>
            <a:ext cx="278420" cy="3341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9460" y="3086165"/>
            <a:ext cx="3514185" cy="107655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08091" y="2974796"/>
            <a:ext cx="296982" cy="2969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5472" y="4533950"/>
            <a:ext cx="10988318" cy="85382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3963" y="5053667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95315" y="5053667"/>
            <a:ext cx="148491" cy="148491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2" y="227717"/>
            <a:ext cx="570065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 Delivery Process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445472" y="970171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delivers content through a global network of edge locations, optimizing performance and reducing latency.</a:t>
            </a:r>
            <a:endParaRPr lang="en-US" sz="1461" dirty="0"/>
          </a:p>
        </p:txBody>
      </p:sp>
      <p:sp>
        <p:nvSpPr>
          <p:cNvPr id="28" name="Text 3"/>
          <p:cNvSpPr/>
          <p:nvPr/>
        </p:nvSpPr>
        <p:spPr>
          <a:xfrm>
            <a:off x="430825" y="1675502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169" dirty="0"/>
          </a:p>
        </p:txBody>
      </p:sp>
      <p:sp>
        <p:nvSpPr>
          <p:cNvPr id="29" name="Text 4"/>
          <p:cNvSpPr/>
          <p:nvPr/>
        </p:nvSpPr>
        <p:spPr>
          <a:xfrm>
            <a:off x="1020874" y="1972484"/>
            <a:ext cx="275317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Request</a:t>
            </a:r>
            <a:endParaRPr lang="en-US" sz="1461" dirty="0"/>
          </a:p>
        </p:txBody>
      </p:sp>
      <p:sp>
        <p:nvSpPr>
          <p:cNvPr id="30" name="Text 5"/>
          <p:cNvSpPr/>
          <p:nvPr/>
        </p:nvSpPr>
        <p:spPr>
          <a:xfrm>
            <a:off x="1020874" y="2306588"/>
            <a:ext cx="2753170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accesses a website or application, sending a request for an object.</a:t>
            </a:r>
            <a:endParaRPr lang="en-US" sz="1023" dirty="0"/>
          </a:p>
        </p:txBody>
      </p:sp>
      <p:sp>
        <p:nvSpPr>
          <p:cNvPr id="31" name="Text 6"/>
          <p:cNvSpPr/>
          <p:nvPr/>
        </p:nvSpPr>
        <p:spPr>
          <a:xfrm>
            <a:off x="4167747" y="1675502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169" dirty="0"/>
          </a:p>
        </p:txBody>
      </p:sp>
      <p:sp>
        <p:nvSpPr>
          <p:cNvPr id="32" name="Text 7"/>
          <p:cNvSpPr/>
          <p:nvPr/>
        </p:nvSpPr>
        <p:spPr>
          <a:xfrm>
            <a:off x="4794918" y="1972484"/>
            <a:ext cx="271619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Routing</a:t>
            </a:r>
            <a:endParaRPr lang="en-US" sz="1461" dirty="0"/>
          </a:p>
        </p:txBody>
      </p:sp>
      <p:sp>
        <p:nvSpPr>
          <p:cNvPr id="33" name="Text 8"/>
          <p:cNvSpPr/>
          <p:nvPr/>
        </p:nvSpPr>
        <p:spPr>
          <a:xfrm>
            <a:off x="4794918" y="2306588"/>
            <a:ext cx="2716193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routes the request to the nearest edge location based on latency.</a:t>
            </a:r>
            <a:endParaRPr lang="en-US" sz="1023" dirty="0"/>
          </a:p>
        </p:txBody>
      </p:sp>
      <p:sp>
        <p:nvSpPr>
          <p:cNvPr id="34" name="Text 9"/>
          <p:cNvSpPr/>
          <p:nvPr/>
        </p:nvSpPr>
        <p:spPr>
          <a:xfrm>
            <a:off x="7904814" y="1675502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169" dirty="0"/>
          </a:p>
        </p:txBody>
      </p:sp>
      <p:sp>
        <p:nvSpPr>
          <p:cNvPr id="35" name="Text 10"/>
          <p:cNvSpPr/>
          <p:nvPr/>
        </p:nvSpPr>
        <p:spPr>
          <a:xfrm>
            <a:off x="8494862" y="1972484"/>
            <a:ext cx="33038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Edge Cache Check</a:t>
            </a:r>
            <a:endParaRPr lang="en-US" sz="1461" dirty="0"/>
          </a:p>
        </p:txBody>
      </p:sp>
      <p:sp>
        <p:nvSpPr>
          <p:cNvPr id="36" name="Text 11"/>
          <p:cNvSpPr/>
          <p:nvPr/>
        </p:nvSpPr>
        <p:spPr>
          <a:xfrm>
            <a:off x="8494862" y="2306588"/>
            <a:ext cx="2753170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checks its cache at the edge location for the requested object.</a:t>
            </a:r>
            <a:endParaRPr lang="en-US" sz="1023" dirty="0"/>
          </a:p>
        </p:txBody>
      </p:sp>
      <p:sp>
        <p:nvSpPr>
          <p:cNvPr id="37" name="Text 12"/>
          <p:cNvSpPr/>
          <p:nvPr/>
        </p:nvSpPr>
        <p:spPr>
          <a:xfrm>
            <a:off x="430825" y="2974796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169" dirty="0"/>
          </a:p>
        </p:txBody>
      </p:sp>
      <p:sp>
        <p:nvSpPr>
          <p:cNvPr id="38" name="Text 13"/>
          <p:cNvSpPr/>
          <p:nvPr/>
        </p:nvSpPr>
        <p:spPr>
          <a:xfrm>
            <a:off x="1057997" y="3271778"/>
            <a:ext cx="325925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Regional Edge Cache</a:t>
            </a:r>
            <a:endParaRPr lang="en-US" sz="1461" dirty="0"/>
          </a:p>
        </p:txBody>
      </p:sp>
      <p:sp>
        <p:nvSpPr>
          <p:cNvPr id="39" name="Text 14"/>
          <p:cNvSpPr/>
          <p:nvPr/>
        </p:nvSpPr>
        <p:spPr>
          <a:xfrm>
            <a:off x="1057997" y="3605882"/>
            <a:ext cx="271604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not in edge cache, request is forwarded to the nearest Regional Edge Cache.</a:t>
            </a:r>
            <a:endParaRPr lang="en-US" sz="1023" dirty="0"/>
          </a:p>
        </p:txBody>
      </p:sp>
      <p:sp>
        <p:nvSpPr>
          <p:cNvPr id="40" name="Text 15"/>
          <p:cNvSpPr/>
          <p:nvPr/>
        </p:nvSpPr>
        <p:spPr>
          <a:xfrm>
            <a:off x="4167747" y="2974796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169" dirty="0"/>
          </a:p>
        </p:txBody>
      </p:sp>
      <p:sp>
        <p:nvSpPr>
          <p:cNvPr id="41" name="Text 16"/>
          <p:cNvSpPr/>
          <p:nvPr/>
        </p:nvSpPr>
        <p:spPr>
          <a:xfrm>
            <a:off x="4794918" y="3271778"/>
            <a:ext cx="325943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 Request</a:t>
            </a:r>
            <a:endParaRPr lang="en-US" sz="1461" dirty="0"/>
          </a:p>
        </p:txBody>
      </p:sp>
      <p:sp>
        <p:nvSpPr>
          <p:cNvPr id="42" name="Text 17"/>
          <p:cNvSpPr/>
          <p:nvPr/>
        </p:nvSpPr>
        <p:spPr>
          <a:xfrm>
            <a:off x="4794918" y="3605882"/>
            <a:ext cx="2716193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still not found, request is forwarded to the origin server.</a:t>
            </a:r>
            <a:endParaRPr lang="en-US" sz="1023" dirty="0"/>
          </a:p>
        </p:txBody>
      </p:sp>
      <p:sp>
        <p:nvSpPr>
          <p:cNvPr id="43" name="Text 18"/>
          <p:cNvSpPr/>
          <p:nvPr/>
        </p:nvSpPr>
        <p:spPr>
          <a:xfrm>
            <a:off x="7904814" y="2974796"/>
            <a:ext cx="29698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169" dirty="0"/>
          </a:p>
        </p:txBody>
      </p:sp>
      <p:sp>
        <p:nvSpPr>
          <p:cNvPr id="44" name="Text 19"/>
          <p:cNvSpPr/>
          <p:nvPr/>
        </p:nvSpPr>
        <p:spPr>
          <a:xfrm>
            <a:off x="8253564" y="3271778"/>
            <a:ext cx="359336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 Delivery</a:t>
            </a:r>
            <a:endParaRPr lang="en-US" sz="1461" dirty="0"/>
          </a:p>
        </p:txBody>
      </p:sp>
      <p:sp>
        <p:nvSpPr>
          <p:cNvPr id="45" name="Text 20"/>
          <p:cNvSpPr/>
          <p:nvPr/>
        </p:nvSpPr>
        <p:spPr>
          <a:xfrm>
            <a:off x="8253564" y="3605882"/>
            <a:ext cx="299446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 server sends the object back, which is delivered to the user and cached.</a:t>
            </a:r>
            <a:endParaRPr lang="en-US" sz="1023" dirty="0"/>
          </a:p>
        </p:txBody>
      </p:sp>
      <p:sp>
        <p:nvSpPr>
          <p:cNvPr id="46" name="Text 21"/>
          <p:cNvSpPr/>
          <p:nvPr/>
        </p:nvSpPr>
        <p:spPr>
          <a:xfrm>
            <a:off x="593963" y="4682441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Points:</a:t>
            </a:r>
            <a:endParaRPr lang="en-US" sz="1315" dirty="0"/>
          </a:p>
        </p:txBody>
      </p:sp>
      <p:sp>
        <p:nvSpPr>
          <p:cNvPr id="47" name="Text 22"/>
          <p:cNvSpPr/>
          <p:nvPr/>
        </p:nvSpPr>
        <p:spPr>
          <a:xfrm>
            <a:off x="816699" y="5016545"/>
            <a:ext cx="477403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Edge locations cache content for low latency delivery</a:t>
            </a:r>
            <a:endParaRPr lang="en-US" sz="1169" dirty="0"/>
          </a:p>
        </p:txBody>
      </p:sp>
      <p:sp>
        <p:nvSpPr>
          <p:cNvPr id="48" name="Text 23"/>
          <p:cNvSpPr/>
          <p:nvPr/>
        </p:nvSpPr>
        <p:spPr>
          <a:xfrm>
            <a:off x="6218051" y="5016545"/>
            <a:ext cx="419735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Regional Edge Caches improve cache hit ratios</a:t>
            </a:r>
            <a:endParaRPr lang="en-US" sz="1169" dirty="0"/>
          </a:p>
        </p:txBody>
      </p:sp>
      <p:sp>
        <p:nvSpPr>
          <p:cNvPr id="50" name="Text 25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044417"/>
            <a:ext cx="3365695" cy="38607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99" y="1267153"/>
            <a:ext cx="278420" cy="3341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2603570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2900551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3197533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00" y="3977110"/>
            <a:ext cx="2920222" cy="70533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068" y="4311214"/>
            <a:ext cx="2697486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6639" y="1044417"/>
            <a:ext cx="3365840" cy="386076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375" y="2529324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375" y="2826306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375" y="3123287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9375" y="3680128"/>
            <a:ext cx="2920367" cy="100231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0743" y="4014232"/>
            <a:ext cx="2697631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0743" y="4311214"/>
            <a:ext cx="2697631" cy="25985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9460" y="1044417"/>
            <a:ext cx="3365695" cy="386076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2196" y="1267153"/>
            <a:ext cx="213455" cy="33410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2195" y="2343711"/>
            <a:ext cx="1404427" cy="59396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6441" y="2566447"/>
            <a:ext cx="111368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7991" y="2343711"/>
            <a:ext cx="1404427" cy="593963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32236" y="2566447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2195" y="3049042"/>
            <a:ext cx="1404427" cy="593963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16441" y="3271778"/>
            <a:ext cx="185613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7991" y="3049042"/>
            <a:ext cx="1404427" cy="593963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32236" y="3271778"/>
            <a:ext cx="148491" cy="14849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42196" y="3977110"/>
            <a:ext cx="2920222" cy="70533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53564" y="4311214"/>
            <a:ext cx="464179" cy="259859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91988" y="4311214"/>
            <a:ext cx="386163" cy="259859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52397" y="4311214"/>
            <a:ext cx="308293" cy="259859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34935" y="4311214"/>
            <a:ext cx="386163" cy="259859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95343" y="4311214"/>
            <a:ext cx="386163" cy="259859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45472" y="227717"/>
            <a:ext cx="6994960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Features: Content Caching</a:t>
            </a:r>
            <a:endParaRPr lang="en-US" sz="2631" dirty="0"/>
          </a:p>
        </p:txBody>
      </p:sp>
      <p:sp>
        <p:nvSpPr>
          <p:cNvPr id="3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37" name="Text 2"/>
          <p:cNvSpPr/>
          <p:nvPr/>
        </p:nvSpPr>
        <p:spPr>
          <a:xfrm>
            <a:off x="1243610" y="1304275"/>
            <a:ext cx="22726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to Live (TTL)</a:t>
            </a:r>
            <a:endParaRPr lang="en-US" sz="1461" dirty="0"/>
          </a:p>
        </p:txBody>
      </p:sp>
      <p:sp>
        <p:nvSpPr>
          <p:cNvPr id="38" name="Text 3"/>
          <p:cNvSpPr/>
          <p:nvPr/>
        </p:nvSpPr>
        <p:spPr>
          <a:xfrm>
            <a:off x="816700" y="1749747"/>
            <a:ext cx="2920222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Controls how long content remains in edge caches before checking origin for updates.</a:t>
            </a:r>
            <a:endParaRPr lang="en-US" sz="1169" dirty="0"/>
          </a:p>
        </p:txBody>
      </p:sp>
      <p:sp>
        <p:nvSpPr>
          <p:cNvPr id="39" name="Text 4"/>
          <p:cNvSpPr/>
          <p:nvPr/>
        </p:nvSpPr>
        <p:spPr>
          <a:xfrm>
            <a:off x="1039435" y="2566447"/>
            <a:ext cx="192266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 TTL: 24 hours</a:t>
            </a:r>
            <a:endParaRPr lang="en-US" sz="1169" dirty="0"/>
          </a:p>
        </p:txBody>
      </p:sp>
      <p:sp>
        <p:nvSpPr>
          <p:cNvPr id="40" name="Text 5"/>
          <p:cNvSpPr/>
          <p:nvPr/>
        </p:nvSpPr>
        <p:spPr>
          <a:xfrm>
            <a:off x="1039436" y="2863429"/>
            <a:ext cx="221135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Minimum TTL: 0 seconds</a:t>
            </a:r>
            <a:endParaRPr lang="en-US" sz="1169" dirty="0"/>
          </a:p>
        </p:txBody>
      </p:sp>
      <p:sp>
        <p:nvSpPr>
          <p:cNvPr id="41" name="Text 6"/>
          <p:cNvSpPr/>
          <p:nvPr/>
        </p:nvSpPr>
        <p:spPr>
          <a:xfrm>
            <a:off x="1039436" y="3160410"/>
            <a:ext cx="269748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Fine-grained control over content freshness</a:t>
            </a:r>
            <a:endParaRPr lang="en-US" sz="1169" dirty="0"/>
          </a:p>
        </p:txBody>
      </p:sp>
      <p:sp>
        <p:nvSpPr>
          <p:cNvPr id="42" name="Text 7"/>
          <p:cNvSpPr/>
          <p:nvPr/>
        </p:nvSpPr>
        <p:spPr>
          <a:xfrm>
            <a:off x="928068" y="4088478"/>
            <a:ext cx="3236983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TTL Configuration Example:</a:t>
            </a:r>
            <a:endParaRPr lang="en-US" sz="1023" dirty="0"/>
          </a:p>
        </p:txBody>
      </p:sp>
      <p:sp>
        <p:nvSpPr>
          <p:cNvPr id="43" name="Text 8"/>
          <p:cNvSpPr/>
          <p:nvPr/>
        </p:nvSpPr>
        <p:spPr>
          <a:xfrm>
            <a:off x="965190" y="4311214"/>
            <a:ext cx="323698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cache-control: max-age=86400</a:t>
            </a:r>
            <a:endParaRPr lang="en-US" sz="1023" dirty="0"/>
          </a:p>
        </p:txBody>
      </p:sp>
      <p:sp>
        <p:nvSpPr>
          <p:cNvPr id="44" name="Text 9"/>
          <p:cNvSpPr/>
          <p:nvPr/>
        </p:nvSpPr>
        <p:spPr>
          <a:xfrm>
            <a:off x="4627867" y="1267153"/>
            <a:ext cx="20797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Cache Behaviors</a:t>
            </a:r>
            <a:endParaRPr lang="en-US" sz="1461" dirty="0"/>
          </a:p>
        </p:txBody>
      </p:sp>
      <p:sp>
        <p:nvSpPr>
          <p:cNvPr id="45" name="Text 10"/>
          <p:cNvSpPr/>
          <p:nvPr/>
        </p:nvSpPr>
        <p:spPr>
          <a:xfrm>
            <a:off x="4479375" y="1675502"/>
            <a:ext cx="2920367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granular control over how different URL path patterns are handled.</a:t>
            </a:r>
            <a:endParaRPr lang="en-US" sz="1169" dirty="0"/>
          </a:p>
        </p:txBody>
      </p:sp>
      <p:sp>
        <p:nvSpPr>
          <p:cNvPr id="46" name="Text 11"/>
          <p:cNvSpPr/>
          <p:nvPr/>
        </p:nvSpPr>
        <p:spPr>
          <a:xfrm>
            <a:off x="4702111" y="2492202"/>
            <a:ext cx="2982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 selection for specific paths</a:t>
            </a:r>
            <a:endParaRPr lang="en-US" sz="1169" dirty="0"/>
          </a:p>
        </p:txBody>
      </p:sp>
      <p:sp>
        <p:nvSpPr>
          <p:cNvPr id="47" name="Text 12"/>
          <p:cNvSpPr/>
          <p:nvPr/>
        </p:nvSpPr>
        <p:spPr>
          <a:xfrm>
            <a:off x="4702112" y="2789183"/>
            <a:ext cx="315189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Query string and cookie forwarding</a:t>
            </a:r>
            <a:endParaRPr lang="en-US" sz="1169" dirty="0"/>
          </a:p>
        </p:txBody>
      </p:sp>
      <p:sp>
        <p:nvSpPr>
          <p:cNvPr id="48" name="Text 13"/>
          <p:cNvSpPr/>
          <p:nvPr/>
        </p:nvSpPr>
        <p:spPr>
          <a:xfrm>
            <a:off x="4702111" y="3086165"/>
            <a:ext cx="269763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Allowed HTTP methods configuration</a:t>
            </a:r>
            <a:endParaRPr lang="en-US" sz="1169" dirty="0"/>
          </a:p>
        </p:txBody>
      </p:sp>
      <p:sp>
        <p:nvSpPr>
          <p:cNvPr id="49" name="Text 14"/>
          <p:cNvSpPr/>
          <p:nvPr/>
        </p:nvSpPr>
        <p:spPr>
          <a:xfrm>
            <a:off x="4590743" y="3791496"/>
            <a:ext cx="269763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Path Patterns:</a:t>
            </a:r>
            <a:endParaRPr lang="en-US" sz="1023" dirty="0"/>
          </a:p>
        </p:txBody>
      </p:sp>
      <p:sp>
        <p:nvSpPr>
          <p:cNvPr id="50" name="Text 15"/>
          <p:cNvSpPr/>
          <p:nvPr/>
        </p:nvSpPr>
        <p:spPr>
          <a:xfrm>
            <a:off x="4627866" y="4014232"/>
            <a:ext cx="269763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/images/*</a:t>
            </a:r>
            <a:endParaRPr lang="en-US" sz="1023" dirty="0"/>
          </a:p>
        </p:txBody>
      </p:sp>
      <p:sp>
        <p:nvSpPr>
          <p:cNvPr id="51" name="Text 16"/>
          <p:cNvSpPr/>
          <p:nvPr/>
        </p:nvSpPr>
        <p:spPr>
          <a:xfrm>
            <a:off x="4627866" y="4311214"/>
            <a:ext cx="269763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/assets/*</a:t>
            </a:r>
            <a:endParaRPr lang="en-US" sz="1023" dirty="0"/>
          </a:p>
        </p:txBody>
      </p:sp>
      <p:sp>
        <p:nvSpPr>
          <p:cNvPr id="52" name="Text 17"/>
          <p:cNvSpPr/>
          <p:nvPr/>
        </p:nvSpPr>
        <p:spPr>
          <a:xfrm>
            <a:off x="8504142" y="1304275"/>
            <a:ext cx="178902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 Types</a:t>
            </a:r>
            <a:endParaRPr lang="en-US" sz="1461" dirty="0"/>
          </a:p>
        </p:txBody>
      </p:sp>
      <p:sp>
        <p:nvSpPr>
          <p:cNvPr id="53" name="Text 18"/>
          <p:cNvSpPr/>
          <p:nvPr/>
        </p:nvSpPr>
        <p:spPr>
          <a:xfrm>
            <a:off x="8142196" y="1749748"/>
            <a:ext cx="292022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for various content types optimizes delivery performance.</a:t>
            </a:r>
            <a:endParaRPr lang="en-US" sz="1169" dirty="0"/>
          </a:p>
        </p:txBody>
      </p:sp>
      <p:sp>
        <p:nvSpPr>
          <p:cNvPr id="54" name="Text 19"/>
          <p:cNvSpPr/>
          <p:nvPr/>
        </p:nvSpPr>
        <p:spPr>
          <a:xfrm>
            <a:off x="8402055" y="2529324"/>
            <a:ext cx="95724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Files</a:t>
            </a:r>
            <a:endParaRPr lang="en-US" sz="1169" dirty="0"/>
          </a:p>
        </p:txBody>
      </p:sp>
      <p:sp>
        <p:nvSpPr>
          <p:cNvPr id="55" name="Text 20"/>
          <p:cNvSpPr/>
          <p:nvPr/>
        </p:nvSpPr>
        <p:spPr>
          <a:xfrm>
            <a:off x="9954973" y="2417956"/>
            <a:ext cx="103320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Streaming Media</a:t>
            </a:r>
            <a:endParaRPr lang="en-US" sz="1169" dirty="0"/>
          </a:p>
        </p:txBody>
      </p:sp>
      <p:sp>
        <p:nvSpPr>
          <p:cNvPr id="56" name="Text 21"/>
          <p:cNvSpPr/>
          <p:nvPr/>
        </p:nvSpPr>
        <p:spPr>
          <a:xfrm>
            <a:off x="8476300" y="3234656"/>
            <a:ext cx="37482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APIs</a:t>
            </a:r>
            <a:endParaRPr lang="en-US" sz="1169" dirty="0"/>
          </a:p>
        </p:txBody>
      </p:sp>
      <p:sp>
        <p:nvSpPr>
          <p:cNvPr id="57" name="Text 22"/>
          <p:cNvSpPr/>
          <p:nvPr/>
        </p:nvSpPr>
        <p:spPr>
          <a:xfrm>
            <a:off x="9954973" y="3123288"/>
            <a:ext cx="103320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Content</a:t>
            </a:r>
            <a:endParaRPr lang="en-US" sz="1169" dirty="0"/>
          </a:p>
        </p:txBody>
      </p:sp>
      <p:sp>
        <p:nvSpPr>
          <p:cNvPr id="58" name="Text 23"/>
          <p:cNvSpPr/>
          <p:nvPr/>
        </p:nvSpPr>
        <p:spPr>
          <a:xfrm>
            <a:off x="8253564" y="4088478"/>
            <a:ext cx="3236983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Supported File Extensions:</a:t>
            </a:r>
            <a:endParaRPr lang="en-US" sz="1023" dirty="0"/>
          </a:p>
        </p:txBody>
      </p:sp>
      <p:sp>
        <p:nvSpPr>
          <p:cNvPr id="59" name="Text 24"/>
          <p:cNvSpPr/>
          <p:nvPr/>
        </p:nvSpPr>
        <p:spPr>
          <a:xfrm>
            <a:off x="8290687" y="4311214"/>
            <a:ext cx="55701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.html</a:t>
            </a:r>
            <a:endParaRPr lang="en-US" sz="1023" dirty="0"/>
          </a:p>
        </p:txBody>
      </p:sp>
      <p:sp>
        <p:nvSpPr>
          <p:cNvPr id="60" name="Text 25"/>
          <p:cNvSpPr/>
          <p:nvPr/>
        </p:nvSpPr>
        <p:spPr>
          <a:xfrm>
            <a:off x="8829111" y="4311214"/>
            <a:ext cx="46339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.css</a:t>
            </a:r>
            <a:endParaRPr lang="en-US" sz="1023" dirty="0"/>
          </a:p>
        </p:txBody>
      </p:sp>
      <p:sp>
        <p:nvSpPr>
          <p:cNvPr id="61" name="Text 26"/>
          <p:cNvSpPr/>
          <p:nvPr/>
        </p:nvSpPr>
        <p:spPr>
          <a:xfrm>
            <a:off x="9289519" y="4311214"/>
            <a:ext cx="36995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.js</a:t>
            </a:r>
            <a:endParaRPr lang="en-US" sz="1023" dirty="0"/>
          </a:p>
        </p:txBody>
      </p:sp>
      <p:sp>
        <p:nvSpPr>
          <p:cNvPr id="62" name="Text 27"/>
          <p:cNvSpPr/>
          <p:nvPr/>
        </p:nvSpPr>
        <p:spPr>
          <a:xfrm>
            <a:off x="9672058" y="4311214"/>
            <a:ext cx="46339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.png</a:t>
            </a:r>
            <a:endParaRPr lang="en-US" sz="1023" dirty="0"/>
          </a:p>
        </p:txBody>
      </p:sp>
      <p:sp>
        <p:nvSpPr>
          <p:cNvPr id="63" name="Text 28"/>
          <p:cNvSpPr/>
          <p:nvPr/>
        </p:nvSpPr>
        <p:spPr>
          <a:xfrm>
            <a:off x="10132466" y="4311214"/>
            <a:ext cx="46339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.jpg</a:t>
            </a:r>
            <a:endParaRPr lang="en-US" sz="1023" dirty="0"/>
          </a:p>
        </p:txBody>
      </p:sp>
      <p:sp>
        <p:nvSpPr>
          <p:cNvPr id="65" name="Text 30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675502"/>
            <a:ext cx="5197177" cy="129929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99" y="1898239"/>
            <a:ext cx="556840" cy="5568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909" y="2009607"/>
            <a:ext cx="278420" cy="3341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276" y="2260185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276" y="2557166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122" y="1675502"/>
            <a:ext cx="5197177" cy="129929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858" y="1898239"/>
            <a:ext cx="556840" cy="5568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2552" y="2009607"/>
            <a:ext cx="213455" cy="3341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0434" y="2260185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0434" y="2557166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3271778"/>
            <a:ext cx="5197177" cy="129929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699" y="3494515"/>
            <a:ext cx="556840" cy="5568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470" y="3605883"/>
            <a:ext cx="241298" cy="3341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276" y="3856461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276" y="4153442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122" y="3271778"/>
            <a:ext cx="5197177" cy="129929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0858" y="3494515"/>
            <a:ext cx="556840" cy="5568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2945" y="3605883"/>
            <a:ext cx="352666" cy="33410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0434" y="3856461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0434" y="4153442"/>
            <a:ext cx="148491" cy="148491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3" y="227717"/>
            <a:ext cx="513372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Features: Security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593963" y="1044416"/>
            <a:ext cx="12829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offers comprehensive security features to protect your content and applications:</a:t>
            </a:r>
            <a:endParaRPr lang="en-US" sz="1461" dirty="0"/>
          </a:p>
        </p:txBody>
      </p:sp>
      <p:sp>
        <p:nvSpPr>
          <p:cNvPr id="28" name="Text 3"/>
          <p:cNvSpPr/>
          <p:nvPr/>
        </p:nvSpPr>
        <p:spPr>
          <a:xfrm>
            <a:off x="1596276" y="1898238"/>
            <a:ext cx="393407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DDoS Protection</a:t>
            </a:r>
            <a:endParaRPr lang="en-US" sz="1461" dirty="0"/>
          </a:p>
        </p:txBody>
      </p:sp>
      <p:sp>
        <p:nvSpPr>
          <p:cNvPr id="29" name="Text 4"/>
          <p:cNvSpPr/>
          <p:nvPr/>
        </p:nvSpPr>
        <p:spPr>
          <a:xfrm>
            <a:off x="1633399" y="2232343"/>
            <a:ext cx="415681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Integrated with AWS Shield Standard</a:t>
            </a:r>
            <a:endParaRPr lang="en-US" sz="1169" dirty="0"/>
          </a:p>
        </p:txBody>
      </p:sp>
      <p:sp>
        <p:nvSpPr>
          <p:cNvPr id="30" name="Text 5"/>
          <p:cNvSpPr/>
          <p:nvPr/>
        </p:nvSpPr>
        <p:spPr>
          <a:xfrm>
            <a:off x="1633399" y="2529324"/>
            <a:ext cx="415681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Defends against Layer 3/4 DDoS attacks</a:t>
            </a:r>
            <a:endParaRPr lang="en-US" sz="1169" dirty="0"/>
          </a:p>
        </p:txBody>
      </p:sp>
      <p:sp>
        <p:nvSpPr>
          <p:cNvPr id="31" name="Text 6"/>
          <p:cNvSpPr/>
          <p:nvPr/>
        </p:nvSpPr>
        <p:spPr>
          <a:xfrm>
            <a:off x="7090434" y="1898238"/>
            <a:ext cx="388744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Application Firewall</a:t>
            </a:r>
            <a:endParaRPr lang="en-US" sz="1461" dirty="0"/>
          </a:p>
        </p:txBody>
      </p:sp>
      <p:sp>
        <p:nvSpPr>
          <p:cNvPr id="32" name="Text 7"/>
          <p:cNvSpPr/>
          <p:nvPr/>
        </p:nvSpPr>
        <p:spPr>
          <a:xfrm>
            <a:off x="7127557" y="2232343"/>
            <a:ext cx="411017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Protection against SQL injection</a:t>
            </a:r>
            <a:endParaRPr lang="en-US" sz="1169" dirty="0"/>
          </a:p>
        </p:txBody>
      </p:sp>
      <p:sp>
        <p:nvSpPr>
          <p:cNvPr id="33" name="Text 8"/>
          <p:cNvSpPr/>
          <p:nvPr/>
        </p:nvSpPr>
        <p:spPr>
          <a:xfrm>
            <a:off x="7127557" y="2529324"/>
            <a:ext cx="411017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Rules executed before content-handling</a:t>
            </a:r>
            <a:endParaRPr lang="en-US" sz="1169" dirty="0"/>
          </a:p>
        </p:txBody>
      </p:sp>
      <p:sp>
        <p:nvSpPr>
          <p:cNvPr id="34" name="Text 9"/>
          <p:cNvSpPr/>
          <p:nvPr/>
        </p:nvSpPr>
        <p:spPr>
          <a:xfrm>
            <a:off x="1596275" y="3494514"/>
            <a:ext cx="34009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HTTPS/SSL Support</a:t>
            </a:r>
            <a:endParaRPr lang="en-US" sz="1461" dirty="0"/>
          </a:p>
        </p:txBody>
      </p:sp>
      <p:sp>
        <p:nvSpPr>
          <p:cNvPr id="35" name="Text 10"/>
          <p:cNvSpPr/>
          <p:nvPr/>
        </p:nvSpPr>
        <p:spPr>
          <a:xfrm>
            <a:off x="1633398" y="3828619"/>
            <a:ext cx="362363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Secure communication encryption</a:t>
            </a:r>
            <a:endParaRPr lang="en-US" sz="1169" dirty="0"/>
          </a:p>
        </p:txBody>
      </p:sp>
      <p:sp>
        <p:nvSpPr>
          <p:cNvPr id="36" name="Text 11"/>
          <p:cNvSpPr/>
          <p:nvPr/>
        </p:nvSpPr>
        <p:spPr>
          <a:xfrm>
            <a:off x="1633398" y="4125600"/>
            <a:ext cx="362363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Custom SSL certificates supported</a:t>
            </a:r>
            <a:endParaRPr lang="en-US" sz="1169" dirty="0"/>
          </a:p>
        </p:txBody>
      </p:sp>
      <p:sp>
        <p:nvSpPr>
          <p:cNvPr id="37" name="Text 12"/>
          <p:cNvSpPr/>
          <p:nvPr/>
        </p:nvSpPr>
        <p:spPr>
          <a:xfrm>
            <a:off x="7090435" y="3494514"/>
            <a:ext cx="419614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 Access Identity</a:t>
            </a:r>
            <a:endParaRPr lang="en-US" sz="1461" dirty="0"/>
          </a:p>
        </p:txBody>
      </p:sp>
      <p:sp>
        <p:nvSpPr>
          <p:cNvPr id="38" name="Text 13"/>
          <p:cNvSpPr/>
          <p:nvPr/>
        </p:nvSpPr>
        <p:spPr>
          <a:xfrm>
            <a:off x="7127557" y="3828619"/>
            <a:ext cx="44188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Restricts direct S3 bucket access</a:t>
            </a:r>
            <a:endParaRPr lang="en-US" sz="1169" dirty="0"/>
          </a:p>
        </p:txBody>
      </p:sp>
      <p:sp>
        <p:nvSpPr>
          <p:cNvPr id="39" name="Text 14"/>
          <p:cNvSpPr/>
          <p:nvPr/>
        </p:nvSpPr>
        <p:spPr>
          <a:xfrm>
            <a:off x="7127557" y="4125600"/>
            <a:ext cx="44188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Ensures content access through CloudFront</a:t>
            </a:r>
            <a:endParaRPr lang="en-US" sz="1169" dirty="0"/>
          </a:p>
        </p:txBody>
      </p:sp>
      <p:sp>
        <p:nvSpPr>
          <p:cNvPr id="40" name="Text 15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41" name="Text 16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2538605"/>
            <a:ext cx="454753" cy="48259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31" y="2649973"/>
            <a:ext cx="232017" cy="25985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466672"/>
            <a:ext cx="389788" cy="48259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31" y="3578040"/>
            <a:ext cx="167052" cy="25985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4394740"/>
            <a:ext cx="408350" cy="48259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331" y="4506108"/>
            <a:ext cx="185613" cy="2598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8122" y="2018887"/>
            <a:ext cx="5197177" cy="30811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2724218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3095445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3466672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3837899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4209126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5322807"/>
            <a:ext cx="445472" cy="44547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893" y="5415614"/>
            <a:ext cx="185613" cy="25985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5006" y="5322807"/>
            <a:ext cx="445472" cy="44547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1733" y="5415614"/>
            <a:ext cx="232017" cy="25985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39827" y="5322807"/>
            <a:ext cx="445472" cy="44547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79037" y="5415614"/>
            <a:ext cx="167052" cy="25985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9435" y="5545543"/>
            <a:ext cx="3563779" cy="1856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9631" y="5545543"/>
            <a:ext cx="3563779" cy="18561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3" y="227717"/>
            <a:ext cx="652164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Edge Computing Capabilities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593963" y="1044417"/>
            <a:ext cx="10691336" cy="6032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offers programmable edge computing capabilities that allow developers to customize content delivery and enhance user experiences at the network edge, reducing latency and improving performance.</a:t>
            </a:r>
            <a:endParaRPr lang="en-US" sz="1461" dirty="0"/>
          </a:p>
        </p:txBody>
      </p:sp>
      <p:sp>
        <p:nvSpPr>
          <p:cNvPr id="28" name="Text 3"/>
          <p:cNvSpPr/>
          <p:nvPr/>
        </p:nvSpPr>
        <p:spPr>
          <a:xfrm>
            <a:off x="593963" y="2018887"/>
            <a:ext cx="623661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Edge Computing Options</a:t>
            </a:r>
            <a:endParaRPr lang="en-US" sz="1754" dirty="0"/>
          </a:p>
        </p:txBody>
      </p:sp>
      <p:sp>
        <p:nvSpPr>
          <p:cNvPr id="29" name="Text 4"/>
          <p:cNvSpPr/>
          <p:nvPr/>
        </p:nvSpPr>
        <p:spPr>
          <a:xfrm>
            <a:off x="1197207" y="2538605"/>
            <a:ext cx="45939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Lambda@Edge</a:t>
            </a:r>
            <a:endParaRPr lang="en-US" sz="1315" dirty="0"/>
          </a:p>
        </p:txBody>
      </p:sp>
      <p:sp>
        <p:nvSpPr>
          <p:cNvPr id="30" name="Text 5"/>
          <p:cNvSpPr/>
          <p:nvPr/>
        </p:nvSpPr>
        <p:spPr>
          <a:xfrm>
            <a:off x="1197207" y="2798464"/>
            <a:ext cx="459393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Execute AWS Lambda functions at edge locations to customize content delivery.</a:t>
            </a:r>
            <a:endParaRPr lang="en-US" sz="1169" dirty="0"/>
          </a:p>
        </p:txBody>
      </p:sp>
      <p:sp>
        <p:nvSpPr>
          <p:cNvPr id="31" name="Text 6"/>
          <p:cNvSpPr/>
          <p:nvPr/>
        </p:nvSpPr>
        <p:spPr>
          <a:xfrm>
            <a:off x="1132242" y="3466672"/>
            <a:ext cx="465889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Functions</a:t>
            </a:r>
            <a:endParaRPr lang="en-US" sz="1315" dirty="0"/>
          </a:p>
        </p:txBody>
      </p:sp>
      <p:sp>
        <p:nvSpPr>
          <p:cNvPr id="32" name="Text 7"/>
          <p:cNvSpPr/>
          <p:nvPr/>
        </p:nvSpPr>
        <p:spPr>
          <a:xfrm>
            <a:off x="1132242" y="3726531"/>
            <a:ext cx="465889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Lightweight edge computing service for HTTP request/response manipulation.</a:t>
            </a:r>
            <a:endParaRPr lang="en-US" sz="1169" dirty="0"/>
          </a:p>
        </p:txBody>
      </p:sp>
      <p:sp>
        <p:nvSpPr>
          <p:cNvPr id="33" name="Text 8"/>
          <p:cNvSpPr/>
          <p:nvPr/>
        </p:nvSpPr>
        <p:spPr>
          <a:xfrm>
            <a:off x="1150803" y="4394740"/>
            <a:ext cx="55684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Network Integration</a:t>
            </a:r>
            <a:endParaRPr lang="en-US" sz="1315" dirty="0"/>
          </a:p>
        </p:txBody>
      </p:sp>
      <p:sp>
        <p:nvSpPr>
          <p:cNvPr id="34" name="Text 9"/>
          <p:cNvSpPr/>
          <p:nvPr/>
        </p:nvSpPr>
        <p:spPr>
          <a:xfrm>
            <a:off x="1150803" y="4654599"/>
            <a:ext cx="464033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edge locations worldwide to reduce latency for global users.</a:t>
            </a:r>
            <a:endParaRPr lang="en-US" sz="1169" dirty="0"/>
          </a:p>
        </p:txBody>
      </p:sp>
      <p:sp>
        <p:nvSpPr>
          <p:cNvPr id="35" name="Text 10"/>
          <p:cNvSpPr/>
          <p:nvPr/>
        </p:nvSpPr>
        <p:spPr>
          <a:xfrm>
            <a:off x="6310858" y="2241623"/>
            <a:ext cx="570204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 of Edge Computing</a:t>
            </a:r>
            <a:endParaRPr lang="en-US" sz="1754" dirty="0"/>
          </a:p>
        </p:txBody>
      </p:sp>
      <p:sp>
        <p:nvSpPr>
          <p:cNvPr id="36" name="Text 11"/>
          <p:cNvSpPr/>
          <p:nvPr/>
        </p:nvSpPr>
        <p:spPr>
          <a:xfrm>
            <a:off x="6570717" y="2687096"/>
            <a:ext cx="417404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latency for improved user experience</a:t>
            </a:r>
            <a:endParaRPr lang="en-US" sz="1169" dirty="0"/>
          </a:p>
        </p:txBody>
      </p:sp>
      <p:sp>
        <p:nvSpPr>
          <p:cNvPr id="37" name="Text 12"/>
          <p:cNvSpPr/>
          <p:nvPr/>
        </p:nvSpPr>
        <p:spPr>
          <a:xfrm>
            <a:off x="6570717" y="3058323"/>
            <a:ext cx="420536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 with edge-based processing</a:t>
            </a:r>
            <a:endParaRPr lang="en-US" sz="1169" dirty="0"/>
          </a:p>
        </p:txBody>
      </p:sp>
      <p:sp>
        <p:nvSpPr>
          <p:cNvPr id="38" name="Text 13"/>
          <p:cNvSpPr/>
          <p:nvPr/>
        </p:nvSpPr>
        <p:spPr>
          <a:xfrm>
            <a:off x="6570717" y="3429550"/>
            <a:ext cx="392816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 content personalization at the edge</a:t>
            </a:r>
            <a:endParaRPr lang="en-US" sz="1169" dirty="0"/>
          </a:p>
        </p:txBody>
      </p:sp>
      <p:sp>
        <p:nvSpPr>
          <p:cNvPr id="39" name="Text 14"/>
          <p:cNvSpPr/>
          <p:nvPr/>
        </p:nvSpPr>
        <p:spPr>
          <a:xfrm>
            <a:off x="6570717" y="3800777"/>
            <a:ext cx="368089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origin load and bandwidth costs</a:t>
            </a:r>
            <a:endParaRPr lang="en-US" sz="1169" dirty="0"/>
          </a:p>
        </p:txBody>
      </p:sp>
      <p:sp>
        <p:nvSpPr>
          <p:cNvPr id="40" name="Text 15"/>
          <p:cNvSpPr/>
          <p:nvPr/>
        </p:nvSpPr>
        <p:spPr>
          <a:xfrm>
            <a:off x="6570717" y="4172004"/>
            <a:ext cx="297057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content transformation</a:t>
            </a:r>
            <a:endParaRPr lang="en-US" sz="1169" dirty="0"/>
          </a:p>
        </p:txBody>
      </p:sp>
      <p:sp>
        <p:nvSpPr>
          <p:cNvPr id="41" name="Text 16"/>
          <p:cNvSpPr/>
          <p:nvPr/>
        </p:nvSpPr>
        <p:spPr>
          <a:xfrm>
            <a:off x="620210" y="5805402"/>
            <a:ext cx="47140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</a:t>
            </a:r>
            <a:endParaRPr lang="en-US" sz="1023" dirty="0"/>
          </a:p>
        </p:txBody>
      </p:sp>
      <p:sp>
        <p:nvSpPr>
          <p:cNvPr id="42" name="Text 17"/>
          <p:cNvSpPr/>
          <p:nvPr/>
        </p:nvSpPr>
        <p:spPr>
          <a:xfrm>
            <a:off x="3994170" y="5805402"/>
            <a:ext cx="39239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Edge</a:t>
            </a:r>
            <a:endParaRPr lang="en-US" sz="1023" dirty="0"/>
          </a:p>
        </p:txBody>
      </p:sp>
      <p:sp>
        <p:nvSpPr>
          <p:cNvPr id="43" name="Text 18"/>
          <p:cNvSpPr/>
          <p:nvPr/>
        </p:nvSpPr>
        <p:spPr>
          <a:xfrm>
            <a:off x="10914363" y="5805402"/>
            <a:ext cx="35550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</a:t>
            </a:r>
            <a:endParaRPr lang="en-US" sz="1023" dirty="0"/>
          </a:p>
        </p:txBody>
      </p:sp>
      <p:sp>
        <p:nvSpPr>
          <p:cNvPr id="44" name="Text 19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45" name="Text 20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935361"/>
            <a:ext cx="5234300" cy="122504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99" y="2158098"/>
            <a:ext cx="354261" cy="5568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47" y="2269466"/>
            <a:ext cx="278420" cy="3341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1935361"/>
            <a:ext cx="5234300" cy="122504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3736" y="2158098"/>
            <a:ext cx="343819" cy="5568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8846" y="2269466"/>
            <a:ext cx="213455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3383146"/>
            <a:ext cx="5234300" cy="122504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699" y="3605883"/>
            <a:ext cx="352666" cy="5568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699" y="3717251"/>
            <a:ext cx="352666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3383146"/>
            <a:ext cx="5234300" cy="122504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3735" y="3605883"/>
            <a:ext cx="384858" cy="5568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8393" y="3717251"/>
            <a:ext cx="315543" cy="3341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963" y="5313526"/>
            <a:ext cx="1246511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454" y="5424894"/>
            <a:ext cx="111368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8964" y="5313526"/>
            <a:ext cx="1435604" cy="37122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7455" y="5424894"/>
            <a:ext cx="167052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73060" y="5313526"/>
            <a:ext cx="965770" cy="371227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21550" y="5424894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7320" y="5313526"/>
            <a:ext cx="1388621" cy="37122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35811" y="5424894"/>
            <a:ext cx="185613" cy="148491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2" y="227717"/>
            <a:ext cx="420571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Use Cases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593963" y="1044416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CloudFront's versatility enables applications across industries, enhancing content delivery through global infrastructure.</a:t>
            </a:r>
            <a:endParaRPr lang="en-US" sz="1461" dirty="0"/>
          </a:p>
        </p:txBody>
      </p:sp>
      <p:sp>
        <p:nvSpPr>
          <p:cNvPr id="28" name="Text 3"/>
          <p:cNvSpPr/>
          <p:nvPr/>
        </p:nvSpPr>
        <p:spPr>
          <a:xfrm>
            <a:off x="1319451" y="2158097"/>
            <a:ext cx="514329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Website Acceleration</a:t>
            </a:r>
            <a:endParaRPr lang="en-US" sz="1461" dirty="0"/>
          </a:p>
        </p:txBody>
      </p:sp>
      <p:sp>
        <p:nvSpPr>
          <p:cNvPr id="29" name="Text 4"/>
          <p:cNvSpPr/>
          <p:nvPr/>
        </p:nvSpPr>
        <p:spPr>
          <a:xfrm>
            <a:off x="1319451" y="2492202"/>
            <a:ext cx="42860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Delivers static content with low latency through edge caching, improving user experience.</a:t>
            </a:r>
            <a:endParaRPr lang="en-US" sz="1169" dirty="0"/>
          </a:p>
        </p:txBody>
      </p:sp>
      <p:sp>
        <p:nvSpPr>
          <p:cNvPr id="30" name="Text 5"/>
          <p:cNvSpPr/>
          <p:nvPr/>
        </p:nvSpPr>
        <p:spPr>
          <a:xfrm>
            <a:off x="6766046" y="2158097"/>
            <a:ext cx="515582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Content Delivery</a:t>
            </a:r>
            <a:endParaRPr lang="en-US" sz="1461" dirty="0"/>
          </a:p>
        </p:txBody>
      </p:sp>
      <p:sp>
        <p:nvSpPr>
          <p:cNvPr id="31" name="Text 6"/>
          <p:cNvSpPr/>
          <p:nvPr/>
        </p:nvSpPr>
        <p:spPr>
          <a:xfrm>
            <a:off x="6766046" y="2492202"/>
            <a:ext cx="429651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Accelerates dynamic content by caching at edge locations and forwarding updates to origins.</a:t>
            </a:r>
            <a:endParaRPr lang="en-US" sz="1169" dirty="0"/>
          </a:p>
        </p:txBody>
      </p:sp>
      <p:sp>
        <p:nvSpPr>
          <p:cNvPr id="32" name="Text 7"/>
          <p:cNvSpPr/>
          <p:nvPr/>
        </p:nvSpPr>
        <p:spPr>
          <a:xfrm>
            <a:off x="1317856" y="3605882"/>
            <a:ext cx="42876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Optimization</a:t>
            </a:r>
            <a:endParaRPr lang="en-US" sz="1461" dirty="0"/>
          </a:p>
        </p:txBody>
      </p:sp>
      <p:sp>
        <p:nvSpPr>
          <p:cNvPr id="33" name="Text 8"/>
          <p:cNvSpPr/>
          <p:nvPr/>
        </p:nvSpPr>
        <p:spPr>
          <a:xfrm>
            <a:off x="1317856" y="3939987"/>
            <a:ext cx="428767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API performance with caching and reduces latency through global edge locations.</a:t>
            </a:r>
            <a:endParaRPr lang="en-US" sz="1169" dirty="0"/>
          </a:p>
        </p:txBody>
      </p:sp>
      <p:sp>
        <p:nvSpPr>
          <p:cNvPr id="34" name="Text 9"/>
          <p:cNvSpPr/>
          <p:nvPr/>
        </p:nvSpPr>
        <p:spPr>
          <a:xfrm>
            <a:off x="6807084" y="3605882"/>
            <a:ext cx="51065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Media Streaming</a:t>
            </a:r>
            <a:endParaRPr lang="en-US" sz="1461" dirty="0"/>
          </a:p>
        </p:txBody>
      </p:sp>
      <p:sp>
        <p:nvSpPr>
          <p:cNvPr id="35" name="Text 10"/>
          <p:cNvSpPr/>
          <p:nvPr/>
        </p:nvSpPr>
        <p:spPr>
          <a:xfrm>
            <a:off x="6807084" y="3939987"/>
            <a:ext cx="42554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Protects media content with DDoS protection and HTTPS, ensuring secure delivery.</a:t>
            </a:r>
            <a:endParaRPr lang="en-US" sz="1169" dirty="0"/>
          </a:p>
        </p:txBody>
      </p:sp>
      <p:sp>
        <p:nvSpPr>
          <p:cNvPr id="36" name="Text 11"/>
          <p:cNvSpPr/>
          <p:nvPr/>
        </p:nvSpPr>
        <p:spPr>
          <a:xfrm>
            <a:off x="593963" y="4905177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Industries Served:</a:t>
            </a:r>
            <a:endParaRPr lang="en-US" sz="1461" dirty="0"/>
          </a:p>
        </p:txBody>
      </p:sp>
      <p:sp>
        <p:nvSpPr>
          <p:cNvPr id="37" name="Text 12"/>
          <p:cNvSpPr/>
          <p:nvPr/>
        </p:nvSpPr>
        <p:spPr>
          <a:xfrm>
            <a:off x="928067" y="5387772"/>
            <a:ext cx="91669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</a:t>
            </a:r>
            <a:endParaRPr lang="en-US" sz="1169" dirty="0"/>
          </a:p>
        </p:txBody>
      </p:sp>
      <p:sp>
        <p:nvSpPr>
          <p:cNvPr id="38" name="Text 13"/>
          <p:cNvSpPr/>
          <p:nvPr/>
        </p:nvSpPr>
        <p:spPr>
          <a:xfrm>
            <a:off x="2378753" y="5387772"/>
            <a:ext cx="107679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eCommerce</a:t>
            </a:r>
            <a:endParaRPr lang="en-US" sz="1169" dirty="0"/>
          </a:p>
        </p:txBody>
      </p:sp>
      <p:sp>
        <p:nvSpPr>
          <p:cNvPr id="39" name="Text 14"/>
          <p:cNvSpPr/>
          <p:nvPr/>
        </p:nvSpPr>
        <p:spPr>
          <a:xfrm>
            <a:off x="3944286" y="5387772"/>
            <a:ext cx="53526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</a:t>
            </a:r>
            <a:endParaRPr lang="en-US" sz="1169" dirty="0"/>
          </a:p>
        </p:txBody>
      </p:sp>
      <p:sp>
        <p:nvSpPr>
          <p:cNvPr id="40" name="Text 15"/>
          <p:cNvSpPr/>
          <p:nvPr/>
        </p:nvSpPr>
        <p:spPr>
          <a:xfrm>
            <a:off x="5095669" y="5387772"/>
            <a:ext cx="99813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</a:t>
            </a:r>
            <a:endParaRPr lang="en-US" sz="1169" dirty="0"/>
          </a:p>
        </p:txBody>
      </p:sp>
      <p:sp>
        <p:nvSpPr>
          <p:cNvPr id="41" name="Text 16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42" name="Text 17"/>
          <p:cNvSpPr/>
          <p:nvPr/>
        </p:nvSpPr>
        <p:spPr>
          <a:xfrm>
            <a:off x="11100266" y="6427207"/>
            <a:ext cx="40022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1378521"/>
            <a:ext cx="10988318" cy="4083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682" y="1888958"/>
            <a:ext cx="148491" cy="14849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107" y="1786870"/>
            <a:ext cx="2197634" cy="59396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2380834"/>
            <a:ext cx="10988318" cy="59396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682" y="2482921"/>
            <a:ext cx="185613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107" y="2380834"/>
            <a:ext cx="2197634" cy="59396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682" y="3076884"/>
            <a:ext cx="185613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3107" y="2974797"/>
            <a:ext cx="2197634" cy="81669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3791496"/>
            <a:ext cx="10988318" cy="59396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682" y="3893583"/>
            <a:ext cx="92807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107" y="3791496"/>
            <a:ext cx="2197634" cy="5939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682" y="4487546"/>
            <a:ext cx="167052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3107" y="4385459"/>
            <a:ext cx="2197634" cy="81669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72" y="5684753"/>
            <a:ext cx="10988318" cy="408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6840" y="5814683"/>
            <a:ext cx="129929" cy="129929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45472" y="227717"/>
            <a:ext cx="528163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Competitive Landscape</a:t>
            </a:r>
            <a:endParaRPr lang="en-US" sz="2631" dirty="0"/>
          </a:p>
        </p:txBody>
      </p:sp>
      <p:sp>
        <p:nvSpPr>
          <p:cNvPr id="21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2" name="Text 2"/>
          <p:cNvSpPr/>
          <p:nvPr/>
        </p:nvSpPr>
        <p:spPr>
          <a:xfrm>
            <a:off x="445472" y="970171"/>
            <a:ext cx="109883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Comparison of CloudFront with other leading CDNs:</a:t>
            </a:r>
            <a:endParaRPr lang="en-US" sz="1461" dirty="0"/>
          </a:p>
        </p:txBody>
      </p:sp>
      <p:sp>
        <p:nvSpPr>
          <p:cNvPr id="23" name="Text 3"/>
          <p:cNvSpPr/>
          <p:nvPr/>
        </p:nvSpPr>
        <p:spPr>
          <a:xfrm>
            <a:off x="584682" y="1378521"/>
            <a:ext cx="2197634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Feature/CDN</a:t>
            </a:r>
            <a:endParaRPr lang="en-US" sz="1169" dirty="0"/>
          </a:p>
        </p:txBody>
      </p:sp>
      <p:sp>
        <p:nvSpPr>
          <p:cNvPr id="24" name="Text 4"/>
          <p:cNvSpPr/>
          <p:nvPr/>
        </p:nvSpPr>
        <p:spPr>
          <a:xfrm>
            <a:off x="2782317" y="1378521"/>
            <a:ext cx="2637161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CloudFront</a:t>
            </a:r>
            <a:endParaRPr lang="en-US" sz="1169" dirty="0"/>
          </a:p>
        </p:txBody>
      </p:sp>
      <p:sp>
        <p:nvSpPr>
          <p:cNvPr id="25" name="Text 5"/>
          <p:cNvSpPr/>
          <p:nvPr/>
        </p:nvSpPr>
        <p:spPr>
          <a:xfrm>
            <a:off x="4979951" y="1378521"/>
            <a:ext cx="2197634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Akamai</a:t>
            </a:r>
            <a:endParaRPr lang="en-US" sz="1169" dirty="0"/>
          </a:p>
        </p:txBody>
      </p:sp>
      <p:sp>
        <p:nvSpPr>
          <p:cNvPr id="26" name="Text 6"/>
          <p:cNvSpPr/>
          <p:nvPr/>
        </p:nvSpPr>
        <p:spPr>
          <a:xfrm>
            <a:off x="7177586" y="1378521"/>
            <a:ext cx="2197634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Fastly</a:t>
            </a:r>
            <a:endParaRPr lang="en-US" sz="1169" dirty="0"/>
          </a:p>
        </p:txBody>
      </p:sp>
      <p:sp>
        <p:nvSpPr>
          <p:cNvPr id="27" name="Text 7"/>
          <p:cNvSpPr/>
          <p:nvPr/>
        </p:nvSpPr>
        <p:spPr>
          <a:xfrm>
            <a:off x="9375221" y="1378521"/>
            <a:ext cx="2197780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Cloudflare</a:t>
            </a:r>
            <a:endParaRPr lang="en-US" sz="1169" dirty="0"/>
          </a:p>
        </p:txBody>
      </p:sp>
      <p:sp>
        <p:nvSpPr>
          <p:cNvPr id="28" name="Text 8"/>
          <p:cNvSpPr/>
          <p:nvPr/>
        </p:nvSpPr>
        <p:spPr>
          <a:xfrm>
            <a:off x="807419" y="1786870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Size</a:t>
            </a:r>
            <a:endParaRPr lang="en-US" sz="1169" dirty="0"/>
          </a:p>
        </p:txBody>
      </p:sp>
      <p:sp>
        <p:nvSpPr>
          <p:cNvPr id="29" name="Text 9"/>
          <p:cNvSpPr/>
          <p:nvPr/>
        </p:nvSpPr>
        <p:spPr>
          <a:xfrm>
            <a:off x="2782317" y="1786870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400+ PoPs across 48 countries</a:t>
            </a:r>
            <a:endParaRPr lang="en-US" sz="1169" dirty="0"/>
          </a:p>
        </p:txBody>
      </p:sp>
      <p:sp>
        <p:nvSpPr>
          <p:cNvPr id="30" name="Text 10"/>
          <p:cNvSpPr/>
          <p:nvPr/>
        </p:nvSpPr>
        <p:spPr>
          <a:xfrm>
            <a:off x="4979951" y="1786870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 4,000 locations across 130+ countries</a:t>
            </a:r>
            <a:endParaRPr lang="en-US" sz="1169" dirty="0"/>
          </a:p>
        </p:txBody>
      </p:sp>
      <p:sp>
        <p:nvSpPr>
          <p:cNvPr id="31" name="Text 11"/>
          <p:cNvSpPr/>
          <p:nvPr/>
        </p:nvSpPr>
        <p:spPr>
          <a:xfrm>
            <a:off x="7177586" y="1786870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~100+ PoPs</a:t>
            </a:r>
            <a:endParaRPr lang="en-US" sz="1169" dirty="0"/>
          </a:p>
        </p:txBody>
      </p:sp>
      <p:sp>
        <p:nvSpPr>
          <p:cNvPr id="32" name="Text 12"/>
          <p:cNvSpPr/>
          <p:nvPr/>
        </p:nvSpPr>
        <p:spPr>
          <a:xfrm>
            <a:off x="9375221" y="1786870"/>
            <a:ext cx="2197780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330+ cities across 100+ countries</a:t>
            </a:r>
            <a:endParaRPr lang="en-US" sz="1169" dirty="0"/>
          </a:p>
        </p:txBody>
      </p:sp>
      <p:sp>
        <p:nvSpPr>
          <p:cNvPr id="33" name="Text 13"/>
          <p:cNvSpPr/>
          <p:nvPr/>
        </p:nvSpPr>
        <p:spPr>
          <a:xfrm>
            <a:off x="844541" y="2380834"/>
            <a:ext cx="2637161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Integration</a:t>
            </a:r>
            <a:endParaRPr lang="en-US" sz="1169" dirty="0"/>
          </a:p>
        </p:txBody>
      </p:sp>
      <p:sp>
        <p:nvSpPr>
          <p:cNvPr id="34" name="Text 14"/>
          <p:cNvSpPr/>
          <p:nvPr/>
        </p:nvSpPr>
        <p:spPr>
          <a:xfrm>
            <a:off x="2782317" y="2380834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integration with AWS services</a:t>
            </a:r>
            <a:endParaRPr lang="en-US" sz="1169" dirty="0"/>
          </a:p>
        </p:txBody>
      </p:sp>
      <p:sp>
        <p:nvSpPr>
          <p:cNvPr id="35" name="Text 15"/>
          <p:cNvSpPr/>
          <p:nvPr/>
        </p:nvSpPr>
        <p:spPr>
          <a:xfrm>
            <a:off x="4979951" y="2380834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direct AWS integration</a:t>
            </a:r>
            <a:endParaRPr lang="en-US" sz="1169" dirty="0"/>
          </a:p>
        </p:txBody>
      </p:sp>
      <p:sp>
        <p:nvSpPr>
          <p:cNvPr id="36" name="Text 16"/>
          <p:cNvSpPr/>
          <p:nvPr/>
        </p:nvSpPr>
        <p:spPr>
          <a:xfrm>
            <a:off x="7177586" y="2380834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direct AWS integration</a:t>
            </a:r>
            <a:endParaRPr lang="en-US" sz="1169" dirty="0"/>
          </a:p>
        </p:txBody>
      </p:sp>
      <p:sp>
        <p:nvSpPr>
          <p:cNvPr id="37" name="Text 17"/>
          <p:cNvSpPr/>
          <p:nvPr/>
        </p:nvSpPr>
        <p:spPr>
          <a:xfrm>
            <a:off x="9375221" y="2380834"/>
            <a:ext cx="2197780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direct AWS integration</a:t>
            </a:r>
            <a:endParaRPr lang="en-US" sz="1169" dirty="0"/>
          </a:p>
        </p:txBody>
      </p:sp>
      <p:sp>
        <p:nvSpPr>
          <p:cNvPr id="38" name="Text 18"/>
          <p:cNvSpPr/>
          <p:nvPr/>
        </p:nvSpPr>
        <p:spPr>
          <a:xfrm>
            <a:off x="844541" y="2974797"/>
            <a:ext cx="2637161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Developer Focus</a:t>
            </a:r>
            <a:endParaRPr lang="en-US" sz="1169" dirty="0"/>
          </a:p>
        </p:txBody>
      </p:sp>
      <p:sp>
        <p:nvSpPr>
          <p:cNvPr id="39" name="Text 19"/>
          <p:cNvSpPr/>
          <p:nvPr/>
        </p:nvSpPr>
        <p:spPr>
          <a:xfrm>
            <a:off x="2782317" y="2974797"/>
            <a:ext cx="2197634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Powerful cache control, edge compute</a:t>
            </a:r>
            <a:endParaRPr lang="en-US" sz="1169" dirty="0"/>
          </a:p>
        </p:txBody>
      </p:sp>
      <p:sp>
        <p:nvSpPr>
          <p:cNvPr id="40" name="Text 20"/>
          <p:cNvSpPr/>
          <p:nvPr/>
        </p:nvSpPr>
        <p:spPr>
          <a:xfrm>
            <a:off x="4979951" y="2974797"/>
            <a:ext cx="2197634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Enterprise-grade security, media delivery</a:t>
            </a:r>
            <a:endParaRPr lang="en-US" sz="1169" dirty="0"/>
          </a:p>
        </p:txBody>
      </p:sp>
      <p:sp>
        <p:nvSpPr>
          <p:cNvPr id="41" name="Text 21"/>
          <p:cNvSpPr/>
          <p:nvPr/>
        </p:nvSpPr>
        <p:spPr>
          <a:xfrm>
            <a:off x="7177586" y="2974797"/>
            <a:ext cx="2197634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edge logic, instant purging</a:t>
            </a:r>
            <a:endParaRPr lang="en-US" sz="1169" dirty="0"/>
          </a:p>
        </p:txBody>
      </p:sp>
      <p:sp>
        <p:nvSpPr>
          <p:cNvPr id="42" name="Text 22"/>
          <p:cNvSpPr/>
          <p:nvPr/>
        </p:nvSpPr>
        <p:spPr>
          <a:xfrm>
            <a:off x="9375221" y="2974797"/>
            <a:ext cx="2197780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Built-in WAF, edge workers, image optimization</a:t>
            </a:r>
            <a:endParaRPr lang="en-US" sz="1169" dirty="0"/>
          </a:p>
        </p:txBody>
      </p:sp>
      <p:sp>
        <p:nvSpPr>
          <p:cNvPr id="43" name="Text 23"/>
          <p:cNvSpPr/>
          <p:nvPr/>
        </p:nvSpPr>
        <p:spPr>
          <a:xfrm>
            <a:off x="751734" y="3791496"/>
            <a:ext cx="2637161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Model</a:t>
            </a:r>
            <a:endParaRPr lang="en-US" sz="1169" dirty="0"/>
          </a:p>
        </p:txBody>
      </p:sp>
      <p:sp>
        <p:nvSpPr>
          <p:cNvPr id="44" name="Text 24"/>
          <p:cNvSpPr/>
          <p:nvPr/>
        </p:nvSpPr>
        <p:spPr>
          <a:xfrm>
            <a:off x="2782317" y="3791496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Pay-as-you-go by region (~$0.085/GB US)</a:t>
            </a:r>
            <a:endParaRPr lang="en-US" sz="1169" dirty="0"/>
          </a:p>
        </p:txBody>
      </p:sp>
      <p:sp>
        <p:nvSpPr>
          <p:cNvPr id="45" name="Text 25"/>
          <p:cNvSpPr/>
          <p:nvPr/>
        </p:nvSpPr>
        <p:spPr>
          <a:xfrm>
            <a:off x="4979951" y="3791496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contracts only, custom pricing</a:t>
            </a:r>
            <a:endParaRPr lang="en-US" sz="1169" dirty="0"/>
          </a:p>
        </p:txBody>
      </p:sp>
      <p:sp>
        <p:nvSpPr>
          <p:cNvPr id="46" name="Text 26"/>
          <p:cNvSpPr/>
          <p:nvPr/>
        </p:nvSpPr>
        <p:spPr>
          <a:xfrm>
            <a:off x="7177586" y="3791496"/>
            <a:ext cx="2197634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Usage-based (~$0.12/GB for North America)</a:t>
            </a:r>
            <a:endParaRPr lang="en-US" sz="1169" dirty="0"/>
          </a:p>
        </p:txBody>
      </p:sp>
      <p:sp>
        <p:nvSpPr>
          <p:cNvPr id="47" name="Text 27"/>
          <p:cNvSpPr/>
          <p:nvPr/>
        </p:nvSpPr>
        <p:spPr>
          <a:xfrm>
            <a:off x="9375221" y="3791496"/>
            <a:ext cx="2197780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Free plan, Pro ($25/mo), Business ($250/mo)</a:t>
            </a:r>
            <a:endParaRPr lang="en-US" sz="1169" dirty="0"/>
          </a:p>
        </p:txBody>
      </p:sp>
      <p:sp>
        <p:nvSpPr>
          <p:cNvPr id="48" name="Text 28"/>
          <p:cNvSpPr/>
          <p:nvPr/>
        </p:nvSpPr>
        <p:spPr>
          <a:xfrm>
            <a:off x="825980" y="4385459"/>
            <a:ext cx="2637161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Advantage</a:t>
            </a:r>
            <a:endParaRPr lang="en-US" sz="1169" dirty="0"/>
          </a:p>
        </p:txBody>
      </p:sp>
      <p:sp>
        <p:nvSpPr>
          <p:cNvPr id="49" name="Text 29"/>
          <p:cNvSpPr/>
          <p:nvPr/>
        </p:nvSpPr>
        <p:spPr>
          <a:xfrm>
            <a:off x="2782317" y="4385459"/>
            <a:ext cx="2197634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integration with AWS ecosystem</a:t>
            </a:r>
            <a:endParaRPr lang="en-US" sz="1169" dirty="0"/>
          </a:p>
        </p:txBody>
      </p:sp>
      <p:sp>
        <p:nvSpPr>
          <p:cNvPr id="50" name="Text 30"/>
          <p:cNvSpPr/>
          <p:nvPr/>
        </p:nvSpPr>
        <p:spPr>
          <a:xfrm>
            <a:off x="4979951" y="4385459"/>
            <a:ext cx="2197634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Largest global network, top-tier DDoS/WAF</a:t>
            </a:r>
            <a:endParaRPr lang="en-US" sz="1169" dirty="0"/>
          </a:p>
        </p:txBody>
      </p:sp>
      <p:sp>
        <p:nvSpPr>
          <p:cNvPr id="51" name="Text 31"/>
          <p:cNvSpPr/>
          <p:nvPr/>
        </p:nvSpPr>
        <p:spPr>
          <a:xfrm>
            <a:off x="7177586" y="4385459"/>
            <a:ext cx="2197634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cache purging, developer-friendly</a:t>
            </a:r>
            <a:endParaRPr lang="en-US" sz="1169" dirty="0"/>
          </a:p>
        </p:txBody>
      </p:sp>
      <p:sp>
        <p:nvSpPr>
          <p:cNvPr id="52" name="Text 32"/>
          <p:cNvSpPr/>
          <p:nvPr/>
        </p:nvSpPr>
        <p:spPr>
          <a:xfrm>
            <a:off x="9375221" y="4385459"/>
            <a:ext cx="2197780" cy="81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free plan, extensive security features</a:t>
            </a:r>
            <a:endParaRPr lang="en-US" sz="1169" dirty="0"/>
          </a:p>
        </p:txBody>
      </p:sp>
      <p:sp>
        <p:nvSpPr>
          <p:cNvPr id="53" name="Text 33"/>
          <p:cNvSpPr/>
          <p:nvPr/>
        </p:nvSpPr>
        <p:spPr>
          <a:xfrm>
            <a:off x="761015" y="5796122"/>
            <a:ext cx="1291869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23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Note:</a:t>
            </a: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Akamai often shows a performance lead (14-15% faster throughput), while Cloudflare ranks fastest in TCP connection times.</a:t>
            </a:r>
            <a:endParaRPr lang="en-US" sz="1023" dirty="0"/>
          </a:p>
        </p:txBody>
      </p:sp>
      <p:sp>
        <p:nvSpPr>
          <p:cNvPr id="54" name="Text 34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55" name="Text 35"/>
          <p:cNvSpPr/>
          <p:nvPr/>
        </p:nvSpPr>
        <p:spPr>
          <a:xfrm>
            <a:off x="11005864" y="6427207"/>
            <a:ext cx="51351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007294"/>
            <a:ext cx="194894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378521"/>
            <a:ext cx="5197177" cy="133641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54" y="2083852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54" y="2380833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2974797"/>
            <a:ext cx="250578" cy="22273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3346024"/>
            <a:ext cx="4640337" cy="167052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8122" y="1007294"/>
            <a:ext cx="222736" cy="22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8122" y="1415644"/>
            <a:ext cx="5197177" cy="118792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6613" y="1564134"/>
            <a:ext cx="334104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0858" y="1666222"/>
            <a:ext cx="185613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8122" y="2752061"/>
            <a:ext cx="5197177" cy="96519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6612" y="2900551"/>
            <a:ext cx="296982" cy="37122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0858" y="3002639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8122" y="3865741"/>
            <a:ext cx="5197177" cy="118792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6612" y="4014232"/>
            <a:ext cx="296982" cy="37122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0858" y="4116319"/>
            <a:ext cx="148491" cy="148491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45472" y="227717"/>
            <a:ext cx="674420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and Cost Optimization</a:t>
            </a:r>
            <a:endParaRPr lang="en-US" sz="2631" dirty="0"/>
          </a:p>
        </p:txBody>
      </p:sp>
      <p:sp>
        <p:nvSpPr>
          <p:cNvPr id="22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3" name="Text 2"/>
          <p:cNvSpPr/>
          <p:nvPr/>
        </p:nvSpPr>
        <p:spPr>
          <a:xfrm>
            <a:off x="900225" y="970171"/>
            <a:ext cx="519717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Model</a:t>
            </a:r>
            <a:endParaRPr lang="en-US" sz="1754" dirty="0"/>
          </a:p>
        </p:txBody>
      </p:sp>
      <p:sp>
        <p:nvSpPr>
          <p:cNvPr id="24" name="Text 3"/>
          <p:cNvSpPr/>
          <p:nvPr/>
        </p:nvSpPr>
        <p:spPr>
          <a:xfrm>
            <a:off x="742454" y="1527012"/>
            <a:ext cx="490019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 uses a </a:t>
            </a: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pay-as-you-go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model with the following components:</a:t>
            </a:r>
            <a:endParaRPr lang="en-US" sz="1169" dirty="0"/>
          </a:p>
        </p:txBody>
      </p:sp>
      <p:sp>
        <p:nvSpPr>
          <p:cNvPr id="25" name="Text 4"/>
          <p:cNvSpPr/>
          <p:nvPr/>
        </p:nvSpPr>
        <p:spPr>
          <a:xfrm>
            <a:off x="965190" y="2046729"/>
            <a:ext cx="345432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Transfer:</a:t>
            </a: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~$0.085/GB in the US</a:t>
            </a:r>
            <a:endParaRPr lang="en-US" sz="1169" dirty="0"/>
          </a:p>
        </p:txBody>
      </p:sp>
      <p:sp>
        <p:nvSpPr>
          <p:cNvPr id="26" name="Text 5"/>
          <p:cNvSpPr/>
          <p:nvPr/>
        </p:nvSpPr>
        <p:spPr>
          <a:xfrm>
            <a:off x="965191" y="2343711"/>
            <a:ext cx="312457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Requests:</a:t>
            </a: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Minimal additional cost</a:t>
            </a:r>
            <a:endParaRPr lang="en-US" sz="1169" dirty="0"/>
          </a:p>
        </p:txBody>
      </p:sp>
      <p:sp>
        <p:nvSpPr>
          <p:cNvPr id="27" name="Text 6"/>
          <p:cNvSpPr/>
          <p:nvPr/>
        </p:nvSpPr>
        <p:spPr>
          <a:xfrm>
            <a:off x="955909" y="2937674"/>
            <a:ext cx="623661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Regional Cost Variations</a:t>
            </a:r>
            <a:endParaRPr lang="en-US" sz="1754" dirty="0"/>
          </a:p>
        </p:txBody>
      </p:sp>
      <p:sp>
        <p:nvSpPr>
          <p:cNvPr id="28" name="Text 7"/>
          <p:cNvSpPr/>
          <p:nvPr/>
        </p:nvSpPr>
        <p:spPr>
          <a:xfrm>
            <a:off x="6422226" y="970171"/>
            <a:ext cx="623661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Strategies</a:t>
            </a:r>
            <a:endParaRPr lang="en-US" sz="1754" dirty="0"/>
          </a:p>
        </p:txBody>
      </p:sp>
      <p:sp>
        <p:nvSpPr>
          <p:cNvPr id="29" name="Text 8"/>
          <p:cNvSpPr/>
          <p:nvPr/>
        </p:nvSpPr>
        <p:spPr>
          <a:xfrm>
            <a:off x="6682085" y="1638380"/>
            <a:ext cx="171437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TTL Optimization</a:t>
            </a:r>
            <a:endParaRPr lang="en-US" sz="1169" dirty="0"/>
          </a:p>
        </p:txBody>
      </p:sp>
      <p:sp>
        <p:nvSpPr>
          <p:cNvPr id="30" name="Text 9"/>
          <p:cNvSpPr/>
          <p:nvPr/>
        </p:nvSpPr>
        <p:spPr>
          <a:xfrm>
            <a:off x="6236612" y="2009607"/>
            <a:ext cx="490019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Set appropriate TTL values to maximize cache hits and reduce origin requests.</a:t>
            </a:r>
            <a:endParaRPr lang="en-US" sz="1169" dirty="0"/>
          </a:p>
        </p:txBody>
      </p:sp>
      <p:sp>
        <p:nvSpPr>
          <p:cNvPr id="31" name="Text 10"/>
          <p:cNvSpPr/>
          <p:nvPr/>
        </p:nvSpPr>
        <p:spPr>
          <a:xfrm>
            <a:off x="6644963" y="2974797"/>
            <a:ext cx="215775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 Compression</a:t>
            </a:r>
            <a:endParaRPr lang="en-US" sz="1169" dirty="0"/>
          </a:p>
        </p:txBody>
      </p:sp>
      <p:sp>
        <p:nvSpPr>
          <p:cNvPr id="32" name="Text 11"/>
          <p:cNvSpPr/>
          <p:nvPr/>
        </p:nvSpPr>
        <p:spPr>
          <a:xfrm>
            <a:off x="6236613" y="3346024"/>
            <a:ext cx="588023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compression to reduce content size and transfer costs.</a:t>
            </a:r>
            <a:endParaRPr lang="en-US" sz="1169" dirty="0"/>
          </a:p>
        </p:txBody>
      </p:sp>
      <p:sp>
        <p:nvSpPr>
          <p:cNvPr id="33" name="Text 12"/>
          <p:cNvSpPr/>
          <p:nvPr/>
        </p:nvSpPr>
        <p:spPr>
          <a:xfrm>
            <a:off x="6644962" y="4088478"/>
            <a:ext cx="202446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Integration</a:t>
            </a:r>
            <a:endParaRPr lang="en-US" sz="1169" dirty="0"/>
          </a:p>
        </p:txBody>
      </p:sp>
      <p:sp>
        <p:nvSpPr>
          <p:cNvPr id="34" name="Text 13"/>
          <p:cNvSpPr/>
          <p:nvPr/>
        </p:nvSpPr>
        <p:spPr>
          <a:xfrm>
            <a:off x="6236612" y="4459705"/>
            <a:ext cx="490019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AWS WAF and Shield to reduce the risk of expensive DDoS attacks.</a:t>
            </a:r>
            <a:endParaRPr lang="en-US" sz="1169" dirty="0"/>
          </a:p>
        </p:txBody>
      </p:sp>
      <p:sp>
        <p:nvSpPr>
          <p:cNvPr id="35" name="Text 14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36" name="Text 15"/>
          <p:cNvSpPr/>
          <p:nvPr/>
        </p:nvSpPr>
        <p:spPr>
          <a:xfrm>
            <a:off x="11005864" y="6427207"/>
            <a:ext cx="51351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5234300" cy="15962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76" y="1155784"/>
            <a:ext cx="278420" cy="2969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2" y="1601257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2" y="1898238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2" y="2195220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2714938"/>
            <a:ext cx="5234300" cy="159627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76" y="2900551"/>
            <a:ext cx="222736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2" y="3346024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2" y="3643005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12" y="3939987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970171"/>
            <a:ext cx="5234300" cy="159627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613" y="1155784"/>
            <a:ext cx="222736" cy="2969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9" y="1601257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9" y="1898238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9" y="2195220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2714938"/>
            <a:ext cx="5234300" cy="159627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613" y="2900551"/>
            <a:ext cx="250578" cy="2969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9" y="3346024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9" y="3643005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9" y="3939987"/>
            <a:ext cx="148491" cy="148491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2" y="227717"/>
            <a:ext cx="695458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Best Practices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1169365" y="1174346"/>
            <a:ext cx="328918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Configuration</a:t>
            </a:r>
            <a:endParaRPr lang="en-US" sz="1461" dirty="0"/>
          </a:p>
        </p:txBody>
      </p:sp>
      <p:sp>
        <p:nvSpPr>
          <p:cNvPr id="28" name="Text 3"/>
          <p:cNvSpPr/>
          <p:nvPr/>
        </p:nvSpPr>
        <p:spPr>
          <a:xfrm>
            <a:off x="1225049" y="1564134"/>
            <a:ext cx="46402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consistent naming conventions for distributions</a:t>
            </a:r>
            <a:endParaRPr lang="en-US" sz="1169" dirty="0"/>
          </a:p>
        </p:txBody>
      </p:sp>
      <p:sp>
        <p:nvSpPr>
          <p:cNvPr id="29" name="Text 4"/>
          <p:cNvSpPr/>
          <p:nvPr/>
        </p:nvSpPr>
        <p:spPr>
          <a:xfrm>
            <a:off x="1225049" y="1861116"/>
            <a:ext cx="511718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TTL values based on content update frequency</a:t>
            </a:r>
            <a:endParaRPr lang="en-US" sz="1169" dirty="0"/>
          </a:p>
        </p:txBody>
      </p:sp>
      <p:sp>
        <p:nvSpPr>
          <p:cNvPr id="30" name="Text 5"/>
          <p:cNvSpPr/>
          <p:nvPr/>
        </p:nvSpPr>
        <p:spPr>
          <a:xfrm>
            <a:off x="1225049" y="2158097"/>
            <a:ext cx="363477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cache behaviors for granular control</a:t>
            </a:r>
            <a:endParaRPr lang="en-US" sz="1169" dirty="0"/>
          </a:p>
        </p:txBody>
      </p:sp>
      <p:sp>
        <p:nvSpPr>
          <p:cNvPr id="31" name="Text 6"/>
          <p:cNvSpPr/>
          <p:nvPr/>
        </p:nvSpPr>
        <p:spPr>
          <a:xfrm>
            <a:off x="1113681" y="2919113"/>
            <a:ext cx="20128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 Selection</a:t>
            </a:r>
            <a:endParaRPr lang="en-US" sz="1461" dirty="0"/>
          </a:p>
        </p:txBody>
      </p:sp>
      <p:sp>
        <p:nvSpPr>
          <p:cNvPr id="32" name="Text 7"/>
          <p:cNvSpPr/>
          <p:nvPr/>
        </p:nvSpPr>
        <p:spPr>
          <a:xfrm>
            <a:off x="1225049" y="3308901"/>
            <a:ext cx="467606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 origins close to your users for better latency</a:t>
            </a:r>
            <a:endParaRPr lang="en-US" sz="1169" dirty="0"/>
          </a:p>
        </p:txBody>
      </p:sp>
      <p:sp>
        <p:nvSpPr>
          <p:cNvPr id="33" name="Text 8"/>
          <p:cNvSpPr/>
          <p:nvPr/>
        </p:nvSpPr>
        <p:spPr>
          <a:xfrm>
            <a:off x="1225049" y="3605883"/>
            <a:ext cx="454416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S3 Transfer Acceleration for large file transfers</a:t>
            </a:r>
            <a:endParaRPr lang="en-US" sz="1169" dirty="0"/>
          </a:p>
        </p:txBody>
      </p:sp>
      <p:sp>
        <p:nvSpPr>
          <p:cNvPr id="34" name="Text 9"/>
          <p:cNvSpPr/>
          <p:nvPr/>
        </p:nvSpPr>
        <p:spPr>
          <a:xfrm>
            <a:off x="1225049" y="3902864"/>
            <a:ext cx="402578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origin failover for high availability</a:t>
            </a:r>
            <a:endParaRPr lang="en-US" sz="1169" dirty="0"/>
          </a:p>
        </p:txBody>
      </p:sp>
      <p:sp>
        <p:nvSpPr>
          <p:cNvPr id="35" name="Text 10"/>
          <p:cNvSpPr/>
          <p:nvPr/>
        </p:nvSpPr>
        <p:spPr>
          <a:xfrm>
            <a:off x="6570717" y="1174346"/>
            <a:ext cx="216889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Settings</a:t>
            </a:r>
            <a:endParaRPr lang="en-US" sz="1461" dirty="0"/>
          </a:p>
        </p:txBody>
      </p:sp>
      <p:sp>
        <p:nvSpPr>
          <p:cNvPr id="36" name="Text 11"/>
          <p:cNvSpPr/>
          <p:nvPr/>
        </p:nvSpPr>
        <p:spPr>
          <a:xfrm>
            <a:off x="6682085" y="1564134"/>
            <a:ext cx="400350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HTTPS/SSL for secure communication</a:t>
            </a:r>
            <a:endParaRPr lang="en-US" sz="1169" dirty="0"/>
          </a:p>
        </p:txBody>
      </p:sp>
      <p:sp>
        <p:nvSpPr>
          <p:cNvPr id="37" name="Text 12"/>
          <p:cNvSpPr/>
          <p:nvPr/>
        </p:nvSpPr>
        <p:spPr>
          <a:xfrm>
            <a:off x="6682085" y="1861116"/>
            <a:ext cx="408320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Origin Access Identity (OAI) for S3 origins</a:t>
            </a:r>
            <a:endParaRPr lang="en-US" sz="1169" dirty="0"/>
          </a:p>
        </p:txBody>
      </p:sp>
      <p:sp>
        <p:nvSpPr>
          <p:cNvPr id="38" name="Text 13"/>
          <p:cNvSpPr/>
          <p:nvPr/>
        </p:nvSpPr>
        <p:spPr>
          <a:xfrm>
            <a:off x="6682085" y="2158097"/>
            <a:ext cx="468946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AWS WAF for application-layer protection</a:t>
            </a:r>
            <a:endParaRPr lang="en-US" sz="1169" dirty="0"/>
          </a:p>
        </p:txBody>
      </p:sp>
      <p:sp>
        <p:nvSpPr>
          <p:cNvPr id="39" name="Text 14"/>
          <p:cNvSpPr/>
          <p:nvPr/>
        </p:nvSpPr>
        <p:spPr>
          <a:xfrm>
            <a:off x="6598559" y="2919113"/>
            <a:ext cx="329997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Optimization</a:t>
            </a:r>
            <a:endParaRPr lang="en-US" sz="1461" dirty="0"/>
          </a:p>
        </p:txBody>
      </p:sp>
      <p:sp>
        <p:nvSpPr>
          <p:cNvPr id="40" name="Text 15"/>
          <p:cNvSpPr/>
          <p:nvPr/>
        </p:nvSpPr>
        <p:spPr>
          <a:xfrm>
            <a:off x="6682085" y="3308901"/>
            <a:ext cx="376894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compression for smaller content sizes</a:t>
            </a:r>
            <a:endParaRPr lang="en-US" sz="1169" dirty="0"/>
          </a:p>
        </p:txBody>
      </p:sp>
      <p:sp>
        <p:nvSpPr>
          <p:cNvPr id="41" name="Text 16"/>
          <p:cNvSpPr/>
          <p:nvPr/>
        </p:nvSpPr>
        <p:spPr>
          <a:xfrm>
            <a:off x="6682085" y="3605883"/>
            <a:ext cx="388030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pre-signing for dynamic content</a:t>
            </a:r>
            <a:endParaRPr lang="en-US" sz="1169" dirty="0"/>
          </a:p>
        </p:txBody>
      </p:sp>
      <p:sp>
        <p:nvSpPr>
          <p:cNvPr id="42" name="Text 17"/>
          <p:cNvSpPr/>
          <p:nvPr/>
        </p:nvSpPr>
        <p:spPr>
          <a:xfrm>
            <a:off x="6682085" y="3902864"/>
            <a:ext cx="419057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edge computing for content customization</a:t>
            </a:r>
            <a:endParaRPr lang="en-US" sz="1169" dirty="0"/>
          </a:p>
        </p:txBody>
      </p:sp>
      <p:sp>
        <p:nvSpPr>
          <p:cNvPr id="43" name="Text 18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44" name="Text 19"/>
          <p:cNvSpPr/>
          <p:nvPr/>
        </p:nvSpPr>
        <p:spPr>
          <a:xfrm>
            <a:off x="11005864" y="6427207"/>
            <a:ext cx="51351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081539"/>
            <a:ext cx="250578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601257"/>
            <a:ext cx="259859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08" y="1703344"/>
            <a:ext cx="111368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2492202"/>
            <a:ext cx="296982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08" y="2594289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3383146"/>
            <a:ext cx="334104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09" y="3485234"/>
            <a:ext cx="185613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631" y="1044417"/>
            <a:ext cx="5345668" cy="497444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6613" y="1081539"/>
            <a:ext cx="222736" cy="22273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3" y="1564134"/>
            <a:ext cx="2450098" cy="89094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7981" y="1712625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35201" y="1564134"/>
            <a:ext cx="2450098" cy="89094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6569" y="1712625"/>
            <a:ext cx="167052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6613" y="2603570"/>
            <a:ext cx="2450098" cy="89094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7981" y="2752060"/>
            <a:ext cx="129929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35201" y="2603570"/>
            <a:ext cx="2450098" cy="89094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46569" y="2752060"/>
            <a:ext cx="111368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6613" y="3828619"/>
            <a:ext cx="167052" cy="222736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6612" y="4385459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6612" y="4793809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6612" y="5090790"/>
            <a:ext cx="148491" cy="148491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45473" y="227717"/>
            <a:ext cx="665720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Summary and Key Takeaways</a:t>
            </a:r>
            <a:endParaRPr lang="en-US" sz="2631" dirty="0"/>
          </a:p>
        </p:txBody>
      </p:sp>
      <p:sp>
        <p:nvSpPr>
          <p:cNvPr id="27" name="Text 1"/>
          <p:cNvSpPr/>
          <p:nvPr/>
        </p:nvSpPr>
        <p:spPr>
          <a:xfrm>
            <a:off x="10865204" y="264840"/>
            <a:ext cx="68230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8" name="Text 2"/>
          <p:cNvSpPr/>
          <p:nvPr/>
        </p:nvSpPr>
        <p:spPr>
          <a:xfrm>
            <a:off x="955909" y="1044416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Benefits</a:t>
            </a:r>
            <a:endParaRPr lang="en-US" sz="1754" dirty="0"/>
          </a:p>
        </p:txBody>
      </p:sp>
      <p:sp>
        <p:nvSpPr>
          <p:cNvPr id="29" name="Text 3"/>
          <p:cNvSpPr/>
          <p:nvPr/>
        </p:nvSpPr>
        <p:spPr>
          <a:xfrm>
            <a:off x="1002313" y="1564134"/>
            <a:ext cx="55684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Speed &amp; Performance</a:t>
            </a:r>
            <a:endParaRPr lang="en-US" sz="1461" dirty="0"/>
          </a:p>
        </p:txBody>
      </p:sp>
      <p:sp>
        <p:nvSpPr>
          <p:cNvPr id="30" name="Text 4"/>
          <p:cNvSpPr/>
          <p:nvPr/>
        </p:nvSpPr>
        <p:spPr>
          <a:xfrm>
            <a:off x="1002312" y="1823993"/>
            <a:ext cx="464033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Delivers content with minimal latency through a network of 400+ edge locations across 48 countries.</a:t>
            </a:r>
            <a:endParaRPr lang="en-US" sz="1169" dirty="0"/>
          </a:p>
        </p:txBody>
      </p:sp>
      <p:sp>
        <p:nvSpPr>
          <p:cNvPr id="31" name="Text 5"/>
          <p:cNvSpPr/>
          <p:nvPr/>
        </p:nvSpPr>
        <p:spPr>
          <a:xfrm>
            <a:off x="1039435" y="2455079"/>
            <a:ext cx="460321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</a:t>
            </a:r>
            <a:endParaRPr lang="en-US" sz="1461" dirty="0"/>
          </a:p>
        </p:txBody>
      </p:sp>
      <p:sp>
        <p:nvSpPr>
          <p:cNvPr id="32" name="Text 6"/>
          <p:cNvSpPr/>
          <p:nvPr/>
        </p:nvSpPr>
        <p:spPr>
          <a:xfrm>
            <a:off x="1039435" y="2714938"/>
            <a:ext cx="460321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DDoS protection, Web Application Firewall, and HTTPS support to protect content and applications.</a:t>
            </a:r>
            <a:endParaRPr lang="en-US" sz="1169" dirty="0"/>
          </a:p>
        </p:txBody>
      </p:sp>
      <p:sp>
        <p:nvSpPr>
          <p:cNvPr id="33" name="Text 7"/>
          <p:cNvSpPr/>
          <p:nvPr/>
        </p:nvSpPr>
        <p:spPr>
          <a:xfrm>
            <a:off x="1076558" y="3346024"/>
            <a:ext cx="547931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Programmable Edge Computing</a:t>
            </a:r>
            <a:endParaRPr lang="en-US" sz="1461" dirty="0"/>
          </a:p>
        </p:txBody>
      </p:sp>
      <p:sp>
        <p:nvSpPr>
          <p:cNvPr id="34" name="Text 8"/>
          <p:cNvSpPr/>
          <p:nvPr/>
        </p:nvSpPr>
        <p:spPr>
          <a:xfrm>
            <a:off x="1076558" y="3605883"/>
            <a:ext cx="456609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Customizes content delivery with Lambda@Edge and CloudFront Functions for enhanced user experiences.</a:t>
            </a:r>
            <a:endParaRPr lang="en-US" sz="1169" dirty="0"/>
          </a:p>
        </p:txBody>
      </p:sp>
      <p:sp>
        <p:nvSpPr>
          <p:cNvPr id="35" name="Text 9"/>
          <p:cNvSpPr/>
          <p:nvPr/>
        </p:nvSpPr>
        <p:spPr>
          <a:xfrm>
            <a:off x="6570717" y="1044416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Ideal Use Cases</a:t>
            </a:r>
            <a:endParaRPr lang="en-US" sz="1754" dirty="0"/>
          </a:p>
        </p:txBody>
      </p:sp>
      <p:sp>
        <p:nvSpPr>
          <p:cNvPr id="36" name="Text 10"/>
          <p:cNvSpPr/>
          <p:nvPr/>
        </p:nvSpPr>
        <p:spPr>
          <a:xfrm>
            <a:off x="6570717" y="1675502"/>
            <a:ext cx="129883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Content</a:t>
            </a:r>
            <a:endParaRPr lang="en-US" sz="1169" dirty="0"/>
          </a:p>
        </p:txBody>
      </p:sp>
      <p:sp>
        <p:nvSpPr>
          <p:cNvPr id="37" name="Text 11"/>
          <p:cNvSpPr/>
          <p:nvPr/>
        </p:nvSpPr>
        <p:spPr>
          <a:xfrm>
            <a:off x="6347981" y="1972484"/>
            <a:ext cx="222736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Accelerates static and dynamic web content delivery</a:t>
            </a:r>
            <a:endParaRPr lang="en-US" sz="1023" dirty="0"/>
          </a:p>
        </p:txBody>
      </p:sp>
      <p:sp>
        <p:nvSpPr>
          <p:cNvPr id="38" name="Text 12"/>
          <p:cNvSpPr/>
          <p:nvPr/>
        </p:nvSpPr>
        <p:spPr>
          <a:xfrm>
            <a:off x="9187867" y="1675502"/>
            <a:ext cx="167243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Video Streaming</a:t>
            </a:r>
            <a:endParaRPr lang="en-US" sz="1169" dirty="0"/>
          </a:p>
        </p:txBody>
      </p:sp>
      <p:sp>
        <p:nvSpPr>
          <p:cNvPr id="39" name="Text 13"/>
          <p:cNvSpPr/>
          <p:nvPr/>
        </p:nvSpPr>
        <p:spPr>
          <a:xfrm>
            <a:off x="8946569" y="1972484"/>
            <a:ext cx="222736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Optimizes video delivery with live and on-demand capabilities</a:t>
            </a:r>
            <a:endParaRPr lang="en-US" sz="1023" dirty="0"/>
          </a:p>
        </p:txBody>
      </p:sp>
      <p:sp>
        <p:nvSpPr>
          <p:cNvPr id="40" name="Text 14"/>
          <p:cNvSpPr/>
          <p:nvPr/>
        </p:nvSpPr>
        <p:spPr>
          <a:xfrm>
            <a:off x="6552156" y="2714938"/>
            <a:ext cx="44094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APIs</a:t>
            </a:r>
            <a:endParaRPr lang="en-US" sz="1169" dirty="0"/>
          </a:p>
        </p:txBody>
      </p:sp>
      <p:sp>
        <p:nvSpPr>
          <p:cNvPr id="41" name="Text 15"/>
          <p:cNvSpPr/>
          <p:nvPr/>
        </p:nvSpPr>
        <p:spPr>
          <a:xfrm>
            <a:off x="6347981" y="3011919"/>
            <a:ext cx="222736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API performance and security</a:t>
            </a:r>
            <a:endParaRPr lang="en-US" sz="1023" dirty="0"/>
          </a:p>
        </p:txBody>
      </p:sp>
      <p:sp>
        <p:nvSpPr>
          <p:cNvPr id="42" name="Text 16"/>
          <p:cNvSpPr/>
          <p:nvPr/>
        </p:nvSpPr>
        <p:spPr>
          <a:xfrm>
            <a:off x="9132183" y="2714938"/>
            <a:ext cx="123148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Mobile Apps</a:t>
            </a:r>
            <a:endParaRPr lang="en-US" sz="1169" dirty="0"/>
          </a:p>
        </p:txBody>
      </p:sp>
      <p:sp>
        <p:nvSpPr>
          <p:cNvPr id="43" name="Text 17"/>
          <p:cNvSpPr/>
          <p:nvPr/>
        </p:nvSpPr>
        <p:spPr>
          <a:xfrm>
            <a:off x="8946569" y="3011919"/>
            <a:ext cx="222736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Improves mobile application performance</a:t>
            </a:r>
            <a:endParaRPr lang="en-US" sz="1023" dirty="0"/>
          </a:p>
        </p:txBody>
      </p:sp>
      <p:sp>
        <p:nvSpPr>
          <p:cNvPr id="44" name="Text 18"/>
          <p:cNvSpPr/>
          <p:nvPr/>
        </p:nvSpPr>
        <p:spPr>
          <a:xfrm>
            <a:off x="6515033" y="3791496"/>
            <a:ext cx="605842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Unique AWS Advantages</a:t>
            </a:r>
            <a:endParaRPr lang="en-US" sz="1754" dirty="0"/>
          </a:p>
        </p:txBody>
      </p:sp>
      <p:sp>
        <p:nvSpPr>
          <p:cNvPr id="45" name="Text 19"/>
          <p:cNvSpPr/>
          <p:nvPr/>
        </p:nvSpPr>
        <p:spPr>
          <a:xfrm>
            <a:off x="6459349" y="4236968"/>
            <a:ext cx="482595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integration with AWS services (S3, EC2, Lambda, Shield, WAF)</a:t>
            </a:r>
            <a:endParaRPr lang="en-US" sz="1169" dirty="0"/>
          </a:p>
        </p:txBody>
      </p:sp>
      <p:sp>
        <p:nvSpPr>
          <p:cNvPr id="46" name="Text 20"/>
          <p:cNvSpPr/>
          <p:nvPr/>
        </p:nvSpPr>
        <p:spPr>
          <a:xfrm>
            <a:off x="6459349" y="4756686"/>
            <a:ext cx="455251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Pay-as-you-go pricing with transparent cost control</a:t>
            </a:r>
            <a:endParaRPr lang="en-US" sz="1169" dirty="0"/>
          </a:p>
        </p:txBody>
      </p:sp>
      <p:sp>
        <p:nvSpPr>
          <p:cNvPr id="47" name="Text 21"/>
          <p:cNvSpPr/>
          <p:nvPr/>
        </p:nvSpPr>
        <p:spPr>
          <a:xfrm>
            <a:off x="6459349" y="5053668"/>
            <a:ext cx="564061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ecosystem integration for comprehensive cloud solutions</a:t>
            </a:r>
            <a:endParaRPr lang="en-US" sz="1169" dirty="0"/>
          </a:p>
        </p:txBody>
      </p:sp>
      <p:sp>
        <p:nvSpPr>
          <p:cNvPr id="48" name="Text 22"/>
          <p:cNvSpPr/>
          <p:nvPr/>
        </p:nvSpPr>
        <p:spPr>
          <a:xfrm>
            <a:off x="445473" y="6427207"/>
            <a:ext cx="1736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49" name="Text 23"/>
          <p:cNvSpPr/>
          <p:nvPr/>
        </p:nvSpPr>
        <p:spPr>
          <a:xfrm>
            <a:off x="11005864" y="6427207"/>
            <a:ext cx="51351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1324</Words>
  <Application>Microsoft Office PowerPoint</Application>
  <PresentationFormat>Custom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ui-monospace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6</cp:revision>
  <dcterms:created xsi:type="dcterms:W3CDTF">2025-10-28T05:49:06Z</dcterms:created>
  <dcterms:modified xsi:type="dcterms:W3CDTF">2025-11-08T13:04:19Z</dcterms:modified>
</cp:coreProperties>
</file>