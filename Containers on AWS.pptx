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7"/>
  </p:notesMasterIdLst>
  <p:sldIdLst>
    <p:sldId id="256" r:id="rId2"/>
    <p:sldId id="257" r:id="rId3"/>
    <p:sldId id="258" r:id="rId4"/>
    <p:sldId id="259" r:id="rId5"/>
    <p:sldId id="303" r:id="rId6"/>
    <p:sldId id="304" r:id="rId7"/>
    <p:sldId id="305" r:id="rId8"/>
    <p:sldId id="306" r:id="rId9"/>
    <p:sldId id="307" r:id="rId10"/>
    <p:sldId id="308" r:id="rId11"/>
    <p:sldId id="309" r:id="rId12"/>
    <p:sldId id="310" r:id="rId13"/>
    <p:sldId id="311" r:id="rId14"/>
    <p:sldId id="266" r:id="rId15"/>
    <p:sldId id="267" r:id="rId16"/>
    <p:sldId id="268" r:id="rId17"/>
    <p:sldId id="269" r:id="rId18"/>
    <p:sldId id="270" r:id="rId19"/>
    <p:sldId id="271" r:id="rId20"/>
    <p:sldId id="272" r:id="rId21"/>
    <p:sldId id="260" r:id="rId22"/>
    <p:sldId id="261" r:id="rId23"/>
    <p:sldId id="262" r:id="rId24"/>
    <p:sldId id="263" r:id="rId25"/>
    <p:sldId id="264" r:id="rId26"/>
    <p:sldId id="276" r:id="rId27"/>
    <p:sldId id="277" r:id="rId28"/>
    <p:sldId id="278" r:id="rId29"/>
    <p:sldId id="279" r:id="rId30"/>
    <p:sldId id="280" r:id="rId31"/>
    <p:sldId id="281" r:id="rId32"/>
    <p:sldId id="282" r:id="rId33"/>
    <p:sldId id="283" r:id="rId34"/>
    <p:sldId id="284" r:id="rId35"/>
    <p:sldId id="285" r:id="rId36"/>
    <p:sldId id="265" r:id="rId37"/>
    <p:sldId id="273" r:id="rId38"/>
    <p:sldId id="274" r:id="rId39"/>
    <p:sldId id="275" r:id="rId40"/>
    <p:sldId id="312" r:id="rId41"/>
    <p:sldId id="313" r:id="rId42"/>
    <p:sldId id="314" r:id="rId43"/>
    <p:sldId id="315" r:id="rId44"/>
    <p:sldId id="316" r:id="rId45"/>
    <p:sldId id="317" r:id="rId46"/>
    <p:sldId id="318" r:id="rId47"/>
    <p:sldId id="286" r:id="rId48"/>
    <p:sldId id="287" r:id="rId49"/>
    <p:sldId id="288" r:id="rId50"/>
    <p:sldId id="289" r:id="rId51"/>
    <p:sldId id="290" r:id="rId52"/>
    <p:sldId id="291" r:id="rId53"/>
    <p:sldId id="292" r:id="rId54"/>
    <p:sldId id="293" r:id="rId55"/>
    <p:sldId id="319" r:id="rId56"/>
    <p:sldId id="320" r:id="rId57"/>
    <p:sldId id="321" r:id="rId58"/>
    <p:sldId id="322" r:id="rId59"/>
    <p:sldId id="323" r:id="rId60"/>
    <p:sldId id="324" r:id="rId61"/>
    <p:sldId id="294" r:id="rId62"/>
    <p:sldId id="295" r:id="rId63"/>
    <p:sldId id="296" r:id="rId64"/>
    <p:sldId id="297" r:id="rId65"/>
    <p:sldId id="298" r:id="rId66"/>
    <p:sldId id="299" r:id="rId67"/>
    <p:sldId id="300" r:id="rId68"/>
    <p:sldId id="301"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02" r:id="rId8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3484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A5055-622E-0AB7-15CE-FC6FB3273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BB987-820E-9AF3-F3F3-0F26F1342B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2C5CB-3A49-0B33-C65A-979681F454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405E9D-54F7-8E7B-C060-1CCC7B3332C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3765525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1FCE7-EEA2-E96E-35F2-DA133362D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AFC17-65AD-ECB9-01C2-2271AE654B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C9E43-B3F1-F9DD-6DA8-AD43CF3BE0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92AE5C-C256-F3D3-7E94-15AAC051241B}"/>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8701103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28AD2-95BC-A415-2541-C82BC343A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0ED49-2A78-8D5D-B972-3F3A05D0F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96B24-9642-8517-0037-D245EA55A6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9E6F4F-7D89-7163-2329-729E998F4E93}"/>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5695569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9FB7A-B480-ECCC-00AB-5373F7A7E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101B4-29F5-BBA4-F04A-9057C370F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B8D4D-EE4E-AD16-42C0-C905B9CA76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0F7174-10DF-3357-57FE-5AA42E9836CB}"/>
              </a:ext>
            </a:extLst>
          </p:cNvPr>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259690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1.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2.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s>
</file>

<file path=ppt/slides/_rels/slide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7.png"/><Relationship Id="rId18" Type="http://schemas.openxmlformats.org/officeDocument/2006/relationships/image" Target="../media/image8.png"/><Relationship Id="rId3" Type="http://schemas.openxmlformats.org/officeDocument/2006/relationships/image" Target="../media/image1.png"/><Relationship Id="rId21" Type="http://schemas.openxmlformats.org/officeDocument/2006/relationships/image" Target="../media/image44.png"/><Relationship Id="rId7" Type="http://schemas.openxmlformats.org/officeDocument/2006/relationships/image" Target="../media/image32.pn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notesSlide" Target="../notesSlides/notesSlide3.xml"/><Relationship Id="rId16" Type="http://schemas.openxmlformats.org/officeDocument/2006/relationships/image" Target="../media/image40.png"/><Relationship Id="rId20"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5.png"/><Relationship Id="rId5" Type="http://schemas.openxmlformats.org/officeDocument/2006/relationships/image" Target="../media/image30.png"/><Relationship Id="rId15" Type="http://schemas.openxmlformats.org/officeDocument/2006/relationships/image" Target="../media/image39.png"/><Relationship Id="rId23" Type="http://schemas.openxmlformats.org/officeDocument/2006/relationships/image" Target="../media/image46.png"/><Relationship Id="rId10" Type="http://schemas.openxmlformats.org/officeDocument/2006/relationships/image" Target="../media/image13.png"/><Relationship Id="rId19" Type="http://schemas.openxmlformats.org/officeDocument/2006/relationships/image" Target="../media/image42.png"/><Relationship Id="rId4" Type="http://schemas.openxmlformats.org/officeDocument/2006/relationships/image" Target="../media/image7.png"/><Relationship Id="rId9" Type="http://schemas.openxmlformats.org/officeDocument/2006/relationships/image" Target="../media/image34.png"/><Relationship Id="rId14" Type="http://schemas.openxmlformats.org/officeDocument/2006/relationships/image" Target="../media/image38.png"/><Relationship Id="rId22" Type="http://schemas.openxmlformats.org/officeDocument/2006/relationships/image" Target="../media/image45.png"/></Relationships>
</file>

<file path=ppt/slides/_rels/slide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26" Type="http://schemas.openxmlformats.org/officeDocument/2006/relationships/image" Target="../media/image67.png"/><Relationship Id="rId3" Type="http://schemas.openxmlformats.org/officeDocument/2006/relationships/image" Target="../media/image1.png"/><Relationship Id="rId21" Type="http://schemas.openxmlformats.org/officeDocument/2006/relationships/image" Target="../media/image62.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66.png"/><Relationship Id="rId2" Type="http://schemas.openxmlformats.org/officeDocument/2006/relationships/notesSlide" Target="../notesSlides/notesSlide4.xml"/><Relationship Id="rId16" Type="http://schemas.openxmlformats.org/officeDocument/2006/relationships/image" Target="../media/image57.png"/><Relationship Id="rId20"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52.png"/><Relationship Id="rId24" Type="http://schemas.openxmlformats.org/officeDocument/2006/relationships/image" Target="../media/image65.png"/><Relationship Id="rId5" Type="http://schemas.openxmlformats.org/officeDocument/2006/relationships/image" Target="../media/image47.png"/><Relationship Id="rId15" Type="http://schemas.openxmlformats.org/officeDocument/2006/relationships/image" Target="../media/image56.png"/><Relationship Id="rId23" Type="http://schemas.openxmlformats.org/officeDocument/2006/relationships/image" Target="../media/image64.png"/><Relationship Id="rId10" Type="http://schemas.openxmlformats.org/officeDocument/2006/relationships/image" Target="../media/image51.png"/><Relationship Id="rId19" Type="http://schemas.openxmlformats.org/officeDocument/2006/relationships/image" Target="../media/image60.png"/><Relationship Id="rId4" Type="http://schemas.openxmlformats.org/officeDocument/2006/relationships/image" Target="../media/image7.png"/><Relationship Id="rId9" Type="http://schemas.openxmlformats.org/officeDocument/2006/relationships/image" Target="../media/image50.png"/><Relationship Id="rId14" Type="http://schemas.openxmlformats.org/officeDocument/2006/relationships/image" Target="../media/image55.png"/><Relationship Id="rId22" Type="http://schemas.openxmlformats.org/officeDocument/2006/relationships/image" Target="../media/image63.png"/></Relationships>
</file>

<file path=ppt/slides/_rels/slide5.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png"/><Relationship Id="rId7" Type="http://schemas.openxmlformats.org/officeDocument/2006/relationships/image" Target="../media/image7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1.png"/><Relationship Id="rId7" Type="http://schemas.openxmlformats.org/officeDocument/2006/relationships/image" Target="../media/image74.png"/><Relationship Id="rId12" Type="http://schemas.openxmlformats.org/officeDocument/2006/relationships/image" Target="../media/image7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69.png"/><Relationship Id="rId10" Type="http://schemas.openxmlformats.org/officeDocument/2006/relationships/image" Target="../media/image77.png"/><Relationship Id="rId4" Type="http://schemas.openxmlformats.org/officeDocument/2006/relationships/image" Target="../media/image68.png"/><Relationship Id="rId9" Type="http://schemas.openxmlformats.org/officeDocument/2006/relationships/image" Target="../media/image76.png"/></Relationships>
</file>

<file path=ppt/slides/_rels/slide7.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image" Target="../media/image1.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69.png"/><Relationship Id="rId10" Type="http://schemas.openxmlformats.org/officeDocument/2006/relationships/image" Target="../media/image83.png"/><Relationship Id="rId4" Type="http://schemas.openxmlformats.org/officeDocument/2006/relationships/image" Target="../media/image68.png"/><Relationship Id="rId9" Type="http://schemas.openxmlformats.org/officeDocument/2006/relationships/image" Target="../media/image82.png"/></Relationships>
</file>

<file path=ppt/slides/_rels/slide8.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72.png"/><Relationship Id="rId3" Type="http://schemas.openxmlformats.org/officeDocument/2006/relationships/image" Target="../media/image1.png"/><Relationship Id="rId7" Type="http://schemas.openxmlformats.org/officeDocument/2006/relationships/image" Target="../media/image74.png"/><Relationship Id="rId12" Type="http://schemas.openxmlformats.org/officeDocument/2006/relationships/image" Target="../media/image9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7.png"/><Relationship Id="rId11" Type="http://schemas.openxmlformats.org/officeDocument/2006/relationships/image" Target="../media/image91.png"/><Relationship Id="rId5" Type="http://schemas.openxmlformats.org/officeDocument/2006/relationships/image" Target="../media/image69.png"/><Relationship Id="rId10" Type="http://schemas.openxmlformats.org/officeDocument/2006/relationships/image" Target="../media/image90.png"/><Relationship Id="rId4" Type="http://schemas.openxmlformats.org/officeDocument/2006/relationships/image" Target="../media/image68.png"/><Relationship Id="rId9" Type="http://schemas.openxmlformats.org/officeDocument/2006/relationships/image" Target="../media/image89.png"/></Relationships>
</file>

<file path=ppt/slides/_rels/slide9.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image" Target="../media/image1.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69.png"/><Relationship Id="rId10" Type="http://schemas.openxmlformats.org/officeDocument/2006/relationships/image" Target="../media/image97.png"/><Relationship Id="rId4" Type="http://schemas.openxmlformats.org/officeDocument/2006/relationships/image" Target="../media/image68.png"/><Relationship Id="rId9" Type="http://schemas.openxmlformats.org/officeDocument/2006/relationships/image" Target="../media/image96.png"/><Relationship Id="rId14" Type="http://schemas.openxmlformats.org/officeDocument/2006/relationships/image" Target="../media/image101.png"/></Relationships>
</file>

<file path=ppt/slides/_rels/slide10.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72.png"/><Relationship Id="rId3" Type="http://schemas.openxmlformats.org/officeDocument/2006/relationships/image" Target="../media/image1.png"/><Relationship Id="rId7" Type="http://schemas.openxmlformats.org/officeDocument/2006/relationships/image" Target="../media/image103.png"/><Relationship Id="rId12" Type="http://schemas.openxmlformats.org/officeDocument/2006/relationships/image" Target="../media/image10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69.png"/><Relationship Id="rId10" Type="http://schemas.openxmlformats.org/officeDocument/2006/relationships/image" Target="../media/image106.png"/><Relationship Id="rId4" Type="http://schemas.openxmlformats.org/officeDocument/2006/relationships/image" Target="../media/image68.png"/><Relationship Id="rId9" Type="http://schemas.openxmlformats.org/officeDocument/2006/relationships/image" Target="../media/image105.png"/></Relationships>
</file>

<file path=ppt/slides/_rels/slide11.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png"/><Relationship Id="rId7" Type="http://schemas.openxmlformats.org/officeDocument/2006/relationships/image" Target="../media/image110.png"/><Relationship Id="rId12" Type="http://schemas.openxmlformats.org/officeDocument/2006/relationships/image" Target="../media/image8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69.png"/><Relationship Id="rId10" Type="http://schemas.openxmlformats.org/officeDocument/2006/relationships/image" Target="../media/image113.png"/><Relationship Id="rId4" Type="http://schemas.openxmlformats.org/officeDocument/2006/relationships/image" Target="../media/image68.png"/><Relationship Id="rId9" Type="http://schemas.openxmlformats.org/officeDocument/2006/relationships/image" Target="../media/image112.png"/></Relationships>
</file>

<file path=ppt/slides/_rels/slide12.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image" Target="../media/image1.png"/><Relationship Id="rId7"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notesSlide" Target="../notesSlides/notesSlide12.xml"/><Relationship Id="rId16" Type="http://schemas.openxmlformats.org/officeDocument/2006/relationships/image" Target="../media/image125.png"/><Relationship Id="rId20"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69.png"/><Relationship Id="rId15" Type="http://schemas.openxmlformats.org/officeDocument/2006/relationships/image" Target="../media/image124.png"/><Relationship Id="rId10" Type="http://schemas.openxmlformats.org/officeDocument/2006/relationships/image" Target="../media/image119.png"/><Relationship Id="rId19" Type="http://schemas.openxmlformats.org/officeDocument/2006/relationships/image" Target="../media/image128.png"/><Relationship Id="rId4" Type="http://schemas.openxmlformats.org/officeDocument/2006/relationships/image" Target="../media/image68.png"/><Relationship Id="rId9" Type="http://schemas.openxmlformats.org/officeDocument/2006/relationships/image" Target="../media/image118.png"/><Relationship Id="rId14" Type="http://schemas.openxmlformats.org/officeDocument/2006/relationships/image" Target="../media/image123.png"/></Relationships>
</file>

<file path=ppt/slides/_rels/slide13.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3" Type="http://schemas.openxmlformats.org/officeDocument/2006/relationships/image" Target="../media/image1.png"/><Relationship Id="rId7" Type="http://schemas.openxmlformats.org/officeDocument/2006/relationships/image" Target="../media/image130.png"/><Relationship Id="rId12" Type="http://schemas.openxmlformats.org/officeDocument/2006/relationships/image" Target="../media/image13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69.png"/><Relationship Id="rId10" Type="http://schemas.openxmlformats.org/officeDocument/2006/relationships/image" Target="../media/image133.png"/><Relationship Id="rId4" Type="http://schemas.openxmlformats.org/officeDocument/2006/relationships/image" Target="../media/image68.png"/><Relationship Id="rId9" Type="http://schemas.openxmlformats.org/officeDocument/2006/relationships/image" Target="../media/image132.png"/><Relationship Id="rId14" Type="http://schemas.openxmlformats.org/officeDocument/2006/relationships/image" Target="../media/image101.png"/></Relationships>
</file>

<file path=ppt/slides/_rels/slide14.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png"/><Relationship Id="rId7" Type="http://schemas.openxmlformats.org/officeDocument/2006/relationships/image" Target="../media/image75.png"/><Relationship Id="rId12" Type="http://schemas.openxmlformats.org/officeDocument/2006/relationships/image" Target="../media/image14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7.png"/><Relationship Id="rId11" Type="http://schemas.openxmlformats.org/officeDocument/2006/relationships/image" Target="../media/image141.png"/><Relationship Id="rId5" Type="http://schemas.openxmlformats.org/officeDocument/2006/relationships/image" Target="../media/image69.png"/><Relationship Id="rId15" Type="http://schemas.openxmlformats.org/officeDocument/2006/relationships/image" Target="../media/image86.png"/><Relationship Id="rId10" Type="http://schemas.openxmlformats.org/officeDocument/2006/relationships/image" Target="../media/image140.png"/><Relationship Id="rId4" Type="http://schemas.openxmlformats.org/officeDocument/2006/relationships/image" Target="../media/image68.png"/><Relationship Id="rId9" Type="http://schemas.openxmlformats.org/officeDocument/2006/relationships/image" Target="../media/image139.png"/><Relationship Id="rId14" Type="http://schemas.openxmlformats.org/officeDocument/2006/relationships/image" Target="../media/image144.png"/></Relationships>
</file>

<file path=ppt/slides/_rels/slide15.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image" Target="../media/image1.png"/><Relationship Id="rId7" Type="http://schemas.openxmlformats.org/officeDocument/2006/relationships/image" Target="../media/image14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45.png"/><Relationship Id="rId11" Type="http://schemas.openxmlformats.org/officeDocument/2006/relationships/image" Target="../media/image86.png"/><Relationship Id="rId5" Type="http://schemas.openxmlformats.org/officeDocument/2006/relationships/image" Target="../media/image69.png"/><Relationship Id="rId10" Type="http://schemas.openxmlformats.org/officeDocument/2006/relationships/image" Target="../media/image149.png"/><Relationship Id="rId4" Type="http://schemas.openxmlformats.org/officeDocument/2006/relationships/image" Target="../media/image68.png"/><Relationship Id="rId9" Type="http://schemas.openxmlformats.org/officeDocument/2006/relationships/image" Target="../media/image148.png"/></Relationships>
</file>

<file path=ppt/slides/_rels/slide16.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png"/><Relationship Id="rId7" Type="http://schemas.openxmlformats.org/officeDocument/2006/relationships/image" Target="../media/image152.png"/><Relationship Id="rId12" Type="http://schemas.openxmlformats.org/officeDocument/2006/relationships/image" Target="../media/image15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1.png"/><Relationship Id="rId11" Type="http://schemas.openxmlformats.org/officeDocument/2006/relationships/image" Target="../media/image156.png"/><Relationship Id="rId5" Type="http://schemas.openxmlformats.org/officeDocument/2006/relationships/image" Target="../media/image150.png"/><Relationship Id="rId10" Type="http://schemas.openxmlformats.org/officeDocument/2006/relationships/image" Target="../media/image155.png"/><Relationship Id="rId4" Type="http://schemas.openxmlformats.org/officeDocument/2006/relationships/image" Target="../media/image68.png"/><Relationship Id="rId9" Type="http://schemas.openxmlformats.org/officeDocument/2006/relationships/image" Target="../media/image154.png"/></Relationships>
</file>

<file path=ppt/slides/_rels/slide17.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png"/><Relationship Id="rId7"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58.png"/><Relationship Id="rId5" Type="http://schemas.openxmlformats.org/officeDocument/2006/relationships/image" Target="../media/image69.png"/><Relationship Id="rId10" Type="http://schemas.openxmlformats.org/officeDocument/2006/relationships/image" Target="../media/image86.png"/><Relationship Id="rId4" Type="http://schemas.openxmlformats.org/officeDocument/2006/relationships/image" Target="../media/image68.png"/><Relationship Id="rId9" Type="http://schemas.openxmlformats.org/officeDocument/2006/relationships/image" Target="../media/image149.png"/></Relationships>
</file>

<file path=ppt/slides/_rels/slide18.xml.rels><?xml version="1.0" encoding="UTF-8" standalone="yes"?>
<Relationships xmlns="http://schemas.openxmlformats.org/package/2006/relationships"><Relationship Id="rId8" Type="http://schemas.openxmlformats.org/officeDocument/2006/relationships/image" Target="../media/image163.png"/><Relationship Id="rId13" Type="http://schemas.openxmlformats.org/officeDocument/2006/relationships/image" Target="../media/image168.png"/><Relationship Id="rId3" Type="http://schemas.openxmlformats.org/officeDocument/2006/relationships/image" Target="../media/image1.png"/><Relationship Id="rId7" Type="http://schemas.openxmlformats.org/officeDocument/2006/relationships/image" Target="../media/image74.png"/><Relationship Id="rId12" Type="http://schemas.openxmlformats.org/officeDocument/2006/relationships/image" Target="../media/image16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62.png"/><Relationship Id="rId11" Type="http://schemas.openxmlformats.org/officeDocument/2006/relationships/image" Target="../media/image166.png"/><Relationship Id="rId5" Type="http://schemas.openxmlformats.org/officeDocument/2006/relationships/image" Target="../media/image161.png"/><Relationship Id="rId10" Type="http://schemas.openxmlformats.org/officeDocument/2006/relationships/image" Target="../media/image165.png"/><Relationship Id="rId4" Type="http://schemas.openxmlformats.org/officeDocument/2006/relationships/image" Target="../media/image68.png"/><Relationship Id="rId9" Type="http://schemas.openxmlformats.org/officeDocument/2006/relationships/image" Target="../media/image164.png"/><Relationship Id="rId14" Type="http://schemas.openxmlformats.org/officeDocument/2006/relationships/image" Target="../media/image86.png"/></Relationships>
</file>

<file path=ppt/slides/_rels/slide19.xml.rels><?xml version="1.0" encoding="UTF-8" standalone="yes"?>
<Relationships xmlns="http://schemas.openxmlformats.org/package/2006/relationships"><Relationship Id="rId8" Type="http://schemas.openxmlformats.org/officeDocument/2006/relationships/image" Target="../media/image171.png"/><Relationship Id="rId3" Type="http://schemas.openxmlformats.org/officeDocument/2006/relationships/image" Target="../media/image1.png"/><Relationship Id="rId7" Type="http://schemas.openxmlformats.org/officeDocument/2006/relationships/image" Target="../media/image17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69.png"/><Relationship Id="rId5" Type="http://schemas.openxmlformats.org/officeDocument/2006/relationships/image" Target="../media/image69.png"/><Relationship Id="rId10" Type="http://schemas.openxmlformats.org/officeDocument/2006/relationships/image" Target="../media/image172.png"/><Relationship Id="rId4" Type="http://schemas.openxmlformats.org/officeDocument/2006/relationships/image" Target="../media/image68.png"/><Relationship Id="rId9" Type="http://schemas.openxmlformats.org/officeDocument/2006/relationships/image" Target="../media/image149.png"/></Relationships>
</file>

<file path=ppt/slides/_rels/slide20.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image" Target="../media/image179.png"/><Relationship Id="rId3" Type="http://schemas.openxmlformats.org/officeDocument/2006/relationships/image" Target="../media/image173.png"/><Relationship Id="rId7" Type="http://schemas.openxmlformats.org/officeDocument/2006/relationships/image" Target="../media/image116.png"/><Relationship Id="rId12" Type="http://schemas.openxmlformats.org/officeDocument/2006/relationships/image" Target="../media/image178.png"/><Relationship Id="rId2" Type="http://schemas.openxmlformats.org/officeDocument/2006/relationships/notesSlide" Target="../notesSlides/notesSlide20.xml"/><Relationship Id="rId16" Type="http://schemas.openxmlformats.org/officeDocument/2006/relationships/image" Target="../media/image86.png"/><Relationship Id="rId1" Type="http://schemas.openxmlformats.org/officeDocument/2006/relationships/slideLayout" Target="../slideLayouts/slideLayout1.xml"/><Relationship Id="rId6" Type="http://schemas.openxmlformats.org/officeDocument/2006/relationships/image" Target="../media/image174.png"/><Relationship Id="rId11" Type="http://schemas.openxmlformats.org/officeDocument/2006/relationships/image" Target="../media/image177.png"/><Relationship Id="rId5" Type="http://schemas.openxmlformats.org/officeDocument/2006/relationships/image" Target="../media/image69.png"/><Relationship Id="rId15" Type="http://schemas.openxmlformats.org/officeDocument/2006/relationships/image" Target="../media/image181.png"/><Relationship Id="rId10" Type="http://schemas.openxmlformats.org/officeDocument/2006/relationships/image" Target="../media/image92.png"/><Relationship Id="rId4" Type="http://schemas.openxmlformats.org/officeDocument/2006/relationships/image" Target="../media/image68.png"/><Relationship Id="rId9" Type="http://schemas.openxmlformats.org/officeDocument/2006/relationships/image" Target="../media/image176.png"/><Relationship Id="rId14" Type="http://schemas.openxmlformats.org/officeDocument/2006/relationships/image" Target="../media/image180.png"/></Relationships>
</file>

<file path=ppt/slides/_rels/slide21.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90.png"/><Relationship Id="rId18" Type="http://schemas.openxmlformats.org/officeDocument/2006/relationships/image" Target="../media/image195.png"/><Relationship Id="rId3" Type="http://schemas.openxmlformats.org/officeDocument/2006/relationships/image" Target="../media/image1.png"/><Relationship Id="rId7" Type="http://schemas.openxmlformats.org/officeDocument/2006/relationships/image" Target="../media/image184.png"/><Relationship Id="rId12" Type="http://schemas.openxmlformats.org/officeDocument/2006/relationships/image" Target="../media/image189.png"/><Relationship Id="rId17" Type="http://schemas.openxmlformats.org/officeDocument/2006/relationships/image" Target="../media/image194.png"/><Relationship Id="rId2" Type="http://schemas.openxmlformats.org/officeDocument/2006/relationships/notesSlide" Target="../notesSlides/notesSlide21.xml"/><Relationship Id="rId16" Type="http://schemas.openxmlformats.org/officeDocument/2006/relationships/image" Target="../media/image193.png"/><Relationship Id="rId1" Type="http://schemas.openxmlformats.org/officeDocument/2006/relationships/slideLayout" Target="../slideLayouts/slideLayout1.xml"/><Relationship Id="rId6" Type="http://schemas.openxmlformats.org/officeDocument/2006/relationships/image" Target="../media/image183.png"/><Relationship Id="rId11" Type="http://schemas.openxmlformats.org/officeDocument/2006/relationships/image" Target="../media/image188.png"/><Relationship Id="rId5" Type="http://schemas.openxmlformats.org/officeDocument/2006/relationships/image" Target="../media/image182.png"/><Relationship Id="rId15" Type="http://schemas.openxmlformats.org/officeDocument/2006/relationships/image" Target="../media/image192.png"/><Relationship Id="rId10" Type="http://schemas.openxmlformats.org/officeDocument/2006/relationships/image" Target="../media/image187.png"/><Relationship Id="rId19" Type="http://schemas.openxmlformats.org/officeDocument/2006/relationships/image" Target="../media/image196.png"/><Relationship Id="rId4" Type="http://schemas.openxmlformats.org/officeDocument/2006/relationships/image" Target="../media/image7.png"/><Relationship Id="rId9" Type="http://schemas.openxmlformats.org/officeDocument/2006/relationships/image" Target="../media/image186.png"/><Relationship Id="rId14" Type="http://schemas.openxmlformats.org/officeDocument/2006/relationships/image" Target="../media/image191.png"/></Relationships>
</file>

<file path=ppt/slides/_rels/slide22.xml.rels><?xml version="1.0" encoding="UTF-8" standalone="yes"?>
<Relationships xmlns="http://schemas.openxmlformats.org/package/2006/relationships"><Relationship Id="rId8" Type="http://schemas.openxmlformats.org/officeDocument/2006/relationships/image" Target="../media/image201.png"/><Relationship Id="rId13" Type="http://schemas.openxmlformats.org/officeDocument/2006/relationships/image" Target="../media/image206.png"/><Relationship Id="rId18" Type="http://schemas.openxmlformats.org/officeDocument/2006/relationships/image" Target="../media/image211.png"/><Relationship Id="rId26" Type="http://schemas.openxmlformats.org/officeDocument/2006/relationships/image" Target="../media/image219.png"/><Relationship Id="rId3" Type="http://schemas.openxmlformats.org/officeDocument/2006/relationships/image" Target="../media/image197.png"/><Relationship Id="rId21" Type="http://schemas.openxmlformats.org/officeDocument/2006/relationships/image" Target="../media/image214.png"/><Relationship Id="rId7" Type="http://schemas.openxmlformats.org/officeDocument/2006/relationships/image" Target="../media/image200.png"/><Relationship Id="rId12" Type="http://schemas.openxmlformats.org/officeDocument/2006/relationships/image" Target="../media/image205.png"/><Relationship Id="rId17" Type="http://schemas.openxmlformats.org/officeDocument/2006/relationships/image" Target="../media/image210.png"/><Relationship Id="rId25" Type="http://schemas.openxmlformats.org/officeDocument/2006/relationships/image" Target="../media/image218.png"/><Relationship Id="rId2" Type="http://schemas.openxmlformats.org/officeDocument/2006/relationships/notesSlide" Target="../notesSlides/notesSlide22.xml"/><Relationship Id="rId16" Type="http://schemas.openxmlformats.org/officeDocument/2006/relationships/image" Target="../media/image209.png"/><Relationship Id="rId20" Type="http://schemas.openxmlformats.org/officeDocument/2006/relationships/image" Target="../media/image213.png"/><Relationship Id="rId29" Type="http://schemas.openxmlformats.org/officeDocument/2006/relationships/image" Target="../media/image222.png"/><Relationship Id="rId1" Type="http://schemas.openxmlformats.org/officeDocument/2006/relationships/slideLayout" Target="../slideLayouts/slideLayout1.xml"/><Relationship Id="rId6" Type="http://schemas.openxmlformats.org/officeDocument/2006/relationships/image" Target="../media/image199.png"/><Relationship Id="rId11" Type="http://schemas.openxmlformats.org/officeDocument/2006/relationships/image" Target="../media/image204.png"/><Relationship Id="rId24" Type="http://schemas.openxmlformats.org/officeDocument/2006/relationships/image" Target="../media/image217.png"/><Relationship Id="rId5" Type="http://schemas.openxmlformats.org/officeDocument/2006/relationships/image" Target="../media/image198.png"/><Relationship Id="rId15" Type="http://schemas.openxmlformats.org/officeDocument/2006/relationships/image" Target="../media/image208.png"/><Relationship Id="rId23" Type="http://schemas.openxmlformats.org/officeDocument/2006/relationships/image" Target="../media/image216.png"/><Relationship Id="rId28" Type="http://schemas.openxmlformats.org/officeDocument/2006/relationships/image" Target="../media/image221.png"/><Relationship Id="rId10" Type="http://schemas.openxmlformats.org/officeDocument/2006/relationships/image" Target="../media/image203.png"/><Relationship Id="rId19" Type="http://schemas.openxmlformats.org/officeDocument/2006/relationships/image" Target="../media/image212.png"/><Relationship Id="rId31" Type="http://schemas.openxmlformats.org/officeDocument/2006/relationships/image" Target="../media/image49.png"/><Relationship Id="rId4" Type="http://schemas.openxmlformats.org/officeDocument/2006/relationships/image" Target="../media/image7.png"/><Relationship Id="rId9" Type="http://schemas.openxmlformats.org/officeDocument/2006/relationships/image" Target="../media/image202.png"/><Relationship Id="rId14" Type="http://schemas.openxmlformats.org/officeDocument/2006/relationships/image" Target="../media/image207.png"/><Relationship Id="rId22" Type="http://schemas.openxmlformats.org/officeDocument/2006/relationships/image" Target="../media/image215.png"/><Relationship Id="rId27" Type="http://schemas.openxmlformats.org/officeDocument/2006/relationships/image" Target="../media/image220.png"/><Relationship Id="rId30" Type="http://schemas.openxmlformats.org/officeDocument/2006/relationships/image" Target="../media/image223.png"/></Relationships>
</file>

<file path=ppt/slides/_rels/slide23.xml.rels><?xml version="1.0" encoding="UTF-8" standalone="yes"?>
<Relationships xmlns="http://schemas.openxmlformats.org/package/2006/relationships"><Relationship Id="rId8" Type="http://schemas.openxmlformats.org/officeDocument/2006/relationships/image" Target="../media/image227.png"/><Relationship Id="rId13" Type="http://schemas.openxmlformats.org/officeDocument/2006/relationships/image" Target="../media/image232.png"/><Relationship Id="rId3" Type="http://schemas.openxmlformats.org/officeDocument/2006/relationships/image" Target="../media/image1.png"/><Relationship Id="rId7" Type="http://schemas.openxmlformats.org/officeDocument/2006/relationships/image" Target="../media/image226.png"/><Relationship Id="rId12" Type="http://schemas.openxmlformats.org/officeDocument/2006/relationships/image" Target="../media/image231.png"/><Relationship Id="rId17" Type="http://schemas.openxmlformats.org/officeDocument/2006/relationships/image" Target="../media/image236.png"/><Relationship Id="rId2" Type="http://schemas.openxmlformats.org/officeDocument/2006/relationships/notesSlide" Target="../notesSlides/notesSlide23.xml"/><Relationship Id="rId16" Type="http://schemas.openxmlformats.org/officeDocument/2006/relationships/image" Target="../media/image235.png"/><Relationship Id="rId1" Type="http://schemas.openxmlformats.org/officeDocument/2006/relationships/slideLayout" Target="../slideLayouts/slideLayout1.xml"/><Relationship Id="rId6" Type="http://schemas.openxmlformats.org/officeDocument/2006/relationships/image" Target="../media/image225.png"/><Relationship Id="rId11" Type="http://schemas.openxmlformats.org/officeDocument/2006/relationships/image" Target="../media/image230.png"/><Relationship Id="rId5" Type="http://schemas.openxmlformats.org/officeDocument/2006/relationships/image" Target="../media/image224.png"/><Relationship Id="rId15" Type="http://schemas.openxmlformats.org/officeDocument/2006/relationships/image" Target="../media/image234.png"/><Relationship Id="rId10" Type="http://schemas.openxmlformats.org/officeDocument/2006/relationships/image" Target="../media/image229.png"/><Relationship Id="rId4" Type="http://schemas.openxmlformats.org/officeDocument/2006/relationships/image" Target="../media/image7.png"/><Relationship Id="rId9" Type="http://schemas.openxmlformats.org/officeDocument/2006/relationships/image" Target="../media/image228.png"/><Relationship Id="rId14" Type="http://schemas.openxmlformats.org/officeDocument/2006/relationships/image" Target="../media/image233.png"/></Relationships>
</file>

<file path=ppt/slides/_rels/slide24.xml.rels><?xml version="1.0" encoding="UTF-8" standalone="yes"?>
<Relationships xmlns="http://schemas.openxmlformats.org/package/2006/relationships"><Relationship Id="rId8" Type="http://schemas.openxmlformats.org/officeDocument/2006/relationships/image" Target="../media/image241.png"/><Relationship Id="rId13" Type="http://schemas.openxmlformats.org/officeDocument/2006/relationships/image" Target="../media/image246.png"/><Relationship Id="rId18" Type="http://schemas.openxmlformats.org/officeDocument/2006/relationships/image" Target="../media/image251.png"/><Relationship Id="rId3" Type="http://schemas.openxmlformats.org/officeDocument/2006/relationships/image" Target="../media/image237.png"/><Relationship Id="rId21" Type="http://schemas.openxmlformats.org/officeDocument/2006/relationships/image" Target="../media/image254.png"/><Relationship Id="rId7" Type="http://schemas.openxmlformats.org/officeDocument/2006/relationships/image" Target="../media/image240.png"/><Relationship Id="rId12" Type="http://schemas.openxmlformats.org/officeDocument/2006/relationships/image" Target="../media/image245.png"/><Relationship Id="rId17" Type="http://schemas.openxmlformats.org/officeDocument/2006/relationships/image" Target="../media/image250.png"/><Relationship Id="rId2" Type="http://schemas.openxmlformats.org/officeDocument/2006/relationships/notesSlide" Target="../notesSlides/notesSlide24.xml"/><Relationship Id="rId16" Type="http://schemas.openxmlformats.org/officeDocument/2006/relationships/image" Target="../media/image249.png"/><Relationship Id="rId20" Type="http://schemas.openxmlformats.org/officeDocument/2006/relationships/image" Target="../media/image253.png"/><Relationship Id="rId1" Type="http://schemas.openxmlformats.org/officeDocument/2006/relationships/slideLayout" Target="../slideLayouts/slideLayout1.xml"/><Relationship Id="rId6" Type="http://schemas.openxmlformats.org/officeDocument/2006/relationships/image" Target="../media/image239.png"/><Relationship Id="rId11" Type="http://schemas.openxmlformats.org/officeDocument/2006/relationships/image" Target="../media/image244.png"/><Relationship Id="rId24" Type="http://schemas.openxmlformats.org/officeDocument/2006/relationships/image" Target="../media/image257.png"/><Relationship Id="rId5" Type="http://schemas.openxmlformats.org/officeDocument/2006/relationships/image" Target="../media/image238.png"/><Relationship Id="rId15" Type="http://schemas.openxmlformats.org/officeDocument/2006/relationships/image" Target="../media/image248.png"/><Relationship Id="rId23" Type="http://schemas.openxmlformats.org/officeDocument/2006/relationships/image" Target="../media/image256.png"/><Relationship Id="rId10" Type="http://schemas.openxmlformats.org/officeDocument/2006/relationships/image" Target="../media/image243.png"/><Relationship Id="rId19" Type="http://schemas.openxmlformats.org/officeDocument/2006/relationships/image" Target="../media/image252.png"/><Relationship Id="rId4" Type="http://schemas.openxmlformats.org/officeDocument/2006/relationships/image" Target="../media/image7.png"/><Relationship Id="rId9" Type="http://schemas.openxmlformats.org/officeDocument/2006/relationships/image" Target="../media/image242.png"/><Relationship Id="rId14" Type="http://schemas.openxmlformats.org/officeDocument/2006/relationships/image" Target="../media/image247.png"/><Relationship Id="rId22" Type="http://schemas.openxmlformats.org/officeDocument/2006/relationships/image" Target="../media/image255.png"/></Relationships>
</file>

<file path=ppt/slides/_rels/slide25.xml.rels><?xml version="1.0" encoding="UTF-8" standalone="yes"?>
<Relationships xmlns="http://schemas.openxmlformats.org/package/2006/relationships"><Relationship Id="rId8" Type="http://schemas.openxmlformats.org/officeDocument/2006/relationships/image" Target="../media/image262.png"/><Relationship Id="rId13" Type="http://schemas.openxmlformats.org/officeDocument/2006/relationships/image" Target="../media/image267.png"/><Relationship Id="rId18" Type="http://schemas.openxmlformats.org/officeDocument/2006/relationships/image" Target="../media/image272.png"/><Relationship Id="rId26" Type="http://schemas.openxmlformats.org/officeDocument/2006/relationships/image" Target="../media/image280.png"/><Relationship Id="rId3" Type="http://schemas.openxmlformats.org/officeDocument/2006/relationships/image" Target="../media/image258.png"/><Relationship Id="rId21" Type="http://schemas.openxmlformats.org/officeDocument/2006/relationships/image" Target="../media/image275.png"/><Relationship Id="rId7" Type="http://schemas.openxmlformats.org/officeDocument/2006/relationships/image" Target="../media/image261.png"/><Relationship Id="rId12" Type="http://schemas.openxmlformats.org/officeDocument/2006/relationships/image" Target="../media/image266.png"/><Relationship Id="rId17" Type="http://schemas.openxmlformats.org/officeDocument/2006/relationships/image" Target="../media/image271.png"/><Relationship Id="rId25" Type="http://schemas.openxmlformats.org/officeDocument/2006/relationships/image" Target="../media/image279.png"/><Relationship Id="rId2" Type="http://schemas.openxmlformats.org/officeDocument/2006/relationships/notesSlide" Target="../notesSlides/notesSlide25.xml"/><Relationship Id="rId16" Type="http://schemas.openxmlformats.org/officeDocument/2006/relationships/image" Target="../media/image270.png"/><Relationship Id="rId20" Type="http://schemas.openxmlformats.org/officeDocument/2006/relationships/image" Target="../media/image274.png"/><Relationship Id="rId29" Type="http://schemas.openxmlformats.org/officeDocument/2006/relationships/image" Target="../media/image283.png"/><Relationship Id="rId1" Type="http://schemas.openxmlformats.org/officeDocument/2006/relationships/slideLayout" Target="../slideLayouts/slideLayout1.xml"/><Relationship Id="rId6" Type="http://schemas.openxmlformats.org/officeDocument/2006/relationships/image" Target="../media/image260.png"/><Relationship Id="rId11" Type="http://schemas.openxmlformats.org/officeDocument/2006/relationships/image" Target="../media/image265.png"/><Relationship Id="rId24" Type="http://schemas.openxmlformats.org/officeDocument/2006/relationships/image" Target="../media/image278.png"/><Relationship Id="rId5" Type="http://schemas.openxmlformats.org/officeDocument/2006/relationships/image" Target="../media/image259.png"/><Relationship Id="rId15" Type="http://schemas.openxmlformats.org/officeDocument/2006/relationships/image" Target="../media/image269.png"/><Relationship Id="rId23" Type="http://schemas.openxmlformats.org/officeDocument/2006/relationships/image" Target="../media/image277.png"/><Relationship Id="rId28" Type="http://schemas.openxmlformats.org/officeDocument/2006/relationships/image" Target="../media/image282.png"/><Relationship Id="rId10" Type="http://schemas.openxmlformats.org/officeDocument/2006/relationships/image" Target="../media/image264.png"/><Relationship Id="rId19" Type="http://schemas.openxmlformats.org/officeDocument/2006/relationships/image" Target="../media/image273.png"/><Relationship Id="rId4" Type="http://schemas.openxmlformats.org/officeDocument/2006/relationships/image" Target="../media/image7.png"/><Relationship Id="rId9" Type="http://schemas.openxmlformats.org/officeDocument/2006/relationships/image" Target="../media/image263.png"/><Relationship Id="rId14" Type="http://schemas.openxmlformats.org/officeDocument/2006/relationships/image" Target="../media/image268.png"/><Relationship Id="rId22" Type="http://schemas.openxmlformats.org/officeDocument/2006/relationships/image" Target="../media/image276.png"/><Relationship Id="rId27" Type="http://schemas.openxmlformats.org/officeDocument/2006/relationships/image" Target="../media/image281.png"/></Relationships>
</file>

<file path=ppt/slides/_rels/slide26.xml.rels><?xml version="1.0" encoding="UTF-8" standalone="yes"?>
<Relationships xmlns="http://schemas.openxmlformats.org/package/2006/relationships"><Relationship Id="rId8" Type="http://schemas.openxmlformats.org/officeDocument/2006/relationships/image" Target="../media/image289.png"/><Relationship Id="rId13" Type="http://schemas.openxmlformats.org/officeDocument/2006/relationships/image" Target="../media/image294.png"/><Relationship Id="rId18" Type="http://schemas.openxmlformats.org/officeDocument/2006/relationships/image" Target="../media/image299.png"/><Relationship Id="rId3" Type="http://schemas.openxmlformats.org/officeDocument/2006/relationships/image" Target="../media/image284.png"/><Relationship Id="rId21" Type="http://schemas.openxmlformats.org/officeDocument/2006/relationships/image" Target="../media/image302.png"/><Relationship Id="rId7" Type="http://schemas.openxmlformats.org/officeDocument/2006/relationships/image" Target="../media/image288.png"/><Relationship Id="rId12" Type="http://schemas.openxmlformats.org/officeDocument/2006/relationships/image" Target="../media/image293.png"/><Relationship Id="rId17" Type="http://schemas.openxmlformats.org/officeDocument/2006/relationships/image" Target="../media/image298.png"/><Relationship Id="rId2" Type="http://schemas.openxmlformats.org/officeDocument/2006/relationships/notesSlide" Target="../notesSlides/notesSlide26.xml"/><Relationship Id="rId16" Type="http://schemas.openxmlformats.org/officeDocument/2006/relationships/image" Target="../media/image297.png"/><Relationship Id="rId20" Type="http://schemas.openxmlformats.org/officeDocument/2006/relationships/image" Target="../media/image301.png"/><Relationship Id="rId1" Type="http://schemas.openxmlformats.org/officeDocument/2006/relationships/slideLayout" Target="../slideLayouts/slideLayout1.xml"/><Relationship Id="rId6" Type="http://schemas.openxmlformats.org/officeDocument/2006/relationships/image" Target="../media/image287.png"/><Relationship Id="rId11" Type="http://schemas.openxmlformats.org/officeDocument/2006/relationships/image" Target="../media/image292.png"/><Relationship Id="rId5" Type="http://schemas.openxmlformats.org/officeDocument/2006/relationships/image" Target="../media/image286.png"/><Relationship Id="rId15" Type="http://schemas.openxmlformats.org/officeDocument/2006/relationships/image" Target="../media/image296.png"/><Relationship Id="rId10" Type="http://schemas.openxmlformats.org/officeDocument/2006/relationships/image" Target="../media/image291.png"/><Relationship Id="rId19" Type="http://schemas.openxmlformats.org/officeDocument/2006/relationships/image" Target="../media/image300.png"/><Relationship Id="rId4" Type="http://schemas.openxmlformats.org/officeDocument/2006/relationships/image" Target="../media/image285.png"/><Relationship Id="rId9" Type="http://schemas.openxmlformats.org/officeDocument/2006/relationships/image" Target="../media/image290.png"/><Relationship Id="rId14" Type="http://schemas.openxmlformats.org/officeDocument/2006/relationships/image" Target="../media/image295.png"/></Relationships>
</file>

<file path=ppt/slides/_rels/slide27.xml.rels><?xml version="1.0" encoding="UTF-8" standalone="yes"?>
<Relationships xmlns="http://schemas.openxmlformats.org/package/2006/relationships"><Relationship Id="rId8" Type="http://schemas.openxmlformats.org/officeDocument/2006/relationships/image" Target="../media/image307.png"/><Relationship Id="rId3" Type="http://schemas.openxmlformats.org/officeDocument/2006/relationships/image" Target="../media/image1.png"/><Relationship Id="rId7" Type="http://schemas.openxmlformats.org/officeDocument/2006/relationships/image" Target="../media/image306.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05.png"/><Relationship Id="rId5" Type="http://schemas.openxmlformats.org/officeDocument/2006/relationships/image" Target="../media/image304.png"/><Relationship Id="rId10" Type="http://schemas.openxmlformats.org/officeDocument/2006/relationships/image" Target="../media/image309.png"/><Relationship Id="rId4" Type="http://schemas.openxmlformats.org/officeDocument/2006/relationships/image" Target="../media/image303.png"/><Relationship Id="rId9" Type="http://schemas.openxmlformats.org/officeDocument/2006/relationships/image" Target="../media/image308.png"/></Relationships>
</file>

<file path=ppt/slides/_rels/slide28.xml.rels><?xml version="1.0" encoding="UTF-8" standalone="yes"?>
<Relationships xmlns="http://schemas.openxmlformats.org/package/2006/relationships"><Relationship Id="rId8" Type="http://schemas.openxmlformats.org/officeDocument/2006/relationships/image" Target="../media/image314.png"/><Relationship Id="rId13" Type="http://schemas.openxmlformats.org/officeDocument/2006/relationships/image" Target="../media/image319.png"/><Relationship Id="rId3" Type="http://schemas.openxmlformats.org/officeDocument/2006/relationships/image" Target="../media/image1.png"/><Relationship Id="rId7" Type="http://schemas.openxmlformats.org/officeDocument/2006/relationships/image" Target="../media/image313.png"/><Relationship Id="rId12" Type="http://schemas.openxmlformats.org/officeDocument/2006/relationships/image" Target="../media/image31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12.png"/><Relationship Id="rId11" Type="http://schemas.openxmlformats.org/officeDocument/2006/relationships/image" Target="../media/image317.png"/><Relationship Id="rId5" Type="http://schemas.openxmlformats.org/officeDocument/2006/relationships/image" Target="../media/image311.png"/><Relationship Id="rId10" Type="http://schemas.openxmlformats.org/officeDocument/2006/relationships/image" Target="../media/image316.png"/><Relationship Id="rId4" Type="http://schemas.openxmlformats.org/officeDocument/2006/relationships/image" Target="../media/image310.png"/><Relationship Id="rId9" Type="http://schemas.openxmlformats.org/officeDocument/2006/relationships/image" Target="../media/image315.png"/></Relationships>
</file>

<file path=ppt/slides/_rels/slide29.xml.rels><?xml version="1.0" encoding="UTF-8" standalone="yes"?>
<Relationships xmlns="http://schemas.openxmlformats.org/package/2006/relationships"><Relationship Id="rId8" Type="http://schemas.openxmlformats.org/officeDocument/2006/relationships/image" Target="../media/image323.png"/><Relationship Id="rId13" Type="http://schemas.openxmlformats.org/officeDocument/2006/relationships/image" Target="../media/image328.png"/><Relationship Id="rId3" Type="http://schemas.openxmlformats.org/officeDocument/2006/relationships/image" Target="../media/image1.png"/><Relationship Id="rId7" Type="http://schemas.openxmlformats.org/officeDocument/2006/relationships/image" Target="../media/image322.png"/><Relationship Id="rId12" Type="http://schemas.openxmlformats.org/officeDocument/2006/relationships/image" Target="../media/image327.png"/><Relationship Id="rId17" Type="http://schemas.openxmlformats.org/officeDocument/2006/relationships/image" Target="../media/image332.png"/><Relationship Id="rId2" Type="http://schemas.openxmlformats.org/officeDocument/2006/relationships/notesSlide" Target="../notesSlides/notesSlide29.xml"/><Relationship Id="rId16" Type="http://schemas.openxmlformats.org/officeDocument/2006/relationships/image" Target="../media/image331.png"/><Relationship Id="rId1" Type="http://schemas.openxmlformats.org/officeDocument/2006/relationships/slideLayout" Target="../slideLayouts/slideLayout1.xml"/><Relationship Id="rId6" Type="http://schemas.openxmlformats.org/officeDocument/2006/relationships/image" Target="../media/image321.png"/><Relationship Id="rId11" Type="http://schemas.openxmlformats.org/officeDocument/2006/relationships/image" Target="../media/image326.png"/><Relationship Id="rId5" Type="http://schemas.openxmlformats.org/officeDocument/2006/relationships/image" Target="../media/image320.png"/><Relationship Id="rId15" Type="http://schemas.openxmlformats.org/officeDocument/2006/relationships/image" Target="../media/image330.png"/><Relationship Id="rId10" Type="http://schemas.openxmlformats.org/officeDocument/2006/relationships/image" Target="../media/image325.png"/><Relationship Id="rId4" Type="http://schemas.openxmlformats.org/officeDocument/2006/relationships/image" Target="../media/image310.png"/><Relationship Id="rId9" Type="http://schemas.openxmlformats.org/officeDocument/2006/relationships/image" Target="../media/image324.png"/><Relationship Id="rId14" Type="http://schemas.openxmlformats.org/officeDocument/2006/relationships/image" Target="../media/image329.png"/></Relationships>
</file>

<file path=ppt/slides/_rels/slide30.xml.rels><?xml version="1.0" encoding="UTF-8" standalone="yes"?>
<Relationships xmlns="http://schemas.openxmlformats.org/package/2006/relationships"><Relationship Id="rId8" Type="http://schemas.openxmlformats.org/officeDocument/2006/relationships/image" Target="../media/image336.png"/><Relationship Id="rId13" Type="http://schemas.openxmlformats.org/officeDocument/2006/relationships/image" Target="../media/image341.png"/><Relationship Id="rId18" Type="http://schemas.openxmlformats.org/officeDocument/2006/relationships/image" Target="../media/image346.png"/><Relationship Id="rId3" Type="http://schemas.openxmlformats.org/officeDocument/2006/relationships/image" Target="../media/image1.png"/><Relationship Id="rId7" Type="http://schemas.openxmlformats.org/officeDocument/2006/relationships/image" Target="../media/image335.png"/><Relationship Id="rId12" Type="http://schemas.openxmlformats.org/officeDocument/2006/relationships/image" Target="../media/image340.png"/><Relationship Id="rId17" Type="http://schemas.openxmlformats.org/officeDocument/2006/relationships/image" Target="../media/image345.png"/><Relationship Id="rId2" Type="http://schemas.openxmlformats.org/officeDocument/2006/relationships/notesSlide" Target="../notesSlides/notesSlide30.xml"/><Relationship Id="rId16" Type="http://schemas.openxmlformats.org/officeDocument/2006/relationships/image" Target="../media/image344.png"/><Relationship Id="rId1" Type="http://schemas.openxmlformats.org/officeDocument/2006/relationships/slideLayout" Target="../slideLayouts/slideLayout1.xml"/><Relationship Id="rId6" Type="http://schemas.openxmlformats.org/officeDocument/2006/relationships/image" Target="../media/image334.png"/><Relationship Id="rId11" Type="http://schemas.openxmlformats.org/officeDocument/2006/relationships/image" Target="../media/image339.png"/><Relationship Id="rId5" Type="http://schemas.openxmlformats.org/officeDocument/2006/relationships/image" Target="../media/image333.png"/><Relationship Id="rId15" Type="http://schemas.openxmlformats.org/officeDocument/2006/relationships/image" Target="../media/image343.png"/><Relationship Id="rId10" Type="http://schemas.openxmlformats.org/officeDocument/2006/relationships/image" Target="../media/image338.png"/><Relationship Id="rId19" Type="http://schemas.openxmlformats.org/officeDocument/2006/relationships/image" Target="../media/image347.png"/><Relationship Id="rId4" Type="http://schemas.openxmlformats.org/officeDocument/2006/relationships/image" Target="../media/image310.png"/><Relationship Id="rId9" Type="http://schemas.openxmlformats.org/officeDocument/2006/relationships/image" Target="../media/image337.png"/><Relationship Id="rId14" Type="http://schemas.openxmlformats.org/officeDocument/2006/relationships/image" Target="../media/image342.png"/></Relationships>
</file>

<file path=ppt/slides/_rels/slide31.xml.rels><?xml version="1.0" encoding="UTF-8" standalone="yes"?>
<Relationships xmlns="http://schemas.openxmlformats.org/package/2006/relationships"><Relationship Id="rId8" Type="http://schemas.openxmlformats.org/officeDocument/2006/relationships/image" Target="../media/image351.png"/><Relationship Id="rId13" Type="http://schemas.openxmlformats.org/officeDocument/2006/relationships/image" Target="../media/image355.png"/><Relationship Id="rId18" Type="http://schemas.openxmlformats.org/officeDocument/2006/relationships/image" Target="../media/image359.png"/><Relationship Id="rId3" Type="http://schemas.openxmlformats.org/officeDocument/2006/relationships/image" Target="../media/image1.png"/><Relationship Id="rId7" Type="http://schemas.openxmlformats.org/officeDocument/2006/relationships/image" Target="../media/image350.png"/><Relationship Id="rId12" Type="http://schemas.openxmlformats.org/officeDocument/2006/relationships/image" Target="../media/image37.png"/><Relationship Id="rId17" Type="http://schemas.openxmlformats.org/officeDocument/2006/relationships/image" Target="../media/image336.png"/><Relationship Id="rId2" Type="http://schemas.openxmlformats.org/officeDocument/2006/relationships/notesSlide" Target="../notesSlides/notesSlide31.xml"/><Relationship Id="rId16" Type="http://schemas.openxmlformats.org/officeDocument/2006/relationships/image" Target="../media/image358.png"/><Relationship Id="rId1" Type="http://schemas.openxmlformats.org/officeDocument/2006/relationships/slideLayout" Target="../slideLayouts/slideLayout1.xml"/><Relationship Id="rId6" Type="http://schemas.openxmlformats.org/officeDocument/2006/relationships/image" Target="../media/image349.png"/><Relationship Id="rId11" Type="http://schemas.openxmlformats.org/officeDocument/2006/relationships/image" Target="../media/image354.png"/><Relationship Id="rId5" Type="http://schemas.openxmlformats.org/officeDocument/2006/relationships/image" Target="../media/image348.png"/><Relationship Id="rId15" Type="http://schemas.openxmlformats.org/officeDocument/2006/relationships/image" Target="../media/image357.png"/><Relationship Id="rId10" Type="http://schemas.openxmlformats.org/officeDocument/2006/relationships/image" Target="../media/image353.png"/><Relationship Id="rId19" Type="http://schemas.openxmlformats.org/officeDocument/2006/relationships/image" Target="../media/image360.png"/><Relationship Id="rId4" Type="http://schemas.openxmlformats.org/officeDocument/2006/relationships/image" Target="../media/image310.png"/><Relationship Id="rId9" Type="http://schemas.openxmlformats.org/officeDocument/2006/relationships/image" Target="../media/image352.png"/><Relationship Id="rId14" Type="http://schemas.openxmlformats.org/officeDocument/2006/relationships/image" Target="../media/image356.png"/></Relationships>
</file>

<file path=ppt/slides/_rels/slide32.xml.rels><?xml version="1.0" encoding="UTF-8" standalone="yes"?>
<Relationships xmlns="http://schemas.openxmlformats.org/package/2006/relationships"><Relationship Id="rId8" Type="http://schemas.openxmlformats.org/officeDocument/2006/relationships/image" Target="../media/image364.png"/><Relationship Id="rId3" Type="http://schemas.openxmlformats.org/officeDocument/2006/relationships/image" Target="../media/image1.png"/><Relationship Id="rId7" Type="http://schemas.openxmlformats.org/officeDocument/2006/relationships/image" Target="../media/image363.png"/><Relationship Id="rId12" Type="http://schemas.openxmlformats.org/officeDocument/2006/relationships/image" Target="../media/image368.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62.png"/><Relationship Id="rId11" Type="http://schemas.openxmlformats.org/officeDocument/2006/relationships/image" Target="../media/image367.png"/><Relationship Id="rId5" Type="http://schemas.openxmlformats.org/officeDocument/2006/relationships/image" Target="../media/image361.png"/><Relationship Id="rId10" Type="http://schemas.openxmlformats.org/officeDocument/2006/relationships/image" Target="../media/image366.png"/><Relationship Id="rId4" Type="http://schemas.openxmlformats.org/officeDocument/2006/relationships/image" Target="../media/image310.png"/><Relationship Id="rId9" Type="http://schemas.openxmlformats.org/officeDocument/2006/relationships/image" Target="../media/image365.png"/></Relationships>
</file>

<file path=ppt/slides/_rels/slide33.xml.rels><?xml version="1.0" encoding="UTF-8" standalone="yes"?>
<Relationships xmlns="http://schemas.openxmlformats.org/package/2006/relationships"><Relationship Id="rId8" Type="http://schemas.openxmlformats.org/officeDocument/2006/relationships/image" Target="../media/image372.png"/><Relationship Id="rId13" Type="http://schemas.openxmlformats.org/officeDocument/2006/relationships/image" Target="../media/image377.png"/><Relationship Id="rId3" Type="http://schemas.openxmlformats.org/officeDocument/2006/relationships/image" Target="../media/image1.png"/><Relationship Id="rId7" Type="http://schemas.openxmlformats.org/officeDocument/2006/relationships/image" Target="../media/image371.png"/><Relationship Id="rId12" Type="http://schemas.openxmlformats.org/officeDocument/2006/relationships/image" Target="../media/image376.png"/><Relationship Id="rId2" Type="http://schemas.openxmlformats.org/officeDocument/2006/relationships/notesSlide" Target="../notesSlides/notesSlide33.xml"/><Relationship Id="rId16" Type="http://schemas.openxmlformats.org/officeDocument/2006/relationships/image" Target="../media/image380.png"/><Relationship Id="rId1" Type="http://schemas.openxmlformats.org/officeDocument/2006/relationships/slideLayout" Target="../slideLayouts/slideLayout1.xml"/><Relationship Id="rId6" Type="http://schemas.openxmlformats.org/officeDocument/2006/relationships/image" Target="../media/image370.png"/><Relationship Id="rId11" Type="http://schemas.openxmlformats.org/officeDocument/2006/relationships/image" Target="../media/image375.png"/><Relationship Id="rId5" Type="http://schemas.openxmlformats.org/officeDocument/2006/relationships/image" Target="../media/image369.png"/><Relationship Id="rId15" Type="http://schemas.openxmlformats.org/officeDocument/2006/relationships/image" Target="../media/image379.png"/><Relationship Id="rId10" Type="http://schemas.openxmlformats.org/officeDocument/2006/relationships/image" Target="../media/image374.png"/><Relationship Id="rId4" Type="http://schemas.openxmlformats.org/officeDocument/2006/relationships/image" Target="../media/image310.png"/><Relationship Id="rId9" Type="http://schemas.openxmlformats.org/officeDocument/2006/relationships/image" Target="../media/image373.png"/><Relationship Id="rId14" Type="http://schemas.openxmlformats.org/officeDocument/2006/relationships/image" Target="../media/image378.png"/></Relationships>
</file>

<file path=ppt/slides/_rels/slide34.xml.rels><?xml version="1.0" encoding="UTF-8" standalone="yes"?>
<Relationships xmlns="http://schemas.openxmlformats.org/package/2006/relationships"><Relationship Id="rId8" Type="http://schemas.openxmlformats.org/officeDocument/2006/relationships/image" Target="../media/image385.png"/><Relationship Id="rId13" Type="http://schemas.openxmlformats.org/officeDocument/2006/relationships/image" Target="../media/image390.png"/><Relationship Id="rId3" Type="http://schemas.openxmlformats.org/officeDocument/2006/relationships/image" Target="../media/image381.png"/><Relationship Id="rId7" Type="http://schemas.openxmlformats.org/officeDocument/2006/relationships/image" Target="../media/image384.png"/><Relationship Id="rId12" Type="http://schemas.openxmlformats.org/officeDocument/2006/relationships/image" Target="../media/image389.png"/><Relationship Id="rId2" Type="http://schemas.openxmlformats.org/officeDocument/2006/relationships/notesSlide" Target="../notesSlides/notesSlide34.xml"/><Relationship Id="rId16" Type="http://schemas.openxmlformats.org/officeDocument/2006/relationships/image" Target="../media/image393.png"/><Relationship Id="rId1" Type="http://schemas.openxmlformats.org/officeDocument/2006/relationships/slideLayout" Target="../slideLayouts/slideLayout1.xml"/><Relationship Id="rId6" Type="http://schemas.openxmlformats.org/officeDocument/2006/relationships/image" Target="../media/image383.png"/><Relationship Id="rId11" Type="http://schemas.openxmlformats.org/officeDocument/2006/relationships/image" Target="../media/image388.png"/><Relationship Id="rId5" Type="http://schemas.openxmlformats.org/officeDocument/2006/relationships/image" Target="../media/image382.png"/><Relationship Id="rId15" Type="http://schemas.openxmlformats.org/officeDocument/2006/relationships/image" Target="../media/image392.png"/><Relationship Id="rId10" Type="http://schemas.openxmlformats.org/officeDocument/2006/relationships/image" Target="../media/image387.png"/><Relationship Id="rId4" Type="http://schemas.openxmlformats.org/officeDocument/2006/relationships/image" Target="../media/image310.png"/><Relationship Id="rId9" Type="http://schemas.openxmlformats.org/officeDocument/2006/relationships/image" Target="../media/image386.png"/><Relationship Id="rId14" Type="http://schemas.openxmlformats.org/officeDocument/2006/relationships/image" Target="../media/image391.png"/></Relationships>
</file>

<file path=ppt/slides/_rels/slide35.xml.rels><?xml version="1.0" encoding="UTF-8" standalone="yes"?>
<Relationships xmlns="http://schemas.openxmlformats.org/package/2006/relationships"><Relationship Id="rId8" Type="http://schemas.openxmlformats.org/officeDocument/2006/relationships/image" Target="../media/image397.png"/><Relationship Id="rId3" Type="http://schemas.openxmlformats.org/officeDocument/2006/relationships/image" Target="../media/image1.png"/><Relationship Id="rId7" Type="http://schemas.openxmlformats.org/officeDocument/2006/relationships/image" Target="../media/image396.png"/><Relationship Id="rId12" Type="http://schemas.openxmlformats.org/officeDocument/2006/relationships/image" Target="../media/image40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395.png"/><Relationship Id="rId11" Type="http://schemas.openxmlformats.org/officeDocument/2006/relationships/image" Target="../media/image400.png"/><Relationship Id="rId5" Type="http://schemas.openxmlformats.org/officeDocument/2006/relationships/image" Target="../media/image394.png"/><Relationship Id="rId10" Type="http://schemas.openxmlformats.org/officeDocument/2006/relationships/image" Target="../media/image399.png"/><Relationship Id="rId4" Type="http://schemas.openxmlformats.org/officeDocument/2006/relationships/image" Target="../media/image310.png"/><Relationship Id="rId9" Type="http://schemas.openxmlformats.org/officeDocument/2006/relationships/image" Target="../media/image398.png"/></Relationships>
</file>

<file path=ppt/slides/_rels/slide36.xml.rels><?xml version="1.0" encoding="UTF-8" standalone="yes"?>
<Relationships xmlns="http://schemas.openxmlformats.org/package/2006/relationships"><Relationship Id="rId8" Type="http://schemas.openxmlformats.org/officeDocument/2006/relationships/image" Target="../media/image405.png"/><Relationship Id="rId13" Type="http://schemas.openxmlformats.org/officeDocument/2006/relationships/image" Target="../media/image409.png"/><Relationship Id="rId18" Type="http://schemas.openxmlformats.org/officeDocument/2006/relationships/image" Target="../media/image414.png"/><Relationship Id="rId3" Type="http://schemas.openxmlformats.org/officeDocument/2006/relationships/image" Target="../media/image1.png"/><Relationship Id="rId7" Type="http://schemas.openxmlformats.org/officeDocument/2006/relationships/image" Target="../media/image404.png"/><Relationship Id="rId12" Type="http://schemas.openxmlformats.org/officeDocument/2006/relationships/image" Target="../media/image408.png"/><Relationship Id="rId17" Type="http://schemas.openxmlformats.org/officeDocument/2006/relationships/image" Target="../media/image413.png"/><Relationship Id="rId2" Type="http://schemas.openxmlformats.org/officeDocument/2006/relationships/notesSlide" Target="../notesSlides/notesSlide36.xml"/><Relationship Id="rId16" Type="http://schemas.openxmlformats.org/officeDocument/2006/relationships/image" Target="../media/image412.png"/><Relationship Id="rId1" Type="http://schemas.openxmlformats.org/officeDocument/2006/relationships/slideLayout" Target="../slideLayouts/slideLayout1.xml"/><Relationship Id="rId6" Type="http://schemas.openxmlformats.org/officeDocument/2006/relationships/image" Target="../media/image403.png"/><Relationship Id="rId11" Type="http://schemas.openxmlformats.org/officeDocument/2006/relationships/image" Target="../media/image407.png"/><Relationship Id="rId5" Type="http://schemas.openxmlformats.org/officeDocument/2006/relationships/image" Target="../media/image402.png"/><Relationship Id="rId15" Type="http://schemas.openxmlformats.org/officeDocument/2006/relationships/image" Target="../media/image411.png"/><Relationship Id="rId10" Type="http://schemas.openxmlformats.org/officeDocument/2006/relationships/image" Target="../media/image406.png"/><Relationship Id="rId4" Type="http://schemas.openxmlformats.org/officeDocument/2006/relationships/image" Target="../media/image310.png"/><Relationship Id="rId9" Type="http://schemas.openxmlformats.org/officeDocument/2006/relationships/image" Target="../media/image352.png"/><Relationship Id="rId14" Type="http://schemas.openxmlformats.org/officeDocument/2006/relationships/image" Target="../media/image410.png"/></Relationships>
</file>

<file path=ppt/slides/_rels/slide37.xml.rels><?xml version="1.0" encoding="UTF-8" standalone="yes"?>
<Relationships xmlns="http://schemas.openxmlformats.org/package/2006/relationships"><Relationship Id="rId8" Type="http://schemas.openxmlformats.org/officeDocument/2006/relationships/image" Target="../media/image416.png"/><Relationship Id="rId3" Type="http://schemas.openxmlformats.org/officeDocument/2006/relationships/image" Target="../media/image1.png"/><Relationship Id="rId7" Type="http://schemas.openxmlformats.org/officeDocument/2006/relationships/image" Target="../media/image415.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58.png"/><Relationship Id="rId5" Type="http://schemas.openxmlformats.org/officeDocument/2006/relationships/image" Target="../media/image69.png"/><Relationship Id="rId10" Type="http://schemas.openxmlformats.org/officeDocument/2006/relationships/image" Target="../media/image86.png"/><Relationship Id="rId4" Type="http://schemas.openxmlformats.org/officeDocument/2006/relationships/image" Target="../media/image68.png"/><Relationship Id="rId9" Type="http://schemas.openxmlformats.org/officeDocument/2006/relationships/image" Target="../media/image417.png"/></Relationships>
</file>

<file path=ppt/slides/_rels/slide38.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86.png"/><Relationship Id="rId3" Type="http://schemas.openxmlformats.org/officeDocument/2006/relationships/image" Target="../media/image1.png"/><Relationship Id="rId7" Type="http://schemas.openxmlformats.org/officeDocument/2006/relationships/image" Target="../media/image419.png"/><Relationship Id="rId12" Type="http://schemas.openxmlformats.org/officeDocument/2006/relationships/image" Target="../media/image424.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418.png"/><Relationship Id="rId11" Type="http://schemas.openxmlformats.org/officeDocument/2006/relationships/image" Target="../media/image423.png"/><Relationship Id="rId5" Type="http://schemas.openxmlformats.org/officeDocument/2006/relationships/image" Target="../media/image69.png"/><Relationship Id="rId10" Type="http://schemas.openxmlformats.org/officeDocument/2006/relationships/image" Target="../media/image422.png"/><Relationship Id="rId4" Type="http://schemas.openxmlformats.org/officeDocument/2006/relationships/image" Target="../media/image68.png"/><Relationship Id="rId9" Type="http://schemas.openxmlformats.org/officeDocument/2006/relationships/image" Target="../media/image421.png"/></Relationships>
</file>

<file path=ppt/slides/_rels/slide39.xml.rels><?xml version="1.0" encoding="UTF-8" standalone="yes"?>
<Relationships xmlns="http://schemas.openxmlformats.org/package/2006/relationships"><Relationship Id="rId8" Type="http://schemas.openxmlformats.org/officeDocument/2006/relationships/image" Target="../media/image425.png"/><Relationship Id="rId3" Type="http://schemas.openxmlformats.org/officeDocument/2006/relationships/image" Target="../media/image1.png"/><Relationship Id="rId7" Type="http://schemas.openxmlformats.org/officeDocument/2006/relationships/image" Target="../media/image415.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58.png"/><Relationship Id="rId5" Type="http://schemas.openxmlformats.org/officeDocument/2006/relationships/image" Target="../media/image69.png"/><Relationship Id="rId10" Type="http://schemas.openxmlformats.org/officeDocument/2006/relationships/image" Target="../media/image427.png"/><Relationship Id="rId4" Type="http://schemas.openxmlformats.org/officeDocument/2006/relationships/image" Target="../media/image68.png"/><Relationship Id="rId9" Type="http://schemas.openxmlformats.org/officeDocument/2006/relationships/image" Target="../media/image426.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29.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28.png"/><Relationship Id="rId5" Type="http://schemas.openxmlformats.org/officeDocument/2006/relationships/image" Target="../media/image69.png"/><Relationship Id="rId4" Type="http://schemas.openxmlformats.org/officeDocument/2006/relationships/image" Target="../media/image68.png"/></Relationships>
</file>

<file path=ppt/slides/_rels/slide41.xml.rels><?xml version="1.0" encoding="UTF-8" standalone="yes"?>
<Relationships xmlns="http://schemas.openxmlformats.org/package/2006/relationships"><Relationship Id="rId8" Type="http://schemas.openxmlformats.org/officeDocument/2006/relationships/image" Target="../media/image432.png"/><Relationship Id="rId13" Type="http://schemas.openxmlformats.org/officeDocument/2006/relationships/image" Target="../media/image437.png"/><Relationship Id="rId3" Type="http://schemas.openxmlformats.org/officeDocument/2006/relationships/image" Target="../media/image1.png"/><Relationship Id="rId7" Type="http://schemas.openxmlformats.org/officeDocument/2006/relationships/image" Target="../media/image431.png"/><Relationship Id="rId12" Type="http://schemas.openxmlformats.org/officeDocument/2006/relationships/image" Target="../media/image436.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430.png"/><Relationship Id="rId11" Type="http://schemas.openxmlformats.org/officeDocument/2006/relationships/image" Target="../media/image435.png"/><Relationship Id="rId5" Type="http://schemas.openxmlformats.org/officeDocument/2006/relationships/image" Target="../media/image69.png"/><Relationship Id="rId10" Type="http://schemas.openxmlformats.org/officeDocument/2006/relationships/image" Target="../media/image434.png"/><Relationship Id="rId4" Type="http://schemas.openxmlformats.org/officeDocument/2006/relationships/image" Target="../media/image68.png"/><Relationship Id="rId9" Type="http://schemas.openxmlformats.org/officeDocument/2006/relationships/image" Target="../media/image433.png"/><Relationship Id="rId14" Type="http://schemas.openxmlformats.org/officeDocument/2006/relationships/image" Target="../media/image101.png"/></Relationships>
</file>

<file path=ppt/slides/_rels/slide42.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86.png"/><Relationship Id="rId3" Type="http://schemas.openxmlformats.org/officeDocument/2006/relationships/image" Target="../media/image1.png"/><Relationship Id="rId7" Type="http://schemas.openxmlformats.org/officeDocument/2006/relationships/image" Target="../media/image440.png"/><Relationship Id="rId12" Type="http://schemas.openxmlformats.org/officeDocument/2006/relationships/image" Target="../media/image444.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439.png"/><Relationship Id="rId11" Type="http://schemas.openxmlformats.org/officeDocument/2006/relationships/image" Target="../media/image443.png"/><Relationship Id="rId5" Type="http://schemas.openxmlformats.org/officeDocument/2006/relationships/image" Target="../media/image438.png"/><Relationship Id="rId10" Type="http://schemas.openxmlformats.org/officeDocument/2006/relationships/image" Target="../media/image442.png"/><Relationship Id="rId4" Type="http://schemas.openxmlformats.org/officeDocument/2006/relationships/image" Target="../media/image68.png"/><Relationship Id="rId9" Type="http://schemas.openxmlformats.org/officeDocument/2006/relationships/image" Target="../media/image441.png"/></Relationships>
</file>

<file path=ppt/slides/_rels/slide43.xml.rels><?xml version="1.0" encoding="UTF-8" standalone="yes"?>
<Relationships xmlns="http://schemas.openxmlformats.org/package/2006/relationships"><Relationship Id="rId8" Type="http://schemas.openxmlformats.org/officeDocument/2006/relationships/image" Target="../media/image447.png"/><Relationship Id="rId3" Type="http://schemas.openxmlformats.org/officeDocument/2006/relationships/image" Target="../media/image1.png"/><Relationship Id="rId7" Type="http://schemas.openxmlformats.org/officeDocument/2006/relationships/image" Target="../media/image446.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445.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417.png"/></Relationships>
</file>

<file path=ppt/slides/_rels/slide44.xml.rels><?xml version="1.0" encoding="UTF-8" standalone="yes"?>
<Relationships xmlns="http://schemas.openxmlformats.org/package/2006/relationships"><Relationship Id="rId8" Type="http://schemas.openxmlformats.org/officeDocument/2006/relationships/image" Target="../media/image451.png"/><Relationship Id="rId13" Type="http://schemas.openxmlformats.org/officeDocument/2006/relationships/image" Target="../media/image456.png"/><Relationship Id="rId3" Type="http://schemas.openxmlformats.org/officeDocument/2006/relationships/image" Target="../media/image1.png"/><Relationship Id="rId7" Type="http://schemas.openxmlformats.org/officeDocument/2006/relationships/image" Target="../media/image450.png"/><Relationship Id="rId12" Type="http://schemas.openxmlformats.org/officeDocument/2006/relationships/image" Target="../media/image455.png"/><Relationship Id="rId2" Type="http://schemas.openxmlformats.org/officeDocument/2006/relationships/notesSlide" Target="../notesSlides/notesSlide44.xml"/><Relationship Id="rId16" Type="http://schemas.openxmlformats.org/officeDocument/2006/relationships/image" Target="../media/image86.png"/><Relationship Id="rId1" Type="http://schemas.openxmlformats.org/officeDocument/2006/relationships/slideLayout" Target="../slideLayouts/slideLayout1.xml"/><Relationship Id="rId6" Type="http://schemas.openxmlformats.org/officeDocument/2006/relationships/image" Target="../media/image449.png"/><Relationship Id="rId11" Type="http://schemas.openxmlformats.org/officeDocument/2006/relationships/image" Target="../media/image454.png"/><Relationship Id="rId5" Type="http://schemas.openxmlformats.org/officeDocument/2006/relationships/image" Target="../media/image448.png"/><Relationship Id="rId15" Type="http://schemas.openxmlformats.org/officeDocument/2006/relationships/image" Target="../media/image458.png"/><Relationship Id="rId10" Type="http://schemas.openxmlformats.org/officeDocument/2006/relationships/image" Target="../media/image453.png"/><Relationship Id="rId4" Type="http://schemas.openxmlformats.org/officeDocument/2006/relationships/image" Target="../media/image68.png"/><Relationship Id="rId9" Type="http://schemas.openxmlformats.org/officeDocument/2006/relationships/image" Target="../media/image452.png"/><Relationship Id="rId14" Type="http://schemas.openxmlformats.org/officeDocument/2006/relationships/image" Target="../media/image457.png"/></Relationships>
</file>

<file path=ppt/slides/_rels/slide45.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png"/><Relationship Id="rId7" Type="http://schemas.openxmlformats.org/officeDocument/2006/relationships/image" Target="../media/image459.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58.png"/><Relationship Id="rId5" Type="http://schemas.openxmlformats.org/officeDocument/2006/relationships/image" Target="../media/image69.png"/><Relationship Id="rId10" Type="http://schemas.openxmlformats.org/officeDocument/2006/relationships/image" Target="../media/image86.png"/><Relationship Id="rId4" Type="http://schemas.openxmlformats.org/officeDocument/2006/relationships/image" Target="../media/image68.png"/><Relationship Id="rId9" Type="http://schemas.openxmlformats.org/officeDocument/2006/relationships/image" Target="../media/image460.png"/></Relationships>
</file>

<file path=ppt/slides/_rels/slide46.xml.rels><?xml version="1.0" encoding="UTF-8" standalone="yes"?>
<Relationships xmlns="http://schemas.openxmlformats.org/package/2006/relationships"><Relationship Id="rId8" Type="http://schemas.openxmlformats.org/officeDocument/2006/relationships/image" Target="../media/image463.png"/><Relationship Id="rId3" Type="http://schemas.openxmlformats.org/officeDocument/2006/relationships/image" Target="../media/image1.png"/><Relationship Id="rId7" Type="http://schemas.openxmlformats.org/officeDocument/2006/relationships/image" Target="../media/image46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461.png"/><Relationship Id="rId11" Type="http://schemas.openxmlformats.org/officeDocument/2006/relationships/image" Target="../media/image86.png"/><Relationship Id="rId5" Type="http://schemas.openxmlformats.org/officeDocument/2006/relationships/image" Target="../media/image438.png"/><Relationship Id="rId10" Type="http://schemas.openxmlformats.org/officeDocument/2006/relationships/image" Target="../media/image459.png"/><Relationship Id="rId4" Type="http://schemas.openxmlformats.org/officeDocument/2006/relationships/image" Target="../media/image68.png"/><Relationship Id="rId9" Type="http://schemas.openxmlformats.org/officeDocument/2006/relationships/image" Target="../media/image149.png"/></Relationships>
</file>

<file path=ppt/slides/_rels/slide47.xml.rels><?xml version="1.0" encoding="UTF-8" standalone="yes"?>
<Relationships xmlns="http://schemas.openxmlformats.org/package/2006/relationships"><Relationship Id="rId8" Type="http://schemas.openxmlformats.org/officeDocument/2006/relationships/image" Target="../media/image289.png"/><Relationship Id="rId13" Type="http://schemas.openxmlformats.org/officeDocument/2006/relationships/image" Target="../media/image294.png"/><Relationship Id="rId18" Type="http://schemas.openxmlformats.org/officeDocument/2006/relationships/image" Target="../media/image299.png"/><Relationship Id="rId3" Type="http://schemas.openxmlformats.org/officeDocument/2006/relationships/image" Target="../media/image284.png"/><Relationship Id="rId21" Type="http://schemas.openxmlformats.org/officeDocument/2006/relationships/image" Target="../media/image302.png"/><Relationship Id="rId7" Type="http://schemas.openxmlformats.org/officeDocument/2006/relationships/image" Target="../media/image288.png"/><Relationship Id="rId12" Type="http://schemas.openxmlformats.org/officeDocument/2006/relationships/image" Target="../media/image293.png"/><Relationship Id="rId17" Type="http://schemas.openxmlformats.org/officeDocument/2006/relationships/image" Target="../media/image298.png"/><Relationship Id="rId2" Type="http://schemas.openxmlformats.org/officeDocument/2006/relationships/notesSlide" Target="../notesSlides/notesSlide47.xml"/><Relationship Id="rId16" Type="http://schemas.openxmlformats.org/officeDocument/2006/relationships/image" Target="../media/image297.png"/><Relationship Id="rId20" Type="http://schemas.openxmlformats.org/officeDocument/2006/relationships/image" Target="../media/image301.png"/><Relationship Id="rId1" Type="http://schemas.openxmlformats.org/officeDocument/2006/relationships/slideLayout" Target="../slideLayouts/slideLayout1.xml"/><Relationship Id="rId6" Type="http://schemas.openxmlformats.org/officeDocument/2006/relationships/image" Target="../media/image287.png"/><Relationship Id="rId11" Type="http://schemas.openxmlformats.org/officeDocument/2006/relationships/image" Target="../media/image292.png"/><Relationship Id="rId5" Type="http://schemas.openxmlformats.org/officeDocument/2006/relationships/image" Target="../media/image286.png"/><Relationship Id="rId15" Type="http://schemas.openxmlformats.org/officeDocument/2006/relationships/image" Target="../media/image296.png"/><Relationship Id="rId10" Type="http://schemas.openxmlformats.org/officeDocument/2006/relationships/image" Target="../media/image291.png"/><Relationship Id="rId19" Type="http://schemas.openxmlformats.org/officeDocument/2006/relationships/image" Target="../media/image300.png"/><Relationship Id="rId4" Type="http://schemas.openxmlformats.org/officeDocument/2006/relationships/image" Target="../media/image285.png"/><Relationship Id="rId9" Type="http://schemas.openxmlformats.org/officeDocument/2006/relationships/image" Target="../media/image290.png"/><Relationship Id="rId14" Type="http://schemas.openxmlformats.org/officeDocument/2006/relationships/image" Target="../media/image295.png"/></Relationships>
</file>

<file path=ppt/slides/_rels/slide48.xml.rels><?xml version="1.0" encoding="UTF-8" standalone="yes"?>
<Relationships xmlns="http://schemas.openxmlformats.org/package/2006/relationships"><Relationship Id="rId8" Type="http://schemas.openxmlformats.org/officeDocument/2006/relationships/image" Target="../media/image468.png"/><Relationship Id="rId3" Type="http://schemas.openxmlformats.org/officeDocument/2006/relationships/image" Target="../media/image1.png"/><Relationship Id="rId7" Type="http://schemas.openxmlformats.org/officeDocument/2006/relationships/image" Target="../media/image467.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466.png"/><Relationship Id="rId5" Type="http://schemas.openxmlformats.org/officeDocument/2006/relationships/image" Target="../media/image465.png"/><Relationship Id="rId10" Type="http://schemas.openxmlformats.org/officeDocument/2006/relationships/image" Target="../media/image470.png"/><Relationship Id="rId4" Type="http://schemas.openxmlformats.org/officeDocument/2006/relationships/image" Target="../media/image464.png"/><Relationship Id="rId9" Type="http://schemas.openxmlformats.org/officeDocument/2006/relationships/image" Target="../media/image469.png"/></Relationships>
</file>

<file path=ppt/slides/_rels/slide49.xml.rels><?xml version="1.0" encoding="UTF-8" standalone="yes"?>
<Relationships xmlns="http://schemas.openxmlformats.org/package/2006/relationships"><Relationship Id="rId8" Type="http://schemas.openxmlformats.org/officeDocument/2006/relationships/image" Target="../media/image476.png"/><Relationship Id="rId13" Type="http://schemas.openxmlformats.org/officeDocument/2006/relationships/image" Target="../media/image481.png"/><Relationship Id="rId3" Type="http://schemas.openxmlformats.org/officeDocument/2006/relationships/image" Target="../media/image471.png"/><Relationship Id="rId7" Type="http://schemas.openxmlformats.org/officeDocument/2006/relationships/image" Target="../media/image475.png"/><Relationship Id="rId12" Type="http://schemas.openxmlformats.org/officeDocument/2006/relationships/image" Target="../media/image480.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474.png"/><Relationship Id="rId11" Type="http://schemas.openxmlformats.org/officeDocument/2006/relationships/image" Target="../media/image479.png"/><Relationship Id="rId5" Type="http://schemas.openxmlformats.org/officeDocument/2006/relationships/image" Target="../media/image473.png"/><Relationship Id="rId10" Type="http://schemas.openxmlformats.org/officeDocument/2006/relationships/image" Target="../media/image478.png"/><Relationship Id="rId4" Type="http://schemas.openxmlformats.org/officeDocument/2006/relationships/image" Target="../media/image472.png"/><Relationship Id="rId9" Type="http://schemas.openxmlformats.org/officeDocument/2006/relationships/image" Target="../media/image477.png"/></Relationships>
</file>

<file path=ppt/slides/_rels/slide50.xml.rels><?xml version="1.0" encoding="UTF-8" standalone="yes"?>
<Relationships xmlns="http://schemas.openxmlformats.org/package/2006/relationships"><Relationship Id="rId8" Type="http://schemas.openxmlformats.org/officeDocument/2006/relationships/image" Target="../media/image486.png"/><Relationship Id="rId13" Type="http://schemas.openxmlformats.org/officeDocument/2006/relationships/image" Target="../media/image491.png"/><Relationship Id="rId3" Type="http://schemas.openxmlformats.org/officeDocument/2006/relationships/image" Target="../media/image482.png"/><Relationship Id="rId7" Type="http://schemas.openxmlformats.org/officeDocument/2006/relationships/image" Target="../media/image485.png"/><Relationship Id="rId12" Type="http://schemas.openxmlformats.org/officeDocument/2006/relationships/image" Target="../media/image490.png"/><Relationship Id="rId2" Type="http://schemas.openxmlformats.org/officeDocument/2006/relationships/notesSlide" Target="../notesSlides/notesSlide50.xml"/><Relationship Id="rId16" Type="http://schemas.openxmlformats.org/officeDocument/2006/relationships/image" Target="../media/image494.png"/><Relationship Id="rId1" Type="http://schemas.openxmlformats.org/officeDocument/2006/relationships/slideLayout" Target="../slideLayouts/slideLayout1.xml"/><Relationship Id="rId6" Type="http://schemas.openxmlformats.org/officeDocument/2006/relationships/image" Target="../media/image484.png"/><Relationship Id="rId11" Type="http://schemas.openxmlformats.org/officeDocument/2006/relationships/image" Target="../media/image489.png"/><Relationship Id="rId5" Type="http://schemas.openxmlformats.org/officeDocument/2006/relationships/image" Target="../media/image483.png"/><Relationship Id="rId15" Type="http://schemas.openxmlformats.org/officeDocument/2006/relationships/image" Target="../media/image493.png"/><Relationship Id="rId10" Type="http://schemas.openxmlformats.org/officeDocument/2006/relationships/image" Target="../media/image488.png"/><Relationship Id="rId4" Type="http://schemas.openxmlformats.org/officeDocument/2006/relationships/image" Target="../media/image472.png"/><Relationship Id="rId9" Type="http://schemas.openxmlformats.org/officeDocument/2006/relationships/image" Target="../media/image487.png"/><Relationship Id="rId14" Type="http://schemas.openxmlformats.org/officeDocument/2006/relationships/image" Target="../media/image492.png"/></Relationships>
</file>

<file path=ppt/slides/_rels/slide51.xml.rels><?xml version="1.0" encoding="UTF-8" standalone="yes"?>
<Relationships xmlns="http://schemas.openxmlformats.org/package/2006/relationships"><Relationship Id="rId8" Type="http://schemas.openxmlformats.org/officeDocument/2006/relationships/image" Target="../media/image499.png"/><Relationship Id="rId13" Type="http://schemas.openxmlformats.org/officeDocument/2006/relationships/image" Target="../media/image504.png"/><Relationship Id="rId18" Type="http://schemas.openxmlformats.org/officeDocument/2006/relationships/image" Target="../media/image508.png"/><Relationship Id="rId3" Type="http://schemas.openxmlformats.org/officeDocument/2006/relationships/image" Target="../media/image472.png"/><Relationship Id="rId7" Type="http://schemas.openxmlformats.org/officeDocument/2006/relationships/image" Target="../media/image498.png"/><Relationship Id="rId12" Type="http://schemas.openxmlformats.org/officeDocument/2006/relationships/image" Target="../media/image503.png"/><Relationship Id="rId17" Type="http://schemas.openxmlformats.org/officeDocument/2006/relationships/image" Target="../media/image507.png"/><Relationship Id="rId2" Type="http://schemas.openxmlformats.org/officeDocument/2006/relationships/notesSlide" Target="../notesSlides/notesSlide51.xml"/><Relationship Id="rId16" Type="http://schemas.openxmlformats.org/officeDocument/2006/relationships/image" Target="../media/image506.png"/><Relationship Id="rId1" Type="http://schemas.openxmlformats.org/officeDocument/2006/relationships/slideLayout" Target="../slideLayouts/slideLayout1.xml"/><Relationship Id="rId6" Type="http://schemas.openxmlformats.org/officeDocument/2006/relationships/image" Target="../media/image497.png"/><Relationship Id="rId11" Type="http://schemas.openxmlformats.org/officeDocument/2006/relationships/image" Target="../media/image502.png"/><Relationship Id="rId5" Type="http://schemas.openxmlformats.org/officeDocument/2006/relationships/image" Target="../media/image496.png"/><Relationship Id="rId15" Type="http://schemas.openxmlformats.org/officeDocument/2006/relationships/image" Target="../media/image505.png"/><Relationship Id="rId10" Type="http://schemas.openxmlformats.org/officeDocument/2006/relationships/image" Target="../media/image501.png"/><Relationship Id="rId4" Type="http://schemas.openxmlformats.org/officeDocument/2006/relationships/image" Target="../media/image495.png"/><Relationship Id="rId9" Type="http://schemas.openxmlformats.org/officeDocument/2006/relationships/image" Target="../media/image500.png"/><Relationship Id="rId14" Type="http://schemas.openxmlformats.org/officeDocument/2006/relationships/image" Target="../media/image492.png"/></Relationships>
</file>

<file path=ppt/slides/_rels/slide52.xml.rels><?xml version="1.0" encoding="UTF-8" standalone="yes"?>
<Relationships xmlns="http://schemas.openxmlformats.org/package/2006/relationships"><Relationship Id="rId8" Type="http://schemas.openxmlformats.org/officeDocument/2006/relationships/image" Target="../media/image513.png"/><Relationship Id="rId13" Type="http://schemas.openxmlformats.org/officeDocument/2006/relationships/image" Target="../media/image518.png"/><Relationship Id="rId3" Type="http://schemas.openxmlformats.org/officeDocument/2006/relationships/image" Target="../media/image509.png"/><Relationship Id="rId7" Type="http://schemas.openxmlformats.org/officeDocument/2006/relationships/image" Target="../media/image512.png"/><Relationship Id="rId12" Type="http://schemas.openxmlformats.org/officeDocument/2006/relationships/image" Target="../media/image517.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11.png"/><Relationship Id="rId11" Type="http://schemas.openxmlformats.org/officeDocument/2006/relationships/image" Target="../media/image516.png"/><Relationship Id="rId5" Type="http://schemas.openxmlformats.org/officeDocument/2006/relationships/image" Target="../media/image510.png"/><Relationship Id="rId10" Type="http://schemas.openxmlformats.org/officeDocument/2006/relationships/image" Target="../media/image515.png"/><Relationship Id="rId4" Type="http://schemas.openxmlformats.org/officeDocument/2006/relationships/image" Target="../media/image472.png"/><Relationship Id="rId9" Type="http://schemas.openxmlformats.org/officeDocument/2006/relationships/image" Target="../media/image514.png"/></Relationships>
</file>

<file path=ppt/slides/_rels/slide53.xml.rels><?xml version="1.0" encoding="UTF-8" standalone="yes"?>
<Relationships xmlns="http://schemas.openxmlformats.org/package/2006/relationships"><Relationship Id="rId13" Type="http://schemas.openxmlformats.org/officeDocument/2006/relationships/image" Target="../media/image528.png"/><Relationship Id="rId18" Type="http://schemas.openxmlformats.org/officeDocument/2006/relationships/image" Target="../media/image533.png"/><Relationship Id="rId26" Type="http://schemas.openxmlformats.org/officeDocument/2006/relationships/image" Target="../media/image541.png"/><Relationship Id="rId39" Type="http://schemas.openxmlformats.org/officeDocument/2006/relationships/image" Target="../media/image554.png"/><Relationship Id="rId21" Type="http://schemas.openxmlformats.org/officeDocument/2006/relationships/image" Target="../media/image536.png"/><Relationship Id="rId34" Type="http://schemas.openxmlformats.org/officeDocument/2006/relationships/image" Target="../media/image549.png"/><Relationship Id="rId42" Type="http://schemas.openxmlformats.org/officeDocument/2006/relationships/image" Target="../media/image557.png"/><Relationship Id="rId47" Type="http://schemas.openxmlformats.org/officeDocument/2006/relationships/image" Target="../media/image562.png"/><Relationship Id="rId7" Type="http://schemas.openxmlformats.org/officeDocument/2006/relationships/image" Target="../media/image522.png"/><Relationship Id="rId2" Type="http://schemas.openxmlformats.org/officeDocument/2006/relationships/notesSlide" Target="../notesSlides/notesSlide53.xml"/><Relationship Id="rId16" Type="http://schemas.openxmlformats.org/officeDocument/2006/relationships/image" Target="../media/image531.png"/><Relationship Id="rId29" Type="http://schemas.openxmlformats.org/officeDocument/2006/relationships/image" Target="../media/image544.png"/><Relationship Id="rId1" Type="http://schemas.openxmlformats.org/officeDocument/2006/relationships/slideLayout" Target="../slideLayouts/slideLayout1.xml"/><Relationship Id="rId6" Type="http://schemas.openxmlformats.org/officeDocument/2006/relationships/image" Target="../media/image521.png"/><Relationship Id="rId11" Type="http://schemas.openxmlformats.org/officeDocument/2006/relationships/image" Target="../media/image526.png"/><Relationship Id="rId24" Type="http://schemas.openxmlformats.org/officeDocument/2006/relationships/image" Target="../media/image539.png"/><Relationship Id="rId32" Type="http://schemas.openxmlformats.org/officeDocument/2006/relationships/image" Target="../media/image547.png"/><Relationship Id="rId37" Type="http://schemas.openxmlformats.org/officeDocument/2006/relationships/image" Target="../media/image552.png"/><Relationship Id="rId40" Type="http://schemas.openxmlformats.org/officeDocument/2006/relationships/image" Target="../media/image555.png"/><Relationship Id="rId45" Type="http://schemas.openxmlformats.org/officeDocument/2006/relationships/image" Target="../media/image560.png"/><Relationship Id="rId5" Type="http://schemas.openxmlformats.org/officeDocument/2006/relationships/image" Target="../media/image520.png"/><Relationship Id="rId15" Type="http://schemas.openxmlformats.org/officeDocument/2006/relationships/image" Target="../media/image530.png"/><Relationship Id="rId23" Type="http://schemas.openxmlformats.org/officeDocument/2006/relationships/image" Target="../media/image538.png"/><Relationship Id="rId28" Type="http://schemas.openxmlformats.org/officeDocument/2006/relationships/image" Target="../media/image543.png"/><Relationship Id="rId36" Type="http://schemas.openxmlformats.org/officeDocument/2006/relationships/image" Target="../media/image551.png"/><Relationship Id="rId10" Type="http://schemas.openxmlformats.org/officeDocument/2006/relationships/image" Target="../media/image525.png"/><Relationship Id="rId19" Type="http://schemas.openxmlformats.org/officeDocument/2006/relationships/image" Target="../media/image534.png"/><Relationship Id="rId31" Type="http://schemas.openxmlformats.org/officeDocument/2006/relationships/image" Target="../media/image546.png"/><Relationship Id="rId44" Type="http://schemas.openxmlformats.org/officeDocument/2006/relationships/image" Target="../media/image559.png"/><Relationship Id="rId4" Type="http://schemas.openxmlformats.org/officeDocument/2006/relationships/image" Target="../media/image519.png"/><Relationship Id="rId9" Type="http://schemas.openxmlformats.org/officeDocument/2006/relationships/image" Target="../media/image524.png"/><Relationship Id="rId14" Type="http://schemas.openxmlformats.org/officeDocument/2006/relationships/image" Target="../media/image529.png"/><Relationship Id="rId22" Type="http://schemas.openxmlformats.org/officeDocument/2006/relationships/image" Target="../media/image537.png"/><Relationship Id="rId27" Type="http://schemas.openxmlformats.org/officeDocument/2006/relationships/image" Target="../media/image542.png"/><Relationship Id="rId30" Type="http://schemas.openxmlformats.org/officeDocument/2006/relationships/image" Target="../media/image545.png"/><Relationship Id="rId35" Type="http://schemas.openxmlformats.org/officeDocument/2006/relationships/image" Target="../media/image550.png"/><Relationship Id="rId43" Type="http://schemas.openxmlformats.org/officeDocument/2006/relationships/image" Target="../media/image558.png"/><Relationship Id="rId8" Type="http://schemas.openxmlformats.org/officeDocument/2006/relationships/image" Target="../media/image523.png"/><Relationship Id="rId3" Type="http://schemas.openxmlformats.org/officeDocument/2006/relationships/image" Target="../media/image472.png"/><Relationship Id="rId12" Type="http://schemas.openxmlformats.org/officeDocument/2006/relationships/image" Target="../media/image527.png"/><Relationship Id="rId17" Type="http://schemas.openxmlformats.org/officeDocument/2006/relationships/image" Target="../media/image532.png"/><Relationship Id="rId25" Type="http://schemas.openxmlformats.org/officeDocument/2006/relationships/image" Target="../media/image540.png"/><Relationship Id="rId33" Type="http://schemas.openxmlformats.org/officeDocument/2006/relationships/image" Target="../media/image548.png"/><Relationship Id="rId38" Type="http://schemas.openxmlformats.org/officeDocument/2006/relationships/image" Target="../media/image553.png"/><Relationship Id="rId46" Type="http://schemas.openxmlformats.org/officeDocument/2006/relationships/image" Target="../media/image561.png"/><Relationship Id="rId20" Type="http://schemas.openxmlformats.org/officeDocument/2006/relationships/image" Target="../media/image535.png"/><Relationship Id="rId41" Type="http://schemas.openxmlformats.org/officeDocument/2006/relationships/image" Target="../media/image556.png"/></Relationships>
</file>

<file path=ppt/slides/_rels/slide54.xml.rels><?xml version="1.0" encoding="UTF-8" standalone="yes"?>
<Relationships xmlns="http://schemas.openxmlformats.org/package/2006/relationships"><Relationship Id="rId8" Type="http://schemas.openxmlformats.org/officeDocument/2006/relationships/image" Target="../media/image289.png"/><Relationship Id="rId13" Type="http://schemas.openxmlformats.org/officeDocument/2006/relationships/image" Target="../media/image294.png"/><Relationship Id="rId18" Type="http://schemas.openxmlformats.org/officeDocument/2006/relationships/image" Target="../media/image299.png"/><Relationship Id="rId3" Type="http://schemas.openxmlformats.org/officeDocument/2006/relationships/image" Target="../media/image284.png"/><Relationship Id="rId21" Type="http://schemas.openxmlformats.org/officeDocument/2006/relationships/image" Target="../media/image302.png"/><Relationship Id="rId7" Type="http://schemas.openxmlformats.org/officeDocument/2006/relationships/image" Target="../media/image288.png"/><Relationship Id="rId12" Type="http://schemas.openxmlformats.org/officeDocument/2006/relationships/image" Target="../media/image293.png"/><Relationship Id="rId17" Type="http://schemas.openxmlformats.org/officeDocument/2006/relationships/image" Target="../media/image298.png"/><Relationship Id="rId2" Type="http://schemas.openxmlformats.org/officeDocument/2006/relationships/notesSlide" Target="../notesSlides/notesSlide54.xml"/><Relationship Id="rId16" Type="http://schemas.openxmlformats.org/officeDocument/2006/relationships/image" Target="../media/image297.png"/><Relationship Id="rId20" Type="http://schemas.openxmlformats.org/officeDocument/2006/relationships/image" Target="../media/image301.png"/><Relationship Id="rId1" Type="http://schemas.openxmlformats.org/officeDocument/2006/relationships/slideLayout" Target="../slideLayouts/slideLayout1.xml"/><Relationship Id="rId6" Type="http://schemas.openxmlformats.org/officeDocument/2006/relationships/image" Target="../media/image287.png"/><Relationship Id="rId11" Type="http://schemas.openxmlformats.org/officeDocument/2006/relationships/image" Target="../media/image292.png"/><Relationship Id="rId5" Type="http://schemas.openxmlformats.org/officeDocument/2006/relationships/image" Target="../media/image286.png"/><Relationship Id="rId15" Type="http://schemas.openxmlformats.org/officeDocument/2006/relationships/image" Target="../media/image296.png"/><Relationship Id="rId10" Type="http://schemas.openxmlformats.org/officeDocument/2006/relationships/image" Target="../media/image291.png"/><Relationship Id="rId19" Type="http://schemas.openxmlformats.org/officeDocument/2006/relationships/image" Target="../media/image300.png"/><Relationship Id="rId4" Type="http://schemas.openxmlformats.org/officeDocument/2006/relationships/image" Target="../media/image285.png"/><Relationship Id="rId9" Type="http://schemas.openxmlformats.org/officeDocument/2006/relationships/image" Target="../media/image290.png"/><Relationship Id="rId14" Type="http://schemas.openxmlformats.org/officeDocument/2006/relationships/image" Target="../media/image295.png"/></Relationships>
</file>

<file path=ppt/slides/_rels/slide55.xml.rels><?xml version="1.0" encoding="UTF-8" standalone="yes"?>
<Relationships xmlns="http://schemas.openxmlformats.org/package/2006/relationships"><Relationship Id="rId8" Type="http://schemas.openxmlformats.org/officeDocument/2006/relationships/image" Target="../media/image563.png"/><Relationship Id="rId3" Type="http://schemas.openxmlformats.org/officeDocument/2006/relationships/image" Target="../media/image1.png"/><Relationship Id="rId7" Type="http://schemas.openxmlformats.org/officeDocument/2006/relationships/image" Target="../media/image430.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157.png"/></Relationships>
</file>

<file path=ppt/slides/_rels/slide56.xml.rels><?xml version="1.0" encoding="UTF-8" standalone="yes"?>
<Relationships xmlns="http://schemas.openxmlformats.org/package/2006/relationships"><Relationship Id="rId8" Type="http://schemas.openxmlformats.org/officeDocument/2006/relationships/image" Target="../media/image565.png"/><Relationship Id="rId3" Type="http://schemas.openxmlformats.org/officeDocument/2006/relationships/image" Target="../media/image1.png"/><Relationship Id="rId7" Type="http://schemas.openxmlformats.org/officeDocument/2006/relationships/image" Target="../media/image74.png"/><Relationship Id="rId12" Type="http://schemas.openxmlformats.org/officeDocument/2006/relationships/image" Target="../media/image157.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64.png"/><Relationship Id="rId11" Type="http://schemas.openxmlformats.org/officeDocument/2006/relationships/image" Target="../media/image567.png"/><Relationship Id="rId5" Type="http://schemas.openxmlformats.org/officeDocument/2006/relationships/image" Target="../media/image69.png"/><Relationship Id="rId10" Type="http://schemas.openxmlformats.org/officeDocument/2006/relationships/image" Target="../media/image566.png"/><Relationship Id="rId4" Type="http://schemas.openxmlformats.org/officeDocument/2006/relationships/image" Target="../media/image68.png"/><Relationship Id="rId9" Type="http://schemas.openxmlformats.org/officeDocument/2006/relationships/image" Target="../media/image563.png"/></Relationships>
</file>

<file path=ppt/slides/_rels/slide57.xml.rels><?xml version="1.0" encoding="UTF-8" standalone="yes"?>
<Relationships xmlns="http://schemas.openxmlformats.org/package/2006/relationships"><Relationship Id="rId8" Type="http://schemas.openxmlformats.org/officeDocument/2006/relationships/image" Target="../media/image569.png"/><Relationship Id="rId3" Type="http://schemas.openxmlformats.org/officeDocument/2006/relationships/image" Target="../media/image1.png"/><Relationship Id="rId7" Type="http://schemas.openxmlformats.org/officeDocument/2006/relationships/image" Target="../media/image568.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158.png"/><Relationship Id="rId5" Type="http://schemas.openxmlformats.org/officeDocument/2006/relationships/image" Target="../media/image69.png"/><Relationship Id="rId10" Type="http://schemas.openxmlformats.org/officeDocument/2006/relationships/image" Target="../media/image157.png"/><Relationship Id="rId4" Type="http://schemas.openxmlformats.org/officeDocument/2006/relationships/image" Target="../media/image68.png"/><Relationship Id="rId9" Type="http://schemas.openxmlformats.org/officeDocument/2006/relationships/image" Target="../media/image181.png"/></Relationships>
</file>

<file path=ppt/slides/_rels/slide58.xml.rels><?xml version="1.0" encoding="UTF-8" standalone="yes"?>
<Relationships xmlns="http://schemas.openxmlformats.org/package/2006/relationships"><Relationship Id="rId8" Type="http://schemas.openxmlformats.org/officeDocument/2006/relationships/image" Target="../media/image572.png"/><Relationship Id="rId13" Type="http://schemas.openxmlformats.org/officeDocument/2006/relationships/image" Target="../media/image576.png"/><Relationship Id="rId3" Type="http://schemas.openxmlformats.org/officeDocument/2006/relationships/image" Target="../media/image1.png"/><Relationship Id="rId7" Type="http://schemas.openxmlformats.org/officeDocument/2006/relationships/image" Target="../media/image571.png"/><Relationship Id="rId12" Type="http://schemas.openxmlformats.org/officeDocument/2006/relationships/image" Target="../media/image575.png"/><Relationship Id="rId2" Type="http://schemas.openxmlformats.org/officeDocument/2006/relationships/notesSlide" Target="../notesSlides/notesSlide58.xml"/><Relationship Id="rId16" Type="http://schemas.openxmlformats.org/officeDocument/2006/relationships/image" Target="../media/image157.png"/><Relationship Id="rId1" Type="http://schemas.openxmlformats.org/officeDocument/2006/relationships/slideLayout" Target="../slideLayouts/slideLayout1.xml"/><Relationship Id="rId6" Type="http://schemas.openxmlformats.org/officeDocument/2006/relationships/image" Target="../media/image570.png"/><Relationship Id="rId11" Type="http://schemas.openxmlformats.org/officeDocument/2006/relationships/image" Target="../media/image565.png"/><Relationship Id="rId5" Type="http://schemas.openxmlformats.org/officeDocument/2006/relationships/image" Target="../media/image150.png"/><Relationship Id="rId15" Type="http://schemas.openxmlformats.org/officeDocument/2006/relationships/image" Target="../media/image578.png"/><Relationship Id="rId10" Type="http://schemas.openxmlformats.org/officeDocument/2006/relationships/image" Target="../media/image574.png"/><Relationship Id="rId4" Type="http://schemas.openxmlformats.org/officeDocument/2006/relationships/image" Target="../media/image68.png"/><Relationship Id="rId9" Type="http://schemas.openxmlformats.org/officeDocument/2006/relationships/image" Target="../media/image573.png"/><Relationship Id="rId14" Type="http://schemas.openxmlformats.org/officeDocument/2006/relationships/image" Target="../media/image577.png"/></Relationships>
</file>

<file path=ppt/slides/_rels/slide59.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image" Target="../media/image1.png"/><Relationship Id="rId7" Type="http://schemas.openxmlformats.org/officeDocument/2006/relationships/image" Target="../media/image579.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60.xml.rels><?xml version="1.0" encoding="UTF-8" standalone="yes"?>
<Relationships xmlns="http://schemas.openxmlformats.org/package/2006/relationships"><Relationship Id="rId8" Type="http://schemas.openxmlformats.org/officeDocument/2006/relationships/image" Target="../media/image581.png"/><Relationship Id="rId13" Type="http://schemas.openxmlformats.org/officeDocument/2006/relationships/image" Target="../media/image584.png"/><Relationship Id="rId3" Type="http://schemas.openxmlformats.org/officeDocument/2006/relationships/image" Target="../media/image1.png"/><Relationship Id="rId7" Type="http://schemas.openxmlformats.org/officeDocument/2006/relationships/image" Target="../media/image74.png"/><Relationship Id="rId12" Type="http://schemas.openxmlformats.org/officeDocument/2006/relationships/image" Target="../media/image583.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80.png"/><Relationship Id="rId11" Type="http://schemas.openxmlformats.org/officeDocument/2006/relationships/image" Target="../media/image582.png"/><Relationship Id="rId5" Type="http://schemas.openxmlformats.org/officeDocument/2006/relationships/image" Target="../media/image69.png"/><Relationship Id="rId15" Type="http://schemas.openxmlformats.org/officeDocument/2006/relationships/image" Target="../media/image72.png"/><Relationship Id="rId10" Type="http://schemas.openxmlformats.org/officeDocument/2006/relationships/image" Target="../media/image579.png"/><Relationship Id="rId4" Type="http://schemas.openxmlformats.org/officeDocument/2006/relationships/image" Target="../media/image68.png"/><Relationship Id="rId9" Type="http://schemas.openxmlformats.org/officeDocument/2006/relationships/image" Target="../media/image78.png"/><Relationship Id="rId14" Type="http://schemas.openxmlformats.org/officeDocument/2006/relationships/image" Target="../media/image585.png"/></Relationships>
</file>

<file path=ppt/slides/_rels/slide61.xml.rels><?xml version="1.0" encoding="UTF-8" standalone="yes"?>
<Relationships xmlns="http://schemas.openxmlformats.org/package/2006/relationships"><Relationship Id="rId8" Type="http://schemas.openxmlformats.org/officeDocument/2006/relationships/image" Target="../media/image590.png"/><Relationship Id="rId3" Type="http://schemas.openxmlformats.org/officeDocument/2006/relationships/image" Target="../media/image1.png"/><Relationship Id="rId7" Type="http://schemas.openxmlformats.org/officeDocument/2006/relationships/image" Target="../media/image589.png"/><Relationship Id="rId12" Type="http://schemas.openxmlformats.org/officeDocument/2006/relationships/image" Target="../media/image594.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88.png"/><Relationship Id="rId11" Type="http://schemas.openxmlformats.org/officeDocument/2006/relationships/image" Target="../media/image593.png"/><Relationship Id="rId5" Type="http://schemas.openxmlformats.org/officeDocument/2006/relationships/image" Target="../media/image587.png"/><Relationship Id="rId10" Type="http://schemas.openxmlformats.org/officeDocument/2006/relationships/image" Target="../media/image592.png"/><Relationship Id="rId4" Type="http://schemas.openxmlformats.org/officeDocument/2006/relationships/image" Target="../media/image586.png"/><Relationship Id="rId9" Type="http://schemas.openxmlformats.org/officeDocument/2006/relationships/image" Target="../media/image591.png"/></Relationships>
</file>

<file path=ppt/slides/_rels/slide62.xml.rels><?xml version="1.0" encoding="UTF-8" standalone="yes"?>
<Relationships xmlns="http://schemas.openxmlformats.org/package/2006/relationships"><Relationship Id="rId8" Type="http://schemas.openxmlformats.org/officeDocument/2006/relationships/image" Target="../media/image598.png"/><Relationship Id="rId13" Type="http://schemas.openxmlformats.org/officeDocument/2006/relationships/image" Target="../media/image603.png"/><Relationship Id="rId3" Type="http://schemas.openxmlformats.org/officeDocument/2006/relationships/image" Target="../media/image1.png"/><Relationship Id="rId7" Type="http://schemas.openxmlformats.org/officeDocument/2006/relationships/image" Target="../media/image597.png"/><Relationship Id="rId12" Type="http://schemas.openxmlformats.org/officeDocument/2006/relationships/image" Target="../media/image60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96.png"/><Relationship Id="rId11" Type="http://schemas.openxmlformats.org/officeDocument/2006/relationships/image" Target="../media/image601.png"/><Relationship Id="rId5" Type="http://schemas.openxmlformats.org/officeDocument/2006/relationships/image" Target="../media/image595.png"/><Relationship Id="rId10" Type="http://schemas.openxmlformats.org/officeDocument/2006/relationships/image" Target="../media/image600.png"/><Relationship Id="rId4" Type="http://schemas.openxmlformats.org/officeDocument/2006/relationships/image" Target="../media/image586.png"/><Relationship Id="rId9" Type="http://schemas.openxmlformats.org/officeDocument/2006/relationships/image" Target="../media/image599.png"/></Relationships>
</file>

<file path=ppt/slides/_rels/slide63.xml.rels><?xml version="1.0" encoding="UTF-8" standalone="yes"?>
<Relationships xmlns="http://schemas.openxmlformats.org/package/2006/relationships"><Relationship Id="rId8" Type="http://schemas.openxmlformats.org/officeDocument/2006/relationships/image" Target="../media/image608.png"/><Relationship Id="rId13" Type="http://schemas.openxmlformats.org/officeDocument/2006/relationships/image" Target="../media/image613.png"/><Relationship Id="rId3" Type="http://schemas.openxmlformats.org/officeDocument/2006/relationships/image" Target="../media/image595.png"/><Relationship Id="rId7" Type="http://schemas.openxmlformats.org/officeDocument/2006/relationships/image" Target="../media/image607.png"/><Relationship Id="rId12" Type="http://schemas.openxmlformats.org/officeDocument/2006/relationships/image" Target="../media/image612.png"/><Relationship Id="rId2" Type="http://schemas.openxmlformats.org/officeDocument/2006/relationships/notesSlide" Target="../notesSlides/notesSlide63.xml"/><Relationship Id="rId16" Type="http://schemas.openxmlformats.org/officeDocument/2006/relationships/image" Target="../media/image616.png"/><Relationship Id="rId1" Type="http://schemas.openxmlformats.org/officeDocument/2006/relationships/slideLayout" Target="../slideLayouts/slideLayout1.xml"/><Relationship Id="rId6" Type="http://schemas.openxmlformats.org/officeDocument/2006/relationships/image" Target="../media/image606.png"/><Relationship Id="rId11" Type="http://schemas.openxmlformats.org/officeDocument/2006/relationships/image" Target="../media/image611.png"/><Relationship Id="rId5" Type="http://schemas.openxmlformats.org/officeDocument/2006/relationships/image" Target="../media/image605.png"/><Relationship Id="rId15" Type="http://schemas.openxmlformats.org/officeDocument/2006/relationships/image" Target="../media/image615.png"/><Relationship Id="rId10" Type="http://schemas.openxmlformats.org/officeDocument/2006/relationships/image" Target="../media/image610.png"/><Relationship Id="rId4" Type="http://schemas.openxmlformats.org/officeDocument/2006/relationships/image" Target="../media/image604.png"/><Relationship Id="rId9" Type="http://schemas.openxmlformats.org/officeDocument/2006/relationships/image" Target="../media/image609.png"/><Relationship Id="rId14" Type="http://schemas.openxmlformats.org/officeDocument/2006/relationships/image" Target="../media/image614.png"/></Relationships>
</file>

<file path=ppt/slides/_rels/slide64.xml.rels><?xml version="1.0" encoding="UTF-8" standalone="yes"?>
<Relationships xmlns="http://schemas.openxmlformats.org/package/2006/relationships"><Relationship Id="rId8" Type="http://schemas.openxmlformats.org/officeDocument/2006/relationships/image" Target="../media/image619.png"/><Relationship Id="rId13" Type="http://schemas.openxmlformats.org/officeDocument/2006/relationships/image" Target="../media/image623.png"/><Relationship Id="rId3" Type="http://schemas.openxmlformats.org/officeDocument/2006/relationships/image" Target="../media/image1.png"/><Relationship Id="rId7" Type="http://schemas.openxmlformats.org/officeDocument/2006/relationships/image" Target="../media/image618.png"/><Relationship Id="rId12" Type="http://schemas.openxmlformats.org/officeDocument/2006/relationships/image" Target="../media/image622.png"/><Relationship Id="rId2" Type="http://schemas.openxmlformats.org/officeDocument/2006/relationships/notesSlide" Target="../notesSlides/notesSlide64.xml"/><Relationship Id="rId16" Type="http://schemas.openxmlformats.org/officeDocument/2006/relationships/image" Target="../media/image626.png"/><Relationship Id="rId1" Type="http://schemas.openxmlformats.org/officeDocument/2006/relationships/slideLayout" Target="../slideLayouts/slideLayout1.xml"/><Relationship Id="rId6" Type="http://schemas.openxmlformats.org/officeDocument/2006/relationships/image" Target="../media/image617.png"/><Relationship Id="rId11" Type="http://schemas.openxmlformats.org/officeDocument/2006/relationships/image" Target="../media/image621.png"/><Relationship Id="rId5" Type="http://schemas.openxmlformats.org/officeDocument/2006/relationships/image" Target="../media/image595.png"/><Relationship Id="rId15" Type="http://schemas.openxmlformats.org/officeDocument/2006/relationships/image" Target="../media/image625.png"/><Relationship Id="rId10" Type="http://schemas.openxmlformats.org/officeDocument/2006/relationships/image" Target="../media/image620.png"/><Relationship Id="rId4" Type="http://schemas.openxmlformats.org/officeDocument/2006/relationships/image" Target="../media/image586.png"/><Relationship Id="rId9" Type="http://schemas.openxmlformats.org/officeDocument/2006/relationships/image" Target="../media/image181.png"/><Relationship Id="rId14" Type="http://schemas.openxmlformats.org/officeDocument/2006/relationships/image" Target="../media/image624.png"/></Relationships>
</file>

<file path=ppt/slides/_rels/slide65.xml.rels><?xml version="1.0" encoding="UTF-8" standalone="yes"?>
<Relationships xmlns="http://schemas.openxmlformats.org/package/2006/relationships"><Relationship Id="rId8" Type="http://schemas.openxmlformats.org/officeDocument/2006/relationships/image" Target="../media/image630.png"/><Relationship Id="rId13" Type="http://schemas.openxmlformats.org/officeDocument/2006/relationships/image" Target="../media/image634.png"/><Relationship Id="rId18" Type="http://schemas.openxmlformats.org/officeDocument/2006/relationships/image" Target="../media/image639.png"/><Relationship Id="rId3" Type="http://schemas.openxmlformats.org/officeDocument/2006/relationships/image" Target="../media/image595.png"/><Relationship Id="rId7" Type="http://schemas.openxmlformats.org/officeDocument/2006/relationships/image" Target="../media/image181.png"/><Relationship Id="rId12" Type="http://schemas.openxmlformats.org/officeDocument/2006/relationships/image" Target="../media/image605.png"/><Relationship Id="rId17" Type="http://schemas.openxmlformats.org/officeDocument/2006/relationships/image" Target="../media/image638.png"/><Relationship Id="rId2" Type="http://schemas.openxmlformats.org/officeDocument/2006/relationships/notesSlide" Target="../notesSlides/notesSlide65.xml"/><Relationship Id="rId16" Type="http://schemas.openxmlformats.org/officeDocument/2006/relationships/image" Target="../media/image637.png"/><Relationship Id="rId1" Type="http://schemas.openxmlformats.org/officeDocument/2006/relationships/slideLayout" Target="../slideLayouts/slideLayout1.xml"/><Relationship Id="rId6" Type="http://schemas.openxmlformats.org/officeDocument/2006/relationships/image" Target="../media/image629.png"/><Relationship Id="rId11" Type="http://schemas.openxmlformats.org/officeDocument/2006/relationships/image" Target="../media/image633.png"/><Relationship Id="rId5" Type="http://schemas.openxmlformats.org/officeDocument/2006/relationships/image" Target="../media/image628.png"/><Relationship Id="rId15" Type="http://schemas.openxmlformats.org/officeDocument/2006/relationships/image" Target="../media/image636.png"/><Relationship Id="rId10" Type="http://schemas.openxmlformats.org/officeDocument/2006/relationships/image" Target="../media/image632.png"/><Relationship Id="rId19" Type="http://schemas.openxmlformats.org/officeDocument/2006/relationships/image" Target="../media/image640.png"/><Relationship Id="rId4" Type="http://schemas.openxmlformats.org/officeDocument/2006/relationships/image" Target="../media/image627.png"/><Relationship Id="rId9" Type="http://schemas.openxmlformats.org/officeDocument/2006/relationships/image" Target="../media/image631.png"/><Relationship Id="rId14" Type="http://schemas.openxmlformats.org/officeDocument/2006/relationships/image" Target="../media/image635.png"/></Relationships>
</file>

<file path=ppt/slides/_rels/slide66.xml.rels><?xml version="1.0" encoding="UTF-8" standalone="yes"?>
<Relationships xmlns="http://schemas.openxmlformats.org/package/2006/relationships"><Relationship Id="rId8" Type="http://schemas.openxmlformats.org/officeDocument/2006/relationships/image" Target="../media/image643.png"/><Relationship Id="rId13" Type="http://schemas.openxmlformats.org/officeDocument/2006/relationships/image" Target="../media/image648.png"/><Relationship Id="rId18" Type="http://schemas.openxmlformats.org/officeDocument/2006/relationships/image" Target="../media/image653.png"/><Relationship Id="rId3" Type="http://schemas.openxmlformats.org/officeDocument/2006/relationships/image" Target="../media/image1.png"/><Relationship Id="rId21" Type="http://schemas.openxmlformats.org/officeDocument/2006/relationships/image" Target="../media/image656.png"/><Relationship Id="rId7" Type="http://schemas.openxmlformats.org/officeDocument/2006/relationships/image" Target="../media/image642.png"/><Relationship Id="rId12" Type="http://schemas.openxmlformats.org/officeDocument/2006/relationships/image" Target="../media/image647.png"/><Relationship Id="rId17" Type="http://schemas.openxmlformats.org/officeDocument/2006/relationships/image" Target="../media/image652.png"/><Relationship Id="rId2" Type="http://schemas.openxmlformats.org/officeDocument/2006/relationships/notesSlide" Target="../notesSlides/notesSlide66.xml"/><Relationship Id="rId16" Type="http://schemas.openxmlformats.org/officeDocument/2006/relationships/image" Target="../media/image651.png"/><Relationship Id="rId20" Type="http://schemas.openxmlformats.org/officeDocument/2006/relationships/image" Target="../media/image655.png"/><Relationship Id="rId1" Type="http://schemas.openxmlformats.org/officeDocument/2006/relationships/slideLayout" Target="../slideLayouts/slideLayout1.xml"/><Relationship Id="rId6" Type="http://schemas.openxmlformats.org/officeDocument/2006/relationships/image" Target="../media/image641.png"/><Relationship Id="rId11" Type="http://schemas.openxmlformats.org/officeDocument/2006/relationships/image" Target="../media/image646.png"/><Relationship Id="rId5" Type="http://schemas.openxmlformats.org/officeDocument/2006/relationships/image" Target="../media/image595.png"/><Relationship Id="rId15" Type="http://schemas.openxmlformats.org/officeDocument/2006/relationships/image" Target="../media/image650.png"/><Relationship Id="rId23" Type="http://schemas.openxmlformats.org/officeDocument/2006/relationships/image" Target="../media/image658.png"/><Relationship Id="rId10" Type="http://schemas.openxmlformats.org/officeDocument/2006/relationships/image" Target="../media/image645.png"/><Relationship Id="rId19" Type="http://schemas.openxmlformats.org/officeDocument/2006/relationships/image" Target="../media/image654.png"/><Relationship Id="rId4" Type="http://schemas.openxmlformats.org/officeDocument/2006/relationships/image" Target="../media/image586.png"/><Relationship Id="rId9" Type="http://schemas.openxmlformats.org/officeDocument/2006/relationships/image" Target="../media/image644.png"/><Relationship Id="rId14" Type="http://schemas.openxmlformats.org/officeDocument/2006/relationships/image" Target="../media/image649.png"/><Relationship Id="rId22" Type="http://schemas.openxmlformats.org/officeDocument/2006/relationships/image" Target="../media/image657.png"/></Relationships>
</file>

<file path=ppt/slides/_rels/slide67.xml.rels><?xml version="1.0" encoding="UTF-8" standalone="yes"?>
<Relationships xmlns="http://schemas.openxmlformats.org/package/2006/relationships"><Relationship Id="rId8" Type="http://schemas.openxmlformats.org/officeDocument/2006/relationships/image" Target="../media/image661.png"/><Relationship Id="rId13" Type="http://schemas.openxmlformats.org/officeDocument/2006/relationships/image" Target="../media/image666.png"/><Relationship Id="rId18" Type="http://schemas.openxmlformats.org/officeDocument/2006/relationships/image" Target="../media/image671.png"/><Relationship Id="rId26" Type="http://schemas.openxmlformats.org/officeDocument/2006/relationships/image" Target="../media/image679.png"/><Relationship Id="rId3" Type="http://schemas.openxmlformats.org/officeDocument/2006/relationships/image" Target="../media/image1.png"/><Relationship Id="rId21" Type="http://schemas.openxmlformats.org/officeDocument/2006/relationships/image" Target="../media/image674.png"/><Relationship Id="rId7" Type="http://schemas.openxmlformats.org/officeDocument/2006/relationships/image" Target="../media/image660.png"/><Relationship Id="rId12" Type="http://schemas.openxmlformats.org/officeDocument/2006/relationships/image" Target="../media/image665.png"/><Relationship Id="rId17" Type="http://schemas.openxmlformats.org/officeDocument/2006/relationships/image" Target="../media/image670.png"/><Relationship Id="rId25" Type="http://schemas.openxmlformats.org/officeDocument/2006/relationships/image" Target="../media/image678.png"/><Relationship Id="rId2" Type="http://schemas.openxmlformats.org/officeDocument/2006/relationships/notesSlide" Target="../notesSlides/notesSlide67.xml"/><Relationship Id="rId16" Type="http://schemas.openxmlformats.org/officeDocument/2006/relationships/image" Target="../media/image669.png"/><Relationship Id="rId20" Type="http://schemas.openxmlformats.org/officeDocument/2006/relationships/image" Target="../media/image673.png"/><Relationship Id="rId29" Type="http://schemas.openxmlformats.org/officeDocument/2006/relationships/image" Target="../media/image682.png"/><Relationship Id="rId1" Type="http://schemas.openxmlformats.org/officeDocument/2006/relationships/slideLayout" Target="../slideLayouts/slideLayout1.xml"/><Relationship Id="rId6" Type="http://schemas.openxmlformats.org/officeDocument/2006/relationships/image" Target="../media/image659.png"/><Relationship Id="rId11" Type="http://schemas.openxmlformats.org/officeDocument/2006/relationships/image" Target="../media/image664.png"/><Relationship Id="rId24" Type="http://schemas.openxmlformats.org/officeDocument/2006/relationships/image" Target="../media/image677.png"/><Relationship Id="rId5" Type="http://schemas.openxmlformats.org/officeDocument/2006/relationships/image" Target="../media/image595.png"/><Relationship Id="rId15" Type="http://schemas.openxmlformats.org/officeDocument/2006/relationships/image" Target="../media/image668.png"/><Relationship Id="rId23" Type="http://schemas.openxmlformats.org/officeDocument/2006/relationships/image" Target="../media/image676.png"/><Relationship Id="rId28" Type="http://schemas.openxmlformats.org/officeDocument/2006/relationships/image" Target="../media/image681.png"/><Relationship Id="rId10" Type="http://schemas.openxmlformats.org/officeDocument/2006/relationships/image" Target="../media/image663.png"/><Relationship Id="rId19" Type="http://schemas.openxmlformats.org/officeDocument/2006/relationships/image" Target="../media/image672.png"/><Relationship Id="rId4" Type="http://schemas.openxmlformats.org/officeDocument/2006/relationships/image" Target="../media/image586.png"/><Relationship Id="rId9" Type="http://schemas.openxmlformats.org/officeDocument/2006/relationships/image" Target="../media/image662.png"/><Relationship Id="rId14" Type="http://schemas.openxmlformats.org/officeDocument/2006/relationships/image" Target="../media/image667.png"/><Relationship Id="rId22" Type="http://schemas.openxmlformats.org/officeDocument/2006/relationships/image" Target="../media/image675.png"/><Relationship Id="rId27" Type="http://schemas.openxmlformats.org/officeDocument/2006/relationships/image" Target="../media/image680.png"/></Relationships>
</file>

<file path=ppt/slides/_rels/slide68.xml.rels><?xml version="1.0" encoding="UTF-8" standalone="yes"?>
<Relationships xmlns="http://schemas.openxmlformats.org/package/2006/relationships"><Relationship Id="rId8" Type="http://schemas.openxmlformats.org/officeDocument/2006/relationships/image" Target="../media/image685.png"/><Relationship Id="rId13" Type="http://schemas.openxmlformats.org/officeDocument/2006/relationships/image" Target="../media/image690.png"/><Relationship Id="rId18" Type="http://schemas.openxmlformats.org/officeDocument/2006/relationships/image" Target="../media/image694.png"/><Relationship Id="rId26" Type="http://schemas.openxmlformats.org/officeDocument/2006/relationships/image" Target="../media/image702.png"/><Relationship Id="rId3" Type="http://schemas.openxmlformats.org/officeDocument/2006/relationships/image" Target="../media/image1.png"/><Relationship Id="rId21" Type="http://schemas.openxmlformats.org/officeDocument/2006/relationships/image" Target="../media/image697.png"/><Relationship Id="rId7" Type="http://schemas.openxmlformats.org/officeDocument/2006/relationships/image" Target="../media/image684.png"/><Relationship Id="rId12" Type="http://schemas.openxmlformats.org/officeDocument/2006/relationships/image" Target="../media/image689.png"/><Relationship Id="rId17" Type="http://schemas.openxmlformats.org/officeDocument/2006/relationships/image" Target="../media/image605.png"/><Relationship Id="rId25" Type="http://schemas.openxmlformats.org/officeDocument/2006/relationships/image" Target="../media/image701.png"/><Relationship Id="rId2" Type="http://schemas.openxmlformats.org/officeDocument/2006/relationships/notesSlide" Target="../notesSlides/notesSlide68.xml"/><Relationship Id="rId16" Type="http://schemas.openxmlformats.org/officeDocument/2006/relationships/image" Target="../media/image693.png"/><Relationship Id="rId20" Type="http://schemas.openxmlformats.org/officeDocument/2006/relationships/image" Target="../media/image696.png"/><Relationship Id="rId1" Type="http://schemas.openxmlformats.org/officeDocument/2006/relationships/slideLayout" Target="../slideLayouts/slideLayout1.xml"/><Relationship Id="rId6" Type="http://schemas.openxmlformats.org/officeDocument/2006/relationships/image" Target="../media/image683.png"/><Relationship Id="rId11" Type="http://schemas.openxmlformats.org/officeDocument/2006/relationships/image" Target="../media/image688.png"/><Relationship Id="rId24" Type="http://schemas.openxmlformats.org/officeDocument/2006/relationships/image" Target="../media/image700.png"/><Relationship Id="rId5" Type="http://schemas.openxmlformats.org/officeDocument/2006/relationships/image" Target="../media/image595.png"/><Relationship Id="rId15" Type="http://schemas.openxmlformats.org/officeDocument/2006/relationships/image" Target="../media/image692.png"/><Relationship Id="rId23" Type="http://schemas.openxmlformats.org/officeDocument/2006/relationships/image" Target="../media/image699.png"/><Relationship Id="rId10" Type="http://schemas.openxmlformats.org/officeDocument/2006/relationships/image" Target="../media/image687.png"/><Relationship Id="rId19" Type="http://schemas.openxmlformats.org/officeDocument/2006/relationships/image" Target="../media/image695.png"/><Relationship Id="rId4" Type="http://schemas.openxmlformats.org/officeDocument/2006/relationships/image" Target="../media/image586.png"/><Relationship Id="rId9" Type="http://schemas.openxmlformats.org/officeDocument/2006/relationships/image" Target="../media/image686.png"/><Relationship Id="rId14" Type="http://schemas.openxmlformats.org/officeDocument/2006/relationships/image" Target="../media/image691.png"/><Relationship Id="rId22" Type="http://schemas.openxmlformats.org/officeDocument/2006/relationships/image" Target="../media/image698.png"/><Relationship Id="rId27" Type="http://schemas.openxmlformats.org/officeDocument/2006/relationships/image" Target="../media/image703.png"/></Relationships>
</file>

<file path=ppt/slides/_rels/slide69.xml.rels><?xml version="1.0" encoding="UTF-8" standalone="yes"?>
<Relationships xmlns="http://schemas.openxmlformats.org/package/2006/relationships"><Relationship Id="rId8" Type="http://schemas.openxmlformats.org/officeDocument/2006/relationships/image" Target="../media/image704.png"/><Relationship Id="rId3" Type="http://schemas.openxmlformats.org/officeDocument/2006/relationships/image" Target="../media/image1.png"/><Relationship Id="rId7" Type="http://schemas.openxmlformats.org/officeDocument/2006/relationships/image" Target="../media/image169.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07.png"/><Relationship Id="rId5" Type="http://schemas.openxmlformats.org/officeDocument/2006/relationships/image" Target="../media/image69.png"/><Relationship Id="rId10" Type="http://schemas.openxmlformats.org/officeDocument/2006/relationships/image" Target="../media/image706.png"/><Relationship Id="rId4" Type="http://schemas.openxmlformats.org/officeDocument/2006/relationships/image" Target="../media/image68.png"/><Relationship Id="rId9" Type="http://schemas.openxmlformats.org/officeDocument/2006/relationships/image" Target="../media/image705.png"/></Relationships>
</file>

<file path=ppt/slides/_rels/slide70.xml.rels><?xml version="1.0" encoding="UTF-8" standalone="yes"?>
<Relationships xmlns="http://schemas.openxmlformats.org/package/2006/relationships"><Relationship Id="rId8" Type="http://schemas.openxmlformats.org/officeDocument/2006/relationships/image" Target="../media/image709.png"/><Relationship Id="rId3" Type="http://schemas.openxmlformats.org/officeDocument/2006/relationships/image" Target="../media/image1.png"/><Relationship Id="rId7" Type="http://schemas.openxmlformats.org/officeDocument/2006/relationships/image" Target="../media/image75.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708.png"/><Relationship Id="rId11" Type="http://schemas.openxmlformats.org/officeDocument/2006/relationships/image" Target="../media/image157.png"/><Relationship Id="rId5" Type="http://schemas.openxmlformats.org/officeDocument/2006/relationships/image" Target="../media/image69.png"/><Relationship Id="rId10" Type="http://schemas.openxmlformats.org/officeDocument/2006/relationships/image" Target="../media/image711.png"/><Relationship Id="rId4" Type="http://schemas.openxmlformats.org/officeDocument/2006/relationships/image" Target="../media/image68.png"/><Relationship Id="rId9" Type="http://schemas.openxmlformats.org/officeDocument/2006/relationships/image" Target="../media/image710.png"/></Relationships>
</file>

<file path=ppt/slides/_rels/slide71.xml.rels><?xml version="1.0" encoding="UTF-8" standalone="yes"?>
<Relationships xmlns="http://schemas.openxmlformats.org/package/2006/relationships"><Relationship Id="rId8" Type="http://schemas.openxmlformats.org/officeDocument/2006/relationships/image" Target="../media/image712.png"/><Relationship Id="rId13" Type="http://schemas.openxmlformats.org/officeDocument/2006/relationships/image" Target="../media/image715.png"/><Relationship Id="rId3" Type="http://schemas.openxmlformats.org/officeDocument/2006/relationships/image" Target="../media/image1.png"/><Relationship Id="rId7" Type="http://schemas.openxmlformats.org/officeDocument/2006/relationships/image" Target="../media/image110.png"/><Relationship Id="rId12" Type="http://schemas.openxmlformats.org/officeDocument/2006/relationships/image" Target="../media/image714.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109.png"/><Relationship Id="rId11" Type="http://schemas.openxmlformats.org/officeDocument/2006/relationships/image" Target="../media/image713.png"/><Relationship Id="rId5" Type="http://schemas.openxmlformats.org/officeDocument/2006/relationships/image" Target="../media/image69.png"/><Relationship Id="rId10" Type="http://schemas.openxmlformats.org/officeDocument/2006/relationships/image" Target="../media/image149.png"/><Relationship Id="rId4" Type="http://schemas.openxmlformats.org/officeDocument/2006/relationships/image" Target="../media/image68.png"/><Relationship Id="rId9" Type="http://schemas.openxmlformats.org/officeDocument/2006/relationships/image" Target="../media/image90.png"/><Relationship Id="rId14" Type="http://schemas.openxmlformats.org/officeDocument/2006/relationships/image" Target="../media/image72.png"/></Relationships>
</file>

<file path=ppt/slides/_rels/slide72.xml.rels><?xml version="1.0" encoding="UTF-8" standalone="yes"?>
<Relationships xmlns="http://schemas.openxmlformats.org/package/2006/relationships"><Relationship Id="rId8" Type="http://schemas.openxmlformats.org/officeDocument/2006/relationships/image" Target="../media/image718.png"/><Relationship Id="rId13" Type="http://schemas.openxmlformats.org/officeDocument/2006/relationships/image" Target="../media/image723.png"/><Relationship Id="rId3" Type="http://schemas.openxmlformats.org/officeDocument/2006/relationships/image" Target="../media/image1.png"/><Relationship Id="rId7" Type="http://schemas.openxmlformats.org/officeDocument/2006/relationships/image" Target="../media/image717.png"/><Relationship Id="rId12" Type="http://schemas.openxmlformats.org/officeDocument/2006/relationships/image" Target="../media/image722.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716.png"/><Relationship Id="rId11" Type="http://schemas.openxmlformats.org/officeDocument/2006/relationships/image" Target="../media/image721.png"/><Relationship Id="rId5" Type="http://schemas.openxmlformats.org/officeDocument/2006/relationships/image" Target="../media/image69.png"/><Relationship Id="rId15" Type="http://schemas.openxmlformats.org/officeDocument/2006/relationships/image" Target="../media/image707.png"/><Relationship Id="rId10" Type="http://schemas.openxmlformats.org/officeDocument/2006/relationships/image" Target="../media/image720.png"/><Relationship Id="rId4" Type="http://schemas.openxmlformats.org/officeDocument/2006/relationships/image" Target="../media/image68.png"/><Relationship Id="rId9" Type="http://schemas.openxmlformats.org/officeDocument/2006/relationships/image" Target="../media/image719.png"/><Relationship Id="rId14" Type="http://schemas.openxmlformats.org/officeDocument/2006/relationships/image" Target="../media/image724.png"/></Relationships>
</file>

<file path=ppt/slides/_rels/slide73.xml.rels><?xml version="1.0" encoding="UTF-8" standalone="yes"?>
<Relationships xmlns="http://schemas.openxmlformats.org/package/2006/relationships"><Relationship Id="rId8" Type="http://schemas.openxmlformats.org/officeDocument/2006/relationships/image" Target="../media/image726.png"/><Relationship Id="rId3" Type="http://schemas.openxmlformats.org/officeDocument/2006/relationships/image" Target="../media/image1.png"/><Relationship Id="rId7" Type="http://schemas.openxmlformats.org/officeDocument/2006/relationships/image" Target="../media/image725.png"/><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86.png"/></Relationships>
</file>

<file path=ppt/slides/_rels/slide74.xml.rels><?xml version="1.0" encoding="UTF-8" standalone="yes"?>
<Relationships xmlns="http://schemas.openxmlformats.org/package/2006/relationships"><Relationship Id="rId8" Type="http://schemas.openxmlformats.org/officeDocument/2006/relationships/image" Target="../media/image729.png"/><Relationship Id="rId13" Type="http://schemas.openxmlformats.org/officeDocument/2006/relationships/image" Target="../media/image72.png"/><Relationship Id="rId3" Type="http://schemas.openxmlformats.org/officeDocument/2006/relationships/image" Target="../media/image1.png"/><Relationship Id="rId7" Type="http://schemas.openxmlformats.org/officeDocument/2006/relationships/image" Target="../media/image728.png"/><Relationship Id="rId12" Type="http://schemas.openxmlformats.org/officeDocument/2006/relationships/image" Target="../media/image731.png"/><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727.png"/><Relationship Id="rId11" Type="http://schemas.openxmlformats.org/officeDocument/2006/relationships/image" Target="../media/image730.png"/><Relationship Id="rId5" Type="http://schemas.openxmlformats.org/officeDocument/2006/relationships/image" Target="../media/image69.png"/><Relationship Id="rId10" Type="http://schemas.openxmlformats.org/officeDocument/2006/relationships/image" Target="../media/image725.png"/><Relationship Id="rId4" Type="http://schemas.openxmlformats.org/officeDocument/2006/relationships/image" Target="../media/image68.png"/><Relationship Id="rId9" Type="http://schemas.openxmlformats.org/officeDocument/2006/relationships/image" Target="../media/image149.png"/></Relationships>
</file>

<file path=ppt/slides/_rels/slide75.xml.rels><?xml version="1.0" encoding="UTF-8" standalone="yes"?>
<Relationships xmlns="http://schemas.openxmlformats.org/package/2006/relationships"><Relationship Id="rId8" Type="http://schemas.openxmlformats.org/officeDocument/2006/relationships/image" Target="../media/image732.png"/><Relationship Id="rId3" Type="http://schemas.openxmlformats.org/officeDocument/2006/relationships/image" Target="../media/image1.png"/><Relationship Id="rId7" Type="http://schemas.openxmlformats.org/officeDocument/2006/relationships/image" Target="../media/image704.png"/><Relationship Id="rId12" Type="http://schemas.openxmlformats.org/officeDocument/2006/relationships/image" Target="../media/image157.png"/><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image" Target="../media/image169.png"/><Relationship Id="rId11" Type="http://schemas.openxmlformats.org/officeDocument/2006/relationships/image" Target="../media/image167.png"/><Relationship Id="rId5" Type="http://schemas.openxmlformats.org/officeDocument/2006/relationships/image" Target="../media/image69.png"/><Relationship Id="rId10" Type="http://schemas.openxmlformats.org/officeDocument/2006/relationships/image" Target="../media/image733.png"/><Relationship Id="rId4" Type="http://schemas.openxmlformats.org/officeDocument/2006/relationships/image" Target="../media/image68.png"/><Relationship Id="rId9" Type="http://schemas.openxmlformats.org/officeDocument/2006/relationships/image" Target="../media/image168.png"/></Relationships>
</file>

<file path=ppt/slides/_rels/slide76.xml.rels><?xml version="1.0" encoding="UTF-8" standalone="yes"?>
<Relationships xmlns="http://schemas.openxmlformats.org/package/2006/relationships"><Relationship Id="rId8" Type="http://schemas.openxmlformats.org/officeDocument/2006/relationships/image" Target="../media/image735.png"/><Relationship Id="rId3" Type="http://schemas.openxmlformats.org/officeDocument/2006/relationships/image" Target="../media/image1.png"/><Relationship Id="rId7" Type="http://schemas.openxmlformats.org/officeDocument/2006/relationships/image" Target="../media/image149.png"/><Relationship Id="rId12" Type="http://schemas.openxmlformats.org/officeDocument/2006/relationships/image" Target="../media/image707.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734.png"/><Relationship Id="rId11" Type="http://schemas.openxmlformats.org/officeDocument/2006/relationships/image" Target="../media/image737.png"/><Relationship Id="rId5" Type="http://schemas.openxmlformats.org/officeDocument/2006/relationships/image" Target="../media/image69.png"/><Relationship Id="rId10" Type="http://schemas.openxmlformats.org/officeDocument/2006/relationships/image" Target="../media/image67.png"/><Relationship Id="rId4" Type="http://schemas.openxmlformats.org/officeDocument/2006/relationships/image" Target="../media/image68.png"/><Relationship Id="rId9" Type="http://schemas.openxmlformats.org/officeDocument/2006/relationships/image" Target="../media/image736.png"/></Relationships>
</file>

<file path=ppt/slides/_rels/slide77.xml.rels><?xml version="1.0" encoding="UTF-8" standalone="yes"?>
<Relationships xmlns="http://schemas.openxmlformats.org/package/2006/relationships"><Relationship Id="rId8" Type="http://schemas.openxmlformats.org/officeDocument/2006/relationships/image" Target="../media/image738.png"/><Relationship Id="rId13" Type="http://schemas.openxmlformats.org/officeDocument/2006/relationships/image" Target="../media/image743.png"/><Relationship Id="rId3" Type="http://schemas.openxmlformats.org/officeDocument/2006/relationships/image" Target="../media/image1.png"/><Relationship Id="rId7" Type="http://schemas.openxmlformats.org/officeDocument/2006/relationships/image" Target="../media/image70.png"/><Relationship Id="rId12" Type="http://schemas.openxmlformats.org/officeDocument/2006/relationships/image" Target="../media/image742.png"/><Relationship Id="rId2" Type="http://schemas.openxmlformats.org/officeDocument/2006/relationships/notesSlide" Target="../notesSlides/notesSlide77.xml"/><Relationship Id="rId1" Type="http://schemas.openxmlformats.org/officeDocument/2006/relationships/slideLayout" Target="../slideLayouts/slideLayout1.xml"/><Relationship Id="rId6" Type="http://schemas.openxmlformats.org/officeDocument/2006/relationships/image" Target="../media/image169.png"/><Relationship Id="rId11" Type="http://schemas.openxmlformats.org/officeDocument/2006/relationships/image" Target="../media/image741.png"/><Relationship Id="rId5" Type="http://schemas.openxmlformats.org/officeDocument/2006/relationships/image" Target="../media/image69.png"/><Relationship Id="rId10" Type="http://schemas.openxmlformats.org/officeDocument/2006/relationships/image" Target="../media/image740.png"/><Relationship Id="rId4" Type="http://schemas.openxmlformats.org/officeDocument/2006/relationships/image" Target="../media/image68.png"/><Relationship Id="rId9" Type="http://schemas.openxmlformats.org/officeDocument/2006/relationships/image" Target="../media/image739.png"/></Relationships>
</file>

<file path=ppt/slides/_rels/slide78.xml.rels><?xml version="1.0" encoding="UTF-8" standalone="yes"?>
<Relationships xmlns="http://schemas.openxmlformats.org/package/2006/relationships"><Relationship Id="rId8" Type="http://schemas.openxmlformats.org/officeDocument/2006/relationships/image" Target="../media/image745.png"/><Relationship Id="rId13" Type="http://schemas.openxmlformats.org/officeDocument/2006/relationships/image" Target="../media/image67.png"/><Relationship Id="rId3" Type="http://schemas.openxmlformats.org/officeDocument/2006/relationships/image" Target="../media/image1.png"/><Relationship Id="rId7" Type="http://schemas.openxmlformats.org/officeDocument/2006/relationships/image" Target="../media/image75.png"/><Relationship Id="rId12" Type="http://schemas.openxmlformats.org/officeDocument/2006/relationships/image" Target="../media/image736.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image" Target="../media/image744.png"/><Relationship Id="rId11" Type="http://schemas.openxmlformats.org/officeDocument/2006/relationships/image" Target="../media/image748.png"/><Relationship Id="rId5" Type="http://schemas.openxmlformats.org/officeDocument/2006/relationships/image" Target="../media/image150.png"/><Relationship Id="rId10" Type="http://schemas.openxmlformats.org/officeDocument/2006/relationships/image" Target="../media/image747.png"/><Relationship Id="rId4" Type="http://schemas.openxmlformats.org/officeDocument/2006/relationships/image" Target="../media/image68.png"/><Relationship Id="rId9" Type="http://schemas.openxmlformats.org/officeDocument/2006/relationships/image" Target="../media/image746.png"/><Relationship Id="rId14" Type="http://schemas.openxmlformats.org/officeDocument/2006/relationships/image" Target="../media/image743.png"/></Relationships>
</file>

<file path=ppt/slides/_rels/slide79.xml.rels><?xml version="1.0" encoding="UTF-8" standalone="yes"?>
<Relationships xmlns="http://schemas.openxmlformats.org/package/2006/relationships"><Relationship Id="rId8" Type="http://schemas.openxmlformats.org/officeDocument/2006/relationships/image" Target="../media/image749.png"/><Relationship Id="rId3" Type="http://schemas.openxmlformats.org/officeDocument/2006/relationships/image" Target="../media/image1.png"/><Relationship Id="rId7" Type="http://schemas.openxmlformats.org/officeDocument/2006/relationships/image" Target="../media/image70.png"/><Relationship Id="rId2" Type="http://schemas.openxmlformats.org/officeDocument/2006/relationships/notesSlide" Target="../notesSlides/notesSlide79.xml"/><Relationship Id="rId1" Type="http://schemas.openxmlformats.org/officeDocument/2006/relationships/slideLayout" Target="../slideLayouts/slideLayout1.xml"/><Relationship Id="rId6" Type="http://schemas.openxmlformats.org/officeDocument/2006/relationships/image" Target="../media/image169.png"/><Relationship Id="rId5" Type="http://schemas.openxmlformats.org/officeDocument/2006/relationships/image" Target="../media/image69.png"/><Relationship Id="rId10" Type="http://schemas.openxmlformats.org/officeDocument/2006/relationships/image" Target="../media/image751.png"/><Relationship Id="rId4" Type="http://schemas.openxmlformats.org/officeDocument/2006/relationships/image" Target="../media/image68.png"/><Relationship Id="rId9" Type="http://schemas.openxmlformats.org/officeDocument/2006/relationships/image" Target="../media/image750.png"/></Relationships>
</file>

<file path=ppt/slides/_rels/slide80.xml.rels><?xml version="1.0" encoding="UTF-8" standalone="yes"?>
<Relationships xmlns="http://schemas.openxmlformats.org/package/2006/relationships"><Relationship Id="rId8" Type="http://schemas.openxmlformats.org/officeDocument/2006/relationships/image" Target="../media/image752.png"/><Relationship Id="rId13" Type="http://schemas.openxmlformats.org/officeDocument/2006/relationships/image" Target="../media/image757.png"/><Relationship Id="rId3" Type="http://schemas.openxmlformats.org/officeDocument/2006/relationships/image" Target="../media/image1.png"/><Relationship Id="rId7" Type="http://schemas.openxmlformats.org/officeDocument/2006/relationships/image" Target="../media/image74.png"/><Relationship Id="rId12" Type="http://schemas.openxmlformats.org/officeDocument/2006/relationships/image" Target="../media/image756.png"/><Relationship Id="rId2" Type="http://schemas.openxmlformats.org/officeDocument/2006/relationships/notesSlide" Target="../notesSlides/notesSlide80.xml"/><Relationship Id="rId1" Type="http://schemas.openxmlformats.org/officeDocument/2006/relationships/slideLayout" Target="../slideLayouts/slideLayout1.xml"/><Relationship Id="rId6" Type="http://schemas.openxmlformats.org/officeDocument/2006/relationships/image" Target="../media/image564.png"/><Relationship Id="rId11" Type="http://schemas.openxmlformats.org/officeDocument/2006/relationships/image" Target="../media/image755.png"/><Relationship Id="rId5" Type="http://schemas.openxmlformats.org/officeDocument/2006/relationships/image" Target="../media/image161.png"/><Relationship Id="rId10" Type="http://schemas.openxmlformats.org/officeDocument/2006/relationships/image" Target="../media/image754.png"/><Relationship Id="rId4" Type="http://schemas.openxmlformats.org/officeDocument/2006/relationships/image" Target="../media/image68.png"/><Relationship Id="rId9" Type="http://schemas.openxmlformats.org/officeDocument/2006/relationships/image" Target="../media/image753.png"/><Relationship Id="rId14" Type="http://schemas.openxmlformats.org/officeDocument/2006/relationships/image" Target="../media/image585.png"/></Relationships>
</file>

<file path=ppt/slides/_rels/slide81.xml.rels><?xml version="1.0" encoding="UTF-8" standalone="yes"?>
<Relationships xmlns="http://schemas.openxmlformats.org/package/2006/relationships"><Relationship Id="rId8" Type="http://schemas.openxmlformats.org/officeDocument/2006/relationships/image" Target="../media/image759.png"/><Relationship Id="rId13" Type="http://schemas.openxmlformats.org/officeDocument/2006/relationships/image" Target="../media/image157.png"/><Relationship Id="rId3" Type="http://schemas.openxmlformats.org/officeDocument/2006/relationships/image" Target="../media/image1.png"/><Relationship Id="rId7" Type="http://schemas.openxmlformats.org/officeDocument/2006/relationships/image" Target="../media/image169.png"/><Relationship Id="rId12" Type="http://schemas.openxmlformats.org/officeDocument/2006/relationships/image" Target="../media/image567.png"/><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758.png"/><Relationship Id="rId11" Type="http://schemas.openxmlformats.org/officeDocument/2006/relationships/image" Target="../media/image160.png"/><Relationship Id="rId5" Type="http://schemas.openxmlformats.org/officeDocument/2006/relationships/image" Target="../media/image69.png"/><Relationship Id="rId10" Type="http://schemas.openxmlformats.org/officeDocument/2006/relationships/image" Target="../media/image761.png"/><Relationship Id="rId4" Type="http://schemas.openxmlformats.org/officeDocument/2006/relationships/image" Target="../media/image68.png"/><Relationship Id="rId9" Type="http://schemas.openxmlformats.org/officeDocument/2006/relationships/image" Target="../media/image760.png"/></Relationships>
</file>

<file path=ppt/slides/_rels/slide82.xml.rels><?xml version="1.0" encoding="UTF-8" standalone="yes"?>
<Relationships xmlns="http://schemas.openxmlformats.org/package/2006/relationships"><Relationship Id="rId8" Type="http://schemas.openxmlformats.org/officeDocument/2006/relationships/image" Target="../media/image565.png"/><Relationship Id="rId13" Type="http://schemas.openxmlformats.org/officeDocument/2006/relationships/image" Target="../media/image769.png"/><Relationship Id="rId3" Type="http://schemas.openxmlformats.org/officeDocument/2006/relationships/image" Target="../media/image762.png"/><Relationship Id="rId7" Type="http://schemas.openxmlformats.org/officeDocument/2006/relationships/image" Target="../media/image764.png"/><Relationship Id="rId12" Type="http://schemas.openxmlformats.org/officeDocument/2006/relationships/image" Target="../media/image768.png"/><Relationship Id="rId2" Type="http://schemas.openxmlformats.org/officeDocument/2006/relationships/notesSlide" Target="../notesSlides/notesSlide82.xml"/><Relationship Id="rId16" Type="http://schemas.openxmlformats.org/officeDocument/2006/relationships/image" Target="../media/image751.png"/><Relationship Id="rId1" Type="http://schemas.openxmlformats.org/officeDocument/2006/relationships/slideLayout" Target="../slideLayouts/slideLayout1.xml"/><Relationship Id="rId6" Type="http://schemas.openxmlformats.org/officeDocument/2006/relationships/image" Target="../media/image763.png"/><Relationship Id="rId11" Type="http://schemas.openxmlformats.org/officeDocument/2006/relationships/image" Target="../media/image767.png"/><Relationship Id="rId5" Type="http://schemas.openxmlformats.org/officeDocument/2006/relationships/image" Target="../media/image69.png"/><Relationship Id="rId15" Type="http://schemas.openxmlformats.org/officeDocument/2006/relationships/image" Target="../media/image585.png"/><Relationship Id="rId10" Type="http://schemas.openxmlformats.org/officeDocument/2006/relationships/image" Target="../media/image766.png"/><Relationship Id="rId4" Type="http://schemas.openxmlformats.org/officeDocument/2006/relationships/image" Target="../media/image68.png"/><Relationship Id="rId9" Type="http://schemas.openxmlformats.org/officeDocument/2006/relationships/image" Target="../media/image765.png"/><Relationship Id="rId14" Type="http://schemas.openxmlformats.org/officeDocument/2006/relationships/image" Target="../media/image707.png"/></Relationships>
</file>

<file path=ppt/slides/_rels/slide83.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774.png"/><Relationship Id="rId3" Type="http://schemas.openxmlformats.org/officeDocument/2006/relationships/image" Target="../media/image1.png"/><Relationship Id="rId7" Type="http://schemas.openxmlformats.org/officeDocument/2006/relationships/image" Target="../media/image70.png"/><Relationship Id="rId12" Type="http://schemas.openxmlformats.org/officeDocument/2006/relationships/image" Target="../media/image585.png"/><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169.png"/><Relationship Id="rId11" Type="http://schemas.openxmlformats.org/officeDocument/2006/relationships/image" Target="../media/image773.png"/><Relationship Id="rId5" Type="http://schemas.openxmlformats.org/officeDocument/2006/relationships/image" Target="../media/image69.png"/><Relationship Id="rId10" Type="http://schemas.openxmlformats.org/officeDocument/2006/relationships/image" Target="../media/image772.png"/><Relationship Id="rId4" Type="http://schemas.openxmlformats.org/officeDocument/2006/relationships/image" Target="../media/image68.png"/><Relationship Id="rId9" Type="http://schemas.openxmlformats.org/officeDocument/2006/relationships/image" Target="../media/image771.png"/></Relationships>
</file>

<file path=ppt/slides/_rels/slide84.xml.rels><?xml version="1.0" encoding="UTF-8" standalone="yes"?>
<Relationships xmlns="http://schemas.openxmlformats.org/package/2006/relationships"><Relationship Id="rId8" Type="http://schemas.openxmlformats.org/officeDocument/2006/relationships/image" Target="../media/image776.png"/><Relationship Id="rId13" Type="http://schemas.openxmlformats.org/officeDocument/2006/relationships/image" Target="../media/image779.png"/><Relationship Id="rId3" Type="http://schemas.openxmlformats.org/officeDocument/2006/relationships/image" Target="../media/image1.png"/><Relationship Id="rId7" Type="http://schemas.openxmlformats.org/officeDocument/2006/relationships/image" Target="../media/image429.png"/><Relationship Id="rId12" Type="http://schemas.openxmlformats.org/officeDocument/2006/relationships/image" Target="../media/image778.png"/><Relationship Id="rId2" Type="http://schemas.openxmlformats.org/officeDocument/2006/relationships/notesSlide" Target="../notesSlides/notesSlide84.xml"/><Relationship Id="rId1" Type="http://schemas.openxmlformats.org/officeDocument/2006/relationships/slideLayout" Target="../slideLayouts/slideLayout1.xml"/><Relationship Id="rId6" Type="http://schemas.openxmlformats.org/officeDocument/2006/relationships/image" Target="../media/image775.png"/><Relationship Id="rId11" Type="http://schemas.openxmlformats.org/officeDocument/2006/relationships/image" Target="../media/image777.png"/><Relationship Id="rId5" Type="http://schemas.openxmlformats.org/officeDocument/2006/relationships/image" Target="../media/image69.png"/><Relationship Id="rId15" Type="http://schemas.openxmlformats.org/officeDocument/2006/relationships/image" Target="../media/image86.png"/><Relationship Id="rId10" Type="http://schemas.openxmlformats.org/officeDocument/2006/relationships/image" Target="../media/image774.png"/><Relationship Id="rId4" Type="http://schemas.openxmlformats.org/officeDocument/2006/relationships/image" Target="../media/image68.png"/><Relationship Id="rId9" Type="http://schemas.openxmlformats.org/officeDocument/2006/relationships/image" Target="../media/image569.png"/><Relationship Id="rId14" Type="http://schemas.openxmlformats.org/officeDocument/2006/relationships/image" Target="../media/image67.png"/></Relationships>
</file>

<file path=ppt/slides/_rels/slide85.xml.rels><?xml version="1.0" encoding="UTF-8" standalone="yes"?>
<Relationships xmlns="http://schemas.openxmlformats.org/package/2006/relationships"><Relationship Id="rId8" Type="http://schemas.openxmlformats.org/officeDocument/2006/relationships/image" Target="../media/image289.png"/><Relationship Id="rId13" Type="http://schemas.openxmlformats.org/officeDocument/2006/relationships/image" Target="../media/image294.png"/><Relationship Id="rId18" Type="http://schemas.openxmlformats.org/officeDocument/2006/relationships/image" Target="../media/image299.png"/><Relationship Id="rId3" Type="http://schemas.openxmlformats.org/officeDocument/2006/relationships/image" Target="../media/image284.png"/><Relationship Id="rId21" Type="http://schemas.openxmlformats.org/officeDocument/2006/relationships/image" Target="../media/image302.png"/><Relationship Id="rId7" Type="http://schemas.openxmlformats.org/officeDocument/2006/relationships/image" Target="../media/image288.png"/><Relationship Id="rId12" Type="http://schemas.openxmlformats.org/officeDocument/2006/relationships/image" Target="../media/image293.png"/><Relationship Id="rId17" Type="http://schemas.openxmlformats.org/officeDocument/2006/relationships/image" Target="../media/image298.png"/><Relationship Id="rId2" Type="http://schemas.openxmlformats.org/officeDocument/2006/relationships/notesSlide" Target="../notesSlides/notesSlide85.xml"/><Relationship Id="rId16" Type="http://schemas.openxmlformats.org/officeDocument/2006/relationships/image" Target="../media/image297.png"/><Relationship Id="rId20" Type="http://schemas.openxmlformats.org/officeDocument/2006/relationships/image" Target="../media/image301.png"/><Relationship Id="rId1" Type="http://schemas.openxmlformats.org/officeDocument/2006/relationships/slideLayout" Target="../slideLayouts/slideLayout1.xml"/><Relationship Id="rId6" Type="http://schemas.openxmlformats.org/officeDocument/2006/relationships/image" Target="../media/image287.png"/><Relationship Id="rId11" Type="http://schemas.openxmlformats.org/officeDocument/2006/relationships/image" Target="../media/image292.png"/><Relationship Id="rId5" Type="http://schemas.openxmlformats.org/officeDocument/2006/relationships/image" Target="../media/image286.png"/><Relationship Id="rId15" Type="http://schemas.openxmlformats.org/officeDocument/2006/relationships/image" Target="../media/image296.png"/><Relationship Id="rId10" Type="http://schemas.openxmlformats.org/officeDocument/2006/relationships/image" Target="../media/image291.png"/><Relationship Id="rId19" Type="http://schemas.openxmlformats.org/officeDocument/2006/relationships/image" Target="../media/image300.png"/><Relationship Id="rId4" Type="http://schemas.openxmlformats.org/officeDocument/2006/relationships/image" Target="../media/image285.png"/><Relationship Id="rId9" Type="http://schemas.openxmlformats.org/officeDocument/2006/relationships/image" Target="../media/image290.png"/><Relationship Id="rId14" Type="http://schemas.openxmlformats.org/officeDocument/2006/relationships/image" Target="../media/image29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010650" y="0"/>
            <a:ext cx="3181350" cy="2705100"/>
          </a:xfrm>
          <a:prstGeom prst="rect">
            <a:avLst/>
          </a:prstGeom>
        </p:spPr>
      </p:pic>
      <p:pic>
        <p:nvPicPr>
          <p:cNvPr id="4" name="Image 2" descr="preencoded.png"/>
          <p:cNvPicPr>
            <a:picLocks noChangeAspect="1"/>
          </p:cNvPicPr>
          <p:nvPr/>
        </p:nvPicPr>
        <p:blipFill>
          <a:blip r:embed="rId5"/>
          <a:stretch>
            <a:fillRect/>
          </a:stretch>
        </p:blipFill>
        <p:spPr>
          <a:xfrm>
            <a:off x="0" y="4610100"/>
            <a:ext cx="2247900" cy="2438400"/>
          </a:xfrm>
          <a:prstGeom prst="rect">
            <a:avLst/>
          </a:prstGeom>
        </p:spPr>
      </p:pic>
      <p:pic>
        <p:nvPicPr>
          <p:cNvPr id="5" name="Image 3" descr="preencoded.png"/>
          <p:cNvPicPr>
            <a:picLocks noChangeAspect="1"/>
          </p:cNvPicPr>
          <p:nvPr/>
        </p:nvPicPr>
        <p:blipFill>
          <a:blip r:embed="rId6"/>
          <a:stretch>
            <a:fillRect/>
          </a:stretch>
        </p:blipFill>
        <p:spPr>
          <a:xfrm>
            <a:off x="7620000" y="476250"/>
            <a:ext cx="3048000" cy="3048000"/>
          </a:xfrm>
          <a:prstGeom prst="rect">
            <a:avLst/>
          </a:prstGeom>
        </p:spPr>
      </p:pic>
      <p:pic>
        <p:nvPicPr>
          <p:cNvPr id="6" name="Image 4" descr="preencoded.png"/>
          <p:cNvPicPr>
            <a:picLocks noChangeAspect="1"/>
          </p:cNvPicPr>
          <p:nvPr/>
        </p:nvPicPr>
        <p:blipFill>
          <a:blip r:embed="rId7"/>
          <a:stretch>
            <a:fillRect/>
          </a:stretch>
        </p:blipFill>
        <p:spPr>
          <a:xfrm>
            <a:off x="11051206" y="3202606"/>
            <a:ext cx="1140794" cy="3310288"/>
          </a:xfrm>
          <a:prstGeom prst="rect">
            <a:avLst/>
          </a:prstGeom>
        </p:spPr>
      </p:pic>
      <p:pic>
        <p:nvPicPr>
          <p:cNvPr id="7" name="Image 5" descr="preencoded.png"/>
          <p:cNvPicPr>
            <a:picLocks noChangeAspect="1"/>
          </p:cNvPicPr>
          <p:nvPr/>
        </p:nvPicPr>
        <p:blipFill>
          <a:blip r:embed="rId8"/>
          <a:stretch>
            <a:fillRect/>
          </a:stretch>
        </p:blipFill>
        <p:spPr>
          <a:xfrm>
            <a:off x="11468824" y="3554064"/>
            <a:ext cx="723176" cy="2916424"/>
          </a:xfrm>
          <a:prstGeom prst="rect">
            <a:avLst/>
          </a:prstGeom>
        </p:spPr>
      </p:pic>
      <p:pic>
        <p:nvPicPr>
          <p:cNvPr id="8" name="Image 6" descr="preencoded.png"/>
          <p:cNvPicPr>
            <a:picLocks noChangeAspect="1"/>
          </p:cNvPicPr>
          <p:nvPr/>
        </p:nvPicPr>
        <p:blipFill>
          <a:blip r:embed="rId9"/>
          <a:stretch>
            <a:fillRect/>
          </a:stretch>
        </p:blipFill>
        <p:spPr>
          <a:xfrm>
            <a:off x="762000" y="3771900"/>
            <a:ext cx="914400" cy="38100"/>
          </a:xfrm>
          <a:prstGeom prst="rect">
            <a:avLst/>
          </a:prstGeom>
        </p:spPr>
      </p:pic>
      <p:sp>
        <p:nvSpPr>
          <p:cNvPr id="11" name="Text 1"/>
          <p:cNvSpPr/>
          <p:nvPr/>
        </p:nvSpPr>
        <p:spPr>
          <a:xfrm>
            <a:off x="762000" y="2514600"/>
            <a:ext cx="12801600" cy="457200"/>
          </a:xfrm>
          <a:prstGeom prst="rect">
            <a:avLst/>
          </a:prstGeom>
          <a:noFill/>
          <a:ln/>
        </p:spPr>
        <p:txBody>
          <a:bodyPr vert="horz" wrap="square" lIns="0" tIns="0" rIns="0" bIns="0" rtlCol="0" anchor="t"/>
          <a:lstStyle/>
          <a:p>
            <a:pPr marL="0" indent="0">
              <a:lnSpc>
                <a:spcPts val="3600"/>
              </a:lnSpc>
              <a:buNone/>
            </a:pPr>
            <a:r>
              <a:rPr lang="en-US" sz="3600" b="1" dirty="0">
                <a:solidFill>
                  <a:srgbClr val="1F2937"/>
                </a:solidFill>
                <a:latin typeface="ui-sans-serif" pitchFamily="34" charset="0"/>
                <a:ea typeface="ui-sans-serif" pitchFamily="34" charset="-122"/>
                <a:cs typeface="ui-sans-serif" pitchFamily="34" charset="-120"/>
              </a:rPr>
              <a:t>Containerization &amp; Docker</a:t>
            </a:r>
            <a:endParaRPr lang="en-US" sz="3600" dirty="0"/>
          </a:p>
        </p:txBody>
      </p:sp>
      <p:sp>
        <p:nvSpPr>
          <p:cNvPr id="12" name="Text 2"/>
          <p:cNvSpPr/>
          <p:nvPr/>
        </p:nvSpPr>
        <p:spPr>
          <a:xfrm>
            <a:off x="762000" y="3124200"/>
            <a:ext cx="12801600" cy="342900"/>
          </a:xfrm>
          <a:prstGeom prst="rect">
            <a:avLst/>
          </a:prstGeom>
          <a:noFill/>
          <a:ln/>
        </p:spPr>
        <p:txBody>
          <a:bodyPr vert="horz" wrap="square" lIns="0" tIns="0" rIns="0" bIns="0" rtlCol="0" anchor="t"/>
          <a:lstStyle/>
          <a:p>
            <a:pPr marL="0" indent="0">
              <a:lnSpc>
                <a:spcPts val="2700"/>
              </a:lnSpc>
              <a:buNone/>
            </a:pPr>
            <a:r>
              <a:rPr lang="en-US" sz="2250" b="1" dirty="0">
                <a:solidFill>
                  <a:srgbClr val="374151"/>
                </a:solidFill>
                <a:latin typeface="ui-sans-serif" pitchFamily="34" charset="0"/>
                <a:ea typeface="ui-sans-serif" pitchFamily="34" charset="-122"/>
                <a:cs typeface="ui-sans-serif" pitchFamily="34" charset="-120"/>
              </a:rPr>
              <a:t>A Modern Approach to Software Deployment</a:t>
            </a:r>
            <a:endParaRPr lang="en-US" sz="2250" dirty="0"/>
          </a:p>
        </p:txBody>
      </p:sp>
      <p:sp>
        <p:nvSpPr>
          <p:cNvPr id="13" name="Text 3"/>
          <p:cNvSpPr/>
          <p:nvPr/>
        </p:nvSpPr>
        <p:spPr>
          <a:xfrm>
            <a:off x="762000" y="4114800"/>
            <a:ext cx="6400800" cy="533400"/>
          </a:xfrm>
          <a:prstGeom prst="rect">
            <a:avLst/>
          </a:prstGeom>
          <a:noFill/>
          <a:ln/>
        </p:spPr>
        <p:txBody>
          <a:bodyPr vert="horz" wrap="square" lIns="0" tIns="0" rIns="0" bIns="0" rtlCol="0" anchor="t"/>
          <a:lstStyle/>
          <a:p>
            <a:pPr marL="0" indent="0">
              <a:lnSpc>
                <a:spcPts val="2100"/>
              </a:lnSpc>
              <a:buNone/>
            </a:pPr>
            <a:r>
              <a:rPr lang="en-US" sz="1500" dirty="0">
                <a:solidFill>
                  <a:srgbClr val="4B5563"/>
                </a:solidFill>
                <a:latin typeface="ui-sans-serif" pitchFamily="34" charset="0"/>
                <a:ea typeface="ui-sans-serif" pitchFamily="34" charset="-122"/>
                <a:cs typeface="ui-sans-serif" pitchFamily="34" charset="-120"/>
              </a:rPr>
              <a:t>Transforming how applications are built, deployed, and managed in the cloud era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525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2628900"/>
            <a:ext cx="285750" cy="381000"/>
          </a:xfrm>
          <a:prstGeom prst="rect">
            <a:avLst/>
          </a:prstGeom>
        </p:spPr>
      </p:pic>
      <p:pic>
        <p:nvPicPr>
          <p:cNvPr id="5" name="Image 3" descr="preencoded.png"/>
          <p:cNvPicPr>
            <a:picLocks noChangeAspect="1"/>
          </p:cNvPicPr>
          <p:nvPr/>
        </p:nvPicPr>
        <p:blipFill>
          <a:blip r:embed="rId6"/>
          <a:stretch>
            <a:fillRect/>
          </a:stretch>
        </p:blipFill>
        <p:spPr>
          <a:xfrm>
            <a:off x="533400" y="2733675"/>
            <a:ext cx="133350" cy="152400"/>
          </a:xfrm>
          <a:prstGeom prst="rect">
            <a:avLst/>
          </a:prstGeom>
        </p:spPr>
      </p:pic>
      <p:pic>
        <p:nvPicPr>
          <p:cNvPr id="6" name="Image 4" descr="preencoded.png"/>
          <p:cNvPicPr>
            <a:picLocks noChangeAspect="1"/>
          </p:cNvPicPr>
          <p:nvPr/>
        </p:nvPicPr>
        <p:blipFill>
          <a:blip r:embed="rId7"/>
          <a:stretch>
            <a:fillRect/>
          </a:stretch>
        </p:blipFill>
        <p:spPr>
          <a:xfrm>
            <a:off x="457200" y="3352800"/>
            <a:ext cx="304800" cy="381000"/>
          </a:xfrm>
          <a:prstGeom prst="rect">
            <a:avLst/>
          </a:prstGeom>
        </p:spPr>
      </p:pic>
      <p:pic>
        <p:nvPicPr>
          <p:cNvPr id="7" name="Image 5" descr="preencoded.png"/>
          <p:cNvPicPr>
            <a:picLocks noChangeAspect="1"/>
          </p:cNvPicPr>
          <p:nvPr/>
        </p:nvPicPr>
        <p:blipFill>
          <a:blip r:embed="rId8"/>
          <a:stretch>
            <a:fillRect/>
          </a:stretch>
        </p:blipFill>
        <p:spPr>
          <a:xfrm>
            <a:off x="533400" y="3457575"/>
            <a:ext cx="152400" cy="152400"/>
          </a:xfrm>
          <a:prstGeom prst="rect">
            <a:avLst/>
          </a:prstGeom>
        </p:spPr>
      </p:pic>
      <p:pic>
        <p:nvPicPr>
          <p:cNvPr id="8" name="Image 6" descr="preencoded.png"/>
          <p:cNvPicPr>
            <a:picLocks noChangeAspect="1"/>
          </p:cNvPicPr>
          <p:nvPr/>
        </p:nvPicPr>
        <p:blipFill>
          <a:blip r:embed="rId9"/>
          <a:stretch>
            <a:fillRect/>
          </a:stretch>
        </p:blipFill>
        <p:spPr>
          <a:xfrm>
            <a:off x="457200" y="4076700"/>
            <a:ext cx="323850" cy="381000"/>
          </a:xfrm>
          <a:prstGeom prst="rect">
            <a:avLst/>
          </a:prstGeom>
        </p:spPr>
      </p:pic>
      <p:pic>
        <p:nvPicPr>
          <p:cNvPr id="9" name="Image 7" descr="preencoded.png"/>
          <p:cNvPicPr>
            <a:picLocks noChangeAspect="1"/>
          </p:cNvPicPr>
          <p:nvPr/>
        </p:nvPicPr>
        <p:blipFill>
          <a:blip r:embed="rId10"/>
          <a:stretch>
            <a:fillRect/>
          </a:stretch>
        </p:blipFill>
        <p:spPr>
          <a:xfrm>
            <a:off x="533400" y="4181475"/>
            <a:ext cx="171450" cy="152400"/>
          </a:xfrm>
          <a:prstGeom prst="rect">
            <a:avLst/>
          </a:prstGeom>
        </p:spPr>
      </p:pic>
      <p:pic>
        <p:nvPicPr>
          <p:cNvPr id="10" name="Image 8" descr="preencoded.png"/>
          <p:cNvPicPr>
            <a:picLocks noChangeAspect="1"/>
          </p:cNvPicPr>
          <p:nvPr/>
        </p:nvPicPr>
        <p:blipFill>
          <a:blip r:embed="rId11"/>
          <a:stretch>
            <a:fillRect/>
          </a:stretch>
        </p:blipFill>
        <p:spPr>
          <a:xfrm>
            <a:off x="457200" y="4800600"/>
            <a:ext cx="304800" cy="381000"/>
          </a:xfrm>
          <a:prstGeom prst="rect">
            <a:avLst/>
          </a:prstGeom>
        </p:spPr>
      </p:pic>
      <p:pic>
        <p:nvPicPr>
          <p:cNvPr id="11" name="Image 9" descr="preencoded.png"/>
          <p:cNvPicPr>
            <a:picLocks noChangeAspect="1"/>
          </p:cNvPicPr>
          <p:nvPr/>
        </p:nvPicPr>
        <p:blipFill>
          <a:blip r:embed="rId12"/>
          <a:stretch>
            <a:fillRect/>
          </a:stretch>
        </p:blipFill>
        <p:spPr>
          <a:xfrm>
            <a:off x="533400" y="4905375"/>
            <a:ext cx="152400" cy="152400"/>
          </a:xfrm>
          <a:prstGeom prst="rect">
            <a:avLst/>
          </a:prstGeom>
        </p:spPr>
      </p:pic>
      <p:pic>
        <p:nvPicPr>
          <p:cNvPr id="12" name="Image 10" descr="preencoded.png"/>
          <p:cNvPicPr>
            <a:picLocks noChangeAspect="1"/>
          </p:cNvPicPr>
          <p:nvPr/>
        </p:nvPicPr>
        <p:blipFill>
          <a:blip r:embed="rId13"/>
          <a:stretch>
            <a:fillRect/>
          </a:stretch>
        </p:blipFill>
        <p:spPr>
          <a:xfrm>
            <a:off x="6096000" y="2019300"/>
            <a:ext cx="3048000" cy="3048000"/>
          </a:xfrm>
          <a:prstGeom prst="rect">
            <a:avLst/>
          </a:prstGeom>
        </p:spPr>
      </p:pic>
      <p:pic>
        <p:nvPicPr>
          <p:cNvPr id="13" name="Image 11" descr="preencoded.png"/>
          <p:cNvPicPr>
            <a:picLocks noChangeAspect="1"/>
          </p:cNvPicPr>
          <p:nvPr/>
        </p:nvPicPr>
        <p:blipFill>
          <a:blip r:embed="rId14"/>
          <a:stretch>
            <a:fillRect/>
          </a:stretch>
        </p:blipFill>
        <p:spPr>
          <a:xfrm>
            <a:off x="6400800" y="2628900"/>
            <a:ext cx="2438400" cy="1524000"/>
          </a:xfrm>
          <a:prstGeom prst="rect">
            <a:avLst/>
          </a:prstGeom>
        </p:spPr>
      </p:pic>
      <p:pic>
        <p:nvPicPr>
          <p:cNvPr id="14" name="Image 12" descr="preencoded.png"/>
          <p:cNvPicPr>
            <a:picLocks noChangeAspect="1"/>
          </p:cNvPicPr>
          <p:nvPr/>
        </p:nvPicPr>
        <p:blipFill>
          <a:blip r:embed="rId15"/>
          <a:stretch>
            <a:fillRect/>
          </a:stretch>
        </p:blipFill>
        <p:spPr>
          <a:xfrm>
            <a:off x="7770316" y="3238500"/>
            <a:ext cx="285750" cy="304800"/>
          </a:xfrm>
          <a:prstGeom prst="rect">
            <a:avLst/>
          </a:prstGeom>
        </p:spPr>
      </p:pic>
      <p:pic>
        <p:nvPicPr>
          <p:cNvPr id="15" name="Image 13" descr="preencoded.png"/>
          <p:cNvPicPr>
            <a:picLocks noChangeAspect="1"/>
          </p:cNvPicPr>
          <p:nvPr/>
        </p:nvPicPr>
        <p:blipFill>
          <a:blip r:embed="rId16"/>
          <a:stretch>
            <a:fillRect/>
          </a:stretch>
        </p:blipFill>
        <p:spPr>
          <a:xfrm>
            <a:off x="8170366" y="3238500"/>
            <a:ext cx="171450" cy="304800"/>
          </a:xfrm>
          <a:prstGeom prst="rect">
            <a:avLst/>
          </a:prstGeom>
        </p:spPr>
      </p:pic>
      <p:pic>
        <p:nvPicPr>
          <p:cNvPr id="16" name="Image 14" descr="preencoded.png"/>
          <p:cNvPicPr>
            <a:picLocks noChangeAspect="1"/>
          </p:cNvPicPr>
          <p:nvPr/>
        </p:nvPicPr>
        <p:blipFill>
          <a:blip r:embed="rId17"/>
          <a:stretch>
            <a:fillRect/>
          </a:stretch>
        </p:blipFill>
        <p:spPr>
          <a:xfrm>
            <a:off x="8456116" y="3238500"/>
            <a:ext cx="228600" cy="304800"/>
          </a:xfrm>
          <a:prstGeom prst="rect">
            <a:avLst/>
          </a:prstGeom>
        </p:spPr>
      </p:pic>
      <p:pic>
        <p:nvPicPr>
          <p:cNvPr id="17" name="Image 15" descr="preencoded.png"/>
          <p:cNvPicPr>
            <a:picLocks noChangeAspect="1"/>
          </p:cNvPicPr>
          <p:nvPr/>
        </p:nvPicPr>
        <p:blipFill>
          <a:blip r:embed="rId18"/>
          <a:stretch>
            <a:fillRect/>
          </a:stretch>
        </p:blipFill>
        <p:spPr>
          <a:xfrm>
            <a:off x="6477000" y="3543300"/>
            <a:ext cx="2286000" cy="914400"/>
          </a:xfrm>
          <a:prstGeom prst="rect">
            <a:avLst/>
          </a:prstGeom>
        </p:spPr>
      </p:pic>
      <p:pic>
        <p:nvPicPr>
          <p:cNvPr id="18" name="Image 16" descr="preencoded.png"/>
          <p:cNvPicPr>
            <a:picLocks noChangeAspect="1"/>
          </p:cNvPicPr>
          <p:nvPr/>
        </p:nvPicPr>
        <p:blipFill>
          <a:blip r:embed="rId19"/>
          <a:stretch>
            <a:fillRect/>
          </a:stretch>
        </p:blipFill>
        <p:spPr>
          <a:xfrm>
            <a:off x="8091190" y="3867150"/>
            <a:ext cx="171450" cy="266700"/>
          </a:xfrm>
          <a:prstGeom prst="rect">
            <a:avLst/>
          </a:prstGeom>
        </p:spPr>
      </p:pic>
      <p:pic>
        <p:nvPicPr>
          <p:cNvPr id="19" name="Image 17" descr="preencoded.png"/>
          <p:cNvPicPr>
            <a:picLocks noChangeAspect="1"/>
          </p:cNvPicPr>
          <p:nvPr/>
        </p:nvPicPr>
        <p:blipFill>
          <a:blip r:embed="rId20"/>
          <a:stretch>
            <a:fillRect/>
          </a:stretch>
        </p:blipFill>
        <p:spPr>
          <a:xfrm>
            <a:off x="8415040" y="3867150"/>
            <a:ext cx="238125" cy="266700"/>
          </a:xfrm>
          <a:prstGeom prst="rect">
            <a:avLst/>
          </a:prstGeom>
        </p:spPr>
      </p:pic>
      <p:pic>
        <p:nvPicPr>
          <p:cNvPr id="20" name="Image 18" descr="preencoded.png"/>
          <p:cNvPicPr>
            <a:picLocks noChangeAspect="1"/>
          </p:cNvPicPr>
          <p:nvPr/>
        </p:nvPicPr>
        <p:blipFill>
          <a:blip r:embed="rId21"/>
          <a:stretch>
            <a:fillRect/>
          </a:stretch>
        </p:blipFill>
        <p:spPr>
          <a:xfrm>
            <a:off x="6096000" y="5295900"/>
            <a:ext cx="1928515" cy="381000"/>
          </a:xfrm>
          <a:prstGeom prst="rect">
            <a:avLst/>
          </a:prstGeom>
        </p:spPr>
      </p:pic>
      <p:pic>
        <p:nvPicPr>
          <p:cNvPr id="21" name="Image 19" descr="preencoded.png"/>
          <p:cNvPicPr>
            <a:picLocks noChangeAspect="1"/>
          </p:cNvPicPr>
          <p:nvPr/>
        </p:nvPicPr>
        <p:blipFill>
          <a:blip r:embed="rId22"/>
          <a:stretch>
            <a:fillRect/>
          </a:stretch>
        </p:blipFill>
        <p:spPr>
          <a:xfrm>
            <a:off x="6248400" y="5410200"/>
            <a:ext cx="190500" cy="152400"/>
          </a:xfrm>
          <a:prstGeom prst="rect">
            <a:avLst/>
          </a:prstGeom>
        </p:spPr>
      </p:pic>
      <p:pic>
        <p:nvPicPr>
          <p:cNvPr id="22" name="Image 20" descr="preencoded.png"/>
          <p:cNvPicPr>
            <a:picLocks noChangeAspect="1"/>
          </p:cNvPicPr>
          <p:nvPr/>
        </p:nvPicPr>
        <p:blipFill>
          <a:blip r:embed="rId23"/>
          <a:stretch>
            <a:fillRect/>
          </a:stretch>
        </p:blipFill>
        <p:spPr>
          <a:xfrm>
            <a:off x="8114556" y="5295900"/>
            <a:ext cx="1663898" cy="381000"/>
          </a:xfrm>
          <a:prstGeom prst="rect">
            <a:avLst/>
          </a:prstGeom>
        </p:spPr>
      </p:pic>
      <p:pic>
        <p:nvPicPr>
          <p:cNvPr id="23" name="Image 21" descr="preencoded.png"/>
          <p:cNvPicPr>
            <a:picLocks noChangeAspect="1"/>
          </p:cNvPicPr>
          <p:nvPr/>
        </p:nvPicPr>
        <p:blipFill>
          <a:blip r:embed="rId24"/>
          <a:stretch>
            <a:fillRect/>
          </a:stretch>
        </p:blipFill>
        <p:spPr>
          <a:xfrm>
            <a:off x="8266956" y="5410200"/>
            <a:ext cx="152400" cy="152400"/>
          </a:xfrm>
          <a:prstGeom prst="rect">
            <a:avLst/>
          </a:prstGeom>
        </p:spPr>
      </p:pic>
      <p:pic>
        <p:nvPicPr>
          <p:cNvPr id="24" name="Image 22" descr="preencoded.png"/>
          <p:cNvPicPr>
            <a:picLocks noChangeAspect="1"/>
          </p:cNvPicPr>
          <p:nvPr/>
        </p:nvPicPr>
        <p:blipFill>
          <a:blip r:embed="rId25"/>
          <a:stretch>
            <a:fillRect/>
          </a:stretch>
        </p:blipFill>
        <p:spPr>
          <a:xfrm>
            <a:off x="9868495" y="5295900"/>
            <a:ext cx="1866156" cy="381000"/>
          </a:xfrm>
          <a:prstGeom prst="rect">
            <a:avLst/>
          </a:prstGeom>
        </p:spPr>
      </p:pic>
      <p:pic>
        <p:nvPicPr>
          <p:cNvPr id="25" name="Image 23" descr="preencoded.png"/>
          <p:cNvPicPr>
            <a:picLocks noChangeAspect="1"/>
          </p:cNvPicPr>
          <p:nvPr/>
        </p:nvPicPr>
        <p:blipFill>
          <a:blip r:embed="rId26"/>
          <a:stretch>
            <a:fillRect/>
          </a:stretch>
        </p:blipFill>
        <p:spPr>
          <a:xfrm>
            <a:off x="10020895" y="5410200"/>
            <a:ext cx="190500" cy="152400"/>
          </a:xfrm>
          <a:prstGeom prst="rect">
            <a:avLst/>
          </a:prstGeom>
        </p:spPr>
      </p:pic>
      <p:sp>
        <p:nvSpPr>
          <p:cNvPr id="26"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What is Containerization?</a:t>
            </a:r>
            <a:endParaRPr lang="en-US" sz="2700" dirty="0"/>
          </a:p>
        </p:txBody>
      </p:sp>
      <p:sp>
        <p:nvSpPr>
          <p:cNvPr id="27" name="Text 1"/>
          <p:cNvSpPr/>
          <p:nvPr/>
        </p:nvSpPr>
        <p:spPr>
          <a:xfrm>
            <a:off x="457200" y="1295400"/>
            <a:ext cx="5334000" cy="10668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Containerization is a transformative software deployment process that packages an application with all its necessary files, libraries, and dependencies into a single, self-contained unit.</a:t>
            </a:r>
            <a:endParaRPr lang="en-US" sz="1500" dirty="0"/>
          </a:p>
        </p:txBody>
      </p:sp>
      <p:sp>
        <p:nvSpPr>
          <p:cNvPr id="28" name="Text 2"/>
          <p:cNvSpPr/>
          <p:nvPr/>
        </p:nvSpPr>
        <p:spPr>
          <a:xfrm>
            <a:off x="895350" y="2590800"/>
            <a:ext cx="489585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Self-contained units</a:t>
            </a:r>
            <a:r>
              <a:rPr lang="en-US" sz="1350" dirty="0">
                <a:solidFill>
                  <a:srgbClr val="374151"/>
                </a:solidFill>
                <a:latin typeface="ui-sans-serif" pitchFamily="34" charset="0"/>
                <a:ea typeface="ui-sans-serif" pitchFamily="34" charset="-122"/>
                <a:cs typeface="ui-sans-serif" pitchFamily="34" charset="-120"/>
              </a:rPr>
              <a:t> - Applications and dependencies bundled together</a:t>
            </a:r>
            <a:endParaRPr lang="en-US" sz="1350" dirty="0"/>
          </a:p>
        </p:txBody>
      </p:sp>
      <p:sp>
        <p:nvSpPr>
          <p:cNvPr id="29" name="Text 3"/>
          <p:cNvSpPr/>
          <p:nvPr/>
        </p:nvSpPr>
        <p:spPr>
          <a:xfrm>
            <a:off x="914400" y="3314700"/>
            <a:ext cx="48768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Consistent operation</a:t>
            </a:r>
            <a:r>
              <a:rPr lang="en-US" sz="1350" dirty="0">
                <a:solidFill>
                  <a:srgbClr val="374151"/>
                </a:solidFill>
                <a:latin typeface="ui-sans-serif" pitchFamily="34" charset="0"/>
                <a:ea typeface="ui-sans-serif" pitchFamily="34" charset="-122"/>
                <a:cs typeface="ui-sans-serif" pitchFamily="34" charset="-120"/>
              </a:rPr>
              <a:t> - Runs reliably across different environments</a:t>
            </a:r>
            <a:endParaRPr lang="en-US" sz="1350" dirty="0"/>
          </a:p>
        </p:txBody>
      </p:sp>
      <p:sp>
        <p:nvSpPr>
          <p:cNvPr id="30" name="Text 4"/>
          <p:cNvSpPr/>
          <p:nvPr/>
        </p:nvSpPr>
        <p:spPr>
          <a:xfrm>
            <a:off x="933450" y="4038600"/>
            <a:ext cx="485775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OS abstraction</a:t>
            </a:r>
            <a:r>
              <a:rPr lang="en-US" sz="1350" dirty="0">
                <a:solidFill>
                  <a:srgbClr val="374151"/>
                </a:solidFill>
                <a:latin typeface="ui-sans-serif" pitchFamily="34" charset="0"/>
                <a:ea typeface="ui-sans-serif" pitchFamily="34" charset="-122"/>
                <a:cs typeface="ui-sans-serif" pitchFamily="34" charset="-120"/>
              </a:rPr>
              <a:t> - Shares host OS kernel while maintaining isolated user space</a:t>
            </a:r>
            <a:endParaRPr lang="en-US" sz="1350" dirty="0"/>
          </a:p>
        </p:txBody>
      </p:sp>
      <p:sp>
        <p:nvSpPr>
          <p:cNvPr id="31" name="Text 5"/>
          <p:cNvSpPr/>
          <p:nvPr/>
        </p:nvSpPr>
        <p:spPr>
          <a:xfrm>
            <a:off x="914400" y="4762500"/>
            <a:ext cx="5225475"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Portability</a:t>
            </a:r>
            <a:r>
              <a:rPr lang="en-US" sz="1350" dirty="0">
                <a:solidFill>
                  <a:srgbClr val="374151"/>
                </a:solidFill>
                <a:latin typeface="ui-sans-serif" pitchFamily="34" charset="0"/>
                <a:ea typeface="ui-sans-serif" pitchFamily="34" charset="-122"/>
                <a:cs typeface="ui-sans-serif" pitchFamily="34" charset="-120"/>
              </a:rPr>
              <a:t> - "Write once, run anywhere" principle</a:t>
            </a:r>
            <a:endParaRPr lang="en-US" sz="1350" dirty="0"/>
          </a:p>
        </p:txBody>
      </p:sp>
      <p:sp>
        <p:nvSpPr>
          <p:cNvPr id="32" name="Text 6"/>
          <p:cNvSpPr/>
          <p:nvPr/>
        </p:nvSpPr>
        <p:spPr>
          <a:xfrm>
            <a:off x="6559212" y="3240297"/>
            <a:ext cx="1511975"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Container</a:t>
            </a:r>
            <a:endParaRPr lang="en-US" sz="1800" dirty="0"/>
          </a:p>
        </p:txBody>
      </p:sp>
      <p:sp>
        <p:nvSpPr>
          <p:cNvPr id="33" name="Text 7"/>
          <p:cNvSpPr/>
          <p:nvPr/>
        </p:nvSpPr>
        <p:spPr>
          <a:xfrm>
            <a:off x="7033915" y="2964971"/>
            <a:ext cx="1458218"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Application</a:t>
            </a:r>
            <a:endParaRPr lang="en-US" sz="1500" dirty="0"/>
          </a:p>
        </p:txBody>
      </p:sp>
      <p:sp>
        <p:nvSpPr>
          <p:cNvPr id="34" name="Text 8"/>
          <p:cNvSpPr/>
          <p:nvPr/>
        </p:nvSpPr>
        <p:spPr>
          <a:xfrm>
            <a:off x="6586835" y="3867150"/>
            <a:ext cx="1713786"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Dependencies:</a:t>
            </a:r>
            <a:endParaRPr lang="en-US" sz="1350" dirty="0"/>
          </a:p>
        </p:txBody>
      </p:sp>
      <p:sp>
        <p:nvSpPr>
          <p:cNvPr id="35" name="Text 9"/>
          <p:cNvSpPr/>
          <p:nvPr/>
        </p:nvSpPr>
        <p:spPr>
          <a:xfrm>
            <a:off x="6515100" y="5372100"/>
            <a:ext cx="1628418"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Developer Laptop</a:t>
            </a:r>
            <a:endParaRPr lang="en-US" sz="1200" dirty="0"/>
          </a:p>
        </p:txBody>
      </p:sp>
      <p:sp>
        <p:nvSpPr>
          <p:cNvPr id="36" name="Text 10"/>
          <p:cNvSpPr/>
          <p:nvPr/>
        </p:nvSpPr>
        <p:spPr>
          <a:xfrm>
            <a:off x="8495556" y="5372100"/>
            <a:ext cx="1356598"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Staging Server</a:t>
            </a:r>
            <a:endParaRPr lang="en-US" sz="1200" dirty="0"/>
          </a:p>
        </p:txBody>
      </p:sp>
      <p:sp>
        <p:nvSpPr>
          <p:cNvPr id="37" name="Text 11"/>
          <p:cNvSpPr/>
          <p:nvPr/>
        </p:nvSpPr>
        <p:spPr>
          <a:xfrm>
            <a:off x="10287595" y="5372100"/>
            <a:ext cx="1553587"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Production Cloud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52500"/>
            <a:ext cx="914400" cy="38100"/>
          </a:xfrm>
          <a:prstGeom prst="rect">
            <a:avLst/>
          </a:prstGeom>
        </p:spPr>
      </p:pic>
      <p:pic>
        <p:nvPicPr>
          <p:cNvPr id="4" name="Image 2" descr="preencoded.png"/>
          <p:cNvPicPr>
            <a:picLocks noChangeAspect="1"/>
          </p:cNvPicPr>
          <p:nvPr/>
        </p:nvPicPr>
        <p:blipFill>
          <a:blip r:embed="rId5"/>
          <a:stretch>
            <a:fillRect/>
          </a:stretch>
        </p:blipFill>
        <p:spPr>
          <a:xfrm>
            <a:off x="1562100" y="1943100"/>
            <a:ext cx="2819400" cy="1447800"/>
          </a:xfrm>
          <a:prstGeom prst="rect">
            <a:avLst/>
          </a:prstGeom>
        </p:spPr>
      </p:pic>
      <p:pic>
        <p:nvPicPr>
          <p:cNvPr id="5" name="Image 3" descr="preencoded.png"/>
          <p:cNvPicPr>
            <a:picLocks noChangeAspect="1"/>
          </p:cNvPicPr>
          <p:nvPr/>
        </p:nvPicPr>
        <p:blipFill>
          <a:blip r:embed="rId6"/>
          <a:stretch>
            <a:fillRect/>
          </a:stretch>
        </p:blipFill>
        <p:spPr>
          <a:xfrm>
            <a:off x="1714500" y="2095500"/>
            <a:ext cx="304800" cy="381000"/>
          </a:xfrm>
          <a:prstGeom prst="rect">
            <a:avLst/>
          </a:prstGeom>
        </p:spPr>
      </p:pic>
      <p:pic>
        <p:nvPicPr>
          <p:cNvPr id="6" name="Image 4" descr="preencoded.png"/>
          <p:cNvPicPr>
            <a:picLocks noChangeAspect="1"/>
          </p:cNvPicPr>
          <p:nvPr/>
        </p:nvPicPr>
        <p:blipFill>
          <a:blip r:embed="rId7"/>
          <a:stretch>
            <a:fillRect/>
          </a:stretch>
        </p:blipFill>
        <p:spPr>
          <a:xfrm>
            <a:off x="1790700" y="2200275"/>
            <a:ext cx="152400" cy="152400"/>
          </a:xfrm>
          <a:prstGeom prst="rect">
            <a:avLst/>
          </a:prstGeom>
        </p:spPr>
      </p:pic>
      <p:pic>
        <p:nvPicPr>
          <p:cNvPr id="7" name="Image 5" descr="preencoded.png"/>
          <p:cNvPicPr>
            <a:picLocks noChangeAspect="1"/>
          </p:cNvPicPr>
          <p:nvPr/>
        </p:nvPicPr>
        <p:blipFill>
          <a:blip r:embed="rId8"/>
          <a:stretch>
            <a:fillRect/>
          </a:stretch>
        </p:blipFill>
        <p:spPr>
          <a:xfrm>
            <a:off x="4686300" y="1943100"/>
            <a:ext cx="2819400" cy="1447800"/>
          </a:xfrm>
          <a:prstGeom prst="rect">
            <a:avLst/>
          </a:prstGeom>
        </p:spPr>
      </p:pic>
      <p:pic>
        <p:nvPicPr>
          <p:cNvPr id="8" name="Image 6" descr="preencoded.png"/>
          <p:cNvPicPr>
            <a:picLocks noChangeAspect="1"/>
          </p:cNvPicPr>
          <p:nvPr/>
        </p:nvPicPr>
        <p:blipFill>
          <a:blip r:embed="rId9"/>
          <a:stretch>
            <a:fillRect/>
          </a:stretch>
        </p:blipFill>
        <p:spPr>
          <a:xfrm>
            <a:off x="4838700" y="2095500"/>
            <a:ext cx="323850" cy="381000"/>
          </a:xfrm>
          <a:prstGeom prst="rect">
            <a:avLst/>
          </a:prstGeom>
        </p:spPr>
      </p:pic>
      <p:pic>
        <p:nvPicPr>
          <p:cNvPr id="9" name="Image 7" descr="preencoded.png"/>
          <p:cNvPicPr>
            <a:picLocks noChangeAspect="1"/>
          </p:cNvPicPr>
          <p:nvPr/>
        </p:nvPicPr>
        <p:blipFill>
          <a:blip r:embed="rId10"/>
          <a:stretch>
            <a:fillRect/>
          </a:stretch>
        </p:blipFill>
        <p:spPr>
          <a:xfrm>
            <a:off x="4914900" y="2200275"/>
            <a:ext cx="171450" cy="152400"/>
          </a:xfrm>
          <a:prstGeom prst="rect">
            <a:avLst/>
          </a:prstGeom>
        </p:spPr>
      </p:pic>
      <p:pic>
        <p:nvPicPr>
          <p:cNvPr id="10" name="Image 8" descr="preencoded.png"/>
          <p:cNvPicPr>
            <a:picLocks noChangeAspect="1"/>
          </p:cNvPicPr>
          <p:nvPr/>
        </p:nvPicPr>
        <p:blipFill>
          <a:blip r:embed="rId11"/>
          <a:stretch>
            <a:fillRect/>
          </a:stretch>
        </p:blipFill>
        <p:spPr>
          <a:xfrm>
            <a:off x="7810500" y="1943100"/>
            <a:ext cx="2819400" cy="1447800"/>
          </a:xfrm>
          <a:prstGeom prst="rect">
            <a:avLst/>
          </a:prstGeom>
        </p:spPr>
      </p:pic>
      <p:pic>
        <p:nvPicPr>
          <p:cNvPr id="11" name="Image 9" descr="preencoded.png"/>
          <p:cNvPicPr>
            <a:picLocks noChangeAspect="1"/>
          </p:cNvPicPr>
          <p:nvPr/>
        </p:nvPicPr>
        <p:blipFill>
          <a:blip r:embed="rId12"/>
          <a:stretch>
            <a:fillRect/>
          </a:stretch>
        </p:blipFill>
        <p:spPr>
          <a:xfrm>
            <a:off x="7962900" y="2095500"/>
            <a:ext cx="342900" cy="381000"/>
          </a:xfrm>
          <a:prstGeom prst="rect">
            <a:avLst/>
          </a:prstGeom>
        </p:spPr>
      </p:pic>
      <p:pic>
        <p:nvPicPr>
          <p:cNvPr id="12" name="Image 10" descr="preencoded.png"/>
          <p:cNvPicPr>
            <a:picLocks noChangeAspect="1"/>
          </p:cNvPicPr>
          <p:nvPr/>
        </p:nvPicPr>
        <p:blipFill>
          <a:blip r:embed="rId13"/>
          <a:stretch>
            <a:fillRect/>
          </a:stretch>
        </p:blipFill>
        <p:spPr>
          <a:xfrm>
            <a:off x="8039100" y="2200275"/>
            <a:ext cx="190500" cy="152400"/>
          </a:xfrm>
          <a:prstGeom prst="rect">
            <a:avLst/>
          </a:prstGeom>
        </p:spPr>
      </p:pic>
      <p:pic>
        <p:nvPicPr>
          <p:cNvPr id="13" name="Image 11" descr="preencoded.png"/>
          <p:cNvPicPr>
            <a:picLocks noChangeAspect="1"/>
          </p:cNvPicPr>
          <p:nvPr/>
        </p:nvPicPr>
        <p:blipFill>
          <a:blip r:embed="rId14"/>
          <a:stretch>
            <a:fillRect/>
          </a:stretch>
        </p:blipFill>
        <p:spPr>
          <a:xfrm>
            <a:off x="3276600" y="2362200"/>
            <a:ext cx="19050" cy="609600"/>
          </a:xfrm>
          <a:prstGeom prst="rect">
            <a:avLst/>
          </a:prstGeom>
        </p:spPr>
      </p:pic>
      <p:pic>
        <p:nvPicPr>
          <p:cNvPr id="14" name="Image 12" descr="preencoded.png"/>
          <p:cNvPicPr>
            <a:picLocks noChangeAspect="1"/>
          </p:cNvPicPr>
          <p:nvPr/>
        </p:nvPicPr>
        <p:blipFill>
          <a:blip r:embed="rId14"/>
          <a:stretch>
            <a:fillRect/>
          </a:stretch>
        </p:blipFill>
        <p:spPr>
          <a:xfrm>
            <a:off x="6096000" y="2362200"/>
            <a:ext cx="19050" cy="609600"/>
          </a:xfrm>
          <a:prstGeom prst="rect">
            <a:avLst/>
          </a:prstGeom>
        </p:spPr>
      </p:pic>
      <p:pic>
        <p:nvPicPr>
          <p:cNvPr id="15" name="Image 13" descr="preencoded.png"/>
          <p:cNvPicPr>
            <a:picLocks noChangeAspect="1"/>
          </p:cNvPicPr>
          <p:nvPr/>
        </p:nvPicPr>
        <p:blipFill>
          <a:blip r:embed="rId14"/>
          <a:stretch>
            <a:fillRect/>
          </a:stretch>
        </p:blipFill>
        <p:spPr>
          <a:xfrm>
            <a:off x="8915400" y="2362200"/>
            <a:ext cx="19050" cy="609600"/>
          </a:xfrm>
          <a:prstGeom prst="rect">
            <a:avLst/>
          </a:prstGeom>
        </p:spPr>
      </p:pic>
      <p:pic>
        <p:nvPicPr>
          <p:cNvPr id="16" name="Image 14" descr="preencoded.png"/>
          <p:cNvPicPr>
            <a:picLocks noChangeAspect="1"/>
          </p:cNvPicPr>
          <p:nvPr/>
        </p:nvPicPr>
        <p:blipFill>
          <a:blip r:embed="rId15"/>
          <a:stretch>
            <a:fillRect/>
          </a:stretch>
        </p:blipFill>
        <p:spPr>
          <a:xfrm>
            <a:off x="1866900" y="3695700"/>
            <a:ext cx="8458200" cy="990600"/>
          </a:xfrm>
          <a:prstGeom prst="rect">
            <a:avLst/>
          </a:prstGeom>
        </p:spPr>
      </p:pic>
      <p:pic>
        <p:nvPicPr>
          <p:cNvPr id="17" name="Image 15" descr="preencoded.png"/>
          <p:cNvPicPr>
            <a:picLocks noChangeAspect="1"/>
          </p:cNvPicPr>
          <p:nvPr/>
        </p:nvPicPr>
        <p:blipFill>
          <a:blip r:embed="rId16"/>
          <a:stretch>
            <a:fillRect/>
          </a:stretch>
        </p:blipFill>
        <p:spPr>
          <a:xfrm>
            <a:off x="2019300" y="3848100"/>
            <a:ext cx="323850" cy="381000"/>
          </a:xfrm>
          <a:prstGeom prst="rect">
            <a:avLst/>
          </a:prstGeom>
        </p:spPr>
      </p:pic>
      <p:pic>
        <p:nvPicPr>
          <p:cNvPr id="18" name="Image 16" descr="preencoded.png"/>
          <p:cNvPicPr>
            <a:picLocks noChangeAspect="1"/>
          </p:cNvPicPr>
          <p:nvPr/>
        </p:nvPicPr>
        <p:blipFill>
          <a:blip r:embed="rId17"/>
          <a:stretch>
            <a:fillRect/>
          </a:stretch>
        </p:blipFill>
        <p:spPr>
          <a:xfrm>
            <a:off x="2095500" y="3952875"/>
            <a:ext cx="171450" cy="152400"/>
          </a:xfrm>
          <a:prstGeom prst="rect">
            <a:avLst/>
          </a:prstGeom>
        </p:spPr>
      </p:pic>
      <p:pic>
        <p:nvPicPr>
          <p:cNvPr id="19" name="Image 17" descr="preencoded.png"/>
          <p:cNvPicPr>
            <a:picLocks noChangeAspect="1"/>
          </p:cNvPicPr>
          <p:nvPr/>
        </p:nvPicPr>
        <p:blipFill>
          <a:blip r:embed="rId18"/>
          <a:stretch>
            <a:fillRect/>
          </a:stretch>
        </p:blipFill>
        <p:spPr>
          <a:xfrm>
            <a:off x="457200" y="5105400"/>
            <a:ext cx="285750" cy="381000"/>
          </a:xfrm>
          <a:prstGeom prst="rect">
            <a:avLst/>
          </a:prstGeom>
        </p:spPr>
      </p:pic>
      <p:pic>
        <p:nvPicPr>
          <p:cNvPr id="20" name="Image 18" descr="preencoded.png"/>
          <p:cNvPicPr>
            <a:picLocks noChangeAspect="1"/>
          </p:cNvPicPr>
          <p:nvPr/>
        </p:nvPicPr>
        <p:blipFill>
          <a:blip r:embed="rId19"/>
          <a:stretch>
            <a:fillRect/>
          </a:stretch>
        </p:blipFill>
        <p:spPr>
          <a:xfrm>
            <a:off x="533400" y="5210175"/>
            <a:ext cx="133350" cy="152400"/>
          </a:xfrm>
          <a:prstGeom prst="rect">
            <a:avLst/>
          </a:prstGeom>
        </p:spPr>
      </p:pic>
      <p:pic>
        <p:nvPicPr>
          <p:cNvPr id="21" name="Image 19" descr="preencoded.png"/>
          <p:cNvPicPr>
            <a:picLocks noChangeAspect="1"/>
          </p:cNvPicPr>
          <p:nvPr/>
        </p:nvPicPr>
        <p:blipFill>
          <a:blip r:embed="rId20"/>
          <a:stretch>
            <a:fillRect/>
          </a:stretch>
        </p:blipFill>
        <p:spPr>
          <a:xfrm>
            <a:off x="4368850" y="5105400"/>
            <a:ext cx="304800" cy="381000"/>
          </a:xfrm>
          <a:prstGeom prst="rect">
            <a:avLst/>
          </a:prstGeom>
        </p:spPr>
      </p:pic>
      <p:pic>
        <p:nvPicPr>
          <p:cNvPr id="22" name="Image 20" descr="preencoded.png"/>
          <p:cNvPicPr>
            <a:picLocks noChangeAspect="1"/>
          </p:cNvPicPr>
          <p:nvPr/>
        </p:nvPicPr>
        <p:blipFill>
          <a:blip r:embed="rId21"/>
          <a:stretch>
            <a:fillRect/>
          </a:stretch>
        </p:blipFill>
        <p:spPr>
          <a:xfrm>
            <a:off x="4445050" y="5210175"/>
            <a:ext cx="152400" cy="152400"/>
          </a:xfrm>
          <a:prstGeom prst="rect">
            <a:avLst/>
          </a:prstGeom>
        </p:spPr>
      </p:pic>
      <p:pic>
        <p:nvPicPr>
          <p:cNvPr id="23" name="Image 21" descr="preencoded.png"/>
          <p:cNvPicPr>
            <a:picLocks noChangeAspect="1"/>
          </p:cNvPicPr>
          <p:nvPr/>
        </p:nvPicPr>
        <p:blipFill>
          <a:blip r:embed="rId22"/>
          <a:stretch>
            <a:fillRect/>
          </a:stretch>
        </p:blipFill>
        <p:spPr>
          <a:xfrm>
            <a:off x="8280499" y="5105400"/>
            <a:ext cx="323850" cy="381000"/>
          </a:xfrm>
          <a:prstGeom prst="rect">
            <a:avLst/>
          </a:prstGeom>
        </p:spPr>
      </p:pic>
      <p:pic>
        <p:nvPicPr>
          <p:cNvPr id="24" name="Image 22" descr="preencoded.png"/>
          <p:cNvPicPr>
            <a:picLocks noChangeAspect="1"/>
          </p:cNvPicPr>
          <p:nvPr/>
        </p:nvPicPr>
        <p:blipFill>
          <a:blip r:embed="rId23"/>
          <a:stretch>
            <a:fillRect/>
          </a:stretch>
        </p:blipFill>
        <p:spPr>
          <a:xfrm>
            <a:off x="8356699" y="5210175"/>
            <a:ext cx="171450" cy="152400"/>
          </a:xfrm>
          <a:prstGeom prst="rect">
            <a:avLst/>
          </a:prstGeom>
        </p:spPr>
      </p:pic>
      <p:sp>
        <p:nvSpPr>
          <p:cNvPr id="25"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How Containerization Works</a:t>
            </a:r>
            <a:endParaRPr lang="en-US" sz="2700" dirty="0"/>
          </a:p>
        </p:txBody>
      </p:sp>
      <p:sp>
        <p:nvSpPr>
          <p:cNvPr id="26" name="Text 1"/>
          <p:cNvSpPr/>
          <p:nvPr/>
        </p:nvSpPr>
        <p:spPr>
          <a:xfrm>
            <a:off x="2133600" y="2152650"/>
            <a:ext cx="1810405"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Infrastructure</a:t>
            </a:r>
            <a:endParaRPr lang="en-US" sz="1500" dirty="0"/>
          </a:p>
        </p:txBody>
      </p:sp>
      <p:sp>
        <p:nvSpPr>
          <p:cNvPr id="27" name="Text 2"/>
          <p:cNvSpPr/>
          <p:nvPr/>
        </p:nvSpPr>
        <p:spPr>
          <a:xfrm>
            <a:off x="1714500" y="2552700"/>
            <a:ext cx="25146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The physical hardware resources that host the containerized applications</a:t>
            </a:r>
            <a:endParaRPr lang="en-US" sz="1200" dirty="0"/>
          </a:p>
        </p:txBody>
      </p:sp>
      <p:sp>
        <p:nvSpPr>
          <p:cNvPr id="28" name="Text 3"/>
          <p:cNvSpPr/>
          <p:nvPr/>
        </p:nvSpPr>
        <p:spPr>
          <a:xfrm>
            <a:off x="5276850" y="2152650"/>
            <a:ext cx="1032272"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Host OS</a:t>
            </a:r>
            <a:endParaRPr lang="en-US" sz="1500" dirty="0"/>
          </a:p>
        </p:txBody>
      </p:sp>
      <p:sp>
        <p:nvSpPr>
          <p:cNvPr id="29" name="Text 4"/>
          <p:cNvSpPr/>
          <p:nvPr/>
        </p:nvSpPr>
        <p:spPr>
          <a:xfrm>
            <a:off x="4838700" y="2552700"/>
            <a:ext cx="25146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Manages resources and provides the foundation for container isolation</a:t>
            </a:r>
            <a:endParaRPr lang="en-US" sz="1200" dirty="0"/>
          </a:p>
        </p:txBody>
      </p:sp>
      <p:sp>
        <p:nvSpPr>
          <p:cNvPr id="30" name="Text 5"/>
          <p:cNvSpPr/>
          <p:nvPr/>
        </p:nvSpPr>
        <p:spPr>
          <a:xfrm>
            <a:off x="8420100" y="2152650"/>
            <a:ext cx="2218313"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Container Engine</a:t>
            </a:r>
            <a:endParaRPr lang="en-US" sz="1500" dirty="0"/>
          </a:p>
        </p:txBody>
      </p:sp>
      <p:sp>
        <p:nvSpPr>
          <p:cNvPr id="31" name="Text 6"/>
          <p:cNvSpPr/>
          <p:nvPr/>
        </p:nvSpPr>
        <p:spPr>
          <a:xfrm>
            <a:off x="7962900" y="2552700"/>
            <a:ext cx="25146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Creates and manages containers, including starting, stopping, and monitoring them</a:t>
            </a:r>
            <a:endParaRPr lang="en-US" sz="1200" dirty="0"/>
          </a:p>
        </p:txBody>
      </p:sp>
      <p:sp>
        <p:nvSpPr>
          <p:cNvPr id="32" name="Text 7"/>
          <p:cNvSpPr/>
          <p:nvPr/>
        </p:nvSpPr>
        <p:spPr>
          <a:xfrm>
            <a:off x="2457450" y="3905250"/>
            <a:ext cx="3629382"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Application &amp; Dependencies</a:t>
            </a:r>
            <a:endParaRPr lang="en-US" sz="1500" dirty="0"/>
          </a:p>
        </p:txBody>
      </p:sp>
      <p:sp>
        <p:nvSpPr>
          <p:cNvPr id="33" name="Text 8"/>
          <p:cNvSpPr/>
          <p:nvPr/>
        </p:nvSpPr>
        <p:spPr>
          <a:xfrm>
            <a:off x="2019300" y="4305300"/>
            <a:ext cx="978408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The application code and all its required files, libraries, and dependencies</a:t>
            </a:r>
            <a:endParaRPr lang="en-US" sz="1200" dirty="0"/>
          </a:p>
        </p:txBody>
      </p:sp>
      <p:sp>
        <p:nvSpPr>
          <p:cNvPr id="34" name="Text 9"/>
          <p:cNvSpPr/>
          <p:nvPr/>
        </p:nvSpPr>
        <p:spPr>
          <a:xfrm>
            <a:off x="857250" y="5067300"/>
            <a:ext cx="3054400" cy="6858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Kernel Sharing:</a:t>
            </a:r>
            <a:r>
              <a:rPr lang="en-US" sz="1200" dirty="0">
                <a:solidFill>
                  <a:srgbClr val="374151"/>
                </a:solidFill>
                <a:latin typeface="ui-sans-serif" pitchFamily="34" charset="0"/>
                <a:ea typeface="ui-sans-serif" pitchFamily="34" charset="-122"/>
                <a:cs typeface="ui-sans-serif" pitchFamily="34" charset="-120"/>
              </a:rPr>
              <a:t> Containers share the host OS kernel while maintaining isolated user space</a:t>
            </a:r>
            <a:endParaRPr lang="en-US" sz="1200" dirty="0"/>
          </a:p>
        </p:txBody>
      </p:sp>
      <p:sp>
        <p:nvSpPr>
          <p:cNvPr id="35" name="Text 10"/>
          <p:cNvSpPr/>
          <p:nvPr/>
        </p:nvSpPr>
        <p:spPr>
          <a:xfrm>
            <a:off x="4787950" y="5067300"/>
            <a:ext cx="3035350" cy="4572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Isolation:</a:t>
            </a:r>
            <a:r>
              <a:rPr lang="en-US" sz="1200" dirty="0">
                <a:solidFill>
                  <a:srgbClr val="374151"/>
                </a:solidFill>
                <a:latin typeface="ui-sans-serif" pitchFamily="34" charset="0"/>
                <a:ea typeface="ui-sans-serif" pitchFamily="34" charset="-122"/>
                <a:cs typeface="ui-sans-serif" pitchFamily="34" charset="-120"/>
              </a:rPr>
              <a:t> Each container operates in its own isolated environment</a:t>
            </a:r>
            <a:endParaRPr lang="en-US" sz="1200" dirty="0"/>
          </a:p>
        </p:txBody>
      </p:sp>
      <p:sp>
        <p:nvSpPr>
          <p:cNvPr id="36" name="Text 11"/>
          <p:cNvSpPr/>
          <p:nvPr/>
        </p:nvSpPr>
        <p:spPr>
          <a:xfrm>
            <a:off x="8718649" y="5067300"/>
            <a:ext cx="3016300" cy="6858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Efficiency:</a:t>
            </a:r>
            <a:r>
              <a:rPr lang="en-US" sz="1200" dirty="0">
                <a:solidFill>
                  <a:srgbClr val="374151"/>
                </a:solidFill>
                <a:latin typeface="ui-sans-serif" pitchFamily="34" charset="0"/>
                <a:ea typeface="ui-sans-serif" pitchFamily="34" charset="-122"/>
                <a:cs typeface="ui-sans-serif" pitchFamily="34" charset="-120"/>
              </a:rPr>
              <a:t> Lightweight compared to virtual machines, with faster startup times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52500"/>
            <a:ext cx="914400" cy="38100"/>
          </a:xfrm>
          <a:prstGeom prst="rect">
            <a:avLst/>
          </a:prstGeom>
        </p:spPr>
      </p:pic>
      <p:pic>
        <p:nvPicPr>
          <p:cNvPr id="4" name="Image 2" descr="preencoded.png"/>
          <p:cNvPicPr>
            <a:picLocks noChangeAspect="1"/>
          </p:cNvPicPr>
          <p:nvPr/>
        </p:nvPicPr>
        <p:blipFill>
          <a:blip r:embed="rId5"/>
          <a:stretch>
            <a:fillRect/>
          </a:stretch>
        </p:blipFill>
        <p:spPr>
          <a:xfrm>
            <a:off x="3276600" y="1219200"/>
            <a:ext cx="2333774" cy="419100"/>
          </a:xfrm>
          <a:prstGeom prst="rect">
            <a:avLst/>
          </a:prstGeom>
        </p:spPr>
      </p:pic>
      <p:pic>
        <p:nvPicPr>
          <p:cNvPr id="5" name="Image 3" descr="preencoded.png"/>
          <p:cNvPicPr>
            <a:picLocks noChangeAspect="1"/>
          </p:cNvPicPr>
          <p:nvPr/>
        </p:nvPicPr>
        <p:blipFill>
          <a:blip r:embed="rId6"/>
          <a:stretch>
            <a:fillRect/>
          </a:stretch>
        </p:blipFill>
        <p:spPr>
          <a:xfrm>
            <a:off x="3429000" y="1352550"/>
            <a:ext cx="152400" cy="152400"/>
          </a:xfrm>
          <a:prstGeom prst="rect">
            <a:avLst/>
          </a:prstGeom>
        </p:spPr>
      </p:pic>
      <p:pic>
        <p:nvPicPr>
          <p:cNvPr id="6" name="Image 4" descr="preencoded.png"/>
          <p:cNvPicPr>
            <a:picLocks noChangeAspect="1"/>
          </p:cNvPicPr>
          <p:nvPr/>
        </p:nvPicPr>
        <p:blipFill>
          <a:blip r:embed="rId7"/>
          <a:stretch>
            <a:fillRect/>
          </a:stretch>
        </p:blipFill>
        <p:spPr>
          <a:xfrm>
            <a:off x="5610374" y="1219200"/>
            <a:ext cx="1696789" cy="419100"/>
          </a:xfrm>
          <a:prstGeom prst="rect">
            <a:avLst/>
          </a:prstGeom>
        </p:spPr>
      </p:pic>
      <p:pic>
        <p:nvPicPr>
          <p:cNvPr id="7" name="Image 5" descr="preencoded.png"/>
          <p:cNvPicPr>
            <a:picLocks noChangeAspect="1"/>
          </p:cNvPicPr>
          <p:nvPr/>
        </p:nvPicPr>
        <p:blipFill>
          <a:blip r:embed="rId8"/>
          <a:stretch>
            <a:fillRect/>
          </a:stretch>
        </p:blipFill>
        <p:spPr>
          <a:xfrm>
            <a:off x="5762774" y="1352550"/>
            <a:ext cx="152400" cy="152400"/>
          </a:xfrm>
          <a:prstGeom prst="rect">
            <a:avLst/>
          </a:prstGeom>
        </p:spPr>
      </p:pic>
      <p:pic>
        <p:nvPicPr>
          <p:cNvPr id="8" name="Image 6" descr="preencoded.png"/>
          <p:cNvPicPr>
            <a:picLocks noChangeAspect="1"/>
          </p:cNvPicPr>
          <p:nvPr/>
        </p:nvPicPr>
        <p:blipFill>
          <a:blip r:embed="rId9"/>
          <a:stretch>
            <a:fillRect/>
          </a:stretch>
        </p:blipFill>
        <p:spPr>
          <a:xfrm>
            <a:off x="457200" y="1790700"/>
            <a:ext cx="11277600" cy="495300"/>
          </a:xfrm>
          <a:prstGeom prst="rect">
            <a:avLst/>
          </a:prstGeom>
        </p:spPr>
      </p:pic>
      <p:pic>
        <p:nvPicPr>
          <p:cNvPr id="9" name="Image 7" descr="preencoded.png"/>
          <p:cNvPicPr>
            <a:picLocks noChangeAspect="1"/>
          </p:cNvPicPr>
          <p:nvPr/>
        </p:nvPicPr>
        <p:blipFill>
          <a:blip r:embed="rId10"/>
          <a:stretch>
            <a:fillRect/>
          </a:stretch>
        </p:blipFill>
        <p:spPr>
          <a:xfrm>
            <a:off x="609600" y="1962150"/>
            <a:ext cx="152400" cy="152400"/>
          </a:xfrm>
          <a:prstGeom prst="rect">
            <a:avLst/>
          </a:prstGeom>
        </p:spPr>
      </p:pic>
      <p:pic>
        <p:nvPicPr>
          <p:cNvPr id="10" name="Image 8" descr="preencoded.png"/>
          <p:cNvPicPr>
            <a:picLocks noChangeAspect="1"/>
          </p:cNvPicPr>
          <p:nvPr/>
        </p:nvPicPr>
        <p:blipFill>
          <a:blip r:embed="rId11"/>
          <a:stretch>
            <a:fillRect/>
          </a:stretch>
        </p:blipFill>
        <p:spPr>
          <a:xfrm>
            <a:off x="3276600" y="1924050"/>
            <a:ext cx="3333452" cy="228600"/>
          </a:xfrm>
          <a:prstGeom prst="rect">
            <a:avLst/>
          </a:prstGeom>
        </p:spPr>
      </p:pic>
      <p:pic>
        <p:nvPicPr>
          <p:cNvPr id="11" name="Image 9" descr="preencoded.png"/>
          <p:cNvPicPr>
            <a:picLocks noChangeAspect="1"/>
          </p:cNvPicPr>
          <p:nvPr/>
        </p:nvPicPr>
        <p:blipFill>
          <a:blip r:embed="rId12"/>
          <a:stretch>
            <a:fillRect/>
          </a:stretch>
        </p:blipFill>
        <p:spPr>
          <a:xfrm>
            <a:off x="6610052" y="1924050"/>
            <a:ext cx="4956423" cy="228600"/>
          </a:xfrm>
          <a:prstGeom prst="rect">
            <a:avLst/>
          </a:prstGeom>
        </p:spPr>
      </p:pic>
      <p:pic>
        <p:nvPicPr>
          <p:cNvPr id="12" name="Image 10" descr="preencoded.png"/>
          <p:cNvPicPr>
            <a:picLocks noChangeAspect="1"/>
          </p:cNvPicPr>
          <p:nvPr/>
        </p:nvPicPr>
        <p:blipFill>
          <a:blip r:embed="rId13"/>
          <a:stretch>
            <a:fillRect/>
          </a:stretch>
        </p:blipFill>
        <p:spPr>
          <a:xfrm>
            <a:off x="609600" y="2552700"/>
            <a:ext cx="152400" cy="152400"/>
          </a:xfrm>
          <a:prstGeom prst="rect">
            <a:avLst/>
          </a:prstGeom>
        </p:spPr>
      </p:pic>
      <p:pic>
        <p:nvPicPr>
          <p:cNvPr id="13" name="Image 11" descr="preencoded.png"/>
          <p:cNvPicPr>
            <a:picLocks noChangeAspect="1"/>
          </p:cNvPicPr>
          <p:nvPr/>
        </p:nvPicPr>
        <p:blipFill>
          <a:blip r:embed="rId14"/>
          <a:stretch>
            <a:fillRect/>
          </a:stretch>
        </p:blipFill>
        <p:spPr>
          <a:xfrm>
            <a:off x="3255913" y="2400300"/>
            <a:ext cx="3937695" cy="457200"/>
          </a:xfrm>
          <a:prstGeom prst="rect">
            <a:avLst/>
          </a:prstGeom>
        </p:spPr>
      </p:pic>
      <p:pic>
        <p:nvPicPr>
          <p:cNvPr id="14" name="Image 12" descr="preencoded.png"/>
          <p:cNvPicPr>
            <a:picLocks noChangeAspect="1"/>
          </p:cNvPicPr>
          <p:nvPr/>
        </p:nvPicPr>
        <p:blipFill>
          <a:blip r:embed="rId15"/>
          <a:stretch>
            <a:fillRect/>
          </a:stretch>
        </p:blipFill>
        <p:spPr>
          <a:xfrm>
            <a:off x="7193607" y="2400300"/>
            <a:ext cx="4541193" cy="457200"/>
          </a:xfrm>
          <a:prstGeom prst="rect">
            <a:avLst/>
          </a:prstGeom>
        </p:spPr>
      </p:pic>
      <p:pic>
        <p:nvPicPr>
          <p:cNvPr id="15" name="Image 13" descr="preencoded.png"/>
          <p:cNvPicPr>
            <a:picLocks noChangeAspect="1"/>
          </p:cNvPicPr>
          <p:nvPr/>
        </p:nvPicPr>
        <p:blipFill>
          <a:blip r:embed="rId9"/>
          <a:stretch>
            <a:fillRect/>
          </a:stretch>
        </p:blipFill>
        <p:spPr>
          <a:xfrm>
            <a:off x="457200" y="2971800"/>
            <a:ext cx="11277600" cy="495300"/>
          </a:xfrm>
          <a:prstGeom prst="rect">
            <a:avLst/>
          </a:prstGeom>
        </p:spPr>
      </p:pic>
      <p:pic>
        <p:nvPicPr>
          <p:cNvPr id="16" name="Image 14" descr="preencoded.png"/>
          <p:cNvPicPr>
            <a:picLocks noChangeAspect="1"/>
          </p:cNvPicPr>
          <p:nvPr/>
        </p:nvPicPr>
        <p:blipFill>
          <a:blip r:embed="rId16"/>
          <a:stretch>
            <a:fillRect/>
          </a:stretch>
        </p:blipFill>
        <p:spPr>
          <a:xfrm>
            <a:off x="609600" y="3143250"/>
            <a:ext cx="171450" cy="152400"/>
          </a:xfrm>
          <a:prstGeom prst="rect">
            <a:avLst/>
          </a:prstGeom>
        </p:spPr>
      </p:pic>
      <p:pic>
        <p:nvPicPr>
          <p:cNvPr id="17" name="Image 15" descr="preencoded.png"/>
          <p:cNvPicPr>
            <a:picLocks noChangeAspect="1"/>
          </p:cNvPicPr>
          <p:nvPr/>
        </p:nvPicPr>
        <p:blipFill>
          <a:blip r:embed="rId17"/>
          <a:stretch>
            <a:fillRect/>
          </a:stretch>
        </p:blipFill>
        <p:spPr>
          <a:xfrm>
            <a:off x="3276600" y="3105150"/>
            <a:ext cx="4125664" cy="228600"/>
          </a:xfrm>
          <a:prstGeom prst="rect">
            <a:avLst/>
          </a:prstGeom>
        </p:spPr>
      </p:pic>
      <p:pic>
        <p:nvPicPr>
          <p:cNvPr id="18" name="Image 16" descr="preencoded.png"/>
          <p:cNvPicPr>
            <a:picLocks noChangeAspect="1"/>
          </p:cNvPicPr>
          <p:nvPr/>
        </p:nvPicPr>
        <p:blipFill>
          <a:blip r:embed="rId18"/>
          <a:stretch>
            <a:fillRect/>
          </a:stretch>
        </p:blipFill>
        <p:spPr>
          <a:xfrm>
            <a:off x="7402264" y="3105150"/>
            <a:ext cx="4067621" cy="228600"/>
          </a:xfrm>
          <a:prstGeom prst="rect">
            <a:avLst/>
          </a:prstGeom>
        </p:spPr>
      </p:pic>
      <p:pic>
        <p:nvPicPr>
          <p:cNvPr id="19" name="Image 17" descr="preencoded.png"/>
          <p:cNvPicPr>
            <a:picLocks noChangeAspect="1"/>
          </p:cNvPicPr>
          <p:nvPr/>
        </p:nvPicPr>
        <p:blipFill>
          <a:blip r:embed="rId19"/>
          <a:stretch>
            <a:fillRect/>
          </a:stretch>
        </p:blipFill>
        <p:spPr>
          <a:xfrm>
            <a:off x="609600" y="3638550"/>
            <a:ext cx="152400" cy="152400"/>
          </a:xfrm>
          <a:prstGeom prst="rect">
            <a:avLst/>
          </a:prstGeom>
        </p:spPr>
      </p:pic>
      <p:pic>
        <p:nvPicPr>
          <p:cNvPr id="20" name="Image 18" descr="preencoded.png"/>
          <p:cNvPicPr>
            <a:picLocks noChangeAspect="1"/>
          </p:cNvPicPr>
          <p:nvPr/>
        </p:nvPicPr>
        <p:blipFill>
          <a:blip r:embed="rId20"/>
          <a:stretch>
            <a:fillRect/>
          </a:stretch>
        </p:blipFill>
        <p:spPr>
          <a:xfrm>
            <a:off x="3276600" y="3600450"/>
            <a:ext cx="2924175" cy="228600"/>
          </a:xfrm>
          <a:prstGeom prst="rect">
            <a:avLst/>
          </a:prstGeom>
        </p:spPr>
      </p:pic>
      <p:pic>
        <p:nvPicPr>
          <p:cNvPr id="21" name="Image 19" descr="preencoded.png"/>
          <p:cNvPicPr>
            <a:picLocks noChangeAspect="1"/>
          </p:cNvPicPr>
          <p:nvPr/>
        </p:nvPicPr>
        <p:blipFill>
          <a:blip r:embed="rId21"/>
          <a:stretch>
            <a:fillRect/>
          </a:stretch>
        </p:blipFill>
        <p:spPr>
          <a:xfrm>
            <a:off x="6200775" y="3600450"/>
            <a:ext cx="3372594" cy="228600"/>
          </a:xfrm>
          <a:prstGeom prst="rect">
            <a:avLst/>
          </a:prstGeom>
        </p:spPr>
      </p:pic>
      <p:pic>
        <p:nvPicPr>
          <p:cNvPr id="22" name="Image 20" descr="preencoded.png"/>
          <p:cNvPicPr>
            <a:picLocks noChangeAspect="1"/>
          </p:cNvPicPr>
          <p:nvPr/>
        </p:nvPicPr>
        <p:blipFill>
          <a:blip r:embed="rId9"/>
          <a:stretch>
            <a:fillRect/>
          </a:stretch>
        </p:blipFill>
        <p:spPr>
          <a:xfrm>
            <a:off x="457200" y="3962400"/>
            <a:ext cx="11277600" cy="495300"/>
          </a:xfrm>
          <a:prstGeom prst="rect">
            <a:avLst/>
          </a:prstGeom>
        </p:spPr>
      </p:pic>
      <p:pic>
        <p:nvPicPr>
          <p:cNvPr id="23" name="Image 21" descr="preencoded.png"/>
          <p:cNvPicPr>
            <a:picLocks noChangeAspect="1"/>
          </p:cNvPicPr>
          <p:nvPr/>
        </p:nvPicPr>
        <p:blipFill>
          <a:blip r:embed="rId22"/>
          <a:stretch>
            <a:fillRect/>
          </a:stretch>
        </p:blipFill>
        <p:spPr>
          <a:xfrm>
            <a:off x="609600" y="4133850"/>
            <a:ext cx="152400" cy="152400"/>
          </a:xfrm>
          <a:prstGeom prst="rect">
            <a:avLst/>
          </a:prstGeom>
        </p:spPr>
      </p:pic>
      <p:pic>
        <p:nvPicPr>
          <p:cNvPr id="24" name="Image 22" descr="preencoded.png"/>
          <p:cNvPicPr>
            <a:picLocks noChangeAspect="1"/>
          </p:cNvPicPr>
          <p:nvPr/>
        </p:nvPicPr>
        <p:blipFill>
          <a:blip r:embed="rId23"/>
          <a:stretch>
            <a:fillRect/>
          </a:stretch>
        </p:blipFill>
        <p:spPr>
          <a:xfrm>
            <a:off x="3276600" y="4095750"/>
            <a:ext cx="4411414" cy="228600"/>
          </a:xfrm>
          <a:prstGeom prst="rect">
            <a:avLst/>
          </a:prstGeom>
        </p:spPr>
      </p:pic>
      <p:pic>
        <p:nvPicPr>
          <p:cNvPr id="25" name="Image 23" descr="preencoded.png"/>
          <p:cNvPicPr>
            <a:picLocks noChangeAspect="1"/>
          </p:cNvPicPr>
          <p:nvPr/>
        </p:nvPicPr>
        <p:blipFill>
          <a:blip r:embed="rId24"/>
          <a:stretch>
            <a:fillRect/>
          </a:stretch>
        </p:blipFill>
        <p:spPr>
          <a:xfrm>
            <a:off x="7688014" y="4095750"/>
            <a:ext cx="3730675" cy="228600"/>
          </a:xfrm>
          <a:prstGeom prst="rect">
            <a:avLst/>
          </a:prstGeom>
        </p:spPr>
      </p:pic>
      <p:pic>
        <p:nvPicPr>
          <p:cNvPr id="26" name="Image 24" descr="preencoded.png"/>
          <p:cNvPicPr>
            <a:picLocks noChangeAspect="1"/>
          </p:cNvPicPr>
          <p:nvPr/>
        </p:nvPicPr>
        <p:blipFill>
          <a:blip r:embed="rId25"/>
          <a:stretch>
            <a:fillRect/>
          </a:stretch>
        </p:blipFill>
        <p:spPr>
          <a:xfrm>
            <a:off x="457200" y="5715000"/>
            <a:ext cx="11277600" cy="685800"/>
          </a:xfrm>
          <a:prstGeom prst="rect">
            <a:avLst/>
          </a:prstGeom>
        </p:spPr>
      </p:pic>
      <p:pic>
        <p:nvPicPr>
          <p:cNvPr id="27" name="Image 25" descr="preencoded.png"/>
          <p:cNvPicPr>
            <a:picLocks noChangeAspect="1"/>
          </p:cNvPicPr>
          <p:nvPr/>
        </p:nvPicPr>
        <p:blipFill>
          <a:blip r:embed="rId26"/>
          <a:stretch>
            <a:fillRect/>
          </a:stretch>
        </p:blipFill>
        <p:spPr>
          <a:xfrm>
            <a:off x="752326" y="5857875"/>
            <a:ext cx="114300" cy="152400"/>
          </a:xfrm>
          <a:prstGeom prst="rect">
            <a:avLst/>
          </a:prstGeom>
        </p:spPr>
      </p:pic>
      <p:sp>
        <p:nvSpPr>
          <p:cNvPr id="28"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Containers vs. Virtual Machines</a:t>
            </a:r>
            <a:endParaRPr lang="en-US" sz="2700" dirty="0"/>
          </a:p>
        </p:txBody>
      </p:sp>
      <p:sp>
        <p:nvSpPr>
          <p:cNvPr id="29" name="Text 1"/>
          <p:cNvSpPr/>
          <p:nvPr/>
        </p:nvSpPr>
        <p:spPr>
          <a:xfrm>
            <a:off x="3477563" y="1295400"/>
            <a:ext cx="2160449"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FFFFFF"/>
                </a:solidFill>
                <a:latin typeface="ui-sans-serif" pitchFamily="34" charset="0"/>
                <a:ea typeface="ui-sans-serif" pitchFamily="34" charset="-122"/>
                <a:cs typeface="ui-sans-serif" pitchFamily="34" charset="-120"/>
              </a:rPr>
              <a:t>Virtual Machines</a:t>
            </a:r>
            <a:endParaRPr lang="en-US" sz="1500" dirty="0"/>
          </a:p>
        </p:txBody>
      </p:sp>
      <p:sp>
        <p:nvSpPr>
          <p:cNvPr id="30" name="Text 2"/>
          <p:cNvSpPr/>
          <p:nvPr/>
        </p:nvSpPr>
        <p:spPr>
          <a:xfrm>
            <a:off x="5875035" y="1295400"/>
            <a:ext cx="1396067"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FFFFFF"/>
                </a:solidFill>
                <a:latin typeface="ui-sans-serif" pitchFamily="34" charset="0"/>
                <a:ea typeface="ui-sans-serif" pitchFamily="34" charset="-122"/>
                <a:cs typeface="ui-sans-serif" pitchFamily="34" charset="-120"/>
              </a:rPr>
              <a:t>Containers</a:t>
            </a:r>
            <a:endParaRPr lang="en-US" sz="1500" dirty="0"/>
          </a:p>
        </p:txBody>
      </p:sp>
      <p:sp>
        <p:nvSpPr>
          <p:cNvPr id="31" name="Text 3"/>
          <p:cNvSpPr/>
          <p:nvPr/>
        </p:nvSpPr>
        <p:spPr>
          <a:xfrm>
            <a:off x="876300" y="1905000"/>
            <a:ext cx="1567696"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Virtualization</a:t>
            </a:r>
            <a:endParaRPr lang="en-US" sz="1350" dirty="0"/>
          </a:p>
        </p:txBody>
      </p:sp>
      <p:sp>
        <p:nvSpPr>
          <p:cNvPr id="32" name="Text 4"/>
          <p:cNvSpPr/>
          <p:nvPr/>
        </p:nvSpPr>
        <p:spPr>
          <a:xfrm>
            <a:off x="3429000" y="1924050"/>
            <a:ext cx="3634383"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Hardware virtualization (via hypervisor)</a:t>
            </a:r>
            <a:endParaRPr lang="en-US" sz="1200" dirty="0"/>
          </a:p>
        </p:txBody>
      </p:sp>
      <p:sp>
        <p:nvSpPr>
          <p:cNvPr id="33" name="Text 5"/>
          <p:cNvSpPr/>
          <p:nvPr/>
        </p:nvSpPr>
        <p:spPr>
          <a:xfrm>
            <a:off x="6762452" y="1924050"/>
            <a:ext cx="5581948"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Operating system-level virtualization (shares host OS kernel)</a:t>
            </a:r>
            <a:endParaRPr lang="en-US" sz="1200" dirty="0"/>
          </a:p>
        </p:txBody>
      </p:sp>
      <p:sp>
        <p:nvSpPr>
          <p:cNvPr id="34" name="Text 6"/>
          <p:cNvSpPr/>
          <p:nvPr/>
        </p:nvSpPr>
        <p:spPr>
          <a:xfrm>
            <a:off x="876300" y="2495550"/>
            <a:ext cx="169289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Isolation Level</a:t>
            </a:r>
            <a:endParaRPr lang="en-US" sz="1350" dirty="0"/>
          </a:p>
        </p:txBody>
      </p:sp>
      <p:sp>
        <p:nvSpPr>
          <p:cNvPr id="35" name="Text 7"/>
          <p:cNvSpPr/>
          <p:nvPr/>
        </p:nvSpPr>
        <p:spPr>
          <a:xfrm>
            <a:off x="3408313" y="2400300"/>
            <a:ext cx="3632895" cy="4572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Strong isolation (each VM has its own guest OS)</a:t>
            </a:r>
            <a:endParaRPr lang="en-US" sz="1200" dirty="0"/>
          </a:p>
        </p:txBody>
      </p:sp>
      <p:sp>
        <p:nvSpPr>
          <p:cNvPr id="36" name="Text 8"/>
          <p:cNvSpPr/>
          <p:nvPr/>
        </p:nvSpPr>
        <p:spPr>
          <a:xfrm>
            <a:off x="7346007" y="2400300"/>
            <a:ext cx="4236393" cy="4572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Lighter isolation (shared OS kernel, isolated user space)</a:t>
            </a:r>
            <a:endParaRPr lang="en-US" sz="1200" dirty="0"/>
          </a:p>
        </p:txBody>
      </p:sp>
      <p:sp>
        <p:nvSpPr>
          <p:cNvPr id="37" name="Text 9"/>
          <p:cNvSpPr/>
          <p:nvPr/>
        </p:nvSpPr>
        <p:spPr>
          <a:xfrm>
            <a:off x="895350" y="3086100"/>
            <a:ext cx="1858089"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Resource Usage</a:t>
            </a:r>
            <a:endParaRPr lang="en-US" sz="1350" dirty="0"/>
          </a:p>
        </p:txBody>
      </p:sp>
      <p:sp>
        <p:nvSpPr>
          <p:cNvPr id="38" name="Text 10"/>
          <p:cNvSpPr/>
          <p:nvPr/>
        </p:nvSpPr>
        <p:spPr>
          <a:xfrm>
            <a:off x="3429000" y="3105150"/>
            <a:ext cx="4585037"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High (each VM includes a full OS, consuming GBs)</a:t>
            </a:r>
            <a:endParaRPr lang="en-US" sz="1200" dirty="0"/>
          </a:p>
        </p:txBody>
      </p:sp>
      <p:sp>
        <p:nvSpPr>
          <p:cNvPr id="39" name="Text 11"/>
          <p:cNvSpPr/>
          <p:nvPr/>
        </p:nvSpPr>
        <p:spPr>
          <a:xfrm>
            <a:off x="7554664" y="3105150"/>
            <a:ext cx="4515386"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Low (shares host OS kernel, typically MBs in size)</a:t>
            </a:r>
            <a:endParaRPr lang="en-US" sz="1200" dirty="0"/>
          </a:p>
        </p:txBody>
      </p:sp>
      <p:sp>
        <p:nvSpPr>
          <p:cNvPr id="40" name="Text 12"/>
          <p:cNvSpPr/>
          <p:nvPr/>
        </p:nvSpPr>
        <p:spPr>
          <a:xfrm>
            <a:off x="876300" y="3581400"/>
            <a:ext cx="1515368"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Startup Time</a:t>
            </a:r>
            <a:endParaRPr lang="en-US" sz="1350" dirty="0"/>
          </a:p>
        </p:txBody>
      </p:sp>
      <p:sp>
        <p:nvSpPr>
          <p:cNvPr id="41" name="Text 13"/>
          <p:cNvSpPr/>
          <p:nvPr/>
        </p:nvSpPr>
        <p:spPr>
          <a:xfrm>
            <a:off x="3429000" y="3600450"/>
            <a:ext cx="3143250"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Slower (requires booting a full OS)</a:t>
            </a:r>
            <a:endParaRPr lang="en-US" sz="1200" dirty="0"/>
          </a:p>
        </p:txBody>
      </p:sp>
      <p:sp>
        <p:nvSpPr>
          <p:cNvPr id="42" name="Text 14"/>
          <p:cNvSpPr/>
          <p:nvPr/>
        </p:nvSpPr>
        <p:spPr>
          <a:xfrm>
            <a:off x="6353175" y="3600450"/>
            <a:ext cx="3681353"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Faster (starts in seconds, no OS to boot)</a:t>
            </a:r>
            <a:endParaRPr lang="en-US" sz="1200" dirty="0"/>
          </a:p>
        </p:txBody>
      </p:sp>
      <p:sp>
        <p:nvSpPr>
          <p:cNvPr id="43" name="Text 15"/>
          <p:cNvSpPr/>
          <p:nvPr/>
        </p:nvSpPr>
        <p:spPr>
          <a:xfrm>
            <a:off x="876300" y="4076700"/>
            <a:ext cx="1222117"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Portability</a:t>
            </a:r>
            <a:endParaRPr lang="en-US" sz="1350" dirty="0"/>
          </a:p>
        </p:txBody>
      </p:sp>
      <p:sp>
        <p:nvSpPr>
          <p:cNvPr id="44" name="Text 16"/>
          <p:cNvSpPr/>
          <p:nvPr/>
        </p:nvSpPr>
        <p:spPr>
          <a:xfrm>
            <a:off x="3429000" y="4095750"/>
            <a:ext cx="4927937"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Less portable (due to OS differences and hypervisors)</a:t>
            </a:r>
            <a:endParaRPr lang="en-US" sz="1200" dirty="0"/>
          </a:p>
        </p:txBody>
      </p:sp>
      <p:sp>
        <p:nvSpPr>
          <p:cNvPr id="45" name="Text 17"/>
          <p:cNvSpPr/>
          <p:nvPr/>
        </p:nvSpPr>
        <p:spPr>
          <a:xfrm>
            <a:off x="7840414" y="4095750"/>
            <a:ext cx="4111050"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Highly portable ("write once, run anywhere")</a:t>
            </a:r>
            <a:endParaRPr lang="en-US" sz="1200" dirty="0"/>
          </a:p>
        </p:txBody>
      </p:sp>
      <p:sp>
        <p:nvSpPr>
          <p:cNvPr id="46" name="Text 18"/>
          <p:cNvSpPr/>
          <p:nvPr/>
        </p:nvSpPr>
        <p:spPr>
          <a:xfrm>
            <a:off x="571500" y="5829300"/>
            <a:ext cx="110490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 </a:t>
            </a:r>
            <a:r>
              <a:rPr lang="en-US" sz="1200" b="1" dirty="0">
                <a:solidFill>
                  <a:srgbClr val="374151"/>
                </a:solidFill>
                <a:latin typeface="ui-sans-serif" pitchFamily="34" charset="0"/>
                <a:ea typeface="ui-sans-serif" pitchFamily="34" charset="-122"/>
                <a:cs typeface="ui-sans-serif" pitchFamily="34" charset="-120"/>
              </a:rPr>
              <a:t>Key Takeaway:</a:t>
            </a:r>
            <a:r>
              <a:rPr lang="en-US" sz="1200" dirty="0">
                <a:solidFill>
                  <a:srgbClr val="374151"/>
                </a:solidFill>
                <a:latin typeface="ui-sans-serif" pitchFamily="34" charset="0"/>
                <a:ea typeface="ui-sans-serif" pitchFamily="34" charset="-122"/>
                <a:cs typeface="ui-sans-serif" pitchFamily="34" charset="-120"/>
              </a:rPr>
              <a:t> Containers provide lightweight, efficient virtualization ideal for application portability, while VMs offer stronger isolation with higher resource overhead.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8382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838200"/>
          </a:xfrm>
          <a:prstGeom prst="rect">
            <a:avLst/>
          </a:prstGeom>
        </p:spPr>
      </p:pic>
      <p:pic>
        <p:nvPicPr>
          <p:cNvPr id="8" name="Image 6" descr="preencoded.png"/>
          <p:cNvPicPr>
            <a:picLocks noChangeAspect="1"/>
          </p:cNvPicPr>
          <p:nvPr/>
        </p:nvPicPr>
        <p:blipFill>
          <a:blip r:embed="rId6"/>
          <a:stretch>
            <a:fillRect/>
          </a:stretch>
        </p:blipFill>
        <p:spPr>
          <a:xfrm>
            <a:off x="609600" y="3028950"/>
            <a:ext cx="3848100" cy="838200"/>
          </a:xfrm>
          <a:prstGeom prst="rect">
            <a:avLst/>
          </a:prstGeom>
        </p:spPr>
      </p:pic>
      <p:pic>
        <p:nvPicPr>
          <p:cNvPr id="9" name="Image 7" descr="preencoded.png"/>
          <p:cNvPicPr>
            <a:picLocks noChangeAspect="1"/>
          </p:cNvPicPr>
          <p:nvPr/>
        </p:nvPicPr>
        <p:blipFill>
          <a:blip r:embed="rId6"/>
          <a:stretch>
            <a:fillRect/>
          </a:stretch>
        </p:blipFill>
        <p:spPr>
          <a:xfrm>
            <a:off x="4686300" y="3028950"/>
            <a:ext cx="3848100" cy="838200"/>
          </a:xfrm>
          <a:prstGeom prst="rect">
            <a:avLst/>
          </a:prstGeom>
        </p:spPr>
      </p:pic>
      <p:pic>
        <p:nvPicPr>
          <p:cNvPr id="10" name="Image 8" descr="preencoded.png"/>
          <p:cNvPicPr>
            <a:picLocks noChangeAspect="1"/>
          </p:cNvPicPr>
          <p:nvPr/>
        </p:nvPicPr>
        <p:blipFill>
          <a:blip r:embed="rId7"/>
          <a:stretch>
            <a:fillRect/>
          </a:stretch>
        </p:blipFill>
        <p:spPr>
          <a:xfrm>
            <a:off x="9825038" y="2581275"/>
            <a:ext cx="771525" cy="685800"/>
          </a:xfrm>
          <a:prstGeom prst="rect">
            <a:avLst/>
          </a:prstGeom>
        </p:spPr>
      </p:pic>
      <p:pic>
        <p:nvPicPr>
          <p:cNvPr id="11" name="Image 9" descr="preencoded.png"/>
          <p:cNvPicPr>
            <a:picLocks noChangeAspect="1"/>
          </p:cNvPicPr>
          <p:nvPr/>
        </p:nvPicPr>
        <p:blipFill>
          <a:blip r:embed="rId8"/>
          <a:stretch>
            <a:fillRect/>
          </a:stretch>
        </p:blipFill>
        <p:spPr>
          <a:xfrm>
            <a:off x="609600" y="6515100"/>
            <a:ext cx="152400" cy="152400"/>
          </a:xfrm>
          <a:prstGeom prst="rect">
            <a:avLst/>
          </a:prstGeom>
        </p:spPr>
      </p:pic>
      <p:sp>
        <p:nvSpPr>
          <p:cNvPr id="12"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a:t>
            </a:r>
            <a:endParaRPr lang="en-US" sz="1200" dirty="0"/>
          </a:p>
        </p:txBody>
      </p:sp>
      <p:sp>
        <p:nvSpPr>
          <p:cNvPr id="13" name="Text 1"/>
          <p:cNvSpPr/>
          <p:nvPr/>
        </p:nvSpPr>
        <p:spPr>
          <a:xfrm>
            <a:off x="1143000" y="304800"/>
            <a:ext cx="704409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Primary Purpose of Containerization</a:t>
            </a:r>
            <a:endParaRPr lang="en-US" sz="2250" dirty="0"/>
          </a:p>
        </p:txBody>
      </p:sp>
      <p:sp>
        <p:nvSpPr>
          <p:cNvPr id="14"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primary purpose of containerization in software development?</a:t>
            </a:r>
            <a:endParaRPr lang="en-US" sz="1800" dirty="0"/>
          </a:p>
        </p:txBody>
      </p:sp>
      <p:sp>
        <p:nvSpPr>
          <p:cNvPr id="15"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6" name="Text 4"/>
          <p:cNvSpPr/>
          <p:nvPr/>
        </p:nvSpPr>
        <p:spPr>
          <a:xfrm>
            <a:off x="1099691" y="2114550"/>
            <a:ext cx="3205609"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virtualize hardware for multiple operating systems.</a:t>
            </a:r>
            <a:endParaRPr lang="en-US" sz="1350" dirty="0"/>
          </a:p>
        </p:txBody>
      </p:sp>
      <p:sp>
        <p:nvSpPr>
          <p:cNvPr id="17"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18" name="Text 6"/>
          <p:cNvSpPr/>
          <p:nvPr/>
        </p:nvSpPr>
        <p:spPr>
          <a:xfrm>
            <a:off x="5170587" y="2114550"/>
            <a:ext cx="3211413"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package an application with all its dependencies into a portable unit.</a:t>
            </a:r>
            <a:endParaRPr lang="en-US" sz="1350" dirty="0"/>
          </a:p>
        </p:txBody>
      </p:sp>
      <p:sp>
        <p:nvSpPr>
          <p:cNvPr id="19" name="Text 7"/>
          <p:cNvSpPr/>
          <p:nvPr/>
        </p:nvSpPr>
        <p:spPr>
          <a:xfrm>
            <a:off x="762000" y="31813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0" name="Text 8"/>
          <p:cNvSpPr/>
          <p:nvPr/>
        </p:nvSpPr>
        <p:spPr>
          <a:xfrm>
            <a:off x="1088529" y="3181350"/>
            <a:ext cx="3216771"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manage network traffic between microservices.</a:t>
            </a:r>
            <a:endParaRPr lang="en-US" sz="1350" dirty="0"/>
          </a:p>
        </p:txBody>
      </p:sp>
      <p:sp>
        <p:nvSpPr>
          <p:cNvPr id="21" name="Text 9"/>
          <p:cNvSpPr/>
          <p:nvPr/>
        </p:nvSpPr>
        <p:spPr>
          <a:xfrm>
            <a:off x="4838700" y="31813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2" name="Text 10"/>
          <p:cNvSpPr/>
          <p:nvPr/>
        </p:nvSpPr>
        <p:spPr>
          <a:xfrm>
            <a:off x="5183535" y="3181350"/>
            <a:ext cx="3198465"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provide a platform for continuous integration and continuous delivery.</a:t>
            </a:r>
            <a:endParaRPr lang="en-US" sz="1350" dirty="0"/>
          </a:p>
        </p:txBody>
      </p:sp>
      <p:sp>
        <p:nvSpPr>
          <p:cNvPr id="23" name="Text 11"/>
          <p:cNvSpPr/>
          <p:nvPr/>
        </p:nvSpPr>
        <p:spPr>
          <a:xfrm>
            <a:off x="8839200" y="3495675"/>
            <a:ext cx="2743200" cy="1143000"/>
          </a:xfrm>
          <a:prstGeom prst="rect">
            <a:avLst/>
          </a:prstGeom>
          <a:noFill/>
          <a:ln/>
        </p:spPr>
        <p:txBody>
          <a:bodyPr vert="horz" wrap="square" lIns="0" tIns="0" rIns="0" bIns="0" rtlCol="0" anchor="t"/>
          <a:lstStyle/>
          <a:p>
            <a:pPr marL="0" indent="0" algn="ctr">
              <a:lnSpc>
                <a:spcPts val="1800"/>
              </a:lnSpc>
              <a:buNone/>
            </a:pPr>
            <a:r>
              <a:rPr lang="en-US" sz="1200" i="1" dirty="0">
                <a:solidFill>
                  <a:srgbClr val="4B5563"/>
                </a:solidFill>
                <a:latin typeface="ui-sans-serif" pitchFamily="34" charset="0"/>
                <a:ea typeface="ui-sans-serif" pitchFamily="34" charset="-122"/>
                <a:cs typeface="ui-sans-serif" pitchFamily="34" charset="-120"/>
              </a:rPr>
              <a:t>"Containerization packages an application and its dependencies into a single, portable unit, ensuring consistent execution across different environments."</a:t>
            </a:r>
            <a:endParaRPr lang="en-US" sz="1200" dirty="0"/>
          </a:p>
        </p:txBody>
      </p:sp>
      <p:sp>
        <p:nvSpPr>
          <p:cNvPr id="24" name="Text 12"/>
          <p:cNvSpPr/>
          <p:nvPr/>
        </p:nvSpPr>
        <p:spPr>
          <a:xfrm>
            <a:off x="838200" y="6477000"/>
            <a:ext cx="15028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Containerization</a:t>
            </a:r>
            <a:endParaRPr lang="en-US" sz="1200" dirty="0"/>
          </a:p>
        </p:txBody>
      </p:sp>
      <p:sp>
        <p:nvSpPr>
          <p:cNvPr id="25" name="Text 13"/>
          <p:cNvSpPr/>
          <p:nvPr/>
        </p:nvSpPr>
        <p:spPr>
          <a:xfrm>
            <a:off x="11240095" y="64770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2/61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924800" cy="1066800"/>
          </a:xfrm>
          <a:prstGeom prst="rect">
            <a:avLst/>
          </a:prstGeom>
        </p:spPr>
      </p:pic>
      <p:pic>
        <p:nvPicPr>
          <p:cNvPr id="7" name="Image 5" descr="preencoded.png"/>
          <p:cNvPicPr>
            <a:picLocks noChangeAspect="1"/>
          </p:cNvPicPr>
          <p:nvPr/>
        </p:nvPicPr>
        <p:blipFill>
          <a:blip r:embed="rId7"/>
          <a:stretch>
            <a:fillRect/>
          </a:stretch>
        </p:blipFill>
        <p:spPr>
          <a:xfrm>
            <a:off x="800100" y="1238250"/>
            <a:ext cx="228600" cy="304800"/>
          </a:xfrm>
          <a:prstGeom prst="rect">
            <a:avLst/>
          </a:prstGeom>
        </p:spPr>
      </p:pic>
      <p:pic>
        <p:nvPicPr>
          <p:cNvPr id="8" name="Image 6" descr="preencoded.png"/>
          <p:cNvPicPr>
            <a:picLocks noChangeAspect="1"/>
          </p:cNvPicPr>
          <p:nvPr/>
        </p:nvPicPr>
        <p:blipFill>
          <a:blip r:embed="rId8"/>
          <a:stretch>
            <a:fillRect/>
          </a:stretch>
        </p:blipFill>
        <p:spPr>
          <a:xfrm>
            <a:off x="609600" y="2914650"/>
            <a:ext cx="171450" cy="171450"/>
          </a:xfrm>
          <a:prstGeom prst="rect">
            <a:avLst/>
          </a:prstGeom>
        </p:spPr>
      </p:pic>
      <p:pic>
        <p:nvPicPr>
          <p:cNvPr id="9" name="Image 7" descr="preencoded.png"/>
          <p:cNvPicPr>
            <a:picLocks noChangeAspect="1"/>
          </p:cNvPicPr>
          <p:nvPr/>
        </p:nvPicPr>
        <p:blipFill>
          <a:blip r:embed="rId8"/>
          <a:stretch>
            <a:fillRect/>
          </a:stretch>
        </p:blipFill>
        <p:spPr>
          <a:xfrm>
            <a:off x="609600" y="3600450"/>
            <a:ext cx="171450" cy="171450"/>
          </a:xfrm>
          <a:prstGeom prst="rect">
            <a:avLst/>
          </a:prstGeom>
        </p:spPr>
      </p:pic>
      <p:pic>
        <p:nvPicPr>
          <p:cNvPr id="10" name="Image 8" descr="preencoded.png"/>
          <p:cNvPicPr>
            <a:picLocks noChangeAspect="1"/>
          </p:cNvPicPr>
          <p:nvPr/>
        </p:nvPicPr>
        <p:blipFill>
          <a:blip r:embed="rId8"/>
          <a:stretch>
            <a:fillRect/>
          </a:stretch>
        </p:blipFill>
        <p:spPr>
          <a:xfrm>
            <a:off x="609600" y="4286250"/>
            <a:ext cx="171450" cy="171450"/>
          </a:xfrm>
          <a:prstGeom prst="rect">
            <a:avLst/>
          </a:prstGeom>
        </p:spPr>
      </p:pic>
      <p:pic>
        <p:nvPicPr>
          <p:cNvPr id="11" name="Image 9" descr="preencoded.png"/>
          <p:cNvPicPr>
            <a:picLocks noChangeAspect="1"/>
          </p:cNvPicPr>
          <p:nvPr/>
        </p:nvPicPr>
        <p:blipFill>
          <a:blip r:embed="rId9"/>
          <a:stretch>
            <a:fillRect/>
          </a:stretch>
        </p:blipFill>
        <p:spPr>
          <a:xfrm>
            <a:off x="9782175" y="2295525"/>
            <a:ext cx="857250" cy="685800"/>
          </a:xfrm>
          <a:prstGeom prst="rect">
            <a:avLst/>
          </a:prstGeom>
        </p:spPr>
      </p:pic>
      <p:pic>
        <p:nvPicPr>
          <p:cNvPr id="12" name="Image 10" descr="preencoded.png"/>
          <p:cNvPicPr>
            <a:picLocks noChangeAspect="1"/>
          </p:cNvPicPr>
          <p:nvPr/>
        </p:nvPicPr>
        <p:blipFill>
          <a:blip r:embed="rId10"/>
          <a:stretch>
            <a:fillRect/>
          </a:stretch>
        </p:blipFill>
        <p:spPr>
          <a:xfrm>
            <a:off x="8839200" y="3209925"/>
            <a:ext cx="2743200" cy="1714500"/>
          </a:xfrm>
          <a:prstGeom prst="rect">
            <a:avLst/>
          </a:prstGeom>
        </p:spPr>
      </p:pic>
      <p:pic>
        <p:nvPicPr>
          <p:cNvPr id="13" name="Image 11" descr="preencoded.png"/>
          <p:cNvPicPr>
            <a:picLocks noChangeAspect="1"/>
          </p:cNvPicPr>
          <p:nvPr/>
        </p:nvPicPr>
        <p:blipFill>
          <a:blip r:embed="rId11"/>
          <a:stretch>
            <a:fillRect/>
          </a:stretch>
        </p:blipFill>
        <p:spPr>
          <a:xfrm>
            <a:off x="8991600" y="3857625"/>
            <a:ext cx="152400" cy="152400"/>
          </a:xfrm>
          <a:prstGeom prst="rect">
            <a:avLst/>
          </a:prstGeom>
        </p:spPr>
      </p:pic>
      <p:pic>
        <p:nvPicPr>
          <p:cNvPr id="14" name="Image 12" descr="preencoded.png"/>
          <p:cNvPicPr>
            <a:picLocks noChangeAspect="1"/>
          </p:cNvPicPr>
          <p:nvPr/>
        </p:nvPicPr>
        <p:blipFill>
          <a:blip r:embed="rId11"/>
          <a:stretch>
            <a:fillRect/>
          </a:stretch>
        </p:blipFill>
        <p:spPr>
          <a:xfrm>
            <a:off x="8991600" y="4276725"/>
            <a:ext cx="152400" cy="152400"/>
          </a:xfrm>
          <a:prstGeom prst="rect">
            <a:avLst/>
          </a:prstGeom>
        </p:spPr>
      </p:pic>
      <p:pic>
        <p:nvPicPr>
          <p:cNvPr id="15" name="Image 13" descr="preencoded.png"/>
          <p:cNvPicPr>
            <a:picLocks noChangeAspect="1"/>
          </p:cNvPicPr>
          <p:nvPr/>
        </p:nvPicPr>
        <p:blipFill>
          <a:blip r:embed="rId11"/>
          <a:stretch>
            <a:fillRect/>
          </a:stretch>
        </p:blipFill>
        <p:spPr>
          <a:xfrm>
            <a:off x="8991600" y="4581525"/>
            <a:ext cx="152400" cy="152400"/>
          </a:xfrm>
          <a:prstGeom prst="rect">
            <a:avLst/>
          </a:prstGeom>
        </p:spPr>
      </p:pic>
      <p:pic>
        <p:nvPicPr>
          <p:cNvPr id="16" name="Image 14" descr="preencoded.png"/>
          <p:cNvPicPr>
            <a:picLocks noChangeAspect="1"/>
          </p:cNvPicPr>
          <p:nvPr/>
        </p:nvPicPr>
        <p:blipFill>
          <a:blip r:embed="rId12"/>
          <a:stretch>
            <a:fillRect/>
          </a:stretch>
        </p:blipFill>
        <p:spPr>
          <a:xfrm>
            <a:off x="609600" y="6515100"/>
            <a:ext cx="152400" cy="152400"/>
          </a:xfrm>
          <a:prstGeom prst="rect">
            <a:avLst/>
          </a:prstGeom>
        </p:spPr>
      </p:pic>
      <p:sp>
        <p:nvSpPr>
          <p:cNvPr id="17"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a:t>
            </a:r>
            <a:endParaRPr lang="en-US" sz="1200" dirty="0"/>
          </a:p>
        </p:txBody>
      </p:sp>
      <p:sp>
        <p:nvSpPr>
          <p:cNvPr id="18" name="Text 1"/>
          <p:cNvSpPr/>
          <p:nvPr/>
        </p:nvSpPr>
        <p:spPr>
          <a:xfrm>
            <a:off x="1143000" y="304800"/>
            <a:ext cx="704409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Primary Purpose of Containerization</a:t>
            </a:r>
            <a:endParaRPr lang="en-US" sz="2250" dirty="0"/>
          </a:p>
        </p:txBody>
      </p:sp>
      <p:sp>
        <p:nvSpPr>
          <p:cNvPr id="19" name="Text 2"/>
          <p:cNvSpPr/>
          <p:nvPr/>
        </p:nvSpPr>
        <p:spPr>
          <a:xfrm>
            <a:off x="1143000" y="1257300"/>
            <a:ext cx="232975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Correct Answer: </a:t>
            </a:r>
            <a:r>
              <a:rPr lang="en-US" sz="1500" b="1" dirty="0">
                <a:solidFill>
                  <a:srgbClr val="FF6B6B"/>
                </a:solidFill>
                <a:latin typeface="ui-sans-serif" pitchFamily="34" charset="0"/>
                <a:ea typeface="ui-sans-serif" pitchFamily="34" charset="-122"/>
                <a:cs typeface="ui-sans-serif" pitchFamily="34" charset="-120"/>
              </a:rPr>
              <a:t>B</a:t>
            </a:r>
            <a:endParaRPr lang="en-US" sz="1500" dirty="0"/>
          </a:p>
        </p:txBody>
      </p:sp>
      <p:sp>
        <p:nvSpPr>
          <p:cNvPr id="20" name="Text 3"/>
          <p:cNvSpPr/>
          <p:nvPr/>
        </p:nvSpPr>
        <p:spPr>
          <a:xfrm>
            <a:off x="1143000" y="1657350"/>
            <a:ext cx="864108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package an application with all its dependencies into a portable unit.</a:t>
            </a:r>
            <a:endParaRPr lang="en-US" sz="1350" dirty="0"/>
          </a:p>
        </p:txBody>
      </p:sp>
      <p:sp>
        <p:nvSpPr>
          <p:cNvPr id="21" name="Text 4"/>
          <p:cNvSpPr/>
          <p:nvPr/>
        </p:nvSpPr>
        <p:spPr>
          <a:xfrm>
            <a:off x="609600" y="2419350"/>
            <a:ext cx="7924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2" name="Text 5"/>
          <p:cNvSpPr/>
          <p:nvPr/>
        </p:nvSpPr>
        <p:spPr>
          <a:xfrm>
            <a:off x="895350" y="2876550"/>
            <a:ext cx="76390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Containerization packages an application and its dependencies into a single, portable unit, ensuring consistent execution across different environments.</a:t>
            </a:r>
            <a:endParaRPr lang="en-US" sz="1350" dirty="0"/>
          </a:p>
        </p:txBody>
      </p:sp>
      <p:sp>
        <p:nvSpPr>
          <p:cNvPr id="23" name="Text 6"/>
          <p:cNvSpPr/>
          <p:nvPr/>
        </p:nvSpPr>
        <p:spPr>
          <a:xfrm>
            <a:off x="895350" y="3562350"/>
            <a:ext cx="76390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This is a core benefit that distinguishes it from traditional virtualization or other development practices.</a:t>
            </a:r>
            <a:endParaRPr lang="en-US" sz="1350" dirty="0"/>
          </a:p>
        </p:txBody>
      </p:sp>
      <p:sp>
        <p:nvSpPr>
          <p:cNvPr id="24" name="Text 7"/>
          <p:cNvSpPr/>
          <p:nvPr/>
        </p:nvSpPr>
        <p:spPr>
          <a:xfrm>
            <a:off x="895350" y="4248150"/>
            <a:ext cx="76390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By packaging everything together, containerization eliminates the "works on my machine" problem and provides a consistent runtime environment.</a:t>
            </a:r>
            <a:endParaRPr lang="en-US" sz="1350" dirty="0"/>
          </a:p>
        </p:txBody>
      </p:sp>
      <p:sp>
        <p:nvSpPr>
          <p:cNvPr id="25" name="Text 8"/>
          <p:cNvSpPr/>
          <p:nvPr/>
        </p:nvSpPr>
        <p:spPr>
          <a:xfrm>
            <a:off x="8747760" y="3362325"/>
            <a:ext cx="292608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374151"/>
                </a:solidFill>
                <a:latin typeface="ui-sans-serif" pitchFamily="34" charset="0"/>
                <a:ea typeface="ui-sans-serif" pitchFamily="34" charset="-122"/>
                <a:cs typeface="ui-sans-serif" pitchFamily="34" charset="-120"/>
              </a:rPr>
              <a:t>Key Benefits</a:t>
            </a:r>
            <a:endParaRPr lang="en-US" sz="1350" dirty="0"/>
          </a:p>
        </p:txBody>
      </p:sp>
      <p:sp>
        <p:nvSpPr>
          <p:cNvPr id="26" name="Text 9"/>
          <p:cNvSpPr/>
          <p:nvPr/>
        </p:nvSpPr>
        <p:spPr>
          <a:xfrm>
            <a:off x="9220200" y="3705225"/>
            <a:ext cx="2209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Consistency across environments</a:t>
            </a:r>
            <a:endParaRPr lang="en-US" sz="1200" dirty="0"/>
          </a:p>
        </p:txBody>
      </p:sp>
      <p:sp>
        <p:nvSpPr>
          <p:cNvPr id="27" name="Text 10"/>
          <p:cNvSpPr/>
          <p:nvPr/>
        </p:nvSpPr>
        <p:spPr>
          <a:xfrm>
            <a:off x="9220200" y="4238625"/>
            <a:ext cx="92315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Portability</a:t>
            </a:r>
            <a:endParaRPr lang="en-US" sz="1200" dirty="0"/>
          </a:p>
        </p:txBody>
      </p:sp>
      <p:sp>
        <p:nvSpPr>
          <p:cNvPr id="28" name="Text 11"/>
          <p:cNvSpPr/>
          <p:nvPr/>
        </p:nvSpPr>
        <p:spPr>
          <a:xfrm>
            <a:off x="9220200" y="4543425"/>
            <a:ext cx="77438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Isolation</a:t>
            </a:r>
            <a:endParaRPr lang="en-US" sz="1200" dirty="0"/>
          </a:p>
        </p:txBody>
      </p:sp>
      <p:sp>
        <p:nvSpPr>
          <p:cNvPr id="29" name="Text 12"/>
          <p:cNvSpPr/>
          <p:nvPr/>
        </p:nvSpPr>
        <p:spPr>
          <a:xfrm>
            <a:off x="838200" y="6477000"/>
            <a:ext cx="15028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Containerization</a:t>
            </a:r>
            <a:endParaRPr lang="en-US" sz="1200" dirty="0"/>
          </a:p>
        </p:txBody>
      </p:sp>
      <p:sp>
        <p:nvSpPr>
          <p:cNvPr id="30" name="Text 13"/>
          <p:cNvSpPr/>
          <p:nvPr/>
        </p:nvSpPr>
        <p:spPr>
          <a:xfrm>
            <a:off x="11240095" y="64770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3/61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2190750"/>
            <a:ext cx="3867150" cy="1104900"/>
          </a:xfrm>
          <a:prstGeom prst="rect">
            <a:avLst/>
          </a:prstGeom>
        </p:spPr>
      </p:pic>
      <p:pic>
        <p:nvPicPr>
          <p:cNvPr id="7" name="Image 5" descr="preencoded.png"/>
          <p:cNvPicPr>
            <a:picLocks noChangeAspect="1"/>
          </p:cNvPicPr>
          <p:nvPr/>
        </p:nvPicPr>
        <p:blipFill>
          <a:blip r:embed="rId6"/>
          <a:stretch>
            <a:fillRect/>
          </a:stretch>
        </p:blipFill>
        <p:spPr>
          <a:xfrm>
            <a:off x="4667250" y="2190750"/>
            <a:ext cx="3867150" cy="1104900"/>
          </a:xfrm>
          <a:prstGeom prst="rect">
            <a:avLst/>
          </a:prstGeom>
        </p:spPr>
      </p:pic>
      <p:pic>
        <p:nvPicPr>
          <p:cNvPr id="8" name="Image 6" descr="preencoded.png"/>
          <p:cNvPicPr>
            <a:picLocks noChangeAspect="1"/>
          </p:cNvPicPr>
          <p:nvPr/>
        </p:nvPicPr>
        <p:blipFill>
          <a:blip r:embed="rId6"/>
          <a:stretch>
            <a:fillRect/>
          </a:stretch>
        </p:blipFill>
        <p:spPr>
          <a:xfrm>
            <a:off x="609600" y="3486150"/>
            <a:ext cx="3867150" cy="1104900"/>
          </a:xfrm>
          <a:prstGeom prst="rect">
            <a:avLst/>
          </a:prstGeom>
        </p:spPr>
      </p:pic>
      <p:pic>
        <p:nvPicPr>
          <p:cNvPr id="9" name="Image 7" descr="preencoded.png"/>
          <p:cNvPicPr>
            <a:picLocks noChangeAspect="1"/>
          </p:cNvPicPr>
          <p:nvPr/>
        </p:nvPicPr>
        <p:blipFill>
          <a:blip r:embed="rId6"/>
          <a:stretch>
            <a:fillRect/>
          </a:stretch>
        </p:blipFill>
        <p:spPr>
          <a:xfrm>
            <a:off x="4667250" y="3486150"/>
            <a:ext cx="3867150" cy="1104900"/>
          </a:xfrm>
          <a:prstGeom prst="rect">
            <a:avLst/>
          </a:prstGeom>
        </p:spPr>
      </p:pic>
      <p:pic>
        <p:nvPicPr>
          <p:cNvPr id="10" name="Image 8" descr="preencoded.png"/>
          <p:cNvPicPr>
            <a:picLocks noChangeAspect="1"/>
          </p:cNvPicPr>
          <p:nvPr/>
        </p:nvPicPr>
        <p:blipFill>
          <a:blip r:embed="rId7"/>
          <a:stretch>
            <a:fillRect/>
          </a:stretch>
        </p:blipFill>
        <p:spPr>
          <a:xfrm>
            <a:off x="8839200" y="1552575"/>
            <a:ext cx="2743200" cy="1943100"/>
          </a:xfrm>
          <a:prstGeom prst="rect">
            <a:avLst/>
          </a:prstGeom>
        </p:spPr>
      </p:pic>
      <p:pic>
        <p:nvPicPr>
          <p:cNvPr id="11" name="Image 9" descr="preencoded.png"/>
          <p:cNvPicPr>
            <a:picLocks noChangeAspect="1"/>
          </p:cNvPicPr>
          <p:nvPr/>
        </p:nvPicPr>
        <p:blipFill>
          <a:blip r:embed="rId8"/>
          <a:stretch>
            <a:fillRect/>
          </a:stretch>
        </p:blipFill>
        <p:spPr>
          <a:xfrm>
            <a:off x="9982200" y="1704975"/>
            <a:ext cx="457200" cy="457200"/>
          </a:xfrm>
          <a:prstGeom prst="rect">
            <a:avLst/>
          </a:prstGeom>
        </p:spPr>
      </p:pic>
      <p:pic>
        <p:nvPicPr>
          <p:cNvPr id="12" name="Image 10" descr="preencoded.png"/>
          <p:cNvPicPr>
            <a:picLocks noChangeAspect="1"/>
          </p:cNvPicPr>
          <p:nvPr/>
        </p:nvPicPr>
        <p:blipFill>
          <a:blip r:embed="rId9"/>
          <a:stretch>
            <a:fillRect/>
          </a:stretch>
        </p:blipFill>
        <p:spPr>
          <a:xfrm>
            <a:off x="8991600" y="2657475"/>
            <a:ext cx="133350" cy="133350"/>
          </a:xfrm>
          <a:prstGeom prst="rect">
            <a:avLst/>
          </a:prstGeom>
        </p:spPr>
      </p:pic>
      <p:pic>
        <p:nvPicPr>
          <p:cNvPr id="13" name="Image 11" descr="preencoded.png"/>
          <p:cNvPicPr>
            <a:picLocks noChangeAspect="1"/>
          </p:cNvPicPr>
          <p:nvPr/>
        </p:nvPicPr>
        <p:blipFill>
          <a:blip r:embed="rId9"/>
          <a:stretch>
            <a:fillRect/>
          </a:stretch>
        </p:blipFill>
        <p:spPr>
          <a:xfrm>
            <a:off x="8991600" y="2924175"/>
            <a:ext cx="133350" cy="133350"/>
          </a:xfrm>
          <a:prstGeom prst="rect">
            <a:avLst/>
          </a:prstGeom>
        </p:spPr>
      </p:pic>
      <p:pic>
        <p:nvPicPr>
          <p:cNvPr id="14" name="Image 12" descr="preencoded.png"/>
          <p:cNvPicPr>
            <a:picLocks noChangeAspect="1"/>
          </p:cNvPicPr>
          <p:nvPr/>
        </p:nvPicPr>
        <p:blipFill>
          <a:blip r:embed="rId9"/>
          <a:stretch>
            <a:fillRect/>
          </a:stretch>
        </p:blipFill>
        <p:spPr>
          <a:xfrm>
            <a:off x="8991600" y="3190875"/>
            <a:ext cx="133350" cy="133350"/>
          </a:xfrm>
          <a:prstGeom prst="rect">
            <a:avLst/>
          </a:prstGeom>
        </p:spPr>
      </p:pic>
      <p:pic>
        <p:nvPicPr>
          <p:cNvPr id="15" name="Image 13" descr="preencoded.png"/>
          <p:cNvPicPr>
            <a:picLocks noChangeAspect="1"/>
          </p:cNvPicPr>
          <p:nvPr/>
        </p:nvPicPr>
        <p:blipFill>
          <a:blip r:embed="rId10"/>
          <a:stretch>
            <a:fillRect/>
          </a:stretch>
        </p:blipFill>
        <p:spPr>
          <a:xfrm>
            <a:off x="8839200" y="3724275"/>
            <a:ext cx="2743200" cy="1943100"/>
          </a:xfrm>
          <a:prstGeom prst="rect">
            <a:avLst/>
          </a:prstGeom>
        </p:spPr>
      </p:pic>
      <p:pic>
        <p:nvPicPr>
          <p:cNvPr id="16" name="Image 14" descr="preencoded.png"/>
          <p:cNvPicPr>
            <a:picLocks noChangeAspect="1"/>
          </p:cNvPicPr>
          <p:nvPr/>
        </p:nvPicPr>
        <p:blipFill>
          <a:blip r:embed="rId11"/>
          <a:stretch>
            <a:fillRect/>
          </a:stretch>
        </p:blipFill>
        <p:spPr>
          <a:xfrm>
            <a:off x="9982200" y="3876675"/>
            <a:ext cx="457200" cy="457200"/>
          </a:xfrm>
          <a:prstGeom prst="rect">
            <a:avLst/>
          </a:prstGeom>
        </p:spPr>
      </p:pic>
      <p:pic>
        <p:nvPicPr>
          <p:cNvPr id="17" name="Image 15" descr="preencoded.png"/>
          <p:cNvPicPr>
            <a:picLocks noChangeAspect="1"/>
          </p:cNvPicPr>
          <p:nvPr/>
        </p:nvPicPr>
        <p:blipFill>
          <a:blip r:embed="rId12"/>
          <a:stretch>
            <a:fillRect/>
          </a:stretch>
        </p:blipFill>
        <p:spPr>
          <a:xfrm>
            <a:off x="8991600" y="4829175"/>
            <a:ext cx="133350" cy="133350"/>
          </a:xfrm>
          <a:prstGeom prst="rect">
            <a:avLst/>
          </a:prstGeom>
        </p:spPr>
      </p:pic>
      <p:pic>
        <p:nvPicPr>
          <p:cNvPr id="18" name="Image 16" descr="preencoded.png"/>
          <p:cNvPicPr>
            <a:picLocks noChangeAspect="1"/>
          </p:cNvPicPr>
          <p:nvPr/>
        </p:nvPicPr>
        <p:blipFill>
          <a:blip r:embed="rId12"/>
          <a:stretch>
            <a:fillRect/>
          </a:stretch>
        </p:blipFill>
        <p:spPr>
          <a:xfrm>
            <a:off x="8991600" y="5095875"/>
            <a:ext cx="133350" cy="133350"/>
          </a:xfrm>
          <a:prstGeom prst="rect">
            <a:avLst/>
          </a:prstGeom>
        </p:spPr>
      </p:pic>
      <p:pic>
        <p:nvPicPr>
          <p:cNvPr id="19" name="Image 17" descr="preencoded.png"/>
          <p:cNvPicPr>
            <a:picLocks noChangeAspect="1"/>
          </p:cNvPicPr>
          <p:nvPr/>
        </p:nvPicPr>
        <p:blipFill>
          <a:blip r:embed="rId12"/>
          <a:stretch>
            <a:fillRect/>
          </a:stretch>
        </p:blipFill>
        <p:spPr>
          <a:xfrm>
            <a:off x="8991600" y="5362575"/>
            <a:ext cx="133350" cy="133350"/>
          </a:xfrm>
          <a:prstGeom prst="rect">
            <a:avLst/>
          </a:prstGeom>
        </p:spPr>
      </p:pic>
      <p:pic>
        <p:nvPicPr>
          <p:cNvPr id="20" name="Image 18" descr="preencoded.png"/>
          <p:cNvPicPr>
            <a:picLocks noChangeAspect="1"/>
          </p:cNvPicPr>
          <p:nvPr/>
        </p:nvPicPr>
        <p:blipFill>
          <a:blip r:embed="rId13"/>
          <a:stretch>
            <a:fillRect/>
          </a:stretch>
        </p:blipFill>
        <p:spPr>
          <a:xfrm>
            <a:off x="609600" y="6515100"/>
            <a:ext cx="114300" cy="152400"/>
          </a:xfrm>
          <a:prstGeom prst="rect">
            <a:avLst/>
          </a:prstGeom>
        </p:spPr>
      </p:pic>
      <p:sp>
        <p:nvSpPr>
          <p:cNvPr id="21"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a:t>
            </a:r>
            <a:endParaRPr lang="en-US" sz="1200" dirty="0"/>
          </a:p>
        </p:txBody>
      </p:sp>
      <p:sp>
        <p:nvSpPr>
          <p:cNvPr id="22" name="Text 1"/>
          <p:cNvSpPr/>
          <p:nvPr/>
        </p:nvSpPr>
        <p:spPr>
          <a:xfrm>
            <a:off x="1143000" y="304800"/>
            <a:ext cx="6001107"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Containers vs Virtual Machines</a:t>
            </a:r>
            <a:endParaRPr lang="en-US" sz="2250" dirty="0"/>
          </a:p>
        </p:txBody>
      </p:sp>
      <p:sp>
        <p:nvSpPr>
          <p:cNvPr id="23" name="Text 2"/>
          <p:cNvSpPr/>
          <p:nvPr/>
        </p:nvSpPr>
        <p:spPr>
          <a:xfrm>
            <a:off x="609600" y="1047750"/>
            <a:ext cx="7924800" cy="9144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of the following statements accurately describes a key difference between containers and virtual machines (VMs)?</a:t>
            </a:r>
            <a:endParaRPr lang="en-US" sz="1800" dirty="0"/>
          </a:p>
        </p:txBody>
      </p:sp>
      <p:sp>
        <p:nvSpPr>
          <p:cNvPr id="24" name="Text 3"/>
          <p:cNvSpPr/>
          <p:nvPr/>
        </p:nvSpPr>
        <p:spPr>
          <a:xfrm>
            <a:off x="762000" y="23431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5" name="Text 4"/>
          <p:cNvSpPr/>
          <p:nvPr/>
        </p:nvSpPr>
        <p:spPr>
          <a:xfrm>
            <a:off x="1099691" y="2343150"/>
            <a:ext cx="3224659"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VMs share the host OS kernel, while containers run a full guest OS.</a:t>
            </a:r>
            <a:endParaRPr lang="en-US" sz="1350" dirty="0"/>
          </a:p>
        </p:txBody>
      </p:sp>
      <p:sp>
        <p:nvSpPr>
          <p:cNvPr id="26" name="Text 5"/>
          <p:cNvSpPr/>
          <p:nvPr/>
        </p:nvSpPr>
        <p:spPr>
          <a:xfrm>
            <a:off x="4819650" y="23431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7" name="Text 6"/>
          <p:cNvSpPr/>
          <p:nvPr/>
        </p:nvSpPr>
        <p:spPr>
          <a:xfrm>
            <a:off x="5151537" y="2343150"/>
            <a:ext cx="3230463"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Containers have higher resource overhead and slower startup times compared to VMs.</a:t>
            </a:r>
            <a:endParaRPr lang="en-US" sz="1350" dirty="0"/>
          </a:p>
        </p:txBody>
      </p:sp>
      <p:sp>
        <p:nvSpPr>
          <p:cNvPr id="28" name="Text 7"/>
          <p:cNvSpPr/>
          <p:nvPr/>
        </p:nvSpPr>
        <p:spPr>
          <a:xfrm>
            <a:off x="762000" y="36385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9" name="Text 8"/>
          <p:cNvSpPr/>
          <p:nvPr/>
        </p:nvSpPr>
        <p:spPr>
          <a:xfrm>
            <a:off x="1088529" y="3638550"/>
            <a:ext cx="3235821"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Containers provide process-level isolation, whereas VMs offer full system isolation.</a:t>
            </a:r>
            <a:endParaRPr lang="en-US" sz="1350" dirty="0"/>
          </a:p>
        </p:txBody>
      </p:sp>
      <p:sp>
        <p:nvSpPr>
          <p:cNvPr id="30" name="Text 9"/>
          <p:cNvSpPr/>
          <p:nvPr/>
        </p:nvSpPr>
        <p:spPr>
          <a:xfrm>
            <a:off x="4819650" y="36385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31" name="Text 10"/>
          <p:cNvSpPr/>
          <p:nvPr/>
        </p:nvSpPr>
        <p:spPr>
          <a:xfrm>
            <a:off x="5164485" y="3638550"/>
            <a:ext cx="3217515"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VMs are more portable across different environments than containers.</a:t>
            </a:r>
            <a:endParaRPr lang="en-US" sz="1350" dirty="0"/>
          </a:p>
        </p:txBody>
      </p:sp>
      <p:sp>
        <p:nvSpPr>
          <p:cNvPr id="32" name="Text 11"/>
          <p:cNvSpPr/>
          <p:nvPr/>
        </p:nvSpPr>
        <p:spPr>
          <a:xfrm>
            <a:off x="8991600" y="2276475"/>
            <a:ext cx="243840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00000"/>
                </a:solidFill>
                <a:latin typeface="ui-sans-serif" pitchFamily="34" charset="0"/>
                <a:ea typeface="ui-sans-serif" pitchFamily="34" charset="-122"/>
                <a:cs typeface="ui-sans-serif" pitchFamily="34" charset="-120"/>
              </a:rPr>
              <a:t>Containers</a:t>
            </a:r>
            <a:endParaRPr lang="en-US" sz="1350" dirty="0"/>
          </a:p>
        </p:txBody>
      </p:sp>
      <p:sp>
        <p:nvSpPr>
          <p:cNvPr id="33" name="Text 12"/>
          <p:cNvSpPr/>
          <p:nvPr/>
        </p:nvSpPr>
        <p:spPr>
          <a:xfrm>
            <a:off x="9201150" y="2619375"/>
            <a:ext cx="1680210"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Share host OS kernel</a:t>
            </a:r>
            <a:endParaRPr lang="en-US" sz="1050" dirty="0"/>
          </a:p>
        </p:txBody>
      </p:sp>
      <p:sp>
        <p:nvSpPr>
          <p:cNvPr id="34" name="Text 13"/>
          <p:cNvSpPr/>
          <p:nvPr/>
        </p:nvSpPr>
        <p:spPr>
          <a:xfrm>
            <a:off x="9201150" y="2886075"/>
            <a:ext cx="2026860"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Lower resource overhead</a:t>
            </a:r>
            <a:endParaRPr lang="en-US" sz="1050" dirty="0"/>
          </a:p>
        </p:txBody>
      </p:sp>
      <p:sp>
        <p:nvSpPr>
          <p:cNvPr id="35" name="Text 14"/>
          <p:cNvSpPr/>
          <p:nvPr/>
        </p:nvSpPr>
        <p:spPr>
          <a:xfrm>
            <a:off x="9201150" y="3152775"/>
            <a:ext cx="1770936"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Process-level isolation</a:t>
            </a:r>
            <a:endParaRPr lang="en-US" sz="1050" dirty="0"/>
          </a:p>
        </p:txBody>
      </p:sp>
      <p:sp>
        <p:nvSpPr>
          <p:cNvPr id="36" name="Text 15"/>
          <p:cNvSpPr/>
          <p:nvPr/>
        </p:nvSpPr>
        <p:spPr>
          <a:xfrm>
            <a:off x="8747760" y="4448175"/>
            <a:ext cx="292608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00000"/>
                </a:solidFill>
                <a:latin typeface="ui-sans-serif" pitchFamily="34" charset="0"/>
                <a:ea typeface="ui-sans-serif" pitchFamily="34" charset="-122"/>
                <a:cs typeface="ui-sans-serif" pitchFamily="34" charset="-120"/>
              </a:rPr>
              <a:t>Virtual Machines</a:t>
            </a:r>
            <a:endParaRPr lang="en-US" sz="1350" dirty="0"/>
          </a:p>
        </p:txBody>
      </p:sp>
      <p:sp>
        <p:nvSpPr>
          <p:cNvPr id="37" name="Text 16"/>
          <p:cNvSpPr/>
          <p:nvPr/>
        </p:nvSpPr>
        <p:spPr>
          <a:xfrm>
            <a:off x="9201150" y="4791075"/>
            <a:ext cx="1381244"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Run full guest OS</a:t>
            </a:r>
            <a:endParaRPr lang="en-US" sz="1050" dirty="0"/>
          </a:p>
        </p:txBody>
      </p:sp>
      <p:sp>
        <p:nvSpPr>
          <p:cNvPr id="38" name="Text 17"/>
          <p:cNvSpPr/>
          <p:nvPr/>
        </p:nvSpPr>
        <p:spPr>
          <a:xfrm>
            <a:off x="9201150" y="5057775"/>
            <a:ext cx="2079546"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Higher resource overhead</a:t>
            </a:r>
            <a:endParaRPr lang="en-US" sz="1050" dirty="0"/>
          </a:p>
        </p:txBody>
      </p:sp>
      <p:sp>
        <p:nvSpPr>
          <p:cNvPr id="39" name="Text 18"/>
          <p:cNvSpPr/>
          <p:nvPr/>
        </p:nvSpPr>
        <p:spPr>
          <a:xfrm>
            <a:off x="9201150" y="5324475"/>
            <a:ext cx="1628775"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Full system isolation</a:t>
            </a:r>
            <a:endParaRPr lang="en-US" sz="1050" dirty="0"/>
          </a:p>
        </p:txBody>
      </p:sp>
      <p:sp>
        <p:nvSpPr>
          <p:cNvPr id="40" name="Text 19"/>
          <p:cNvSpPr/>
          <p:nvPr/>
        </p:nvSpPr>
        <p:spPr>
          <a:xfrm>
            <a:off x="800100" y="6477000"/>
            <a:ext cx="15028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Containerization</a:t>
            </a:r>
            <a:endParaRPr lang="en-US" sz="1200" dirty="0"/>
          </a:p>
        </p:txBody>
      </p:sp>
      <p:sp>
        <p:nvSpPr>
          <p:cNvPr id="41" name="Text 20"/>
          <p:cNvSpPr/>
          <p:nvPr/>
        </p:nvSpPr>
        <p:spPr>
          <a:xfrm>
            <a:off x="11240095" y="64770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4/61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971550"/>
            <a:ext cx="10972800" cy="838200"/>
          </a:xfrm>
          <a:prstGeom prst="rect">
            <a:avLst/>
          </a:prstGeom>
        </p:spPr>
      </p:pic>
      <p:pic>
        <p:nvPicPr>
          <p:cNvPr id="7" name="Image 5" descr="preencoded.png"/>
          <p:cNvPicPr>
            <a:picLocks noChangeAspect="1"/>
          </p:cNvPicPr>
          <p:nvPr/>
        </p:nvPicPr>
        <p:blipFill>
          <a:blip r:embed="rId7"/>
          <a:stretch>
            <a:fillRect/>
          </a:stretch>
        </p:blipFill>
        <p:spPr>
          <a:xfrm>
            <a:off x="762000" y="1238250"/>
            <a:ext cx="228600" cy="304800"/>
          </a:xfrm>
          <a:prstGeom prst="rect">
            <a:avLst/>
          </a:prstGeom>
        </p:spPr>
      </p:pic>
      <p:pic>
        <p:nvPicPr>
          <p:cNvPr id="8" name="Image 6" descr="preencoded.png"/>
          <p:cNvPicPr>
            <a:picLocks noChangeAspect="1"/>
          </p:cNvPicPr>
          <p:nvPr/>
        </p:nvPicPr>
        <p:blipFill>
          <a:blip r:embed="rId8"/>
          <a:stretch>
            <a:fillRect/>
          </a:stretch>
        </p:blipFill>
        <p:spPr>
          <a:xfrm>
            <a:off x="609600" y="2457450"/>
            <a:ext cx="5334000" cy="1905000"/>
          </a:xfrm>
          <a:prstGeom prst="rect">
            <a:avLst/>
          </a:prstGeom>
        </p:spPr>
      </p:pic>
      <p:pic>
        <p:nvPicPr>
          <p:cNvPr id="9" name="Image 7" descr="preencoded.png"/>
          <p:cNvPicPr>
            <a:picLocks noChangeAspect="1"/>
          </p:cNvPicPr>
          <p:nvPr/>
        </p:nvPicPr>
        <p:blipFill>
          <a:blip r:embed="rId9"/>
          <a:stretch>
            <a:fillRect/>
          </a:stretch>
        </p:blipFill>
        <p:spPr>
          <a:xfrm>
            <a:off x="762000" y="2609850"/>
            <a:ext cx="285750" cy="342900"/>
          </a:xfrm>
          <a:prstGeom prst="rect">
            <a:avLst/>
          </a:prstGeom>
        </p:spPr>
      </p:pic>
      <p:pic>
        <p:nvPicPr>
          <p:cNvPr id="10" name="Image 8" descr="preencoded.png"/>
          <p:cNvPicPr>
            <a:picLocks noChangeAspect="1"/>
          </p:cNvPicPr>
          <p:nvPr/>
        </p:nvPicPr>
        <p:blipFill>
          <a:blip r:embed="rId8"/>
          <a:stretch>
            <a:fillRect/>
          </a:stretch>
        </p:blipFill>
        <p:spPr>
          <a:xfrm>
            <a:off x="6248400" y="2457450"/>
            <a:ext cx="5334000" cy="1905000"/>
          </a:xfrm>
          <a:prstGeom prst="rect">
            <a:avLst/>
          </a:prstGeom>
        </p:spPr>
      </p:pic>
      <p:pic>
        <p:nvPicPr>
          <p:cNvPr id="11" name="Image 9" descr="preencoded.png"/>
          <p:cNvPicPr>
            <a:picLocks noChangeAspect="1"/>
          </p:cNvPicPr>
          <p:nvPr/>
        </p:nvPicPr>
        <p:blipFill>
          <a:blip r:embed="rId10"/>
          <a:stretch>
            <a:fillRect/>
          </a:stretch>
        </p:blipFill>
        <p:spPr>
          <a:xfrm>
            <a:off x="6400800" y="2609850"/>
            <a:ext cx="285750" cy="342900"/>
          </a:xfrm>
          <a:prstGeom prst="rect">
            <a:avLst/>
          </a:prstGeom>
        </p:spPr>
      </p:pic>
      <p:pic>
        <p:nvPicPr>
          <p:cNvPr id="12" name="Image 10" descr="preencoded.png"/>
          <p:cNvPicPr>
            <a:picLocks noChangeAspect="1"/>
          </p:cNvPicPr>
          <p:nvPr/>
        </p:nvPicPr>
        <p:blipFill>
          <a:blip r:embed="rId11"/>
          <a:stretch>
            <a:fillRect/>
          </a:stretch>
        </p:blipFill>
        <p:spPr>
          <a:xfrm>
            <a:off x="609600" y="4743450"/>
            <a:ext cx="10972800" cy="838200"/>
          </a:xfrm>
          <a:prstGeom prst="rect">
            <a:avLst/>
          </a:prstGeom>
        </p:spPr>
      </p:pic>
      <p:pic>
        <p:nvPicPr>
          <p:cNvPr id="13" name="Image 11" descr="preencoded.png"/>
          <p:cNvPicPr>
            <a:picLocks noChangeAspect="1"/>
          </p:cNvPicPr>
          <p:nvPr/>
        </p:nvPicPr>
        <p:blipFill>
          <a:blip r:embed="rId12"/>
          <a:stretch>
            <a:fillRect/>
          </a:stretch>
        </p:blipFill>
        <p:spPr>
          <a:xfrm>
            <a:off x="762000" y="4933950"/>
            <a:ext cx="142875" cy="266700"/>
          </a:xfrm>
          <a:prstGeom prst="rect">
            <a:avLst/>
          </a:prstGeom>
        </p:spPr>
      </p:pic>
      <p:pic>
        <p:nvPicPr>
          <p:cNvPr id="14" name="Image 12" descr="preencoded.png"/>
          <p:cNvPicPr>
            <a:picLocks noChangeAspect="1"/>
          </p:cNvPicPr>
          <p:nvPr/>
        </p:nvPicPr>
        <p:blipFill>
          <a:blip r:embed="rId13"/>
          <a:stretch>
            <a:fillRect/>
          </a:stretch>
        </p:blipFill>
        <p:spPr>
          <a:xfrm>
            <a:off x="609600" y="6515100"/>
            <a:ext cx="152400" cy="152400"/>
          </a:xfrm>
          <a:prstGeom prst="rect">
            <a:avLst/>
          </a:prstGeom>
        </p:spPr>
      </p:pic>
      <p:sp>
        <p:nvSpPr>
          <p:cNvPr id="15"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a:t>
            </a:r>
            <a:endParaRPr lang="en-US" sz="1200" dirty="0"/>
          </a:p>
        </p:txBody>
      </p:sp>
      <p:sp>
        <p:nvSpPr>
          <p:cNvPr id="16" name="Text 1"/>
          <p:cNvSpPr/>
          <p:nvPr/>
        </p:nvSpPr>
        <p:spPr>
          <a:xfrm>
            <a:off x="1143000" y="304800"/>
            <a:ext cx="6001107"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Containers vs Virtual Machines</a:t>
            </a:r>
            <a:endParaRPr lang="en-US" sz="2250" dirty="0"/>
          </a:p>
        </p:txBody>
      </p:sp>
      <p:sp>
        <p:nvSpPr>
          <p:cNvPr id="17" name="Text 2"/>
          <p:cNvSpPr/>
          <p:nvPr/>
        </p:nvSpPr>
        <p:spPr>
          <a:xfrm>
            <a:off x="1143000" y="1123950"/>
            <a:ext cx="10287000" cy="5334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Correct Answer: C. Containers provide process-level isolation, whereas VMs offer full system isolation.</a:t>
            </a:r>
            <a:endParaRPr lang="en-US" sz="1500" dirty="0"/>
          </a:p>
        </p:txBody>
      </p:sp>
      <p:sp>
        <p:nvSpPr>
          <p:cNvPr id="18" name="Text 3"/>
          <p:cNvSpPr/>
          <p:nvPr/>
        </p:nvSpPr>
        <p:spPr>
          <a:xfrm>
            <a:off x="609600" y="2038350"/>
            <a:ext cx="13167360"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Explanation:</a:t>
            </a:r>
            <a:r>
              <a:rPr lang="en-US" sz="1350" dirty="0">
                <a:solidFill>
                  <a:srgbClr val="374151"/>
                </a:solidFill>
                <a:latin typeface="ui-sans-serif" pitchFamily="34" charset="0"/>
                <a:ea typeface="ui-sans-serif" pitchFamily="34" charset="-122"/>
                <a:cs typeface="ui-sans-serif" pitchFamily="34" charset="-120"/>
              </a:rPr>
              <a:t> This is a key distinction between containers and virtual machines:</a:t>
            </a:r>
            <a:endParaRPr lang="en-US" sz="1350" dirty="0"/>
          </a:p>
        </p:txBody>
      </p:sp>
      <p:sp>
        <p:nvSpPr>
          <p:cNvPr id="19" name="Text 4"/>
          <p:cNvSpPr/>
          <p:nvPr/>
        </p:nvSpPr>
        <p:spPr>
          <a:xfrm>
            <a:off x="1162050" y="2647950"/>
            <a:ext cx="1396067"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Containers</a:t>
            </a:r>
            <a:endParaRPr lang="en-US" sz="1500" dirty="0"/>
          </a:p>
        </p:txBody>
      </p:sp>
      <p:sp>
        <p:nvSpPr>
          <p:cNvPr id="20" name="Text 5"/>
          <p:cNvSpPr/>
          <p:nvPr/>
        </p:nvSpPr>
        <p:spPr>
          <a:xfrm>
            <a:off x="800100" y="3067050"/>
            <a:ext cx="59893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Provide process-level isolation</a:t>
            </a:r>
            <a:endParaRPr lang="en-US" sz="1200" dirty="0"/>
          </a:p>
        </p:txBody>
      </p:sp>
      <p:sp>
        <p:nvSpPr>
          <p:cNvPr id="21" name="Text 6"/>
          <p:cNvSpPr/>
          <p:nvPr/>
        </p:nvSpPr>
        <p:spPr>
          <a:xfrm>
            <a:off x="800100" y="3371850"/>
            <a:ext cx="49911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Share the host OS kernel</a:t>
            </a:r>
            <a:endParaRPr lang="en-US" sz="1200" dirty="0"/>
          </a:p>
        </p:txBody>
      </p:sp>
      <p:sp>
        <p:nvSpPr>
          <p:cNvPr id="22" name="Text 7"/>
          <p:cNvSpPr/>
          <p:nvPr/>
        </p:nvSpPr>
        <p:spPr>
          <a:xfrm>
            <a:off x="800100" y="3676650"/>
            <a:ext cx="59893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Lightweight and fast to start</a:t>
            </a:r>
            <a:endParaRPr lang="en-US" sz="1200" dirty="0"/>
          </a:p>
        </p:txBody>
      </p:sp>
      <p:sp>
        <p:nvSpPr>
          <p:cNvPr id="23" name="Text 8"/>
          <p:cNvSpPr/>
          <p:nvPr/>
        </p:nvSpPr>
        <p:spPr>
          <a:xfrm>
            <a:off x="800100" y="3981450"/>
            <a:ext cx="49911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Lower resource overhead</a:t>
            </a:r>
            <a:endParaRPr lang="en-US" sz="1200" dirty="0"/>
          </a:p>
        </p:txBody>
      </p:sp>
      <p:sp>
        <p:nvSpPr>
          <p:cNvPr id="24" name="Text 9"/>
          <p:cNvSpPr/>
          <p:nvPr/>
        </p:nvSpPr>
        <p:spPr>
          <a:xfrm>
            <a:off x="6800850" y="2647950"/>
            <a:ext cx="2160449"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Virtual Machines</a:t>
            </a:r>
            <a:endParaRPr lang="en-US" sz="1500" dirty="0"/>
          </a:p>
        </p:txBody>
      </p:sp>
      <p:sp>
        <p:nvSpPr>
          <p:cNvPr id="25" name="Text 10"/>
          <p:cNvSpPr/>
          <p:nvPr/>
        </p:nvSpPr>
        <p:spPr>
          <a:xfrm>
            <a:off x="6438900" y="3067050"/>
            <a:ext cx="59893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Offer full system isolation</a:t>
            </a:r>
            <a:endParaRPr lang="en-US" sz="1200" dirty="0"/>
          </a:p>
        </p:txBody>
      </p:sp>
      <p:sp>
        <p:nvSpPr>
          <p:cNvPr id="26" name="Text 11"/>
          <p:cNvSpPr/>
          <p:nvPr/>
        </p:nvSpPr>
        <p:spPr>
          <a:xfrm>
            <a:off x="6438900" y="3371850"/>
            <a:ext cx="49911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Run a complete guest OS</a:t>
            </a:r>
            <a:endParaRPr lang="en-US" sz="1200" dirty="0"/>
          </a:p>
        </p:txBody>
      </p:sp>
      <p:sp>
        <p:nvSpPr>
          <p:cNvPr id="27" name="Text 12"/>
          <p:cNvSpPr/>
          <p:nvPr/>
        </p:nvSpPr>
        <p:spPr>
          <a:xfrm>
            <a:off x="6438900" y="3676650"/>
            <a:ext cx="49911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Higher resource overhead</a:t>
            </a:r>
            <a:endParaRPr lang="en-US" sz="1200" dirty="0"/>
          </a:p>
        </p:txBody>
      </p:sp>
      <p:sp>
        <p:nvSpPr>
          <p:cNvPr id="28" name="Text 13"/>
          <p:cNvSpPr/>
          <p:nvPr/>
        </p:nvSpPr>
        <p:spPr>
          <a:xfrm>
            <a:off x="6438900" y="3981450"/>
            <a:ext cx="49911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Slower startup times</a:t>
            </a:r>
            <a:endParaRPr lang="en-US" sz="1200" dirty="0"/>
          </a:p>
        </p:txBody>
      </p:sp>
      <p:sp>
        <p:nvSpPr>
          <p:cNvPr id="29" name="Text 14"/>
          <p:cNvSpPr/>
          <p:nvPr/>
        </p:nvSpPr>
        <p:spPr>
          <a:xfrm>
            <a:off x="1019175" y="4895850"/>
            <a:ext cx="10087421"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Did You Know?</a:t>
            </a:r>
            <a:endParaRPr lang="en-US" sz="1350" dirty="0"/>
          </a:p>
        </p:txBody>
      </p:sp>
      <p:sp>
        <p:nvSpPr>
          <p:cNvPr id="30" name="Text 15"/>
          <p:cNvSpPr/>
          <p:nvPr/>
        </p:nvSpPr>
        <p:spPr>
          <a:xfrm>
            <a:off x="1019175" y="5200650"/>
            <a:ext cx="12104906"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first commercial containerization technology was developed in 1979 for Unix systems, long before Docker was created in 2013!</a:t>
            </a:r>
            <a:endParaRPr lang="en-US" sz="1200" dirty="0"/>
          </a:p>
        </p:txBody>
      </p:sp>
      <p:sp>
        <p:nvSpPr>
          <p:cNvPr id="31" name="Text 16"/>
          <p:cNvSpPr/>
          <p:nvPr/>
        </p:nvSpPr>
        <p:spPr>
          <a:xfrm>
            <a:off x="838200" y="6477000"/>
            <a:ext cx="15028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Containerization</a:t>
            </a:r>
            <a:endParaRPr lang="en-US" sz="1200" dirty="0"/>
          </a:p>
        </p:txBody>
      </p:sp>
      <p:sp>
        <p:nvSpPr>
          <p:cNvPr id="32" name="Text 17"/>
          <p:cNvSpPr/>
          <p:nvPr/>
        </p:nvSpPr>
        <p:spPr>
          <a:xfrm>
            <a:off x="11240095" y="64770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5/61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2571750"/>
            <a:ext cx="5181600" cy="571500"/>
          </a:xfrm>
          <a:prstGeom prst="rect">
            <a:avLst/>
          </a:prstGeom>
        </p:spPr>
      </p:pic>
      <p:pic>
        <p:nvPicPr>
          <p:cNvPr id="7" name="Image 5" descr="preencoded.png"/>
          <p:cNvPicPr>
            <a:picLocks noChangeAspect="1"/>
          </p:cNvPicPr>
          <p:nvPr/>
        </p:nvPicPr>
        <p:blipFill>
          <a:blip r:embed="rId6"/>
          <a:stretch>
            <a:fillRect/>
          </a:stretch>
        </p:blipFill>
        <p:spPr>
          <a:xfrm>
            <a:off x="609600" y="3333750"/>
            <a:ext cx="5181600" cy="571500"/>
          </a:xfrm>
          <a:prstGeom prst="rect">
            <a:avLst/>
          </a:prstGeom>
        </p:spPr>
      </p:pic>
      <p:pic>
        <p:nvPicPr>
          <p:cNvPr id="8" name="Image 6" descr="preencoded.png"/>
          <p:cNvPicPr>
            <a:picLocks noChangeAspect="1"/>
          </p:cNvPicPr>
          <p:nvPr/>
        </p:nvPicPr>
        <p:blipFill>
          <a:blip r:embed="rId6"/>
          <a:stretch>
            <a:fillRect/>
          </a:stretch>
        </p:blipFill>
        <p:spPr>
          <a:xfrm>
            <a:off x="609600" y="4095750"/>
            <a:ext cx="5181600" cy="571500"/>
          </a:xfrm>
          <a:prstGeom prst="rect">
            <a:avLst/>
          </a:prstGeom>
        </p:spPr>
      </p:pic>
      <p:pic>
        <p:nvPicPr>
          <p:cNvPr id="9" name="Image 7" descr="preencoded.png"/>
          <p:cNvPicPr>
            <a:picLocks noChangeAspect="1"/>
          </p:cNvPicPr>
          <p:nvPr/>
        </p:nvPicPr>
        <p:blipFill>
          <a:blip r:embed="rId6"/>
          <a:stretch>
            <a:fillRect/>
          </a:stretch>
        </p:blipFill>
        <p:spPr>
          <a:xfrm>
            <a:off x="609600" y="4857750"/>
            <a:ext cx="5181600" cy="571500"/>
          </a:xfrm>
          <a:prstGeom prst="rect">
            <a:avLst/>
          </a:prstGeom>
        </p:spPr>
      </p:pic>
      <p:pic>
        <p:nvPicPr>
          <p:cNvPr id="10" name="Image 8" descr="preencoded.png"/>
          <p:cNvPicPr>
            <a:picLocks noChangeAspect="1"/>
          </p:cNvPicPr>
          <p:nvPr/>
        </p:nvPicPr>
        <p:blipFill>
          <a:blip r:embed="rId7"/>
          <a:stretch>
            <a:fillRect/>
          </a:stretch>
        </p:blipFill>
        <p:spPr>
          <a:xfrm>
            <a:off x="6096000" y="2238375"/>
            <a:ext cx="1727150" cy="1447800"/>
          </a:xfrm>
          <a:prstGeom prst="rect">
            <a:avLst/>
          </a:prstGeom>
        </p:spPr>
      </p:pic>
      <p:pic>
        <p:nvPicPr>
          <p:cNvPr id="11" name="Image 9" descr="preencoded.png"/>
          <p:cNvPicPr>
            <a:picLocks noChangeAspect="1"/>
          </p:cNvPicPr>
          <p:nvPr/>
        </p:nvPicPr>
        <p:blipFill>
          <a:blip r:embed="rId8"/>
          <a:stretch>
            <a:fillRect/>
          </a:stretch>
        </p:blipFill>
        <p:spPr>
          <a:xfrm>
            <a:off x="6788051" y="2352675"/>
            <a:ext cx="342900" cy="304800"/>
          </a:xfrm>
          <a:prstGeom prst="rect">
            <a:avLst/>
          </a:prstGeom>
        </p:spPr>
      </p:pic>
      <p:pic>
        <p:nvPicPr>
          <p:cNvPr id="12" name="Image 10" descr="preencoded.png"/>
          <p:cNvPicPr>
            <a:picLocks noChangeAspect="1"/>
          </p:cNvPicPr>
          <p:nvPr/>
        </p:nvPicPr>
        <p:blipFill>
          <a:blip r:embed="rId9"/>
          <a:stretch>
            <a:fillRect/>
          </a:stretch>
        </p:blipFill>
        <p:spPr>
          <a:xfrm>
            <a:off x="7975550" y="2238375"/>
            <a:ext cx="1727150" cy="1447800"/>
          </a:xfrm>
          <a:prstGeom prst="rect">
            <a:avLst/>
          </a:prstGeom>
        </p:spPr>
      </p:pic>
      <p:pic>
        <p:nvPicPr>
          <p:cNvPr id="13" name="Image 11" descr="preencoded.png"/>
          <p:cNvPicPr>
            <a:picLocks noChangeAspect="1"/>
          </p:cNvPicPr>
          <p:nvPr/>
        </p:nvPicPr>
        <p:blipFill>
          <a:blip r:embed="rId10"/>
          <a:stretch>
            <a:fillRect/>
          </a:stretch>
        </p:blipFill>
        <p:spPr>
          <a:xfrm>
            <a:off x="8648551" y="2352675"/>
            <a:ext cx="381000" cy="304800"/>
          </a:xfrm>
          <a:prstGeom prst="rect">
            <a:avLst/>
          </a:prstGeom>
        </p:spPr>
      </p:pic>
      <p:pic>
        <p:nvPicPr>
          <p:cNvPr id="14" name="Image 12" descr="preencoded.png"/>
          <p:cNvPicPr>
            <a:picLocks noChangeAspect="1"/>
          </p:cNvPicPr>
          <p:nvPr/>
        </p:nvPicPr>
        <p:blipFill>
          <a:blip r:embed="rId11"/>
          <a:stretch>
            <a:fillRect/>
          </a:stretch>
        </p:blipFill>
        <p:spPr>
          <a:xfrm>
            <a:off x="9855101" y="2238375"/>
            <a:ext cx="1727150" cy="1447800"/>
          </a:xfrm>
          <a:prstGeom prst="rect">
            <a:avLst/>
          </a:prstGeom>
        </p:spPr>
      </p:pic>
      <p:pic>
        <p:nvPicPr>
          <p:cNvPr id="15" name="Image 13" descr="preencoded.png"/>
          <p:cNvPicPr>
            <a:picLocks noChangeAspect="1"/>
          </p:cNvPicPr>
          <p:nvPr/>
        </p:nvPicPr>
        <p:blipFill>
          <a:blip r:embed="rId12"/>
          <a:stretch>
            <a:fillRect/>
          </a:stretch>
        </p:blipFill>
        <p:spPr>
          <a:xfrm>
            <a:off x="10585252" y="2352675"/>
            <a:ext cx="266700" cy="304800"/>
          </a:xfrm>
          <a:prstGeom prst="rect">
            <a:avLst/>
          </a:prstGeom>
        </p:spPr>
      </p:pic>
      <p:pic>
        <p:nvPicPr>
          <p:cNvPr id="16" name="Image 14" descr="preencoded.png"/>
          <p:cNvPicPr>
            <a:picLocks noChangeAspect="1"/>
          </p:cNvPicPr>
          <p:nvPr/>
        </p:nvPicPr>
        <p:blipFill>
          <a:blip r:embed="rId13"/>
          <a:stretch>
            <a:fillRect/>
          </a:stretch>
        </p:blipFill>
        <p:spPr>
          <a:xfrm>
            <a:off x="6096000" y="3990975"/>
            <a:ext cx="5486400" cy="990600"/>
          </a:xfrm>
          <a:prstGeom prst="rect">
            <a:avLst/>
          </a:prstGeom>
        </p:spPr>
      </p:pic>
      <p:pic>
        <p:nvPicPr>
          <p:cNvPr id="17" name="Image 15" descr="preencoded.png"/>
          <p:cNvPicPr>
            <a:picLocks noChangeAspect="1"/>
          </p:cNvPicPr>
          <p:nvPr/>
        </p:nvPicPr>
        <p:blipFill>
          <a:blip r:embed="rId14"/>
          <a:stretch>
            <a:fillRect/>
          </a:stretch>
        </p:blipFill>
        <p:spPr>
          <a:xfrm>
            <a:off x="609600" y="6515100"/>
            <a:ext cx="190500" cy="152400"/>
          </a:xfrm>
          <a:prstGeom prst="rect">
            <a:avLst/>
          </a:prstGeom>
        </p:spPr>
      </p:pic>
      <p:sp>
        <p:nvSpPr>
          <p:cNvPr id="18"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3</a:t>
            </a:r>
            <a:endParaRPr lang="en-US" sz="1200" dirty="0"/>
          </a:p>
        </p:txBody>
      </p:sp>
      <p:sp>
        <p:nvSpPr>
          <p:cNvPr id="19" name="Text 1"/>
          <p:cNvSpPr/>
          <p:nvPr/>
        </p:nvSpPr>
        <p:spPr>
          <a:xfrm>
            <a:off x="1143000" y="304800"/>
            <a:ext cx="6405979"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Architecture Components</a:t>
            </a:r>
            <a:endParaRPr lang="en-US" sz="2250" dirty="0"/>
          </a:p>
        </p:txBody>
      </p:sp>
      <p:sp>
        <p:nvSpPr>
          <p:cNvPr id="20" name="Text 2"/>
          <p:cNvSpPr/>
          <p:nvPr/>
        </p:nvSpPr>
        <p:spPr>
          <a:xfrm>
            <a:off x="609600" y="1047750"/>
            <a:ext cx="5181600" cy="12192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of the following is NOT considered one of the three main components of the Docker architecture?</a:t>
            </a:r>
            <a:endParaRPr lang="en-US" sz="1800" dirty="0"/>
          </a:p>
        </p:txBody>
      </p:sp>
      <p:sp>
        <p:nvSpPr>
          <p:cNvPr id="21" name="Text 3"/>
          <p:cNvSpPr/>
          <p:nvPr/>
        </p:nvSpPr>
        <p:spPr>
          <a:xfrm>
            <a:off x="762000" y="27241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2" name="Text 4"/>
          <p:cNvSpPr/>
          <p:nvPr/>
        </p:nvSpPr>
        <p:spPr>
          <a:xfrm>
            <a:off x="1099691" y="2724150"/>
            <a:ext cx="1381423"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Client</a:t>
            </a:r>
            <a:endParaRPr lang="en-US" sz="1350" dirty="0"/>
          </a:p>
        </p:txBody>
      </p:sp>
      <p:sp>
        <p:nvSpPr>
          <p:cNvPr id="23" name="Text 5"/>
          <p:cNvSpPr/>
          <p:nvPr/>
        </p:nvSpPr>
        <p:spPr>
          <a:xfrm>
            <a:off x="762000" y="34861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4" name="Text 6"/>
          <p:cNvSpPr/>
          <p:nvPr/>
        </p:nvSpPr>
        <p:spPr>
          <a:xfrm>
            <a:off x="1093887" y="3486150"/>
            <a:ext cx="165360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Daemon</a:t>
            </a:r>
            <a:endParaRPr lang="en-US" sz="1350" dirty="0"/>
          </a:p>
        </p:txBody>
      </p:sp>
      <p:sp>
        <p:nvSpPr>
          <p:cNvPr id="25" name="Text 7"/>
          <p:cNvSpPr/>
          <p:nvPr/>
        </p:nvSpPr>
        <p:spPr>
          <a:xfrm>
            <a:off x="762000" y="42481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6" name="Text 8"/>
          <p:cNvSpPr/>
          <p:nvPr/>
        </p:nvSpPr>
        <p:spPr>
          <a:xfrm>
            <a:off x="1088529" y="4248150"/>
            <a:ext cx="1628061"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Registry</a:t>
            </a:r>
            <a:endParaRPr lang="en-US" sz="1350" dirty="0"/>
          </a:p>
        </p:txBody>
      </p:sp>
      <p:sp>
        <p:nvSpPr>
          <p:cNvPr id="27" name="Text 9"/>
          <p:cNvSpPr/>
          <p:nvPr/>
        </p:nvSpPr>
        <p:spPr>
          <a:xfrm>
            <a:off x="762000" y="50101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8" name="Text 10"/>
          <p:cNvSpPr/>
          <p:nvPr/>
        </p:nvSpPr>
        <p:spPr>
          <a:xfrm>
            <a:off x="1106835" y="5010150"/>
            <a:ext cx="208758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Orchestrator</a:t>
            </a:r>
            <a:endParaRPr lang="en-US" sz="1350" dirty="0"/>
          </a:p>
        </p:txBody>
      </p:sp>
      <p:sp>
        <p:nvSpPr>
          <p:cNvPr id="29" name="Text 11"/>
          <p:cNvSpPr/>
          <p:nvPr/>
        </p:nvSpPr>
        <p:spPr>
          <a:xfrm>
            <a:off x="6383834" y="2733675"/>
            <a:ext cx="13817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Docker Client</a:t>
            </a:r>
            <a:endParaRPr lang="en-US" sz="1200" dirty="0"/>
          </a:p>
        </p:txBody>
      </p:sp>
      <p:sp>
        <p:nvSpPr>
          <p:cNvPr id="30" name="Text 12"/>
          <p:cNvSpPr/>
          <p:nvPr/>
        </p:nvSpPr>
        <p:spPr>
          <a:xfrm>
            <a:off x="6210300" y="3000375"/>
            <a:ext cx="149855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Interface for user interaction</a:t>
            </a:r>
            <a:endParaRPr lang="en-US" sz="1050" dirty="0"/>
          </a:p>
        </p:txBody>
      </p:sp>
      <p:sp>
        <p:nvSpPr>
          <p:cNvPr id="31" name="Text 13"/>
          <p:cNvSpPr/>
          <p:nvPr/>
        </p:nvSpPr>
        <p:spPr>
          <a:xfrm>
            <a:off x="8161586" y="2733675"/>
            <a:ext cx="1626096"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Docker Daemon</a:t>
            </a:r>
            <a:endParaRPr lang="en-US" sz="1200" dirty="0"/>
          </a:p>
        </p:txBody>
      </p:sp>
      <p:sp>
        <p:nvSpPr>
          <p:cNvPr id="32" name="Text 14"/>
          <p:cNvSpPr/>
          <p:nvPr/>
        </p:nvSpPr>
        <p:spPr>
          <a:xfrm>
            <a:off x="8089850" y="3000375"/>
            <a:ext cx="1498550" cy="571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Background service managing Docker objects</a:t>
            </a:r>
            <a:endParaRPr lang="en-US" sz="1050" dirty="0"/>
          </a:p>
        </p:txBody>
      </p:sp>
      <p:sp>
        <p:nvSpPr>
          <p:cNvPr id="33" name="Text 15"/>
          <p:cNvSpPr/>
          <p:nvPr/>
        </p:nvSpPr>
        <p:spPr>
          <a:xfrm>
            <a:off x="10033397" y="2733675"/>
            <a:ext cx="164467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Docker Registry</a:t>
            </a:r>
            <a:endParaRPr lang="en-US" sz="1200" dirty="0"/>
          </a:p>
        </p:txBody>
      </p:sp>
      <p:sp>
        <p:nvSpPr>
          <p:cNvPr id="34" name="Text 16"/>
          <p:cNvSpPr/>
          <p:nvPr/>
        </p:nvSpPr>
        <p:spPr>
          <a:xfrm>
            <a:off x="9969401" y="3000375"/>
            <a:ext cx="149855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Stores images for distribution</a:t>
            </a:r>
            <a:endParaRPr lang="en-US" sz="1050" dirty="0"/>
          </a:p>
        </p:txBody>
      </p:sp>
      <p:sp>
        <p:nvSpPr>
          <p:cNvPr id="35" name="Text 17"/>
          <p:cNvSpPr/>
          <p:nvPr/>
        </p:nvSpPr>
        <p:spPr>
          <a:xfrm>
            <a:off x="6248400" y="4143375"/>
            <a:ext cx="5181600" cy="685800"/>
          </a:xfrm>
          <a:prstGeom prst="rect">
            <a:avLst/>
          </a:prstGeom>
          <a:noFill/>
          <a:ln/>
        </p:spPr>
        <p:txBody>
          <a:bodyPr vert="horz" wrap="square" lIns="0" tIns="0" rIns="0" bIns="0" rtlCol="0" anchor="t"/>
          <a:lstStyle/>
          <a:p>
            <a:pPr marL="0" indent="0" algn="ctr">
              <a:lnSpc>
                <a:spcPts val="1800"/>
              </a:lnSpc>
              <a:buNone/>
            </a:pPr>
            <a:r>
              <a:rPr lang="en-US" sz="1200" i="1" dirty="0">
                <a:solidFill>
                  <a:srgbClr val="4B5563"/>
                </a:solidFill>
                <a:latin typeface="ui-sans-serif" pitchFamily="34" charset="0"/>
                <a:ea typeface="ui-sans-serif" pitchFamily="34" charset="-122"/>
                <a:cs typeface="ui-sans-serif" pitchFamily="34" charset="-120"/>
              </a:rPr>
              <a:t>"Docker Compose and Kubernetes are examples of orchestration tools that work </a:t>
            </a:r>
            <a:r>
              <a:rPr lang="en-US" sz="1200" b="1" i="1" dirty="0">
                <a:solidFill>
                  <a:srgbClr val="4B5563"/>
                </a:solidFill>
                <a:latin typeface="ui-sans-serif" pitchFamily="34" charset="0"/>
                <a:ea typeface="ui-sans-serif" pitchFamily="34" charset="-122"/>
                <a:cs typeface="ui-sans-serif" pitchFamily="34" charset="-120"/>
              </a:rPr>
              <a:t>with</a:t>
            </a:r>
            <a:r>
              <a:rPr lang="en-US" sz="1200" i="1" dirty="0">
                <a:solidFill>
                  <a:srgbClr val="4B5563"/>
                </a:solidFill>
                <a:latin typeface="ui-sans-serif" pitchFamily="34" charset="0"/>
                <a:ea typeface="ui-sans-serif" pitchFamily="34" charset="-122"/>
                <a:cs typeface="ui-sans-serif" pitchFamily="34" charset="-120"/>
              </a:rPr>
              <a:t> Docker, but 'Docker Orchestrator' is not a distinct core component."</a:t>
            </a:r>
            <a:endParaRPr lang="en-US" sz="1200" dirty="0"/>
          </a:p>
        </p:txBody>
      </p:sp>
      <p:sp>
        <p:nvSpPr>
          <p:cNvPr id="36" name="Text 18"/>
          <p:cNvSpPr/>
          <p:nvPr/>
        </p:nvSpPr>
        <p:spPr>
          <a:xfrm>
            <a:off x="876300" y="6477000"/>
            <a:ext cx="1818084"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Architecture</a:t>
            </a:r>
            <a:endParaRPr lang="en-US" sz="1200" dirty="0"/>
          </a:p>
        </p:txBody>
      </p:sp>
      <p:sp>
        <p:nvSpPr>
          <p:cNvPr id="37" name="Text 19"/>
          <p:cNvSpPr/>
          <p:nvPr/>
        </p:nvSpPr>
        <p:spPr>
          <a:xfrm>
            <a:off x="11240095" y="64770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6/61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971550"/>
            <a:ext cx="10972800" cy="1181100"/>
          </a:xfrm>
          <a:prstGeom prst="rect">
            <a:avLst/>
          </a:prstGeom>
        </p:spPr>
      </p:pic>
      <p:pic>
        <p:nvPicPr>
          <p:cNvPr id="7" name="Image 5" descr="preencoded.png"/>
          <p:cNvPicPr>
            <a:picLocks noChangeAspect="1"/>
          </p:cNvPicPr>
          <p:nvPr/>
        </p:nvPicPr>
        <p:blipFill>
          <a:blip r:embed="rId7"/>
          <a:stretch>
            <a:fillRect/>
          </a:stretch>
        </p:blipFill>
        <p:spPr>
          <a:xfrm>
            <a:off x="609600" y="2381250"/>
            <a:ext cx="3505200" cy="1524000"/>
          </a:xfrm>
          <a:prstGeom prst="rect">
            <a:avLst/>
          </a:prstGeom>
        </p:spPr>
      </p:pic>
      <p:pic>
        <p:nvPicPr>
          <p:cNvPr id="8" name="Image 6" descr="preencoded.png"/>
          <p:cNvPicPr>
            <a:picLocks noChangeAspect="1"/>
          </p:cNvPicPr>
          <p:nvPr/>
        </p:nvPicPr>
        <p:blipFill>
          <a:blip r:embed="rId8"/>
          <a:stretch>
            <a:fillRect/>
          </a:stretch>
        </p:blipFill>
        <p:spPr>
          <a:xfrm>
            <a:off x="800100" y="2571750"/>
            <a:ext cx="247650" cy="342900"/>
          </a:xfrm>
          <a:prstGeom prst="rect">
            <a:avLst/>
          </a:prstGeom>
        </p:spPr>
      </p:pic>
      <p:pic>
        <p:nvPicPr>
          <p:cNvPr id="9" name="Image 7" descr="preencoded.png"/>
          <p:cNvPicPr>
            <a:picLocks noChangeAspect="1"/>
          </p:cNvPicPr>
          <p:nvPr/>
        </p:nvPicPr>
        <p:blipFill>
          <a:blip r:embed="rId9"/>
          <a:stretch>
            <a:fillRect/>
          </a:stretch>
        </p:blipFill>
        <p:spPr>
          <a:xfrm>
            <a:off x="4343400" y="2381250"/>
            <a:ext cx="3505200" cy="1524000"/>
          </a:xfrm>
          <a:prstGeom prst="rect">
            <a:avLst/>
          </a:prstGeom>
        </p:spPr>
      </p:pic>
      <p:pic>
        <p:nvPicPr>
          <p:cNvPr id="10" name="Image 8" descr="preencoded.png"/>
          <p:cNvPicPr>
            <a:picLocks noChangeAspect="1"/>
          </p:cNvPicPr>
          <p:nvPr/>
        </p:nvPicPr>
        <p:blipFill>
          <a:blip r:embed="rId10"/>
          <a:stretch>
            <a:fillRect/>
          </a:stretch>
        </p:blipFill>
        <p:spPr>
          <a:xfrm>
            <a:off x="4533900" y="2571750"/>
            <a:ext cx="361950" cy="342900"/>
          </a:xfrm>
          <a:prstGeom prst="rect">
            <a:avLst/>
          </a:prstGeom>
        </p:spPr>
      </p:pic>
      <p:pic>
        <p:nvPicPr>
          <p:cNvPr id="11" name="Image 9" descr="preencoded.png"/>
          <p:cNvPicPr>
            <a:picLocks noChangeAspect="1"/>
          </p:cNvPicPr>
          <p:nvPr/>
        </p:nvPicPr>
        <p:blipFill>
          <a:blip r:embed="rId9"/>
          <a:stretch>
            <a:fillRect/>
          </a:stretch>
        </p:blipFill>
        <p:spPr>
          <a:xfrm>
            <a:off x="8077200" y="2381250"/>
            <a:ext cx="3505200" cy="1524000"/>
          </a:xfrm>
          <a:prstGeom prst="rect">
            <a:avLst/>
          </a:prstGeom>
        </p:spPr>
      </p:pic>
      <p:pic>
        <p:nvPicPr>
          <p:cNvPr id="12" name="Image 10" descr="preencoded.png"/>
          <p:cNvPicPr>
            <a:picLocks noChangeAspect="1"/>
          </p:cNvPicPr>
          <p:nvPr/>
        </p:nvPicPr>
        <p:blipFill>
          <a:blip r:embed="rId11"/>
          <a:stretch>
            <a:fillRect/>
          </a:stretch>
        </p:blipFill>
        <p:spPr>
          <a:xfrm>
            <a:off x="8267700" y="2571750"/>
            <a:ext cx="247650" cy="342900"/>
          </a:xfrm>
          <a:prstGeom prst="rect">
            <a:avLst/>
          </a:prstGeom>
        </p:spPr>
      </p:pic>
      <p:pic>
        <p:nvPicPr>
          <p:cNvPr id="13" name="Image 11" descr="preencoded.png"/>
          <p:cNvPicPr>
            <a:picLocks noChangeAspect="1"/>
          </p:cNvPicPr>
          <p:nvPr/>
        </p:nvPicPr>
        <p:blipFill>
          <a:blip r:embed="rId12"/>
          <a:stretch>
            <a:fillRect/>
          </a:stretch>
        </p:blipFill>
        <p:spPr>
          <a:xfrm>
            <a:off x="609600" y="4133850"/>
            <a:ext cx="10972800" cy="1790700"/>
          </a:xfrm>
          <a:prstGeom prst="rect">
            <a:avLst/>
          </a:prstGeom>
        </p:spPr>
      </p:pic>
      <p:pic>
        <p:nvPicPr>
          <p:cNvPr id="14" name="Image 12" descr="preencoded.png"/>
          <p:cNvPicPr>
            <a:picLocks noChangeAspect="1"/>
          </p:cNvPicPr>
          <p:nvPr/>
        </p:nvPicPr>
        <p:blipFill>
          <a:blip r:embed="rId13"/>
          <a:stretch>
            <a:fillRect/>
          </a:stretch>
        </p:blipFill>
        <p:spPr>
          <a:xfrm>
            <a:off x="609600" y="6515100"/>
            <a:ext cx="152400" cy="152400"/>
          </a:xfrm>
          <a:prstGeom prst="rect">
            <a:avLst/>
          </a:prstGeom>
        </p:spPr>
      </p:pic>
      <p:sp>
        <p:nvSpPr>
          <p:cNvPr id="15"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3</a:t>
            </a:r>
            <a:endParaRPr lang="en-US" sz="1200" dirty="0"/>
          </a:p>
        </p:txBody>
      </p:sp>
      <p:sp>
        <p:nvSpPr>
          <p:cNvPr id="16" name="Text 1"/>
          <p:cNvSpPr/>
          <p:nvPr/>
        </p:nvSpPr>
        <p:spPr>
          <a:xfrm>
            <a:off x="1143000" y="304800"/>
            <a:ext cx="6405979"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Architecture Components</a:t>
            </a:r>
            <a:endParaRPr lang="en-US" sz="2250" dirty="0"/>
          </a:p>
        </p:txBody>
      </p:sp>
      <p:sp>
        <p:nvSpPr>
          <p:cNvPr id="17" name="Text 2"/>
          <p:cNvSpPr/>
          <p:nvPr/>
        </p:nvSpPr>
        <p:spPr>
          <a:xfrm>
            <a:off x="762000" y="1123950"/>
            <a:ext cx="10668000" cy="5334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Which of the following is NOT considered one of the three main components of the Docker architecture?</a:t>
            </a:r>
            <a:endParaRPr lang="en-US" sz="1500" dirty="0"/>
          </a:p>
        </p:txBody>
      </p:sp>
      <p:sp>
        <p:nvSpPr>
          <p:cNvPr id="18" name="Text 3"/>
          <p:cNvSpPr/>
          <p:nvPr/>
        </p:nvSpPr>
        <p:spPr>
          <a:xfrm>
            <a:off x="990600" y="1733550"/>
            <a:ext cx="10439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5803D"/>
                </a:solidFill>
                <a:latin typeface="ui-sans-serif" pitchFamily="34" charset="0"/>
                <a:ea typeface="ui-sans-serif" pitchFamily="34" charset="-122"/>
                <a:cs typeface="ui-sans-serif" pitchFamily="34" charset="-120"/>
              </a:rPr>
              <a:t>Answer: D. Docker Orchestrator</a:t>
            </a:r>
            <a:endParaRPr lang="en-US" sz="1500" dirty="0"/>
          </a:p>
        </p:txBody>
      </p:sp>
      <p:sp>
        <p:nvSpPr>
          <p:cNvPr id="19" name="Text 4"/>
          <p:cNvSpPr/>
          <p:nvPr/>
        </p:nvSpPr>
        <p:spPr>
          <a:xfrm>
            <a:off x="1162050" y="2609850"/>
            <a:ext cx="17271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Docker Client</a:t>
            </a:r>
            <a:endParaRPr lang="en-US" sz="1500" dirty="0"/>
          </a:p>
        </p:txBody>
      </p:sp>
      <p:sp>
        <p:nvSpPr>
          <p:cNvPr id="20" name="Text 5"/>
          <p:cNvSpPr/>
          <p:nvPr/>
        </p:nvSpPr>
        <p:spPr>
          <a:xfrm>
            <a:off x="800100" y="3028950"/>
            <a:ext cx="31242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For user interaction with the Docker system. It handles user commands and communicates with the Docker Daemon.</a:t>
            </a:r>
            <a:endParaRPr lang="en-US" sz="1200" dirty="0"/>
          </a:p>
        </p:txBody>
      </p:sp>
      <p:sp>
        <p:nvSpPr>
          <p:cNvPr id="21" name="Text 6"/>
          <p:cNvSpPr/>
          <p:nvPr/>
        </p:nvSpPr>
        <p:spPr>
          <a:xfrm>
            <a:off x="5010150" y="2609850"/>
            <a:ext cx="203275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Docker Daemon</a:t>
            </a:r>
            <a:endParaRPr lang="en-US" sz="1500" dirty="0"/>
          </a:p>
        </p:txBody>
      </p:sp>
      <p:sp>
        <p:nvSpPr>
          <p:cNvPr id="22" name="Text 7"/>
          <p:cNvSpPr/>
          <p:nvPr/>
        </p:nvSpPr>
        <p:spPr>
          <a:xfrm>
            <a:off x="4533900" y="3028950"/>
            <a:ext cx="31242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background service that manages Docker objects like images, containers, networks, and volumes.</a:t>
            </a:r>
            <a:endParaRPr lang="en-US" sz="1200" dirty="0"/>
          </a:p>
        </p:txBody>
      </p:sp>
      <p:sp>
        <p:nvSpPr>
          <p:cNvPr id="23" name="Text 8"/>
          <p:cNvSpPr/>
          <p:nvPr/>
        </p:nvSpPr>
        <p:spPr>
          <a:xfrm>
            <a:off x="8629650" y="2609850"/>
            <a:ext cx="2055793"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Docker Registry</a:t>
            </a:r>
            <a:endParaRPr lang="en-US" sz="1500" dirty="0"/>
          </a:p>
        </p:txBody>
      </p:sp>
      <p:sp>
        <p:nvSpPr>
          <p:cNvPr id="24" name="Text 9"/>
          <p:cNvSpPr/>
          <p:nvPr/>
        </p:nvSpPr>
        <p:spPr>
          <a:xfrm>
            <a:off x="8267700" y="3028950"/>
            <a:ext cx="31242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For storing and distributing Docker images. Docker Hub is a public registry, while others can be private.</a:t>
            </a:r>
            <a:endParaRPr lang="en-US" sz="1200" dirty="0"/>
          </a:p>
        </p:txBody>
      </p:sp>
      <p:sp>
        <p:nvSpPr>
          <p:cNvPr id="25" name="Text 10"/>
          <p:cNvSpPr/>
          <p:nvPr/>
        </p:nvSpPr>
        <p:spPr>
          <a:xfrm>
            <a:off x="800100" y="4324350"/>
            <a:ext cx="127101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Why "Docker Orchestrator" is not a main component:</a:t>
            </a:r>
            <a:endParaRPr lang="en-US" sz="1500" dirty="0"/>
          </a:p>
        </p:txBody>
      </p:sp>
      <p:sp>
        <p:nvSpPr>
          <p:cNvPr id="26" name="Text 11"/>
          <p:cNvSpPr/>
          <p:nvPr/>
        </p:nvSpPr>
        <p:spPr>
          <a:xfrm>
            <a:off x="800100" y="4705350"/>
            <a:ext cx="10591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While orchestration is a key aspect of container management, "Docker Orchestrator" is not a distinct core component in the same architectural sense as the Client, Daemon, and Registry.</a:t>
            </a:r>
            <a:endParaRPr lang="en-US" sz="1200" dirty="0"/>
          </a:p>
        </p:txBody>
      </p:sp>
      <p:sp>
        <p:nvSpPr>
          <p:cNvPr id="27" name="Text 12"/>
          <p:cNvSpPr/>
          <p:nvPr/>
        </p:nvSpPr>
        <p:spPr>
          <a:xfrm>
            <a:off x="800100" y="5276850"/>
            <a:ext cx="10591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Docker Compose and Kubernetes are examples of orchestration tools that work </a:t>
            </a:r>
            <a:r>
              <a:rPr lang="en-US" sz="1200" b="1" dirty="0">
                <a:solidFill>
                  <a:srgbClr val="374151"/>
                </a:solidFill>
                <a:latin typeface="ui-sans-serif" pitchFamily="34" charset="0"/>
                <a:ea typeface="ui-sans-serif" pitchFamily="34" charset="-122"/>
                <a:cs typeface="ui-sans-serif" pitchFamily="34" charset="-120"/>
              </a:rPr>
              <a:t>with</a:t>
            </a:r>
            <a:r>
              <a:rPr lang="en-US" sz="1200" dirty="0">
                <a:solidFill>
                  <a:srgbClr val="374151"/>
                </a:solidFill>
                <a:latin typeface="ui-sans-serif" pitchFamily="34" charset="0"/>
                <a:ea typeface="ui-sans-serif" pitchFamily="34" charset="-122"/>
                <a:cs typeface="ui-sans-serif" pitchFamily="34" charset="-120"/>
              </a:rPr>
              <a:t> Docker to manage containerized applications at scale.</a:t>
            </a:r>
            <a:endParaRPr lang="en-US" sz="1200" dirty="0"/>
          </a:p>
        </p:txBody>
      </p:sp>
      <p:sp>
        <p:nvSpPr>
          <p:cNvPr id="28" name="Text 13"/>
          <p:cNvSpPr/>
          <p:nvPr/>
        </p:nvSpPr>
        <p:spPr>
          <a:xfrm>
            <a:off x="838200" y="6477000"/>
            <a:ext cx="1818084"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Architecture</a:t>
            </a:r>
            <a:endParaRPr lang="en-US" sz="1200" dirty="0"/>
          </a:p>
        </p:txBody>
      </p:sp>
      <p:sp>
        <p:nvSpPr>
          <p:cNvPr id="29" name="Text 14"/>
          <p:cNvSpPr/>
          <p:nvPr/>
        </p:nvSpPr>
        <p:spPr>
          <a:xfrm>
            <a:off x="11240095" y="64770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7/61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1371600"/>
          </a:xfrm>
          <a:prstGeom prst="rect">
            <a:avLst/>
          </a:prstGeom>
        </p:spPr>
      </p:pic>
      <p:pic>
        <p:nvPicPr>
          <p:cNvPr id="7" name="Image 5" descr="preencoded.png"/>
          <p:cNvPicPr>
            <a:picLocks noChangeAspect="1"/>
          </p:cNvPicPr>
          <p:nvPr/>
        </p:nvPicPr>
        <p:blipFill>
          <a:blip r:embed="rId7"/>
          <a:stretch>
            <a:fillRect/>
          </a:stretch>
        </p:blipFill>
        <p:spPr>
          <a:xfrm>
            <a:off x="4686300" y="1962150"/>
            <a:ext cx="3848100" cy="1371600"/>
          </a:xfrm>
          <a:prstGeom prst="rect">
            <a:avLst/>
          </a:prstGeom>
        </p:spPr>
      </p:pic>
      <p:pic>
        <p:nvPicPr>
          <p:cNvPr id="8" name="Image 6" descr="preencoded.png"/>
          <p:cNvPicPr>
            <a:picLocks noChangeAspect="1"/>
          </p:cNvPicPr>
          <p:nvPr/>
        </p:nvPicPr>
        <p:blipFill>
          <a:blip r:embed="rId6"/>
          <a:stretch>
            <a:fillRect/>
          </a:stretch>
        </p:blipFill>
        <p:spPr>
          <a:xfrm>
            <a:off x="609600" y="3562350"/>
            <a:ext cx="3848100" cy="1104900"/>
          </a:xfrm>
          <a:prstGeom prst="rect">
            <a:avLst/>
          </a:prstGeom>
        </p:spPr>
      </p:pic>
      <p:pic>
        <p:nvPicPr>
          <p:cNvPr id="9" name="Image 7" descr="preencoded.png"/>
          <p:cNvPicPr>
            <a:picLocks noChangeAspect="1"/>
          </p:cNvPicPr>
          <p:nvPr/>
        </p:nvPicPr>
        <p:blipFill>
          <a:blip r:embed="rId6"/>
          <a:stretch>
            <a:fillRect/>
          </a:stretch>
        </p:blipFill>
        <p:spPr>
          <a:xfrm>
            <a:off x="4686300" y="3562350"/>
            <a:ext cx="3848100" cy="1104900"/>
          </a:xfrm>
          <a:prstGeom prst="rect">
            <a:avLst/>
          </a:prstGeom>
        </p:spPr>
      </p:pic>
      <p:pic>
        <p:nvPicPr>
          <p:cNvPr id="10" name="Image 8" descr="preencoded.png"/>
          <p:cNvPicPr>
            <a:picLocks noChangeAspect="1"/>
          </p:cNvPicPr>
          <p:nvPr/>
        </p:nvPicPr>
        <p:blipFill>
          <a:blip r:embed="rId8"/>
          <a:stretch>
            <a:fillRect/>
          </a:stretch>
        </p:blipFill>
        <p:spPr>
          <a:xfrm>
            <a:off x="9050685" y="1819275"/>
            <a:ext cx="2320230" cy="1638300"/>
          </a:xfrm>
          <a:prstGeom prst="rect">
            <a:avLst/>
          </a:prstGeom>
        </p:spPr>
      </p:pic>
      <p:pic>
        <p:nvPicPr>
          <p:cNvPr id="11" name="Image 9" descr="preencoded.png"/>
          <p:cNvPicPr>
            <a:picLocks noChangeAspect="1"/>
          </p:cNvPicPr>
          <p:nvPr/>
        </p:nvPicPr>
        <p:blipFill>
          <a:blip r:embed="rId9"/>
          <a:stretch>
            <a:fillRect/>
          </a:stretch>
        </p:blipFill>
        <p:spPr>
          <a:xfrm>
            <a:off x="9982200" y="2047875"/>
            <a:ext cx="457200" cy="457200"/>
          </a:xfrm>
          <a:prstGeom prst="rect">
            <a:avLst/>
          </a:prstGeom>
        </p:spPr>
      </p:pic>
      <p:pic>
        <p:nvPicPr>
          <p:cNvPr id="12" name="Image 10" descr="preencoded.png"/>
          <p:cNvPicPr>
            <a:picLocks noChangeAspect="1"/>
          </p:cNvPicPr>
          <p:nvPr/>
        </p:nvPicPr>
        <p:blipFill>
          <a:blip r:embed="rId10"/>
          <a:stretch>
            <a:fillRect/>
          </a:stretch>
        </p:blipFill>
        <p:spPr>
          <a:xfrm>
            <a:off x="9050685" y="1819275"/>
            <a:ext cx="2320230" cy="1638300"/>
          </a:xfrm>
          <a:prstGeom prst="rect">
            <a:avLst/>
          </a:prstGeom>
        </p:spPr>
      </p:pic>
      <p:pic>
        <p:nvPicPr>
          <p:cNvPr id="13" name="Image 11" descr="preencoded.png"/>
          <p:cNvPicPr>
            <a:picLocks noChangeAspect="1"/>
          </p:cNvPicPr>
          <p:nvPr/>
        </p:nvPicPr>
        <p:blipFill>
          <a:blip r:embed="rId8"/>
          <a:stretch>
            <a:fillRect/>
          </a:stretch>
        </p:blipFill>
        <p:spPr>
          <a:xfrm>
            <a:off x="9050685" y="3762375"/>
            <a:ext cx="2320230" cy="1638300"/>
          </a:xfrm>
          <a:prstGeom prst="rect">
            <a:avLst/>
          </a:prstGeom>
        </p:spPr>
      </p:pic>
      <p:pic>
        <p:nvPicPr>
          <p:cNvPr id="14" name="Image 12" descr="preencoded.png"/>
          <p:cNvPicPr>
            <a:picLocks noChangeAspect="1"/>
          </p:cNvPicPr>
          <p:nvPr/>
        </p:nvPicPr>
        <p:blipFill>
          <a:blip r:embed="rId11"/>
          <a:stretch>
            <a:fillRect/>
          </a:stretch>
        </p:blipFill>
        <p:spPr>
          <a:xfrm>
            <a:off x="9982200" y="3990975"/>
            <a:ext cx="457200" cy="457200"/>
          </a:xfrm>
          <a:prstGeom prst="rect">
            <a:avLst/>
          </a:prstGeom>
        </p:spPr>
      </p:pic>
      <p:pic>
        <p:nvPicPr>
          <p:cNvPr id="15" name="Image 13" descr="preencoded.png"/>
          <p:cNvPicPr>
            <a:picLocks noChangeAspect="1"/>
          </p:cNvPicPr>
          <p:nvPr/>
        </p:nvPicPr>
        <p:blipFill>
          <a:blip r:embed="rId10"/>
          <a:stretch>
            <a:fillRect/>
          </a:stretch>
        </p:blipFill>
        <p:spPr>
          <a:xfrm>
            <a:off x="9050685" y="3762375"/>
            <a:ext cx="2320230" cy="1638300"/>
          </a:xfrm>
          <a:prstGeom prst="rect">
            <a:avLst/>
          </a:prstGeom>
        </p:spPr>
      </p:pic>
      <p:pic>
        <p:nvPicPr>
          <p:cNvPr id="16" name="Image 14" descr="preencoded.png"/>
          <p:cNvPicPr>
            <a:picLocks noChangeAspect="1"/>
          </p:cNvPicPr>
          <p:nvPr/>
        </p:nvPicPr>
        <p:blipFill>
          <a:blip r:embed="rId12"/>
          <a:stretch>
            <a:fillRect/>
          </a:stretch>
        </p:blipFill>
        <p:spPr>
          <a:xfrm>
            <a:off x="609600" y="6515100"/>
            <a:ext cx="114300" cy="152400"/>
          </a:xfrm>
          <a:prstGeom prst="rect">
            <a:avLst/>
          </a:prstGeom>
        </p:spPr>
      </p:pic>
      <p:sp>
        <p:nvSpPr>
          <p:cNvPr id="17"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4</a:t>
            </a:r>
            <a:endParaRPr lang="en-US" sz="1200" dirty="0"/>
          </a:p>
        </p:txBody>
      </p:sp>
      <p:sp>
        <p:nvSpPr>
          <p:cNvPr id="18" name="Text 1"/>
          <p:cNvSpPr/>
          <p:nvPr/>
        </p:nvSpPr>
        <p:spPr>
          <a:xfrm>
            <a:off x="1143000" y="304800"/>
            <a:ext cx="521404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Image vs Container</a:t>
            </a:r>
            <a:endParaRPr lang="en-US" sz="2250" dirty="0"/>
          </a:p>
        </p:txBody>
      </p:sp>
      <p:sp>
        <p:nvSpPr>
          <p:cNvPr id="19"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fundamental difference between a Docker Image and a Docker Container?</a:t>
            </a:r>
            <a:endParaRPr lang="en-US" sz="1800" dirty="0"/>
          </a:p>
        </p:txBody>
      </p:sp>
      <p:sp>
        <p:nvSpPr>
          <p:cNvPr id="20"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1" name="Text 4"/>
          <p:cNvSpPr/>
          <p:nvPr/>
        </p:nvSpPr>
        <p:spPr>
          <a:xfrm>
            <a:off x="1099691" y="2114550"/>
            <a:ext cx="3205609" cy="10668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Docker Image is a running instance of an application, while a Docker Container is a static blueprint.</a:t>
            </a:r>
            <a:endParaRPr lang="en-US" sz="1350" dirty="0"/>
          </a:p>
        </p:txBody>
      </p:sp>
      <p:sp>
        <p:nvSpPr>
          <p:cNvPr id="22"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3" name="Text 6"/>
          <p:cNvSpPr/>
          <p:nvPr/>
        </p:nvSpPr>
        <p:spPr>
          <a:xfrm>
            <a:off x="5170587" y="2114550"/>
            <a:ext cx="3211413"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Docker Image is a read-only template, while a Docker Container is a runnable instance of that image.</a:t>
            </a:r>
            <a:endParaRPr lang="en-US" sz="1350" dirty="0"/>
          </a:p>
        </p:txBody>
      </p:sp>
      <p:sp>
        <p:nvSpPr>
          <p:cNvPr id="24" name="Text 7"/>
          <p:cNvSpPr/>
          <p:nvPr/>
        </p:nvSpPr>
        <p:spPr>
          <a:xfrm>
            <a:off x="762000" y="37147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5" name="Text 8"/>
          <p:cNvSpPr/>
          <p:nvPr/>
        </p:nvSpPr>
        <p:spPr>
          <a:xfrm>
            <a:off x="1088529" y="3714750"/>
            <a:ext cx="3216771"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Images are used for development, and Docker Containers are used for production.</a:t>
            </a:r>
            <a:endParaRPr lang="en-US" sz="1350" dirty="0"/>
          </a:p>
        </p:txBody>
      </p:sp>
      <p:sp>
        <p:nvSpPr>
          <p:cNvPr id="26" name="Text 9"/>
          <p:cNvSpPr/>
          <p:nvPr/>
        </p:nvSpPr>
        <p:spPr>
          <a:xfrm>
            <a:off x="4838700" y="37147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7" name="Text 10"/>
          <p:cNvSpPr/>
          <p:nvPr/>
        </p:nvSpPr>
        <p:spPr>
          <a:xfrm>
            <a:off x="5183535" y="3714750"/>
            <a:ext cx="3198465"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Images include the operating system, while Docker Containers only include the application code.</a:t>
            </a:r>
            <a:endParaRPr lang="en-US" sz="1350" dirty="0"/>
          </a:p>
        </p:txBody>
      </p:sp>
      <p:sp>
        <p:nvSpPr>
          <p:cNvPr id="28" name="Text 11"/>
          <p:cNvSpPr/>
          <p:nvPr/>
        </p:nvSpPr>
        <p:spPr>
          <a:xfrm>
            <a:off x="9092982" y="2657475"/>
            <a:ext cx="2235637"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374151"/>
                </a:solidFill>
                <a:latin typeface="ui-sans-serif" pitchFamily="34" charset="0"/>
                <a:ea typeface="ui-sans-serif" pitchFamily="34" charset="-122"/>
                <a:cs typeface="ui-sans-serif" pitchFamily="34" charset="-120"/>
              </a:rPr>
              <a:t>Docker Image</a:t>
            </a:r>
            <a:endParaRPr lang="en-US" sz="1500" dirty="0"/>
          </a:p>
        </p:txBody>
      </p:sp>
      <p:sp>
        <p:nvSpPr>
          <p:cNvPr id="29" name="Text 12"/>
          <p:cNvSpPr/>
          <p:nvPr/>
        </p:nvSpPr>
        <p:spPr>
          <a:xfrm>
            <a:off x="9092982" y="3000375"/>
            <a:ext cx="2235637"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Read-only template</a:t>
            </a:r>
            <a:endParaRPr lang="en-US" sz="1200" dirty="0"/>
          </a:p>
        </p:txBody>
      </p:sp>
      <p:sp>
        <p:nvSpPr>
          <p:cNvPr id="30" name="Text 13"/>
          <p:cNvSpPr/>
          <p:nvPr/>
        </p:nvSpPr>
        <p:spPr>
          <a:xfrm>
            <a:off x="9092982" y="4600575"/>
            <a:ext cx="2235637"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374151"/>
                </a:solidFill>
                <a:latin typeface="ui-sans-serif" pitchFamily="34" charset="0"/>
                <a:ea typeface="ui-sans-serif" pitchFamily="34" charset="-122"/>
                <a:cs typeface="ui-sans-serif" pitchFamily="34" charset="-120"/>
              </a:rPr>
              <a:t>Docker Container</a:t>
            </a:r>
            <a:endParaRPr lang="en-US" sz="1500" dirty="0"/>
          </a:p>
        </p:txBody>
      </p:sp>
      <p:sp>
        <p:nvSpPr>
          <p:cNvPr id="31" name="Text 14"/>
          <p:cNvSpPr/>
          <p:nvPr/>
        </p:nvSpPr>
        <p:spPr>
          <a:xfrm>
            <a:off x="9092982" y="4943475"/>
            <a:ext cx="2235637"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Runnable instance</a:t>
            </a:r>
            <a:endParaRPr lang="en-US" sz="1200" dirty="0"/>
          </a:p>
        </p:txBody>
      </p:sp>
      <p:sp>
        <p:nvSpPr>
          <p:cNvPr id="32" name="Text 15"/>
          <p:cNvSpPr/>
          <p:nvPr/>
        </p:nvSpPr>
        <p:spPr>
          <a:xfrm>
            <a:off x="800100" y="6477000"/>
            <a:ext cx="127801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Basics</a:t>
            </a:r>
            <a:endParaRPr lang="en-US" sz="1200" dirty="0"/>
          </a:p>
        </p:txBody>
      </p:sp>
      <p:sp>
        <p:nvSpPr>
          <p:cNvPr id="33" name="Text 16"/>
          <p:cNvSpPr/>
          <p:nvPr/>
        </p:nvSpPr>
        <p:spPr>
          <a:xfrm>
            <a:off x="11240095" y="64770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8/61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924800" cy="1181100"/>
          </a:xfrm>
          <a:prstGeom prst="rect">
            <a:avLst/>
          </a:prstGeom>
        </p:spPr>
      </p:pic>
      <p:pic>
        <p:nvPicPr>
          <p:cNvPr id="7" name="Image 5" descr="preencoded.png"/>
          <p:cNvPicPr>
            <a:picLocks noChangeAspect="1"/>
          </p:cNvPicPr>
          <p:nvPr/>
        </p:nvPicPr>
        <p:blipFill>
          <a:blip r:embed="rId7"/>
          <a:stretch>
            <a:fillRect/>
          </a:stretch>
        </p:blipFill>
        <p:spPr>
          <a:xfrm>
            <a:off x="762000" y="1200150"/>
            <a:ext cx="190500" cy="266700"/>
          </a:xfrm>
          <a:prstGeom prst="rect">
            <a:avLst/>
          </a:prstGeom>
        </p:spPr>
      </p:pic>
      <p:pic>
        <p:nvPicPr>
          <p:cNvPr id="8" name="Image 6" descr="preencoded.png"/>
          <p:cNvPicPr>
            <a:picLocks noChangeAspect="1"/>
          </p:cNvPicPr>
          <p:nvPr/>
        </p:nvPicPr>
        <p:blipFill>
          <a:blip r:embed="rId8"/>
          <a:stretch>
            <a:fillRect/>
          </a:stretch>
        </p:blipFill>
        <p:spPr>
          <a:xfrm>
            <a:off x="609600" y="2457450"/>
            <a:ext cx="7924800" cy="1981200"/>
          </a:xfrm>
          <a:prstGeom prst="rect">
            <a:avLst/>
          </a:prstGeom>
        </p:spPr>
      </p:pic>
      <p:pic>
        <p:nvPicPr>
          <p:cNvPr id="9" name="Image 7" descr="preencoded.png"/>
          <p:cNvPicPr>
            <a:picLocks noChangeAspect="1"/>
          </p:cNvPicPr>
          <p:nvPr/>
        </p:nvPicPr>
        <p:blipFill>
          <a:blip r:embed="rId9"/>
          <a:stretch>
            <a:fillRect/>
          </a:stretch>
        </p:blipFill>
        <p:spPr>
          <a:xfrm>
            <a:off x="762000" y="3028950"/>
            <a:ext cx="152400" cy="152400"/>
          </a:xfrm>
          <a:prstGeom prst="rect">
            <a:avLst/>
          </a:prstGeom>
        </p:spPr>
      </p:pic>
      <p:pic>
        <p:nvPicPr>
          <p:cNvPr id="10" name="Image 8" descr="preencoded.png"/>
          <p:cNvPicPr>
            <a:picLocks noChangeAspect="1"/>
          </p:cNvPicPr>
          <p:nvPr/>
        </p:nvPicPr>
        <p:blipFill>
          <a:blip r:embed="rId10"/>
          <a:stretch>
            <a:fillRect/>
          </a:stretch>
        </p:blipFill>
        <p:spPr>
          <a:xfrm>
            <a:off x="762000" y="3638550"/>
            <a:ext cx="152400" cy="152400"/>
          </a:xfrm>
          <a:prstGeom prst="rect">
            <a:avLst/>
          </a:prstGeom>
        </p:spPr>
      </p:pic>
      <p:pic>
        <p:nvPicPr>
          <p:cNvPr id="11" name="Image 9" descr="preencoded.png"/>
          <p:cNvPicPr>
            <a:picLocks noChangeAspect="1"/>
          </p:cNvPicPr>
          <p:nvPr/>
        </p:nvPicPr>
        <p:blipFill>
          <a:blip r:embed="rId11"/>
          <a:stretch>
            <a:fillRect/>
          </a:stretch>
        </p:blipFill>
        <p:spPr>
          <a:xfrm>
            <a:off x="8839200" y="1362075"/>
            <a:ext cx="2743200" cy="1905000"/>
          </a:xfrm>
          <a:prstGeom prst="rect">
            <a:avLst/>
          </a:prstGeom>
        </p:spPr>
      </p:pic>
      <p:pic>
        <p:nvPicPr>
          <p:cNvPr id="12" name="Image 10" descr="preencoded.png"/>
          <p:cNvPicPr>
            <a:picLocks noChangeAspect="1"/>
          </p:cNvPicPr>
          <p:nvPr/>
        </p:nvPicPr>
        <p:blipFill>
          <a:blip r:embed="rId12"/>
          <a:stretch>
            <a:fillRect/>
          </a:stretch>
        </p:blipFill>
        <p:spPr>
          <a:xfrm>
            <a:off x="9925050" y="1514475"/>
            <a:ext cx="571500" cy="571500"/>
          </a:xfrm>
          <a:prstGeom prst="rect">
            <a:avLst/>
          </a:prstGeom>
        </p:spPr>
      </p:pic>
      <p:pic>
        <p:nvPicPr>
          <p:cNvPr id="13" name="Image 11" descr="preencoded.png"/>
          <p:cNvPicPr>
            <a:picLocks noChangeAspect="1"/>
          </p:cNvPicPr>
          <p:nvPr/>
        </p:nvPicPr>
        <p:blipFill>
          <a:blip r:embed="rId13"/>
          <a:stretch>
            <a:fillRect/>
          </a:stretch>
        </p:blipFill>
        <p:spPr>
          <a:xfrm>
            <a:off x="9582299" y="2847975"/>
            <a:ext cx="1180654" cy="266700"/>
          </a:xfrm>
          <a:prstGeom prst="rect">
            <a:avLst/>
          </a:prstGeom>
        </p:spPr>
      </p:pic>
      <p:pic>
        <p:nvPicPr>
          <p:cNvPr id="14" name="Image 12" descr="preencoded.png"/>
          <p:cNvPicPr>
            <a:picLocks noChangeAspect="1"/>
          </p:cNvPicPr>
          <p:nvPr/>
        </p:nvPicPr>
        <p:blipFill>
          <a:blip r:embed="rId14"/>
          <a:stretch>
            <a:fillRect/>
          </a:stretch>
        </p:blipFill>
        <p:spPr>
          <a:xfrm>
            <a:off x="9696599" y="2905125"/>
            <a:ext cx="114300" cy="133350"/>
          </a:xfrm>
          <a:prstGeom prst="rect">
            <a:avLst/>
          </a:prstGeom>
        </p:spPr>
      </p:pic>
      <p:pic>
        <p:nvPicPr>
          <p:cNvPr id="15" name="Image 13" descr="preencoded.png"/>
          <p:cNvPicPr>
            <a:picLocks noChangeAspect="1"/>
          </p:cNvPicPr>
          <p:nvPr/>
        </p:nvPicPr>
        <p:blipFill>
          <a:blip r:embed="rId15"/>
          <a:stretch>
            <a:fillRect/>
          </a:stretch>
        </p:blipFill>
        <p:spPr>
          <a:xfrm>
            <a:off x="10125075" y="3495675"/>
            <a:ext cx="171450" cy="304800"/>
          </a:xfrm>
          <a:prstGeom prst="rect">
            <a:avLst/>
          </a:prstGeom>
        </p:spPr>
      </p:pic>
      <p:pic>
        <p:nvPicPr>
          <p:cNvPr id="16" name="Image 14" descr="preencoded.png"/>
          <p:cNvPicPr>
            <a:picLocks noChangeAspect="1"/>
          </p:cNvPicPr>
          <p:nvPr/>
        </p:nvPicPr>
        <p:blipFill>
          <a:blip r:embed="rId16"/>
          <a:stretch>
            <a:fillRect/>
          </a:stretch>
        </p:blipFill>
        <p:spPr>
          <a:xfrm>
            <a:off x="8839200" y="3952875"/>
            <a:ext cx="2743200" cy="1905000"/>
          </a:xfrm>
          <a:prstGeom prst="rect">
            <a:avLst/>
          </a:prstGeom>
        </p:spPr>
      </p:pic>
      <p:pic>
        <p:nvPicPr>
          <p:cNvPr id="17" name="Image 15" descr="preencoded.png"/>
          <p:cNvPicPr>
            <a:picLocks noChangeAspect="1"/>
          </p:cNvPicPr>
          <p:nvPr/>
        </p:nvPicPr>
        <p:blipFill>
          <a:blip r:embed="rId17"/>
          <a:stretch>
            <a:fillRect/>
          </a:stretch>
        </p:blipFill>
        <p:spPr>
          <a:xfrm>
            <a:off x="9925050" y="4105275"/>
            <a:ext cx="571500" cy="571500"/>
          </a:xfrm>
          <a:prstGeom prst="rect">
            <a:avLst/>
          </a:prstGeom>
        </p:spPr>
      </p:pic>
      <p:pic>
        <p:nvPicPr>
          <p:cNvPr id="18" name="Image 16" descr="preencoded.png"/>
          <p:cNvPicPr>
            <a:picLocks noChangeAspect="1"/>
          </p:cNvPicPr>
          <p:nvPr/>
        </p:nvPicPr>
        <p:blipFill>
          <a:blip r:embed="rId18"/>
          <a:stretch>
            <a:fillRect/>
          </a:stretch>
        </p:blipFill>
        <p:spPr>
          <a:xfrm>
            <a:off x="9637663" y="5438775"/>
            <a:ext cx="1070074" cy="266700"/>
          </a:xfrm>
          <a:prstGeom prst="rect">
            <a:avLst/>
          </a:prstGeom>
        </p:spPr>
      </p:pic>
      <p:pic>
        <p:nvPicPr>
          <p:cNvPr id="19" name="Image 17" descr="preencoded.png"/>
          <p:cNvPicPr>
            <a:picLocks noChangeAspect="1"/>
          </p:cNvPicPr>
          <p:nvPr/>
        </p:nvPicPr>
        <p:blipFill>
          <a:blip r:embed="rId19"/>
          <a:stretch>
            <a:fillRect/>
          </a:stretch>
        </p:blipFill>
        <p:spPr>
          <a:xfrm>
            <a:off x="9751963" y="5495925"/>
            <a:ext cx="133350" cy="133350"/>
          </a:xfrm>
          <a:prstGeom prst="rect">
            <a:avLst/>
          </a:prstGeom>
        </p:spPr>
      </p:pic>
      <p:pic>
        <p:nvPicPr>
          <p:cNvPr id="20" name="Image 18" descr="preencoded.png"/>
          <p:cNvPicPr>
            <a:picLocks noChangeAspect="1"/>
          </p:cNvPicPr>
          <p:nvPr/>
        </p:nvPicPr>
        <p:blipFill>
          <a:blip r:embed="rId20"/>
          <a:stretch>
            <a:fillRect/>
          </a:stretch>
        </p:blipFill>
        <p:spPr>
          <a:xfrm>
            <a:off x="609600" y="6515100"/>
            <a:ext cx="152400" cy="152400"/>
          </a:xfrm>
          <a:prstGeom prst="rect">
            <a:avLst/>
          </a:prstGeom>
        </p:spPr>
      </p:pic>
      <p:sp>
        <p:nvSpPr>
          <p:cNvPr id="21"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4</a:t>
            </a:r>
            <a:endParaRPr lang="en-US" sz="1200" dirty="0"/>
          </a:p>
        </p:txBody>
      </p:sp>
      <p:sp>
        <p:nvSpPr>
          <p:cNvPr id="22" name="Text 1"/>
          <p:cNvSpPr/>
          <p:nvPr/>
        </p:nvSpPr>
        <p:spPr>
          <a:xfrm>
            <a:off x="1143000" y="304800"/>
            <a:ext cx="521404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Image vs Container</a:t>
            </a:r>
            <a:endParaRPr lang="en-US" sz="2250" dirty="0"/>
          </a:p>
        </p:txBody>
      </p:sp>
      <p:sp>
        <p:nvSpPr>
          <p:cNvPr id="23" name="Text 2"/>
          <p:cNvSpPr/>
          <p:nvPr/>
        </p:nvSpPr>
        <p:spPr>
          <a:xfrm>
            <a:off x="1028700" y="1200150"/>
            <a:ext cx="232975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Correct Answer: B</a:t>
            </a:r>
            <a:endParaRPr lang="en-US" sz="1500" dirty="0"/>
          </a:p>
        </p:txBody>
      </p:sp>
      <p:sp>
        <p:nvSpPr>
          <p:cNvPr id="24" name="Text 3"/>
          <p:cNvSpPr/>
          <p:nvPr/>
        </p:nvSpPr>
        <p:spPr>
          <a:xfrm>
            <a:off x="762000" y="1543050"/>
            <a:ext cx="76200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A Docker Image is a read-only template, while a Docker Container is a runnable instance of that image.</a:t>
            </a:r>
            <a:endParaRPr lang="en-US" sz="1500" dirty="0"/>
          </a:p>
        </p:txBody>
      </p:sp>
      <p:sp>
        <p:nvSpPr>
          <p:cNvPr id="25" name="Text 4"/>
          <p:cNvSpPr/>
          <p:nvPr/>
        </p:nvSpPr>
        <p:spPr>
          <a:xfrm>
            <a:off x="762000" y="2609850"/>
            <a:ext cx="7620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Explanation:</a:t>
            </a:r>
            <a:endParaRPr lang="en-US" sz="1500" dirty="0"/>
          </a:p>
        </p:txBody>
      </p:sp>
      <p:sp>
        <p:nvSpPr>
          <p:cNvPr id="26" name="Text 5"/>
          <p:cNvSpPr/>
          <p:nvPr/>
        </p:nvSpPr>
        <p:spPr>
          <a:xfrm>
            <a:off x="1028700" y="2990850"/>
            <a:ext cx="73533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FF6B6B"/>
                </a:solidFill>
                <a:latin typeface="ui-sans-serif" pitchFamily="34" charset="0"/>
                <a:ea typeface="ui-sans-serif" pitchFamily="34" charset="-122"/>
                <a:cs typeface="ui-sans-serif" pitchFamily="34" charset="-120"/>
              </a:rPr>
              <a:t>Docker Image</a:t>
            </a:r>
            <a:r>
              <a:rPr lang="en-US" sz="1350" dirty="0">
                <a:solidFill>
                  <a:srgbClr val="374151"/>
                </a:solidFill>
                <a:latin typeface="ui-sans-serif" pitchFamily="34" charset="0"/>
                <a:ea typeface="ui-sans-serif" pitchFamily="34" charset="-122"/>
                <a:cs typeface="ui-sans-serif" pitchFamily="34" charset="-120"/>
              </a:rPr>
              <a:t>: A lightweight, standalone, and executable software package that acts as a read-only template containing everything needed to run an application.</a:t>
            </a:r>
            <a:endParaRPr lang="en-US" sz="1350" dirty="0"/>
          </a:p>
        </p:txBody>
      </p:sp>
      <p:sp>
        <p:nvSpPr>
          <p:cNvPr id="27" name="Text 6"/>
          <p:cNvSpPr/>
          <p:nvPr/>
        </p:nvSpPr>
        <p:spPr>
          <a:xfrm>
            <a:off x="1028700" y="3600450"/>
            <a:ext cx="73533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FF6B6B"/>
                </a:solidFill>
                <a:latin typeface="ui-sans-serif" pitchFamily="34" charset="0"/>
                <a:ea typeface="ui-sans-serif" pitchFamily="34" charset="-122"/>
                <a:cs typeface="ui-sans-serif" pitchFamily="34" charset="-120"/>
              </a:rPr>
              <a:t>Docker Container</a:t>
            </a:r>
            <a:r>
              <a:rPr lang="en-US" sz="1350" dirty="0">
                <a:solidFill>
                  <a:srgbClr val="374151"/>
                </a:solidFill>
                <a:latin typeface="ui-sans-serif" pitchFamily="34" charset="0"/>
                <a:ea typeface="ui-sans-serif" pitchFamily="34" charset="-122"/>
                <a:cs typeface="ui-sans-serif" pitchFamily="34" charset="-120"/>
              </a:rPr>
              <a:t>: A runtime instance of a Docker Image, meaning it's the actual running application based on that image.</a:t>
            </a:r>
            <a:endParaRPr lang="en-US" sz="1350" dirty="0"/>
          </a:p>
        </p:txBody>
      </p:sp>
      <p:sp>
        <p:nvSpPr>
          <p:cNvPr id="28" name="Text 7"/>
          <p:cNvSpPr/>
          <p:nvPr/>
        </p:nvSpPr>
        <p:spPr>
          <a:xfrm>
            <a:off x="8747760" y="2162175"/>
            <a:ext cx="292608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Docker Image</a:t>
            </a:r>
            <a:endParaRPr lang="en-US" sz="1500" dirty="0"/>
          </a:p>
        </p:txBody>
      </p:sp>
      <p:sp>
        <p:nvSpPr>
          <p:cNvPr id="29" name="Text 8"/>
          <p:cNvSpPr/>
          <p:nvPr/>
        </p:nvSpPr>
        <p:spPr>
          <a:xfrm>
            <a:off x="8747760" y="2505075"/>
            <a:ext cx="2926080"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Read-only template</a:t>
            </a:r>
            <a:endParaRPr lang="en-US" sz="1200" dirty="0"/>
          </a:p>
        </p:txBody>
      </p:sp>
      <p:sp>
        <p:nvSpPr>
          <p:cNvPr id="30" name="Text 9"/>
          <p:cNvSpPr/>
          <p:nvPr/>
        </p:nvSpPr>
        <p:spPr>
          <a:xfrm>
            <a:off x="9848999" y="2847975"/>
            <a:ext cx="1416784" cy="266700"/>
          </a:xfrm>
          <a:prstGeom prst="rect">
            <a:avLst/>
          </a:prstGeom>
          <a:noFill/>
          <a:ln/>
        </p:spPr>
        <p:txBody>
          <a:bodyPr vert="horz" wrap="square" lIns="0" tIns="0" rIns="0" bIns="0" rtlCol="0" anchor="t"/>
          <a:lstStyle/>
          <a:p>
            <a:pPr marL="0" indent="0">
              <a:lnSpc>
                <a:spcPts val="1500"/>
              </a:lnSpc>
              <a:buNone/>
            </a:pPr>
            <a:r>
              <a:rPr lang="en-US" sz="1050" b="1" dirty="0">
                <a:solidFill>
                  <a:srgbClr val="374151"/>
                </a:solidFill>
                <a:latin typeface="ui-sans-serif" pitchFamily="34" charset="0"/>
                <a:ea typeface="ui-sans-serif" pitchFamily="34" charset="-122"/>
                <a:cs typeface="ui-sans-serif" pitchFamily="34" charset="-120"/>
              </a:rPr>
              <a:t> Read-only</a:t>
            </a:r>
            <a:endParaRPr lang="en-US" sz="1050" dirty="0"/>
          </a:p>
        </p:txBody>
      </p:sp>
      <p:sp>
        <p:nvSpPr>
          <p:cNvPr id="31" name="Text 10"/>
          <p:cNvSpPr/>
          <p:nvPr/>
        </p:nvSpPr>
        <p:spPr>
          <a:xfrm>
            <a:off x="8747760" y="4752975"/>
            <a:ext cx="292608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Docker Container</a:t>
            </a:r>
            <a:endParaRPr lang="en-US" sz="1500" dirty="0"/>
          </a:p>
        </p:txBody>
      </p:sp>
      <p:sp>
        <p:nvSpPr>
          <p:cNvPr id="32" name="Text 11"/>
          <p:cNvSpPr/>
          <p:nvPr/>
        </p:nvSpPr>
        <p:spPr>
          <a:xfrm>
            <a:off x="8747760" y="5095875"/>
            <a:ext cx="2926080"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Runnable instance</a:t>
            </a:r>
            <a:endParaRPr lang="en-US" sz="1200" dirty="0"/>
          </a:p>
        </p:txBody>
      </p:sp>
      <p:sp>
        <p:nvSpPr>
          <p:cNvPr id="33" name="Text 12"/>
          <p:cNvSpPr/>
          <p:nvPr/>
        </p:nvSpPr>
        <p:spPr>
          <a:xfrm>
            <a:off x="9923413" y="5438775"/>
            <a:ext cx="1284089" cy="266700"/>
          </a:xfrm>
          <a:prstGeom prst="rect">
            <a:avLst/>
          </a:prstGeom>
          <a:noFill/>
          <a:ln/>
        </p:spPr>
        <p:txBody>
          <a:bodyPr vert="horz" wrap="square" lIns="0" tIns="0" rIns="0" bIns="0" rtlCol="0" anchor="t"/>
          <a:lstStyle/>
          <a:p>
            <a:pPr marL="0" indent="0">
              <a:lnSpc>
                <a:spcPts val="1500"/>
              </a:lnSpc>
              <a:buNone/>
            </a:pPr>
            <a:r>
              <a:rPr lang="en-US" sz="1050" b="1" dirty="0">
                <a:solidFill>
                  <a:srgbClr val="0F766E"/>
                </a:solidFill>
                <a:latin typeface="ui-sans-serif" pitchFamily="34" charset="0"/>
                <a:ea typeface="ui-sans-serif" pitchFamily="34" charset="-122"/>
                <a:cs typeface="ui-sans-serif" pitchFamily="34" charset="-120"/>
              </a:rPr>
              <a:t> Running</a:t>
            </a:r>
            <a:endParaRPr lang="en-US" sz="1050" dirty="0"/>
          </a:p>
        </p:txBody>
      </p:sp>
      <p:sp>
        <p:nvSpPr>
          <p:cNvPr id="34" name="Text 13"/>
          <p:cNvSpPr/>
          <p:nvPr/>
        </p:nvSpPr>
        <p:spPr>
          <a:xfrm>
            <a:off x="838200" y="6477000"/>
            <a:ext cx="2614434"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Images &amp; Containers</a:t>
            </a:r>
            <a:endParaRPr lang="en-US" sz="1200" dirty="0"/>
          </a:p>
        </p:txBody>
      </p:sp>
      <p:sp>
        <p:nvSpPr>
          <p:cNvPr id="35" name="Text 14"/>
          <p:cNvSpPr/>
          <p:nvPr/>
        </p:nvSpPr>
        <p:spPr>
          <a:xfrm>
            <a:off x="11240095" y="64770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9/61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657350"/>
            <a:ext cx="3025080" cy="1104900"/>
          </a:xfrm>
          <a:prstGeom prst="rect">
            <a:avLst/>
          </a:prstGeom>
        </p:spPr>
      </p:pic>
      <p:pic>
        <p:nvPicPr>
          <p:cNvPr id="7" name="Image 5" descr="preencoded.png"/>
          <p:cNvPicPr>
            <a:picLocks noChangeAspect="1"/>
          </p:cNvPicPr>
          <p:nvPr/>
        </p:nvPicPr>
        <p:blipFill>
          <a:blip r:embed="rId7"/>
          <a:stretch>
            <a:fillRect/>
          </a:stretch>
        </p:blipFill>
        <p:spPr>
          <a:xfrm>
            <a:off x="3863280" y="1657350"/>
            <a:ext cx="3025080" cy="1104900"/>
          </a:xfrm>
          <a:prstGeom prst="rect">
            <a:avLst/>
          </a:prstGeom>
        </p:spPr>
      </p:pic>
      <p:pic>
        <p:nvPicPr>
          <p:cNvPr id="8" name="Image 6" descr="preencoded.png"/>
          <p:cNvPicPr>
            <a:picLocks noChangeAspect="1"/>
          </p:cNvPicPr>
          <p:nvPr/>
        </p:nvPicPr>
        <p:blipFill>
          <a:blip r:embed="rId6"/>
          <a:stretch>
            <a:fillRect/>
          </a:stretch>
        </p:blipFill>
        <p:spPr>
          <a:xfrm>
            <a:off x="609600" y="2990850"/>
            <a:ext cx="3025080" cy="1104900"/>
          </a:xfrm>
          <a:prstGeom prst="rect">
            <a:avLst/>
          </a:prstGeom>
        </p:spPr>
      </p:pic>
      <p:pic>
        <p:nvPicPr>
          <p:cNvPr id="9" name="Image 7" descr="preencoded.png"/>
          <p:cNvPicPr>
            <a:picLocks noChangeAspect="1"/>
          </p:cNvPicPr>
          <p:nvPr/>
        </p:nvPicPr>
        <p:blipFill>
          <a:blip r:embed="rId8"/>
          <a:stretch>
            <a:fillRect/>
          </a:stretch>
        </p:blipFill>
        <p:spPr>
          <a:xfrm>
            <a:off x="3863280" y="2990850"/>
            <a:ext cx="3025080" cy="1104900"/>
          </a:xfrm>
          <a:prstGeom prst="rect">
            <a:avLst/>
          </a:prstGeom>
        </p:spPr>
      </p:pic>
      <p:pic>
        <p:nvPicPr>
          <p:cNvPr id="10" name="Image 8" descr="preencoded.png"/>
          <p:cNvPicPr>
            <a:picLocks noChangeAspect="1"/>
          </p:cNvPicPr>
          <p:nvPr/>
        </p:nvPicPr>
        <p:blipFill>
          <a:blip r:embed="rId9"/>
          <a:stretch>
            <a:fillRect/>
          </a:stretch>
        </p:blipFill>
        <p:spPr>
          <a:xfrm>
            <a:off x="7497961" y="2069306"/>
            <a:ext cx="4084290" cy="2090738"/>
          </a:xfrm>
          <a:prstGeom prst="rect">
            <a:avLst/>
          </a:prstGeom>
        </p:spPr>
      </p:pic>
      <p:pic>
        <p:nvPicPr>
          <p:cNvPr id="11" name="Image 9" descr="preencoded.png"/>
          <p:cNvPicPr>
            <a:picLocks noChangeAspect="1"/>
          </p:cNvPicPr>
          <p:nvPr/>
        </p:nvPicPr>
        <p:blipFill>
          <a:blip r:embed="rId10"/>
          <a:stretch>
            <a:fillRect/>
          </a:stretch>
        </p:blipFill>
        <p:spPr>
          <a:xfrm>
            <a:off x="7612261" y="2200275"/>
            <a:ext cx="114300" cy="152400"/>
          </a:xfrm>
          <a:prstGeom prst="rect">
            <a:avLst/>
          </a:prstGeom>
        </p:spPr>
      </p:pic>
      <p:pic>
        <p:nvPicPr>
          <p:cNvPr id="12" name="Image 10" descr="preencoded.png"/>
          <p:cNvPicPr>
            <a:picLocks noChangeAspect="1"/>
          </p:cNvPicPr>
          <p:nvPr/>
        </p:nvPicPr>
        <p:blipFill>
          <a:blip r:embed="rId11"/>
          <a:stretch>
            <a:fillRect/>
          </a:stretch>
        </p:blipFill>
        <p:spPr>
          <a:xfrm>
            <a:off x="8473380" y="4388644"/>
            <a:ext cx="457200" cy="457200"/>
          </a:xfrm>
          <a:prstGeom prst="rect">
            <a:avLst/>
          </a:prstGeom>
        </p:spPr>
      </p:pic>
      <p:pic>
        <p:nvPicPr>
          <p:cNvPr id="13" name="Image 11" descr="preencoded.png"/>
          <p:cNvPicPr>
            <a:picLocks noChangeAspect="1"/>
          </p:cNvPicPr>
          <p:nvPr/>
        </p:nvPicPr>
        <p:blipFill>
          <a:blip r:embed="rId12"/>
          <a:stretch>
            <a:fillRect/>
          </a:stretch>
        </p:blipFill>
        <p:spPr>
          <a:xfrm>
            <a:off x="9384804" y="4693444"/>
            <a:ext cx="133350" cy="152400"/>
          </a:xfrm>
          <a:prstGeom prst="rect">
            <a:avLst/>
          </a:prstGeom>
        </p:spPr>
      </p:pic>
      <p:pic>
        <p:nvPicPr>
          <p:cNvPr id="14" name="Image 12" descr="preencoded.png"/>
          <p:cNvPicPr>
            <a:picLocks noChangeAspect="1"/>
          </p:cNvPicPr>
          <p:nvPr/>
        </p:nvPicPr>
        <p:blipFill>
          <a:blip r:embed="rId13"/>
          <a:stretch>
            <a:fillRect/>
          </a:stretch>
        </p:blipFill>
        <p:spPr>
          <a:xfrm>
            <a:off x="10117931" y="4388644"/>
            <a:ext cx="342900" cy="457200"/>
          </a:xfrm>
          <a:prstGeom prst="rect">
            <a:avLst/>
          </a:prstGeom>
        </p:spPr>
      </p:pic>
      <p:pic>
        <p:nvPicPr>
          <p:cNvPr id="15" name="Image 13" descr="preencoded.png"/>
          <p:cNvPicPr>
            <a:picLocks noChangeAspect="1"/>
          </p:cNvPicPr>
          <p:nvPr/>
        </p:nvPicPr>
        <p:blipFill>
          <a:blip r:embed="rId14"/>
          <a:stretch>
            <a:fillRect/>
          </a:stretch>
        </p:blipFill>
        <p:spPr>
          <a:xfrm>
            <a:off x="609600" y="6515100"/>
            <a:ext cx="190500" cy="152400"/>
          </a:xfrm>
          <a:prstGeom prst="rect">
            <a:avLst/>
          </a:prstGeom>
        </p:spPr>
      </p:pic>
      <p:sp>
        <p:nvSpPr>
          <p:cNvPr id="16"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5</a:t>
            </a:r>
            <a:endParaRPr lang="en-US" sz="1200" dirty="0"/>
          </a:p>
        </p:txBody>
      </p:sp>
      <p:sp>
        <p:nvSpPr>
          <p:cNvPr id="17" name="Text 1"/>
          <p:cNvSpPr/>
          <p:nvPr/>
        </p:nvSpPr>
        <p:spPr>
          <a:xfrm>
            <a:off x="1143000" y="304800"/>
            <a:ext cx="415409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Purpose of Dockerfile</a:t>
            </a:r>
            <a:endParaRPr lang="en-US" sz="2250" dirty="0"/>
          </a:p>
        </p:txBody>
      </p:sp>
      <p:sp>
        <p:nvSpPr>
          <p:cNvPr id="18" name="Text 2"/>
          <p:cNvSpPr/>
          <p:nvPr/>
        </p:nvSpPr>
        <p:spPr>
          <a:xfrm>
            <a:off x="609600" y="1047750"/>
            <a:ext cx="7534513"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primary purpose of a Dockerfile?</a:t>
            </a:r>
            <a:endParaRPr lang="en-US" sz="1800" dirty="0"/>
          </a:p>
        </p:txBody>
      </p:sp>
      <p:sp>
        <p:nvSpPr>
          <p:cNvPr id="19" name="Text 3"/>
          <p:cNvSpPr/>
          <p:nvPr/>
        </p:nvSpPr>
        <p:spPr>
          <a:xfrm>
            <a:off x="762000" y="18097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0" name="Text 4"/>
          <p:cNvSpPr/>
          <p:nvPr/>
        </p:nvSpPr>
        <p:spPr>
          <a:xfrm>
            <a:off x="1099691" y="1809750"/>
            <a:ext cx="2382589"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define and run multi-container Docker applications.</a:t>
            </a:r>
            <a:endParaRPr lang="en-US" sz="1350" dirty="0"/>
          </a:p>
        </p:txBody>
      </p:sp>
      <p:sp>
        <p:nvSpPr>
          <p:cNvPr id="21" name="Text 5"/>
          <p:cNvSpPr/>
          <p:nvPr/>
        </p:nvSpPr>
        <p:spPr>
          <a:xfrm>
            <a:off x="4015680" y="18097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2" name="Text 6"/>
          <p:cNvSpPr/>
          <p:nvPr/>
        </p:nvSpPr>
        <p:spPr>
          <a:xfrm>
            <a:off x="4347567" y="1809750"/>
            <a:ext cx="2388394"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store Docker images in a remote repository.</a:t>
            </a:r>
            <a:endParaRPr lang="en-US" sz="1350" dirty="0"/>
          </a:p>
        </p:txBody>
      </p:sp>
      <p:sp>
        <p:nvSpPr>
          <p:cNvPr id="23" name="Text 7"/>
          <p:cNvSpPr/>
          <p:nvPr/>
        </p:nvSpPr>
        <p:spPr>
          <a:xfrm>
            <a:off x="762000" y="31432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4" name="Text 8"/>
          <p:cNvSpPr/>
          <p:nvPr/>
        </p:nvSpPr>
        <p:spPr>
          <a:xfrm>
            <a:off x="1088529" y="3143250"/>
            <a:ext cx="2393752"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provide a set of instructions for building a Docker image.</a:t>
            </a:r>
            <a:endParaRPr lang="en-US" sz="1350" dirty="0"/>
          </a:p>
        </p:txBody>
      </p:sp>
      <p:sp>
        <p:nvSpPr>
          <p:cNvPr id="25" name="Text 9"/>
          <p:cNvSpPr/>
          <p:nvPr/>
        </p:nvSpPr>
        <p:spPr>
          <a:xfrm>
            <a:off x="4015680" y="31432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6" name="Text 10"/>
          <p:cNvSpPr/>
          <p:nvPr/>
        </p:nvSpPr>
        <p:spPr>
          <a:xfrm>
            <a:off x="4360515" y="3143250"/>
            <a:ext cx="2375446"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monitor the health and performance of running containers.</a:t>
            </a:r>
            <a:endParaRPr lang="en-US" sz="1350" dirty="0"/>
          </a:p>
        </p:txBody>
      </p:sp>
      <p:sp>
        <p:nvSpPr>
          <p:cNvPr id="27" name="Text 11"/>
          <p:cNvSpPr/>
          <p:nvPr/>
        </p:nvSpPr>
        <p:spPr>
          <a:xfrm>
            <a:off x="7802761" y="2183606"/>
            <a:ext cx="1699855" cy="185738"/>
          </a:xfrm>
          <a:prstGeom prst="rect">
            <a:avLst/>
          </a:prstGeom>
          <a:noFill/>
          <a:ln/>
        </p:spPr>
        <p:txBody>
          <a:bodyPr vert="horz" wrap="square" lIns="0" tIns="0" rIns="0" bIns="0" rtlCol="0" anchor="t"/>
          <a:lstStyle/>
          <a:p>
            <a:pPr marL="0" indent="0">
              <a:lnSpc>
                <a:spcPts val="1463"/>
              </a:lnSpc>
              <a:buNone/>
            </a:pPr>
            <a:r>
              <a:rPr lang="en-US" sz="975" b="1" dirty="0">
                <a:solidFill>
                  <a:srgbClr val="374151"/>
                </a:solidFill>
                <a:latin typeface="Arial" pitchFamily="34" charset="0"/>
                <a:ea typeface="Arial" pitchFamily="34" charset="-122"/>
                <a:cs typeface="Arial" pitchFamily="34" charset="-120"/>
              </a:rPr>
              <a:t>Dockerfile example:</a:t>
            </a:r>
            <a:endParaRPr lang="en-US" sz="975" dirty="0"/>
          </a:p>
        </p:txBody>
      </p:sp>
      <p:sp>
        <p:nvSpPr>
          <p:cNvPr id="28" name="Text 12"/>
          <p:cNvSpPr/>
          <p:nvPr/>
        </p:nvSpPr>
        <p:spPr>
          <a:xfrm>
            <a:off x="7612261" y="2474119"/>
            <a:ext cx="1920627" cy="1543050"/>
          </a:xfrm>
          <a:prstGeom prst="rect">
            <a:avLst/>
          </a:prstGeom>
          <a:noFill/>
          <a:ln/>
        </p:spPr>
        <p:txBody>
          <a:bodyPr vert="horz" wrap="square" lIns="0" tIns="0" rIns="0" bIns="0" rtlCol="0" anchor="t"/>
          <a:lstStyle/>
          <a:p>
            <a:pPr marL="0" indent="0">
              <a:lnSpc>
                <a:spcPts val="1800"/>
              </a:lnSpc>
              <a:buNone/>
            </a:pPr>
            <a:r>
              <a:rPr lang="en-US" sz="1200" dirty="0">
                <a:solidFill>
                  <a:srgbClr val="1F2937"/>
                </a:solidFill>
                <a:latin typeface="ui-monospace" pitchFamily="34" charset="0"/>
                <a:ea typeface="ui-monospace" pitchFamily="34" charset="-122"/>
                <a:cs typeface="ui-monospace" pitchFamily="34" charset="-120"/>
              </a:rPr>
              <a:t>FROM node:14</a:t>
            </a:r>
            <a:endParaRPr lang="en-US" sz="1200" dirty="0"/>
          </a:p>
          <a:p>
            <a:pPr marL="0" indent="0">
              <a:lnSpc>
                <a:spcPts val="1800"/>
              </a:lnSpc>
              <a:buNone/>
            </a:pPr>
            <a:r>
              <a:rPr lang="en-US" sz="1200" dirty="0">
                <a:solidFill>
                  <a:srgbClr val="1F2937"/>
                </a:solidFill>
                <a:latin typeface="ui-monospace" pitchFamily="34" charset="0"/>
                <a:ea typeface="ui-monospace" pitchFamily="34" charset="-122"/>
                <a:cs typeface="ui-monospace" pitchFamily="34" charset="-120"/>
              </a:rPr>
              <a:t>WORKDIR /app</a:t>
            </a:r>
            <a:endParaRPr lang="en-US" sz="1200" dirty="0"/>
          </a:p>
          <a:p>
            <a:pPr marL="0" indent="0">
              <a:lnSpc>
                <a:spcPts val="1800"/>
              </a:lnSpc>
              <a:buNone/>
            </a:pPr>
            <a:r>
              <a:rPr lang="en-US" sz="1200" dirty="0">
                <a:solidFill>
                  <a:srgbClr val="1F2937"/>
                </a:solidFill>
                <a:latin typeface="ui-monospace" pitchFamily="34" charset="0"/>
                <a:ea typeface="ui-monospace" pitchFamily="34" charset="-122"/>
                <a:cs typeface="ui-monospace" pitchFamily="34" charset="-120"/>
              </a:rPr>
              <a:t>COPY package*.json ./</a:t>
            </a:r>
            <a:endParaRPr lang="en-US" sz="1200" dirty="0"/>
          </a:p>
          <a:p>
            <a:pPr marL="0" indent="0">
              <a:lnSpc>
                <a:spcPts val="1800"/>
              </a:lnSpc>
              <a:buNone/>
            </a:pPr>
            <a:r>
              <a:rPr lang="en-US" sz="1200" dirty="0">
                <a:solidFill>
                  <a:srgbClr val="1F2937"/>
                </a:solidFill>
                <a:latin typeface="ui-monospace" pitchFamily="34" charset="0"/>
                <a:ea typeface="ui-monospace" pitchFamily="34" charset="-122"/>
                <a:cs typeface="ui-monospace" pitchFamily="34" charset="-120"/>
              </a:rPr>
              <a:t>RUN npm install</a:t>
            </a:r>
            <a:endParaRPr lang="en-US" sz="1200" dirty="0"/>
          </a:p>
          <a:p>
            <a:pPr marL="0" indent="0">
              <a:lnSpc>
                <a:spcPts val="1800"/>
              </a:lnSpc>
              <a:buNone/>
            </a:pPr>
            <a:r>
              <a:rPr lang="en-US" sz="1200" dirty="0">
                <a:solidFill>
                  <a:srgbClr val="1F2937"/>
                </a:solidFill>
                <a:latin typeface="ui-monospace" pitchFamily="34" charset="0"/>
                <a:ea typeface="ui-monospace" pitchFamily="34" charset="-122"/>
                <a:cs typeface="ui-monospace" pitchFamily="34" charset="-120"/>
              </a:rPr>
              <a:t>COPY . .</a:t>
            </a:r>
            <a:endParaRPr lang="en-US" sz="1200" dirty="0"/>
          </a:p>
          <a:p>
            <a:pPr marL="0" indent="0">
              <a:lnSpc>
                <a:spcPts val="1800"/>
              </a:lnSpc>
              <a:buNone/>
            </a:pPr>
            <a:r>
              <a:rPr lang="en-US" sz="1200" dirty="0">
                <a:solidFill>
                  <a:srgbClr val="1F2937"/>
                </a:solidFill>
                <a:latin typeface="ui-monospace" pitchFamily="34" charset="0"/>
                <a:ea typeface="ui-monospace" pitchFamily="34" charset="-122"/>
                <a:cs typeface="ui-monospace" pitchFamily="34" charset="-120"/>
              </a:rPr>
              <a:t>EXPOSE 3000</a:t>
            </a:r>
            <a:endParaRPr lang="en-US" sz="1200" dirty="0"/>
          </a:p>
          <a:p>
            <a:pPr marL="0" indent="0">
              <a:lnSpc>
                <a:spcPts val="1800"/>
              </a:lnSpc>
              <a:buNone/>
            </a:pPr>
            <a:r>
              <a:rPr lang="en-US" sz="1200" dirty="0">
                <a:solidFill>
                  <a:srgbClr val="1F2937"/>
                </a:solidFill>
                <a:latin typeface="ui-monospace" pitchFamily="34" charset="0"/>
                <a:ea typeface="ui-monospace" pitchFamily="34" charset="-122"/>
                <a:cs typeface="ui-monospace" pitchFamily="34" charset="-120"/>
              </a:rPr>
              <a:t>CMD ["npm", "start"]</a:t>
            </a:r>
            <a:endParaRPr lang="en-US" sz="1200" dirty="0"/>
          </a:p>
        </p:txBody>
      </p:sp>
      <p:sp>
        <p:nvSpPr>
          <p:cNvPr id="29" name="Text 13"/>
          <p:cNvSpPr/>
          <p:nvPr/>
        </p:nvSpPr>
        <p:spPr>
          <a:xfrm>
            <a:off x="8157076" y="4922044"/>
            <a:ext cx="1089958"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Build Image</a:t>
            </a:r>
            <a:endParaRPr lang="en-US" sz="1200" dirty="0"/>
          </a:p>
        </p:txBody>
      </p:sp>
      <p:sp>
        <p:nvSpPr>
          <p:cNvPr id="30" name="Text 14"/>
          <p:cNvSpPr/>
          <p:nvPr/>
        </p:nvSpPr>
        <p:spPr>
          <a:xfrm>
            <a:off x="9638214" y="4922044"/>
            <a:ext cx="1302484"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Run Container</a:t>
            </a:r>
            <a:endParaRPr lang="en-US" sz="1200" dirty="0"/>
          </a:p>
        </p:txBody>
      </p:sp>
      <p:sp>
        <p:nvSpPr>
          <p:cNvPr id="31" name="Text 15"/>
          <p:cNvSpPr/>
          <p:nvPr/>
        </p:nvSpPr>
        <p:spPr>
          <a:xfrm>
            <a:off x="876300" y="6477000"/>
            <a:ext cx="91886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Dockerfile</a:t>
            </a:r>
            <a:endParaRPr lang="en-US" sz="1200" dirty="0"/>
          </a:p>
        </p:txBody>
      </p:sp>
      <p:sp>
        <p:nvSpPr>
          <p:cNvPr id="32"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10/61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971550"/>
            <a:ext cx="5181600" cy="1181100"/>
          </a:xfrm>
          <a:prstGeom prst="rect">
            <a:avLst/>
          </a:prstGeom>
        </p:spPr>
      </p:pic>
      <p:pic>
        <p:nvPicPr>
          <p:cNvPr id="7" name="Image 5" descr="preencoded.png"/>
          <p:cNvPicPr>
            <a:picLocks noChangeAspect="1"/>
          </p:cNvPicPr>
          <p:nvPr/>
        </p:nvPicPr>
        <p:blipFill>
          <a:blip r:embed="rId7"/>
          <a:stretch>
            <a:fillRect/>
          </a:stretch>
        </p:blipFill>
        <p:spPr>
          <a:xfrm>
            <a:off x="609600" y="2838450"/>
            <a:ext cx="171450" cy="171450"/>
          </a:xfrm>
          <a:prstGeom prst="rect">
            <a:avLst/>
          </a:prstGeom>
        </p:spPr>
      </p:pic>
      <p:pic>
        <p:nvPicPr>
          <p:cNvPr id="8" name="Image 6" descr="preencoded.png"/>
          <p:cNvPicPr>
            <a:picLocks noChangeAspect="1"/>
          </p:cNvPicPr>
          <p:nvPr/>
        </p:nvPicPr>
        <p:blipFill>
          <a:blip r:embed="rId7"/>
          <a:stretch>
            <a:fillRect/>
          </a:stretch>
        </p:blipFill>
        <p:spPr>
          <a:xfrm>
            <a:off x="609600" y="3486150"/>
            <a:ext cx="171450" cy="171450"/>
          </a:xfrm>
          <a:prstGeom prst="rect">
            <a:avLst/>
          </a:prstGeom>
        </p:spPr>
      </p:pic>
      <p:pic>
        <p:nvPicPr>
          <p:cNvPr id="9" name="Image 7" descr="preencoded.png"/>
          <p:cNvPicPr>
            <a:picLocks noChangeAspect="1"/>
          </p:cNvPicPr>
          <p:nvPr/>
        </p:nvPicPr>
        <p:blipFill>
          <a:blip r:embed="rId7"/>
          <a:stretch>
            <a:fillRect/>
          </a:stretch>
        </p:blipFill>
        <p:spPr>
          <a:xfrm>
            <a:off x="609600" y="4133850"/>
            <a:ext cx="171450" cy="171450"/>
          </a:xfrm>
          <a:prstGeom prst="rect">
            <a:avLst/>
          </a:prstGeom>
        </p:spPr>
      </p:pic>
      <p:pic>
        <p:nvPicPr>
          <p:cNvPr id="10" name="Image 8" descr="preencoded.png"/>
          <p:cNvPicPr>
            <a:picLocks noChangeAspect="1"/>
          </p:cNvPicPr>
          <p:nvPr/>
        </p:nvPicPr>
        <p:blipFill>
          <a:blip r:embed="rId8"/>
          <a:stretch>
            <a:fillRect/>
          </a:stretch>
        </p:blipFill>
        <p:spPr>
          <a:xfrm>
            <a:off x="6096000" y="971550"/>
            <a:ext cx="5486400" cy="2057400"/>
          </a:xfrm>
          <a:prstGeom prst="rect">
            <a:avLst/>
          </a:prstGeom>
        </p:spPr>
      </p:pic>
      <p:pic>
        <p:nvPicPr>
          <p:cNvPr id="11" name="Image 9" descr="preencoded.png"/>
          <p:cNvPicPr>
            <a:picLocks noChangeAspect="1"/>
          </p:cNvPicPr>
          <p:nvPr/>
        </p:nvPicPr>
        <p:blipFill>
          <a:blip r:embed="rId9"/>
          <a:stretch>
            <a:fillRect/>
          </a:stretch>
        </p:blipFill>
        <p:spPr>
          <a:xfrm>
            <a:off x="6248400" y="1123950"/>
            <a:ext cx="285750" cy="304800"/>
          </a:xfrm>
          <a:prstGeom prst="rect">
            <a:avLst/>
          </a:prstGeom>
        </p:spPr>
      </p:pic>
      <p:pic>
        <p:nvPicPr>
          <p:cNvPr id="12" name="Image 10" descr="preencoded.png"/>
          <p:cNvPicPr>
            <a:picLocks noChangeAspect="1"/>
          </p:cNvPicPr>
          <p:nvPr/>
        </p:nvPicPr>
        <p:blipFill>
          <a:blip r:embed="rId10"/>
          <a:stretch>
            <a:fillRect/>
          </a:stretch>
        </p:blipFill>
        <p:spPr>
          <a:xfrm>
            <a:off x="6248400" y="1504950"/>
            <a:ext cx="5181600" cy="1371600"/>
          </a:xfrm>
          <a:prstGeom prst="rect">
            <a:avLst/>
          </a:prstGeom>
        </p:spPr>
      </p:pic>
      <p:pic>
        <p:nvPicPr>
          <p:cNvPr id="13" name="Image 11" descr="preencoded.png"/>
          <p:cNvPicPr>
            <a:picLocks noChangeAspect="1"/>
          </p:cNvPicPr>
          <p:nvPr/>
        </p:nvPicPr>
        <p:blipFill>
          <a:blip r:embed="rId11"/>
          <a:stretch>
            <a:fillRect/>
          </a:stretch>
        </p:blipFill>
        <p:spPr>
          <a:xfrm>
            <a:off x="7083326" y="3257550"/>
            <a:ext cx="257175" cy="381000"/>
          </a:xfrm>
          <a:prstGeom prst="rect">
            <a:avLst/>
          </a:prstGeom>
        </p:spPr>
      </p:pic>
      <p:pic>
        <p:nvPicPr>
          <p:cNvPr id="14" name="Image 12" descr="preencoded.png"/>
          <p:cNvPicPr>
            <a:picLocks noChangeAspect="1"/>
          </p:cNvPicPr>
          <p:nvPr/>
        </p:nvPicPr>
        <p:blipFill>
          <a:blip r:embed="rId12"/>
          <a:stretch>
            <a:fillRect/>
          </a:stretch>
        </p:blipFill>
        <p:spPr>
          <a:xfrm>
            <a:off x="8391227" y="3524250"/>
            <a:ext cx="133350" cy="152400"/>
          </a:xfrm>
          <a:prstGeom prst="rect">
            <a:avLst/>
          </a:prstGeom>
        </p:spPr>
      </p:pic>
      <p:pic>
        <p:nvPicPr>
          <p:cNvPr id="15" name="Image 13" descr="preencoded.png"/>
          <p:cNvPicPr>
            <a:picLocks noChangeAspect="1"/>
          </p:cNvPicPr>
          <p:nvPr/>
        </p:nvPicPr>
        <p:blipFill>
          <a:blip r:embed="rId13"/>
          <a:stretch>
            <a:fillRect/>
          </a:stretch>
        </p:blipFill>
        <p:spPr>
          <a:xfrm>
            <a:off x="9047113" y="3257550"/>
            <a:ext cx="428625" cy="381000"/>
          </a:xfrm>
          <a:prstGeom prst="rect">
            <a:avLst/>
          </a:prstGeom>
        </p:spPr>
      </p:pic>
      <p:pic>
        <p:nvPicPr>
          <p:cNvPr id="16" name="Image 14" descr="preencoded.png"/>
          <p:cNvPicPr>
            <a:picLocks noChangeAspect="1"/>
          </p:cNvPicPr>
          <p:nvPr/>
        </p:nvPicPr>
        <p:blipFill>
          <a:blip r:embed="rId12"/>
          <a:stretch>
            <a:fillRect/>
          </a:stretch>
        </p:blipFill>
        <p:spPr>
          <a:xfrm>
            <a:off x="9998422" y="3524250"/>
            <a:ext cx="133350" cy="152400"/>
          </a:xfrm>
          <a:prstGeom prst="rect">
            <a:avLst/>
          </a:prstGeom>
        </p:spPr>
      </p:pic>
      <p:pic>
        <p:nvPicPr>
          <p:cNvPr id="17" name="Image 15" descr="preencoded.png"/>
          <p:cNvPicPr>
            <a:picLocks noChangeAspect="1"/>
          </p:cNvPicPr>
          <p:nvPr/>
        </p:nvPicPr>
        <p:blipFill>
          <a:blip r:embed="rId14"/>
          <a:stretch>
            <a:fillRect/>
          </a:stretch>
        </p:blipFill>
        <p:spPr>
          <a:xfrm>
            <a:off x="10717262" y="3257550"/>
            <a:ext cx="342900" cy="381000"/>
          </a:xfrm>
          <a:prstGeom prst="rect">
            <a:avLst/>
          </a:prstGeom>
        </p:spPr>
      </p:pic>
      <p:pic>
        <p:nvPicPr>
          <p:cNvPr id="18" name="Image 16" descr="preencoded.png"/>
          <p:cNvPicPr>
            <a:picLocks noChangeAspect="1"/>
          </p:cNvPicPr>
          <p:nvPr/>
        </p:nvPicPr>
        <p:blipFill>
          <a:blip r:embed="rId15"/>
          <a:stretch>
            <a:fillRect/>
          </a:stretch>
        </p:blipFill>
        <p:spPr>
          <a:xfrm>
            <a:off x="609600" y="6515100"/>
            <a:ext cx="114300" cy="152400"/>
          </a:xfrm>
          <a:prstGeom prst="rect">
            <a:avLst/>
          </a:prstGeom>
        </p:spPr>
      </p:pic>
      <p:sp>
        <p:nvSpPr>
          <p:cNvPr id="19"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5</a:t>
            </a:r>
            <a:endParaRPr lang="en-US" sz="1200" dirty="0"/>
          </a:p>
        </p:txBody>
      </p:sp>
      <p:sp>
        <p:nvSpPr>
          <p:cNvPr id="20" name="Text 1"/>
          <p:cNvSpPr/>
          <p:nvPr/>
        </p:nvSpPr>
        <p:spPr>
          <a:xfrm>
            <a:off x="1143000" y="304800"/>
            <a:ext cx="415409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Purpose of Dockerfile</a:t>
            </a:r>
            <a:endParaRPr lang="en-US" sz="2250" dirty="0"/>
          </a:p>
        </p:txBody>
      </p:sp>
      <p:sp>
        <p:nvSpPr>
          <p:cNvPr id="21" name="Text 2"/>
          <p:cNvSpPr/>
          <p:nvPr/>
        </p:nvSpPr>
        <p:spPr>
          <a:xfrm>
            <a:off x="762000" y="1123950"/>
            <a:ext cx="207597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Correct Answer:</a:t>
            </a:r>
            <a:endParaRPr lang="en-US" sz="1500" dirty="0"/>
          </a:p>
        </p:txBody>
      </p:sp>
      <p:sp>
        <p:nvSpPr>
          <p:cNvPr id="22" name="Text 3"/>
          <p:cNvSpPr/>
          <p:nvPr/>
        </p:nvSpPr>
        <p:spPr>
          <a:xfrm>
            <a:off x="2606278" y="1123950"/>
            <a:ext cx="167878"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C</a:t>
            </a:r>
            <a:endParaRPr lang="en-US" sz="1500" dirty="0"/>
          </a:p>
        </p:txBody>
      </p:sp>
      <p:sp>
        <p:nvSpPr>
          <p:cNvPr id="23" name="Text 4"/>
          <p:cNvSpPr/>
          <p:nvPr/>
        </p:nvSpPr>
        <p:spPr>
          <a:xfrm>
            <a:off x="762000" y="1466850"/>
            <a:ext cx="48768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provide a set of instructions for building a Docker image.</a:t>
            </a:r>
            <a:endParaRPr lang="en-US" sz="1350" dirty="0"/>
          </a:p>
        </p:txBody>
      </p:sp>
      <p:sp>
        <p:nvSpPr>
          <p:cNvPr id="24" name="Text 5"/>
          <p:cNvSpPr/>
          <p:nvPr/>
        </p:nvSpPr>
        <p:spPr>
          <a:xfrm>
            <a:off x="609600" y="2381250"/>
            <a:ext cx="51816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5" name="Text 6"/>
          <p:cNvSpPr/>
          <p:nvPr/>
        </p:nvSpPr>
        <p:spPr>
          <a:xfrm>
            <a:off x="895350" y="2800350"/>
            <a:ext cx="48958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A Dockerfile is a text file containing instructions for Docker to build an image.</a:t>
            </a:r>
            <a:endParaRPr lang="en-US" sz="1350" dirty="0"/>
          </a:p>
        </p:txBody>
      </p:sp>
      <p:sp>
        <p:nvSpPr>
          <p:cNvPr id="26" name="Text 7"/>
          <p:cNvSpPr/>
          <p:nvPr/>
        </p:nvSpPr>
        <p:spPr>
          <a:xfrm>
            <a:off x="895350" y="3448050"/>
            <a:ext cx="48958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It specifies the base image, adds files, and installs dependencies.</a:t>
            </a:r>
            <a:endParaRPr lang="en-US" sz="1350" dirty="0"/>
          </a:p>
        </p:txBody>
      </p:sp>
      <p:sp>
        <p:nvSpPr>
          <p:cNvPr id="27" name="Text 8"/>
          <p:cNvSpPr/>
          <p:nvPr/>
        </p:nvSpPr>
        <p:spPr>
          <a:xfrm>
            <a:off x="895350" y="4095750"/>
            <a:ext cx="48958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It configures the environment for the application within the image.</a:t>
            </a:r>
            <a:endParaRPr lang="en-US" sz="1350" dirty="0"/>
          </a:p>
        </p:txBody>
      </p:sp>
      <p:sp>
        <p:nvSpPr>
          <p:cNvPr id="28" name="Text 9"/>
          <p:cNvSpPr/>
          <p:nvPr/>
        </p:nvSpPr>
        <p:spPr>
          <a:xfrm>
            <a:off x="6610350" y="1143000"/>
            <a:ext cx="2562999"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Dockerfile Example:</a:t>
            </a:r>
            <a:endParaRPr lang="en-US" sz="1500" dirty="0"/>
          </a:p>
        </p:txBody>
      </p:sp>
      <p:sp>
        <p:nvSpPr>
          <p:cNvPr id="29" name="Text 10"/>
          <p:cNvSpPr/>
          <p:nvPr/>
        </p:nvSpPr>
        <p:spPr>
          <a:xfrm>
            <a:off x="6362700" y="1619250"/>
            <a:ext cx="4953000" cy="190500"/>
          </a:xfrm>
          <a:prstGeom prst="rect">
            <a:avLst/>
          </a:prstGeom>
          <a:noFill/>
          <a:ln/>
        </p:spPr>
        <p:txBody>
          <a:bodyPr vert="horz" wrap="square" lIns="0" tIns="0" rIns="0" bIns="0" rtlCol="0" anchor="t"/>
          <a:lstStyle/>
          <a:p>
            <a:pPr marL="0" indent="0">
              <a:lnSpc>
                <a:spcPts val="1500"/>
              </a:lnSpc>
              <a:buNone/>
            </a:pPr>
            <a:r>
              <a:rPr lang="en-US" sz="1050" dirty="0">
                <a:solidFill>
                  <a:srgbClr val="93C5FD"/>
                </a:solidFill>
                <a:latin typeface="ui-monospace" pitchFamily="34" charset="0"/>
                <a:ea typeface="ui-monospace" pitchFamily="34" charset="-122"/>
                <a:cs typeface="ui-monospace" pitchFamily="34" charset="-120"/>
              </a:rPr>
              <a:t>FROM ubuntu:20.04</a:t>
            </a:r>
            <a:endParaRPr lang="en-US" sz="1050" dirty="0"/>
          </a:p>
        </p:txBody>
      </p:sp>
      <p:sp>
        <p:nvSpPr>
          <p:cNvPr id="30" name="Text 11"/>
          <p:cNvSpPr/>
          <p:nvPr/>
        </p:nvSpPr>
        <p:spPr>
          <a:xfrm>
            <a:off x="6362700" y="1809750"/>
            <a:ext cx="4953000" cy="190500"/>
          </a:xfrm>
          <a:prstGeom prst="rect">
            <a:avLst/>
          </a:prstGeom>
          <a:noFill/>
          <a:ln/>
        </p:spPr>
        <p:txBody>
          <a:bodyPr vert="horz" wrap="square" lIns="0" tIns="0" rIns="0" bIns="0" rtlCol="0" anchor="t"/>
          <a:lstStyle/>
          <a:p>
            <a:pPr marL="0" indent="0">
              <a:lnSpc>
                <a:spcPts val="1500"/>
              </a:lnSpc>
              <a:buNone/>
            </a:pPr>
            <a:r>
              <a:rPr lang="en-US" sz="1050" dirty="0">
                <a:solidFill>
                  <a:srgbClr val="93C5FD"/>
                </a:solidFill>
                <a:latin typeface="ui-monospace" pitchFamily="34" charset="0"/>
                <a:ea typeface="ui-monospace" pitchFamily="34" charset="-122"/>
                <a:cs typeface="ui-monospace" pitchFamily="34" charset="-120"/>
              </a:rPr>
              <a:t>ADD . /app</a:t>
            </a:r>
            <a:endParaRPr lang="en-US" sz="1050" dirty="0"/>
          </a:p>
        </p:txBody>
      </p:sp>
      <p:sp>
        <p:nvSpPr>
          <p:cNvPr id="31" name="Text 12"/>
          <p:cNvSpPr/>
          <p:nvPr/>
        </p:nvSpPr>
        <p:spPr>
          <a:xfrm>
            <a:off x="6362700" y="2000250"/>
            <a:ext cx="4953000" cy="190500"/>
          </a:xfrm>
          <a:prstGeom prst="rect">
            <a:avLst/>
          </a:prstGeom>
          <a:noFill/>
          <a:ln/>
        </p:spPr>
        <p:txBody>
          <a:bodyPr vert="horz" wrap="square" lIns="0" tIns="0" rIns="0" bIns="0" rtlCol="0" anchor="t"/>
          <a:lstStyle/>
          <a:p>
            <a:pPr marL="0" indent="0">
              <a:lnSpc>
                <a:spcPts val="1500"/>
              </a:lnSpc>
              <a:buNone/>
            </a:pPr>
            <a:r>
              <a:rPr lang="en-US" sz="1050" dirty="0">
                <a:solidFill>
                  <a:srgbClr val="93C5FD"/>
                </a:solidFill>
                <a:latin typeface="ui-monospace" pitchFamily="34" charset="0"/>
                <a:ea typeface="ui-monospace" pitchFamily="34" charset="-122"/>
                <a:cs typeface="ui-monospace" pitchFamily="34" charset="-120"/>
              </a:rPr>
              <a:t>WORKDIR /app</a:t>
            </a:r>
            <a:endParaRPr lang="en-US" sz="1050" dirty="0"/>
          </a:p>
        </p:txBody>
      </p:sp>
      <p:sp>
        <p:nvSpPr>
          <p:cNvPr id="32" name="Text 13"/>
          <p:cNvSpPr/>
          <p:nvPr/>
        </p:nvSpPr>
        <p:spPr>
          <a:xfrm>
            <a:off x="6362700" y="2190750"/>
            <a:ext cx="5943600" cy="190500"/>
          </a:xfrm>
          <a:prstGeom prst="rect">
            <a:avLst/>
          </a:prstGeom>
          <a:noFill/>
          <a:ln/>
        </p:spPr>
        <p:txBody>
          <a:bodyPr vert="horz" wrap="square" lIns="0" tIns="0" rIns="0" bIns="0" rtlCol="0" anchor="t"/>
          <a:lstStyle/>
          <a:p>
            <a:pPr marL="0" indent="0">
              <a:lnSpc>
                <a:spcPts val="1500"/>
              </a:lnSpc>
              <a:buNone/>
            </a:pPr>
            <a:r>
              <a:rPr lang="en-US" sz="1050" dirty="0">
                <a:solidFill>
                  <a:srgbClr val="93C5FD"/>
                </a:solidFill>
                <a:latin typeface="ui-monospace" pitchFamily="34" charset="0"/>
                <a:ea typeface="ui-monospace" pitchFamily="34" charset="-122"/>
                <a:cs typeface="ui-monospace" pitchFamily="34" charset="-120"/>
              </a:rPr>
              <a:t>RUN pip install -r requirements.txt</a:t>
            </a:r>
            <a:endParaRPr lang="en-US" sz="1050" dirty="0"/>
          </a:p>
        </p:txBody>
      </p:sp>
      <p:sp>
        <p:nvSpPr>
          <p:cNvPr id="33" name="Text 14"/>
          <p:cNvSpPr/>
          <p:nvPr/>
        </p:nvSpPr>
        <p:spPr>
          <a:xfrm>
            <a:off x="6362700" y="2381250"/>
            <a:ext cx="4953000" cy="190500"/>
          </a:xfrm>
          <a:prstGeom prst="rect">
            <a:avLst/>
          </a:prstGeom>
          <a:noFill/>
          <a:ln/>
        </p:spPr>
        <p:txBody>
          <a:bodyPr vert="horz" wrap="square" lIns="0" tIns="0" rIns="0" bIns="0" rtlCol="0" anchor="t"/>
          <a:lstStyle/>
          <a:p>
            <a:pPr marL="0" indent="0">
              <a:lnSpc>
                <a:spcPts val="1500"/>
              </a:lnSpc>
              <a:buNone/>
            </a:pPr>
            <a:r>
              <a:rPr lang="en-US" sz="1050" dirty="0">
                <a:solidFill>
                  <a:srgbClr val="93C5FD"/>
                </a:solidFill>
                <a:latin typeface="ui-monospace" pitchFamily="34" charset="0"/>
                <a:ea typeface="ui-monospace" pitchFamily="34" charset="-122"/>
                <a:cs typeface="ui-monospace" pitchFamily="34" charset="-120"/>
              </a:rPr>
              <a:t>EXPOSE 5000</a:t>
            </a:r>
            <a:endParaRPr lang="en-US" sz="1050" dirty="0"/>
          </a:p>
        </p:txBody>
      </p:sp>
      <p:sp>
        <p:nvSpPr>
          <p:cNvPr id="34" name="Text 15"/>
          <p:cNvSpPr/>
          <p:nvPr/>
        </p:nvSpPr>
        <p:spPr>
          <a:xfrm>
            <a:off x="6362700" y="2571750"/>
            <a:ext cx="4953000" cy="190500"/>
          </a:xfrm>
          <a:prstGeom prst="rect">
            <a:avLst/>
          </a:prstGeom>
          <a:noFill/>
          <a:ln/>
        </p:spPr>
        <p:txBody>
          <a:bodyPr vert="horz" wrap="square" lIns="0" tIns="0" rIns="0" bIns="0" rtlCol="0" anchor="t"/>
          <a:lstStyle/>
          <a:p>
            <a:pPr marL="0" indent="0">
              <a:lnSpc>
                <a:spcPts val="1500"/>
              </a:lnSpc>
              <a:buNone/>
            </a:pPr>
            <a:r>
              <a:rPr lang="en-US" sz="1050" dirty="0">
                <a:solidFill>
                  <a:srgbClr val="93C5FD"/>
                </a:solidFill>
                <a:latin typeface="ui-monospace" pitchFamily="34" charset="0"/>
                <a:ea typeface="ui-monospace" pitchFamily="34" charset="-122"/>
                <a:cs typeface="ui-monospace" pitchFamily="34" charset="-120"/>
              </a:rPr>
              <a:t>CMD python app.py</a:t>
            </a:r>
            <a:endParaRPr lang="en-US" sz="1050" dirty="0"/>
          </a:p>
        </p:txBody>
      </p:sp>
      <p:sp>
        <p:nvSpPr>
          <p:cNvPr id="35" name="Text 16"/>
          <p:cNvSpPr/>
          <p:nvPr/>
        </p:nvSpPr>
        <p:spPr>
          <a:xfrm>
            <a:off x="6071056" y="3714750"/>
            <a:ext cx="2281714"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Text file with instructions</a:t>
            </a:r>
            <a:endParaRPr lang="en-US" sz="1200" dirty="0"/>
          </a:p>
        </p:txBody>
      </p:sp>
      <p:sp>
        <p:nvSpPr>
          <p:cNvPr id="36" name="Text 17"/>
          <p:cNvSpPr/>
          <p:nvPr/>
        </p:nvSpPr>
        <p:spPr>
          <a:xfrm>
            <a:off x="8651513" y="3714750"/>
            <a:ext cx="1219974"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Build process</a:t>
            </a:r>
            <a:endParaRPr lang="en-US" sz="1200" dirty="0"/>
          </a:p>
        </p:txBody>
      </p:sp>
      <p:sp>
        <p:nvSpPr>
          <p:cNvPr id="37" name="Text 18"/>
          <p:cNvSpPr/>
          <p:nvPr/>
        </p:nvSpPr>
        <p:spPr>
          <a:xfrm>
            <a:off x="10254689" y="3714750"/>
            <a:ext cx="1268194"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Docker image</a:t>
            </a:r>
            <a:endParaRPr lang="en-US" sz="1200" dirty="0"/>
          </a:p>
        </p:txBody>
      </p:sp>
      <p:sp>
        <p:nvSpPr>
          <p:cNvPr id="38" name="Text 19"/>
          <p:cNvSpPr/>
          <p:nvPr/>
        </p:nvSpPr>
        <p:spPr>
          <a:xfrm>
            <a:off x="800100" y="6477000"/>
            <a:ext cx="91886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Dockerfile</a:t>
            </a:r>
            <a:endParaRPr lang="en-US" sz="1200" dirty="0"/>
          </a:p>
        </p:txBody>
      </p:sp>
      <p:sp>
        <p:nvSpPr>
          <p:cNvPr id="39" name="Text 20"/>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11/61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657350"/>
            <a:ext cx="6278761" cy="838200"/>
          </a:xfrm>
          <a:prstGeom prst="rect">
            <a:avLst/>
          </a:prstGeom>
        </p:spPr>
      </p:pic>
      <p:pic>
        <p:nvPicPr>
          <p:cNvPr id="7" name="Image 5" descr="preencoded.png"/>
          <p:cNvPicPr>
            <a:picLocks noChangeAspect="1"/>
          </p:cNvPicPr>
          <p:nvPr/>
        </p:nvPicPr>
        <p:blipFill>
          <a:blip r:embed="rId6"/>
          <a:stretch>
            <a:fillRect/>
          </a:stretch>
        </p:blipFill>
        <p:spPr>
          <a:xfrm>
            <a:off x="609600" y="2686050"/>
            <a:ext cx="6278761" cy="838200"/>
          </a:xfrm>
          <a:prstGeom prst="rect">
            <a:avLst/>
          </a:prstGeom>
        </p:spPr>
      </p:pic>
      <p:pic>
        <p:nvPicPr>
          <p:cNvPr id="8" name="Image 6" descr="preencoded.png"/>
          <p:cNvPicPr>
            <a:picLocks noChangeAspect="1"/>
          </p:cNvPicPr>
          <p:nvPr/>
        </p:nvPicPr>
        <p:blipFill>
          <a:blip r:embed="rId7"/>
          <a:stretch>
            <a:fillRect/>
          </a:stretch>
        </p:blipFill>
        <p:spPr>
          <a:xfrm>
            <a:off x="609600" y="3714750"/>
            <a:ext cx="6278761" cy="571500"/>
          </a:xfrm>
          <a:prstGeom prst="rect">
            <a:avLst/>
          </a:prstGeom>
        </p:spPr>
      </p:pic>
      <p:pic>
        <p:nvPicPr>
          <p:cNvPr id="9" name="Image 7" descr="preencoded.png"/>
          <p:cNvPicPr>
            <a:picLocks noChangeAspect="1"/>
          </p:cNvPicPr>
          <p:nvPr/>
        </p:nvPicPr>
        <p:blipFill>
          <a:blip r:embed="rId7"/>
          <a:stretch>
            <a:fillRect/>
          </a:stretch>
        </p:blipFill>
        <p:spPr>
          <a:xfrm>
            <a:off x="609600" y="4476750"/>
            <a:ext cx="6278761" cy="571500"/>
          </a:xfrm>
          <a:prstGeom prst="rect">
            <a:avLst/>
          </a:prstGeom>
        </p:spPr>
      </p:pic>
      <p:pic>
        <p:nvPicPr>
          <p:cNvPr id="10" name="Image 8" descr="preencoded.png"/>
          <p:cNvPicPr>
            <a:picLocks noChangeAspect="1"/>
          </p:cNvPicPr>
          <p:nvPr/>
        </p:nvPicPr>
        <p:blipFill>
          <a:blip r:embed="rId8"/>
          <a:stretch>
            <a:fillRect/>
          </a:stretch>
        </p:blipFill>
        <p:spPr>
          <a:xfrm>
            <a:off x="8625632" y="1485900"/>
            <a:ext cx="1524000" cy="1219200"/>
          </a:xfrm>
          <a:prstGeom prst="rect">
            <a:avLst/>
          </a:prstGeom>
        </p:spPr>
      </p:pic>
      <p:pic>
        <p:nvPicPr>
          <p:cNvPr id="11" name="Image 9" descr="preencoded.png"/>
          <p:cNvPicPr>
            <a:picLocks noChangeAspect="1"/>
          </p:cNvPicPr>
          <p:nvPr/>
        </p:nvPicPr>
        <p:blipFill>
          <a:blip r:embed="rId9"/>
          <a:stretch>
            <a:fillRect/>
          </a:stretch>
        </p:blipFill>
        <p:spPr>
          <a:xfrm>
            <a:off x="7193161" y="3009900"/>
            <a:ext cx="4389090" cy="1600200"/>
          </a:xfrm>
          <a:prstGeom prst="rect">
            <a:avLst/>
          </a:prstGeom>
        </p:spPr>
      </p:pic>
      <p:pic>
        <p:nvPicPr>
          <p:cNvPr id="12" name="Image 10" descr="preencoded.png"/>
          <p:cNvPicPr>
            <a:picLocks noChangeAspect="1"/>
          </p:cNvPicPr>
          <p:nvPr/>
        </p:nvPicPr>
        <p:blipFill>
          <a:blip r:embed="rId10"/>
          <a:stretch>
            <a:fillRect/>
          </a:stretch>
        </p:blipFill>
        <p:spPr>
          <a:xfrm>
            <a:off x="7383661" y="3619500"/>
            <a:ext cx="152400" cy="152400"/>
          </a:xfrm>
          <a:prstGeom prst="rect">
            <a:avLst/>
          </a:prstGeom>
        </p:spPr>
      </p:pic>
      <p:pic>
        <p:nvPicPr>
          <p:cNvPr id="13" name="Image 11" descr="preencoded.png"/>
          <p:cNvPicPr>
            <a:picLocks noChangeAspect="1"/>
          </p:cNvPicPr>
          <p:nvPr/>
        </p:nvPicPr>
        <p:blipFill>
          <a:blip r:embed="rId10"/>
          <a:stretch>
            <a:fillRect/>
          </a:stretch>
        </p:blipFill>
        <p:spPr>
          <a:xfrm>
            <a:off x="7383661" y="3924300"/>
            <a:ext cx="152400" cy="152400"/>
          </a:xfrm>
          <a:prstGeom prst="rect">
            <a:avLst/>
          </a:prstGeom>
        </p:spPr>
      </p:pic>
      <p:pic>
        <p:nvPicPr>
          <p:cNvPr id="14" name="Image 12" descr="preencoded.png"/>
          <p:cNvPicPr>
            <a:picLocks noChangeAspect="1"/>
          </p:cNvPicPr>
          <p:nvPr/>
        </p:nvPicPr>
        <p:blipFill>
          <a:blip r:embed="rId10"/>
          <a:stretch>
            <a:fillRect/>
          </a:stretch>
        </p:blipFill>
        <p:spPr>
          <a:xfrm>
            <a:off x="7383661" y="4229100"/>
            <a:ext cx="152400" cy="152400"/>
          </a:xfrm>
          <a:prstGeom prst="rect">
            <a:avLst/>
          </a:prstGeom>
        </p:spPr>
      </p:pic>
      <p:pic>
        <p:nvPicPr>
          <p:cNvPr id="15" name="Image 13" descr="preencoded.png"/>
          <p:cNvPicPr>
            <a:picLocks noChangeAspect="1"/>
          </p:cNvPicPr>
          <p:nvPr/>
        </p:nvPicPr>
        <p:blipFill>
          <a:blip r:embed="rId11"/>
          <a:stretch>
            <a:fillRect/>
          </a:stretch>
        </p:blipFill>
        <p:spPr>
          <a:xfrm>
            <a:off x="609600" y="6515100"/>
            <a:ext cx="114300" cy="152400"/>
          </a:xfrm>
          <a:prstGeom prst="rect">
            <a:avLst/>
          </a:prstGeom>
        </p:spPr>
      </p:pic>
      <p:sp>
        <p:nvSpPr>
          <p:cNvPr id="16"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6</a:t>
            </a:r>
            <a:endParaRPr lang="en-US" sz="1200" dirty="0"/>
          </a:p>
        </p:txBody>
      </p:sp>
      <p:sp>
        <p:nvSpPr>
          <p:cNvPr id="17" name="Text 1"/>
          <p:cNvSpPr/>
          <p:nvPr/>
        </p:nvSpPr>
        <p:spPr>
          <a:xfrm>
            <a:off x="1143000" y="304800"/>
            <a:ext cx="402907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Hub Function</a:t>
            </a:r>
            <a:endParaRPr lang="en-US" sz="2250" dirty="0"/>
          </a:p>
        </p:txBody>
      </p:sp>
      <p:sp>
        <p:nvSpPr>
          <p:cNvPr id="18" name="Text 2"/>
          <p:cNvSpPr/>
          <p:nvPr/>
        </p:nvSpPr>
        <p:spPr>
          <a:xfrm>
            <a:off x="609600" y="1047750"/>
            <a:ext cx="7534513"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main function of Docker Hub?</a:t>
            </a:r>
            <a:endParaRPr lang="en-US" sz="1800" dirty="0"/>
          </a:p>
        </p:txBody>
      </p:sp>
      <p:sp>
        <p:nvSpPr>
          <p:cNvPr id="19" name="Text 3"/>
          <p:cNvSpPr/>
          <p:nvPr/>
        </p:nvSpPr>
        <p:spPr>
          <a:xfrm>
            <a:off x="762000" y="18097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0" name="Text 4"/>
          <p:cNvSpPr/>
          <p:nvPr/>
        </p:nvSpPr>
        <p:spPr>
          <a:xfrm>
            <a:off x="1099691" y="1809750"/>
            <a:ext cx="563627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provide a local development environment for Docker applications.</a:t>
            </a:r>
            <a:endParaRPr lang="en-US" sz="1350" dirty="0"/>
          </a:p>
        </p:txBody>
      </p:sp>
      <p:sp>
        <p:nvSpPr>
          <p:cNvPr id="21" name="Text 5"/>
          <p:cNvSpPr/>
          <p:nvPr/>
        </p:nvSpPr>
        <p:spPr>
          <a:xfrm>
            <a:off x="762000" y="28384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2" name="Text 6"/>
          <p:cNvSpPr/>
          <p:nvPr/>
        </p:nvSpPr>
        <p:spPr>
          <a:xfrm>
            <a:off x="1093887" y="2838450"/>
            <a:ext cx="5642074"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serve as a public cloud-based registry for storing and distributing Docker images.</a:t>
            </a:r>
            <a:endParaRPr lang="en-US" sz="1350" dirty="0"/>
          </a:p>
        </p:txBody>
      </p:sp>
      <p:sp>
        <p:nvSpPr>
          <p:cNvPr id="23" name="Text 7"/>
          <p:cNvSpPr/>
          <p:nvPr/>
        </p:nvSpPr>
        <p:spPr>
          <a:xfrm>
            <a:off x="762000" y="38671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4" name="Text 8"/>
          <p:cNvSpPr/>
          <p:nvPr/>
        </p:nvSpPr>
        <p:spPr>
          <a:xfrm>
            <a:off x="1088529" y="3867150"/>
            <a:ext cx="5956459"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orchestrate and manage clusters of Docker containers.</a:t>
            </a:r>
            <a:endParaRPr lang="en-US" sz="1350" dirty="0"/>
          </a:p>
        </p:txBody>
      </p:sp>
      <p:sp>
        <p:nvSpPr>
          <p:cNvPr id="25" name="Text 9"/>
          <p:cNvSpPr/>
          <p:nvPr/>
        </p:nvSpPr>
        <p:spPr>
          <a:xfrm>
            <a:off x="762000" y="46291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6" name="Text 10"/>
          <p:cNvSpPr/>
          <p:nvPr/>
        </p:nvSpPr>
        <p:spPr>
          <a:xfrm>
            <a:off x="1106835" y="4629150"/>
            <a:ext cx="5174575"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scan Docker images for security vulnerabilities.</a:t>
            </a:r>
            <a:endParaRPr lang="en-US" sz="1350" dirty="0"/>
          </a:p>
        </p:txBody>
      </p:sp>
      <p:sp>
        <p:nvSpPr>
          <p:cNvPr id="27" name="Text 11"/>
          <p:cNvSpPr/>
          <p:nvPr/>
        </p:nvSpPr>
        <p:spPr>
          <a:xfrm>
            <a:off x="7383661" y="3200400"/>
            <a:ext cx="400809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Docker Hub</a:t>
            </a:r>
            <a:endParaRPr lang="en-US" sz="1500" dirty="0"/>
          </a:p>
        </p:txBody>
      </p:sp>
      <p:sp>
        <p:nvSpPr>
          <p:cNvPr id="28" name="Text 12"/>
          <p:cNvSpPr/>
          <p:nvPr/>
        </p:nvSpPr>
        <p:spPr>
          <a:xfrm>
            <a:off x="7612261" y="3581400"/>
            <a:ext cx="261282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Cloud-based registry service</a:t>
            </a:r>
            <a:endParaRPr lang="en-US" sz="1200" dirty="0"/>
          </a:p>
        </p:txBody>
      </p:sp>
      <p:sp>
        <p:nvSpPr>
          <p:cNvPr id="29" name="Text 13"/>
          <p:cNvSpPr/>
          <p:nvPr/>
        </p:nvSpPr>
        <p:spPr>
          <a:xfrm>
            <a:off x="7612261" y="3886200"/>
            <a:ext cx="287214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Store and share Docker images</a:t>
            </a:r>
            <a:endParaRPr lang="en-US" sz="1200" dirty="0"/>
          </a:p>
        </p:txBody>
      </p:sp>
      <p:sp>
        <p:nvSpPr>
          <p:cNvPr id="30" name="Text 14"/>
          <p:cNvSpPr/>
          <p:nvPr/>
        </p:nvSpPr>
        <p:spPr>
          <a:xfrm>
            <a:off x="7612261" y="4191000"/>
            <a:ext cx="278141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Public and private repositories</a:t>
            </a:r>
            <a:endParaRPr lang="en-US" sz="1200" dirty="0"/>
          </a:p>
        </p:txBody>
      </p:sp>
      <p:sp>
        <p:nvSpPr>
          <p:cNvPr id="31" name="Text 15"/>
          <p:cNvSpPr/>
          <p:nvPr/>
        </p:nvSpPr>
        <p:spPr>
          <a:xfrm>
            <a:off x="800100" y="6477000"/>
            <a:ext cx="1067991"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Hub</a:t>
            </a:r>
            <a:endParaRPr lang="en-US" sz="1200" dirty="0"/>
          </a:p>
        </p:txBody>
      </p:sp>
      <p:sp>
        <p:nvSpPr>
          <p:cNvPr id="32"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12/61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428750"/>
            <a:ext cx="7924800" cy="685800"/>
          </a:xfrm>
          <a:prstGeom prst="rect">
            <a:avLst/>
          </a:prstGeom>
        </p:spPr>
      </p:pic>
      <p:pic>
        <p:nvPicPr>
          <p:cNvPr id="7" name="Image 5" descr="preencoded.png"/>
          <p:cNvPicPr>
            <a:picLocks noChangeAspect="1"/>
          </p:cNvPicPr>
          <p:nvPr/>
        </p:nvPicPr>
        <p:blipFill>
          <a:blip r:embed="rId7"/>
          <a:stretch>
            <a:fillRect/>
          </a:stretch>
        </p:blipFill>
        <p:spPr>
          <a:xfrm>
            <a:off x="609600" y="2800350"/>
            <a:ext cx="7924800" cy="2628900"/>
          </a:xfrm>
          <a:prstGeom prst="rect">
            <a:avLst/>
          </a:prstGeom>
        </p:spPr>
      </p:pic>
      <p:pic>
        <p:nvPicPr>
          <p:cNvPr id="8" name="Image 6" descr="preencoded.png"/>
          <p:cNvPicPr>
            <a:picLocks noChangeAspect="1"/>
          </p:cNvPicPr>
          <p:nvPr/>
        </p:nvPicPr>
        <p:blipFill>
          <a:blip r:embed="rId8"/>
          <a:stretch>
            <a:fillRect/>
          </a:stretch>
        </p:blipFill>
        <p:spPr>
          <a:xfrm>
            <a:off x="8839200" y="1047750"/>
            <a:ext cx="2743200" cy="2095500"/>
          </a:xfrm>
          <a:prstGeom prst="rect">
            <a:avLst/>
          </a:prstGeom>
        </p:spPr>
      </p:pic>
      <p:pic>
        <p:nvPicPr>
          <p:cNvPr id="9" name="Image 7" descr="preencoded.png"/>
          <p:cNvPicPr>
            <a:picLocks noChangeAspect="1"/>
          </p:cNvPicPr>
          <p:nvPr/>
        </p:nvPicPr>
        <p:blipFill>
          <a:blip r:embed="rId9"/>
          <a:stretch>
            <a:fillRect/>
          </a:stretch>
        </p:blipFill>
        <p:spPr>
          <a:xfrm>
            <a:off x="9782175" y="1276350"/>
            <a:ext cx="857250" cy="685800"/>
          </a:xfrm>
          <a:prstGeom prst="rect">
            <a:avLst/>
          </a:prstGeom>
        </p:spPr>
      </p:pic>
      <p:pic>
        <p:nvPicPr>
          <p:cNvPr id="10" name="Image 8" descr="preencoded.png"/>
          <p:cNvPicPr>
            <a:picLocks noChangeAspect="1"/>
          </p:cNvPicPr>
          <p:nvPr/>
        </p:nvPicPr>
        <p:blipFill>
          <a:blip r:embed="rId10"/>
          <a:stretch>
            <a:fillRect/>
          </a:stretch>
        </p:blipFill>
        <p:spPr>
          <a:xfrm>
            <a:off x="8839200" y="3371850"/>
            <a:ext cx="2743200" cy="2324100"/>
          </a:xfrm>
          <a:prstGeom prst="rect">
            <a:avLst/>
          </a:prstGeom>
        </p:spPr>
      </p:pic>
      <p:pic>
        <p:nvPicPr>
          <p:cNvPr id="11" name="Image 9" descr="preencoded.png"/>
          <p:cNvPicPr>
            <a:picLocks noChangeAspect="1"/>
          </p:cNvPicPr>
          <p:nvPr/>
        </p:nvPicPr>
        <p:blipFill>
          <a:blip r:embed="rId11"/>
          <a:stretch>
            <a:fillRect/>
          </a:stretch>
        </p:blipFill>
        <p:spPr>
          <a:xfrm>
            <a:off x="9029700" y="3609975"/>
            <a:ext cx="133350" cy="171450"/>
          </a:xfrm>
          <a:prstGeom prst="rect">
            <a:avLst/>
          </a:prstGeom>
        </p:spPr>
      </p:pic>
      <p:pic>
        <p:nvPicPr>
          <p:cNvPr id="12" name="Image 10" descr="preencoded.png"/>
          <p:cNvPicPr>
            <a:picLocks noChangeAspect="1"/>
          </p:cNvPicPr>
          <p:nvPr/>
        </p:nvPicPr>
        <p:blipFill>
          <a:blip r:embed="rId12"/>
          <a:stretch>
            <a:fillRect/>
          </a:stretch>
        </p:blipFill>
        <p:spPr>
          <a:xfrm>
            <a:off x="609600" y="6515100"/>
            <a:ext cx="190500" cy="152400"/>
          </a:xfrm>
          <a:prstGeom prst="rect">
            <a:avLst/>
          </a:prstGeom>
        </p:spPr>
      </p:pic>
      <p:sp>
        <p:nvSpPr>
          <p:cNvPr id="13"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6</a:t>
            </a:r>
            <a:endParaRPr lang="en-US" sz="1200" dirty="0"/>
          </a:p>
        </p:txBody>
      </p:sp>
      <p:sp>
        <p:nvSpPr>
          <p:cNvPr id="14" name="Text 1"/>
          <p:cNvSpPr/>
          <p:nvPr/>
        </p:nvSpPr>
        <p:spPr>
          <a:xfrm>
            <a:off x="1143000" y="304800"/>
            <a:ext cx="402907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Hub Function</a:t>
            </a:r>
            <a:endParaRPr lang="en-US" sz="2250" dirty="0"/>
          </a:p>
        </p:txBody>
      </p:sp>
      <p:sp>
        <p:nvSpPr>
          <p:cNvPr id="15" name="Text 2"/>
          <p:cNvSpPr/>
          <p:nvPr/>
        </p:nvSpPr>
        <p:spPr>
          <a:xfrm>
            <a:off x="723900" y="1047750"/>
            <a:ext cx="2463165" cy="3048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highlight>
                  <a:srgbClr val="4CAF50"/>
                </a:highlight>
                <a:latin typeface="ui-sans-serif" pitchFamily="34" charset="0"/>
                <a:ea typeface="ui-sans-serif" pitchFamily="34" charset="-122"/>
                <a:cs typeface="ui-sans-serif" pitchFamily="34" charset="-120"/>
              </a:rPr>
              <a:t>CORRECT ANSWER: B</a:t>
            </a:r>
            <a:endParaRPr lang="en-US" sz="1200" dirty="0"/>
          </a:p>
        </p:txBody>
      </p:sp>
      <p:sp>
        <p:nvSpPr>
          <p:cNvPr id="16" name="Text 3"/>
          <p:cNvSpPr/>
          <p:nvPr/>
        </p:nvSpPr>
        <p:spPr>
          <a:xfrm>
            <a:off x="762000" y="1504950"/>
            <a:ext cx="77724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To serve as a public cloud-based registry for storing and distributing Docker images.</a:t>
            </a:r>
            <a:endParaRPr lang="en-US" sz="1500" dirty="0"/>
          </a:p>
        </p:txBody>
      </p:sp>
      <p:sp>
        <p:nvSpPr>
          <p:cNvPr id="17" name="Text 4"/>
          <p:cNvSpPr/>
          <p:nvPr/>
        </p:nvSpPr>
        <p:spPr>
          <a:xfrm>
            <a:off x="609600" y="2343150"/>
            <a:ext cx="7924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18" name="Text 5"/>
          <p:cNvSpPr/>
          <p:nvPr/>
        </p:nvSpPr>
        <p:spPr>
          <a:xfrm>
            <a:off x="800100" y="2990850"/>
            <a:ext cx="75438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Hub is a cloud-based registry provided by Docker that allows developers to store, share, and distribute Docker images. It acts as a central repository for both public and private images.</a:t>
            </a:r>
            <a:endParaRPr lang="en-US" sz="1350" dirty="0"/>
          </a:p>
        </p:txBody>
      </p:sp>
      <p:sp>
        <p:nvSpPr>
          <p:cNvPr id="19" name="Text 6"/>
          <p:cNvSpPr/>
          <p:nvPr/>
        </p:nvSpPr>
        <p:spPr>
          <a:xfrm>
            <a:off x="838200" y="3943350"/>
            <a:ext cx="900684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It's the largest public registry for Docker images</a:t>
            </a:r>
            <a:endParaRPr lang="en-US" sz="1350" dirty="0"/>
          </a:p>
        </p:txBody>
      </p:sp>
      <p:sp>
        <p:nvSpPr>
          <p:cNvPr id="20" name="Text 7"/>
          <p:cNvSpPr/>
          <p:nvPr/>
        </p:nvSpPr>
        <p:spPr>
          <a:xfrm>
            <a:off x="838200" y="4286250"/>
            <a:ext cx="900684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Supports both public and private repositories</a:t>
            </a:r>
            <a:endParaRPr lang="en-US" sz="1350" dirty="0"/>
          </a:p>
        </p:txBody>
      </p:sp>
      <p:sp>
        <p:nvSpPr>
          <p:cNvPr id="21" name="Text 8"/>
          <p:cNvSpPr/>
          <p:nvPr/>
        </p:nvSpPr>
        <p:spPr>
          <a:xfrm>
            <a:off x="838200" y="4629150"/>
            <a:ext cx="900684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Provides automated builds from GitHub/GitLab repositories</a:t>
            </a:r>
            <a:endParaRPr lang="en-US" sz="1350" dirty="0"/>
          </a:p>
        </p:txBody>
      </p:sp>
      <p:sp>
        <p:nvSpPr>
          <p:cNvPr id="22" name="Text 9"/>
          <p:cNvSpPr/>
          <p:nvPr/>
        </p:nvSpPr>
        <p:spPr>
          <a:xfrm>
            <a:off x="838200" y="4972050"/>
            <a:ext cx="900684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Offers image scanning for security vulnerabilities</a:t>
            </a:r>
            <a:endParaRPr lang="en-US" sz="1350" dirty="0"/>
          </a:p>
        </p:txBody>
      </p:sp>
      <p:sp>
        <p:nvSpPr>
          <p:cNvPr id="23" name="Text 10"/>
          <p:cNvSpPr/>
          <p:nvPr/>
        </p:nvSpPr>
        <p:spPr>
          <a:xfrm>
            <a:off x="9067800" y="2114550"/>
            <a:ext cx="22860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Docker Hub</a:t>
            </a:r>
            <a:endParaRPr lang="en-US" sz="1500" dirty="0"/>
          </a:p>
        </p:txBody>
      </p:sp>
      <p:sp>
        <p:nvSpPr>
          <p:cNvPr id="24" name="Text 11"/>
          <p:cNvSpPr/>
          <p:nvPr/>
        </p:nvSpPr>
        <p:spPr>
          <a:xfrm>
            <a:off x="9067800" y="2457450"/>
            <a:ext cx="22860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The world's largest software registry</a:t>
            </a:r>
            <a:endParaRPr lang="en-US" sz="1200" dirty="0"/>
          </a:p>
        </p:txBody>
      </p:sp>
      <p:sp>
        <p:nvSpPr>
          <p:cNvPr id="25" name="Text 12"/>
          <p:cNvSpPr/>
          <p:nvPr/>
        </p:nvSpPr>
        <p:spPr>
          <a:xfrm>
            <a:off x="9239250" y="3562350"/>
            <a:ext cx="283464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Did You Know?</a:t>
            </a:r>
            <a:endParaRPr lang="en-US" sz="1350" dirty="0"/>
          </a:p>
        </p:txBody>
      </p:sp>
      <p:sp>
        <p:nvSpPr>
          <p:cNvPr id="26" name="Text 13"/>
          <p:cNvSpPr/>
          <p:nvPr/>
        </p:nvSpPr>
        <p:spPr>
          <a:xfrm>
            <a:off x="9029700" y="3905250"/>
            <a:ext cx="2362200" cy="1600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Docker Hub was launched in 2010 and has become the central hub for container image distribution, playing a crucial role in the popularization of Docker containers.</a:t>
            </a:r>
            <a:endParaRPr lang="en-US" sz="1200" dirty="0"/>
          </a:p>
        </p:txBody>
      </p:sp>
      <p:sp>
        <p:nvSpPr>
          <p:cNvPr id="27" name="Text 14"/>
          <p:cNvSpPr/>
          <p:nvPr/>
        </p:nvSpPr>
        <p:spPr>
          <a:xfrm>
            <a:off x="876300" y="6477000"/>
            <a:ext cx="2228314"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ECR vs Docker Hub</a:t>
            </a:r>
            <a:endParaRPr lang="en-US" sz="1200" dirty="0"/>
          </a:p>
        </p:txBody>
      </p:sp>
      <p:sp>
        <p:nvSpPr>
          <p:cNvPr id="28" name="Text 15"/>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13/61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2266950"/>
            <a:ext cx="3848100" cy="571500"/>
          </a:xfrm>
          <a:prstGeom prst="rect">
            <a:avLst/>
          </a:prstGeom>
        </p:spPr>
      </p:pic>
      <p:pic>
        <p:nvPicPr>
          <p:cNvPr id="7" name="Image 5" descr="preencoded.png"/>
          <p:cNvPicPr>
            <a:picLocks noChangeAspect="1"/>
          </p:cNvPicPr>
          <p:nvPr/>
        </p:nvPicPr>
        <p:blipFill>
          <a:blip r:embed="rId6"/>
          <a:stretch>
            <a:fillRect/>
          </a:stretch>
        </p:blipFill>
        <p:spPr>
          <a:xfrm>
            <a:off x="4686300" y="2266950"/>
            <a:ext cx="3848100" cy="571500"/>
          </a:xfrm>
          <a:prstGeom prst="rect">
            <a:avLst/>
          </a:prstGeom>
        </p:spPr>
      </p:pic>
      <p:pic>
        <p:nvPicPr>
          <p:cNvPr id="8" name="Image 6" descr="preencoded.png"/>
          <p:cNvPicPr>
            <a:picLocks noChangeAspect="1"/>
          </p:cNvPicPr>
          <p:nvPr/>
        </p:nvPicPr>
        <p:blipFill>
          <a:blip r:embed="rId6"/>
          <a:stretch>
            <a:fillRect/>
          </a:stretch>
        </p:blipFill>
        <p:spPr>
          <a:xfrm>
            <a:off x="609600" y="3067050"/>
            <a:ext cx="3848100" cy="571500"/>
          </a:xfrm>
          <a:prstGeom prst="rect">
            <a:avLst/>
          </a:prstGeom>
        </p:spPr>
      </p:pic>
      <p:pic>
        <p:nvPicPr>
          <p:cNvPr id="9" name="Image 7" descr="preencoded.png"/>
          <p:cNvPicPr>
            <a:picLocks noChangeAspect="1"/>
          </p:cNvPicPr>
          <p:nvPr/>
        </p:nvPicPr>
        <p:blipFill>
          <a:blip r:embed="rId6"/>
          <a:stretch>
            <a:fillRect/>
          </a:stretch>
        </p:blipFill>
        <p:spPr>
          <a:xfrm>
            <a:off x="4686300" y="3067050"/>
            <a:ext cx="3848100" cy="571500"/>
          </a:xfrm>
          <a:prstGeom prst="rect">
            <a:avLst/>
          </a:prstGeom>
        </p:spPr>
      </p:pic>
      <p:pic>
        <p:nvPicPr>
          <p:cNvPr id="10" name="Image 8" descr="preencoded.png"/>
          <p:cNvPicPr>
            <a:picLocks noChangeAspect="1"/>
          </p:cNvPicPr>
          <p:nvPr/>
        </p:nvPicPr>
        <p:blipFill>
          <a:blip r:embed="rId7"/>
          <a:stretch>
            <a:fillRect/>
          </a:stretch>
        </p:blipFill>
        <p:spPr>
          <a:xfrm>
            <a:off x="9782175" y="2181225"/>
            <a:ext cx="857250" cy="685800"/>
          </a:xfrm>
          <a:prstGeom prst="rect">
            <a:avLst/>
          </a:prstGeom>
        </p:spPr>
      </p:pic>
      <p:pic>
        <p:nvPicPr>
          <p:cNvPr id="11" name="Image 9" descr="preencoded.png"/>
          <p:cNvPicPr>
            <a:picLocks noChangeAspect="1"/>
          </p:cNvPicPr>
          <p:nvPr/>
        </p:nvPicPr>
        <p:blipFill>
          <a:blip r:embed="rId8"/>
          <a:stretch>
            <a:fillRect/>
          </a:stretch>
        </p:blipFill>
        <p:spPr>
          <a:xfrm>
            <a:off x="8839200" y="3095625"/>
            <a:ext cx="2743200" cy="1943100"/>
          </a:xfrm>
          <a:prstGeom prst="rect">
            <a:avLst/>
          </a:prstGeom>
        </p:spPr>
      </p:pic>
      <p:pic>
        <p:nvPicPr>
          <p:cNvPr id="12" name="Image 10" descr="preencoded.png"/>
          <p:cNvPicPr>
            <a:picLocks noChangeAspect="1"/>
          </p:cNvPicPr>
          <p:nvPr/>
        </p:nvPicPr>
        <p:blipFill>
          <a:blip r:embed="rId9"/>
          <a:stretch>
            <a:fillRect/>
          </a:stretch>
        </p:blipFill>
        <p:spPr>
          <a:xfrm>
            <a:off x="8991600" y="3743325"/>
            <a:ext cx="152400" cy="152400"/>
          </a:xfrm>
          <a:prstGeom prst="rect">
            <a:avLst/>
          </a:prstGeom>
        </p:spPr>
      </p:pic>
      <p:pic>
        <p:nvPicPr>
          <p:cNvPr id="13" name="Image 11" descr="preencoded.png"/>
          <p:cNvPicPr>
            <a:picLocks noChangeAspect="1"/>
          </p:cNvPicPr>
          <p:nvPr/>
        </p:nvPicPr>
        <p:blipFill>
          <a:blip r:embed="rId9"/>
          <a:stretch>
            <a:fillRect/>
          </a:stretch>
        </p:blipFill>
        <p:spPr>
          <a:xfrm>
            <a:off x="8991600" y="4276725"/>
            <a:ext cx="152400" cy="152400"/>
          </a:xfrm>
          <a:prstGeom prst="rect">
            <a:avLst/>
          </a:prstGeom>
        </p:spPr>
      </p:pic>
      <p:pic>
        <p:nvPicPr>
          <p:cNvPr id="14" name="Image 12" descr="preencoded.png"/>
          <p:cNvPicPr>
            <a:picLocks noChangeAspect="1"/>
          </p:cNvPicPr>
          <p:nvPr/>
        </p:nvPicPr>
        <p:blipFill>
          <a:blip r:embed="rId9"/>
          <a:stretch>
            <a:fillRect/>
          </a:stretch>
        </p:blipFill>
        <p:spPr>
          <a:xfrm>
            <a:off x="8991600" y="4695825"/>
            <a:ext cx="152400" cy="152400"/>
          </a:xfrm>
          <a:prstGeom prst="rect">
            <a:avLst/>
          </a:prstGeom>
        </p:spPr>
      </p:pic>
      <p:pic>
        <p:nvPicPr>
          <p:cNvPr id="15" name="Image 13" descr="preencoded.png"/>
          <p:cNvPicPr>
            <a:picLocks noChangeAspect="1"/>
          </p:cNvPicPr>
          <p:nvPr/>
        </p:nvPicPr>
        <p:blipFill>
          <a:blip r:embed="rId10"/>
          <a:stretch>
            <a:fillRect/>
          </a:stretch>
        </p:blipFill>
        <p:spPr>
          <a:xfrm>
            <a:off x="609600" y="6515100"/>
            <a:ext cx="114300" cy="152400"/>
          </a:xfrm>
          <a:prstGeom prst="rect">
            <a:avLst/>
          </a:prstGeom>
        </p:spPr>
      </p:pic>
      <p:sp>
        <p:nvSpPr>
          <p:cNvPr id="16"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7</a:t>
            </a:r>
            <a:endParaRPr lang="en-US" sz="1200" dirty="0"/>
          </a:p>
        </p:txBody>
      </p:sp>
      <p:sp>
        <p:nvSpPr>
          <p:cNvPr id="17" name="Text 1"/>
          <p:cNvSpPr/>
          <p:nvPr/>
        </p:nvSpPr>
        <p:spPr>
          <a:xfrm>
            <a:off x="1143000" y="304800"/>
            <a:ext cx="461629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Network Drivers</a:t>
            </a:r>
            <a:endParaRPr lang="en-US" sz="2250" dirty="0"/>
          </a:p>
        </p:txBody>
      </p:sp>
      <p:sp>
        <p:nvSpPr>
          <p:cNvPr id="18" name="Text 2"/>
          <p:cNvSpPr/>
          <p:nvPr/>
        </p:nvSpPr>
        <p:spPr>
          <a:xfrm>
            <a:off x="609600" y="1047750"/>
            <a:ext cx="7924800" cy="9144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Docker network driver is the default for standalone containers and allows communication between containers on the same host?</a:t>
            </a:r>
            <a:endParaRPr lang="en-US" sz="1800" dirty="0"/>
          </a:p>
        </p:txBody>
      </p:sp>
      <p:sp>
        <p:nvSpPr>
          <p:cNvPr id="19" name="Text 3"/>
          <p:cNvSpPr/>
          <p:nvPr/>
        </p:nvSpPr>
        <p:spPr>
          <a:xfrm>
            <a:off x="762000" y="24193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0" name="Text 4"/>
          <p:cNvSpPr/>
          <p:nvPr/>
        </p:nvSpPr>
        <p:spPr>
          <a:xfrm>
            <a:off x="1099691" y="2419350"/>
            <a:ext cx="468451"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Host</a:t>
            </a:r>
            <a:endParaRPr lang="en-US" sz="1350" dirty="0"/>
          </a:p>
        </p:txBody>
      </p:sp>
      <p:sp>
        <p:nvSpPr>
          <p:cNvPr id="21" name="Text 5"/>
          <p:cNvSpPr/>
          <p:nvPr/>
        </p:nvSpPr>
        <p:spPr>
          <a:xfrm>
            <a:off x="4838700" y="24193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2" name="Text 6"/>
          <p:cNvSpPr/>
          <p:nvPr/>
        </p:nvSpPr>
        <p:spPr>
          <a:xfrm>
            <a:off x="5170587" y="2419350"/>
            <a:ext cx="799921"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Overlay</a:t>
            </a:r>
            <a:endParaRPr lang="en-US" sz="1350" dirty="0"/>
          </a:p>
        </p:txBody>
      </p:sp>
      <p:sp>
        <p:nvSpPr>
          <p:cNvPr id="23" name="Text 7"/>
          <p:cNvSpPr/>
          <p:nvPr/>
        </p:nvSpPr>
        <p:spPr>
          <a:xfrm>
            <a:off x="762000" y="32194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4" name="Text 8"/>
          <p:cNvSpPr/>
          <p:nvPr/>
        </p:nvSpPr>
        <p:spPr>
          <a:xfrm>
            <a:off x="1088529" y="3219450"/>
            <a:ext cx="852249"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Macvlan</a:t>
            </a:r>
            <a:endParaRPr lang="en-US" sz="1350" dirty="0"/>
          </a:p>
        </p:txBody>
      </p:sp>
      <p:sp>
        <p:nvSpPr>
          <p:cNvPr id="25" name="Text 9"/>
          <p:cNvSpPr/>
          <p:nvPr/>
        </p:nvSpPr>
        <p:spPr>
          <a:xfrm>
            <a:off x="4838700" y="32194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6" name="Text 10"/>
          <p:cNvSpPr/>
          <p:nvPr/>
        </p:nvSpPr>
        <p:spPr>
          <a:xfrm>
            <a:off x="5183535" y="3219450"/>
            <a:ext cx="670798"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Bridge</a:t>
            </a:r>
            <a:endParaRPr lang="en-US" sz="1350" dirty="0"/>
          </a:p>
        </p:txBody>
      </p:sp>
      <p:sp>
        <p:nvSpPr>
          <p:cNvPr id="27" name="Text 11"/>
          <p:cNvSpPr/>
          <p:nvPr/>
        </p:nvSpPr>
        <p:spPr>
          <a:xfrm>
            <a:off x="8991600" y="3248025"/>
            <a:ext cx="2926080"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Network Drivers</a:t>
            </a:r>
            <a:endParaRPr lang="en-US" sz="1350" dirty="0"/>
          </a:p>
        </p:txBody>
      </p:sp>
      <p:sp>
        <p:nvSpPr>
          <p:cNvPr id="28" name="Text 12"/>
          <p:cNvSpPr/>
          <p:nvPr/>
        </p:nvSpPr>
        <p:spPr>
          <a:xfrm>
            <a:off x="9220200" y="3590925"/>
            <a:ext cx="2209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Bridge: Default for standalone containers</a:t>
            </a:r>
            <a:endParaRPr lang="en-US" sz="1200" dirty="0"/>
          </a:p>
        </p:txBody>
      </p:sp>
      <p:sp>
        <p:nvSpPr>
          <p:cNvPr id="29" name="Text 13"/>
          <p:cNvSpPr/>
          <p:nvPr/>
        </p:nvSpPr>
        <p:spPr>
          <a:xfrm>
            <a:off x="9220200" y="4124325"/>
            <a:ext cx="2209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Host: Shares host's network namespace</a:t>
            </a:r>
            <a:endParaRPr lang="en-US" sz="1200" dirty="0"/>
          </a:p>
        </p:txBody>
      </p:sp>
      <p:sp>
        <p:nvSpPr>
          <p:cNvPr id="30" name="Text 14"/>
          <p:cNvSpPr/>
          <p:nvPr/>
        </p:nvSpPr>
        <p:spPr>
          <a:xfrm>
            <a:off x="9220200" y="4657725"/>
            <a:ext cx="257692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Overlay: For swarm services</a:t>
            </a:r>
            <a:endParaRPr lang="en-US" sz="1200" dirty="0"/>
          </a:p>
        </p:txBody>
      </p:sp>
      <p:sp>
        <p:nvSpPr>
          <p:cNvPr id="31" name="Text 15"/>
          <p:cNvSpPr/>
          <p:nvPr/>
        </p:nvSpPr>
        <p:spPr>
          <a:xfrm>
            <a:off x="800100" y="6477000"/>
            <a:ext cx="146214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Network</a:t>
            </a:r>
            <a:endParaRPr lang="en-US" sz="1200" dirty="0"/>
          </a:p>
        </p:txBody>
      </p:sp>
      <p:sp>
        <p:nvSpPr>
          <p:cNvPr id="32"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14/61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10972800" cy="838200"/>
          </a:xfrm>
          <a:prstGeom prst="rect">
            <a:avLst/>
          </a:prstGeom>
        </p:spPr>
      </p:pic>
      <p:pic>
        <p:nvPicPr>
          <p:cNvPr id="7" name="Image 5" descr="preencoded.png"/>
          <p:cNvPicPr>
            <a:picLocks noChangeAspect="1"/>
          </p:cNvPicPr>
          <p:nvPr/>
        </p:nvPicPr>
        <p:blipFill>
          <a:blip r:embed="rId7"/>
          <a:stretch>
            <a:fillRect/>
          </a:stretch>
        </p:blipFill>
        <p:spPr>
          <a:xfrm>
            <a:off x="762000" y="1314450"/>
            <a:ext cx="228600" cy="304800"/>
          </a:xfrm>
          <a:prstGeom prst="rect">
            <a:avLst/>
          </a:prstGeom>
        </p:spPr>
      </p:pic>
      <p:pic>
        <p:nvPicPr>
          <p:cNvPr id="8" name="Image 6" descr="preencoded.png"/>
          <p:cNvPicPr>
            <a:picLocks noChangeAspect="1"/>
          </p:cNvPicPr>
          <p:nvPr/>
        </p:nvPicPr>
        <p:blipFill>
          <a:blip r:embed="rId8"/>
          <a:stretch>
            <a:fillRect/>
          </a:stretch>
        </p:blipFill>
        <p:spPr>
          <a:xfrm>
            <a:off x="609600" y="2114550"/>
            <a:ext cx="10972800" cy="2857500"/>
          </a:xfrm>
          <a:prstGeom prst="rect">
            <a:avLst/>
          </a:prstGeom>
        </p:spPr>
      </p:pic>
      <p:pic>
        <p:nvPicPr>
          <p:cNvPr id="9" name="Image 7" descr="preencoded.png"/>
          <p:cNvPicPr>
            <a:picLocks noChangeAspect="1"/>
          </p:cNvPicPr>
          <p:nvPr/>
        </p:nvPicPr>
        <p:blipFill>
          <a:blip r:embed="rId9"/>
          <a:stretch>
            <a:fillRect/>
          </a:stretch>
        </p:blipFill>
        <p:spPr>
          <a:xfrm>
            <a:off x="838200" y="3448050"/>
            <a:ext cx="571500" cy="457200"/>
          </a:xfrm>
          <a:prstGeom prst="rect">
            <a:avLst/>
          </a:prstGeom>
        </p:spPr>
      </p:pic>
      <p:pic>
        <p:nvPicPr>
          <p:cNvPr id="10" name="Image 8" descr="preencoded.png"/>
          <p:cNvPicPr>
            <a:picLocks noChangeAspect="1"/>
          </p:cNvPicPr>
          <p:nvPr/>
        </p:nvPicPr>
        <p:blipFill>
          <a:blip r:embed="rId10"/>
          <a:stretch>
            <a:fillRect/>
          </a:stretch>
        </p:blipFill>
        <p:spPr>
          <a:xfrm>
            <a:off x="4924127" y="5276850"/>
            <a:ext cx="342900" cy="381000"/>
          </a:xfrm>
          <a:prstGeom prst="rect">
            <a:avLst/>
          </a:prstGeom>
        </p:spPr>
      </p:pic>
      <p:pic>
        <p:nvPicPr>
          <p:cNvPr id="11" name="Image 9" descr="preencoded.png"/>
          <p:cNvPicPr>
            <a:picLocks noChangeAspect="1"/>
          </p:cNvPicPr>
          <p:nvPr/>
        </p:nvPicPr>
        <p:blipFill>
          <a:blip r:embed="rId11"/>
          <a:stretch>
            <a:fillRect/>
          </a:stretch>
        </p:blipFill>
        <p:spPr>
          <a:xfrm>
            <a:off x="5419427" y="5524500"/>
            <a:ext cx="152400" cy="152400"/>
          </a:xfrm>
          <a:prstGeom prst="rect">
            <a:avLst/>
          </a:prstGeom>
        </p:spPr>
      </p:pic>
      <p:pic>
        <p:nvPicPr>
          <p:cNvPr id="12" name="Image 10" descr="preencoded.png"/>
          <p:cNvPicPr>
            <a:picLocks noChangeAspect="1"/>
          </p:cNvPicPr>
          <p:nvPr/>
        </p:nvPicPr>
        <p:blipFill>
          <a:blip r:embed="rId12"/>
          <a:stretch>
            <a:fillRect/>
          </a:stretch>
        </p:blipFill>
        <p:spPr>
          <a:xfrm>
            <a:off x="5727204" y="5276850"/>
            <a:ext cx="428625" cy="381000"/>
          </a:xfrm>
          <a:prstGeom prst="rect">
            <a:avLst/>
          </a:prstGeom>
        </p:spPr>
      </p:pic>
      <p:pic>
        <p:nvPicPr>
          <p:cNvPr id="13" name="Image 11" descr="preencoded.png"/>
          <p:cNvPicPr>
            <a:picLocks noChangeAspect="1"/>
          </p:cNvPicPr>
          <p:nvPr/>
        </p:nvPicPr>
        <p:blipFill>
          <a:blip r:embed="rId11"/>
          <a:stretch>
            <a:fillRect/>
          </a:stretch>
        </p:blipFill>
        <p:spPr>
          <a:xfrm>
            <a:off x="6311354" y="5524500"/>
            <a:ext cx="152400" cy="152400"/>
          </a:xfrm>
          <a:prstGeom prst="rect">
            <a:avLst/>
          </a:prstGeom>
        </p:spPr>
      </p:pic>
      <p:pic>
        <p:nvPicPr>
          <p:cNvPr id="14" name="Image 12" descr="preencoded.png"/>
          <p:cNvPicPr>
            <a:picLocks noChangeAspect="1"/>
          </p:cNvPicPr>
          <p:nvPr/>
        </p:nvPicPr>
        <p:blipFill>
          <a:blip r:embed="rId13"/>
          <a:stretch>
            <a:fillRect/>
          </a:stretch>
        </p:blipFill>
        <p:spPr>
          <a:xfrm>
            <a:off x="6770489" y="5276850"/>
            <a:ext cx="342900" cy="381000"/>
          </a:xfrm>
          <a:prstGeom prst="rect">
            <a:avLst/>
          </a:prstGeom>
        </p:spPr>
      </p:pic>
      <p:pic>
        <p:nvPicPr>
          <p:cNvPr id="15" name="Image 13" descr="preencoded.png"/>
          <p:cNvPicPr>
            <a:picLocks noChangeAspect="1"/>
          </p:cNvPicPr>
          <p:nvPr/>
        </p:nvPicPr>
        <p:blipFill>
          <a:blip r:embed="rId14"/>
          <a:stretch>
            <a:fillRect/>
          </a:stretch>
        </p:blipFill>
        <p:spPr>
          <a:xfrm>
            <a:off x="609600" y="6515100"/>
            <a:ext cx="114300" cy="152400"/>
          </a:xfrm>
          <a:prstGeom prst="rect">
            <a:avLst/>
          </a:prstGeom>
        </p:spPr>
      </p:pic>
      <p:sp>
        <p:nvSpPr>
          <p:cNvPr id="16"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7</a:t>
            </a:r>
            <a:endParaRPr lang="en-US" sz="1200" dirty="0"/>
          </a:p>
        </p:txBody>
      </p:sp>
      <p:sp>
        <p:nvSpPr>
          <p:cNvPr id="17" name="Text 1"/>
          <p:cNvSpPr/>
          <p:nvPr/>
        </p:nvSpPr>
        <p:spPr>
          <a:xfrm>
            <a:off x="1143000" y="304800"/>
            <a:ext cx="461629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Network Drivers</a:t>
            </a:r>
            <a:endParaRPr lang="en-US" sz="2250" dirty="0"/>
          </a:p>
        </p:txBody>
      </p:sp>
      <p:sp>
        <p:nvSpPr>
          <p:cNvPr id="18" name="Text 2"/>
          <p:cNvSpPr/>
          <p:nvPr/>
        </p:nvSpPr>
        <p:spPr>
          <a:xfrm>
            <a:off x="1104900" y="1200150"/>
            <a:ext cx="572452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Correct Answer: D. Bridge</a:t>
            </a:r>
            <a:endParaRPr lang="en-US" sz="1500" dirty="0"/>
          </a:p>
        </p:txBody>
      </p:sp>
      <p:sp>
        <p:nvSpPr>
          <p:cNvPr id="19" name="Text 3"/>
          <p:cNvSpPr/>
          <p:nvPr/>
        </p:nvSpPr>
        <p:spPr>
          <a:xfrm>
            <a:off x="1104900" y="1466850"/>
            <a:ext cx="686943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bridge network driver is the default for standalone containers.</a:t>
            </a:r>
            <a:endParaRPr lang="en-US" sz="1350" dirty="0"/>
          </a:p>
        </p:txBody>
      </p:sp>
      <p:sp>
        <p:nvSpPr>
          <p:cNvPr id="20" name="Text 4"/>
          <p:cNvSpPr/>
          <p:nvPr/>
        </p:nvSpPr>
        <p:spPr>
          <a:xfrm>
            <a:off x="838200" y="2343150"/>
            <a:ext cx="105156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Explanation:</a:t>
            </a:r>
            <a:endParaRPr lang="en-US" sz="1800" dirty="0"/>
          </a:p>
        </p:txBody>
      </p:sp>
      <p:sp>
        <p:nvSpPr>
          <p:cNvPr id="21" name="Text 5"/>
          <p:cNvSpPr/>
          <p:nvPr/>
        </p:nvSpPr>
        <p:spPr>
          <a:xfrm>
            <a:off x="838200" y="2762250"/>
            <a:ext cx="105156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The </a:t>
            </a:r>
            <a:r>
              <a:rPr lang="en-US" sz="1500" b="1" dirty="0">
                <a:solidFill>
                  <a:srgbClr val="374151"/>
                </a:solidFill>
                <a:latin typeface="ui-sans-serif" pitchFamily="34" charset="0"/>
                <a:ea typeface="ui-sans-serif" pitchFamily="34" charset="-122"/>
                <a:cs typeface="ui-sans-serif" pitchFamily="34" charset="-120"/>
              </a:rPr>
              <a:t>bridge</a:t>
            </a:r>
            <a:r>
              <a:rPr lang="en-US" sz="1500" dirty="0">
                <a:solidFill>
                  <a:srgbClr val="374151"/>
                </a:solidFill>
                <a:latin typeface="ui-sans-serif" pitchFamily="34" charset="0"/>
                <a:ea typeface="ui-sans-serif" pitchFamily="34" charset="-122"/>
                <a:cs typeface="ui-sans-serif" pitchFamily="34" charset="-120"/>
              </a:rPr>
              <a:t> network driver is the default for standalone containers. It creates a private internal network on the host, enabling containers connected to it to communicate with each other and with the host system.</a:t>
            </a:r>
            <a:endParaRPr lang="en-US" sz="1500" dirty="0"/>
          </a:p>
        </p:txBody>
      </p:sp>
      <p:sp>
        <p:nvSpPr>
          <p:cNvPr id="22" name="Text 6"/>
          <p:cNvSpPr/>
          <p:nvPr/>
        </p:nvSpPr>
        <p:spPr>
          <a:xfrm>
            <a:off x="1676400" y="3448050"/>
            <a:ext cx="6655475"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Creates a private internal network on the host</a:t>
            </a:r>
            <a:endParaRPr lang="en-US" sz="1350" dirty="0"/>
          </a:p>
        </p:txBody>
      </p:sp>
      <p:sp>
        <p:nvSpPr>
          <p:cNvPr id="23" name="Text 7"/>
          <p:cNvSpPr/>
          <p:nvPr/>
        </p:nvSpPr>
        <p:spPr>
          <a:xfrm>
            <a:off x="1676400" y="3790950"/>
            <a:ext cx="6655475"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Enables communication between containers on the same host</a:t>
            </a:r>
            <a:endParaRPr lang="en-US" sz="1350" dirty="0"/>
          </a:p>
        </p:txBody>
      </p:sp>
      <p:sp>
        <p:nvSpPr>
          <p:cNvPr id="24" name="Text 8"/>
          <p:cNvSpPr/>
          <p:nvPr/>
        </p:nvSpPr>
        <p:spPr>
          <a:xfrm>
            <a:off x="1676400" y="4133850"/>
            <a:ext cx="6655475"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Provides default connectivity to the host system</a:t>
            </a:r>
            <a:endParaRPr lang="en-US" sz="1350" dirty="0"/>
          </a:p>
        </p:txBody>
      </p:sp>
      <p:sp>
        <p:nvSpPr>
          <p:cNvPr id="25" name="Text 9"/>
          <p:cNvSpPr/>
          <p:nvPr/>
        </p:nvSpPr>
        <p:spPr>
          <a:xfrm>
            <a:off x="1676400" y="4476750"/>
            <a:ext cx="6655475"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Is the standard choice for most container deployments</a:t>
            </a:r>
            <a:endParaRPr lang="en-US" sz="1350" dirty="0"/>
          </a:p>
        </p:txBody>
      </p:sp>
      <p:sp>
        <p:nvSpPr>
          <p:cNvPr id="26" name="Text 10"/>
          <p:cNvSpPr/>
          <p:nvPr/>
        </p:nvSpPr>
        <p:spPr>
          <a:xfrm>
            <a:off x="4889837" y="5734050"/>
            <a:ext cx="41148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Host</a:t>
            </a:r>
            <a:endParaRPr lang="en-US" sz="1050" dirty="0"/>
          </a:p>
        </p:txBody>
      </p:sp>
      <p:sp>
        <p:nvSpPr>
          <p:cNvPr id="27" name="Text 11"/>
          <p:cNvSpPr/>
          <p:nvPr/>
        </p:nvSpPr>
        <p:spPr>
          <a:xfrm>
            <a:off x="5680755" y="5734050"/>
            <a:ext cx="521672"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Bridge</a:t>
            </a:r>
            <a:endParaRPr lang="en-US" sz="1050" dirty="0"/>
          </a:p>
        </p:txBody>
      </p:sp>
      <p:sp>
        <p:nvSpPr>
          <p:cNvPr id="28" name="Text 12"/>
          <p:cNvSpPr/>
          <p:nvPr/>
        </p:nvSpPr>
        <p:spPr>
          <a:xfrm>
            <a:off x="6550982" y="5734050"/>
            <a:ext cx="782062"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Container</a:t>
            </a:r>
            <a:endParaRPr lang="en-US" sz="1050" dirty="0"/>
          </a:p>
        </p:txBody>
      </p:sp>
      <p:sp>
        <p:nvSpPr>
          <p:cNvPr id="29" name="Text 13"/>
          <p:cNvSpPr/>
          <p:nvPr/>
        </p:nvSpPr>
        <p:spPr>
          <a:xfrm>
            <a:off x="800100" y="6477000"/>
            <a:ext cx="217830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Network Drivers</a:t>
            </a:r>
            <a:endParaRPr lang="en-US" sz="1200" dirty="0"/>
          </a:p>
        </p:txBody>
      </p:sp>
      <p:sp>
        <p:nvSpPr>
          <p:cNvPr id="30" name="Text 14"/>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15/61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2266950"/>
            <a:ext cx="3848100" cy="1104900"/>
          </a:xfrm>
          <a:prstGeom prst="rect">
            <a:avLst/>
          </a:prstGeom>
        </p:spPr>
      </p:pic>
      <p:pic>
        <p:nvPicPr>
          <p:cNvPr id="7" name="Image 5" descr="preencoded.png"/>
          <p:cNvPicPr>
            <a:picLocks noChangeAspect="1"/>
          </p:cNvPicPr>
          <p:nvPr/>
        </p:nvPicPr>
        <p:blipFill>
          <a:blip r:embed="rId6"/>
          <a:stretch>
            <a:fillRect/>
          </a:stretch>
        </p:blipFill>
        <p:spPr>
          <a:xfrm>
            <a:off x="4686300" y="2266950"/>
            <a:ext cx="3848100" cy="1104900"/>
          </a:xfrm>
          <a:prstGeom prst="rect">
            <a:avLst/>
          </a:prstGeom>
        </p:spPr>
      </p:pic>
      <p:pic>
        <p:nvPicPr>
          <p:cNvPr id="8" name="Image 6" descr="preencoded.png"/>
          <p:cNvPicPr>
            <a:picLocks noChangeAspect="1"/>
          </p:cNvPicPr>
          <p:nvPr/>
        </p:nvPicPr>
        <p:blipFill>
          <a:blip r:embed="rId6"/>
          <a:stretch>
            <a:fillRect/>
          </a:stretch>
        </p:blipFill>
        <p:spPr>
          <a:xfrm>
            <a:off x="609600" y="3600450"/>
            <a:ext cx="3848100" cy="1104900"/>
          </a:xfrm>
          <a:prstGeom prst="rect">
            <a:avLst/>
          </a:prstGeom>
        </p:spPr>
      </p:pic>
      <p:pic>
        <p:nvPicPr>
          <p:cNvPr id="9" name="Image 7" descr="preencoded.png"/>
          <p:cNvPicPr>
            <a:picLocks noChangeAspect="1"/>
          </p:cNvPicPr>
          <p:nvPr/>
        </p:nvPicPr>
        <p:blipFill>
          <a:blip r:embed="rId6"/>
          <a:stretch>
            <a:fillRect/>
          </a:stretch>
        </p:blipFill>
        <p:spPr>
          <a:xfrm>
            <a:off x="4686300" y="3600450"/>
            <a:ext cx="3848100" cy="1104900"/>
          </a:xfrm>
          <a:prstGeom prst="rect">
            <a:avLst/>
          </a:prstGeom>
        </p:spPr>
      </p:pic>
      <p:pic>
        <p:nvPicPr>
          <p:cNvPr id="10" name="Image 8" descr="preencoded.png"/>
          <p:cNvPicPr>
            <a:picLocks noChangeAspect="1"/>
          </p:cNvPicPr>
          <p:nvPr/>
        </p:nvPicPr>
        <p:blipFill>
          <a:blip r:embed="rId7"/>
          <a:stretch>
            <a:fillRect/>
          </a:stretch>
        </p:blipFill>
        <p:spPr>
          <a:xfrm>
            <a:off x="9910763" y="2066925"/>
            <a:ext cx="600075" cy="685800"/>
          </a:xfrm>
          <a:prstGeom prst="rect">
            <a:avLst/>
          </a:prstGeom>
        </p:spPr>
      </p:pic>
      <p:pic>
        <p:nvPicPr>
          <p:cNvPr id="11" name="Image 9" descr="preencoded.png"/>
          <p:cNvPicPr>
            <a:picLocks noChangeAspect="1"/>
          </p:cNvPicPr>
          <p:nvPr/>
        </p:nvPicPr>
        <p:blipFill>
          <a:blip r:embed="rId8"/>
          <a:stretch>
            <a:fillRect/>
          </a:stretch>
        </p:blipFill>
        <p:spPr>
          <a:xfrm>
            <a:off x="8839200" y="2981325"/>
            <a:ext cx="2743200" cy="2171700"/>
          </a:xfrm>
          <a:prstGeom prst="rect">
            <a:avLst/>
          </a:prstGeom>
        </p:spPr>
      </p:pic>
      <p:pic>
        <p:nvPicPr>
          <p:cNvPr id="12" name="Image 10" descr="preencoded.png"/>
          <p:cNvPicPr>
            <a:picLocks noChangeAspect="1"/>
          </p:cNvPicPr>
          <p:nvPr/>
        </p:nvPicPr>
        <p:blipFill>
          <a:blip r:embed="rId9"/>
          <a:stretch>
            <a:fillRect/>
          </a:stretch>
        </p:blipFill>
        <p:spPr>
          <a:xfrm>
            <a:off x="8991600" y="3514725"/>
            <a:ext cx="152400" cy="152400"/>
          </a:xfrm>
          <a:prstGeom prst="rect">
            <a:avLst/>
          </a:prstGeom>
        </p:spPr>
      </p:pic>
      <p:pic>
        <p:nvPicPr>
          <p:cNvPr id="13" name="Image 11" descr="preencoded.png"/>
          <p:cNvPicPr>
            <a:picLocks noChangeAspect="1"/>
          </p:cNvPicPr>
          <p:nvPr/>
        </p:nvPicPr>
        <p:blipFill>
          <a:blip r:embed="rId9"/>
          <a:stretch>
            <a:fillRect/>
          </a:stretch>
        </p:blipFill>
        <p:spPr>
          <a:xfrm>
            <a:off x="8991600" y="4048125"/>
            <a:ext cx="152400" cy="152400"/>
          </a:xfrm>
          <a:prstGeom prst="rect">
            <a:avLst/>
          </a:prstGeom>
        </p:spPr>
      </p:pic>
      <p:pic>
        <p:nvPicPr>
          <p:cNvPr id="14" name="Image 12" descr="preencoded.png"/>
          <p:cNvPicPr>
            <a:picLocks noChangeAspect="1"/>
          </p:cNvPicPr>
          <p:nvPr/>
        </p:nvPicPr>
        <p:blipFill>
          <a:blip r:embed="rId9"/>
          <a:stretch>
            <a:fillRect/>
          </a:stretch>
        </p:blipFill>
        <p:spPr>
          <a:xfrm>
            <a:off x="8991600" y="4581525"/>
            <a:ext cx="152400" cy="152400"/>
          </a:xfrm>
          <a:prstGeom prst="rect">
            <a:avLst/>
          </a:prstGeom>
        </p:spPr>
      </p:pic>
      <p:pic>
        <p:nvPicPr>
          <p:cNvPr id="15" name="Image 13" descr="preencoded.png"/>
          <p:cNvPicPr>
            <a:picLocks noChangeAspect="1"/>
          </p:cNvPicPr>
          <p:nvPr/>
        </p:nvPicPr>
        <p:blipFill>
          <a:blip r:embed="rId10"/>
          <a:stretch>
            <a:fillRect/>
          </a:stretch>
        </p:blipFill>
        <p:spPr>
          <a:xfrm>
            <a:off x="609600" y="6515100"/>
            <a:ext cx="152400" cy="152400"/>
          </a:xfrm>
          <a:prstGeom prst="rect">
            <a:avLst/>
          </a:prstGeom>
        </p:spPr>
      </p:pic>
      <p:sp>
        <p:nvSpPr>
          <p:cNvPr id="16"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8</a:t>
            </a:r>
            <a:endParaRPr lang="en-US" sz="1200" dirty="0"/>
          </a:p>
        </p:txBody>
      </p:sp>
      <p:sp>
        <p:nvSpPr>
          <p:cNvPr id="17" name="Text 1"/>
          <p:cNvSpPr/>
          <p:nvPr/>
        </p:nvSpPr>
        <p:spPr>
          <a:xfrm>
            <a:off x="1143000" y="304800"/>
            <a:ext cx="4749344"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Data Persistence</a:t>
            </a:r>
            <a:endParaRPr lang="en-US" sz="2250" dirty="0"/>
          </a:p>
        </p:txBody>
      </p:sp>
      <p:sp>
        <p:nvSpPr>
          <p:cNvPr id="18" name="Text 2"/>
          <p:cNvSpPr/>
          <p:nvPr/>
        </p:nvSpPr>
        <p:spPr>
          <a:xfrm>
            <a:off x="609600" y="1047750"/>
            <a:ext cx="7924800" cy="9144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When considering data persistence in Docker, which option is generally recommended for managing data created and used by Docker containers?</a:t>
            </a:r>
            <a:endParaRPr lang="en-US" sz="1800" dirty="0"/>
          </a:p>
        </p:txBody>
      </p:sp>
      <p:sp>
        <p:nvSpPr>
          <p:cNvPr id="19" name="Text 3"/>
          <p:cNvSpPr/>
          <p:nvPr/>
        </p:nvSpPr>
        <p:spPr>
          <a:xfrm>
            <a:off x="762000" y="24193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0" name="Text 4"/>
          <p:cNvSpPr/>
          <p:nvPr/>
        </p:nvSpPr>
        <p:spPr>
          <a:xfrm>
            <a:off x="1099691" y="2419350"/>
            <a:ext cx="3205609"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Bind Mounts, because they offer direct access to the host filesystem.</a:t>
            </a:r>
            <a:endParaRPr lang="en-US" sz="1350" dirty="0"/>
          </a:p>
        </p:txBody>
      </p:sp>
      <p:sp>
        <p:nvSpPr>
          <p:cNvPr id="21" name="Text 5"/>
          <p:cNvSpPr/>
          <p:nvPr/>
        </p:nvSpPr>
        <p:spPr>
          <a:xfrm>
            <a:off x="4838700" y="24193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2" name="Text 6"/>
          <p:cNvSpPr/>
          <p:nvPr/>
        </p:nvSpPr>
        <p:spPr>
          <a:xfrm>
            <a:off x="5170587" y="2419350"/>
            <a:ext cx="3211413"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Volumes, because Docker fully manages their lifecycle and they are more portable.</a:t>
            </a:r>
            <a:endParaRPr lang="en-US" sz="1350" dirty="0"/>
          </a:p>
        </p:txBody>
      </p:sp>
      <p:sp>
        <p:nvSpPr>
          <p:cNvPr id="23" name="Text 7"/>
          <p:cNvSpPr/>
          <p:nvPr/>
        </p:nvSpPr>
        <p:spPr>
          <a:xfrm>
            <a:off x="762000" y="37528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4" name="Text 8"/>
          <p:cNvSpPr/>
          <p:nvPr/>
        </p:nvSpPr>
        <p:spPr>
          <a:xfrm>
            <a:off x="1088529" y="3752850"/>
            <a:ext cx="3216771"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tmpfs Mounts, for their high performance and temporary nature.</a:t>
            </a:r>
            <a:endParaRPr lang="en-US" sz="1350" dirty="0"/>
          </a:p>
        </p:txBody>
      </p:sp>
      <p:sp>
        <p:nvSpPr>
          <p:cNvPr id="25" name="Text 9"/>
          <p:cNvSpPr/>
          <p:nvPr/>
        </p:nvSpPr>
        <p:spPr>
          <a:xfrm>
            <a:off x="4838700" y="37528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6" name="Text 10"/>
          <p:cNvSpPr/>
          <p:nvPr/>
        </p:nvSpPr>
        <p:spPr>
          <a:xfrm>
            <a:off x="5183535" y="3752850"/>
            <a:ext cx="3198465"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Directly storing data within the container's writable layer for simplicity.</a:t>
            </a:r>
            <a:endParaRPr lang="en-US" sz="1350" dirty="0"/>
          </a:p>
        </p:txBody>
      </p:sp>
      <p:sp>
        <p:nvSpPr>
          <p:cNvPr id="27" name="Text 11"/>
          <p:cNvSpPr/>
          <p:nvPr/>
        </p:nvSpPr>
        <p:spPr>
          <a:xfrm>
            <a:off x="8991600" y="3133725"/>
            <a:ext cx="292608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F766E"/>
                </a:solidFill>
                <a:latin typeface="ui-sans-serif" pitchFamily="34" charset="0"/>
                <a:ea typeface="ui-sans-serif" pitchFamily="34" charset="-122"/>
                <a:cs typeface="ui-sans-serif" pitchFamily="34" charset="-120"/>
              </a:rPr>
              <a:t>Docker Data Persistence</a:t>
            </a:r>
            <a:endParaRPr lang="en-US" sz="1350" dirty="0"/>
          </a:p>
        </p:txBody>
      </p:sp>
      <p:sp>
        <p:nvSpPr>
          <p:cNvPr id="28" name="Text 12"/>
          <p:cNvSpPr/>
          <p:nvPr/>
        </p:nvSpPr>
        <p:spPr>
          <a:xfrm>
            <a:off x="9220200" y="3476625"/>
            <a:ext cx="2209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Volumes are the recommended method</a:t>
            </a:r>
            <a:endParaRPr lang="en-US" sz="1200" dirty="0"/>
          </a:p>
        </p:txBody>
      </p:sp>
      <p:sp>
        <p:nvSpPr>
          <p:cNvPr id="29" name="Text 13"/>
          <p:cNvSpPr/>
          <p:nvPr/>
        </p:nvSpPr>
        <p:spPr>
          <a:xfrm>
            <a:off x="9220200" y="4010025"/>
            <a:ext cx="2209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Full lifecycle management by Docker</a:t>
            </a:r>
            <a:endParaRPr lang="en-US" sz="1200" dirty="0"/>
          </a:p>
        </p:txBody>
      </p:sp>
      <p:sp>
        <p:nvSpPr>
          <p:cNvPr id="30" name="Text 14"/>
          <p:cNvSpPr/>
          <p:nvPr/>
        </p:nvSpPr>
        <p:spPr>
          <a:xfrm>
            <a:off x="9220200" y="4543425"/>
            <a:ext cx="22098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More portable than bind mounts</a:t>
            </a:r>
            <a:endParaRPr lang="en-US" sz="1200" dirty="0"/>
          </a:p>
        </p:txBody>
      </p:sp>
      <p:sp>
        <p:nvSpPr>
          <p:cNvPr id="31" name="Text 15"/>
          <p:cNvSpPr/>
          <p:nvPr/>
        </p:nvSpPr>
        <p:spPr>
          <a:xfrm>
            <a:off x="838200" y="6477000"/>
            <a:ext cx="239797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Data Management</a:t>
            </a:r>
            <a:endParaRPr lang="en-US" sz="1200" dirty="0"/>
          </a:p>
        </p:txBody>
      </p:sp>
      <p:sp>
        <p:nvSpPr>
          <p:cNvPr id="32"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16/61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067550"/>
          </a:xfrm>
          <a:prstGeom prst="rect">
            <a:avLst/>
          </a:prstGeom>
        </p:spPr>
      </p:pic>
      <p:pic>
        <p:nvPicPr>
          <p:cNvPr id="3" name="Image 1" descr="preencoded.png"/>
          <p:cNvPicPr>
            <a:picLocks noChangeAspect="1"/>
          </p:cNvPicPr>
          <p:nvPr/>
        </p:nvPicPr>
        <p:blipFill>
          <a:blip r:embed="rId3"/>
          <a:stretch>
            <a:fillRect/>
          </a:stretch>
        </p:blipFill>
        <p:spPr>
          <a:xfrm>
            <a:off x="0" y="0"/>
            <a:ext cx="12192000" cy="706755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010400" cy="1181100"/>
          </a:xfrm>
          <a:prstGeom prst="rect">
            <a:avLst/>
          </a:prstGeom>
        </p:spPr>
      </p:pic>
      <p:pic>
        <p:nvPicPr>
          <p:cNvPr id="7" name="Image 5" descr="preencoded.png"/>
          <p:cNvPicPr>
            <a:picLocks noChangeAspect="1"/>
          </p:cNvPicPr>
          <p:nvPr/>
        </p:nvPicPr>
        <p:blipFill>
          <a:blip r:embed="rId7"/>
          <a:stretch>
            <a:fillRect/>
          </a:stretch>
        </p:blipFill>
        <p:spPr>
          <a:xfrm>
            <a:off x="762000" y="1200150"/>
            <a:ext cx="190500" cy="266700"/>
          </a:xfrm>
          <a:prstGeom prst="rect">
            <a:avLst/>
          </a:prstGeom>
        </p:spPr>
      </p:pic>
      <p:pic>
        <p:nvPicPr>
          <p:cNvPr id="8" name="Image 6" descr="preencoded.png"/>
          <p:cNvPicPr>
            <a:picLocks noChangeAspect="1"/>
          </p:cNvPicPr>
          <p:nvPr/>
        </p:nvPicPr>
        <p:blipFill>
          <a:blip r:embed="rId8"/>
          <a:stretch>
            <a:fillRect/>
          </a:stretch>
        </p:blipFill>
        <p:spPr>
          <a:xfrm>
            <a:off x="609600" y="2914650"/>
            <a:ext cx="171450" cy="171450"/>
          </a:xfrm>
          <a:prstGeom prst="rect">
            <a:avLst/>
          </a:prstGeom>
        </p:spPr>
      </p:pic>
      <p:pic>
        <p:nvPicPr>
          <p:cNvPr id="9" name="Image 7" descr="preencoded.png"/>
          <p:cNvPicPr>
            <a:picLocks noChangeAspect="1"/>
          </p:cNvPicPr>
          <p:nvPr/>
        </p:nvPicPr>
        <p:blipFill>
          <a:blip r:embed="rId8"/>
          <a:stretch>
            <a:fillRect/>
          </a:stretch>
        </p:blipFill>
        <p:spPr>
          <a:xfrm>
            <a:off x="609600" y="3562350"/>
            <a:ext cx="171450" cy="171450"/>
          </a:xfrm>
          <a:prstGeom prst="rect">
            <a:avLst/>
          </a:prstGeom>
        </p:spPr>
      </p:pic>
      <p:pic>
        <p:nvPicPr>
          <p:cNvPr id="10" name="Image 8" descr="preencoded.png"/>
          <p:cNvPicPr>
            <a:picLocks noChangeAspect="1"/>
          </p:cNvPicPr>
          <p:nvPr/>
        </p:nvPicPr>
        <p:blipFill>
          <a:blip r:embed="rId8"/>
          <a:stretch>
            <a:fillRect/>
          </a:stretch>
        </p:blipFill>
        <p:spPr>
          <a:xfrm>
            <a:off x="609600" y="4210050"/>
            <a:ext cx="171450" cy="171450"/>
          </a:xfrm>
          <a:prstGeom prst="rect">
            <a:avLst/>
          </a:prstGeom>
        </p:spPr>
      </p:pic>
      <p:pic>
        <p:nvPicPr>
          <p:cNvPr id="11" name="Image 9" descr="preencoded.png"/>
          <p:cNvPicPr>
            <a:picLocks noChangeAspect="1"/>
          </p:cNvPicPr>
          <p:nvPr/>
        </p:nvPicPr>
        <p:blipFill>
          <a:blip r:embed="rId9"/>
          <a:stretch>
            <a:fillRect/>
          </a:stretch>
        </p:blipFill>
        <p:spPr>
          <a:xfrm>
            <a:off x="609600" y="4933950"/>
            <a:ext cx="7010400" cy="1447800"/>
          </a:xfrm>
          <a:prstGeom prst="rect">
            <a:avLst/>
          </a:prstGeom>
        </p:spPr>
      </p:pic>
      <p:pic>
        <p:nvPicPr>
          <p:cNvPr id="12" name="Image 10" descr="preencoded.png"/>
          <p:cNvPicPr>
            <a:picLocks noChangeAspect="1"/>
          </p:cNvPicPr>
          <p:nvPr/>
        </p:nvPicPr>
        <p:blipFill>
          <a:blip r:embed="rId10"/>
          <a:stretch>
            <a:fillRect/>
          </a:stretch>
        </p:blipFill>
        <p:spPr>
          <a:xfrm>
            <a:off x="762000" y="5086350"/>
            <a:ext cx="142875" cy="266700"/>
          </a:xfrm>
          <a:prstGeom prst="rect">
            <a:avLst/>
          </a:prstGeom>
        </p:spPr>
      </p:pic>
      <p:pic>
        <p:nvPicPr>
          <p:cNvPr id="13" name="Image 11" descr="preencoded.png"/>
          <p:cNvPicPr>
            <a:picLocks noChangeAspect="1"/>
          </p:cNvPicPr>
          <p:nvPr/>
        </p:nvPicPr>
        <p:blipFill>
          <a:blip r:embed="rId11"/>
          <a:stretch>
            <a:fillRect/>
          </a:stretch>
        </p:blipFill>
        <p:spPr>
          <a:xfrm>
            <a:off x="8990707" y="2514600"/>
            <a:ext cx="600075" cy="685800"/>
          </a:xfrm>
          <a:prstGeom prst="rect">
            <a:avLst/>
          </a:prstGeom>
        </p:spPr>
      </p:pic>
      <p:pic>
        <p:nvPicPr>
          <p:cNvPr id="14" name="Image 12" descr="preencoded.png"/>
          <p:cNvPicPr>
            <a:picLocks noChangeAspect="1"/>
          </p:cNvPicPr>
          <p:nvPr/>
        </p:nvPicPr>
        <p:blipFill>
          <a:blip r:embed="rId12"/>
          <a:stretch>
            <a:fillRect/>
          </a:stretch>
        </p:blipFill>
        <p:spPr>
          <a:xfrm>
            <a:off x="9715500" y="2838450"/>
            <a:ext cx="219075" cy="342900"/>
          </a:xfrm>
          <a:prstGeom prst="rect">
            <a:avLst/>
          </a:prstGeom>
        </p:spPr>
      </p:pic>
      <p:pic>
        <p:nvPicPr>
          <p:cNvPr id="15" name="Image 13" descr="preencoded.png"/>
          <p:cNvPicPr>
            <a:picLocks noChangeAspect="1"/>
          </p:cNvPicPr>
          <p:nvPr/>
        </p:nvPicPr>
        <p:blipFill>
          <a:blip r:embed="rId13"/>
          <a:stretch>
            <a:fillRect/>
          </a:stretch>
        </p:blipFill>
        <p:spPr>
          <a:xfrm>
            <a:off x="10059293" y="2714625"/>
            <a:ext cx="457200" cy="457200"/>
          </a:xfrm>
          <a:prstGeom prst="rect">
            <a:avLst/>
          </a:prstGeom>
        </p:spPr>
      </p:pic>
      <p:pic>
        <p:nvPicPr>
          <p:cNvPr id="16" name="Image 14" descr="preencoded.png"/>
          <p:cNvPicPr>
            <a:picLocks noChangeAspect="1"/>
          </p:cNvPicPr>
          <p:nvPr/>
        </p:nvPicPr>
        <p:blipFill>
          <a:blip r:embed="rId14"/>
          <a:stretch>
            <a:fillRect/>
          </a:stretch>
        </p:blipFill>
        <p:spPr>
          <a:xfrm>
            <a:off x="7924800" y="3429000"/>
            <a:ext cx="3657600" cy="1485900"/>
          </a:xfrm>
          <a:prstGeom prst="rect">
            <a:avLst/>
          </a:prstGeom>
        </p:spPr>
      </p:pic>
      <p:pic>
        <p:nvPicPr>
          <p:cNvPr id="17" name="Image 15" descr="preencoded.png"/>
          <p:cNvPicPr>
            <a:picLocks noChangeAspect="1"/>
          </p:cNvPicPr>
          <p:nvPr/>
        </p:nvPicPr>
        <p:blipFill>
          <a:blip r:embed="rId15"/>
          <a:stretch>
            <a:fillRect/>
          </a:stretch>
        </p:blipFill>
        <p:spPr>
          <a:xfrm>
            <a:off x="8077200" y="3962400"/>
            <a:ext cx="152400" cy="152400"/>
          </a:xfrm>
          <a:prstGeom prst="rect">
            <a:avLst/>
          </a:prstGeom>
        </p:spPr>
      </p:pic>
      <p:pic>
        <p:nvPicPr>
          <p:cNvPr id="18" name="Image 16" descr="preencoded.png"/>
          <p:cNvPicPr>
            <a:picLocks noChangeAspect="1"/>
          </p:cNvPicPr>
          <p:nvPr/>
        </p:nvPicPr>
        <p:blipFill>
          <a:blip r:embed="rId15"/>
          <a:stretch>
            <a:fillRect/>
          </a:stretch>
        </p:blipFill>
        <p:spPr>
          <a:xfrm>
            <a:off x="8077200" y="4267200"/>
            <a:ext cx="152400" cy="152400"/>
          </a:xfrm>
          <a:prstGeom prst="rect">
            <a:avLst/>
          </a:prstGeom>
        </p:spPr>
      </p:pic>
      <p:pic>
        <p:nvPicPr>
          <p:cNvPr id="19" name="Image 17" descr="preencoded.png"/>
          <p:cNvPicPr>
            <a:picLocks noChangeAspect="1"/>
          </p:cNvPicPr>
          <p:nvPr/>
        </p:nvPicPr>
        <p:blipFill>
          <a:blip r:embed="rId15"/>
          <a:stretch>
            <a:fillRect/>
          </a:stretch>
        </p:blipFill>
        <p:spPr>
          <a:xfrm>
            <a:off x="8077200" y="4572000"/>
            <a:ext cx="152400" cy="152400"/>
          </a:xfrm>
          <a:prstGeom prst="rect">
            <a:avLst/>
          </a:prstGeom>
        </p:spPr>
      </p:pic>
      <p:pic>
        <p:nvPicPr>
          <p:cNvPr id="20" name="Image 18" descr="preencoded.png"/>
          <p:cNvPicPr>
            <a:picLocks noChangeAspect="1"/>
          </p:cNvPicPr>
          <p:nvPr/>
        </p:nvPicPr>
        <p:blipFill>
          <a:blip r:embed="rId16"/>
          <a:stretch>
            <a:fillRect/>
          </a:stretch>
        </p:blipFill>
        <p:spPr>
          <a:xfrm>
            <a:off x="609600" y="6724650"/>
            <a:ext cx="114300" cy="152400"/>
          </a:xfrm>
          <a:prstGeom prst="rect">
            <a:avLst/>
          </a:prstGeom>
        </p:spPr>
      </p:pic>
      <p:sp>
        <p:nvSpPr>
          <p:cNvPr id="21"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8</a:t>
            </a:r>
            <a:endParaRPr lang="en-US" sz="1200" dirty="0"/>
          </a:p>
        </p:txBody>
      </p:sp>
      <p:sp>
        <p:nvSpPr>
          <p:cNvPr id="22" name="Text 1"/>
          <p:cNvSpPr/>
          <p:nvPr/>
        </p:nvSpPr>
        <p:spPr>
          <a:xfrm>
            <a:off x="1143000" y="304800"/>
            <a:ext cx="4749344"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Docker Data Persistence</a:t>
            </a:r>
            <a:endParaRPr lang="en-US" sz="2250" dirty="0"/>
          </a:p>
        </p:txBody>
      </p:sp>
      <p:sp>
        <p:nvSpPr>
          <p:cNvPr id="23" name="Text 2"/>
          <p:cNvSpPr/>
          <p:nvPr/>
        </p:nvSpPr>
        <p:spPr>
          <a:xfrm>
            <a:off x="1028700" y="1200150"/>
            <a:ext cx="232975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Correct Answer: B</a:t>
            </a:r>
            <a:endParaRPr lang="en-US" sz="1500" dirty="0"/>
          </a:p>
        </p:txBody>
      </p:sp>
      <p:sp>
        <p:nvSpPr>
          <p:cNvPr id="24" name="Text 3"/>
          <p:cNvSpPr/>
          <p:nvPr/>
        </p:nvSpPr>
        <p:spPr>
          <a:xfrm>
            <a:off x="762000" y="1543050"/>
            <a:ext cx="67056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Volumes, because Docker fully manages their lifecycle and they are more portable.</a:t>
            </a:r>
            <a:endParaRPr lang="en-US" sz="1350" dirty="0"/>
          </a:p>
        </p:txBody>
      </p:sp>
      <p:sp>
        <p:nvSpPr>
          <p:cNvPr id="25" name="Text 4"/>
          <p:cNvSpPr/>
          <p:nvPr/>
        </p:nvSpPr>
        <p:spPr>
          <a:xfrm>
            <a:off x="609600" y="2457450"/>
            <a:ext cx="7010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6" name="Text 5"/>
          <p:cNvSpPr/>
          <p:nvPr/>
        </p:nvSpPr>
        <p:spPr>
          <a:xfrm>
            <a:off x="895350" y="2876550"/>
            <a:ext cx="67246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Docker Volumes are the recommended method for persisting data generated by and used by Docker containers.</a:t>
            </a:r>
            <a:endParaRPr lang="en-US" sz="1350" dirty="0"/>
          </a:p>
        </p:txBody>
      </p:sp>
      <p:sp>
        <p:nvSpPr>
          <p:cNvPr id="27" name="Text 6"/>
          <p:cNvSpPr/>
          <p:nvPr/>
        </p:nvSpPr>
        <p:spPr>
          <a:xfrm>
            <a:off x="895350" y="3524250"/>
            <a:ext cx="67246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Docker manages volumes entirely, making them more portable and easier to back up compared to bind mounts.</a:t>
            </a:r>
            <a:endParaRPr lang="en-US" sz="1350" dirty="0"/>
          </a:p>
        </p:txBody>
      </p:sp>
      <p:sp>
        <p:nvSpPr>
          <p:cNvPr id="28" name="Text 7"/>
          <p:cNvSpPr/>
          <p:nvPr/>
        </p:nvSpPr>
        <p:spPr>
          <a:xfrm>
            <a:off x="895350" y="4171950"/>
            <a:ext cx="67246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Bind mounts rely on the host machine's directory structure, which can limit portability.</a:t>
            </a:r>
            <a:endParaRPr lang="en-US" sz="1350" dirty="0"/>
          </a:p>
        </p:txBody>
      </p:sp>
      <p:sp>
        <p:nvSpPr>
          <p:cNvPr id="29" name="Text 8"/>
          <p:cNvSpPr/>
          <p:nvPr/>
        </p:nvSpPr>
        <p:spPr>
          <a:xfrm>
            <a:off x="981075" y="5086350"/>
            <a:ext cx="189613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Did You Know?</a:t>
            </a:r>
            <a:endParaRPr lang="en-US" sz="1500" dirty="0"/>
          </a:p>
        </p:txBody>
      </p:sp>
      <p:sp>
        <p:nvSpPr>
          <p:cNvPr id="30" name="Text 9"/>
          <p:cNvSpPr/>
          <p:nvPr/>
        </p:nvSpPr>
        <p:spPr>
          <a:xfrm>
            <a:off x="762000" y="5429250"/>
            <a:ext cx="67056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volumes exist in a dedicated directory on the host filesystem, independent of container lifecycles. This ensures data persistence even if containers are deleted.</a:t>
            </a:r>
            <a:endParaRPr lang="en-US" sz="1350" dirty="0"/>
          </a:p>
        </p:txBody>
      </p:sp>
      <p:sp>
        <p:nvSpPr>
          <p:cNvPr id="31" name="Text 10"/>
          <p:cNvSpPr/>
          <p:nvPr/>
        </p:nvSpPr>
        <p:spPr>
          <a:xfrm>
            <a:off x="7741920" y="3581400"/>
            <a:ext cx="402336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374151"/>
                </a:solidFill>
                <a:latin typeface="ui-sans-serif" pitchFamily="34" charset="0"/>
                <a:ea typeface="ui-sans-serif" pitchFamily="34" charset="-122"/>
                <a:cs typeface="ui-sans-serif" pitchFamily="34" charset="-120"/>
              </a:rPr>
              <a:t>Docker Volume Benefits</a:t>
            </a:r>
            <a:endParaRPr lang="en-US" sz="1350" dirty="0"/>
          </a:p>
        </p:txBody>
      </p:sp>
      <p:sp>
        <p:nvSpPr>
          <p:cNvPr id="32" name="Text 11"/>
          <p:cNvSpPr/>
          <p:nvPr/>
        </p:nvSpPr>
        <p:spPr>
          <a:xfrm>
            <a:off x="8305800" y="3924300"/>
            <a:ext cx="271659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Portable across environments</a:t>
            </a:r>
            <a:endParaRPr lang="en-US" sz="1200" dirty="0"/>
          </a:p>
        </p:txBody>
      </p:sp>
      <p:sp>
        <p:nvSpPr>
          <p:cNvPr id="33" name="Text 12"/>
          <p:cNvSpPr/>
          <p:nvPr/>
        </p:nvSpPr>
        <p:spPr>
          <a:xfrm>
            <a:off x="8305800" y="4229100"/>
            <a:ext cx="182344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Managed by Docker</a:t>
            </a:r>
            <a:endParaRPr lang="en-US" sz="1200" dirty="0"/>
          </a:p>
        </p:txBody>
      </p:sp>
      <p:sp>
        <p:nvSpPr>
          <p:cNvPr id="34" name="Text 13"/>
          <p:cNvSpPr/>
          <p:nvPr/>
        </p:nvSpPr>
        <p:spPr>
          <a:xfrm>
            <a:off x="8305800" y="4533900"/>
            <a:ext cx="238708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Easier backup and restore</a:t>
            </a:r>
            <a:endParaRPr lang="en-US" sz="1200" dirty="0"/>
          </a:p>
        </p:txBody>
      </p:sp>
      <p:sp>
        <p:nvSpPr>
          <p:cNvPr id="35" name="Text 14"/>
          <p:cNvSpPr/>
          <p:nvPr/>
        </p:nvSpPr>
        <p:spPr>
          <a:xfrm>
            <a:off x="800100" y="6686550"/>
            <a:ext cx="223938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Data Persistence</a:t>
            </a:r>
            <a:endParaRPr lang="en-US" sz="1200" dirty="0"/>
          </a:p>
        </p:txBody>
      </p:sp>
      <p:sp>
        <p:nvSpPr>
          <p:cNvPr id="36" name="Text 15"/>
          <p:cNvSpPr/>
          <p:nvPr/>
        </p:nvSpPr>
        <p:spPr>
          <a:xfrm>
            <a:off x="11143208" y="668655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17/61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525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2362200"/>
            <a:ext cx="266700" cy="381000"/>
          </a:xfrm>
          <a:prstGeom prst="rect">
            <a:avLst/>
          </a:prstGeom>
        </p:spPr>
      </p:pic>
      <p:pic>
        <p:nvPicPr>
          <p:cNvPr id="5" name="Image 3" descr="preencoded.png"/>
          <p:cNvPicPr>
            <a:picLocks noChangeAspect="1"/>
          </p:cNvPicPr>
          <p:nvPr/>
        </p:nvPicPr>
        <p:blipFill>
          <a:blip r:embed="rId6"/>
          <a:stretch>
            <a:fillRect/>
          </a:stretch>
        </p:blipFill>
        <p:spPr>
          <a:xfrm>
            <a:off x="533400" y="2466975"/>
            <a:ext cx="114300" cy="152400"/>
          </a:xfrm>
          <a:prstGeom prst="rect">
            <a:avLst/>
          </a:prstGeom>
        </p:spPr>
      </p:pic>
      <p:pic>
        <p:nvPicPr>
          <p:cNvPr id="6" name="Image 4" descr="preencoded.png"/>
          <p:cNvPicPr>
            <a:picLocks noChangeAspect="1"/>
          </p:cNvPicPr>
          <p:nvPr/>
        </p:nvPicPr>
        <p:blipFill>
          <a:blip r:embed="rId7"/>
          <a:stretch>
            <a:fillRect/>
          </a:stretch>
        </p:blipFill>
        <p:spPr>
          <a:xfrm>
            <a:off x="457200" y="3086100"/>
            <a:ext cx="152400" cy="381000"/>
          </a:xfrm>
          <a:prstGeom prst="rect">
            <a:avLst/>
          </a:prstGeom>
        </p:spPr>
      </p:pic>
      <p:pic>
        <p:nvPicPr>
          <p:cNvPr id="7" name="Image 5" descr="preencoded.png"/>
          <p:cNvPicPr>
            <a:picLocks noChangeAspect="1"/>
          </p:cNvPicPr>
          <p:nvPr/>
        </p:nvPicPr>
        <p:blipFill>
          <a:blip r:embed="rId8"/>
          <a:stretch>
            <a:fillRect/>
          </a:stretch>
        </p:blipFill>
        <p:spPr>
          <a:xfrm>
            <a:off x="457200" y="3810000"/>
            <a:ext cx="342900" cy="381000"/>
          </a:xfrm>
          <a:prstGeom prst="rect">
            <a:avLst/>
          </a:prstGeom>
        </p:spPr>
      </p:pic>
      <p:pic>
        <p:nvPicPr>
          <p:cNvPr id="8" name="Image 6" descr="preencoded.png"/>
          <p:cNvPicPr>
            <a:picLocks noChangeAspect="1"/>
          </p:cNvPicPr>
          <p:nvPr/>
        </p:nvPicPr>
        <p:blipFill>
          <a:blip r:embed="rId9"/>
          <a:stretch>
            <a:fillRect/>
          </a:stretch>
        </p:blipFill>
        <p:spPr>
          <a:xfrm>
            <a:off x="533400" y="3914775"/>
            <a:ext cx="190500" cy="152400"/>
          </a:xfrm>
          <a:prstGeom prst="rect">
            <a:avLst/>
          </a:prstGeom>
        </p:spPr>
      </p:pic>
      <p:pic>
        <p:nvPicPr>
          <p:cNvPr id="9" name="Image 7" descr="preencoded.png"/>
          <p:cNvPicPr>
            <a:picLocks noChangeAspect="1"/>
          </p:cNvPicPr>
          <p:nvPr/>
        </p:nvPicPr>
        <p:blipFill>
          <a:blip r:embed="rId10"/>
          <a:stretch>
            <a:fillRect/>
          </a:stretch>
        </p:blipFill>
        <p:spPr>
          <a:xfrm>
            <a:off x="457200" y="4533900"/>
            <a:ext cx="342900" cy="381000"/>
          </a:xfrm>
          <a:prstGeom prst="rect">
            <a:avLst/>
          </a:prstGeom>
        </p:spPr>
      </p:pic>
      <p:pic>
        <p:nvPicPr>
          <p:cNvPr id="10" name="Image 8" descr="preencoded.png"/>
          <p:cNvPicPr>
            <a:picLocks noChangeAspect="1"/>
          </p:cNvPicPr>
          <p:nvPr/>
        </p:nvPicPr>
        <p:blipFill>
          <a:blip r:embed="rId11"/>
          <a:stretch>
            <a:fillRect/>
          </a:stretch>
        </p:blipFill>
        <p:spPr>
          <a:xfrm>
            <a:off x="533400" y="4638675"/>
            <a:ext cx="190500" cy="152400"/>
          </a:xfrm>
          <a:prstGeom prst="rect">
            <a:avLst/>
          </a:prstGeom>
        </p:spPr>
      </p:pic>
      <p:pic>
        <p:nvPicPr>
          <p:cNvPr id="11" name="Image 9" descr="preencoded.png"/>
          <p:cNvPicPr>
            <a:picLocks noChangeAspect="1"/>
          </p:cNvPicPr>
          <p:nvPr/>
        </p:nvPicPr>
        <p:blipFill>
          <a:blip r:embed="rId12"/>
          <a:stretch>
            <a:fillRect/>
          </a:stretch>
        </p:blipFill>
        <p:spPr>
          <a:xfrm>
            <a:off x="7543800" y="1866900"/>
            <a:ext cx="2743200" cy="2743200"/>
          </a:xfrm>
          <a:prstGeom prst="rect">
            <a:avLst/>
          </a:prstGeom>
        </p:spPr>
      </p:pic>
      <p:pic>
        <p:nvPicPr>
          <p:cNvPr id="12" name="Image 10" descr="preencoded.png"/>
          <p:cNvPicPr>
            <a:picLocks noChangeAspect="1"/>
          </p:cNvPicPr>
          <p:nvPr/>
        </p:nvPicPr>
        <p:blipFill>
          <a:blip r:embed="rId13"/>
          <a:stretch>
            <a:fillRect/>
          </a:stretch>
        </p:blipFill>
        <p:spPr>
          <a:xfrm>
            <a:off x="7676406" y="2495550"/>
            <a:ext cx="571500" cy="457200"/>
          </a:xfrm>
          <a:prstGeom prst="rect">
            <a:avLst/>
          </a:prstGeom>
        </p:spPr>
      </p:pic>
      <p:pic>
        <p:nvPicPr>
          <p:cNvPr id="13" name="Image 11" descr="preencoded.png"/>
          <p:cNvPicPr>
            <a:picLocks noChangeAspect="1"/>
          </p:cNvPicPr>
          <p:nvPr/>
        </p:nvPicPr>
        <p:blipFill>
          <a:blip r:embed="rId14"/>
          <a:stretch>
            <a:fillRect/>
          </a:stretch>
        </p:blipFill>
        <p:spPr>
          <a:xfrm>
            <a:off x="7756475" y="3524250"/>
            <a:ext cx="228600" cy="228600"/>
          </a:xfrm>
          <a:prstGeom prst="rect">
            <a:avLst/>
          </a:prstGeom>
        </p:spPr>
      </p:pic>
      <p:pic>
        <p:nvPicPr>
          <p:cNvPr id="14" name="Image 12" descr="preencoded.png"/>
          <p:cNvPicPr>
            <a:picLocks noChangeAspect="1"/>
          </p:cNvPicPr>
          <p:nvPr/>
        </p:nvPicPr>
        <p:blipFill>
          <a:blip r:embed="rId15"/>
          <a:stretch>
            <a:fillRect/>
          </a:stretch>
        </p:blipFill>
        <p:spPr>
          <a:xfrm>
            <a:off x="8589318" y="3524250"/>
            <a:ext cx="228600" cy="228600"/>
          </a:xfrm>
          <a:prstGeom prst="rect">
            <a:avLst/>
          </a:prstGeom>
        </p:spPr>
      </p:pic>
      <p:pic>
        <p:nvPicPr>
          <p:cNvPr id="15" name="Image 13" descr="preencoded.png"/>
          <p:cNvPicPr>
            <a:picLocks noChangeAspect="1"/>
          </p:cNvPicPr>
          <p:nvPr/>
        </p:nvPicPr>
        <p:blipFill>
          <a:blip r:embed="rId16"/>
          <a:stretch>
            <a:fillRect/>
          </a:stretch>
        </p:blipFill>
        <p:spPr>
          <a:xfrm>
            <a:off x="9648081" y="3524250"/>
            <a:ext cx="200025" cy="228600"/>
          </a:xfrm>
          <a:prstGeom prst="rect">
            <a:avLst/>
          </a:prstGeom>
        </p:spPr>
      </p:pic>
      <p:pic>
        <p:nvPicPr>
          <p:cNvPr id="16" name="Image 14" descr="preencoded.png"/>
          <p:cNvPicPr>
            <a:picLocks noChangeAspect="1"/>
          </p:cNvPicPr>
          <p:nvPr/>
        </p:nvPicPr>
        <p:blipFill>
          <a:blip r:embed="rId17"/>
          <a:stretch>
            <a:fillRect/>
          </a:stretch>
        </p:blipFill>
        <p:spPr>
          <a:xfrm>
            <a:off x="6096000" y="5334000"/>
            <a:ext cx="5638800" cy="76200"/>
          </a:xfrm>
          <a:prstGeom prst="rect">
            <a:avLst/>
          </a:prstGeom>
        </p:spPr>
      </p:pic>
      <p:pic>
        <p:nvPicPr>
          <p:cNvPr id="17" name="Image 15" descr="preencoded.png"/>
          <p:cNvPicPr>
            <a:picLocks noChangeAspect="1"/>
          </p:cNvPicPr>
          <p:nvPr/>
        </p:nvPicPr>
        <p:blipFill>
          <a:blip r:embed="rId18"/>
          <a:stretch>
            <a:fillRect/>
          </a:stretch>
        </p:blipFill>
        <p:spPr>
          <a:xfrm>
            <a:off x="6564511" y="5276850"/>
            <a:ext cx="190500" cy="190500"/>
          </a:xfrm>
          <a:prstGeom prst="rect">
            <a:avLst/>
          </a:prstGeom>
        </p:spPr>
      </p:pic>
      <p:pic>
        <p:nvPicPr>
          <p:cNvPr id="18" name="Image 16" descr="preencoded.png"/>
          <p:cNvPicPr>
            <a:picLocks noChangeAspect="1"/>
          </p:cNvPicPr>
          <p:nvPr/>
        </p:nvPicPr>
        <p:blipFill>
          <a:blip r:embed="rId19"/>
          <a:stretch>
            <a:fillRect/>
          </a:stretch>
        </p:blipFill>
        <p:spPr>
          <a:xfrm>
            <a:off x="8256240" y="5276850"/>
            <a:ext cx="190500" cy="190500"/>
          </a:xfrm>
          <a:prstGeom prst="rect">
            <a:avLst/>
          </a:prstGeom>
        </p:spPr>
      </p:pic>
      <p:pic>
        <p:nvPicPr>
          <p:cNvPr id="19" name="Image 17" descr="preencoded.png"/>
          <p:cNvPicPr>
            <a:picLocks noChangeAspect="1"/>
          </p:cNvPicPr>
          <p:nvPr/>
        </p:nvPicPr>
        <p:blipFill>
          <a:blip r:embed="rId18"/>
          <a:stretch>
            <a:fillRect/>
          </a:stretch>
        </p:blipFill>
        <p:spPr>
          <a:xfrm>
            <a:off x="9947821" y="5276850"/>
            <a:ext cx="190500" cy="190500"/>
          </a:xfrm>
          <a:prstGeom prst="rect">
            <a:avLst/>
          </a:prstGeom>
        </p:spPr>
      </p:pic>
      <p:pic>
        <p:nvPicPr>
          <p:cNvPr id="20" name="Image 18" descr="preencoded.png"/>
          <p:cNvPicPr>
            <a:picLocks noChangeAspect="1"/>
          </p:cNvPicPr>
          <p:nvPr/>
        </p:nvPicPr>
        <p:blipFill>
          <a:blip r:embed="rId19"/>
          <a:stretch>
            <a:fillRect/>
          </a:stretch>
        </p:blipFill>
        <p:spPr>
          <a:xfrm>
            <a:off x="11075640" y="5276850"/>
            <a:ext cx="190500" cy="190500"/>
          </a:xfrm>
          <a:prstGeom prst="rect">
            <a:avLst/>
          </a:prstGeom>
        </p:spPr>
      </p:pic>
      <p:sp>
        <p:nvSpPr>
          <p:cNvPr id="21"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What is Docker?</a:t>
            </a:r>
            <a:endParaRPr lang="en-US" sz="2700" dirty="0"/>
          </a:p>
        </p:txBody>
      </p:sp>
      <p:sp>
        <p:nvSpPr>
          <p:cNvPr id="23" name="Text 2"/>
          <p:cNvSpPr/>
          <p:nvPr/>
        </p:nvSpPr>
        <p:spPr>
          <a:xfrm>
            <a:off x="876300" y="2324100"/>
            <a:ext cx="49149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Comprehensive Toolkit</a:t>
            </a:r>
            <a:r>
              <a:rPr lang="en-US" sz="1350" dirty="0">
                <a:solidFill>
                  <a:srgbClr val="374151"/>
                </a:solidFill>
                <a:latin typeface="ui-sans-serif" pitchFamily="34" charset="0"/>
                <a:ea typeface="ui-sans-serif" pitchFamily="34" charset="-122"/>
                <a:cs typeface="ui-sans-serif" pitchFamily="34" charset="-120"/>
              </a:rPr>
              <a:t> - Provides tools for building, deploying, and managing containerized applications</a:t>
            </a:r>
            <a:endParaRPr lang="en-US" sz="1350" dirty="0"/>
          </a:p>
        </p:txBody>
      </p:sp>
      <p:sp>
        <p:nvSpPr>
          <p:cNvPr id="24" name="Text 3"/>
          <p:cNvSpPr/>
          <p:nvPr/>
        </p:nvSpPr>
        <p:spPr>
          <a:xfrm>
            <a:off x="762000" y="3048000"/>
            <a:ext cx="50292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Standardization</a:t>
            </a:r>
            <a:r>
              <a:rPr lang="en-US" sz="1350" dirty="0">
                <a:solidFill>
                  <a:srgbClr val="374151"/>
                </a:solidFill>
                <a:latin typeface="ui-sans-serif" pitchFamily="34" charset="0"/>
                <a:ea typeface="ui-sans-serif" pitchFamily="34" charset="-122"/>
                <a:cs typeface="ui-sans-serif" pitchFamily="34" charset="-120"/>
              </a:rPr>
              <a:t> - Created a consistent framework for containerization, making it easier to adopt</a:t>
            </a:r>
            <a:endParaRPr lang="en-US" sz="1350" dirty="0"/>
          </a:p>
        </p:txBody>
      </p:sp>
      <p:sp>
        <p:nvSpPr>
          <p:cNvPr id="25" name="Text 4"/>
          <p:cNvSpPr/>
          <p:nvPr/>
        </p:nvSpPr>
        <p:spPr>
          <a:xfrm>
            <a:off x="952500" y="3771900"/>
            <a:ext cx="48387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Portability</a:t>
            </a:r>
            <a:r>
              <a:rPr lang="en-US" sz="1350" dirty="0">
                <a:solidFill>
                  <a:srgbClr val="374151"/>
                </a:solidFill>
                <a:latin typeface="ui-sans-serif" pitchFamily="34" charset="0"/>
                <a:ea typeface="ui-sans-serif" pitchFamily="34" charset="-122"/>
                <a:cs typeface="ui-sans-serif" pitchFamily="34" charset="-120"/>
              </a:rPr>
              <a:t> - Enables "write once, run anywhere" principle across different environments</a:t>
            </a:r>
            <a:endParaRPr lang="en-US" sz="1350" dirty="0"/>
          </a:p>
        </p:txBody>
      </p:sp>
      <p:sp>
        <p:nvSpPr>
          <p:cNvPr id="26" name="Text 5"/>
          <p:cNvSpPr/>
          <p:nvPr/>
        </p:nvSpPr>
        <p:spPr>
          <a:xfrm>
            <a:off x="952500" y="4495800"/>
            <a:ext cx="48387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Ecosystem</a:t>
            </a:r>
            <a:r>
              <a:rPr lang="en-US" sz="1350" dirty="0">
                <a:solidFill>
                  <a:srgbClr val="374151"/>
                </a:solidFill>
                <a:latin typeface="ui-sans-serif" pitchFamily="34" charset="0"/>
                <a:ea typeface="ui-sans-serif" pitchFamily="34" charset="-122"/>
                <a:cs typeface="ui-sans-serif" pitchFamily="34" charset="-120"/>
              </a:rPr>
              <a:t> - Built a vibrant community and ecosystem of tools and services</a:t>
            </a:r>
            <a:endParaRPr lang="en-US" sz="1350" dirty="0"/>
          </a:p>
        </p:txBody>
      </p:sp>
      <p:sp>
        <p:nvSpPr>
          <p:cNvPr id="27" name="Text 6"/>
          <p:cNvSpPr/>
          <p:nvPr/>
        </p:nvSpPr>
        <p:spPr>
          <a:xfrm>
            <a:off x="8362206" y="2495550"/>
            <a:ext cx="2973407" cy="457200"/>
          </a:xfrm>
          <a:prstGeom prst="rect">
            <a:avLst/>
          </a:prstGeom>
          <a:noFill/>
          <a:ln/>
        </p:spPr>
        <p:txBody>
          <a:bodyPr vert="horz" wrap="square" lIns="0" tIns="0" rIns="0" bIns="0" rtlCol="0" anchor="t"/>
          <a:lstStyle/>
          <a:p>
            <a:pPr marL="0" indent="0">
              <a:lnSpc>
                <a:spcPts val="3600"/>
              </a:lnSpc>
              <a:buNone/>
            </a:pPr>
            <a:r>
              <a:rPr lang="en-US" sz="3600" b="1" dirty="0">
                <a:solidFill>
                  <a:srgbClr val="374151"/>
                </a:solidFill>
                <a:latin typeface="ui-sans-serif" pitchFamily="34" charset="0"/>
                <a:ea typeface="ui-sans-serif" pitchFamily="34" charset="-122"/>
                <a:cs typeface="ui-sans-serif" pitchFamily="34" charset="-120"/>
              </a:rPr>
              <a:t>Docker</a:t>
            </a:r>
            <a:endParaRPr lang="en-US" sz="3600" dirty="0"/>
          </a:p>
        </p:txBody>
      </p:sp>
      <p:sp>
        <p:nvSpPr>
          <p:cNvPr id="28" name="Text 7"/>
          <p:cNvSpPr/>
          <p:nvPr/>
        </p:nvSpPr>
        <p:spPr>
          <a:xfrm>
            <a:off x="8017966" y="3028950"/>
            <a:ext cx="2153841" cy="266700"/>
          </a:xfrm>
          <a:prstGeom prst="rect">
            <a:avLst/>
          </a:prstGeom>
          <a:noFill/>
          <a:ln/>
        </p:spPr>
        <p:txBody>
          <a:bodyPr vert="horz" wrap="square" lIns="0" tIns="0" rIns="0" bIns="0" rtlCol="0" anchor="t"/>
          <a:lstStyle/>
          <a:p>
            <a:pPr marL="0" indent="0">
              <a:lnSpc>
                <a:spcPts val="2100"/>
              </a:lnSpc>
              <a:buNone/>
            </a:pPr>
            <a:r>
              <a:rPr lang="en-US" sz="1500" dirty="0">
                <a:solidFill>
                  <a:srgbClr val="4B5563"/>
                </a:solidFill>
                <a:latin typeface="ui-sans-serif" pitchFamily="34" charset="0"/>
                <a:ea typeface="ui-sans-serif" pitchFamily="34" charset="-122"/>
                <a:cs typeface="ui-sans-serif" pitchFamily="34" charset="-120"/>
              </a:rPr>
              <a:t>Container Platform</a:t>
            </a:r>
            <a:endParaRPr lang="en-US" sz="1500" dirty="0"/>
          </a:p>
        </p:txBody>
      </p:sp>
      <p:sp>
        <p:nvSpPr>
          <p:cNvPr id="29" name="Text 8"/>
          <p:cNvSpPr/>
          <p:nvPr/>
        </p:nvSpPr>
        <p:spPr>
          <a:xfrm>
            <a:off x="7627293" y="3790950"/>
            <a:ext cx="584537"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Images</a:t>
            </a:r>
            <a:endParaRPr lang="en-US" sz="1050" dirty="0"/>
          </a:p>
        </p:txBody>
      </p:sp>
      <p:sp>
        <p:nvSpPr>
          <p:cNvPr id="30" name="Text 9"/>
          <p:cNvSpPr/>
          <p:nvPr/>
        </p:nvSpPr>
        <p:spPr>
          <a:xfrm>
            <a:off x="8343007" y="3790950"/>
            <a:ext cx="865465"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Containers</a:t>
            </a:r>
            <a:endParaRPr lang="en-US" sz="1050" dirty="0"/>
          </a:p>
        </p:txBody>
      </p:sp>
      <p:sp>
        <p:nvSpPr>
          <p:cNvPr id="31" name="Text 10"/>
          <p:cNvSpPr/>
          <p:nvPr/>
        </p:nvSpPr>
        <p:spPr>
          <a:xfrm>
            <a:off x="9292828" y="3790950"/>
            <a:ext cx="1092637"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Orchestration</a:t>
            </a:r>
            <a:endParaRPr lang="en-US" sz="1050" dirty="0"/>
          </a:p>
        </p:txBody>
      </p:sp>
      <p:sp>
        <p:nvSpPr>
          <p:cNvPr id="33" name="Text 12"/>
          <p:cNvSpPr/>
          <p:nvPr/>
        </p:nvSpPr>
        <p:spPr>
          <a:xfrm>
            <a:off x="5973961" y="5288161"/>
            <a:ext cx="1371600" cy="152400"/>
          </a:xfrm>
          <a:prstGeom prst="rect">
            <a:avLst/>
          </a:prstGeom>
          <a:noFill/>
          <a:ln/>
        </p:spPr>
        <p:txBody>
          <a:bodyPr vert="horz" wrap="square" lIns="0" tIns="0" rIns="0" bIns="0" rtlCol="0" anchor="t"/>
          <a:lstStyle/>
          <a:p>
            <a:pPr marL="0" indent="0" algn="ctr">
              <a:lnSpc>
                <a:spcPts val="1200"/>
              </a:lnSpc>
              <a:buNone/>
            </a:pPr>
            <a:r>
              <a:rPr lang="en-US" sz="900" dirty="0">
                <a:solidFill>
                  <a:srgbClr val="4B5563"/>
                </a:solidFill>
                <a:latin typeface="ui-sans-serif" pitchFamily="34" charset="0"/>
                <a:ea typeface="ui-sans-serif" pitchFamily="34" charset="-122"/>
                <a:cs typeface="ui-sans-serif" pitchFamily="34" charset="-120"/>
              </a:rPr>
              <a:t>Docker Emerges</a:t>
            </a:r>
            <a:endParaRPr lang="en-US" sz="900" dirty="0"/>
          </a:p>
        </p:txBody>
      </p:sp>
      <p:sp>
        <p:nvSpPr>
          <p:cNvPr id="35" name="Text 14"/>
          <p:cNvSpPr/>
          <p:nvPr/>
        </p:nvSpPr>
        <p:spPr>
          <a:xfrm>
            <a:off x="7779990" y="5836890"/>
            <a:ext cx="1143000" cy="304800"/>
          </a:xfrm>
          <a:prstGeom prst="rect">
            <a:avLst/>
          </a:prstGeom>
          <a:noFill/>
          <a:ln/>
        </p:spPr>
        <p:txBody>
          <a:bodyPr vert="horz" wrap="square" lIns="0" tIns="0" rIns="0" bIns="0" rtlCol="0" anchor="t"/>
          <a:lstStyle/>
          <a:p>
            <a:pPr marL="0" indent="0" algn="ctr">
              <a:lnSpc>
                <a:spcPts val="1200"/>
              </a:lnSpc>
              <a:buNone/>
            </a:pPr>
            <a:r>
              <a:rPr lang="en-US" sz="900" dirty="0">
                <a:solidFill>
                  <a:srgbClr val="4B5563"/>
                </a:solidFill>
                <a:latin typeface="ui-sans-serif" pitchFamily="34" charset="0"/>
                <a:ea typeface="ui-sans-serif" pitchFamily="34" charset="-122"/>
                <a:cs typeface="ui-sans-serif" pitchFamily="34" charset="-120"/>
              </a:rPr>
              <a:t>Docker Swarm &amp; Compose</a:t>
            </a:r>
            <a:endParaRPr lang="en-US" sz="900" dirty="0"/>
          </a:p>
        </p:txBody>
      </p:sp>
      <p:sp>
        <p:nvSpPr>
          <p:cNvPr id="37" name="Text 16"/>
          <p:cNvSpPr/>
          <p:nvPr/>
        </p:nvSpPr>
        <p:spPr>
          <a:xfrm>
            <a:off x="9471571" y="5288161"/>
            <a:ext cx="1143000" cy="304800"/>
          </a:xfrm>
          <a:prstGeom prst="rect">
            <a:avLst/>
          </a:prstGeom>
          <a:noFill/>
          <a:ln/>
        </p:spPr>
        <p:txBody>
          <a:bodyPr vert="horz" wrap="square" lIns="0" tIns="0" rIns="0" bIns="0" rtlCol="0" anchor="t"/>
          <a:lstStyle/>
          <a:p>
            <a:pPr marL="0" indent="0" algn="ctr">
              <a:lnSpc>
                <a:spcPts val="1200"/>
              </a:lnSpc>
              <a:buNone/>
            </a:pPr>
            <a:r>
              <a:rPr lang="en-US" sz="900" dirty="0">
                <a:solidFill>
                  <a:srgbClr val="4B5563"/>
                </a:solidFill>
                <a:latin typeface="ui-sans-serif" pitchFamily="34" charset="0"/>
                <a:ea typeface="ui-sans-serif" pitchFamily="34" charset="-122"/>
                <a:cs typeface="ui-sans-serif" pitchFamily="34" charset="-120"/>
              </a:rPr>
              <a:t>Kubernetes Integration</a:t>
            </a:r>
            <a:endParaRPr lang="en-US" sz="900" dirty="0"/>
          </a:p>
        </p:txBody>
      </p:sp>
      <p:sp>
        <p:nvSpPr>
          <p:cNvPr id="38" name="Text 17"/>
          <p:cNvSpPr/>
          <p:nvPr/>
        </p:nvSpPr>
        <p:spPr>
          <a:xfrm>
            <a:off x="10599390" y="5646390"/>
            <a:ext cx="1143000" cy="190500"/>
          </a:xfrm>
          <a:prstGeom prst="rect">
            <a:avLst/>
          </a:prstGeom>
          <a:noFill/>
          <a:ln/>
        </p:spPr>
        <p:txBody>
          <a:bodyPr vert="horz" wrap="square" lIns="0" tIns="0" rIns="0" bIns="0" rtlCol="0" anchor="t"/>
          <a:lstStyle/>
          <a:p>
            <a:pPr marL="0" indent="0" algn="ctr">
              <a:lnSpc>
                <a:spcPts val="1500"/>
              </a:lnSpc>
              <a:buNone/>
            </a:pPr>
            <a:r>
              <a:rPr lang="en-US" sz="1050" b="1" dirty="0">
                <a:solidFill>
                  <a:srgbClr val="374151"/>
                </a:solidFill>
                <a:latin typeface="ui-sans-serif" pitchFamily="34" charset="0"/>
                <a:ea typeface="ui-sans-serif" pitchFamily="34" charset="-122"/>
                <a:cs typeface="ui-sans-serif" pitchFamily="34" charset="-120"/>
              </a:rPr>
              <a:t>Today</a:t>
            </a:r>
            <a:endParaRPr lang="en-US" sz="1050" dirty="0"/>
          </a:p>
        </p:txBody>
      </p:sp>
      <p:sp>
        <p:nvSpPr>
          <p:cNvPr id="39" name="Text 18"/>
          <p:cNvSpPr/>
          <p:nvPr/>
        </p:nvSpPr>
        <p:spPr>
          <a:xfrm>
            <a:off x="10599390" y="5836890"/>
            <a:ext cx="1143000" cy="304800"/>
          </a:xfrm>
          <a:prstGeom prst="rect">
            <a:avLst/>
          </a:prstGeom>
          <a:noFill/>
          <a:ln/>
        </p:spPr>
        <p:txBody>
          <a:bodyPr vert="horz" wrap="square" lIns="0" tIns="0" rIns="0" bIns="0" rtlCol="0" anchor="t"/>
          <a:lstStyle/>
          <a:p>
            <a:pPr marL="0" indent="0" algn="ctr">
              <a:lnSpc>
                <a:spcPts val="1200"/>
              </a:lnSpc>
              <a:buNone/>
            </a:pPr>
            <a:r>
              <a:rPr lang="en-US" sz="900" dirty="0">
                <a:solidFill>
                  <a:srgbClr val="4B5563"/>
                </a:solidFill>
                <a:latin typeface="ui-sans-serif" pitchFamily="34" charset="0"/>
                <a:ea typeface="ui-sans-serif" pitchFamily="34" charset="-122"/>
                <a:cs typeface="ui-sans-serif" pitchFamily="34" charset="-120"/>
              </a:rPr>
              <a:t>Standard Container Platform</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972300"/>
          </a:xfrm>
          <a:prstGeom prst="rect">
            <a:avLst/>
          </a:prstGeom>
        </p:spPr>
      </p:pic>
      <p:pic>
        <p:nvPicPr>
          <p:cNvPr id="3" name="Image 1" descr="preencoded.png"/>
          <p:cNvPicPr>
            <a:picLocks noChangeAspect="1"/>
          </p:cNvPicPr>
          <p:nvPr/>
        </p:nvPicPr>
        <p:blipFill>
          <a:blip r:embed="rId4"/>
          <a:stretch>
            <a:fillRect/>
          </a:stretch>
        </p:blipFill>
        <p:spPr>
          <a:xfrm>
            <a:off x="457200" y="9525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95400"/>
            <a:ext cx="3657600" cy="3086100"/>
          </a:xfrm>
          <a:prstGeom prst="rect">
            <a:avLst/>
          </a:prstGeom>
        </p:spPr>
      </p:pic>
      <p:pic>
        <p:nvPicPr>
          <p:cNvPr id="5" name="Image 3" descr="preencoded.png"/>
          <p:cNvPicPr>
            <a:picLocks noChangeAspect="1"/>
          </p:cNvPicPr>
          <p:nvPr/>
        </p:nvPicPr>
        <p:blipFill>
          <a:blip r:embed="rId6"/>
          <a:stretch>
            <a:fillRect/>
          </a:stretch>
        </p:blipFill>
        <p:spPr>
          <a:xfrm>
            <a:off x="647700" y="1485900"/>
            <a:ext cx="371475" cy="495300"/>
          </a:xfrm>
          <a:prstGeom prst="rect">
            <a:avLst/>
          </a:prstGeom>
        </p:spPr>
      </p:pic>
      <p:pic>
        <p:nvPicPr>
          <p:cNvPr id="6" name="Image 4" descr="preencoded.png"/>
          <p:cNvPicPr>
            <a:picLocks noChangeAspect="1"/>
          </p:cNvPicPr>
          <p:nvPr/>
        </p:nvPicPr>
        <p:blipFill>
          <a:blip r:embed="rId7"/>
          <a:stretch>
            <a:fillRect/>
          </a:stretch>
        </p:blipFill>
        <p:spPr>
          <a:xfrm>
            <a:off x="762000" y="1600200"/>
            <a:ext cx="142875" cy="266700"/>
          </a:xfrm>
          <a:prstGeom prst="rect">
            <a:avLst/>
          </a:prstGeom>
        </p:spPr>
      </p:pic>
      <p:pic>
        <p:nvPicPr>
          <p:cNvPr id="7" name="Image 5" descr="preencoded.png"/>
          <p:cNvPicPr>
            <a:picLocks noChangeAspect="1"/>
          </p:cNvPicPr>
          <p:nvPr/>
        </p:nvPicPr>
        <p:blipFill>
          <a:blip r:embed="rId8"/>
          <a:stretch>
            <a:fillRect/>
          </a:stretch>
        </p:blipFill>
        <p:spPr>
          <a:xfrm>
            <a:off x="647700" y="3352800"/>
            <a:ext cx="3276600" cy="609600"/>
          </a:xfrm>
          <a:prstGeom prst="rect">
            <a:avLst/>
          </a:prstGeom>
        </p:spPr>
      </p:pic>
      <p:pic>
        <p:nvPicPr>
          <p:cNvPr id="8" name="Image 6" descr="preencoded.png"/>
          <p:cNvPicPr>
            <a:picLocks noChangeAspect="1"/>
          </p:cNvPicPr>
          <p:nvPr/>
        </p:nvPicPr>
        <p:blipFill>
          <a:blip r:embed="rId9"/>
          <a:stretch>
            <a:fillRect/>
          </a:stretch>
        </p:blipFill>
        <p:spPr>
          <a:xfrm>
            <a:off x="723900" y="3467100"/>
            <a:ext cx="171450" cy="152400"/>
          </a:xfrm>
          <a:prstGeom prst="rect">
            <a:avLst/>
          </a:prstGeom>
        </p:spPr>
      </p:pic>
      <p:pic>
        <p:nvPicPr>
          <p:cNvPr id="9" name="Image 7" descr="preencoded.png"/>
          <p:cNvPicPr>
            <a:picLocks noChangeAspect="1"/>
          </p:cNvPicPr>
          <p:nvPr/>
        </p:nvPicPr>
        <p:blipFill>
          <a:blip r:embed="rId9"/>
          <a:stretch>
            <a:fillRect/>
          </a:stretch>
        </p:blipFill>
        <p:spPr>
          <a:xfrm>
            <a:off x="723900" y="3695700"/>
            <a:ext cx="171450" cy="152400"/>
          </a:xfrm>
          <a:prstGeom prst="rect">
            <a:avLst/>
          </a:prstGeom>
        </p:spPr>
      </p:pic>
      <p:pic>
        <p:nvPicPr>
          <p:cNvPr id="10" name="Image 8" descr="preencoded.png"/>
          <p:cNvPicPr>
            <a:picLocks noChangeAspect="1"/>
          </p:cNvPicPr>
          <p:nvPr/>
        </p:nvPicPr>
        <p:blipFill>
          <a:blip r:embed="rId10"/>
          <a:stretch>
            <a:fillRect/>
          </a:stretch>
        </p:blipFill>
        <p:spPr>
          <a:xfrm>
            <a:off x="4267200" y="1295400"/>
            <a:ext cx="3657600" cy="3086100"/>
          </a:xfrm>
          <a:prstGeom prst="rect">
            <a:avLst/>
          </a:prstGeom>
        </p:spPr>
      </p:pic>
      <p:pic>
        <p:nvPicPr>
          <p:cNvPr id="11" name="Image 9" descr="preencoded.png"/>
          <p:cNvPicPr>
            <a:picLocks noChangeAspect="1"/>
          </p:cNvPicPr>
          <p:nvPr/>
        </p:nvPicPr>
        <p:blipFill>
          <a:blip r:embed="rId11"/>
          <a:stretch>
            <a:fillRect/>
          </a:stretch>
        </p:blipFill>
        <p:spPr>
          <a:xfrm>
            <a:off x="4457700" y="1485900"/>
            <a:ext cx="419100" cy="495300"/>
          </a:xfrm>
          <a:prstGeom prst="rect">
            <a:avLst/>
          </a:prstGeom>
        </p:spPr>
      </p:pic>
      <p:pic>
        <p:nvPicPr>
          <p:cNvPr id="12" name="Image 10" descr="preencoded.png"/>
          <p:cNvPicPr>
            <a:picLocks noChangeAspect="1"/>
          </p:cNvPicPr>
          <p:nvPr/>
        </p:nvPicPr>
        <p:blipFill>
          <a:blip r:embed="rId12"/>
          <a:stretch>
            <a:fillRect/>
          </a:stretch>
        </p:blipFill>
        <p:spPr>
          <a:xfrm>
            <a:off x="4572000" y="1600200"/>
            <a:ext cx="190500" cy="266700"/>
          </a:xfrm>
          <a:prstGeom prst="rect">
            <a:avLst/>
          </a:prstGeom>
        </p:spPr>
      </p:pic>
      <p:pic>
        <p:nvPicPr>
          <p:cNvPr id="13" name="Image 11" descr="preencoded.png"/>
          <p:cNvPicPr>
            <a:picLocks noChangeAspect="1"/>
          </p:cNvPicPr>
          <p:nvPr/>
        </p:nvPicPr>
        <p:blipFill>
          <a:blip r:embed="rId8"/>
          <a:stretch>
            <a:fillRect/>
          </a:stretch>
        </p:blipFill>
        <p:spPr>
          <a:xfrm>
            <a:off x="4457700" y="3352800"/>
            <a:ext cx="3276600" cy="609600"/>
          </a:xfrm>
          <a:prstGeom prst="rect">
            <a:avLst/>
          </a:prstGeom>
        </p:spPr>
      </p:pic>
      <p:pic>
        <p:nvPicPr>
          <p:cNvPr id="14" name="Image 12" descr="preencoded.png"/>
          <p:cNvPicPr>
            <a:picLocks noChangeAspect="1"/>
          </p:cNvPicPr>
          <p:nvPr/>
        </p:nvPicPr>
        <p:blipFill>
          <a:blip r:embed="rId13"/>
          <a:stretch>
            <a:fillRect/>
          </a:stretch>
        </p:blipFill>
        <p:spPr>
          <a:xfrm>
            <a:off x="4533900" y="3467100"/>
            <a:ext cx="152400" cy="152400"/>
          </a:xfrm>
          <a:prstGeom prst="rect">
            <a:avLst/>
          </a:prstGeom>
        </p:spPr>
      </p:pic>
      <p:pic>
        <p:nvPicPr>
          <p:cNvPr id="15" name="Image 13" descr="preencoded.png"/>
          <p:cNvPicPr>
            <a:picLocks noChangeAspect="1"/>
          </p:cNvPicPr>
          <p:nvPr/>
        </p:nvPicPr>
        <p:blipFill>
          <a:blip r:embed="rId14"/>
          <a:stretch>
            <a:fillRect/>
          </a:stretch>
        </p:blipFill>
        <p:spPr>
          <a:xfrm>
            <a:off x="4533900" y="3695700"/>
            <a:ext cx="152400" cy="152400"/>
          </a:xfrm>
          <a:prstGeom prst="rect">
            <a:avLst/>
          </a:prstGeom>
        </p:spPr>
      </p:pic>
      <p:pic>
        <p:nvPicPr>
          <p:cNvPr id="16" name="Image 14" descr="preencoded.png"/>
          <p:cNvPicPr>
            <a:picLocks noChangeAspect="1"/>
          </p:cNvPicPr>
          <p:nvPr/>
        </p:nvPicPr>
        <p:blipFill>
          <a:blip r:embed="rId15"/>
          <a:stretch>
            <a:fillRect/>
          </a:stretch>
        </p:blipFill>
        <p:spPr>
          <a:xfrm>
            <a:off x="8077200" y="1295400"/>
            <a:ext cx="3657600" cy="3086100"/>
          </a:xfrm>
          <a:prstGeom prst="rect">
            <a:avLst/>
          </a:prstGeom>
        </p:spPr>
      </p:pic>
      <p:pic>
        <p:nvPicPr>
          <p:cNvPr id="17" name="Image 15" descr="preencoded.png"/>
          <p:cNvPicPr>
            <a:picLocks noChangeAspect="1"/>
          </p:cNvPicPr>
          <p:nvPr/>
        </p:nvPicPr>
        <p:blipFill>
          <a:blip r:embed="rId16"/>
          <a:stretch>
            <a:fillRect/>
          </a:stretch>
        </p:blipFill>
        <p:spPr>
          <a:xfrm>
            <a:off x="8267700" y="1485900"/>
            <a:ext cx="419100" cy="495300"/>
          </a:xfrm>
          <a:prstGeom prst="rect">
            <a:avLst/>
          </a:prstGeom>
        </p:spPr>
      </p:pic>
      <p:pic>
        <p:nvPicPr>
          <p:cNvPr id="18" name="Image 16" descr="preencoded.png"/>
          <p:cNvPicPr>
            <a:picLocks noChangeAspect="1"/>
          </p:cNvPicPr>
          <p:nvPr/>
        </p:nvPicPr>
        <p:blipFill>
          <a:blip r:embed="rId17"/>
          <a:stretch>
            <a:fillRect/>
          </a:stretch>
        </p:blipFill>
        <p:spPr>
          <a:xfrm>
            <a:off x="8382000" y="1600200"/>
            <a:ext cx="190500" cy="266700"/>
          </a:xfrm>
          <a:prstGeom prst="rect">
            <a:avLst/>
          </a:prstGeom>
        </p:spPr>
      </p:pic>
      <p:pic>
        <p:nvPicPr>
          <p:cNvPr id="19" name="Image 17" descr="preencoded.png"/>
          <p:cNvPicPr>
            <a:picLocks noChangeAspect="1"/>
          </p:cNvPicPr>
          <p:nvPr/>
        </p:nvPicPr>
        <p:blipFill>
          <a:blip r:embed="rId18"/>
          <a:stretch>
            <a:fillRect/>
          </a:stretch>
        </p:blipFill>
        <p:spPr>
          <a:xfrm>
            <a:off x="8267700" y="3352800"/>
            <a:ext cx="3276600" cy="838200"/>
          </a:xfrm>
          <a:prstGeom prst="rect">
            <a:avLst/>
          </a:prstGeom>
        </p:spPr>
      </p:pic>
      <p:pic>
        <p:nvPicPr>
          <p:cNvPr id="20" name="Image 18" descr="preencoded.png"/>
          <p:cNvPicPr>
            <a:picLocks noChangeAspect="1"/>
          </p:cNvPicPr>
          <p:nvPr/>
        </p:nvPicPr>
        <p:blipFill>
          <a:blip r:embed="rId19"/>
          <a:stretch>
            <a:fillRect/>
          </a:stretch>
        </p:blipFill>
        <p:spPr>
          <a:xfrm>
            <a:off x="8343900" y="3581400"/>
            <a:ext cx="152400" cy="152400"/>
          </a:xfrm>
          <a:prstGeom prst="rect">
            <a:avLst/>
          </a:prstGeom>
        </p:spPr>
      </p:pic>
      <p:pic>
        <p:nvPicPr>
          <p:cNvPr id="21" name="Image 19" descr="preencoded.png"/>
          <p:cNvPicPr>
            <a:picLocks noChangeAspect="1"/>
          </p:cNvPicPr>
          <p:nvPr/>
        </p:nvPicPr>
        <p:blipFill>
          <a:blip r:embed="rId20"/>
          <a:stretch>
            <a:fillRect/>
          </a:stretch>
        </p:blipFill>
        <p:spPr>
          <a:xfrm>
            <a:off x="8343900" y="3924300"/>
            <a:ext cx="152400" cy="152400"/>
          </a:xfrm>
          <a:prstGeom prst="rect">
            <a:avLst/>
          </a:prstGeom>
        </p:spPr>
      </p:pic>
      <p:pic>
        <p:nvPicPr>
          <p:cNvPr id="22" name="Image 20" descr="preencoded.png"/>
          <p:cNvPicPr>
            <a:picLocks noChangeAspect="1"/>
          </p:cNvPicPr>
          <p:nvPr/>
        </p:nvPicPr>
        <p:blipFill>
          <a:blip r:embed="rId21"/>
          <a:stretch>
            <a:fillRect/>
          </a:stretch>
        </p:blipFill>
        <p:spPr>
          <a:xfrm>
            <a:off x="457200" y="4686300"/>
            <a:ext cx="11277600" cy="1828800"/>
          </a:xfrm>
          <a:prstGeom prst="rect">
            <a:avLst/>
          </a:prstGeom>
        </p:spPr>
      </p:pic>
      <p:pic>
        <p:nvPicPr>
          <p:cNvPr id="23" name="Image 21" descr="preencoded.png"/>
          <p:cNvPicPr>
            <a:picLocks noChangeAspect="1"/>
          </p:cNvPicPr>
          <p:nvPr/>
        </p:nvPicPr>
        <p:blipFill>
          <a:blip r:embed="rId22"/>
          <a:stretch>
            <a:fillRect/>
          </a:stretch>
        </p:blipFill>
        <p:spPr>
          <a:xfrm>
            <a:off x="3352800" y="5276850"/>
            <a:ext cx="1828800" cy="647700"/>
          </a:xfrm>
          <a:prstGeom prst="rect">
            <a:avLst/>
          </a:prstGeom>
        </p:spPr>
      </p:pic>
      <p:pic>
        <p:nvPicPr>
          <p:cNvPr id="24" name="Image 22" descr="preencoded.png"/>
          <p:cNvPicPr>
            <a:picLocks noChangeAspect="1"/>
          </p:cNvPicPr>
          <p:nvPr/>
        </p:nvPicPr>
        <p:blipFill>
          <a:blip r:embed="rId23"/>
          <a:stretch>
            <a:fillRect/>
          </a:stretch>
        </p:blipFill>
        <p:spPr>
          <a:xfrm>
            <a:off x="4152900" y="5162550"/>
            <a:ext cx="228600" cy="228600"/>
          </a:xfrm>
          <a:prstGeom prst="rect">
            <a:avLst/>
          </a:prstGeom>
        </p:spPr>
      </p:pic>
      <p:pic>
        <p:nvPicPr>
          <p:cNvPr id="25" name="Image 23" descr="preencoded.png"/>
          <p:cNvPicPr>
            <a:picLocks noChangeAspect="1"/>
          </p:cNvPicPr>
          <p:nvPr/>
        </p:nvPicPr>
        <p:blipFill>
          <a:blip r:embed="rId24"/>
          <a:stretch>
            <a:fillRect/>
          </a:stretch>
        </p:blipFill>
        <p:spPr>
          <a:xfrm>
            <a:off x="4210050" y="5200650"/>
            <a:ext cx="114300" cy="152400"/>
          </a:xfrm>
          <a:prstGeom prst="rect">
            <a:avLst/>
          </a:prstGeom>
        </p:spPr>
      </p:pic>
      <p:pic>
        <p:nvPicPr>
          <p:cNvPr id="26" name="Image 24" descr="preencoded.png"/>
          <p:cNvPicPr>
            <a:picLocks noChangeAspect="1"/>
          </p:cNvPicPr>
          <p:nvPr/>
        </p:nvPicPr>
        <p:blipFill>
          <a:blip r:embed="rId25"/>
          <a:stretch>
            <a:fillRect/>
          </a:stretch>
        </p:blipFill>
        <p:spPr>
          <a:xfrm>
            <a:off x="5678793" y="5354326"/>
            <a:ext cx="834414" cy="492748"/>
          </a:xfrm>
          <a:prstGeom prst="rect">
            <a:avLst/>
          </a:prstGeom>
        </p:spPr>
      </p:pic>
      <p:pic>
        <p:nvPicPr>
          <p:cNvPr id="27" name="Image 25" descr="preencoded.png"/>
          <p:cNvPicPr>
            <a:picLocks noChangeAspect="1"/>
          </p:cNvPicPr>
          <p:nvPr/>
        </p:nvPicPr>
        <p:blipFill>
          <a:blip r:embed="rId26"/>
          <a:stretch>
            <a:fillRect/>
          </a:stretch>
        </p:blipFill>
        <p:spPr>
          <a:xfrm>
            <a:off x="5181600" y="5276850"/>
            <a:ext cx="1828800" cy="647700"/>
          </a:xfrm>
          <a:prstGeom prst="rect">
            <a:avLst/>
          </a:prstGeom>
        </p:spPr>
      </p:pic>
      <p:pic>
        <p:nvPicPr>
          <p:cNvPr id="28" name="Image 26" descr="preencoded.png"/>
          <p:cNvPicPr>
            <a:picLocks noChangeAspect="1"/>
          </p:cNvPicPr>
          <p:nvPr/>
        </p:nvPicPr>
        <p:blipFill>
          <a:blip r:embed="rId27"/>
          <a:stretch>
            <a:fillRect/>
          </a:stretch>
        </p:blipFill>
        <p:spPr>
          <a:xfrm>
            <a:off x="5981700" y="5162550"/>
            <a:ext cx="228600" cy="228600"/>
          </a:xfrm>
          <a:prstGeom prst="rect">
            <a:avLst/>
          </a:prstGeom>
        </p:spPr>
      </p:pic>
      <p:pic>
        <p:nvPicPr>
          <p:cNvPr id="29" name="Image 27" descr="preencoded.png"/>
          <p:cNvPicPr>
            <a:picLocks noChangeAspect="1"/>
          </p:cNvPicPr>
          <p:nvPr/>
        </p:nvPicPr>
        <p:blipFill>
          <a:blip r:embed="rId28"/>
          <a:stretch>
            <a:fillRect/>
          </a:stretch>
        </p:blipFill>
        <p:spPr>
          <a:xfrm>
            <a:off x="6019800" y="5200650"/>
            <a:ext cx="152400" cy="152400"/>
          </a:xfrm>
          <a:prstGeom prst="rect">
            <a:avLst/>
          </a:prstGeom>
        </p:spPr>
      </p:pic>
      <p:pic>
        <p:nvPicPr>
          <p:cNvPr id="30" name="Image 28" descr="preencoded.png"/>
          <p:cNvPicPr>
            <a:picLocks noChangeAspect="1"/>
          </p:cNvPicPr>
          <p:nvPr/>
        </p:nvPicPr>
        <p:blipFill>
          <a:blip r:embed="rId25"/>
          <a:stretch>
            <a:fillRect/>
          </a:stretch>
        </p:blipFill>
        <p:spPr>
          <a:xfrm>
            <a:off x="5678793" y="5354326"/>
            <a:ext cx="834414" cy="492748"/>
          </a:xfrm>
          <a:prstGeom prst="rect">
            <a:avLst/>
          </a:prstGeom>
        </p:spPr>
      </p:pic>
      <p:pic>
        <p:nvPicPr>
          <p:cNvPr id="31" name="Image 29" descr="preencoded.png"/>
          <p:cNvPicPr>
            <a:picLocks noChangeAspect="1"/>
          </p:cNvPicPr>
          <p:nvPr/>
        </p:nvPicPr>
        <p:blipFill>
          <a:blip r:embed="rId29"/>
          <a:stretch>
            <a:fillRect/>
          </a:stretch>
        </p:blipFill>
        <p:spPr>
          <a:xfrm>
            <a:off x="7010400" y="5276850"/>
            <a:ext cx="1828800" cy="647700"/>
          </a:xfrm>
          <a:prstGeom prst="rect">
            <a:avLst/>
          </a:prstGeom>
        </p:spPr>
      </p:pic>
      <p:pic>
        <p:nvPicPr>
          <p:cNvPr id="32" name="Image 30" descr="preencoded.png"/>
          <p:cNvPicPr>
            <a:picLocks noChangeAspect="1"/>
          </p:cNvPicPr>
          <p:nvPr/>
        </p:nvPicPr>
        <p:blipFill>
          <a:blip r:embed="rId30"/>
          <a:stretch>
            <a:fillRect/>
          </a:stretch>
        </p:blipFill>
        <p:spPr>
          <a:xfrm>
            <a:off x="7810500" y="5162550"/>
            <a:ext cx="228600" cy="228600"/>
          </a:xfrm>
          <a:prstGeom prst="rect">
            <a:avLst/>
          </a:prstGeom>
        </p:spPr>
      </p:pic>
      <p:pic>
        <p:nvPicPr>
          <p:cNvPr id="33" name="Image 31" descr="preencoded.png"/>
          <p:cNvPicPr>
            <a:picLocks noChangeAspect="1"/>
          </p:cNvPicPr>
          <p:nvPr/>
        </p:nvPicPr>
        <p:blipFill>
          <a:blip r:embed="rId31"/>
          <a:stretch>
            <a:fillRect/>
          </a:stretch>
        </p:blipFill>
        <p:spPr>
          <a:xfrm>
            <a:off x="7848600" y="5200650"/>
            <a:ext cx="152400" cy="152400"/>
          </a:xfrm>
          <a:prstGeom prst="rect">
            <a:avLst/>
          </a:prstGeom>
        </p:spPr>
      </p:pic>
      <p:sp>
        <p:nvSpPr>
          <p:cNvPr id="34"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Docker's Core Components</a:t>
            </a:r>
            <a:endParaRPr lang="en-US" sz="2700" dirty="0"/>
          </a:p>
        </p:txBody>
      </p:sp>
      <p:sp>
        <p:nvSpPr>
          <p:cNvPr id="35" name="Text 1"/>
          <p:cNvSpPr/>
          <p:nvPr/>
        </p:nvSpPr>
        <p:spPr>
          <a:xfrm>
            <a:off x="1133475" y="1581150"/>
            <a:ext cx="1558588"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Dockerfile</a:t>
            </a:r>
            <a:endParaRPr lang="en-US" sz="1800" dirty="0"/>
          </a:p>
        </p:txBody>
      </p:sp>
      <p:sp>
        <p:nvSpPr>
          <p:cNvPr id="36" name="Text 2"/>
          <p:cNvSpPr/>
          <p:nvPr/>
        </p:nvSpPr>
        <p:spPr>
          <a:xfrm>
            <a:off x="647700" y="2095500"/>
            <a:ext cx="327660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text file containing instructions for building a Docker image. It defines the steps to assemble the image, including the base image, environment setup, and application code.</a:t>
            </a:r>
            <a:endParaRPr lang="en-US" sz="1200" dirty="0"/>
          </a:p>
        </p:txBody>
      </p:sp>
      <p:sp>
        <p:nvSpPr>
          <p:cNvPr id="37" name="Text 3"/>
          <p:cNvSpPr/>
          <p:nvPr/>
        </p:nvSpPr>
        <p:spPr>
          <a:xfrm>
            <a:off x="971550" y="3429000"/>
            <a:ext cx="1865769"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monospace" pitchFamily="34" charset="0"/>
                <a:ea typeface="ui-monospace" pitchFamily="34" charset="-122"/>
                <a:cs typeface="ui-monospace" pitchFamily="34" charset="-120"/>
              </a:rPr>
              <a:t>FROM ubuntu:20.04</a:t>
            </a:r>
            <a:endParaRPr lang="en-US" sz="1200" dirty="0"/>
          </a:p>
        </p:txBody>
      </p:sp>
      <p:sp>
        <p:nvSpPr>
          <p:cNvPr id="38" name="Text 4"/>
          <p:cNvSpPr/>
          <p:nvPr/>
        </p:nvSpPr>
        <p:spPr>
          <a:xfrm>
            <a:off x="971550" y="3657600"/>
            <a:ext cx="1207294"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monospace" pitchFamily="34" charset="0"/>
                <a:ea typeface="ui-monospace" pitchFamily="34" charset="-122"/>
                <a:cs typeface="ui-monospace" pitchFamily="34" charset="-120"/>
              </a:rPr>
              <a:t>COPY . /app</a:t>
            </a:r>
            <a:endParaRPr lang="en-US" sz="1200" dirty="0"/>
          </a:p>
        </p:txBody>
      </p:sp>
      <p:sp>
        <p:nvSpPr>
          <p:cNvPr id="39" name="Text 5"/>
          <p:cNvSpPr/>
          <p:nvPr/>
        </p:nvSpPr>
        <p:spPr>
          <a:xfrm>
            <a:off x="4991100" y="1581150"/>
            <a:ext cx="2126159"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Docker Image</a:t>
            </a:r>
            <a:endParaRPr lang="en-US" sz="1800" dirty="0"/>
          </a:p>
        </p:txBody>
      </p:sp>
      <p:sp>
        <p:nvSpPr>
          <p:cNvPr id="40" name="Text 6"/>
          <p:cNvSpPr/>
          <p:nvPr/>
        </p:nvSpPr>
        <p:spPr>
          <a:xfrm>
            <a:off x="4457700" y="2095500"/>
            <a:ext cx="327660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read-only template that serves as a blueprint for creating Docker containers. It includes the application code, runtime, system tools, libraries, and settings needed to run the application.</a:t>
            </a:r>
            <a:endParaRPr lang="en-US" sz="1200" dirty="0"/>
          </a:p>
        </p:txBody>
      </p:sp>
      <p:sp>
        <p:nvSpPr>
          <p:cNvPr id="41" name="Text 7"/>
          <p:cNvSpPr/>
          <p:nvPr/>
        </p:nvSpPr>
        <p:spPr>
          <a:xfrm>
            <a:off x="4762500" y="3429000"/>
            <a:ext cx="249745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Built in layers for efficiency</a:t>
            </a:r>
            <a:endParaRPr lang="en-US" sz="1200" dirty="0"/>
          </a:p>
        </p:txBody>
      </p:sp>
      <p:sp>
        <p:nvSpPr>
          <p:cNvPr id="42" name="Text 8"/>
          <p:cNvSpPr/>
          <p:nvPr/>
        </p:nvSpPr>
        <p:spPr>
          <a:xfrm>
            <a:off x="4762500" y="3657600"/>
            <a:ext cx="265622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Content-addressable storage</a:t>
            </a:r>
            <a:endParaRPr lang="en-US" sz="1200" dirty="0"/>
          </a:p>
        </p:txBody>
      </p:sp>
      <p:sp>
        <p:nvSpPr>
          <p:cNvPr id="43" name="Text 9"/>
          <p:cNvSpPr/>
          <p:nvPr/>
        </p:nvSpPr>
        <p:spPr>
          <a:xfrm>
            <a:off x="8801100" y="1581150"/>
            <a:ext cx="2682657"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Docker Container</a:t>
            </a:r>
            <a:endParaRPr lang="en-US" sz="1800" dirty="0"/>
          </a:p>
        </p:txBody>
      </p:sp>
      <p:sp>
        <p:nvSpPr>
          <p:cNvPr id="44" name="Text 10"/>
          <p:cNvSpPr/>
          <p:nvPr/>
        </p:nvSpPr>
        <p:spPr>
          <a:xfrm>
            <a:off x="8267700" y="2095500"/>
            <a:ext cx="327660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runnable instance of a Docker image. Containers are isolated processes that encapsulate the application and its dependencies, ensuring consistent execution across different environments.</a:t>
            </a:r>
            <a:endParaRPr lang="en-US" sz="1200" dirty="0"/>
          </a:p>
        </p:txBody>
      </p:sp>
      <p:sp>
        <p:nvSpPr>
          <p:cNvPr id="45" name="Text 11"/>
          <p:cNvSpPr/>
          <p:nvPr/>
        </p:nvSpPr>
        <p:spPr>
          <a:xfrm>
            <a:off x="8572500" y="3429000"/>
            <a:ext cx="28956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Created, started, stopped, moved, or deleted</a:t>
            </a:r>
            <a:endParaRPr lang="en-US" sz="1200" dirty="0"/>
          </a:p>
        </p:txBody>
      </p:sp>
      <p:sp>
        <p:nvSpPr>
          <p:cNvPr id="46" name="Text 12"/>
          <p:cNvSpPr/>
          <p:nvPr/>
        </p:nvSpPr>
        <p:spPr>
          <a:xfrm>
            <a:off x="8572500" y="3886200"/>
            <a:ext cx="2024003"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Process-level isolation</a:t>
            </a:r>
            <a:endParaRPr lang="en-US" sz="1200" dirty="0"/>
          </a:p>
        </p:txBody>
      </p:sp>
      <p:sp>
        <p:nvSpPr>
          <p:cNvPr id="47" name="Text 13"/>
          <p:cNvSpPr/>
          <p:nvPr/>
        </p:nvSpPr>
        <p:spPr>
          <a:xfrm>
            <a:off x="533400" y="4762500"/>
            <a:ext cx="3228082"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How They Work Together</a:t>
            </a:r>
            <a:endParaRPr lang="en-US" sz="1500" dirty="0"/>
          </a:p>
        </p:txBody>
      </p:sp>
      <p:sp>
        <p:nvSpPr>
          <p:cNvPr id="48" name="Text 14"/>
          <p:cNvSpPr/>
          <p:nvPr/>
        </p:nvSpPr>
        <p:spPr>
          <a:xfrm>
            <a:off x="3307080" y="5391150"/>
            <a:ext cx="192024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374151"/>
                </a:solidFill>
                <a:latin typeface="ui-sans-serif" pitchFamily="34" charset="0"/>
                <a:ea typeface="ui-sans-serif" pitchFamily="34" charset="-122"/>
                <a:cs typeface="ui-sans-serif" pitchFamily="34" charset="-120"/>
              </a:rPr>
              <a:t>Dockerfile</a:t>
            </a:r>
            <a:endParaRPr lang="en-US" sz="1200" dirty="0"/>
          </a:p>
        </p:txBody>
      </p:sp>
      <p:sp>
        <p:nvSpPr>
          <p:cNvPr id="49" name="Text 15"/>
          <p:cNvSpPr/>
          <p:nvPr/>
        </p:nvSpPr>
        <p:spPr>
          <a:xfrm>
            <a:off x="3307080" y="5619750"/>
            <a:ext cx="192024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6B7280"/>
                </a:solidFill>
                <a:latin typeface="ui-sans-serif" pitchFamily="34" charset="0"/>
                <a:ea typeface="ui-sans-serif" pitchFamily="34" charset="-122"/>
                <a:cs typeface="ui-sans-serif" pitchFamily="34" charset="-120"/>
              </a:rPr>
              <a:t>Instructions</a:t>
            </a:r>
            <a:endParaRPr lang="en-US" sz="1050" dirty="0"/>
          </a:p>
        </p:txBody>
      </p:sp>
      <p:sp>
        <p:nvSpPr>
          <p:cNvPr id="50" name="Text 16"/>
          <p:cNvSpPr/>
          <p:nvPr/>
        </p:nvSpPr>
        <p:spPr>
          <a:xfrm>
            <a:off x="5135880" y="5391150"/>
            <a:ext cx="192024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374151"/>
                </a:solidFill>
                <a:latin typeface="ui-sans-serif" pitchFamily="34" charset="0"/>
                <a:ea typeface="ui-sans-serif" pitchFamily="34" charset="-122"/>
                <a:cs typeface="ui-sans-serif" pitchFamily="34" charset="-120"/>
              </a:rPr>
              <a:t>Docker Image</a:t>
            </a:r>
            <a:endParaRPr lang="en-US" sz="1200" dirty="0"/>
          </a:p>
        </p:txBody>
      </p:sp>
      <p:sp>
        <p:nvSpPr>
          <p:cNvPr id="51" name="Text 17"/>
          <p:cNvSpPr/>
          <p:nvPr/>
        </p:nvSpPr>
        <p:spPr>
          <a:xfrm>
            <a:off x="5295900" y="5619750"/>
            <a:ext cx="160020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6B7280"/>
                </a:solidFill>
                <a:latin typeface="ui-sans-serif" pitchFamily="34" charset="0"/>
                <a:ea typeface="ui-sans-serif" pitchFamily="34" charset="-122"/>
                <a:cs typeface="ui-sans-serif" pitchFamily="34" charset="-120"/>
              </a:rPr>
              <a:t>Template</a:t>
            </a:r>
            <a:endParaRPr lang="en-US" sz="1050" dirty="0"/>
          </a:p>
        </p:txBody>
      </p:sp>
      <p:sp>
        <p:nvSpPr>
          <p:cNvPr id="52" name="Text 18"/>
          <p:cNvSpPr/>
          <p:nvPr/>
        </p:nvSpPr>
        <p:spPr>
          <a:xfrm>
            <a:off x="6964680" y="5391150"/>
            <a:ext cx="192024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374151"/>
                </a:solidFill>
                <a:latin typeface="ui-sans-serif" pitchFamily="34" charset="0"/>
                <a:ea typeface="ui-sans-serif" pitchFamily="34" charset="-122"/>
                <a:cs typeface="ui-sans-serif" pitchFamily="34" charset="-120"/>
              </a:rPr>
              <a:t>Docker Container</a:t>
            </a:r>
            <a:endParaRPr lang="en-US" sz="1200" dirty="0"/>
          </a:p>
        </p:txBody>
      </p:sp>
      <p:sp>
        <p:nvSpPr>
          <p:cNvPr id="53" name="Text 19"/>
          <p:cNvSpPr/>
          <p:nvPr/>
        </p:nvSpPr>
        <p:spPr>
          <a:xfrm>
            <a:off x="6964680" y="5619750"/>
            <a:ext cx="192024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6B7280"/>
                </a:solidFill>
                <a:latin typeface="ui-sans-serif" pitchFamily="34" charset="0"/>
                <a:ea typeface="ui-sans-serif" pitchFamily="34" charset="-122"/>
                <a:cs typeface="ui-sans-serif" pitchFamily="34" charset="-120"/>
              </a:rPr>
              <a:t>Running Instance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525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19200"/>
            <a:ext cx="11277600" cy="5181600"/>
          </a:xfrm>
          <a:prstGeom prst="rect">
            <a:avLst/>
          </a:prstGeom>
        </p:spPr>
      </p:pic>
      <p:pic>
        <p:nvPicPr>
          <p:cNvPr id="5" name="Image 3" descr="preencoded.png"/>
          <p:cNvPicPr>
            <a:picLocks noChangeAspect="1"/>
          </p:cNvPicPr>
          <p:nvPr/>
        </p:nvPicPr>
        <p:blipFill>
          <a:blip r:embed="rId6"/>
          <a:stretch>
            <a:fillRect/>
          </a:stretch>
        </p:blipFill>
        <p:spPr>
          <a:xfrm>
            <a:off x="1219200" y="1633538"/>
            <a:ext cx="4724400" cy="1914525"/>
          </a:xfrm>
          <a:prstGeom prst="rect">
            <a:avLst/>
          </a:prstGeom>
        </p:spPr>
      </p:pic>
      <p:pic>
        <p:nvPicPr>
          <p:cNvPr id="6" name="Image 4" descr="preencoded.png"/>
          <p:cNvPicPr>
            <a:picLocks noChangeAspect="1"/>
          </p:cNvPicPr>
          <p:nvPr/>
        </p:nvPicPr>
        <p:blipFill>
          <a:blip r:embed="rId7"/>
          <a:stretch>
            <a:fillRect/>
          </a:stretch>
        </p:blipFill>
        <p:spPr>
          <a:xfrm>
            <a:off x="1409700" y="1824038"/>
            <a:ext cx="466725" cy="495300"/>
          </a:xfrm>
          <a:prstGeom prst="rect">
            <a:avLst/>
          </a:prstGeom>
        </p:spPr>
      </p:pic>
      <p:pic>
        <p:nvPicPr>
          <p:cNvPr id="7" name="Image 5" descr="preencoded.png"/>
          <p:cNvPicPr>
            <a:picLocks noChangeAspect="1"/>
          </p:cNvPicPr>
          <p:nvPr/>
        </p:nvPicPr>
        <p:blipFill>
          <a:blip r:embed="rId8"/>
          <a:stretch>
            <a:fillRect/>
          </a:stretch>
        </p:blipFill>
        <p:spPr>
          <a:xfrm>
            <a:off x="1524000" y="1938337"/>
            <a:ext cx="238125" cy="266700"/>
          </a:xfrm>
          <a:prstGeom prst="rect">
            <a:avLst/>
          </a:prstGeom>
        </p:spPr>
      </p:pic>
      <p:pic>
        <p:nvPicPr>
          <p:cNvPr id="8" name="Image 6" descr="preencoded.png"/>
          <p:cNvPicPr>
            <a:picLocks noChangeAspect="1"/>
          </p:cNvPicPr>
          <p:nvPr/>
        </p:nvPicPr>
        <p:blipFill>
          <a:blip r:embed="rId9"/>
          <a:stretch>
            <a:fillRect/>
          </a:stretch>
        </p:blipFill>
        <p:spPr>
          <a:xfrm>
            <a:off x="6248400" y="1633538"/>
            <a:ext cx="4724400" cy="1914525"/>
          </a:xfrm>
          <a:prstGeom prst="rect">
            <a:avLst/>
          </a:prstGeom>
        </p:spPr>
      </p:pic>
      <p:pic>
        <p:nvPicPr>
          <p:cNvPr id="9" name="Image 7" descr="preencoded.png"/>
          <p:cNvPicPr>
            <a:picLocks noChangeAspect="1"/>
          </p:cNvPicPr>
          <p:nvPr/>
        </p:nvPicPr>
        <p:blipFill>
          <a:blip r:embed="rId10"/>
          <a:stretch>
            <a:fillRect/>
          </a:stretch>
        </p:blipFill>
        <p:spPr>
          <a:xfrm>
            <a:off x="6438900" y="1824038"/>
            <a:ext cx="466725" cy="495300"/>
          </a:xfrm>
          <a:prstGeom prst="rect">
            <a:avLst/>
          </a:prstGeom>
        </p:spPr>
      </p:pic>
      <p:pic>
        <p:nvPicPr>
          <p:cNvPr id="10" name="Image 8" descr="preencoded.png"/>
          <p:cNvPicPr>
            <a:picLocks noChangeAspect="1"/>
          </p:cNvPicPr>
          <p:nvPr/>
        </p:nvPicPr>
        <p:blipFill>
          <a:blip r:embed="rId11"/>
          <a:stretch>
            <a:fillRect/>
          </a:stretch>
        </p:blipFill>
        <p:spPr>
          <a:xfrm>
            <a:off x="6553200" y="1938337"/>
            <a:ext cx="238125" cy="266700"/>
          </a:xfrm>
          <a:prstGeom prst="rect">
            <a:avLst/>
          </a:prstGeom>
        </p:spPr>
      </p:pic>
      <p:pic>
        <p:nvPicPr>
          <p:cNvPr id="11" name="Image 9" descr="preencoded.png"/>
          <p:cNvPicPr>
            <a:picLocks noChangeAspect="1"/>
          </p:cNvPicPr>
          <p:nvPr/>
        </p:nvPicPr>
        <p:blipFill>
          <a:blip r:embed="rId12"/>
          <a:stretch>
            <a:fillRect/>
          </a:stretch>
        </p:blipFill>
        <p:spPr>
          <a:xfrm>
            <a:off x="1219200" y="3852863"/>
            <a:ext cx="4724400" cy="2133600"/>
          </a:xfrm>
          <a:prstGeom prst="rect">
            <a:avLst/>
          </a:prstGeom>
        </p:spPr>
      </p:pic>
      <p:pic>
        <p:nvPicPr>
          <p:cNvPr id="12" name="Image 10" descr="preencoded.png"/>
          <p:cNvPicPr>
            <a:picLocks noChangeAspect="1"/>
          </p:cNvPicPr>
          <p:nvPr/>
        </p:nvPicPr>
        <p:blipFill>
          <a:blip r:embed="rId13"/>
          <a:stretch>
            <a:fillRect/>
          </a:stretch>
        </p:blipFill>
        <p:spPr>
          <a:xfrm>
            <a:off x="1409700" y="4043363"/>
            <a:ext cx="419100" cy="495300"/>
          </a:xfrm>
          <a:prstGeom prst="rect">
            <a:avLst/>
          </a:prstGeom>
        </p:spPr>
      </p:pic>
      <p:pic>
        <p:nvPicPr>
          <p:cNvPr id="13" name="Image 11" descr="preencoded.png"/>
          <p:cNvPicPr>
            <a:picLocks noChangeAspect="1"/>
          </p:cNvPicPr>
          <p:nvPr/>
        </p:nvPicPr>
        <p:blipFill>
          <a:blip r:embed="rId14"/>
          <a:stretch>
            <a:fillRect/>
          </a:stretch>
        </p:blipFill>
        <p:spPr>
          <a:xfrm>
            <a:off x="1524000" y="4157663"/>
            <a:ext cx="190500" cy="266700"/>
          </a:xfrm>
          <a:prstGeom prst="rect">
            <a:avLst/>
          </a:prstGeom>
        </p:spPr>
      </p:pic>
      <p:pic>
        <p:nvPicPr>
          <p:cNvPr id="14" name="Image 12" descr="preencoded.png"/>
          <p:cNvPicPr>
            <a:picLocks noChangeAspect="1"/>
          </p:cNvPicPr>
          <p:nvPr/>
        </p:nvPicPr>
        <p:blipFill>
          <a:blip r:embed="rId15"/>
          <a:stretch>
            <a:fillRect/>
          </a:stretch>
        </p:blipFill>
        <p:spPr>
          <a:xfrm>
            <a:off x="6248400" y="3852863"/>
            <a:ext cx="4724400" cy="2133600"/>
          </a:xfrm>
          <a:prstGeom prst="rect">
            <a:avLst/>
          </a:prstGeom>
        </p:spPr>
      </p:pic>
      <p:pic>
        <p:nvPicPr>
          <p:cNvPr id="15" name="Image 13" descr="preencoded.png"/>
          <p:cNvPicPr>
            <a:picLocks noChangeAspect="1"/>
          </p:cNvPicPr>
          <p:nvPr/>
        </p:nvPicPr>
        <p:blipFill>
          <a:blip r:embed="rId16"/>
          <a:stretch>
            <a:fillRect/>
          </a:stretch>
        </p:blipFill>
        <p:spPr>
          <a:xfrm>
            <a:off x="6438900" y="4043363"/>
            <a:ext cx="400050" cy="495300"/>
          </a:xfrm>
          <a:prstGeom prst="rect">
            <a:avLst/>
          </a:prstGeom>
        </p:spPr>
      </p:pic>
      <p:pic>
        <p:nvPicPr>
          <p:cNvPr id="16" name="Image 14" descr="preencoded.png"/>
          <p:cNvPicPr>
            <a:picLocks noChangeAspect="1"/>
          </p:cNvPicPr>
          <p:nvPr/>
        </p:nvPicPr>
        <p:blipFill>
          <a:blip r:embed="rId17"/>
          <a:stretch>
            <a:fillRect/>
          </a:stretch>
        </p:blipFill>
        <p:spPr>
          <a:xfrm>
            <a:off x="6553200" y="4157663"/>
            <a:ext cx="171450" cy="266700"/>
          </a:xfrm>
          <a:prstGeom prst="rect">
            <a:avLst/>
          </a:prstGeom>
        </p:spPr>
      </p:pic>
      <p:sp>
        <p:nvSpPr>
          <p:cNvPr id="17"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Docker Architecture</a:t>
            </a:r>
            <a:endParaRPr lang="en-US" sz="2700" dirty="0"/>
          </a:p>
        </p:txBody>
      </p:sp>
      <p:sp>
        <p:nvSpPr>
          <p:cNvPr id="18" name="Text 1"/>
          <p:cNvSpPr/>
          <p:nvPr/>
        </p:nvSpPr>
        <p:spPr>
          <a:xfrm>
            <a:off x="2028825" y="1919288"/>
            <a:ext cx="20725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Docker Client</a:t>
            </a:r>
            <a:endParaRPr lang="en-US" sz="1800" dirty="0"/>
          </a:p>
        </p:txBody>
      </p:sp>
      <p:sp>
        <p:nvSpPr>
          <p:cNvPr id="19" name="Text 2"/>
          <p:cNvSpPr/>
          <p:nvPr/>
        </p:nvSpPr>
        <p:spPr>
          <a:xfrm>
            <a:off x="1409700" y="2433638"/>
            <a:ext cx="4343400" cy="923925"/>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primary command-line interface (CLI) through which users interact with Docker. Sends commands (e.g., </a:t>
            </a:r>
            <a:r>
              <a:rPr lang="en-US" sz="1200" dirty="0">
                <a:solidFill>
                  <a:srgbClr val="374151"/>
                </a:solidFill>
                <a:latin typeface="ui-monospace" pitchFamily="34" charset="0"/>
                <a:ea typeface="ui-monospace" pitchFamily="34" charset="-122"/>
                <a:cs typeface="ui-monospace" pitchFamily="34" charset="-120"/>
              </a:rPr>
              <a:t>docker run</a:t>
            </a:r>
            <a:r>
              <a:rPr lang="en-US" sz="1200" dirty="0">
                <a:solidFill>
                  <a:srgbClr val="374151"/>
                </a:solidFill>
                <a:latin typeface="ui-sans-serif" pitchFamily="34" charset="0"/>
                <a:ea typeface="ui-sans-serif" pitchFamily="34" charset="-122"/>
                <a:cs typeface="ui-sans-serif" pitchFamily="34" charset="-120"/>
              </a:rPr>
              <a:t>, </a:t>
            </a:r>
            <a:r>
              <a:rPr lang="en-US" sz="1200" dirty="0">
                <a:solidFill>
                  <a:srgbClr val="374151"/>
                </a:solidFill>
                <a:latin typeface="ui-monospace" pitchFamily="34" charset="0"/>
                <a:ea typeface="ui-monospace" pitchFamily="34" charset="-122"/>
                <a:cs typeface="ui-monospace" pitchFamily="34" charset="-120"/>
              </a:rPr>
              <a:t>docker build</a:t>
            </a:r>
            <a:r>
              <a:rPr lang="en-US" sz="1200" dirty="0">
                <a:solidFill>
                  <a:srgbClr val="374151"/>
                </a:solidFill>
                <a:latin typeface="ui-sans-serif" pitchFamily="34" charset="0"/>
                <a:ea typeface="ui-sans-serif" pitchFamily="34" charset="-122"/>
                <a:cs typeface="ui-sans-serif" pitchFamily="34" charset="-120"/>
              </a:rPr>
              <a:t>) to the Docker Daemon via a REST API.</a:t>
            </a:r>
            <a:endParaRPr lang="en-US" sz="1200" dirty="0"/>
          </a:p>
        </p:txBody>
      </p:sp>
      <p:sp>
        <p:nvSpPr>
          <p:cNvPr id="20" name="Text 3"/>
          <p:cNvSpPr/>
          <p:nvPr/>
        </p:nvSpPr>
        <p:spPr>
          <a:xfrm>
            <a:off x="7058025" y="1919288"/>
            <a:ext cx="2439233"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Docker Daemon</a:t>
            </a:r>
            <a:endParaRPr lang="en-US" sz="1800" dirty="0"/>
          </a:p>
        </p:txBody>
      </p:sp>
      <p:sp>
        <p:nvSpPr>
          <p:cNvPr id="21" name="Text 4"/>
          <p:cNvSpPr/>
          <p:nvPr/>
        </p:nvSpPr>
        <p:spPr>
          <a:xfrm>
            <a:off x="6438900" y="2433638"/>
            <a:ext cx="434340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persistent background process running on the Docker Host. Listens for API requests from the Docker Client and manages all Docker objects, including images, containers, networks, and volumes.</a:t>
            </a:r>
            <a:endParaRPr lang="en-US" sz="1200" dirty="0"/>
          </a:p>
        </p:txBody>
      </p:sp>
      <p:sp>
        <p:nvSpPr>
          <p:cNvPr id="22" name="Text 5"/>
          <p:cNvSpPr/>
          <p:nvPr/>
        </p:nvSpPr>
        <p:spPr>
          <a:xfrm>
            <a:off x="1981200" y="4138613"/>
            <a:ext cx="1883271"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Docker Host</a:t>
            </a:r>
            <a:endParaRPr lang="en-US" sz="1800" dirty="0"/>
          </a:p>
        </p:txBody>
      </p:sp>
      <p:sp>
        <p:nvSpPr>
          <p:cNvPr id="23" name="Text 6"/>
          <p:cNvSpPr/>
          <p:nvPr/>
        </p:nvSpPr>
        <p:spPr>
          <a:xfrm>
            <a:off x="1409700" y="4652963"/>
            <a:ext cx="4343400" cy="11430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physical or virtual machine where the Docker Daemon runs. Provides the environment for executing containers, including the operating system, the daemon, images, running containers, and network/storage components.</a:t>
            </a:r>
            <a:endParaRPr lang="en-US" sz="1200" dirty="0"/>
          </a:p>
        </p:txBody>
      </p:sp>
      <p:sp>
        <p:nvSpPr>
          <p:cNvPr id="24" name="Text 7"/>
          <p:cNvSpPr/>
          <p:nvPr/>
        </p:nvSpPr>
        <p:spPr>
          <a:xfrm>
            <a:off x="6991350" y="4138613"/>
            <a:ext cx="2466915"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Docker Registry</a:t>
            </a:r>
            <a:endParaRPr lang="en-US" sz="1800" dirty="0"/>
          </a:p>
        </p:txBody>
      </p:sp>
      <p:sp>
        <p:nvSpPr>
          <p:cNvPr id="25" name="Text 8"/>
          <p:cNvSpPr/>
          <p:nvPr/>
        </p:nvSpPr>
        <p:spPr>
          <a:xfrm>
            <a:off x="6438900" y="4652963"/>
            <a:ext cx="434340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 centralized repository for storing and distributing Docker images. Docker Hub is the default public registry, but organizations can also use private registries for proprietary images.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277100"/>
          </a:xfrm>
          <a:prstGeom prst="rect">
            <a:avLst/>
          </a:prstGeom>
        </p:spPr>
      </p:pic>
      <p:pic>
        <p:nvPicPr>
          <p:cNvPr id="3" name="Image 1" descr="preencoded.png"/>
          <p:cNvPicPr>
            <a:picLocks noChangeAspect="1"/>
          </p:cNvPicPr>
          <p:nvPr/>
        </p:nvPicPr>
        <p:blipFill>
          <a:blip r:embed="rId4"/>
          <a:stretch>
            <a:fillRect/>
          </a:stretch>
        </p:blipFill>
        <p:spPr>
          <a:xfrm>
            <a:off x="457200" y="9525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95400"/>
            <a:ext cx="3606701" cy="2667000"/>
          </a:xfrm>
          <a:prstGeom prst="rect">
            <a:avLst/>
          </a:prstGeom>
        </p:spPr>
      </p:pic>
      <p:pic>
        <p:nvPicPr>
          <p:cNvPr id="5" name="Image 3" descr="preencoded.png"/>
          <p:cNvPicPr>
            <a:picLocks noChangeAspect="1"/>
          </p:cNvPicPr>
          <p:nvPr/>
        </p:nvPicPr>
        <p:blipFill>
          <a:blip r:embed="rId6"/>
          <a:stretch>
            <a:fillRect/>
          </a:stretch>
        </p:blipFill>
        <p:spPr>
          <a:xfrm>
            <a:off x="685800" y="1524000"/>
            <a:ext cx="571500" cy="571500"/>
          </a:xfrm>
          <a:prstGeom prst="rect">
            <a:avLst/>
          </a:prstGeom>
        </p:spPr>
      </p:pic>
      <p:pic>
        <p:nvPicPr>
          <p:cNvPr id="6" name="Image 4" descr="preencoded.png"/>
          <p:cNvPicPr>
            <a:picLocks noChangeAspect="1"/>
          </p:cNvPicPr>
          <p:nvPr/>
        </p:nvPicPr>
        <p:blipFill>
          <a:blip r:embed="rId7"/>
          <a:stretch>
            <a:fillRect/>
          </a:stretch>
        </p:blipFill>
        <p:spPr>
          <a:xfrm>
            <a:off x="857250" y="1657350"/>
            <a:ext cx="228600" cy="304800"/>
          </a:xfrm>
          <a:prstGeom prst="rect">
            <a:avLst/>
          </a:prstGeom>
        </p:spPr>
      </p:pic>
      <p:pic>
        <p:nvPicPr>
          <p:cNvPr id="7" name="Image 5" descr="preencoded.png"/>
          <p:cNvPicPr>
            <a:picLocks noChangeAspect="1"/>
          </p:cNvPicPr>
          <p:nvPr/>
        </p:nvPicPr>
        <p:blipFill>
          <a:blip r:embed="rId8"/>
          <a:stretch>
            <a:fillRect/>
          </a:stretch>
        </p:blipFill>
        <p:spPr>
          <a:xfrm>
            <a:off x="685800" y="3562350"/>
            <a:ext cx="123825" cy="133350"/>
          </a:xfrm>
          <a:prstGeom prst="rect">
            <a:avLst/>
          </a:prstGeom>
        </p:spPr>
      </p:pic>
      <p:pic>
        <p:nvPicPr>
          <p:cNvPr id="8" name="Image 6" descr="preencoded.png"/>
          <p:cNvPicPr>
            <a:picLocks noChangeAspect="1"/>
          </p:cNvPicPr>
          <p:nvPr/>
        </p:nvPicPr>
        <p:blipFill>
          <a:blip r:embed="rId9"/>
          <a:stretch>
            <a:fillRect/>
          </a:stretch>
        </p:blipFill>
        <p:spPr>
          <a:xfrm>
            <a:off x="4292501" y="1295400"/>
            <a:ext cx="3606850" cy="2667000"/>
          </a:xfrm>
          <a:prstGeom prst="rect">
            <a:avLst/>
          </a:prstGeom>
        </p:spPr>
      </p:pic>
      <p:pic>
        <p:nvPicPr>
          <p:cNvPr id="9" name="Image 7" descr="preencoded.png"/>
          <p:cNvPicPr>
            <a:picLocks noChangeAspect="1"/>
          </p:cNvPicPr>
          <p:nvPr/>
        </p:nvPicPr>
        <p:blipFill>
          <a:blip r:embed="rId10"/>
          <a:stretch>
            <a:fillRect/>
          </a:stretch>
        </p:blipFill>
        <p:spPr>
          <a:xfrm>
            <a:off x="4521101" y="1524000"/>
            <a:ext cx="571500" cy="571500"/>
          </a:xfrm>
          <a:prstGeom prst="rect">
            <a:avLst/>
          </a:prstGeom>
        </p:spPr>
      </p:pic>
      <p:pic>
        <p:nvPicPr>
          <p:cNvPr id="10" name="Image 8" descr="preencoded.png"/>
          <p:cNvPicPr>
            <a:picLocks noChangeAspect="1"/>
          </p:cNvPicPr>
          <p:nvPr/>
        </p:nvPicPr>
        <p:blipFill>
          <a:blip r:embed="rId11"/>
          <a:stretch>
            <a:fillRect/>
          </a:stretch>
        </p:blipFill>
        <p:spPr>
          <a:xfrm>
            <a:off x="4721126" y="1657350"/>
            <a:ext cx="171450" cy="304800"/>
          </a:xfrm>
          <a:prstGeom prst="rect">
            <a:avLst/>
          </a:prstGeom>
        </p:spPr>
      </p:pic>
      <p:pic>
        <p:nvPicPr>
          <p:cNvPr id="11" name="Image 9" descr="preencoded.png"/>
          <p:cNvPicPr>
            <a:picLocks noChangeAspect="1"/>
          </p:cNvPicPr>
          <p:nvPr/>
        </p:nvPicPr>
        <p:blipFill>
          <a:blip r:embed="rId12"/>
          <a:stretch>
            <a:fillRect/>
          </a:stretch>
        </p:blipFill>
        <p:spPr>
          <a:xfrm>
            <a:off x="4521101" y="3371850"/>
            <a:ext cx="123825" cy="133350"/>
          </a:xfrm>
          <a:prstGeom prst="rect">
            <a:avLst/>
          </a:prstGeom>
        </p:spPr>
      </p:pic>
      <p:pic>
        <p:nvPicPr>
          <p:cNvPr id="12" name="Image 10" descr="preencoded.png"/>
          <p:cNvPicPr>
            <a:picLocks noChangeAspect="1"/>
          </p:cNvPicPr>
          <p:nvPr/>
        </p:nvPicPr>
        <p:blipFill>
          <a:blip r:embed="rId13"/>
          <a:stretch>
            <a:fillRect/>
          </a:stretch>
        </p:blipFill>
        <p:spPr>
          <a:xfrm>
            <a:off x="8127950" y="1295400"/>
            <a:ext cx="3606701" cy="2667000"/>
          </a:xfrm>
          <a:prstGeom prst="rect">
            <a:avLst/>
          </a:prstGeom>
        </p:spPr>
      </p:pic>
      <p:pic>
        <p:nvPicPr>
          <p:cNvPr id="13" name="Image 11" descr="preencoded.png"/>
          <p:cNvPicPr>
            <a:picLocks noChangeAspect="1"/>
          </p:cNvPicPr>
          <p:nvPr/>
        </p:nvPicPr>
        <p:blipFill>
          <a:blip r:embed="rId14"/>
          <a:stretch>
            <a:fillRect/>
          </a:stretch>
        </p:blipFill>
        <p:spPr>
          <a:xfrm>
            <a:off x="8356550" y="1524000"/>
            <a:ext cx="571500" cy="571500"/>
          </a:xfrm>
          <a:prstGeom prst="rect">
            <a:avLst/>
          </a:prstGeom>
        </p:spPr>
      </p:pic>
      <p:pic>
        <p:nvPicPr>
          <p:cNvPr id="14" name="Image 12" descr="preencoded.png"/>
          <p:cNvPicPr>
            <a:picLocks noChangeAspect="1"/>
          </p:cNvPicPr>
          <p:nvPr/>
        </p:nvPicPr>
        <p:blipFill>
          <a:blip r:embed="rId15"/>
          <a:stretch>
            <a:fillRect/>
          </a:stretch>
        </p:blipFill>
        <p:spPr>
          <a:xfrm>
            <a:off x="8528000" y="1657350"/>
            <a:ext cx="228600" cy="304800"/>
          </a:xfrm>
          <a:prstGeom prst="rect">
            <a:avLst/>
          </a:prstGeom>
        </p:spPr>
      </p:pic>
      <p:pic>
        <p:nvPicPr>
          <p:cNvPr id="15" name="Image 13" descr="preencoded.png"/>
          <p:cNvPicPr>
            <a:picLocks noChangeAspect="1"/>
          </p:cNvPicPr>
          <p:nvPr/>
        </p:nvPicPr>
        <p:blipFill>
          <a:blip r:embed="rId8"/>
          <a:stretch>
            <a:fillRect/>
          </a:stretch>
        </p:blipFill>
        <p:spPr>
          <a:xfrm>
            <a:off x="8356550" y="3562350"/>
            <a:ext cx="123825" cy="133350"/>
          </a:xfrm>
          <a:prstGeom prst="rect">
            <a:avLst/>
          </a:prstGeom>
        </p:spPr>
      </p:pic>
      <p:pic>
        <p:nvPicPr>
          <p:cNvPr id="16" name="Image 14" descr="preencoded.png"/>
          <p:cNvPicPr>
            <a:picLocks noChangeAspect="1"/>
          </p:cNvPicPr>
          <p:nvPr/>
        </p:nvPicPr>
        <p:blipFill>
          <a:blip r:embed="rId16"/>
          <a:stretch>
            <a:fillRect/>
          </a:stretch>
        </p:blipFill>
        <p:spPr>
          <a:xfrm>
            <a:off x="457200" y="4191000"/>
            <a:ext cx="3606701" cy="2628900"/>
          </a:xfrm>
          <a:prstGeom prst="rect">
            <a:avLst/>
          </a:prstGeom>
        </p:spPr>
      </p:pic>
      <p:pic>
        <p:nvPicPr>
          <p:cNvPr id="17" name="Image 15" descr="preencoded.png"/>
          <p:cNvPicPr>
            <a:picLocks noChangeAspect="1"/>
          </p:cNvPicPr>
          <p:nvPr/>
        </p:nvPicPr>
        <p:blipFill>
          <a:blip r:embed="rId17"/>
          <a:stretch>
            <a:fillRect/>
          </a:stretch>
        </p:blipFill>
        <p:spPr>
          <a:xfrm>
            <a:off x="685800" y="4419600"/>
            <a:ext cx="571500" cy="571500"/>
          </a:xfrm>
          <a:prstGeom prst="rect">
            <a:avLst/>
          </a:prstGeom>
        </p:spPr>
      </p:pic>
      <p:pic>
        <p:nvPicPr>
          <p:cNvPr id="18" name="Image 16" descr="preencoded.png"/>
          <p:cNvPicPr>
            <a:picLocks noChangeAspect="1"/>
          </p:cNvPicPr>
          <p:nvPr/>
        </p:nvPicPr>
        <p:blipFill>
          <a:blip r:embed="rId18"/>
          <a:stretch>
            <a:fillRect/>
          </a:stretch>
        </p:blipFill>
        <p:spPr>
          <a:xfrm>
            <a:off x="857250" y="4552950"/>
            <a:ext cx="228600" cy="304800"/>
          </a:xfrm>
          <a:prstGeom prst="rect">
            <a:avLst/>
          </a:prstGeom>
        </p:spPr>
      </p:pic>
      <p:pic>
        <p:nvPicPr>
          <p:cNvPr id="19" name="Image 17" descr="preencoded.png"/>
          <p:cNvPicPr>
            <a:picLocks noChangeAspect="1"/>
          </p:cNvPicPr>
          <p:nvPr/>
        </p:nvPicPr>
        <p:blipFill>
          <a:blip r:embed="rId12"/>
          <a:stretch>
            <a:fillRect/>
          </a:stretch>
        </p:blipFill>
        <p:spPr>
          <a:xfrm>
            <a:off x="685800" y="6229350"/>
            <a:ext cx="123825" cy="133350"/>
          </a:xfrm>
          <a:prstGeom prst="rect">
            <a:avLst/>
          </a:prstGeom>
        </p:spPr>
      </p:pic>
      <p:pic>
        <p:nvPicPr>
          <p:cNvPr id="20" name="Image 18" descr="preencoded.png"/>
          <p:cNvPicPr>
            <a:picLocks noChangeAspect="1"/>
          </p:cNvPicPr>
          <p:nvPr/>
        </p:nvPicPr>
        <p:blipFill>
          <a:blip r:embed="rId19"/>
          <a:stretch>
            <a:fillRect/>
          </a:stretch>
        </p:blipFill>
        <p:spPr>
          <a:xfrm>
            <a:off x="4292501" y="4191000"/>
            <a:ext cx="3606850" cy="2628900"/>
          </a:xfrm>
          <a:prstGeom prst="rect">
            <a:avLst/>
          </a:prstGeom>
        </p:spPr>
      </p:pic>
      <p:pic>
        <p:nvPicPr>
          <p:cNvPr id="21" name="Image 19" descr="preencoded.png"/>
          <p:cNvPicPr>
            <a:picLocks noChangeAspect="1"/>
          </p:cNvPicPr>
          <p:nvPr/>
        </p:nvPicPr>
        <p:blipFill>
          <a:blip r:embed="rId20"/>
          <a:stretch>
            <a:fillRect/>
          </a:stretch>
        </p:blipFill>
        <p:spPr>
          <a:xfrm>
            <a:off x="4521101" y="4419600"/>
            <a:ext cx="571500" cy="571500"/>
          </a:xfrm>
          <a:prstGeom prst="rect">
            <a:avLst/>
          </a:prstGeom>
        </p:spPr>
      </p:pic>
      <p:pic>
        <p:nvPicPr>
          <p:cNvPr id="22" name="Image 20" descr="preencoded.png"/>
          <p:cNvPicPr>
            <a:picLocks noChangeAspect="1"/>
          </p:cNvPicPr>
          <p:nvPr/>
        </p:nvPicPr>
        <p:blipFill>
          <a:blip r:embed="rId21"/>
          <a:stretch>
            <a:fillRect/>
          </a:stretch>
        </p:blipFill>
        <p:spPr>
          <a:xfrm>
            <a:off x="4706838" y="4552950"/>
            <a:ext cx="200025" cy="304800"/>
          </a:xfrm>
          <a:prstGeom prst="rect">
            <a:avLst/>
          </a:prstGeom>
        </p:spPr>
      </p:pic>
      <p:pic>
        <p:nvPicPr>
          <p:cNvPr id="23" name="Image 21" descr="preencoded.png"/>
          <p:cNvPicPr>
            <a:picLocks noChangeAspect="1"/>
          </p:cNvPicPr>
          <p:nvPr/>
        </p:nvPicPr>
        <p:blipFill>
          <a:blip r:embed="rId8"/>
          <a:stretch>
            <a:fillRect/>
          </a:stretch>
        </p:blipFill>
        <p:spPr>
          <a:xfrm>
            <a:off x="4521101" y="6419850"/>
            <a:ext cx="123825" cy="133350"/>
          </a:xfrm>
          <a:prstGeom prst="rect">
            <a:avLst/>
          </a:prstGeom>
        </p:spPr>
      </p:pic>
      <p:pic>
        <p:nvPicPr>
          <p:cNvPr id="24" name="Image 22" descr="preencoded.png"/>
          <p:cNvPicPr>
            <a:picLocks noChangeAspect="1"/>
          </p:cNvPicPr>
          <p:nvPr/>
        </p:nvPicPr>
        <p:blipFill>
          <a:blip r:embed="rId22"/>
          <a:stretch>
            <a:fillRect/>
          </a:stretch>
        </p:blipFill>
        <p:spPr>
          <a:xfrm>
            <a:off x="8127950" y="4191000"/>
            <a:ext cx="3606701" cy="2628900"/>
          </a:xfrm>
          <a:prstGeom prst="rect">
            <a:avLst/>
          </a:prstGeom>
        </p:spPr>
      </p:pic>
      <p:pic>
        <p:nvPicPr>
          <p:cNvPr id="25" name="Image 23" descr="preencoded.png"/>
          <p:cNvPicPr>
            <a:picLocks noChangeAspect="1"/>
          </p:cNvPicPr>
          <p:nvPr/>
        </p:nvPicPr>
        <p:blipFill>
          <a:blip r:embed="rId23"/>
          <a:stretch>
            <a:fillRect/>
          </a:stretch>
        </p:blipFill>
        <p:spPr>
          <a:xfrm>
            <a:off x="8356550" y="4438650"/>
            <a:ext cx="406747" cy="571500"/>
          </a:xfrm>
          <a:prstGeom prst="rect">
            <a:avLst/>
          </a:prstGeom>
        </p:spPr>
      </p:pic>
      <p:pic>
        <p:nvPicPr>
          <p:cNvPr id="26" name="Image 24" descr="preencoded.png"/>
          <p:cNvPicPr>
            <a:picLocks noChangeAspect="1"/>
          </p:cNvPicPr>
          <p:nvPr/>
        </p:nvPicPr>
        <p:blipFill>
          <a:blip r:embed="rId24"/>
          <a:stretch>
            <a:fillRect/>
          </a:stretch>
        </p:blipFill>
        <p:spPr>
          <a:xfrm>
            <a:off x="8445550" y="4572000"/>
            <a:ext cx="228600" cy="304800"/>
          </a:xfrm>
          <a:prstGeom prst="rect">
            <a:avLst/>
          </a:prstGeom>
        </p:spPr>
      </p:pic>
      <p:sp>
        <p:nvSpPr>
          <p:cNvPr id="27"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Key Benefits of Containerization</a:t>
            </a:r>
            <a:endParaRPr lang="en-US" sz="2700" dirty="0"/>
          </a:p>
        </p:txBody>
      </p:sp>
      <p:sp>
        <p:nvSpPr>
          <p:cNvPr id="28" name="Text 1"/>
          <p:cNvSpPr/>
          <p:nvPr/>
        </p:nvSpPr>
        <p:spPr>
          <a:xfrm>
            <a:off x="1409700" y="1657350"/>
            <a:ext cx="1629489"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Portability</a:t>
            </a:r>
            <a:endParaRPr lang="en-US" sz="1800" dirty="0"/>
          </a:p>
        </p:txBody>
      </p:sp>
      <p:sp>
        <p:nvSpPr>
          <p:cNvPr id="30" name="Text 3"/>
          <p:cNvSpPr/>
          <p:nvPr/>
        </p:nvSpPr>
        <p:spPr>
          <a:xfrm>
            <a:off x="885825" y="3543300"/>
            <a:ext cx="3779401" cy="1905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 "Write once, run anywhere" principle</a:t>
            </a:r>
            <a:endParaRPr lang="en-US" sz="1050" dirty="0"/>
          </a:p>
        </p:txBody>
      </p:sp>
      <p:sp>
        <p:nvSpPr>
          <p:cNvPr id="31" name="Text 4"/>
          <p:cNvSpPr/>
          <p:nvPr/>
        </p:nvSpPr>
        <p:spPr>
          <a:xfrm>
            <a:off x="5245001" y="1657350"/>
            <a:ext cx="1472863"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Efficiency</a:t>
            </a:r>
            <a:endParaRPr lang="en-US" sz="1800" dirty="0"/>
          </a:p>
        </p:txBody>
      </p:sp>
      <p:sp>
        <p:nvSpPr>
          <p:cNvPr id="32" name="Text 5"/>
          <p:cNvSpPr/>
          <p:nvPr/>
        </p:nvSpPr>
        <p:spPr>
          <a:xfrm>
            <a:off x="4521101" y="2247900"/>
            <a:ext cx="314965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By sharing the host OS kernel, containers are lightweight and consume fewer resources (CPU, memory, storage) compared to virtual machines.</a:t>
            </a:r>
            <a:endParaRPr lang="en-US" sz="1200" dirty="0"/>
          </a:p>
        </p:txBody>
      </p:sp>
      <p:sp>
        <p:nvSpPr>
          <p:cNvPr id="33" name="Text 6"/>
          <p:cNvSpPr/>
          <p:nvPr/>
        </p:nvSpPr>
        <p:spPr>
          <a:xfrm>
            <a:off x="4721126" y="3352800"/>
            <a:ext cx="3149650" cy="3810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 Higher application density on the same hardware</a:t>
            </a:r>
            <a:endParaRPr lang="en-US" sz="1050" dirty="0"/>
          </a:p>
        </p:txBody>
      </p:sp>
      <p:sp>
        <p:nvSpPr>
          <p:cNvPr id="34" name="Text 7"/>
          <p:cNvSpPr/>
          <p:nvPr/>
        </p:nvSpPr>
        <p:spPr>
          <a:xfrm>
            <a:off x="9080450" y="1657350"/>
            <a:ext cx="2393335"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Agility &amp; Speed</a:t>
            </a:r>
            <a:endParaRPr lang="en-US" sz="1800" dirty="0"/>
          </a:p>
        </p:txBody>
      </p:sp>
      <p:sp>
        <p:nvSpPr>
          <p:cNvPr id="35" name="Text 8"/>
          <p:cNvSpPr/>
          <p:nvPr/>
        </p:nvSpPr>
        <p:spPr>
          <a:xfrm>
            <a:off x="8356550" y="2247900"/>
            <a:ext cx="3149501"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Containers streamline development workflows, facilitating quicker build, test, and deployment cycles, accelerating software delivery.</a:t>
            </a:r>
            <a:endParaRPr lang="en-US" sz="1200" dirty="0"/>
          </a:p>
        </p:txBody>
      </p:sp>
      <p:sp>
        <p:nvSpPr>
          <p:cNvPr id="36" name="Text 9"/>
          <p:cNvSpPr/>
          <p:nvPr/>
        </p:nvSpPr>
        <p:spPr>
          <a:xfrm>
            <a:off x="8556575" y="3543300"/>
            <a:ext cx="3779401" cy="1905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 Perfect for CI/CD pipelines</a:t>
            </a:r>
            <a:endParaRPr lang="en-US" sz="1050" dirty="0"/>
          </a:p>
        </p:txBody>
      </p:sp>
      <p:sp>
        <p:nvSpPr>
          <p:cNvPr id="37" name="Text 10"/>
          <p:cNvSpPr/>
          <p:nvPr/>
        </p:nvSpPr>
        <p:spPr>
          <a:xfrm>
            <a:off x="1409700" y="4552950"/>
            <a:ext cx="1341953"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Isolation</a:t>
            </a:r>
            <a:endParaRPr lang="en-US" sz="1800" dirty="0"/>
          </a:p>
        </p:txBody>
      </p:sp>
      <p:sp>
        <p:nvSpPr>
          <p:cNvPr id="38" name="Text 11"/>
          <p:cNvSpPr/>
          <p:nvPr/>
        </p:nvSpPr>
        <p:spPr>
          <a:xfrm>
            <a:off x="685800" y="5143500"/>
            <a:ext cx="3149501"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Each containerized application operates within an isolated environment, preventing conflicts between applications and their dependencies.</a:t>
            </a:r>
            <a:endParaRPr lang="en-US" sz="1200" dirty="0"/>
          </a:p>
        </p:txBody>
      </p:sp>
      <p:sp>
        <p:nvSpPr>
          <p:cNvPr id="39" name="Text 12"/>
          <p:cNvSpPr/>
          <p:nvPr/>
        </p:nvSpPr>
        <p:spPr>
          <a:xfrm>
            <a:off x="885825" y="6210300"/>
            <a:ext cx="3149501" cy="3810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 Enhances application resilience and availability</a:t>
            </a:r>
            <a:endParaRPr lang="en-US" sz="1050" dirty="0"/>
          </a:p>
        </p:txBody>
      </p:sp>
      <p:sp>
        <p:nvSpPr>
          <p:cNvPr id="40" name="Text 13"/>
          <p:cNvSpPr/>
          <p:nvPr/>
        </p:nvSpPr>
        <p:spPr>
          <a:xfrm>
            <a:off x="5245001" y="4552950"/>
            <a:ext cx="16128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Scalability</a:t>
            </a:r>
            <a:endParaRPr lang="en-US" sz="1800" dirty="0"/>
          </a:p>
        </p:txBody>
      </p:sp>
      <p:sp>
        <p:nvSpPr>
          <p:cNvPr id="41" name="Text 14"/>
          <p:cNvSpPr/>
          <p:nvPr/>
        </p:nvSpPr>
        <p:spPr>
          <a:xfrm>
            <a:off x="4521101" y="5143500"/>
            <a:ext cx="314965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Containers can be rapidly started, stopped, and scaled up or down to meet fluctuating demand, making them highly effective for dynamic workloads.</a:t>
            </a:r>
            <a:endParaRPr lang="en-US" sz="1200" dirty="0"/>
          </a:p>
        </p:txBody>
      </p:sp>
      <p:sp>
        <p:nvSpPr>
          <p:cNvPr id="42" name="Text 15"/>
          <p:cNvSpPr/>
          <p:nvPr/>
        </p:nvSpPr>
        <p:spPr>
          <a:xfrm>
            <a:off x="4721126" y="6400800"/>
            <a:ext cx="3779580" cy="1905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 Ideal for microservices architectures</a:t>
            </a:r>
            <a:endParaRPr lang="en-US" sz="1050" dirty="0"/>
          </a:p>
        </p:txBody>
      </p:sp>
      <p:sp>
        <p:nvSpPr>
          <p:cNvPr id="43" name="Text 16"/>
          <p:cNvSpPr/>
          <p:nvPr/>
        </p:nvSpPr>
        <p:spPr>
          <a:xfrm>
            <a:off x="8915698" y="4419600"/>
            <a:ext cx="2590354" cy="609600"/>
          </a:xfrm>
          <a:prstGeom prst="rect">
            <a:avLst/>
          </a:prstGeom>
          <a:noFill/>
          <a:ln/>
        </p:spPr>
        <p:txBody>
          <a:bodyPr vert="horz" wrap="square" lIns="0" tIns="0" rIns="0" bIns="0" rtlCol="0" anchor="t"/>
          <a:lstStyle/>
          <a:p>
            <a:pPr marL="0" indent="0">
              <a:lnSpc>
                <a:spcPts val="2400"/>
              </a:lnSpc>
              <a:buNone/>
            </a:pPr>
            <a:r>
              <a:rPr lang="en-US" sz="1800" b="1" dirty="0">
                <a:solidFill>
                  <a:srgbClr val="FFFFFF"/>
                </a:solidFill>
                <a:latin typeface="ui-sans-serif" pitchFamily="34" charset="0"/>
                <a:ea typeface="ui-sans-serif" pitchFamily="34" charset="-122"/>
                <a:cs typeface="ui-sans-serif" pitchFamily="34" charset="-120"/>
              </a:rPr>
              <a:t>Revolutionizing Deployment</a:t>
            </a:r>
            <a:endParaRPr lang="en-US" sz="1800" dirty="0"/>
          </a:p>
        </p:txBody>
      </p:sp>
      <p:sp>
        <p:nvSpPr>
          <p:cNvPr id="44" name="Text 17"/>
          <p:cNvSpPr/>
          <p:nvPr/>
        </p:nvSpPr>
        <p:spPr>
          <a:xfrm>
            <a:off x="8356550" y="5181600"/>
            <a:ext cx="3149501" cy="1143000"/>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ui-sans-serif" pitchFamily="34" charset="0"/>
                <a:ea typeface="ui-sans-serif" pitchFamily="34" charset="-122"/>
                <a:cs typeface="ui-sans-serif" pitchFamily="34" charset="-120"/>
              </a:rPr>
              <a:t>Containerization has transformed how applications are developed, deployed, and managed, offering unprecedented consistency, efficiency, and portability across diverse computing environments.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448550"/>
          </a:xfrm>
          <a:prstGeom prst="rect">
            <a:avLst/>
          </a:prstGeom>
        </p:spPr>
      </p:pic>
      <p:pic>
        <p:nvPicPr>
          <p:cNvPr id="3" name="Image 1" descr="preencoded.png"/>
          <p:cNvPicPr>
            <a:picLocks noChangeAspect="1"/>
          </p:cNvPicPr>
          <p:nvPr/>
        </p:nvPicPr>
        <p:blipFill>
          <a:blip r:embed="rId4"/>
          <a:stretch>
            <a:fillRect/>
          </a:stretch>
        </p:blipFill>
        <p:spPr>
          <a:xfrm>
            <a:off x="457200" y="9525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19200"/>
            <a:ext cx="2676525" cy="2819400"/>
          </a:xfrm>
          <a:prstGeom prst="rect">
            <a:avLst/>
          </a:prstGeom>
        </p:spPr>
      </p:pic>
      <p:pic>
        <p:nvPicPr>
          <p:cNvPr id="5" name="Image 3" descr="preencoded.png"/>
          <p:cNvPicPr>
            <a:picLocks noChangeAspect="1"/>
          </p:cNvPicPr>
          <p:nvPr/>
        </p:nvPicPr>
        <p:blipFill>
          <a:blip r:embed="rId6"/>
          <a:stretch>
            <a:fillRect/>
          </a:stretch>
        </p:blipFill>
        <p:spPr>
          <a:xfrm>
            <a:off x="647700" y="1409700"/>
            <a:ext cx="476250" cy="476250"/>
          </a:xfrm>
          <a:prstGeom prst="rect">
            <a:avLst/>
          </a:prstGeom>
        </p:spPr>
      </p:pic>
      <p:pic>
        <p:nvPicPr>
          <p:cNvPr id="6" name="Image 4" descr="preencoded.png"/>
          <p:cNvPicPr>
            <a:picLocks noChangeAspect="1"/>
          </p:cNvPicPr>
          <p:nvPr/>
        </p:nvPicPr>
        <p:blipFill>
          <a:blip r:embed="rId7"/>
          <a:stretch>
            <a:fillRect/>
          </a:stretch>
        </p:blipFill>
        <p:spPr>
          <a:xfrm>
            <a:off x="776288" y="1514475"/>
            <a:ext cx="219075" cy="266700"/>
          </a:xfrm>
          <a:prstGeom prst="rect">
            <a:avLst/>
          </a:prstGeom>
        </p:spPr>
      </p:pic>
      <p:pic>
        <p:nvPicPr>
          <p:cNvPr id="7" name="Image 5" descr="preencoded.png"/>
          <p:cNvPicPr>
            <a:picLocks noChangeAspect="1"/>
          </p:cNvPicPr>
          <p:nvPr/>
        </p:nvPicPr>
        <p:blipFill>
          <a:blip r:embed="rId8"/>
          <a:stretch>
            <a:fillRect/>
          </a:stretch>
        </p:blipFill>
        <p:spPr>
          <a:xfrm>
            <a:off x="647700" y="3486150"/>
            <a:ext cx="104775" cy="133350"/>
          </a:xfrm>
          <a:prstGeom prst="rect">
            <a:avLst/>
          </a:prstGeom>
        </p:spPr>
      </p:pic>
      <p:pic>
        <p:nvPicPr>
          <p:cNvPr id="8" name="Image 6" descr="preencoded.png"/>
          <p:cNvPicPr>
            <a:picLocks noChangeAspect="1"/>
          </p:cNvPicPr>
          <p:nvPr/>
        </p:nvPicPr>
        <p:blipFill>
          <a:blip r:embed="rId5"/>
          <a:stretch>
            <a:fillRect/>
          </a:stretch>
        </p:blipFill>
        <p:spPr>
          <a:xfrm>
            <a:off x="3324225" y="1219200"/>
            <a:ext cx="2676525" cy="2819400"/>
          </a:xfrm>
          <a:prstGeom prst="rect">
            <a:avLst/>
          </a:prstGeom>
        </p:spPr>
      </p:pic>
      <p:pic>
        <p:nvPicPr>
          <p:cNvPr id="9" name="Image 7" descr="preencoded.png"/>
          <p:cNvPicPr>
            <a:picLocks noChangeAspect="1"/>
          </p:cNvPicPr>
          <p:nvPr/>
        </p:nvPicPr>
        <p:blipFill>
          <a:blip r:embed="rId9"/>
          <a:stretch>
            <a:fillRect/>
          </a:stretch>
        </p:blipFill>
        <p:spPr>
          <a:xfrm>
            <a:off x="3514725" y="1409700"/>
            <a:ext cx="476250" cy="476250"/>
          </a:xfrm>
          <a:prstGeom prst="rect">
            <a:avLst/>
          </a:prstGeom>
        </p:spPr>
      </p:pic>
      <p:pic>
        <p:nvPicPr>
          <p:cNvPr id="10" name="Image 8" descr="preencoded.png"/>
          <p:cNvPicPr>
            <a:picLocks noChangeAspect="1"/>
          </p:cNvPicPr>
          <p:nvPr/>
        </p:nvPicPr>
        <p:blipFill>
          <a:blip r:embed="rId10"/>
          <a:stretch>
            <a:fillRect/>
          </a:stretch>
        </p:blipFill>
        <p:spPr>
          <a:xfrm>
            <a:off x="3667125" y="1514475"/>
            <a:ext cx="171450" cy="266700"/>
          </a:xfrm>
          <a:prstGeom prst="rect">
            <a:avLst/>
          </a:prstGeom>
        </p:spPr>
      </p:pic>
      <p:pic>
        <p:nvPicPr>
          <p:cNvPr id="11" name="Image 9" descr="preencoded.png"/>
          <p:cNvPicPr>
            <a:picLocks noChangeAspect="1"/>
          </p:cNvPicPr>
          <p:nvPr/>
        </p:nvPicPr>
        <p:blipFill>
          <a:blip r:embed="rId11"/>
          <a:stretch>
            <a:fillRect/>
          </a:stretch>
        </p:blipFill>
        <p:spPr>
          <a:xfrm>
            <a:off x="3514725" y="3486150"/>
            <a:ext cx="133350" cy="133350"/>
          </a:xfrm>
          <a:prstGeom prst="rect">
            <a:avLst/>
          </a:prstGeom>
        </p:spPr>
      </p:pic>
      <p:pic>
        <p:nvPicPr>
          <p:cNvPr id="12" name="Image 10" descr="preencoded.png"/>
          <p:cNvPicPr>
            <a:picLocks noChangeAspect="1"/>
          </p:cNvPicPr>
          <p:nvPr/>
        </p:nvPicPr>
        <p:blipFill>
          <a:blip r:embed="rId5"/>
          <a:stretch>
            <a:fillRect/>
          </a:stretch>
        </p:blipFill>
        <p:spPr>
          <a:xfrm>
            <a:off x="6191250" y="1219200"/>
            <a:ext cx="2676525" cy="2819400"/>
          </a:xfrm>
          <a:prstGeom prst="rect">
            <a:avLst/>
          </a:prstGeom>
        </p:spPr>
      </p:pic>
      <p:pic>
        <p:nvPicPr>
          <p:cNvPr id="13" name="Image 11" descr="preencoded.png"/>
          <p:cNvPicPr>
            <a:picLocks noChangeAspect="1"/>
          </p:cNvPicPr>
          <p:nvPr/>
        </p:nvPicPr>
        <p:blipFill>
          <a:blip r:embed="rId12"/>
          <a:stretch>
            <a:fillRect/>
          </a:stretch>
        </p:blipFill>
        <p:spPr>
          <a:xfrm>
            <a:off x="6381750" y="1438275"/>
            <a:ext cx="399157" cy="476250"/>
          </a:xfrm>
          <a:prstGeom prst="rect">
            <a:avLst/>
          </a:prstGeom>
        </p:spPr>
      </p:pic>
      <p:pic>
        <p:nvPicPr>
          <p:cNvPr id="14" name="Image 12" descr="preencoded.png"/>
          <p:cNvPicPr>
            <a:picLocks noChangeAspect="1"/>
          </p:cNvPicPr>
          <p:nvPr/>
        </p:nvPicPr>
        <p:blipFill>
          <a:blip r:embed="rId13"/>
          <a:stretch>
            <a:fillRect/>
          </a:stretch>
        </p:blipFill>
        <p:spPr>
          <a:xfrm>
            <a:off x="6486079" y="1543050"/>
            <a:ext cx="190500" cy="266700"/>
          </a:xfrm>
          <a:prstGeom prst="rect">
            <a:avLst/>
          </a:prstGeom>
        </p:spPr>
      </p:pic>
      <p:pic>
        <p:nvPicPr>
          <p:cNvPr id="15" name="Image 13" descr="preencoded.png"/>
          <p:cNvPicPr>
            <a:picLocks noChangeAspect="1"/>
          </p:cNvPicPr>
          <p:nvPr/>
        </p:nvPicPr>
        <p:blipFill>
          <a:blip r:embed="rId14"/>
          <a:stretch>
            <a:fillRect/>
          </a:stretch>
        </p:blipFill>
        <p:spPr>
          <a:xfrm>
            <a:off x="6381750" y="3295650"/>
            <a:ext cx="133350" cy="133350"/>
          </a:xfrm>
          <a:prstGeom prst="rect">
            <a:avLst/>
          </a:prstGeom>
        </p:spPr>
      </p:pic>
      <p:pic>
        <p:nvPicPr>
          <p:cNvPr id="16" name="Image 14" descr="preencoded.png"/>
          <p:cNvPicPr>
            <a:picLocks noChangeAspect="1"/>
          </p:cNvPicPr>
          <p:nvPr/>
        </p:nvPicPr>
        <p:blipFill>
          <a:blip r:embed="rId5"/>
          <a:stretch>
            <a:fillRect/>
          </a:stretch>
        </p:blipFill>
        <p:spPr>
          <a:xfrm>
            <a:off x="9058275" y="1219200"/>
            <a:ext cx="2676525" cy="2819400"/>
          </a:xfrm>
          <a:prstGeom prst="rect">
            <a:avLst/>
          </a:prstGeom>
        </p:spPr>
      </p:pic>
      <p:pic>
        <p:nvPicPr>
          <p:cNvPr id="17" name="Image 15" descr="preencoded.png"/>
          <p:cNvPicPr>
            <a:picLocks noChangeAspect="1"/>
          </p:cNvPicPr>
          <p:nvPr/>
        </p:nvPicPr>
        <p:blipFill>
          <a:blip r:embed="rId15"/>
          <a:stretch>
            <a:fillRect/>
          </a:stretch>
        </p:blipFill>
        <p:spPr>
          <a:xfrm>
            <a:off x="9248775" y="1409700"/>
            <a:ext cx="476250" cy="476250"/>
          </a:xfrm>
          <a:prstGeom prst="rect">
            <a:avLst/>
          </a:prstGeom>
        </p:spPr>
      </p:pic>
      <p:pic>
        <p:nvPicPr>
          <p:cNvPr id="18" name="Image 16" descr="preencoded.png"/>
          <p:cNvPicPr>
            <a:picLocks noChangeAspect="1"/>
          </p:cNvPicPr>
          <p:nvPr/>
        </p:nvPicPr>
        <p:blipFill>
          <a:blip r:embed="rId16"/>
          <a:stretch>
            <a:fillRect/>
          </a:stretch>
        </p:blipFill>
        <p:spPr>
          <a:xfrm>
            <a:off x="9367838" y="1514475"/>
            <a:ext cx="238125" cy="266700"/>
          </a:xfrm>
          <a:prstGeom prst="rect">
            <a:avLst/>
          </a:prstGeom>
        </p:spPr>
      </p:pic>
      <p:pic>
        <p:nvPicPr>
          <p:cNvPr id="19" name="Image 17" descr="preencoded.png"/>
          <p:cNvPicPr>
            <a:picLocks noChangeAspect="1"/>
          </p:cNvPicPr>
          <p:nvPr/>
        </p:nvPicPr>
        <p:blipFill>
          <a:blip r:embed="rId17"/>
          <a:stretch>
            <a:fillRect/>
          </a:stretch>
        </p:blipFill>
        <p:spPr>
          <a:xfrm>
            <a:off x="9248775" y="3486150"/>
            <a:ext cx="133350" cy="133350"/>
          </a:xfrm>
          <a:prstGeom prst="rect">
            <a:avLst/>
          </a:prstGeom>
        </p:spPr>
      </p:pic>
      <p:pic>
        <p:nvPicPr>
          <p:cNvPr id="20" name="Image 18" descr="preencoded.png"/>
          <p:cNvPicPr>
            <a:picLocks noChangeAspect="1"/>
          </p:cNvPicPr>
          <p:nvPr/>
        </p:nvPicPr>
        <p:blipFill>
          <a:blip r:embed="rId18"/>
          <a:stretch>
            <a:fillRect/>
          </a:stretch>
        </p:blipFill>
        <p:spPr>
          <a:xfrm>
            <a:off x="457200" y="4229100"/>
            <a:ext cx="2676525" cy="2762250"/>
          </a:xfrm>
          <a:prstGeom prst="rect">
            <a:avLst/>
          </a:prstGeom>
        </p:spPr>
      </p:pic>
      <p:pic>
        <p:nvPicPr>
          <p:cNvPr id="21" name="Image 19" descr="preencoded.png"/>
          <p:cNvPicPr>
            <a:picLocks noChangeAspect="1"/>
          </p:cNvPicPr>
          <p:nvPr/>
        </p:nvPicPr>
        <p:blipFill>
          <a:blip r:embed="rId19"/>
          <a:stretch>
            <a:fillRect/>
          </a:stretch>
        </p:blipFill>
        <p:spPr>
          <a:xfrm>
            <a:off x="647700" y="4419600"/>
            <a:ext cx="476250" cy="476250"/>
          </a:xfrm>
          <a:prstGeom prst="rect">
            <a:avLst/>
          </a:prstGeom>
        </p:spPr>
      </p:pic>
      <p:pic>
        <p:nvPicPr>
          <p:cNvPr id="22" name="Image 20" descr="preencoded.png"/>
          <p:cNvPicPr>
            <a:picLocks noChangeAspect="1"/>
          </p:cNvPicPr>
          <p:nvPr/>
        </p:nvPicPr>
        <p:blipFill>
          <a:blip r:embed="rId20"/>
          <a:stretch>
            <a:fillRect/>
          </a:stretch>
        </p:blipFill>
        <p:spPr>
          <a:xfrm>
            <a:off x="790575" y="4524375"/>
            <a:ext cx="190500" cy="266700"/>
          </a:xfrm>
          <a:prstGeom prst="rect">
            <a:avLst/>
          </a:prstGeom>
        </p:spPr>
      </p:pic>
      <p:pic>
        <p:nvPicPr>
          <p:cNvPr id="23" name="Image 21" descr="preencoded.png"/>
          <p:cNvPicPr>
            <a:picLocks noChangeAspect="1"/>
          </p:cNvPicPr>
          <p:nvPr/>
        </p:nvPicPr>
        <p:blipFill>
          <a:blip r:embed="rId21"/>
          <a:stretch>
            <a:fillRect/>
          </a:stretch>
        </p:blipFill>
        <p:spPr>
          <a:xfrm>
            <a:off x="647700" y="6248400"/>
            <a:ext cx="104775" cy="133350"/>
          </a:xfrm>
          <a:prstGeom prst="rect">
            <a:avLst/>
          </a:prstGeom>
        </p:spPr>
      </p:pic>
      <p:pic>
        <p:nvPicPr>
          <p:cNvPr id="24" name="Image 22" descr="preencoded.png"/>
          <p:cNvPicPr>
            <a:picLocks noChangeAspect="1"/>
          </p:cNvPicPr>
          <p:nvPr/>
        </p:nvPicPr>
        <p:blipFill>
          <a:blip r:embed="rId18"/>
          <a:stretch>
            <a:fillRect/>
          </a:stretch>
        </p:blipFill>
        <p:spPr>
          <a:xfrm>
            <a:off x="3324225" y="4229100"/>
            <a:ext cx="2676525" cy="2762250"/>
          </a:xfrm>
          <a:prstGeom prst="rect">
            <a:avLst/>
          </a:prstGeom>
        </p:spPr>
      </p:pic>
      <p:pic>
        <p:nvPicPr>
          <p:cNvPr id="25" name="Image 23" descr="preencoded.png"/>
          <p:cNvPicPr>
            <a:picLocks noChangeAspect="1"/>
          </p:cNvPicPr>
          <p:nvPr/>
        </p:nvPicPr>
        <p:blipFill>
          <a:blip r:embed="rId22"/>
          <a:stretch>
            <a:fillRect/>
          </a:stretch>
        </p:blipFill>
        <p:spPr>
          <a:xfrm>
            <a:off x="3514725" y="4419600"/>
            <a:ext cx="476250" cy="476250"/>
          </a:xfrm>
          <a:prstGeom prst="rect">
            <a:avLst/>
          </a:prstGeom>
        </p:spPr>
      </p:pic>
      <p:pic>
        <p:nvPicPr>
          <p:cNvPr id="26" name="Image 24" descr="preencoded.png"/>
          <p:cNvPicPr>
            <a:picLocks noChangeAspect="1"/>
          </p:cNvPicPr>
          <p:nvPr/>
        </p:nvPicPr>
        <p:blipFill>
          <a:blip r:embed="rId23"/>
          <a:stretch>
            <a:fillRect/>
          </a:stretch>
        </p:blipFill>
        <p:spPr>
          <a:xfrm>
            <a:off x="3667125" y="4524375"/>
            <a:ext cx="171450" cy="266700"/>
          </a:xfrm>
          <a:prstGeom prst="rect">
            <a:avLst/>
          </a:prstGeom>
        </p:spPr>
      </p:pic>
      <p:pic>
        <p:nvPicPr>
          <p:cNvPr id="27" name="Image 25" descr="preencoded.png"/>
          <p:cNvPicPr>
            <a:picLocks noChangeAspect="1"/>
          </p:cNvPicPr>
          <p:nvPr/>
        </p:nvPicPr>
        <p:blipFill>
          <a:blip r:embed="rId24"/>
          <a:stretch>
            <a:fillRect/>
          </a:stretch>
        </p:blipFill>
        <p:spPr>
          <a:xfrm>
            <a:off x="3514725" y="6438900"/>
            <a:ext cx="133350" cy="133350"/>
          </a:xfrm>
          <a:prstGeom prst="rect">
            <a:avLst/>
          </a:prstGeom>
        </p:spPr>
      </p:pic>
      <p:pic>
        <p:nvPicPr>
          <p:cNvPr id="28" name="Image 26" descr="preencoded.png"/>
          <p:cNvPicPr>
            <a:picLocks noChangeAspect="1"/>
          </p:cNvPicPr>
          <p:nvPr/>
        </p:nvPicPr>
        <p:blipFill>
          <a:blip r:embed="rId18"/>
          <a:stretch>
            <a:fillRect/>
          </a:stretch>
        </p:blipFill>
        <p:spPr>
          <a:xfrm>
            <a:off x="6191250" y="4229100"/>
            <a:ext cx="2676525" cy="2762250"/>
          </a:xfrm>
          <a:prstGeom prst="rect">
            <a:avLst/>
          </a:prstGeom>
        </p:spPr>
      </p:pic>
      <p:pic>
        <p:nvPicPr>
          <p:cNvPr id="29" name="Image 27" descr="preencoded.png"/>
          <p:cNvPicPr>
            <a:picLocks noChangeAspect="1"/>
          </p:cNvPicPr>
          <p:nvPr/>
        </p:nvPicPr>
        <p:blipFill>
          <a:blip r:embed="rId25"/>
          <a:stretch>
            <a:fillRect/>
          </a:stretch>
        </p:blipFill>
        <p:spPr>
          <a:xfrm>
            <a:off x="6381750" y="4419600"/>
            <a:ext cx="476250" cy="476250"/>
          </a:xfrm>
          <a:prstGeom prst="rect">
            <a:avLst/>
          </a:prstGeom>
        </p:spPr>
      </p:pic>
      <p:pic>
        <p:nvPicPr>
          <p:cNvPr id="30" name="Image 28" descr="preencoded.png"/>
          <p:cNvPicPr>
            <a:picLocks noChangeAspect="1"/>
          </p:cNvPicPr>
          <p:nvPr/>
        </p:nvPicPr>
        <p:blipFill>
          <a:blip r:embed="rId26"/>
          <a:stretch>
            <a:fillRect/>
          </a:stretch>
        </p:blipFill>
        <p:spPr>
          <a:xfrm>
            <a:off x="6524625" y="4524375"/>
            <a:ext cx="190500" cy="266700"/>
          </a:xfrm>
          <a:prstGeom prst="rect">
            <a:avLst/>
          </a:prstGeom>
        </p:spPr>
      </p:pic>
      <p:pic>
        <p:nvPicPr>
          <p:cNvPr id="31" name="Image 29" descr="preencoded.png"/>
          <p:cNvPicPr>
            <a:picLocks noChangeAspect="1"/>
          </p:cNvPicPr>
          <p:nvPr/>
        </p:nvPicPr>
        <p:blipFill>
          <a:blip r:embed="rId27"/>
          <a:stretch>
            <a:fillRect/>
          </a:stretch>
        </p:blipFill>
        <p:spPr>
          <a:xfrm>
            <a:off x="6381750" y="6438900"/>
            <a:ext cx="171450" cy="133350"/>
          </a:xfrm>
          <a:prstGeom prst="rect">
            <a:avLst/>
          </a:prstGeom>
        </p:spPr>
      </p:pic>
      <p:pic>
        <p:nvPicPr>
          <p:cNvPr id="32" name="Image 30" descr="preencoded.png"/>
          <p:cNvPicPr>
            <a:picLocks noChangeAspect="1"/>
          </p:cNvPicPr>
          <p:nvPr/>
        </p:nvPicPr>
        <p:blipFill>
          <a:blip r:embed="rId18"/>
          <a:stretch>
            <a:fillRect/>
          </a:stretch>
        </p:blipFill>
        <p:spPr>
          <a:xfrm>
            <a:off x="9058275" y="4229100"/>
            <a:ext cx="2676525" cy="2762250"/>
          </a:xfrm>
          <a:prstGeom prst="rect">
            <a:avLst/>
          </a:prstGeom>
        </p:spPr>
      </p:pic>
      <p:pic>
        <p:nvPicPr>
          <p:cNvPr id="33" name="Image 31" descr="preencoded.png"/>
          <p:cNvPicPr>
            <a:picLocks noChangeAspect="1"/>
          </p:cNvPicPr>
          <p:nvPr/>
        </p:nvPicPr>
        <p:blipFill>
          <a:blip r:embed="rId28"/>
          <a:stretch>
            <a:fillRect/>
          </a:stretch>
        </p:blipFill>
        <p:spPr>
          <a:xfrm>
            <a:off x="9248775" y="4419600"/>
            <a:ext cx="476250" cy="476250"/>
          </a:xfrm>
          <a:prstGeom prst="rect">
            <a:avLst/>
          </a:prstGeom>
        </p:spPr>
      </p:pic>
      <p:pic>
        <p:nvPicPr>
          <p:cNvPr id="34" name="Image 32" descr="preencoded.png"/>
          <p:cNvPicPr>
            <a:picLocks noChangeAspect="1"/>
          </p:cNvPicPr>
          <p:nvPr/>
        </p:nvPicPr>
        <p:blipFill>
          <a:blip r:embed="rId29"/>
          <a:stretch>
            <a:fillRect/>
          </a:stretch>
        </p:blipFill>
        <p:spPr>
          <a:xfrm>
            <a:off x="9367838" y="4524375"/>
            <a:ext cx="238125" cy="266700"/>
          </a:xfrm>
          <a:prstGeom prst="rect">
            <a:avLst/>
          </a:prstGeom>
        </p:spPr>
      </p:pic>
      <p:pic>
        <p:nvPicPr>
          <p:cNvPr id="35" name="Image 33" descr="preencoded.png"/>
          <p:cNvPicPr>
            <a:picLocks noChangeAspect="1"/>
          </p:cNvPicPr>
          <p:nvPr/>
        </p:nvPicPr>
        <p:blipFill>
          <a:blip r:embed="rId8"/>
          <a:stretch>
            <a:fillRect/>
          </a:stretch>
        </p:blipFill>
        <p:spPr>
          <a:xfrm>
            <a:off x="9248775" y="6248400"/>
            <a:ext cx="104775" cy="133350"/>
          </a:xfrm>
          <a:prstGeom prst="rect">
            <a:avLst/>
          </a:prstGeom>
        </p:spPr>
      </p:pic>
      <p:sp>
        <p:nvSpPr>
          <p:cNvPr id="36"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Real-World Use Cases</a:t>
            </a:r>
            <a:endParaRPr lang="en-US" sz="2700" dirty="0"/>
          </a:p>
        </p:txBody>
      </p:sp>
      <p:sp>
        <p:nvSpPr>
          <p:cNvPr id="37" name="Text 1"/>
          <p:cNvSpPr/>
          <p:nvPr/>
        </p:nvSpPr>
        <p:spPr>
          <a:xfrm>
            <a:off x="1238250" y="1514475"/>
            <a:ext cx="1592163"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Microservices</a:t>
            </a:r>
            <a:endParaRPr lang="en-US" sz="1350" dirty="0"/>
          </a:p>
        </p:txBody>
      </p:sp>
      <p:sp>
        <p:nvSpPr>
          <p:cNvPr id="38" name="Text 2"/>
          <p:cNvSpPr/>
          <p:nvPr/>
        </p:nvSpPr>
        <p:spPr>
          <a:xfrm>
            <a:off x="647700" y="2000250"/>
            <a:ext cx="2295525" cy="139065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Containers provide lightweight, isolated units for breaking down complex applications into smaller, independently deployable services.</a:t>
            </a:r>
            <a:endParaRPr lang="en-US" sz="1050" dirty="0"/>
          </a:p>
        </p:txBody>
      </p:sp>
      <p:sp>
        <p:nvSpPr>
          <p:cNvPr id="39" name="Text 3"/>
          <p:cNvSpPr/>
          <p:nvPr/>
        </p:nvSpPr>
        <p:spPr>
          <a:xfrm>
            <a:off x="790575" y="3467100"/>
            <a:ext cx="2295525" cy="3810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Companies like Netflix and eBay use this approach</a:t>
            </a:r>
            <a:endParaRPr lang="en-US" sz="1050" dirty="0"/>
          </a:p>
        </p:txBody>
      </p:sp>
      <p:sp>
        <p:nvSpPr>
          <p:cNvPr id="40" name="Text 4"/>
          <p:cNvSpPr/>
          <p:nvPr/>
        </p:nvSpPr>
        <p:spPr>
          <a:xfrm>
            <a:off x="4105275" y="1514475"/>
            <a:ext cx="624542"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CI/CD</a:t>
            </a:r>
            <a:endParaRPr lang="en-US" sz="1350" dirty="0"/>
          </a:p>
        </p:txBody>
      </p:sp>
      <p:sp>
        <p:nvSpPr>
          <p:cNvPr id="41" name="Text 5"/>
          <p:cNvSpPr/>
          <p:nvPr/>
        </p:nvSpPr>
        <p:spPr>
          <a:xfrm>
            <a:off x="3514725" y="2000250"/>
            <a:ext cx="2295525" cy="139065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Containers facilitate automated testing and deployment pipelines, ensuring reliability and enabling faster delivery of software updates.</a:t>
            </a:r>
            <a:endParaRPr lang="en-US" sz="1050" dirty="0"/>
          </a:p>
        </p:txBody>
      </p:sp>
      <p:sp>
        <p:nvSpPr>
          <p:cNvPr id="42" name="Text 6"/>
          <p:cNvSpPr/>
          <p:nvPr/>
        </p:nvSpPr>
        <p:spPr>
          <a:xfrm>
            <a:off x="3686175" y="3467100"/>
            <a:ext cx="2295525" cy="3810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Streamlines development workflows</a:t>
            </a:r>
            <a:endParaRPr lang="en-US" sz="1050" dirty="0"/>
          </a:p>
        </p:txBody>
      </p:sp>
      <p:sp>
        <p:nvSpPr>
          <p:cNvPr id="43" name="Text 7"/>
          <p:cNvSpPr/>
          <p:nvPr/>
        </p:nvSpPr>
        <p:spPr>
          <a:xfrm>
            <a:off x="6895207" y="1409700"/>
            <a:ext cx="1782068" cy="5334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Legacy Modernization</a:t>
            </a:r>
            <a:endParaRPr lang="en-US" sz="1350" dirty="0"/>
          </a:p>
        </p:txBody>
      </p:sp>
      <p:sp>
        <p:nvSpPr>
          <p:cNvPr id="44" name="Text 8"/>
          <p:cNvSpPr/>
          <p:nvPr/>
        </p:nvSpPr>
        <p:spPr>
          <a:xfrm>
            <a:off x="6381750" y="2057400"/>
            <a:ext cx="2295525" cy="1143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Organizations utilize containerization to encapsulate traditional, monolithic applications, making them portable and easier to migrate to cloud environments.</a:t>
            </a:r>
            <a:endParaRPr lang="en-US" sz="1050" dirty="0"/>
          </a:p>
        </p:txBody>
      </p:sp>
      <p:sp>
        <p:nvSpPr>
          <p:cNvPr id="45" name="Text 9"/>
          <p:cNvSpPr/>
          <p:nvPr/>
        </p:nvSpPr>
        <p:spPr>
          <a:xfrm>
            <a:off x="6553200" y="3276600"/>
            <a:ext cx="2295525" cy="571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Example: Cornell University containerized its administrative application</a:t>
            </a:r>
            <a:endParaRPr lang="en-US" sz="1050" dirty="0"/>
          </a:p>
        </p:txBody>
      </p:sp>
      <p:sp>
        <p:nvSpPr>
          <p:cNvPr id="46" name="Text 10"/>
          <p:cNvSpPr/>
          <p:nvPr/>
        </p:nvSpPr>
        <p:spPr>
          <a:xfrm>
            <a:off x="9839325" y="1514475"/>
            <a:ext cx="184791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Cloud Migration</a:t>
            </a:r>
            <a:endParaRPr lang="en-US" sz="1350" dirty="0"/>
          </a:p>
        </p:txBody>
      </p:sp>
      <p:sp>
        <p:nvSpPr>
          <p:cNvPr id="47" name="Text 11"/>
          <p:cNvSpPr/>
          <p:nvPr/>
        </p:nvSpPr>
        <p:spPr>
          <a:xfrm>
            <a:off x="9248775" y="2000250"/>
            <a:ext cx="2295525" cy="139065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Containers simplify the process of moving applications from on-premises data centers to cloud-based infrastructure, ensuring environmental consistency.</a:t>
            </a:r>
            <a:endParaRPr lang="en-US" sz="1050" dirty="0"/>
          </a:p>
        </p:txBody>
      </p:sp>
      <p:sp>
        <p:nvSpPr>
          <p:cNvPr id="48" name="Text 12"/>
          <p:cNvSpPr/>
          <p:nvPr/>
        </p:nvSpPr>
        <p:spPr>
          <a:xfrm>
            <a:off x="9420225" y="3467100"/>
            <a:ext cx="2295525" cy="3810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Enables "lift and shift" migrations</a:t>
            </a:r>
            <a:endParaRPr lang="en-US" sz="1050" dirty="0"/>
          </a:p>
        </p:txBody>
      </p:sp>
      <p:sp>
        <p:nvSpPr>
          <p:cNvPr id="49" name="Text 13"/>
          <p:cNvSpPr/>
          <p:nvPr/>
        </p:nvSpPr>
        <p:spPr>
          <a:xfrm>
            <a:off x="1238250" y="4524375"/>
            <a:ext cx="1328916"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IoT Devices</a:t>
            </a:r>
            <a:endParaRPr lang="en-US" sz="1350" dirty="0"/>
          </a:p>
        </p:txBody>
      </p:sp>
      <p:sp>
        <p:nvSpPr>
          <p:cNvPr id="50" name="Text 14"/>
          <p:cNvSpPr/>
          <p:nvPr/>
        </p:nvSpPr>
        <p:spPr>
          <a:xfrm>
            <a:off x="647700" y="5010150"/>
            <a:ext cx="2295525" cy="1143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For devices with limited computing resources, containers enable easy deployment and updates of applications, addressing challenges related to continuity and connectivity.</a:t>
            </a:r>
            <a:endParaRPr lang="en-US" sz="1050" dirty="0"/>
          </a:p>
        </p:txBody>
      </p:sp>
      <p:sp>
        <p:nvSpPr>
          <p:cNvPr id="51" name="Text 15"/>
          <p:cNvSpPr/>
          <p:nvPr/>
        </p:nvSpPr>
        <p:spPr>
          <a:xfrm>
            <a:off x="790575" y="6229350"/>
            <a:ext cx="2295525" cy="571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Example: Lindsay Corporation manages IoT-enabled irrigation systems</a:t>
            </a:r>
            <a:endParaRPr lang="en-US" sz="1050" dirty="0"/>
          </a:p>
        </p:txBody>
      </p:sp>
      <p:sp>
        <p:nvSpPr>
          <p:cNvPr id="52" name="Text 16"/>
          <p:cNvSpPr/>
          <p:nvPr/>
        </p:nvSpPr>
        <p:spPr>
          <a:xfrm>
            <a:off x="4105275" y="4524375"/>
            <a:ext cx="99316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Big Data</a:t>
            </a:r>
            <a:endParaRPr lang="en-US" sz="1350" dirty="0"/>
          </a:p>
        </p:txBody>
      </p:sp>
      <p:sp>
        <p:nvSpPr>
          <p:cNvPr id="53" name="Text 17"/>
          <p:cNvSpPr/>
          <p:nvPr/>
        </p:nvSpPr>
        <p:spPr>
          <a:xfrm>
            <a:off x="3514725" y="5010150"/>
            <a:ext cx="2295525" cy="1333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Platforms like Apache Spark and Hadoop can be deployed in Docker container clusters, offering greater flexibility for processing and analyzing large datasets.</a:t>
            </a:r>
            <a:endParaRPr lang="en-US" sz="1050" dirty="0"/>
          </a:p>
        </p:txBody>
      </p:sp>
      <p:sp>
        <p:nvSpPr>
          <p:cNvPr id="54" name="Text 18"/>
          <p:cNvSpPr/>
          <p:nvPr/>
        </p:nvSpPr>
        <p:spPr>
          <a:xfrm>
            <a:off x="3686175" y="6419850"/>
            <a:ext cx="2295525" cy="3810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Enables real-time decision-making</a:t>
            </a:r>
            <a:endParaRPr lang="en-US" sz="1050" dirty="0"/>
          </a:p>
        </p:txBody>
      </p:sp>
      <p:sp>
        <p:nvSpPr>
          <p:cNvPr id="55" name="Text 19"/>
          <p:cNvSpPr/>
          <p:nvPr/>
        </p:nvSpPr>
        <p:spPr>
          <a:xfrm>
            <a:off x="6972300" y="4524375"/>
            <a:ext cx="646867"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AI/ML</a:t>
            </a:r>
            <a:endParaRPr lang="en-US" sz="1350" dirty="0"/>
          </a:p>
        </p:txBody>
      </p:sp>
      <p:sp>
        <p:nvSpPr>
          <p:cNvPr id="56" name="Text 20"/>
          <p:cNvSpPr/>
          <p:nvPr/>
        </p:nvSpPr>
        <p:spPr>
          <a:xfrm>
            <a:off x="6381750" y="5010150"/>
            <a:ext cx="2295525" cy="1333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Containers are increasingly used for compute-intensive AI/ML tasks, leveraging GPUs for training and inference with prepackaged images.</a:t>
            </a:r>
            <a:endParaRPr lang="en-US" sz="1050" dirty="0"/>
          </a:p>
        </p:txBody>
      </p:sp>
      <p:sp>
        <p:nvSpPr>
          <p:cNvPr id="57" name="Text 21"/>
          <p:cNvSpPr/>
          <p:nvPr/>
        </p:nvSpPr>
        <p:spPr>
          <a:xfrm>
            <a:off x="6591300" y="6419850"/>
            <a:ext cx="2295525" cy="3810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Simplifies allocation of GPUs to containerized workloads</a:t>
            </a:r>
            <a:endParaRPr lang="en-US" sz="1050" dirty="0"/>
          </a:p>
        </p:txBody>
      </p:sp>
      <p:sp>
        <p:nvSpPr>
          <p:cNvPr id="58" name="Text 22"/>
          <p:cNvSpPr/>
          <p:nvPr/>
        </p:nvSpPr>
        <p:spPr>
          <a:xfrm>
            <a:off x="9839325" y="4524375"/>
            <a:ext cx="1601807"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Multi-tenancy</a:t>
            </a:r>
            <a:endParaRPr lang="en-US" sz="1350" dirty="0"/>
          </a:p>
        </p:txBody>
      </p:sp>
      <p:sp>
        <p:nvSpPr>
          <p:cNvPr id="59" name="Text 23"/>
          <p:cNvSpPr/>
          <p:nvPr/>
        </p:nvSpPr>
        <p:spPr>
          <a:xfrm>
            <a:off x="9248775" y="5010150"/>
            <a:ext cx="2295525" cy="1143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Containers simplify multi-tenancy deployments by allowing multiple independent instances of applications to serve distinct user groups.</a:t>
            </a:r>
            <a:endParaRPr lang="en-US" sz="1050" dirty="0"/>
          </a:p>
        </p:txBody>
      </p:sp>
      <p:sp>
        <p:nvSpPr>
          <p:cNvPr id="60" name="Text 24"/>
          <p:cNvSpPr/>
          <p:nvPr/>
        </p:nvSpPr>
        <p:spPr>
          <a:xfrm>
            <a:off x="9391650" y="6229350"/>
            <a:ext cx="2295525" cy="571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Example: Pinterest adopted containerization for multi-tenant clusters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C5AFE-E6A9-8DDB-D655-384FA012B8B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A84034D-1F6F-B550-0C43-08B9035759B0}"/>
              </a:ext>
            </a:extLst>
          </p:cNvPr>
          <p:cNvPicPr>
            <a:picLocks noChangeAspect="1"/>
          </p:cNvPicPr>
          <p:nvPr/>
        </p:nvPicPr>
        <p:blipFill>
          <a:blip r:embed="rId3"/>
          <a:stretch>
            <a:fillRect/>
          </a:stretch>
        </p:blipFill>
        <p:spPr>
          <a:xfrm>
            <a:off x="0" y="0"/>
            <a:ext cx="12192000" cy="7082287"/>
          </a:xfrm>
          <a:prstGeom prst="rect">
            <a:avLst/>
          </a:prstGeom>
        </p:spPr>
      </p:pic>
      <p:pic>
        <p:nvPicPr>
          <p:cNvPr id="3" name="Image 1" descr="preencoded.png">
            <a:extLst>
              <a:ext uri="{FF2B5EF4-FFF2-40B4-BE49-F238E27FC236}">
                <a16:creationId xmlns:a16="http://schemas.microsoft.com/office/drawing/2014/main" id="{1C37F0A5-C763-BE8B-D163-E9AFD9A30061}"/>
              </a:ext>
            </a:extLst>
          </p:cNvPr>
          <p:cNvPicPr>
            <a:picLocks noChangeAspect="1"/>
          </p:cNvPicPr>
          <p:nvPr/>
        </p:nvPicPr>
        <p:blipFill>
          <a:blip r:embed="rId4"/>
          <a:stretch>
            <a:fillRect/>
          </a:stretch>
        </p:blipFill>
        <p:spPr>
          <a:xfrm>
            <a:off x="4310063" y="1762125"/>
            <a:ext cx="3571875" cy="4286250"/>
          </a:xfrm>
          <a:prstGeom prst="rect">
            <a:avLst/>
          </a:prstGeom>
        </p:spPr>
      </p:pic>
      <p:pic>
        <p:nvPicPr>
          <p:cNvPr id="4" name="Image 2" descr="preencoded.png">
            <a:extLst>
              <a:ext uri="{FF2B5EF4-FFF2-40B4-BE49-F238E27FC236}">
                <a16:creationId xmlns:a16="http://schemas.microsoft.com/office/drawing/2014/main" id="{C469A923-2712-30A9-9905-9FF62D9E910D}"/>
              </a:ext>
            </a:extLst>
          </p:cNvPr>
          <p:cNvPicPr>
            <a:picLocks noChangeAspect="1"/>
          </p:cNvPicPr>
          <p:nvPr/>
        </p:nvPicPr>
        <p:blipFill>
          <a:blip r:embed="rId5"/>
          <a:stretch>
            <a:fillRect/>
          </a:stretch>
        </p:blipFill>
        <p:spPr>
          <a:xfrm>
            <a:off x="5486400" y="1524000"/>
            <a:ext cx="1219200" cy="38100"/>
          </a:xfrm>
          <a:prstGeom prst="rect">
            <a:avLst/>
          </a:prstGeom>
        </p:spPr>
      </p:pic>
      <p:pic>
        <p:nvPicPr>
          <p:cNvPr id="5" name="Image 3" descr="preencoded.png">
            <a:extLst>
              <a:ext uri="{FF2B5EF4-FFF2-40B4-BE49-F238E27FC236}">
                <a16:creationId xmlns:a16="http://schemas.microsoft.com/office/drawing/2014/main" id="{9D65A371-1647-7C96-5A64-B2E2E46FD597}"/>
              </a:ext>
            </a:extLst>
          </p:cNvPr>
          <p:cNvPicPr>
            <a:picLocks noChangeAspect="1"/>
          </p:cNvPicPr>
          <p:nvPr/>
        </p:nvPicPr>
        <p:blipFill>
          <a:blip r:embed="rId6"/>
          <a:stretch>
            <a:fillRect/>
          </a:stretch>
        </p:blipFill>
        <p:spPr>
          <a:xfrm>
            <a:off x="2267694" y="2171700"/>
            <a:ext cx="3494633" cy="1028700"/>
          </a:xfrm>
          <a:prstGeom prst="rect">
            <a:avLst/>
          </a:prstGeom>
        </p:spPr>
      </p:pic>
      <p:pic>
        <p:nvPicPr>
          <p:cNvPr id="6" name="Image 4" descr="preencoded.png">
            <a:extLst>
              <a:ext uri="{FF2B5EF4-FFF2-40B4-BE49-F238E27FC236}">
                <a16:creationId xmlns:a16="http://schemas.microsoft.com/office/drawing/2014/main" id="{5A6175EC-C0C9-9A97-89E1-806747459D5E}"/>
              </a:ext>
            </a:extLst>
          </p:cNvPr>
          <p:cNvPicPr>
            <a:picLocks noChangeAspect="1"/>
          </p:cNvPicPr>
          <p:nvPr/>
        </p:nvPicPr>
        <p:blipFill>
          <a:blip r:embed="rId7"/>
          <a:stretch>
            <a:fillRect/>
          </a:stretch>
        </p:blipFill>
        <p:spPr>
          <a:xfrm>
            <a:off x="3843486" y="2324100"/>
            <a:ext cx="342900" cy="381000"/>
          </a:xfrm>
          <a:prstGeom prst="rect">
            <a:avLst/>
          </a:prstGeom>
        </p:spPr>
      </p:pic>
      <p:pic>
        <p:nvPicPr>
          <p:cNvPr id="7" name="Image 5" descr="preencoded.png">
            <a:extLst>
              <a:ext uri="{FF2B5EF4-FFF2-40B4-BE49-F238E27FC236}">
                <a16:creationId xmlns:a16="http://schemas.microsoft.com/office/drawing/2014/main" id="{95137CBC-7BAF-8EC1-4A30-E048A7BF7AB9}"/>
              </a:ext>
            </a:extLst>
          </p:cNvPr>
          <p:cNvPicPr>
            <a:picLocks noChangeAspect="1"/>
          </p:cNvPicPr>
          <p:nvPr/>
        </p:nvPicPr>
        <p:blipFill>
          <a:blip r:embed="rId8"/>
          <a:stretch>
            <a:fillRect/>
          </a:stretch>
        </p:blipFill>
        <p:spPr>
          <a:xfrm>
            <a:off x="6067127" y="2171700"/>
            <a:ext cx="3857030" cy="1028700"/>
          </a:xfrm>
          <a:prstGeom prst="rect">
            <a:avLst/>
          </a:prstGeom>
        </p:spPr>
      </p:pic>
      <p:pic>
        <p:nvPicPr>
          <p:cNvPr id="8" name="Image 6" descr="preencoded.png">
            <a:extLst>
              <a:ext uri="{FF2B5EF4-FFF2-40B4-BE49-F238E27FC236}">
                <a16:creationId xmlns:a16="http://schemas.microsoft.com/office/drawing/2014/main" id="{100A2DC3-5DA8-C9C4-CDD7-FEA6A295B55F}"/>
              </a:ext>
            </a:extLst>
          </p:cNvPr>
          <p:cNvPicPr>
            <a:picLocks noChangeAspect="1"/>
          </p:cNvPicPr>
          <p:nvPr/>
        </p:nvPicPr>
        <p:blipFill>
          <a:blip r:embed="rId9"/>
          <a:stretch>
            <a:fillRect/>
          </a:stretch>
        </p:blipFill>
        <p:spPr>
          <a:xfrm>
            <a:off x="7843242" y="2324100"/>
            <a:ext cx="304800" cy="381000"/>
          </a:xfrm>
          <a:prstGeom prst="rect">
            <a:avLst/>
          </a:prstGeom>
        </p:spPr>
      </p:pic>
      <p:pic>
        <p:nvPicPr>
          <p:cNvPr id="9" name="Image 7" descr="preencoded.png">
            <a:extLst>
              <a:ext uri="{FF2B5EF4-FFF2-40B4-BE49-F238E27FC236}">
                <a16:creationId xmlns:a16="http://schemas.microsoft.com/office/drawing/2014/main" id="{88F92F8E-E5A8-65D5-C582-A5CD31459EA8}"/>
              </a:ext>
            </a:extLst>
          </p:cNvPr>
          <p:cNvPicPr>
            <a:picLocks noChangeAspect="1"/>
          </p:cNvPicPr>
          <p:nvPr/>
        </p:nvPicPr>
        <p:blipFill>
          <a:blip r:embed="rId10"/>
          <a:stretch>
            <a:fillRect/>
          </a:stretch>
        </p:blipFill>
        <p:spPr>
          <a:xfrm>
            <a:off x="1585020" y="3657600"/>
            <a:ext cx="9021961" cy="2705100"/>
          </a:xfrm>
          <a:prstGeom prst="rect">
            <a:avLst/>
          </a:prstGeom>
        </p:spPr>
      </p:pic>
      <p:pic>
        <p:nvPicPr>
          <p:cNvPr id="10" name="Image 8" descr="preencoded.png">
            <a:extLst>
              <a:ext uri="{FF2B5EF4-FFF2-40B4-BE49-F238E27FC236}">
                <a16:creationId xmlns:a16="http://schemas.microsoft.com/office/drawing/2014/main" id="{EE9379AA-0F1B-E969-BAB6-FC413587C96C}"/>
              </a:ext>
            </a:extLst>
          </p:cNvPr>
          <p:cNvPicPr>
            <a:picLocks noChangeAspect="1"/>
          </p:cNvPicPr>
          <p:nvPr/>
        </p:nvPicPr>
        <p:blipFill>
          <a:blip r:embed="rId11"/>
          <a:stretch>
            <a:fillRect/>
          </a:stretch>
        </p:blipFill>
        <p:spPr>
          <a:xfrm>
            <a:off x="1813620" y="3924300"/>
            <a:ext cx="228600" cy="228600"/>
          </a:xfrm>
          <a:prstGeom prst="rect">
            <a:avLst/>
          </a:prstGeom>
        </p:spPr>
      </p:pic>
      <p:pic>
        <p:nvPicPr>
          <p:cNvPr id="11" name="Image 9" descr="preencoded.png">
            <a:extLst>
              <a:ext uri="{FF2B5EF4-FFF2-40B4-BE49-F238E27FC236}">
                <a16:creationId xmlns:a16="http://schemas.microsoft.com/office/drawing/2014/main" id="{76F2459D-13B3-C112-7BE0-8E0769F56677}"/>
              </a:ext>
            </a:extLst>
          </p:cNvPr>
          <p:cNvPicPr>
            <a:picLocks noChangeAspect="1"/>
          </p:cNvPicPr>
          <p:nvPr/>
        </p:nvPicPr>
        <p:blipFill>
          <a:blip r:embed="rId12"/>
          <a:stretch>
            <a:fillRect/>
          </a:stretch>
        </p:blipFill>
        <p:spPr>
          <a:xfrm>
            <a:off x="1813620" y="4343400"/>
            <a:ext cx="4206180" cy="495300"/>
          </a:xfrm>
          <a:prstGeom prst="rect">
            <a:avLst/>
          </a:prstGeom>
        </p:spPr>
      </p:pic>
      <p:pic>
        <p:nvPicPr>
          <p:cNvPr id="12" name="Image 10" descr="preencoded.png">
            <a:extLst>
              <a:ext uri="{FF2B5EF4-FFF2-40B4-BE49-F238E27FC236}">
                <a16:creationId xmlns:a16="http://schemas.microsoft.com/office/drawing/2014/main" id="{21E37EE0-BACA-D356-E209-0300CC6F8852}"/>
              </a:ext>
            </a:extLst>
          </p:cNvPr>
          <p:cNvPicPr>
            <a:picLocks noChangeAspect="1"/>
          </p:cNvPicPr>
          <p:nvPr/>
        </p:nvPicPr>
        <p:blipFill>
          <a:blip r:embed="rId13"/>
          <a:stretch>
            <a:fillRect/>
          </a:stretch>
        </p:blipFill>
        <p:spPr>
          <a:xfrm>
            <a:off x="1927920" y="4457700"/>
            <a:ext cx="190500" cy="266700"/>
          </a:xfrm>
          <a:prstGeom prst="rect">
            <a:avLst/>
          </a:prstGeom>
        </p:spPr>
      </p:pic>
      <p:pic>
        <p:nvPicPr>
          <p:cNvPr id="13" name="Image 11" descr="preencoded.png">
            <a:extLst>
              <a:ext uri="{FF2B5EF4-FFF2-40B4-BE49-F238E27FC236}">
                <a16:creationId xmlns:a16="http://schemas.microsoft.com/office/drawing/2014/main" id="{C63D33A9-F5A0-1619-6607-3EBF956B3A41}"/>
              </a:ext>
            </a:extLst>
          </p:cNvPr>
          <p:cNvPicPr>
            <a:picLocks noChangeAspect="1"/>
          </p:cNvPicPr>
          <p:nvPr/>
        </p:nvPicPr>
        <p:blipFill>
          <a:blip r:embed="rId14"/>
          <a:stretch>
            <a:fillRect/>
          </a:stretch>
        </p:blipFill>
        <p:spPr>
          <a:xfrm>
            <a:off x="6172200" y="4343400"/>
            <a:ext cx="4206180" cy="495300"/>
          </a:xfrm>
          <a:prstGeom prst="rect">
            <a:avLst/>
          </a:prstGeom>
        </p:spPr>
      </p:pic>
      <p:pic>
        <p:nvPicPr>
          <p:cNvPr id="14" name="Image 12" descr="preencoded.png">
            <a:extLst>
              <a:ext uri="{FF2B5EF4-FFF2-40B4-BE49-F238E27FC236}">
                <a16:creationId xmlns:a16="http://schemas.microsoft.com/office/drawing/2014/main" id="{43425A31-5793-829C-5F6E-B3F02C4C73B1}"/>
              </a:ext>
            </a:extLst>
          </p:cNvPr>
          <p:cNvPicPr>
            <a:picLocks noChangeAspect="1"/>
          </p:cNvPicPr>
          <p:nvPr/>
        </p:nvPicPr>
        <p:blipFill>
          <a:blip r:embed="rId15"/>
          <a:stretch>
            <a:fillRect/>
          </a:stretch>
        </p:blipFill>
        <p:spPr>
          <a:xfrm>
            <a:off x="6286500" y="4457700"/>
            <a:ext cx="190500" cy="266700"/>
          </a:xfrm>
          <a:prstGeom prst="rect">
            <a:avLst/>
          </a:prstGeom>
        </p:spPr>
      </p:pic>
      <p:pic>
        <p:nvPicPr>
          <p:cNvPr id="15" name="Image 13" descr="preencoded.png">
            <a:extLst>
              <a:ext uri="{FF2B5EF4-FFF2-40B4-BE49-F238E27FC236}">
                <a16:creationId xmlns:a16="http://schemas.microsoft.com/office/drawing/2014/main" id="{17A4A3C1-E956-9022-DDD6-A7907ECEAE95}"/>
              </a:ext>
            </a:extLst>
          </p:cNvPr>
          <p:cNvPicPr>
            <a:picLocks noChangeAspect="1"/>
          </p:cNvPicPr>
          <p:nvPr/>
        </p:nvPicPr>
        <p:blipFill>
          <a:blip r:embed="rId16"/>
          <a:stretch>
            <a:fillRect/>
          </a:stretch>
        </p:blipFill>
        <p:spPr>
          <a:xfrm>
            <a:off x="1813620" y="4991100"/>
            <a:ext cx="4206180" cy="495300"/>
          </a:xfrm>
          <a:prstGeom prst="rect">
            <a:avLst/>
          </a:prstGeom>
        </p:spPr>
      </p:pic>
      <p:pic>
        <p:nvPicPr>
          <p:cNvPr id="16" name="Image 14" descr="preencoded.png">
            <a:extLst>
              <a:ext uri="{FF2B5EF4-FFF2-40B4-BE49-F238E27FC236}">
                <a16:creationId xmlns:a16="http://schemas.microsoft.com/office/drawing/2014/main" id="{F3EA7A09-21C3-871D-3EAD-DF2207515C77}"/>
              </a:ext>
            </a:extLst>
          </p:cNvPr>
          <p:cNvPicPr>
            <a:picLocks noChangeAspect="1"/>
          </p:cNvPicPr>
          <p:nvPr/>
        </p:nvPicPr>
        <p:blipFill>
          <a:blip r:embed="rId17"/>
          <a:stretch>
            <a:fillRect/>
          </a:stretch>
        </p:blipFill>
        <p:spPr>
          <a:xfrm>
            <a:off x="1927920" y="5105400"/>
            <a:ext cx="238125" cy="266700"/>
          </a:xfrm>
          <a:prstGeom prst="rect">
            <a:avLst/>
          </a:prstGeom>
        </p:spPr>
      </p:pic>
      <p:pic>
        <p:nvPicPr>
          <p:cNvPr id="17" name="Image 15" descr="preencoded.png">
            <a:extLst>
              <a:ext uri="{FF2B5EF4-FFF2-40B4-BE49-F238E27FC236}">
                <a16:creationId xmlns:a16="http://schemas.microsoft.com/office/drawing/2014/main" id="{9C9B25C1-6476-E3EE-2FF3-13874A9C4EB6}"/>
              </a:ext>
            </a:extLst>
          </p:cNvPr>
          <p:cNvPicPr>
            <a:picLocks noChangeAspect="1"/>
          </p:cNvPicPr>
          <p:nvPr/>
        </p:nvPicPr>
        <p:blipFill>
          <a:blip r:embed="rId18"/>
          <a:stretch>
            <a:fillRect/>
          </a:stretch>
        </p:blipFill>
        <p:spPr>
          <a:xfrm>
            <a:off x="6172200" y="4991100"/>
            <a:ext cx="4206180" cy="495300"/>
          </a:xfrm>
          <a:prstGeom prst="rect">
            <a:avLst/>
          </a:prstGeom>
        </p:spPr>
      </p:pic>
      <p:pic>
        <p:nvPicPr>
          <p:cNvPr id="18" name="Image 16" descr="preencoded.png">
            <a:extLst>
              <a:ext uri="{FF2B5EF4-FFF2-40B4-BE49-F238E27FC236}">
                <a16:creationId xmlns:a16="http://schemas.microsoft.com/office/drawing/2014/main" id="{8805A4AF-2D71-0896-EFA0-EBB7A75F7586}"/>
              </a:ext>
            </a:extLst>
          </p:cNvPr>
          <p:cNvPicPr>
            <a:picLocks noChangeAspect="1"/>
          </p:cNvPicPr>
          <p:nvPr/>
        </p:nvPicPr>
        <p:blipFill>
          <a:blip r:embed="rId19"/>
          <a:stretch>
            <a:fillRect/>
          </a:stretch>
        </p:blipFill>
        <p:spPr>
          <a:xfrm>
            <a:off x="6286500" y="5105400"/>
            <a:ext cx="190500" cy="266700"/>
          </a:xfrm>
          <a:prstGeom prst="rect">
            <a:avLst/>
          </a:prstGeom>
        </p:spPr>
      </p:pic>
      <p:pic>
        <p:nvPicPr>
          <p:cNvPr id="19" name="Image 17" descr="preencoded.png">
            <a:extLst>
              <a:ext uri="{FF2B5EF4-FFF2-40B4-BE49-F238E27FC236}">
                <a16:creationId xmlns:a16="http://schemas.microsoft.com/office/drawing/2014/main" id="{C3F4A7EA-334E-01BB-B5CC-7193690C0C40}"/>
              </a:ext>
            </a:extLst>
          </p:cNvPr>
          <p:cNvPicPr>
            <a:picLocks noChangeAspect="1"/>
          </p:cNvPicPr>
          <p:nvPr/>
        </p:nvPicPr>
        <p:blipFill>
          <a:blip r:embed="rId20"/>
          <a:stretch>
            <a:fillRect/>
          </a:stretch>
        </p:blipFill>
        <p:spPr>
          <a:xfrm>
            <a:off x="1813620" y="5638800"/>
            <a:ext cx="8564761" cy="495300"/>
          </a:xfrm>
          <a:prstGeom prst="rect">
            <a:avLst/>
          </a:prstGeom>
        </p:spPr>
      </p:pic>
      <p:pic>
        <p:nvPicPr>
          <p:cNvPr id="20" name="Image 18" descr="preencoded.png">
            <a:extLst>
              <a:ext uri="{FF2B5EF4-FFF2-40B4-BE49-F238E27FC236}">
                <a16:creationId xmlns:a16="http://schemas.microsoft.com/office/drawing/2014/main" id="{8BC32D75-2913-F6C7-9C2B-06303FCA7C45}"/>
              </a:ext>
            </a:extLst>
          </p:cNvPr>
          <p:cNvPicPr>
            <a:picLocks noChangeAspect="1"/>
          </p:cNvPicPr>
          <p:nvPr/>
        </p:nvPicPr>
        <p:blipFill>
          <a:blip r:embed="rId21"/>
          <a:stretch>
            <a:fillRect/>
          </a:stretch>
        </p:blipFill>
        <p:spPr>
          <a:xfrm>
            <a:off x="1927920" y="5753100"/>
            <a:ext cx="190500" cy="266700"/>
          </a:xfrm>
          <a:prstGeom prst="rect">
            <a:avLst/>
          </a:prstGeom>
        </p:spPr>
      </p:pic>
      <p:sp>
        <p:nvSpPr>
          <p:cNvPr id="24" name="Text 0">
            <a:extLst>
              <a:ext uri="{FF2B5EF4-FFF2-40B4-BE49-F238E27FC236}">
                <a16:creationId xmlns:a16="http://schemas.microsoft.com/office/drawing/2014/main" id="{67302516-6C16-4B57-8F9C-3A0D18534553}"/>
              </a:ext>
            </a:extLst>
          </p:cNvPr>
          <p:cNvSpPr/>
          <p:nvPr/>
        </p:nvSpPr>
        <p:spPr>
          <a:xfrm>
            <a:off x="457200" y="457200"/>
            <a:ext cx="11277600" cy="914400"/>
          </a:xfrm>
          <a:prstGeom prst="rect">
            <a:avLst/>
          </a:prstGeom>
          <a:noFill/>
          <a:ln/>
        </p:spPr>
        <p:txBody>
          <a:bodyPr vert="horz" wrap="square" lIns="0" tIns="0" rIns="0" bIns="0" rtlCol="0" anchor="t"/>
          <a:lstStyle/>
          <a:p>
            <a:pPr marL="0" indent="0" algn="ctr">
              <a:lnSpc>
                <a:spcPts val="3600"/>
              </a:lnSpc>
              <a:buNone/>
            </a:pPr>
            <a:r>
              <a:rPr lang="en-US" sz="3600" b="1" dirty="0">
                <a:solidFill>
                  <a:srgbClr val="2563EB"/>
                </a:solidFill>
                <a:latin typeface="ui-sans-serif" pitchFamily="34" charset="0"/>
                <a:ea typeface="ui-sans-serif" pitchFamily="34" charset="-122"/>
                <a:cs typeface="ui-sans-serif" pitchFamily="34" charset="-120"/>
              </a:rPr>
              <a:t>Stay Connected with Our Cloud Computing Journey!</a:t>
            </a:r>
            <a:endParaRPr lang="en-US" sz="3600" dirty="0"/>
          </a:p>
        </p:txBody>
      </p:sp>
      <p:sp>
        <p:nvSpPr>
          <p:cNvPr id="25" name="Text 1">
            <a:extLst>
              <a:ext uri="{FF2B5EF4-FFF2-40B4-BE49-F238E27FC236}">
                <a16:creationId xmlns:a16="http://schemas.microsoft.com/office/drawing/2014/main" id="{DF6FF18C-663E-DE73-7D68-C3E0C6E1C730}"/>
              </a:ext>
            </a:extLst>
          </p:cNvPr>
          <p:cNvSpPr/>
          <p:nvPr/>
        </p:nvSpPr>
        <p:spPr>
          <a:xfrm>
            <a:off x="2420094" y="2781300"/>
            <a:ext cx="382780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Like this video if you found it helpful!</a:t>
            </a:r>
            <a:endParaRPr lang="en-US" sz="1350" dirty="0"/>
          </a:p>
        </p:txBody>
      </p:sp>
      <p:sp>
        <p:nvSpPr>
          <p:cNvPr id="26" name="Text 2">
            <a:extLst>
              <a:ext uri="{FF2B5EF4-FFF2-40B4-BE49-F238E27FC236}">
                <a16:creationId xmlns:a16="http://schemas.microsoft.com/office/drawing/2014/main" id="{31052E01-64F7-CEB1-33A0-FFBA4D5CD905}"/>
              </a:ext>
            </a:extLst>
          </p:cNvPr>
          <p:cNvSpPr/>
          <p:nvPr/>
        </p:nvSpPr>
        <p:spPr>
          <a:xfrm>
            <a:off x="6219527" y="2781300"/>
            <a:ext cx="4262676"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Subscribe for cloud tech updates!</a:t>
            </a:r>
            <a:endParaRPr lang="en-US" sz="1350" dirty="0"/>
          </a:p>
        </p:txBody>
      </p:sp>
      <p:sp>
        <p:nvSpPr>
          <p:cNvPr id="27" name="Text 3">
            <a:extLst>
              <a:ext uri="{FF2B5EF4-FFF2-40B4-BE49-F238E27FC236}">
                <a16:creationId xmlns:a16="http://schemas.microsoft.com/office/drawing/2014/main" id="{92B77C03-2EF2-07AD-C2BB-A62C4B6C9052}"/>
              </a:ext>
            </a:extLst>
          </p:cNvPr>
          <p:cNvSpPr/>
          <p:nvPr/>
        </p:nvSpPr>
        <p:spPr>
          <a:xfrm>
            <a:off x="2156520" y="3886200"/>
            <a:ext cx="10277713"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Comment below which cloud topic you want to see next like:</a:t>
            </a:r>
            <a:endParaRPr lang="en-US" sz="1800" dirty="0"/>
          </a:p>
        </p:txBody>
      </p:sp>
      <p:sp>
        <p:nvSpPr>
          <p:cNvPr id="28" name="Text 4">
            <a:extLst>
              <a:ext uri="{FF2B5EF4-FFF2-40B4-BE49-F238E27FC236}">
                <a16:creationId xmlns:a16="http://schemas.microsoft.com/office/drawing/2014/main" id="{4CED5898-5C00-5652-A7F4-B5E0EF787467}"/>
              </a:ext>
            </a:extLst>
          </p:cNvPr>
          <p:cNvSpPr/>
          <p:nvPr/>
        </p:nvSpPr>
        <p:spPr>
          <a:xfrm>
            <a:off x="2232720" y="4457700"/>
            <a:ext cx="1977747"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Cloud Security Tips</a:t>
            </a:r>
            <a:endParaRPr lang="en-US" sz="1350" dirty="0"/>
          </a:p>
        </p:txBody>
      </p:sp>
      <p:sp>
        <p:nvSpPr>
          <p:cNvPr id="29" name="Text 5">
            <a:extLst>
              <a:ext uri="{FF2B5EF4-FFF2-40B4-BE49-F238E27FC236}">
                <a16:creationId xmlns:a16="http://schemas.microsoft.com/office/drawing/2014/main" id="{F065CB3D-9BC9-2A74-67F3-F0EDCB6ACBB7}"/>
              </a:ext>
            </a:extLst>
          </p:cNvPr>
          <p:cNvSpPr/>
          <p:nvPr/>
        </p:nvSpPr>
        <p:spPr>
          <a:xfrm>
            <a:off x="6591300" y="4457700"/>
            <a:ext cx="295501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Cost Optimization Strategies</a:t>
            </a:r>
            <a:endParaRPr lang="en-US" sz="1350" dirty="0"/>
          </a:p>
        </p:txBody>
      </p:sp>
      <p:sp>
        <p:nvSpPr>
          <p:cNvPr id="30" name="Text 6">
            <a:extLst>
              <a:ext uri="{FF2B5EF4-FFF2-40B4-BE49-F238E27FC236}">
                <a16:creationId xmlns:a16="http://schemas.microsoft.com/office/drawing/2014/main" id="{9CF95FC6-4C17-2741-0265-7ED2D5326051}"/>
              </a:ext>
            </a:extLst>
          </p:cNvPr>
          <p:cNvSpPr/>
          <p:nvPr/>
        </p:nvSpPr>
        <p:spPr>
          <a:xfrm>
            <a:off x="2280345" y="5105400"/>
            <a:ext cx="258568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Multi-Cloud Management</a:t>
            </a:r>
            <a:endParaRPr lang="en-US" sz="1350" dirty="0"/>
          </a:p>
        </p:txBody>
      </p:sp>
      <p:sp>
        <p:nvSpPr>
          <p:cNvPr id="31" name="Text 7">
            <a:extLst>
              <a:ext uri="{FF2B5EF4-FFF2-40B4-BE49-F238E27FC236}">
                <a16:creationId xmlns:a16="http://schemas.microsoft.com/office/drawing/2014/main" id="{E4256C67-DEC5-DCF9-33CC-3FE0E7AA6369}"/>
              </a:ext>
            </a:extLst>
          </p:cNvPr>
          <p:cNvSpPr/>
          <p:nvPr/>
        </p:nvSpPr>
        <p:spPr>
          <a:xfrm>
            <a:off x="6591300" y="5105400"/>
            <a:ext cx="226796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Serverless Computing</a:t>
            </a:r>
            <a:endParaRPr lang="en-US" sz="1350" dirty="0"/>
          </a:p>
        </p:txBody>
      </p:sp>
      <p:sp>
        <p:nvSpPr>
          <p:cNvPr id="32" name="Text 8">
            <a:extLst>
              <a:ext uri="{FF2B5EF4-FFF2-40B4-BE49-F238E27FC236}">
                <a16:creationId xmlns:a16="http://schemas.microsoft.com/office/drawing/2014/main" id="{C57EE95C-EE8F-C019-4B7B-035C90FD5809}"/>
              </a:ext>
            </a:extLst>
          </p:cNvPr>
          <p:cNvSpPr/>
          <p:nvPr/>
        </p:nvSpPr>
        <p:spPr>
          <a:xfrm>
            <a:off x="2232720" y="5753100"/>
            <a:ext cx="226421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Cloud Migration Steps</a:t>
            </a:r>
            <a:endParaRPr lang="en-US" sz="1350" dirty="0"/>
          </a:p>
        </p:txBody>
      </p:sp>
      <p:sp>
        <p:nvSpPr>
          <p:cNvPr id="36" name="TextBox 35">
            <a:extLst>
              <a:ext uri="{FF2B5EF4-FFF2-40B4-BE49-F238E27FC236}">
                <a16:creationId xmlns:a16="http://schemas.microsoft.com/office/drawing/2014/main" id="{9406BD5E-64CB-C61A-BF75-184D767C7899}"/>
              </a:ext>
            </a:extLst>
          </p:cNvPr>
          <p:cNvSpPr txBox="1"/>
          <p:nvPr/>
        </p:nvSpPr>
        <p:spPr>
          <a:xfrm>
            <a:off x="198156" y="969242"/>
            <a:ext cx="11948088" cy="384080"/>
          </a:xfrm>
          <a:prstGeom prst="rect">
            <a:avLst/>
          </a:prstGeom>
          <a:noFill/>
        </p:spPr>
        <p:txBody>
          <a:bodyPr wrap="square">
            <a:spAutoFit/>
          </a:bodyPr>
          <a:lstStyle/>
          <a:p>
            <a:pPr marL="0" indent="0" algn="ctr">
              <a:lnSpc>
                <a:spcPts val="2400"/>
              </a:lnSpc>
              <a:buNone/>
            </a:pPr>
            <a:r>
              <a:rPr lang="en-US" sz="1800" dirty="0">
                <a:solidFill>
                  <a:srgbClr val="374151"/>
                </a:solidFill>
                <a:latin typeface="ui-sans-serif" pitchFamily="34" charset="0"/>
                <a:ea typeface="ui-sans-serif" pitchFamily="34" charset="-122"/>
                <a:cs typeface="ui-sans-serif" pitchFamily="34" charset="-120"/>
              </a:rPr>
              <a:t> Dive deeper into the cloud world! Check out our specialized playlists for your continuous learning journey!</a:t>
            </a:r>
            <a:endParaRPr lang="en-US" sz="1800" dirty="0"/>
          </a:p>
        </p:txBody>
      </p:sp>
      <p:sp>
        <p:nvSpPr>
          <p:cNvPr id="33" name="Text 8">
            <a:extLst>
              <a:ext uri="{FF2B5EF4-FFF2-40B4-BE49-F238E27FC236}">
                <a16:creationId xmlns:a16="http://schemas.microsoft.com/office/drawing/2014/main" id="{FD54E129-3D3F-0951-C7B8-752F0BCCF67A}"/>
              </a:ext>
            </a:extLst>
          </p:cNvPr>
          <p:cNvSpPr/>
          <p:nvPr/>
        </p:nvSpPr>
        <p:spPr>
          <a:xfrm>
            <a:off x="6591300" y="5773833"/>
            <a:ext cx="2264212" cy="266700"/>
          </a:xfrm>
          <a:prstGeom prst="rect">
            <a:avLst/>
          </a:prstGeom>
          <a:noFill/>
          <a:ln/>
        </p:spPr>
        <p:txBody>
          <a:bodyPr vert="horz" wrap="square" lIns="0" tIns="0" rIns="0" bIns="0" rtlCol="0" anchor="t"/>
          <a:lstStyle/>
          <a:p>
            <a:pPr>
              <a:lnSpc>
                <a:spcPts val="2100"/>
              </a:lnSpc>
            </a:pPr>
            <a:r>
              <a:rPr lang="en-IN" sz="1400" dirty="0"/>
              <a:t>Anything you'd like 🙂</a:t>
            </a:r>
            <a:endParaRPr lang="en-US" sz="1350" dirty="0"/>
          </a:p>
        </p:txBody>
      </p:sp>
      <p:pic>
        <p:nvPicPr>
          <p:cNvPr id="34" name="Image 14" descr="preencoded.png">
            <a:extLst>
              <a:ext uri="{FF2B5EF4-FFF2-40B4-BE49-F238E27FC236}">
                <a16:creationId xmlns:a16="http://schemas.microsoft.com/office/drawing/2014/main" id="{5D2F3E05-E825-670D-6679-FF04135C3558}"/>
              </a:ext>
            </a:extLst>
          </p:cNvPr>
          <p:cNvPicPr>
            <a:picLocks noChangeAspect="1"/>
          </p:cNvPicPr>
          <p:nvPr/>
        </p:nvPicPr>
        <p:blipFill>
          <a:blip r:embed="rId17"/>
          <a:stretch>
            <a:fillRect/>
          </a:stretch>
        </p:blipFill>
        <p:spPr>
          <a:xfrm>
            <a:off x="6307217" y="5806440"/>
            <a:ext cx="238125" cy="266700"/>
          </a:xfrm>
          <a:prstGeom prst="rect">
            <a:avLst/>
          </a:prstGeom>
        </p:spPr>
      </p:pic>
      <p:cxnSp>
        <p:nvCxnSpPr>
          <p:cNvPr id="37" name="Straight Connector 36">
            <a:extLst>
              <a:ext uri="{FF2B5EF4-FFF2-40B4-BE49-F238E27FC236}">
                <a16:creationId xmlns:a16="http://schemas.microsoft.com/office/drawing/2014/main" id="{3BA1B7D7-3DC9-554C-7C18-66B60C166C0D}"/>
              </a:ext>
            </a:extLst>
          </p:cNvPr>
          <p:cNvCxnSpPr>
            <a:cxnSpLocks/>
          </p:cNvCxnSpPr>
          <p:nvPr/>
        </p:nvCxnSpPr>
        <p:spPr>
          <a:xfrm>
            <a:off x="6206490" y="5787390"/>
            <a:ext cx="0" cy="2667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8703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952500" y="952500"/>
            <a:ext cx="1905000" cy="1143000"/>
          </a:xfrm>
          <a:prstGeom prst="rect">
            <a:avLst/>
          </a:prstGeom>
        </p:spPr>
      </p:pic>
      <p:pic>
        <p:nvPicPr>
          <p:cNvPr id="5" name="Image 3" descr="preencoded.png"/>
          <p:cNvPicPr>
            <a:picLocks noChangeAspect="1"/>
          </p:cNvPicPr>
          <p:nvPr/>
        </p:nvPicPr>
        <p:blipFill>
          <a:blip r:embed="rId5"/>
          <a:stretch>
            <a:fillRect/>
          </a:stretch>
        </p:blipFill>
        <p:spPr>
          <a:xfrm>
            <a:off x="9620250" y="2381250"/>
            <a:ext cx="1428750" cy="1428750"/>
          </a:xfrm>
          <a:prstGeom prst="rect">
            <a:avLst/>
          </a:prstGeom>
        </p:spPr>
      </p:pic>
      <p:pic>
        <p:nvPicPr>
          <p:cNvPr id="6" name="Image 4" descr="preencoded.png"/>
          <p:cNvPicPr>
            <a:picLocks noChangeAspect="1"/>
          </p:cNvPicPr>
          <p:nvPr/>
        </p:nvPicPr>
        <p:blipFill>
          <a:blip r:embed="rId6"/>
          <a:stretch>
            <a:fillRect/>
          </a:stretch>
        </p:blipFill>
        <p:spPr>
          <a:xfrm>
            <a:off x="1905000" y="4476750"/>
            <a:ext cx="1714500" cy="952500"/>
          </a:xfrm>
          <a:prstGeom prst="rect">
            <a:avLst/>
          </a:prstGeom>
        </p:spPr>
      </p:pic>
      <p:pic>
        <p:nvPicPr>
          <p:cNvPr id="7" name="Image 5" descr="preencoded.png"/>
          <p:cNvPicPr>
            <a:picLocks noChangeAspect="1"/>
          </p:cNvPicPr>
          <p:nvPr/>
        </p:nvPicPr>
        <p:blipFill>
          <a:blip r:embed="rId7"/>
          <a:stretch>
            <a:fillRect/>
          </a:stretch>
        </p:blipFill>
        <p:spPr>
          <a:xfrm>
            <a:off x="5152876" y="3962400"/>
            <a:ext cx="609600" cy="38100"/>
          </a:xfrm>
          <a:prstGeom prst="rect">
            <a:avLst/>
          </a:prstGeom>
        </p:spPr>
      </p:pic>
      <p:pic>
        <p:nvPicPr>
          <p:cNvPr id="8" name="Image 6" descr="preencoded.png"/>
          <p:cNvPicPr>
            <a:picLocks noChangeAspect="1"/>
          </p:cNvPicPr>
          <p:nvPr/>
        </p:nvPicPr>
        <p:blipFill>
          <a:blip r:embed="rId8"/>
          <a:stretch>
            <a:fillRect/>
          </a:stretch>
        </p:blipFill>
        <p:spPr>
          <a:xfrm>
            <a:off x="5914876" y="3819525"/>
            <a:ext cx="361950" cy="285750"/>
          </a:xfrm>
          <a:prstGeom prst="rect">
            <a:avLst/>
          </a:prstGeom>
        </p:spPr>
      </p:pic>
      <p:pic>
        <p:nvPicPr>
          <p:cNvPr id="9" name="Image 7" descr="preencoded.png"/>
          <p:cNvPicPr>
            <a:picLocks noChangeAspect="1"/>
          </p:cNvPicPr>
          <p:nvPr/>
        </p:nvPicPr>
        <p:blipFill>
          <a:blip r:embed="rId7"/>
          <a:stretch>
            <a:fillRect/>
          </a:stretch>
        </p:blipFill>
        <p:spPr>
          <a:xfrm>
            <a:off x="6429226" y="3962400"/>
            <a:ext cx="609600" cy="38100"/>
          </a:xfrm>
          <a:prstGeom prst="rect">
            <a:avLst/>
          </a:prstGeom>
        </p:spPr>
      </p:pic>
      <p:pic>
        <p:nvPicPr>
          <p:cNvPr id="10" name="Image 8" descr="preencoded.png"/>
          <p:cNvPicPr>
            <a:picLocks noChangeAspect="1"/>
          </p:cNvPicPr>
          <p:nvPr/>
        </p:nvPicPr>
        <p:blipFill>
          <a:blip r:embed="rId9"/>
          <a:stretch>
            <a:fillRect/>
          </a:stretch>
        </p:blipFill>
        <p:spPr>
          <a:xfrm>
            <a:off x="381000" y="5715000"/>
            <a:ext cx="9144000" cy="762000"/>
          </a:xfrm>
          <a:prstGeom prst="rect">
            <a:avLst/>
          </a:prstGeom>
        </p:spPr>
      </p:pic>
      <p:pic>
        <p:nvPicPr>
          <p:cNvPr id="11" name="Image 9" descr="preencoded.png"/>
          <p:cNvPicPr>
            <a:picLocks noChangeAspect="1"/>
          </p:cNvPicPr>
          <p:nvPr/>
        </p:nvPicPr>
        <p:blipFill>
          <a:blip r:embed="rId10"/>
          <a:stretch>
            <a:fillRect/>
          </a:stretch>
        </p:blipFill>
        <p:spPr>
          <a:xfrm>
            <a:off x="0" y="0"/>
            <a:ext cx="12192000" cy="152400"/>
          </a:xfrm>
          <a:prstGeom prst="rect">
            <a:avLst/>
          </a:prstGeom>
        </p:spPr>
      </p:pic>
      <p:sp>
        <p:nvSpPr>
          <p:cNvPr id="13" name="Text 0"/>
          <p:cNvSpPr/>
          <p:nvPr/>
        </p:nvSpPr>
        <p:spPr>
          <a:xfrm>
            <a:off x="1960498" y="2400300"/>
            <a:ext cx="8270855" cy="571500"/>
          </a:xfrm>
          <a:prstGeom prst="rect">
            <a:avLst/>
          </a:prstGeom>
          <a:noFill/>
          <a:ln/>
        </p:spPr>
        <p:txBody>
          <a:bodyPr vert="horz" wrap="square" lIns="0" tIns="0" rIns="0" bIns="0" rtlCol="0" anchor="t"/>
          <a:lstStyle/>
          <a:p>
            <a:pPr marL="0" indent="0" algn="ctr">
              <a:lnSpc>
                <a:spcPts val="4500"/>
              </a:lnSpc>
              <a:buNone/>
            </a:pPr>
            <a:r>
              <a:rPr lang="en-US" sz="4500" b="1" dirty="0">
                <a:solidFill>
                  <a:srgbClr val="1F2937"/>
                </a:solidFill>
                <a:latin typeface="Arial" pitchFamily="34" charset="0"/>
                <a:ea typeface="Arial" pitchFamily="34" charset="-122"/>
                <a:cs typeface="Arial" pitchFamily="34" charset="-120"/>
              </a:rPr>
              <a:t>Docker Basic Commands</a:t>
            </a:r>
            <a:endParaRPr lang="en-US" sz="4500" dirty="0"/>
          </a:p>
        </p:txBody>
      </p:sp>
      <p:sp>
        <p:nvSpPr>
          <p:cNvPr id="14" name="Text 1"/>
          <p:cNvSpPr/>
          <p:nvPr/>
        </p:nvSpPr>
        <p:spPr>
          <a:xfrm>
            <a:off x="1960498" y="3200400"/>
            <a:ext cx="8270855" cy="304800"/>
          </a:xfrm>
          <a:prstGeom prst="rect">
            <a:avLst/>
          </a:prstGeom>
          <a:noFill/>
          <a:ln/>
        </p:spPr>
        <p:txBody>
          <a:bodyPr vert="horz" wrap="square" lIns="0" tIns="0" rIns="0" bIns="0" rtlCol="0" anchor="t"/>
          <a:lstStyle/>
          <a:p>
            <a:pPr marL="0" indent="0" algn="ctr">
              <a:lnSpc>
                <a:spcPts val="2400"/>
              </a:lnSpc>
              <a:buNone/>
            </a:pPr>
            <a:r>
              <a:rPr lang="en-US" sz="1800" dirty="0">
                <a:solidFill>
                  <a:srgbClr val="4B5563"/>
                </a:solidFill>
                <a:latin typeface="Arial" pitchFamily="34" charset="0"/>
                <a:ea typeface="Arial" pitchFamily="34" charset="-122"/>
                <a:cs typeface="Arial" pitchFamily="34" charset="-120"/>
              </a:rPr>
              <a:t>A comprehensive guide to essential Docker operations</a:t>
            </a:r>
            <a:endParaRPr lang="en-US" sz="1800" dirty="0"/>
          </a:p>
        </p:txBody>
      </p:sp>
      <p:sp>
        <p:nvSpPr>
          <p:cNvPr id="15" name="Text 2"/>
          <p:cNvSpPr/>
          <p:nvPr/>
        </p:nvSpPr>
        <p:spPr>
          <a:xfrm>
            <a:off x="523875" y="5981700"/>
            <a:ext cx="110192" cy="228600"/>
          </a:xfrm>
          <a:prstGeom prst="rect">
            <a:avLst/>
          </a:prstGeom>
          <a:noFill/>
          <a:ln/>
        </p:spPr>
        <p:txBody>
          <a:bodyPr vert="horz" wrap="square" lIns="0" tIns="0" rIns="0" bIns="0" rtlCol="0" anchor="t"/>
          <a:lstStyle/>
          <a:p>
            <a:pPr marL="0" indent="0">
              <a:lnSpc>
                <a:spcPts val="1800"/>
              </a:lnSpc>
              <a:buNone/>
            </a:pPr>
            <a:r>
              <a:rPr lang="en-US" sz="1200" dirty="0">
                <a:solidFill>
                  <a:srgbClr val="F96000"/>
                </a:solidFill>
                <a:latin typeface="Consolas" pitchFamily="34" charset="0"/>
                <a:ea typeface="Consolas" pitchFamily="34" charset="-122"/>
                <a:cs typeface="Consolas" pitchFamily="34" charset="-120"/>
              </a:rPr>
              <a:t>$</a:t>
            </a:r>
            <a:endParaRPr lang="en-US" sz="1200" dirty="0"/>
          </a:p>
        </p:txBody>
      </p:sp>
      <p:sp>
        <p:nvSpPr>
          <p:cNvPr id="16" name="Text 3"/>
          <p:cNvSpPr/>
          <p:nvPr/>
        </p:nvSpPr>
        <p:spPr>
          <a:xfrm>
            <a:off x="663327" y="5981700"/>
            <a:ext cx="1431429" cy="228600"/>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Consolas" pitchFamily="34" charset="0"/>
                <a:ea typeface="Consolas" pitchFamily="34" charset="-122"/>
                <a:cs typeface="Consolas" pitchFamily="34" charset="-120"/>
              </a:rPr>
              <a:t>docker --help</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5"/>
          <a:stretch>
            <a:fillRect/>
          </a:stretch>
        </p:blipFill>
        <p:spPr>
          <a:xfrm>
            <a:off x="2038350" y="3314700"/>
            <a:ext cx="2095500" cy="1333500"/>
          </a:xfrm>
          <a:prstGeom prst="rect">
            <a:avLst/>
          </a:prstGeom>
        </p:spPr>
      </p:pic>
      <p:pic>
        <p:nvPicPr>
          <p:cNvPr id="6" name="Image 4" descr="preencoded.png"/>
          <p:cNvPicPr>
            <a:picLocks noChangeAspect="1"/>
          </p:cNvPicPr>
          <p:nvPr/>
        </p:nvPicPr>
        <p:blipFill>
          <a:blip r:embed="rId6"/>
          <a:stretch>
            <a:fillRect/>
          </a:stretch>
        </p:blipFill>
        <p:spPr>
          <a:xfrm>
            <a:off x="6096000" y="1181100"/>
            <a:ext cx="2781300" cy="1771650"/>
          </a:xfrm>
          <a:prstGeom prst="rect">
            <a:avLst/>
          </a:prstGeom>
        </p:spPr>
      </p:pic>
      <p:pic>
        <p:nvPicPr>
          <p:cNvPr id="7" name="Image 5" descr="preencoded.png"/>
          <p:cNvPicPr>
            <a:picLocks noChangeAspect="1"/>
          </p:cNvPicPr>
          <p:nvPr/>
        </p:nvPicPr>
        <p:blipFill>
          <a:blip r:embed="rId7"/>
          <a:stretch>
            <a:fillRect/>
          </a:stretch>
        </p:blipFill>
        <p:spPr>
          <a:xfrm>
            <a:off x="6238875" y="1333500"/>
            <a:ext cx="285750" cy="285750"/>
          </a:xfrm>
          <a:prstGeom prst="rect">
            <a:avLst/>
          </a:prstGeom>
        </p:spPr>
      </p:pic>
      <p:pic>
        <p:nvPicPr>
          <p:cNvPr id="8" name="Image 6" descr="preencoded.png"/>
          <p:cNvPicPr>
            <a:picLocks noChangeAspect="1"/>
          </p:cNvPicPr>
          <p:nvPr/>
        </p:nvPicPr>
        <p:blipFill>
          <a:blip r:embed="rId8"/>
          <a:stretch>
            <a:fillRect/>
          </a:stretch>
        </p:blipFill>
        <p:spPr>
          <a:xfrm>
            <a:off x="9029700" y="1181100"/>
            <a:ext cx="2781300" cy="1771650"/>
          </a:xfrm>
          <a:prstGeom prst="rect">
            <a:avLst/>
          </a:prstGeom>
        </p:spPr>
      </p:pic>
      <p:pic>
        <p:nvPicPr>
          <p:cNvPr id="9" name="Image 7" descr="preencoded.png"/>
          <p:cNvPicPr>
            <a:picLocks noChangeAspect="1"/>
          </p:cNvPicPr>
          <p:nvPr/>
        </p:nvPicPr>
        <p:blipFill>
          <a:blip r:embed="rId9"/>
          <a:stretch>
            <a:fillRect/>
          </a:stretch>
        </p:blipFill>
        <p:spPr>
          <a:xfrm>
            <a:off x="9172575" y="1333500"/>
            <a:ext cx="285750" cy="285750"/>
          </a:xfrm>
          <a:prstGeom prst="rect">
            <a:avLst/>
          </a:prstGeom>
        </p:spPr>
      </p:pic>
      <p:pic>
        <p:nvPicPr>
          <p:cNvPr id="10" name="Image 8" descr="preencoded.png"/>
          <p:cNvPicPr>
            <a:picLocks noChangeAspect="1"/>
          </p:cNvPicPr>
          <p:nvPr/>
        </p:nvPicPr>
        <p:blipFill>
          <a:blip r:embed="rId10"/>
          <a:stretch>
            <a:fillRect/>
          </a:stretch>
        </p:blipFill>
        <p:spPr>
          <a:xfrm>
            <a:off x="6096000" y="3105150"/>
            <a:ext cx="2781300" cy="1771650"/>
          </a:xfrm>
          <a:prstGeom prst="rect">
            <a:avLst/>
          </a:prstGeom>
        </p:spPr>
      </p:pic>
      <p:pic>
        <p:nvPicPr>
          <p:cNvPr id="11" name="Image 9" descr="preencoded.png"/>
          <p:cNvPicPr>
            <a:picLocks noChangeAspect="1"/>
          </p:cNvPicPr>
          <p:nvPr/>
        </p:nvPicPr>
        <p:blipFill>
          <a:blip r:embed="rId11"/>
          <a:stretch>
            <a:fillRect/>
          </a:stretch>
        </p:blipFill>
        <p:spPr>
          <a:xfrm>
            <a:off x="6238875" y="3257550"/>
            <a:ext cx="285750" cy="285750"/>
          </a:xfrm>
          <a:prstGeom prst="rect">
            <a:avLst/>
          </a:prstGeom>
        </p:spPr>
      </p:pic>
      <p:pic>
        <p:nvPicPr>
          <p:cNvPr id="12" name="Image 10" descr="preencoded.png"/>
          <p:cNvPicPr>
            <a:picLocks noChangeAspect="1"/>
          </p:cNvPicPr>
          <p:nvPr/>
        </p:nvPicPr>
        <p:blipFill>
          <a:blip r:embed="rId12"/>
          <a:stretch>
            <a:fillRect/>
          </a:stretch>
        </p:blipFill>
        <p:spPr>
          <a:xfrm>
            <a:off x="9029700" y="3105150"/>
            <a:ext cx="2781300" cy="1771650"/>
          </a:xfrm>
          <a:prstGeom prst="rect">
            <a:avLst/>
          </a:prstGeom>
        </p:spPr>
      </p:pic>
      <p:pic>
        <p:nvPicPr>
          <p:cNvPr id="13" name="Image 11" descr="preencoded.png"/>
          <p:cNvPicPr>
            <a:picLocks noChangeAspect="1"/>
          </p:cNvPicPr>
          <p:nvPr/>
        </p:nvPicPr>
        <p:blipFill>
          <a:blip r:embed="rId13"/>
          <a:stretch>
            <a:fillRect/>
          </a:stretch>
        </p:blipFill>
        <p:spPr>
          <a:xfrm>
            <a:off x="9172575" y="3257550"/>
            <a:ext cx="285750" cy="285750"/>
          </a:xfrm>
          <a:prstGeom prst="rect">
            <a:avLst/>
          </a:prstGeom>
        </p:spPr>
      </p:pic>
      <p:sp>
        <p:nvSpPr>
          <p:cNvPr id="14"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Arial" pitchFamily="34" charset="0"/>
                <a:ea typeface="Arial" pitchFamily="34" charset="-122"/>
                <a:cs typeface="Arial" pitchFamily="34" charset="-120"/>
              </a:rPr>
              <a:t>What is Docker?</a:t>
            </a:r>
            <a:endParaRPr lang="en-US" sz="2700" dirty="0"/>
          </a:p>
        </p:txBody>
      </p:sp>
      <p:sp>
        <p:nvSpPr>
          <p:cNvPr id="15" name="Text 1"/>
          <p:cNvSpPr/>
          <p:nvPr/>
        </p:nvSpPr>
        <p:spPr>
          <a:xfrm>
            <a:off x="381000" y="1181100"/>
            <a:ext cx="5410200" cy="8001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Arial" pitchFamily="34" charset="0"/>
                <a:ea typeface="Arial" pitchFamily="34" charset="-122"/>
                <a:cs typeface="Arial" pitchFamily="34" charset="-120"/>
              </a:rPr>
              <a:t>Docker is an open-source platform that automates the deployment of software applications inside loosely isolated environments called containers.</a:t>
            </a:r>
            <a:endParaRPr lang="en-US" sz="1500" dirty="0"/>
          </a:p>
        </p:txBody>
      </p:sp>
      <p:sp>
        <p:nvSpPr>
          <p:cNvPr id="16" name="Text 2"/>
          <p:cNvSpPr/>
          <p:nvPr/>
        </p:nvSpPr>
        <p:spPr>
          <a:xfrm>
            <a:off x="381000" y="2209800"/>
            <a:ext cx="5410200" cy="800100"/>
          </a:xfrm>
          <a:prstGeom prst="rect">
            <a:avLst/>
          </a:prstGeom>
          <a:noFill/>
          <a:ln/>
        </p:spPr>
        <p:txBody>
          <a:bodyPr vert="horz" wrap="square" lIns="0" tIns="0" rIns="0" bIns="0" rtlCol="0" anchor="t"/>
          <a:lstStyle/>
          <a:p>
            <a:pPr marL="0" indent="0">
              <a:lnSpc>
                <a:spcPts val="2100"/>
              </a:lnSpc>
              <a:buNone/>
            </a:pPr>
            <a:r>
              <a:rPr lang="en-US" sz="1350" dirty="0">
                <a:solidFill>
                  <a:srgbClr val="4B5563"/>
                </a:solidFill>
                <a:latin typeface="Arial" pitchFamily="34" charset="0"/>
                <a:ea typeface="Arial" pitchFamily="34" charset="-122"/>
                <a:cs typeface="Arial" pitchFamily="34" charset="-120"/>
              </a:rPr>
              <a:t>It allows developers to package an application with all its dependencies into a standardized unit, ensuring consistency across different environments.</a:t>
            </a:r>
            <a:endParaRPr lang="en-US" sz="1350" dirty="0"/>
          </a:p>
        </p:txBody>
      </p:sp>
      <p:sp>
        <p:nvSpPr>
          <p:cNvPr id="17" name="Text 3"/>
          <p:cNvSpPr/>
          <p:nvPr/>
        </p:nvSpPr>
        <p:spPr>
          <a:xfrm>
            <a:off x="6238875" y="1781175"/>
            <a:ext cx="24955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Lightweight</a:t>
            </a:r>
            <a:endParaRPr lang="en-US" sz="1350" dirty="0"/>
          </a:p>
        </p:txBody>
      </p:sp>
      <p:sp>
        <p:nvSpPr>
          <p:cNvPr id="18" name="Text 4"/>
          <p:cNvSpPr/>
          <p:nvPr/>
        </p:nvSpPr>
        <p:spPr>
          <a:xfrm>
            <a:off x="6238875" y="2124075"/>
            <a:ext cx="24955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Efficient resource utilization with minimal overhead compared to traditional virtual machines</a:t>
            </a:r>
            <a:endParaRPr lang="en-US" sz="1200" dirty="0"/>
          </a:p>
        </p:txBody>
      </p:sp>
      <p:sp>
        <p:nvSpPr>
          <p:cNvPr id="19" name="Text 5"/>
          <p:cNvSpPr/>
          <p:nvPr/>
        </p:nvSpPr>
        <p:spPr>
          <a:xfrm>
            <a:off x="9172575" y="1781175"/>
            <a:ext cx="24955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Portable</a:t>
            </a:r>
            <a:endParaRPr lang="en-US" sz="1350" dirty="0"/>
          </a:p>
        </p:txBody>
      </p:sp>
      <p:sp>
        <p:nvSpPr>
          <p:cNvPr id="20" name="Text 6"/>
          <p:cNvSpPr/>
          <p:nvPr/>
        </p:nvSpPr>
        <p:spPr>
          <a:xfrm>
            <a:off x="9172575" y="2124075"/>
            <a:ext cx="24955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Run applications consistently across different environments from development to cloud</a:t>
            </a:r>
            <a:endParaRPr lang="en-US" sz="1200" dirty="0"/>
          </a:p>
        </p:txBody>
      </p:sp>
      <p:sp>
        <p:nvSpPr>
          <p:cNvPr id="21" name="Text 7"/>
          <p:cNvSpPr/>
          <p:nvPr/>
        </p:nvSpPr>
        <p:spPr>
          <a:xfrm>
            <a:off x="6238875" y="3705225"/>
            <a:ext cx="299466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Resource Efficient</a:t>
            </a:r>
            <a:endParaRPr lang="en-US" sz="1350" dirty="0"/>
          </a:p>
        </p:txBody>
      </p:sp>
      <p:sp>
        <p:nvSpPr>
          <p:cNvPr id="22" name="Text 8"/>
          <p:cNvSpPr/>
          <p:nvPr/>
        </p:nvSpPr>
        <p:spPr>
          <a:xfrm>
            <a:off x="6238875" y="4048125"/>
            <a:ext cx="24955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Run many containers simultaneously on a given host, maximizing system resources</a:t>
            </a:r>
            <a:endParaRPr lang="en-US" sz="1200" dirty="0"/>
          </a:p>
        </p:txBody>
      </p:sp>
      <p:sp>
        <p:nvSpPr>
          <p:cNvPr id="23" name="Text 9"/>
          <p:cNvSpPr/>
          <p:nvPr/>
        </p:nvSpPr>
        <p:spPr>
          <a:xfrm>
            <a:off x="9172575" y="3705225"/>
            <a:ext cx="24955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Isolated</a:t>
            </a:r>
            <a:endParaRPr lang="en-US" sz="1350" dirty="0"/>
          </a:p>
        </p:txBody>
      </p:sp>
      <p:sp>
        <p:nvSpPr>
          <p:cNvPr id="24" name="Text 10"/>
          <p:cNvSpPr/>
          <p:nvPr/>
        </p:nvSpPr>
        <p:spPr>
          <a:xfrm>
            <a:off x="9172575" y="4048125"/>
            <a:ext cx="24955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Loosely isolated environment that ensures applications don't interfere with each other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5"/>
          <a:stretch>
            <a:fillRect/>
          </a:stretch>
        </p:blipFill>
        <p:spPr>
          <a:xfrm>
            <a:off x="381000" y="1181100"/>
            <a:ext cx="3606701" cy="4210050"/>
          </a:xfrm>
          <a:prstGeom prst="rect">
            <a:avLst/>
          </a:prstGeom>
        </p:spPr>
      </p:pic>
      <p:pic>
        <p:nvPicPr>
          <p:cNvPr id="6" name="Image 4" descr="preencoded.png"/>
          <p:cNvPicPr>
            <a:picLocks noChangeAspect="1"/>
          </p:cNvPicPr>
          <p:nvPr/>
        </p:nvPicPr>
        <p:blipFill>
          <a:blip r:embed="rId6"/>
          <a:stretch>
            <a:fillRect/>
          </a:stretch>
        </p:blipFill>
        <p:spPr>
          <a:xfrm>
            <a:off x="1850975" y="1409700"/>
            <a:ext cx="666750" cy="666750"/>
          </a:xfrm>
          <a:prstGeom prst="rect">
            <a:avLst/>
          </a:prstGeom>
        </p:spPr>
      </p:pic>
      <p:pic>
        <p:nvPicPr>
          <p:cNvPr id="7" name="Image 5" descr="preencoded.png"/>
          <p:cNvPicPr>
            <a:picLocks noChangeAspect="1"/>
          </p:cNvPicPr>
          <p:nvPr/>
        </p:nvPicPr>
        <p:blipFill>
          <a:blip r:embed="rId7"/>
          <a:stretch>
            <a:fillRect/>
          </a:stretch>
        </p:blipFill>
        <p:spPr>
          <a:xfrm>
            <a:off x="2041475" y="1571625"/>
            <a:ext cx="285750" cy="342900"/>
          </a:xfrm>
          <a:prstGeom prst="rect">
            <a:avLst/>
          </a:prstGeom>
        </p:spPr>
      </p:pic>
      <p:pic>
        <p:nvPicPr>
          <p:cNvPr id="8" name="Image 6" descr="preencoded.png"/>
          <p:cNvPicPr>
            <a:picLocks noChangeAspect="1"/>
          </p:cNvPicPr>
          <p:nvPr/>
        </p:nvPicPr>
        <p:blipFill>
          <a:blip r:embed="rId8"/>
          <a:stretch>
            <a:fillRect/>
          </a:stretch>
        </p:blipFill>
        <p:spPr>
          <a:xfrm>
            <a:off x="1803350" y="2647950"/>
            <a:ext cx="762000" cy="762000"/>
          </a:xfrm>
          <a:prstGeom prst="rect">
            <a:avLst/>
          </a:prstGeom>
        </p:spPr>
      </p:pic>
      <p:pic>
        <p:nvPicPr>
          <p:cNvPr id="9" name="Image 7" descr="preencoded.png"/>
          <p:cNvPicPr>
            <a:picLocks noChangeAspect="1"/>
          </p:cNvPicPr>
          <p:nvPr/>
        </p:nvPicPr>
        <p:blipFill>
          <a:blip r:embed="rId9"/>
          <a:stretch>
            <a:fillRect/>
          </a:stretch>
        </p:blipFill>
        <p:spPr>
          <a:xfrm>
            <a:off x="609600" y="4438650"/>
            <a:ext cx="152400" cy="152400"/>
          </a:xfrm>
          <a:prstGeom prst="rect">
            <a:avLst/>
          </a:prstGeom>
        </p:spPr>
      </p:pic>
      <p:pic>
        <p:nvPicPr>
          <p:cNvPr id="10" name="Image 8" descr="preencoded.png"/>
          <p:cNvPicPr>
            <a:picLocks noChangeAspect="1"/>
          </p:cNvPicPr>
          <p:nvPr/>
        </p:nvPicPr>
        <p:blipFill>
          <a:blip r:embed="rId9"/>
          <a:stretch>
            <a:fillRect/>
          </a:stretch>
        </p:blipFill>
        <p:spPr>
          <a:xfrm>
            <a:off x="609600" y="4972050"/>
            <a:ext cx="152400" cy="152400"/>
          </a:xfrm>
          <a:prstGeom prst="rect">
            <a:avLst/>
          </a:prstGeom>
        </p:spPr>
      </p:pic>
      <p:pic>
        <p:nvPicPr>
          <p:cNvPr id="11" name="Image 9" descr="preencoded.png"/>
          <p:cNvPicPr>
            <a:picLocks noChangeAspect="1"/>
          </p:cNvPicPr>
          <p:nvPr/>
        </p:nvPicPr>
        <p:blipFill>
          <a:blip r:embed="rId10"/>
          <a:stretch>
            <a:fillRect/>
          </a:stretch>
        </p:blipFill>
        <p:spPr>
          <a:xfrm>
            <a:off x="4292501" y="1181100"/>
            <a:ext cx="3606850" cy="4210050"/>
          </a:xfrm>
          <a:prstGeom prst="rect">
            <a:avLst/>
          </a:prstGeom>
        </p:spPr>
      </p:pic>
      <p:pic>
        <p:nvPicPr>
          <p:cNvPr id="12" name="Image 10" descr="preencoded.png"/>
          <p:cNvPicPr>
            <a:picLocks noChangeAspect="1"/>
          </p:cNvPicPr>
          <p:nvPr/>
        </p:nvPicPr>
        <p:blipFill>
          <a:blip r:embed="rId11"/>
          <a:stretch>
            <a:fillRect/>
          </a:stretch>
        </p:blipFill>
        <p:spPr>
          <a:xfrm>
            <a:off x="5762476" y="1409700"/>
            <a:ext cx="666750" cy="666750"/>
          </a:xfrm>
          <a:prstGeom prst="rect">
            <a:avLst/>
          </a:prstGeom>
        </p:spPr>
      </p:pic>
      <p:pic>
        <p:nvPicPr>
          <p:cNvPr id="13" name="Image 11" descr="preencoded.png"/>
          <p:cNvPicPr>
            <a:picLocks noChangeAspect="1"/>
          </p:cNvPicPr>
          <p:nvPr/>
        </p:nvPicPr>
        <p:blipFill>
          <a:blip r:embed="rId12"/>
          <a:stretch>
            <a:fillRect/>
          </a:stretch>
        </p:blipFill>
        <p:spPr>
          <a:xfrm>
            <a:off x="5952976" y="1571625"/>
            <a:ext cx="285750" cy="342900"/>
          </a:xfrm>
          <a:prstGeom prst="rect">
            <a:avLst/>
          </a:prstGeom>
        </p:spPr>
      </p:pic>
      <p:pic>
        <p:nvPicPr>
          <p:cNvPr id="14" name="Image 12" descr="preencoded.png"/>
          <p:cNvPicPr>
            <a:picLocks noChangeAspect="1"/>
          </p:cNvPicPr>
          <p:nvPr/>
        </p:nvPicPr>
        <p:blipFill>
          <a:blip r:embed="rId13"/>
          <a:stretch>
            <a:fillRect/>
          </a:stretch>
        </p:blipFill>
        <p:spPr>
          <a:xfrm>
            <a:off x="5619601" y="2857500"/>
            <a:ext cx="952500" cy="571500"/>
          </a:xfrm>
          <a:prstGeom prst="rect">
            <a:avLst/>
          </a:prstGeom>
        </p:spPr>
      </p:pic>
      <p:pic>
        <p:nvPicPr>
          <p:cNvPr id="15" name="Image 13" descr="preencoded.png"/>
          <p:cNvPicPr>
            <a:picLocks noChangeAspect="1"/>
          </p:cNvPicPr>
          <p:nvPr/>
        </p:nvPicPr>
        <p:blipFill>
          <a:blip r:embed="rId9"/>
          <a:stretch>
            <a:fillRect/>
          </a:stretch>
        </p:blipFill>
        <p:spPr>
          <a:xfrm>
            <a:off x="4521101" y="4210050"/>
            <a:ext cx="152400" cy="152400"/>
          </a:xfrm>
          <a:prstGeom prst="rect">
            <a:avLst/>
          </a:prstGeom>
        </p:spPr>
      </p:pic>
      <p:pic>
        <p:nvPicPr>
          <p:cNvPr id="16" name="Image 14" descr="preencoded.png"/>
          <p:cNvPicPr>
            <a:picLocks noChangeAspect="1"/>
          </p:cNvPicPr>
          <p:nvPr/>
        </p:nvPicPr>
        <p:blipFill>
          <a:blip r:embed="rId9"/>
          <a:stretch>
            <a:fillRect/>
          </a:stretch>
        </p:blipFill>
        <p:spPr>
          <a:xfrm>
            <a:off x="4521101" y="4743450"/>
            <a:ext cx="152400" cy="152400"/>
          </a:xfrm>
          <a:prstGeom prst="rect">
            <a:avLst/>
          </a:prstGeom>
        </p:spPr>
      </p:pic>
      <p:pic>
        <p:nvPicPr>
          <p:cNvPr id="17" name="Image 15" descr="preencoded.png"/>
          <p:cNvPicPr>
            <a:picLocks noChangeAspect="1"/>
          </p:cNvPicPr>
          <p:nvPr/>
        </p:nvPicPr>
        <p:blipFill>
          <a:blip r:embed="rId14"/>
          <a:stretch>
            <a:fillRect/>
          </a:stretch>
        </p:blipFill>
        <p:spPr>
          <a:xfrm>
            <a:off x="8204150" y="1181100"/>
            <a:ext cx="3606701" cy="4210050"/>
          </a:xfrm>
          <a:prstGeom prst="rect">
            <a:avLst/>
          </a:prstGeom>
        </p:spPr>
      </p:pic>
      <p:pic>
        <p:nvPicPr>
          <p:cNvPr id="18" name="Image 16" descr="preencoded.png"/>
          <p:cNvPicPr>
            <a:picLocks noChangeAspect="1"/>
          </p:cNvPicPr>
          <p:nvPr/>
        </p:nvPicPr>
        <p:blipFill>
          <a:blip r:embed="rId15"/>
          <a:stretch>
            <a:fillRect/>
          </a:stretch>
        </p:blipFill>
        <p:spPr>
          <a:xfrm>
            <a:off x="9674126" y="1409700"/>
            <a:ext cx="666750" cy="666750"/>
          </a:xfrm>
          <a:prstGeom prst="rect">
            <a:avLst/>
          </a:prstGeom>
        </p:spPr>
      </p:pic>
      <p:pic>
        <p:nvPicPr>
          <p:cNvPr id="19" name="Image 17" descr="preencoded.png"/>
          <p:cNvPicPr>
            <a:picLocks noChangeAspect="1"/>
          </p:cNvPicPr>
          <p:nvPr/>
        </p:nvPicPr>
        <p:blipFill>
          <a:blip r:embed="rId16"/>
          <a:stretch>
            <a:fillRect/>
          </a:stretch>
        </p:blipFill>
        <p:spPr>
          <a:xfrm>
            <a:off x="9826526" y="1571625"/>
            <a:ext cx="361950" cy="342900"/>
          </a:xfrm>
          <a:prstGeom prst="rect">
            <a:avLst/>
          </a:prstGeom>
        </p:spPr>
      </p:pic>
      <p:pic>
        <p:nvPicPr>
          <p:cNvPr id="20" name="Image 18" descr="preencoded.png"/>
          <p:cNvPicPr>
            <a:picLocks noChangeAspect="1"/>
          </p:cNvPicPr>
          <p:nvPr/>
        </p:nvPicPr>
        <p:blipFill>
          <a:blip r:embed="rId17"/>
          <a:stretch>
            <a:fillRect/>
          </a:stretch>
        </p:blipFill>
        <p:spPr>
          <a:xfrm>
            <a:off x="9626501" y="2647950"/>
            <a:ext cx="762000" cy="762000"/>
          </a:xfrm>
          <a:prstGeom prst="rect">
            <a:avLst/>
          </a:prstGeom>
        </p:spPr>
      </p:pic>
      <p:pic>
        <p:nvPicPr>
          <p:cNvPr id="21" name="Image 19" descr="preencoded.png"/>
          <p:cNvPicPr>
            <a:picLocks noChangeAspect="1"/>
          </p:cNvPicPr>
          <p:nvPr/>
        </p:nvPicPr>
        <p:blipFill>
          <a:blip r:embed="rId9"/>
          <a:stretch>
            <a:fillRect/>
          </a:stretch>
        </p:blipFill>
        <p:spPr>
          <a:xfrm>
            <a:off x="8432750" y="4210050"/>
            <a:ext cx="152400" cy="152400"/>
          </a:xfrm>
          <a:prstGeom prst="rect">
            <a:avLst/>
          </a:prstGeom>
        </p:spPr>
      </p:pic>
      <p:pic>
        <p:nvPicPr>
          <p:cNvPr id="22" name="Image 20" descr="preencoded.png"/>
          <p:cNvPicPr>
            <a:picLocks noChangeAspect="1"/>
          </p:cNvPicPr>
          <p:nvPr/>
        </p:nvPicPr>
        <p:blipFill>
          <a:blip r:embed="rId9"/>
          <a:stretch>
            <a:fillRect/>
          </a:stretch>
        </p:blipFill>
        <p:spPr>
          <a:xfrm>
            <a:off x="8432750" y="4743450"/>
            <a:ext cx="152400" cy="152400"/>
          </a:xfrm>
          <a:prstGeom prst="rect">
            <a:avLst/>
          </a:prstGeom>
        </p:spPr>
      </p:pic>
      <p:sp>
        <p:nvSpPr>
          <p:cNvPr id="23"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Arial" pitchFamily="34" charset="0"/>
                <a:ea typeface="Arial" pitchFamily="34" charset="-122"/>
                <a:cs typeface="Arial" pitchFamily="34" charset="-120"/>
              </a:rPr>
              <a:t>Core Docker Concepts</a:t>
            </a:r>
            <a:endParaRPr lang="en-US" sz="2700" dirty="0"/>
          </a:p>
        </p:txBody>
      </p:sp>
      <p:sp>
        <p:nvSpPr>
          <p:cNvPr id="24" name="Text 1"/>
          <p:cNvSpPr/>
          <p:nvPr/>
        </p:nvSpPr>
        <p:spPr>
          <a:xfrm>
            <a:off x="609600" y="2228850"/>
            <a:ext cx="3149501"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Arial" pitchFamily="34" charset="0"/>
                <a:ea typeface="Arial" pitchFamily="34" charset="-122"/>
                <a:cs typeface="Arial" pitchFamily="34" charset="-120"/>
              </a:rPr>
              <a:t>Images</a:t>
            </a:r>
            <a:endParaRPr lang="en-US" sz="1800" dirty="0"/>
          </a:p>
        </p:txBody>
      </p:sp>
      <p:sp>
        <p:nvSpPr>
          <p:cNvPr id="25" name="Text 2"/>
          <p:cNvSpPr/>
          <p:nvPr/>
        </p:nvSpPr>
        <p:spPr>
          <a:xfrm>
            <a:off x="609600" y="3562350"/>
            <a:ext cx="3149501"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Arial" pitchFamily="34" charset="0"/>
                <a:ea typeface="Arial" pitchFamily="34" charset="-122"/>
                <a:cs typeface="Arial" pitchFamily="34" charset="-120"/>
              </a:rPr>
              <a:t>Lightweight, standalone, executable packages that include everything needed to run an application</a:t>
            </a:r>
            <a:endParaRPr lang="en-US" sz="1200" dirty="0"/>
          </a:p>
        </p:txBody>
      </p:sp>
      <p:sp>
        <p:nvSpPr>
          <p:cNvPr id="26" name="Text 3"/>
          <p:cNvSpPr/>
          <p:nvPr/>
        </p:nvSpPr>
        <p:spPr>
          <a:xfrm>
            <a:off x="838200" y="4400550"/>
            <a:ext cx="29209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Templates from which containers are created</a:t>
            </a:r>
            <a:endParaRPr lang="en-US" sz="1200" dirty="0"/>
          </a:p>
        </p:txBody>
      </p:sp>
      <p:sp>
        <p:nvSpPr>
          <p:cNvPr id="27" name="Text 4"/>
          <p:cNvSpPr/>
          <p:nvPr/>
        </p:nvSpPr>
        <p:spPr>
          <a:xfrm>
            <a:off x="838200" y="4933950"/>
            <a:ext cx="331041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Consistent across different environments</a:t>
            </a:r>
            <a:endParaRPr lang="en-US" sz="1200" dirty="0"/>
          </a:p>
        </p:txBody>
      </p:sp>
      <p:sp>
        <p:nvSpPr>
          <p:cNvPr id="28" name="Text 5"/>
          <p:cNvSpPr/>
          <p:nvPr/>
        </p:nvSpPr>
        <p:spPr>
          <a:xfrm>
            <a:off x="4521101" y="2228850"/>
            <a:ext cx="3149650"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Arial" pitchFamily="34" charset="0"/>
                <a:ea typeface="Arial" pitchFamily="34" charset="-122"/>
                <a:cs typeface="Arial" pitchFamily="34" charset="-120"/>
              </a:rPr>
              <a:t>Containers</a:t>
            </a:r>
            <a:endParaRPr lang="en-US" sz="1800" dirty="0"/>
          </a:p>
        </p:txBody>
      </p:sp>
      <p:sp>
        <p:nvSpPr>
          <p:cNvPr id="29" name="Text 6"/>
          <p:cNvSpPr/>
          <p:nvPr/>
        </p:nvSpPr>
        <p:spPr>
          <a:xfrm>
            <a:off x="4606736" y="3581400"/>
            <a:ext cx="2978229"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Arial" pitchFamily="34" charset="0"/>
                <a:ea typeface="Arial" pitchFamily="34" charset="-122"/>
                <a:cs typeface="Arial" pitchFamily="34" charset="-120"/>
              </a:rPr>
              <a:t>Runtime instances of Docker images</a:t>
            </a:r>
            <a:endParaRPr lang="en-US" sz="1200" dirty="0"/>
          </a:p>
        </p:txBody>
      </p:sp>
      <p:sp>
        <p:nvSpPr>
          <p:cNvPr id="30" name="Text 7"/>
          <p:cNvSpPr/>
          <p:nvPr/>
        </p:nvSpPr>
        <p:spPr>
          <a:xfrm>
            <a:off x="4749701" y="4171950"/>
            <a:ext cx="29210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Loosely isolated environment for application execution</a:t>
            </a:r>
            <a:endParaRPr lang="en-US" sz="1200" dirty="0"/>
          </a:p>
        </p:txBody>
      </p:sp>
      <p:sp>
        <p:nvSpPr>
          <p:cNvPr id="31" name="Text 8"/>
          <p:cNvSpPr/>
          <p:nvPr/>
        </p:nvSpPr>
        <p:spPr>
          <a:xfrm>
            <a:off x="4749701" y="4705350"/>
            <a:ext cx="29210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Ensures consistent functionality between development and staging</a:t>
            </a:r>
            <a:endParaRPr lang="en-US" sz="1200" dirty="0"/>
          </a:p>
        </p:txBody>
      </p:sp>
      <p:sp>
        <p:nvSpPr>
          <p:cNvPr id="32" name="Text 9"/>
          <p:cNvSpPr/>
          <p:nvPr/>
        </p:nvSpPr>
        <p:spPr>
          <a:xfrm>
            <a:off x="8432750" y="2228850"/>
            <a:ext cx="3149501"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F2937"/>
                </a:solidFill>
                <a:latin typeface="Arial" pitchFamily="34" charset="0"/>
                <a:ea typeface="Arial" pitchFamily="34" charset="-122"/>
                <a:cs typeface="Arial" pitchFamily="34" charset="-120"/>
              </a:rPr>
              <a:t>Docker Hub</a:t>
            </a:r>
            <a:endParaRPr lang="en-US" sz="1800" dirty="0"/>
          </a:p>
        </p:txBody>
      </p:sp>
      <p:sp>
        <p:nvSpPr>
          <p:cNvPr id="33" name="Text 10"/>
          <p:cNvSpPr/>
          <p:nvPr/>
        </p:nvSpPr>
        <p:spPr>
          <a:xfrm>
            <a:off x="8432750" y="3562350"/>
            <a:ext cx="3149501"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374151"/>
                </a:solidFill>
                <a:latin typeface="Arial" pitchFamily="34" charset="0"/>
                <a:ea typeface="Arial" pitchFamily="34" charset="-122"/>
                <a:cs typeface="Arial" pitchFamily="34" charset="-120"/>
              </a:rPr>
              <a:t>Cloud-based registry service for finding and sharing container images</a:t>
            </a:r>
            <a:endParaRPr lang="en-US" sz="1200" dirty="0"/>
          </a:p>
        </p:txBody>
      </p:sp>
      <p:sp>
        <p:nvSpPr>
          <p:cNvPr id="34" name="Text 11"/>
          <p:cNvSpPr/>
          <p:nvPr/>
        </p:nvSpPr>
        <p:spPr>
          <a:xfrm>
            <a:off x="8661350" y="4171950"/>
            <a:ext cx="29209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Central repository for official and public images</a:t>
            </a:r>
            <a:endParaRPr lang="en-US" sz="1200" dirty="0"/>
          </a:p>
        </p:txBody>
      </p:sp>
      <p:sp>
        <p:nvSpPr>
          <p:cNvPr id="35" name="Text 12"/>
          <p:cNvSpPr/>
          <p:nvPr/>
        </p:nvSpPr>
        <p:spPr>
          <a:xfrm>
            <a:off x="8661350" y="4705350"/>
            <a:ext cx="29209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Enables teams to discover and share images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5"/>
          <a:stretch>
            <a:fillRect/>
          </a:stretch>
        </p:blipFill>
        <p:spPr>
          <a:xfrm>
            <a:off x="2667000" y="1104900"/>
            <a:ext cx="1333500" cy="419100"/>
          </a:xfrm>
          <a:prstGeom prst="rect">
            <a:avLst/>
          </a:prstGeom>
        </p:spPr>
      </p:pic>
      <p:pic>
        <p:nvPicPr>
          <p:cNvPr id="6" name="Image 4" descr="preencoded.png"/>
          <p:cNvPicPr>
            <a:picLocks noChangeAspect="1"/>
          </p:cNvPicPr>
          <p:nvPr/>
        </p:nvPicPr>
        <p:blipFill>
          <a:blip r:embed="rId6"/>
          <a:stretch>
            <a:fillRect/>
          </a:stretch>
        </p:blipFill>
        <p:spPr>
          <a:xfrm>
            <a:off x="2590800" y="1238250"/>
            <a:ext cx="152400" cy="152400"/>
          </a:xfrm>
          <a:prstGeom prst="rect">
            <a:avLst/>
          </a:prstGeom>
        </p:spPr>
      </p:pic>
      <p:pic>
        <p:nvPicPr>
          <p:cNvPr id="7" name="Image 5" descr="preencoded.png"/>
          <p:cNvPicPr>
            <a:picLocks noChangeAspect="1"/>
          </p:cNvPicPr>
          <p:nvPr/>
        </p:nvPicPr>
        <p:blipFill>
          <a:blip r:embed="rId7"/>
          <a:stretch>
            <a:fillRect/>
          </a:stretch>
        </p:blipFill>
        <p:spPr>
          <a:xfrm>
            <a:off x="4381500" y="1104900"/>
            <a:ext cx="1333500" cy="419100"/>
          </a:xfrm>
          <a:prstGeom prst="rect">
            <a:avLst/>
          </a:prstGeom>
        </p:spPr>
      </p:pic>
      <p:pic>
        <p:nvPicPr>
          <p:cNvPr id="8" name="Image 6" descr="preencoded.png"/>
          <p:cNvPicPr>
            <a:picLocks noChangeAspect="1"/>
          </p:cNvPicPr>
          <p:nvPr/>
        </p:nvPicPr>
        <p:blipFill>
          <a:blip r:embed="rId8"/>
          <a:stretch>
            <a:fillRect/>
          </a:stretch>
        </p:blipFill>
        <p:spPr>
          <a:xfrm>
            <a:off x="4305300" y="1238250"/>
            <a:ext cx="133350" cy="152400"/>
          </a:xfrm>
          <a:prstGeom prst="rect">
            <a:avLst/>
          </a:prstGeom>
        </p:spPr>
      </p:pic>
      <p:pic>
        <p:nvPicPr>
          <p:cNvPr id="9" name="Image 7" descr="preencoded.png"/>
          <p:cNvPicPr>
            <a:picLocks noChangeAspect="1"/>
          </p:cNvPicPr>
          <p:nvPr/>
        </p:nvPicPr>
        <p:blipFill>
          <a:blip r:embed="rId9"/>
          <a:stretch>
            <a:fillRect/>
          </a:stretch>
        </p:blipFill>
        <p:spPr>
          <a:xfrm>
            <a:off x="6477000" y="1104900"/>
            <a:ext cx="1333500" cy="419100"/>
          </a:xfrm>
          <a:prstGeom prst="rect">
            <a:avLst/>
          </a:prstGeom>
        </p:spPr>
      </p:pic>
      <p:pic>
        <p:nvPicPr>
          <p:cNvPr id="10" name="Image 8" descr="preencoded.png"/>
          <p:cNvPicPr>
            <a:picLocks noChangeAspect="1"/>
          </p:cNvPicPr>
          <p:nvPr/>
        </p:nvPicPr>
        <p:blipFill>
          <a:blip r:embed="rId8"/>
          <a:stretch>
            <a:fillRect/>
          </a:stretch>
        </p:blipFill>
        <p:spPr>
          <a:xfrm>
            <a:off x="6400800" y="1238250"/>
            <a:ext cx="133350" cy="152400"/>
          </a:xfrm>
          <a:prstGeom prst="rect">
            <a:avLst/>
          </a:prstGeom>
        </p:spPr>
      </p:pic>
      <p:pic>
        <p:nvPicPr>
          <p:cNvPr id="11" name="Image 9" descr="preencoded.png"/>
          <p:cNvPicPr>
            <a:picLocks noChangeAspect="1"/>
          </p:cNvPicPr>
          <p:nvPr/>
        </p:nvPicPr>
        <p:blipFill>
          <a:blip r:embed="rId10"/>
          <a:stretch>
            <a:fillRect/>
          </a:stretch>
        </p:blipFill>
        <p:spPr>
          <a:xfrm>
            <a:off x="8191500" y="1104900"/>
            <a:ext cx="1333500" cy="419100"/>
          </a:xfrm>
          <a:prstGeom prst="rect">
            <a:avLst/>
          </a:prstGeom>
        </p:spPr>
      </p:pic>
      <p:pic>
        <p:nvPicPr>
          <p:cNvPr id="12" name="Image 10" descr="preencoded.png"/>
          <p:cNvPicPr>
            <a:picLocks noChangeAspect="1"/>
          </p:cNvPicPr>
          <p:nvPr/>
        </p:nvPicPr>
        <p:blipFill>
          <a:blip r:embed="rId11"/>
          <a:stretch>
            <a:fillRect/>
          </a:stretch>
        </p:blipFill>
        <p:spPr>
          <a:xfrm>
            <a:off x="8115300" y="1238250"/>
            <a:ext cx="133350" cy="152400"/>
          </a:xfrm>
          <a:prstGeom prst="rect">
            <a:avLst/>
          </a:prstGeom>
        </p:spPr>
      </p:pic>
      <p:pic>
        <p:nvPicPr>
          <p:cNvPr id="13" name="Image 11" descr="preencoded.png"/>
          <p:cNvPicPr>
            <a:picLocks noChangeAspect="1"/>
          </p:cNvPicPr>
          <p:nvPr/>
        </p:nvPicPr>
        <p:blipFill>
          <a:blip r:embed="rId12"/>
          <a:stretch>
            <a:fillRect/>
          </a:stretch>
        </p:blipFill>
        <p:spPr>
          <a:xfrm>
            <a:off x="381000" y="1847850"/>
            <a:ext cx="228600" cy="228600"/>
          </a:xfrm>
          <a:prstGeom prst="rect">
            <a:avLst/>
          </a:prstGeom>
        </p:spPr>
      </p:pic>
      <p:pic>
        <p:nvPicPr>
          <p:cNvPr id="14" name="Image 12" descr="preencoded.png"/>
          <p:cNvPicPr>
            <a:picLocks noChangeAspect="1"/>
          </p:cNvPicPr>
          <p:nvPr/>
        </p:nvPicPr>
        <p:blipFill>
          <a:blip r:embed="rId13"/>
          <a:stretch>
            <a:fillRect/>
          </a:stretch>
        </p:blipFill>
        <p:spPr>
          <a:xfrm>
            <a:off x="381000" y="2247900"/>
            <a:ext cx="5600700" cy="723900"/>
          </a:xfrm>
          <a:prstGeom prst="rect">
            <a:avLst/>
          </a:prstGeom>
        </p:spPr>
      </p:pic>
      <p:pic>
        <p:nvPicPr>
          <p:cNvPr id="15" name="Image 13" descr="preencoded.png"/>
          <p:cNvPicPr>
            <a:picLocks noChangeAspect="1"/>
          </p:cNvPicPr>
          <p:nvPr/>
        </p:nvPicPr>
        <p:blipFill>
          <a:blip r:embed="rId13"/>
          <a:stretch>
            <a:fillRect/>
          </a:stretch>
        </p:blipFill>
        <p:spPr>
          <a:xfrm>
            <a:off x="381000" y="3067050"/>
            <a:ext cx="5600700" cy="723900"/>
          </a:xfrm>
          <a:prstGeom prst="rect">
            <a:avLst/>
          </a:prstGeom>
        </p:spPr>
      </p:pic>
      <p:pic>
        <p:nvPicPr>
          <p:cNvPr id="16" name="Image 14" descr="preencoded.png"/>
          <p:cNvPicPr>
            <a:picLocks noChangeAspect="1"/>
          </p:cNvPicPr>
          <p:nvPr/>
        </p:nvPicPr>
        <p:blipFill>
          <a:blip r:embed="rId13"/>
          <a:stretch>
            <a:fillRect/>
          </a:stretch>
        </p:blipFill>
        <p:spPr>
          <a:xfrm>
            <a:off x="381000" y="3886200"/>
            <a:ext cx="5600700" cy="723900"/>
          </a:xfrm>
          <a:prstGeom prst="rect">
            <a:avLst/>
          </a:prstGeom>
        </p:spPr>
      </p:pic>
      <p:pic>
        <p:nvPicPr>
          <p:cNvPr id="17" name="Image 15" descr="preencoded.png"/>
          <p:cNvPicPr>
            <a:picLocks noChangeAspect="1"/>
          </p:cNvPicPr>
          <p:nvPr/>
        </p:nvPicPr>
        <p:blipFill>
          <a:blip r:embed="rId14"/>
          <a:stretch>
            <a:fillRect/>
          </a:stretch>
        </p:blipFill>
        <p:spPr>
          <a:xfrm>
            <a:off x="6210300" y="1847850"/>
            <a:ext cx="285750" cy="228600"/>
          </a:xfrm>
          <a:prstGeom prst="rect">
            <a:avLst/>
          </a:prstGeom>
        </p:spPr>
      </p:pic>
      <p:pic>
        <p:nvPicPr>
          <p:cNvPr id="18" name="Image 16" descr="preencoded.png"/>
          <p:cNvPicPr>
            <a:picLocks noChangeAspect="1"/>
          </p:cNvPicPr>
          <p:nvPr/>
        </p:nvPicPr>
        <p:blipFill>
          <a:blip r:embed="rId13"/>
          <a:stretch>
            <a:fillRect/>
          </a:stretch>
        </p:blipFill>
        <p:spPr>
          <a:xfrm>
            <a:off x="6210300" y="2247900"/>
            <a:ext cx="5600700" cy="723900"/>
          </a:xfrm>
          <a:prstGeom prst="rect">
            <a:avLst/>
          </a:prstGeom>
        </p:spPr>
      </p:pic>
      <p:pic>
        <p:nvPicPr>
          <p:cNvPr id="19" name="Image 17" descr="preencoded.png"/>
          <p:cNvPicPr>
            <a:picLocks noChangeAspect="1"/>
          </p:cNvPicPr>
          <p:nvPr/>
        </p:nvPicPr>
        <p:blipFill>
          <a:blip r:embed="rId13"/>
          <a:stretch>
            <a:fillRect/>
          </a:stretch>
        </p:blipFill>
        <p:spPr>
          <a:xfrm>
            <a:off x="6210300" y="3067050"/>
            <a:ext cx="5600700" cy="723900"/>
          </a:xfrm>
          <a:prstGeom prst="rect">
            <a:avLst/>
          </a:prstGeom>
        </p:spPr>
      </p:pic>
      <p:pic>
        <p:nvPicPr>
          <p:cNvPr id="20" name="Image 18" descr="preencoded.png"/>
          <p:cNvPicPr>
            <a:picLocks noChangeAspect="1"/>
          </p:cNvPicPr>
          <p:nvPr/>
        </p:nvPicPr>
        <p:blipFill>
          <a:blip r:embed="rId13"/>
          <a:stretch>
            <a:fillRect/>
          </a:stretch>
        </p:blipFill>
        <p:spPr>
          <a:xfrm>
            <a:off x="6210300" y="3886200"/>
            <a:ext cx="5600700" cy="723900"/>
          </a:xfrm>
          <a:prstGeom prst="rect">
            <a:avLst/>
          </a:prstGeom>
        </p:spPr>
      </p:pic>
      <p:pic>
        <p:nvPicPr>
          <p:cNvPr id="21" name="Image 19" descr="preencoded.png"/>
          <p:cNvPicPr>
            <a:picLocks noChangeAspect="1"/>
          </p:cNvPicPr>
          <p:nvPr/>
        </p:nvPicPr>
        <p:blipFill>
          <a:blip r:embed="rId15"/>
          <a:stretch>
            <a:fillRect/>
          </a:stretch>
        </p:blipFill>
        <p:spPr>
          <a:xfrm>
            <a:off x="381000" y="4962525"/>
            <a:ext cx="190500" cy="190500"/>
          </a:xfrm>
          <a:prstGeom prst="rect">
            <a:avLst/>
          </a:prstGeom>
        </p:spPr>
      </p:pic>
      <p:pic>
        <p:nvPicPr>
          <p:cNvPr id="22" name="Image 20" descr="preencoded.png"/>
          <p:cNvPicPr>
            <a:picLocks noChangeAspect="1"/>
          </p:cNvPicPr>
          <p:nvPr/>
        </p:nvPicPr>
        <p:blipFill>
          <a:blip r:embed="rId16"/>
          <a:stretch>
            <a:fillRect/>
          </a:stretch>
        </p:blipFill>
        <p:spPr>
          <a:xfrm>
            <a:off x="419100" y="5314950"/>
            <a:ext cx="1990725" cy="304800"/>
          </a:xfrm>
          <a:prstGeom prst="rect">
            <a:avLst/>
          </a:prstGeom>
        </p:spPr>
      </p:pic>
      <p:pic>
        <p:nvPicPr>
          <p:cNvPr id="23" name="Image 21" descr="preencoded.png"/>
          <p:cNvPicPr>
            <a:picLocks noChangeAspect="1"/>
          </p:cNvPicPr>
          <p:nvPr/>
        </p:nvPicPr>
        <p:blipFill>
          <a:blip r:embed="rId17"/>
          <a:stretch>
            <a:fillRect/>
          </a:stretch>
        </p:blipFill>
        <p:spPr>
          <a:xfrm>
            <a:off x="2486025" y="5314950"/>
            <a:ext cx="1338263" cy="304800"/>
          </a:xfrm>
          <a:prstGeom prst="rect">
            <a:avLst/>
          </a:prstGeom>
        </p:spPr>
      </p:pic>
      <p:pic>
        <p:nvPicPr>
          <p:cNvPr id="24" name="Image 22" descr="preencoded.png"/>
          <p:cNvPicPr>
            <a:picLocks noChangeAspect="1"/>
          </p:cNvPicPr>
          <p:nvPr/>
        </p:nvPicPr>
        <p:blipFill>
          <a:blip r:embed="rId18"/>
          <a:stretch>
            <a:fillRect/>
          </a:stretch>
        </p:blipFill>
        <p:spPr>
          <a:xfrm>
            <a:off x="3900488" y="5314950"/>
            <a:ext cx="1482328" cy="304800"/>
          </a:xfrm>
          <a:prstGeom prst="rect">
            <a:avLst/>
          </a:prstGeom>
        </p:spPr>
      </p:pic>
      <p:pic>
        <p:nvPicPr>
          <p:cNvPr id="25" name="Image 23" descr="preencoded.png"/>
          <p:cNvPicPr>
            <a:picLocks noChangeAspect="1"/>
          </p:cNvPicPr>
          <p:nvPr/>
        </p:nvPicPr>
        <p:blipFill>
          <a:blip r:embed="rId19"/>
          <a:stretch>
            <a:fillRect/>
          </a:stretch>
        </p:blipFill>
        <p:spPr>
          <a:xfrm>
            <a:off x="5459016" y="5314950"/>
            <a:ext cx="2134493" cy="304800"/>
          </a:xfrm>
          <a:prstGeom prst="rect">
            <a:avLst/>
          </a:prstGeom>
        </p:spPr>
      </p:pic>
      <p:sp>
        <p:nvSpPr>
          <p:cNvPr id="26" name="Text 0"/>
          <p:cNvSpPr/>
          <p:nvPr/>
        </p:nvSpPr>
        <p:spPr>
          <a:xfrm>
            <a:off x="381000" y="3810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Arial" pitchFamily="34" charset="0"/>
                <a:ea typeface="Arial" pitchFamily="34" charset="-122"/>
                <a:cs typeface="Arial" pitchFamily="34" charset="-120"/>
              </a:rPr>
              <a:t>Container Lifecycle Commands</a:t>
            </a:r>
            <a:endParaRPr lang="en-US" sz="2700" dirty="0"/>
          </a:p>
        </p:txBody>
      </p:sp>
      <p:sp>
        <p:nvSpPr>
          <p:cNvPr id="27" name="Text 1"/>
          <p:cNvSpPr/>
          <p:nvPr/>
        </p:nvSpPr>
        <p:spPr>
          <a:xfrm>
            <a:off x="2667000" y="1104900"/>
            <a:ext cx="133350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1E40AF"/>
                </a:solidFill>
                <a:latin typeface="Arial" pitchFamily="34" charset="0"/>
                <a:ea typeface="Arial" pitchFamily="34" charset="-122"/>
                <a:cs typeface="Arial" pitchFamily="34" charset="-120"/>
              </a:rPr>
              <a:t>Create</a:t>
            </a:r>
            <a:endParaRPr lang="en-US" sz="1200" dirty="0"/>
          </a:p>
        </p:txBody>
      </p:sp>
      <p:sp>
        <p:nvSpPr>
          <p:cNvPr id="28" name="Text 2"/>
          <p:cNvSpPr/>
          <p:nvPr/>
        </p:nvSpPr>
        <p:spPr>
          <a:xfrm>
            <a:off x="4381500" y="1104900"/>
            <a:ext cx="133350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1E40AF"/>
                </a:solidFill>
                <a:latin typeface="Arial" pitchFamily="34" charset="0"/>
                <a:ea typeface="Arial" pitchFamily="34" charset="-122"/>
                <a:cs typeface="Arial" pitchFamily="34" charset="-120"/>
              </a:rPr>
              <a:t>Run</a:t>
            </a:r>
            <a:endParaRPr lang="en-US" sz="1200" dirty="0"/>
          </a:p>
        </p:txBody>
      </p:sp>
      <p:sp>
        <p:nvSpPr>
          <p:cNvPr id="29" name="Text 3"/>
          <p:cNvSpPr/>
          <p:nvPr/>
        </p:nvSpPr>
        <p:spPr>
          <a:xfrm>
            <a:off x="6477000" y="1104900"/>
            <a:ext cx="133350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1E40AF"/>
                </a:solidFill>
                <a:latin typeface="Arial" pitchFamily="34" charset="0"/>
                <a:ea typeface="Arial" pitchFamily="34" charset="-122"/>
                <a:cs typeface="Arial" pitchFamily="34" charset="-120"/>
              </a:rPr>
              <a:t>Manage</a:t>
            </a:r>
            <a:endParaRPr lang="en-US" sz="1200" dirty="0"/>
          </a:p>
        </p:txBody>
      </p:sp>
      <p:sp>
        <p:nvSpPr>
          <p:cNvPr id="30" name="Text 4"/>
          <p:cNvSpPr/>
          <p:nvPr/>
        </p:nvSpPr>
        <p:spPr>
          <a:xfrm>
            <a:off x="8191500" y="1104900"/>
            <a:ext cx="133350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Arial" pitchFamily="34" charset="0"/>
                <a:ea typeface="Arial" pitchFamily="34" charset="-122"/>
                <a:cs typeface="Arial" pitchFamily="34" charset="-120"/>
              </a:rPr>
              <a:t>Remove</a:t>
            </a:r>
            <a:endParaRPr lang="en-US" sz="1200" dirty="0"/>
          </a:p>
        </p:txBody>
      </p:sp>
      <p:sp>
        <p:nvSpPr>
          <p:cNvPr id="31" name="Text 5"/>
          <p:cNvSpPr/>
          <p:nvPr/>
        </p:nvSpPr>
        <p:spPr>
          <a:xfrm>
            <a:off x="685800" y="1828800"/>
            <a:ext cx="67208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Arial" pitchFamily="34" charset="0"/>
                <a:ea typeface="Arial" pitchFamily="34" charset="-122"/>
                <a:cs typeface="Arial" pitchFamily="34" charset="-120"/>
              </a:rPr>
              <a:t> Creating &amp; Running Containers</a:t>
            </a:r>
            <a:endParaRPr lang="en-US" sz="1800" dirty="0"/>
          </a:p>
        </p:txBody>
      </p:sp>
      <p:sp>
        <p:nvSpPr>
          <p:cNvPr id="32" name="Text 6"/>
          <p:cNvSpPr/>
          <p:nvPr/>
        </p:nvSpPr>
        <p:spPr>
          <a:xfrm>
            <a:off x="495300" y="2362200"/>
            <a:ext cx="644652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Arial" pitchFamily="34" charset="0"/>
                <a:ea typeface="Arial" pitchFamily="34" charset="-122"/>
                <a:cs typeface="Arial" pitchFamily="34" charset="-120"/>
              </a:rPr>
              <a:t>docker run [OPTIONS] IMAGE [COMMAND]</a:t>
            </a:r>
            <a:endParaRPr lang="en-US" sz="1200" dirty="0"/>
          </a:p>
        </p:txBody>
      </p:sp>
      <p:sp>
        <p:nvSpPr>
          <p:cNvPr id="33" name="Text 7"/>
          <p:cNvSpPr/>
          <p:nvPr/>
        </p:nvSpPr>
        <p:spPr>
          <a:xfrm>
            <a:off x="495300" y="2628900"/>
            <a:ext cx="644652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Creates and starts a container from an image</a:t>
            </a:r>
            <a:endParaRPr lang="en-US" sz="1200" dirty="0"/>
          </a:p>
        </p:txBody>
      </p:sp>
      <p:sp>
        <p:nvSpPr>
          <p:cNvPr id="34" name="Text 8"/>
          <p:cNvSpPr/>
          <p:nvPr/>
        </p:nvSpPr>
        <p:spPr>
          <a:xfrm>
            <a:off x="495300" y="3181350"/>
            <a:ext cx="53721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Arial" pitchFamily="34" charset="0"/>
                <a:ea typeface="Arial" pitchFamily="34" charset="-122"/>
                <a:cs typeface="Arial" pitchFamily="34" charset="-120"/>
              </a:rPr>
              <a:t>docker create [OPTIONS] IMAGE</a:t>
            </a:r>
            <a:endParaRPr lang="en-US" sz="1200" dirty="0"/>
          </a:p>
        </p:txBody>
      </p:sp>
      <p:sp>
        <p:nvSpPr>
          <p:cNvPr id="35" name="Text 9"/>
          <p:cNvSpPr/>
          <p:nvPr/>
        </p:nvSpPr>
        <p:spPr>
          <a:xfrm>
            <a:off x="495300" y="3448050"/>
            <a:ext cx="644652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Creates a new container but doesn't start it</a:t>
            </a:r>
            <a:endParaRPr lang="en-US" sz="1200" dirty="0"/>
          </a:p>
        </p:txBody>
      </p:sp>
      <p:sp>
        <p:nvSpPr>
          <p:cNvPr id="36" name="Text 10"/>
          <p:cNvSpPr/>
          <p:nvPr/>
        </p:nvSpPr>
        <p:spPr>
          <a:xfrm>
            <a:off x="495300" y="4000500"/>
            <a:ext cx="644652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Arial" pitchFamily="34" charset="0"/>
                <a:ea typeface="Arial" pitchFamily="34" charset="-122"/>
                <a:cs typeface="Arial" pitchFamily="34" charset="-120"/>
              </a:rPr>
              <a:t>docker start [OPTIONS] CONTAINER</a:t>
            </a:r>
            <a:endParaRPr lang="en-US" sz="1200" dirty="0"/>
          </a:p>
        </p:txBody>
      </p:sp>
      <p:sp>
        <p:nvSpPr>
          <p:cNvPr id="37" name="Text 11"/>
          <p:cNvSpPr/>
          <p:nvPr/>
        </p:nvSpPr>
        <p:spPr>
          <a:xfrm>
            <a:off x="495300" y="4267200"/>
            <a:ext cx="644652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Starts one or more stopped containers</a:t>
            </a:r>
            <a:endParaRPr lang="en-US" sz="1200" dirty="0"/>
          </a:p>
        </p:txBody>
      </p:sp>
      <p:sp>
        <p:nvSpPr>
          <p:cNvPr id="38" name="Text 12"/>
          <p:cNvSpPr/>
          <p:nvPr/>
        </p:nvSpPr>
        <p:spPr>
          <a:xfrm>
            <a:off x="6572250" y="1828800"/>
            <a:ext cx="67208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Arial" pitchFamily="34" charset="0"/>
                <a:ea typeface="Arial" pitchFamily="34" charset="-122"/>
                <a:cs typeface="Arial" pitchFamily="34" charset="-120"/>
              </a:rPr>
              <a:t> Managing &amp; Removing Containers</a:t>
            </a:r>
            <a:endParaRPr lang="en-US" sz="1800" dirty="0"/>
          </a:p>
        </p:txBody>
      </p:sp>
      <p:sp>
        <p:nvSpPr>
          <p:cNvPr id="39" name="Text 13"/>
          <p:cNvSpPr/>
          <p:nvPr/>
        </p:nvSpPr>
        <p:spPr>
          <a:xfrm>
            <a:off x="6324600" y="2362200"/>
            <a:ext cx="644652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Arial" pitchFamily="34" charset="0"/>
                <a:ea typeface="Arial" pitchFamily="34" charset="-122"/>
                <a:cs typeface="Arial" pitchFamily="34" charset="-120"/>
              </a:rPr>
              <a:t>docker stop [OPTIONS] CONTAINER</a:t>
            </a:r>
            <a:endParaRPr lang="en-US" sz="1200" dirty="0"/>
          </a:p>
        </p:txBody>
      </p:sp>
      <p:sp>
        <p:nvSpPr>
          <p:cNvPr id="40" name="Text 14"/>
          <p:cNvSpPr/>
          <p:nvPr/>
        </p:nvSpPr>
        <p:spPr>
          <a:xfrm>
            <a:off x="6324600" y="2628900"/>
            <a:ext cx="644652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Stops one or more running containers</a:t>
            </a:r>
            <a:endParaRPr lang="en-US" sz="1200" dirty="0"/>
          </a:p>
        </p:txBody>
      </p:sp>
      <p:sp>
        <p:nvSpPr>
          <p:cNvPr id="41" name="Text 15"/>
          <p:cNvSpPr/>
          <p:nvPr/>
        </p:nvSpPr>
        <p:spPr>
          <a:xfrm>
            <a:off x="6324600" y="3181350"/>
            <a:ext cx="644652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Arial" pitchFamily="34" charset="0"/>
                <a:ea typeface="Arial" pitchFamily="34" charset="-122"/>
                <a:cs typeface="Arial" pitchFamily="34" charset="-120"/>
              </a:rPr>
              <a:t>docker restart [OPTIONS] CONTAINER</a:t>
            </a:r>
            <a:endParaRPr lang="en-US" sz="1200" dirty="0"/>
          </a:p>
        </p:txBody>
      </p:sp>
      <p:sp>
        <p:nvSpPr>
          <p:cNvPr id="42" name="Text 16"/>
          <p:cNvSpPr/>
          <p:nvPr/>
        </p:nvSpPr>
        <p:spPr>
          <a:xfrm>
            <a:off x="6324600" y="3448050"/>
            <a:ext cx="644652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Restarts one or more containers</a:t>
            </a:r>
            <a:endParaRPr lang="en-US" sz="1200" dirty="0"/>
          </a:p>
        </p:txBody>
      </p:sp>
      <p:sp>
        <p:nvSpPr>
          <p:cNvPr id="43" name="Text 17"/>
          <p:cNvSpPr/>
          <p:nvPr/>
        </p:nvSpPr>
        <p:spPr>
          <a:xfrm>
            <a:off x="6324600" y="4000500"/>
            <a:ext cx="53721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Arial" pitchFamily="34" charset="0"/>
                <a:ea typeface="Arial" pitchFamily="34" charset="-122"/>
                <a:cs typeface="Arial" pitchFamily="34" charset="-120"/>
              </a:rPr>
              <a:t>docker rm [OPTIONS] CONTAINER</a:t>
            </a:r>
            <a:endParaRPr lang="en-US" sz="1200" dirty="0"/>
          </a:p>
        </p:txBody>
      </p:sp>
      <p:sp>
        <p:nvSpPr>
          <p:cNvPr id="44" name="Text 18"/>
          <p:cNvSpPr/>
          <p:nvPr/>
        </p:nvSpPr>
        <p:spPr>
          <a:xfrm>
            <a:off x="6324600" y="4267200"/>
            <a:ext cx="644652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Removes one or more containers</a:t>
            </a:r>
            <a:endParaRPr lang="en-US" sz="1200" dirty="0"/>
          </a:p>
        </p:txBody>
      </p:sp>
      <p:sp>
        <p:nvSpPr>
          <p:cNvPr id="45" name="Text 19"/>
          <p:cNvSpPr/>
          <p:nvPr/>
        </p:nvSpPr>
        <p:spPr>
          <a:xfrm>
            <a:off x="647700" y="4933950"/>
            <a:ext cx="11430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Arial" pitchFamily="34" charset="0"/>
                <a:ea typeface="Arial" pitchFamily="34" charset="-122"/>
                <a:cs typeface="Arial" pitchFamily="34" charset="-120"/>
              </a:rPr>
              <a:t> Common Options</a:t>
            </a:r>
            <a:endParaRPr lang="en-US" sz="1500" dirty="0"/>
          </a:p>
        </p:txBody>
      </p:sp>
      <p:sp>
        <p:nvSpPr>
          <p:cNvPr id="46" name="Text 20"/>
          <p:cNvSpPr/>
          <p:nvPr/>
        </p:nvSpPr>
        <p:spPr>
          <a:xfrm>
            <a:off x="533400" y="5314950"/>
            <a:ext cx="2388870" cy="3048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Arial" pitchFamily="34" charset="0"/>
                <a:ea typeface="Arial" pitchFamily="34" charset="-122"/>
                <a:cs typeface="Arial" pitchFamily="34" charset="-120"/>
              </a:rPr>
              <a:t>-d</a:t>
            </a:r>
            <a:r>
              <a:rPr lang="en-US" sz="1200" dirty="0">
                <a:solidFill>
                  <a:srgbClr val="374151"/>
                </a:solidFill>
                <a:latin typeface="Arial" pitchFamily="34" charset="0"/>
                <a:ea typeface="Arial" pitchFamily="34" charset="-122"/>
                <a:cs typeface="Arial" pitchFamily="34" charset="-120"/>
              </a:rPr>
              <a:t>: Run in detached mode</a:t>
            </a:r>
            <a:endParaRPr lang="en-US" sz="1200" dirty="0"/>
          </a:p>
        </p:txBody>
      </p:sp>
      <p:sp>
        <p:nvSpPr>
          <p:cNvPr id="47" name="Text 21"/>
          <p:cNvSpPr/>
          <p:nvPr/>
        </p:nvSpPr>
        <p:spPr>
          <a:xfrm>
            <a:off x="2600325" y="5314950"/>
            <a:ext cx="1605915" cy="3048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Arial" pitchFamily="34" charset="0"/>
                <a:ea typeface="Arial" pitchFamily="34" charset="-122"/>
                <a:cs typeface="Arial" pitchFamily="34" charset="-120"/>
              </a:rPr>
              <a:t>-p</a:t>
            </a:r>
            <a:r>
              <a:rPr lang="en-US" sz="1200" dirty="0">
                <a:solidFill>
                  <a:srgbClr val="374151"/>
                </a:solidFill>
                <a:latin typeface="Arial" pitchFamily="34" charset="0"/>
                <a:ea typeface="Arial" pitchFamily="34" charset="-122"/>
                <a:cs typeface="Arial" pitchFamily="34" charset="-120"/>
              </a:rPr>
              <a:t>: Publish ports</a:t>
            </a:r>
            <a:endParaRPr lang="en-US" sz="1200" dirty="0"/>
          </a:p>
        </p:txBody>
      </p:sp>
      <p:sp>
        <p:nvSpPr>
          <p:cNvPr id="48" name="Text 22"/>
          <p:cNvSpPr/>
          <p:nvPr/>
        </p:nvSpPr>
        <p:spPr>
          <a:xfrm>
            <a:off x="4014788" y="5314950"/>
            <a:ext cx="1778794" cy="3048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Arial" pitchFamily="34" charset="0"/>
                <a:ea typeface="Arial" pitchFamily="34" charset="-122"/>
                <a:cs typeface="Arial" pitchFamily="34" charset="-120"/>
              </a:rPr>
              <a:t>-v</a:t>
            </a:r>
            <a:r>
              <a:rPr lang="en-US" sz="1200" dirty="0">
                <a:solidFill>
                  <a:srgbClr val="374151"/>
                </a:solidFill>
                <a:latin typeface="Arial" pitchFamily="34" charset="0"/>
                <a:ea typeface="Arial" pitchFamily="34" charset="-122"/>
                <a:cs typeface="Arial" pitchFamily="34" charset="-120"/>
              </a:rPr>
              <a:t>: Mount volumes</a:t>
            </a:r>
            <a:endParaRPr lang="en-US" sz="1200" dirty="0"/>
          </a:p>
        </p:txBody>
      </p:sp>
      <p:sp>
        <p:nvSpPr>
          <p:cNvPr id="49" name="Text 23"/>
          <p:cNvSpPr/>
          <p:nvPr/>
        </p:nvSpPr>
        <p:spPr>
          <a:xfrm>
            <a:off x="5573316" y="5314950"/>
            <a:ext cx="2561392" cy="3048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Arial" pitchFamily="34" charset="0"/>
                <a:ea typeface="Arial" pitchFamily="34" charset="-122"/>
                <a:cs typeface="Arial" pitchFamily="34" charset="-120"/>
              </a:rPr>
              <a:t>--name</a:t>
            </a:r>
            <a:r>
              <a:rPr lang="en-US" sz="1200" dirty="0">
                <a:solidFill>
                  <a:srgbClr val="374151"/>
                </a:solidFill>
                <a:latin typeface="Arial" pitchFamily="34" charset="0"/>
                <a:ea typeface="Arial" pitchFamily="34" charset="-122"/>
                <a:cs typeface="Arial" pitchFamily="34" charset="-120"/>
              </a:rPr>
              <a:t>: Set container name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5"/>
          <a:stretch>
            <a:fillRect/>
          </a:stretch>
        </p:blipFill>
        <p:spPr>
          <a:xfrm>
            <a:off x="381000" y="1866900"/>
            <a:ext cx="3657600" cy="2324100"/>
          </a:xfrm>
          <a:prstGeom prst="rect">
            <a:avLst/>
          </a:prstGeom>
        </p:spPr>
      </p:pic>
      <p:pic>
        <p:nvPicPr>
          <p:cNvPr id="6" name="Image 4" descr="preencoded.png"/>
          <p:cNvPicPr>
            <a:picLocks noChangeAspect="1"/>
          </p:cNvPicPr>
          <p:nvPr/>
        </p:nvPicPr>
        <p:blipFill>
          <a:blip r:embed="rId6"/>
          <a:stretch>
            <a:fillRect/>
          </a:stretch>
        </p:blipFill>
        <p:spPr>
          <a:xfrm>
            <a:off x="571500" y="2057400"/>
            <a:ext cx="381000" cy="381000"/>
          </a:xfrm>
          <a:prstGeom prst="rect">
            <a:avLst/>
          </a:prstGeom>
        </p:spPr>
      </p:pic>
      <p:pic>
        <p:nvPicPr>
          <p:cNvPr id="7" name="Image 5" descr="preencoded.png"/>
          <p:cNvPicPr>
            <a:picLocks noChangeAspect="1"/>
          </p:cNvPicPr>
          <p:nvPr/>
        </p:nvPicPr>
        <p:blipFill>
          <a:blip r:embed="rId7"/>
          <a:stretch>
            <a:fillRect/>
          </a:stretch>
        </p:blipFill>
        <p:spPr>
          <a:xfrm>
            <a:off x="685800" y="2171700"/>
            <a:ext cx="152400" cy="152400"/>
          </a:xfrm>
          <a:prstGeom prst="rect">
            <a:avLst/>
          </a:prstGeom>
        </p:spPr>
      </p:pic>
      <p:pic>
        <p:nvPicPr>
          <p:cNvPr id="8" name="Image 6" descr="preencoded.png"/>
          <p:cNvPicPr>
            <a:picLocks noChangeAspect="1"/>
          </p:cNvPicPr>
          <p:nvPr/>
        </p:nvPicPr>
        <p:blipFill>
          <a:blip r:embed="rId8"/>
          <a:stretch>
            <a:fillRect/>
          </a:stretch>
        </p:blipFill>
        <p:spPr>
          <a:xfrm>
            <a:off x="571500" y="3114675"/>
            <a:ext cx="114300" cy="133350"/>
          </a:xfrm>
          <a:prstGeom prst="rect">
            <a:avLst/>
          </a:prstGeom>
        </p:spPr>
      </p:pic>
      <p:pic>
        <p:nvPicPr>
          <p:cNvPr id="9" name="Image 7" descr="preencoded.png"/>
          <p:cNvPicPr>
            <a:picLocks noChangeAspect="1"/>
          </p:cNvPicPr>
          <p:nvPr/>
        </p:nvPicPr>
        <p:blipFill>
          <a:blip r:embed="rId9"/>
          <a:stretch>
            <a:fillRect/>
          </a:stretch>
        </p:blipFill>
        <p:spPr>
          <a:xfrm>
            <a:off x="571500" y="3352800"/>
            <a:ext cx="3276600" cy="381000"/>
          </a:xfrm>
          <a:prstGeom prst="rect">
            <a:avLst/>
          </a:prstGeom>
        </p:spPr>
      </p:pic>
      <p:pic>
        <p:nvPicPr>
          <p:cNvPr id="10" name="Image 8" descr="preencoded.png"/>
          <p:cNvPicPr>
            <a:picLocks noChangeAspect="1"/>
          </p:cNvPicPr>
          <p:nvPr/>
        </p:nvPicPr>
        <p:blipFill>
          <a:blip r:embed="rId10"/>
          <a:stretch>
            <a:fillRect/>
          </a:stretch>
        </p:blipFill>
        <p:spPr>
          <a:xfrm>
            <a:off x="4267200" y="1866900"/>
            <a:ext cx="3657600" cy="2324100"/>
          </a:xfrm>
          <a:prstGeom prst="rect">
            <a:avLst/>
          </a:prstGeom>
        </p:spPr>
      </p:pic>
      <p:pic>
        <p:nvPicPr>
          <p:cNvPr id="11" name="Image 9" descr="preencoded.png"/>
          <p:cNvPicPr>
            <a:picLocks noChangeAspect="1"/>
          </p:cNvPicPr>
          <p:nvPr/>
        </p:nvPicPr>
        <p:blipFill>
          <a:blip r:embed="rId11"/>
          <a:stretch>
            <a:fillRect/>
          </a:stretch>
        </p:blipFill>
        <p:spPr>
          <a:xfrm>
            <a:off x="4457700" y="2057400"/>
            <a:ext cx="381000" cy="381000"/>
          </a:xfrm>
          <a:prstGeom prst="rect">
            <a:avLst/>
          </a:prstGeom>
        </p:spPr>
      </p:pic>
      <p:pic>
        <p:nvPicPr>
          <p:cNvPr id="12" name="Image 10" descr="preencoded.png"/>
          <p:cNvPicPr>
            <a:picLocks noChangeAspect="1"/>
          </p:cNvPicPr>
          <p:nvPr/>
        </p:nvPicPr>
        <p:blipFill>
          <a:blip r:embed="rId12"/>
          <a:stretch>
            <a:fillRect/>
          </a:stretch>
        </p:blipFill>
        <p:spPr>
          <a:xfrm>
            <a:off x="4552950" y="2171700"/>
            <a:ext cx="190500" cy="152400"/>
          </a:xfrm>
          <a:prstGeom prst="rect">
            <a:avLst/>
          </a:prstGeom>
        </p:spPr>
      </p:pic>
      <p:pic>
        <p:nvPicPr>
          <p:cNvPr id="13" name="Image 11" descr="preencoded.png"/>
          <p:cNvPicPr>
            <a:picLocks noChangeAspect="1"/>
          </p:cNvPicPr>
          <p:nvPr/>
        </p:nvPicPr>
        <p:blipFill>
          <a:blip r:embed="rId13"/>
          <a:stretch>
            <a:fillRect/>
          </a:stretch>
        </p:blipFill>
        <p:spPr>
          <a:xfrm>
            <a:off x="4457700" y="2886075"/>
            <a:ext cx="133350" cy="133350"/>
          </a:xfrm>
          <a:prstGeom prst="rect">
            <a:avLst/>
          </a:prstGeom>
        </p:spPr>
      </p:pic>
      <p:pic>
        <p:nvPicPr>
          <p:cNvPr id="14" name="Image 12" descr="preencoded.png"/>
          <p:cNvPicPr>
            <a:picLocks noChangeAspect="1"/>
          </p:cNvPicPr>
          <p:nvPr/>
        </p:nvPicPr>
        <p:blipFill>
          <a:blip r:embed="rId14"/>
          <a:stretch>
            <a:fillRect/>
          </a:stretch>
        </p:blipFill>
        <p:spPr>
          <a:xfrm>
            <a:off x="4457700" y="3305175"/>
            <a:ext cx="133350" cy="133350"/>
          </a:xfrm>
          <a:prstGeom prst="rect">
            <a:avLst/>
          </a:prstGeom>
        </p:spPr>
      </p:pic>
      <p:pic>
        <p:nvPicPr>
          <p:cNvPr id="15" name="Image 13" descr="preencoded.png"/>
          <p:cNvPicPr>
            <a:picLocks noChangeAspect="1"/>
          </p:cNvPicPr>
          <p:nvPr/>
        </p:nvPicPr>
        <p:blipFill>
          <a:blip r:embed="rId9"/>
          <a:stretch>
            <a:fillRect/>
          </a:stretch>
        </p:blipFill>
        <p:spPr>
          <a:xfrm>
            <a:off x="4457700" y="3543300"/>
            <a:ext cx="3276600" cy="381000"/>
          </a:xfrm>
          <a:prstGeom prst="rect">
            <a:avLst/>
          </a:prstGeom>
        </p:spPr>
      </p:pic>
      <p:pic>
        <p:nvPicPr>
          <p:cNvPr id="16" name="Image 14" descr="preencoded.png"/>
          <p:cNvPicPr>
            <a:picLocks noChangeAspect="1"/>
          </p:cNvPicPr>
          <p:nvPr/>
        </p:nvPicPr>
        <p:blipFill>
          <a:blip r:embed="rId10"/>
          <a:stretch>
            <a:fillRect/>
          </a:stretch>
        </p:blipFill>
        <p:spPr>
          <a:xfrm>
            <a:off x="8153400" y="1866900"/>
            <a:ext cx="3657600" cy="2324100"/>
          </a:xfrm>
          <a:prstGeom prst="rect">
            <a:avLst/>
          </a:prstGeom>
        </p:spPr>
      </p:pic>
      <p:pic>
        <p:nvPicPr>
          <p:cNvPr id="17" name="Image 15" descr="preencoded.png"/>
          <p:cNvPicPr>
            <a:picLocks noChangeAspect="1"/>
          </p:cNvPicPr>
          <p:nvPr/>
        </p:nvPicPr>
        <p:blipFill>
          <a:blip r:embed="rId11"/>
          <a:stretch>
            <a:fillRect/>
          </a:stretch>
        </p:blipFill>
        <p:spPr>
          <a:xfrm>
            <a:off x="8343900" y="2057400"/>
            <a:ext cx="381000" cy="381000"/>
          </a:xfrm>
          <a:prstGeom prst="rect">
            <a:avLst/>
          </a:prstGeom>
        </p:spPr>
      </p:pic>
      <p:pic>
        <p:nvPicPr>
          <p:cNvPr id="18" name="Image 16" descr="preencoded.png"/>
          <p:cNvPicPr>
            <a:picLocks noChangeAspect="1"/>
          </p:cNvPicPr>
          <p:nvPr/>
        </p:nvPicPr>
        <p:blipFill>
          <a:blip r:embed="rId15"/>
          <a:stretch>
            <a:fillRect/>
          </a:stretch>
        </p:blipFill>
        <p:spPr>
          <a:xfrm>
            <a:off x="8458200" y="2171700"/>
            <a:ext cx="152400" cy="152400"/>
          </a:xfrm>
          <a:prstGeom prst="rect">
            <a:avLst/>
          </a:prstGeom>
        </p:spPr>
      </p:pic>
      <p:pic>
        <p:nvPicPr>
          <p:cNvPr id="19" name="Image 17" descr="preencoded.png"/>
          <p:cNvPicPr>
            <a:picLocks noChangeAspect="1"/>
          </p:cNvPicPr>
          <p:nvPr/>
        </p:nvPicPr>
        <p:blipFill>
          <a:blip r:embed="rId9"/>
          <a:stretch>
            <a:fillRect/>
          </a:stretch>
        </p:blipFill>
        <p:spPr>
          <a:xfrm>
            <a:off x="8343900" y="3086100"/>
            <a:ext cx="3276600" cy="381000"/>
          </a:xfrm>
          <a:prstGeom prst="rect">
            <a:avLst/>
          </a:prstGeom>
        </p:spPr>
      </p:pic>
      <p:pic>
        <p:nvPicPr>
          <p:cNvPr id="20" name="Image 18" descr="preencoded.png"/>
          <p:cNvPicPr>
            <a:picLocks noChangeAspect="1"/>
          </p:cNvPicPr>
          <p:nvPr/>
        </p:nvPicPr>
        <p:blipFill>
          <a:blip r:embed="rId16"/>
          <a:stretch>
            <a:fillRect/>
          </a:stretch>
        </p:blipFill>
        <p:spPr>
          <a:xfrm>
            <a:off x="2121545" y="4495800"/>
            <a:ext cx="2042517" cy="381000"/>
          </a:xfrm>
          <a:prstGeom prst="rect">
            <a:avLst/>
          </a:prstGeom>
        </p:spPr>
      </p:pic>
      <p:pic>
        <p:nvPicPr>
          <p:cNvPr id="21" name="Image 19" descr="preencoded.png"/>
          <p:cNvPicPr>
            <a:picLocks noChangeAspect="1"/>
          </p:cNvPicPr>
          <p:nvPr/>
        </p:nvPicPr>
        <p:blipFill>
          <a:blip r:embed="rId17"/>
          <a:stretch>
            <a:fillRect/>
          </a:stretch>
        </p:blipFill>
        <p:spPr>
          <a:xfrm>
            <a:off x="4278362" y="4610100"/>
            <a:ext cx="133350" cy="152400"/>
          </a:xfrm>
          <a:prstGeom prst="rect">
            <a:avLst/>
          </a:prstGeom>
        </p:spPr>
      </p:pic>
      <p:pic>
        <p:nvPicPr>
          <p:cNvPr id="22" name="Image 20" descr="preencoded.png"/>
          <p:cNvPicPr>
            <a:picLocks noChangeAspect="1"/>
          </p:cNvPicPr>
          <p:nvPr/>
        </p:nvPicPr>
        <p:blipFill>
          <a:blip r:embed="rId18"/>
          <a:stretch>
            <a:fillRect/>
          </a:stretch>
        </p:blipFill>
        <p:spPr>
          <a:xfrm>
            <a:off x="4526012" y="4495800"/>
            <a:ext cx="2499717" cy="381000"/>
          </a:xfrm>
          <a:prstGeom prst="rect">
            <a:avLst/>
          </a:prstGeom>
        </p:spPr>
      </p:pic>
      <p:pic>
        <p:nvPicPr>
          <p:cNvPr id="23" name="Image 21" descr="preencoded.png"/>
          <p:cNvPicPr>
            <a:picLocks noChangeAspect="1"/>
          </p:cNvPicPr>
          <p:nvPr/>
        </p:nvPicPr>
        <p:blipFill>
          <a:blip r:embed="rId17"/>
          <a:stretch>
            <a:fillRect/>
          </a:stretch>
        </p:blipFill>
        <p:spPr>
          <a:xfrm>
            <a:off x="7140029" y="4610100"/>
            <a:ext cx="133350" cy="152400"/>
          </a:xfrm>
          <a:prstGeom prst="rect">
            <a:avLst/>
          </a:prstGeom>
        </p:spPr>
      </p:pic>
      <p:pic>
        <p:nvPicPr>
          <p:cNvPr id="24" name="Image 22" descr="preencoded.png"/>
          <p:cNvPicPr>
            <a:picLocks noChangeAspect="1"/>
          </p:cNvPicPr>
          <p:nvPr/>
        </p:nvPicPr>
        <p:blipFill>
          <a:blip r:embed="rId19"/>
          <a:stretch>
            <a:fillRect/>
          </a:stretch>
        </p:blipFill>
        <p:spPr>
          <a:xfrm>
            <a:off x="7387679" y="4495800"/>
            <a:ext cx="2682627" cy="381000"/>
          </a:xfrm>
          <a:prstGeom prst="rect">
            <a:avLst/>
          </a:prstGeom>
        </p:spPr>
      </p:pic>
      <p:sp>
        <p:nvSpPr>
          <p:cNvPr id="25" name="Text 0"/>
          <p:cNvSpPr/>
          <p:nvPr/>
        </p:nvSpPr>
        <p:spPr>
          <a:xfrm>
            <a:off x="381000" y="3810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Arial" pitchFamily="34" charset="0"/>
                <a:ea typeface="Arial" pitchFamily="34" charset="-122"/>
                <a:cs typeface="Arial" pitchFamily="34" charset="-120"/>
              </a:rPr>
              <a:t>Image Management: Acquiring &amp; Building</a:t>
            </a:r>
            <a:endParaRPr lang="en-US" sz="2700" dirty="0"/>
          </a:p>
        </p:txBody>
      </p:sp>
      <p:sp>
        <p:nvSpPr>
          <p:cNvPr id="26" name="Text 1"/>
          <p:cNvSpPr/>
          <p:nvPr/>
        </p:nvSpPr>
        <p:spPr>
          <a:xfrm>
            <a:off x="381000" y="1104900"/>
            <a:ext cx="114300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Arial" pitchFamily="34" charset="0"/>
                <a:ea typeface="Arial" pitchFamily="34" charset="-122"/>
                <a:cs typeface="Arial" pitchFamily="34" charset="-120"/>
              </a:rPr>
              <a:t>Docker images are the fundamental building blocks for containers. These commands help you obtain images from registries and create custom images for your applications.</a:t>
            </a:r>
            <a:endParaRPr lang="en-US" sz="1350" dirty="0"/>
          </a:p>
        </p:txBody>
      </p:sp>
      <p:sp>
        <p:nvSpPr>
          <p:cNvPr id="27" name="Text 2"/>
          <p:cNvSpPr/>
          <p:nvPr/>
        </p:nvSpPr>
        <p:spPr>
          <a:xfrm>
            <a:off x="1066800" y="2114550"/>
            <a:ext cx="1219617"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docker pull</a:t>
            </a:r>
            <a:endParaRPr lang="en-US" sz="1500" dirty="0"/>
          </a:p>
        </p:txBody>
      </p:sp>
      <p:sp>
        <p:nvSpPr>
          <p:cNvPr id="28" name="Text 3"/>
          <p:cNvSpPr/>
          <p:nvPr/>
        </p:nvSpPr>
        <p:spPr>
          <a:xfrm>
            <a:off x="571500" y="2552700"/>
            <a:ext cx="32766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Pulls an image from a Docker registry (e.g., Docker Hub) to your local machine.</a:t>
            </a:r>
            <a:endParaRPr lang="en-US" sz="1200" dirty="0"/>
          </a:p>
        </p:txBody>
      </p:sp>
      <p:sp>
        <p:nvSpPr>
          <p:cNvPr id="29" name="Text 4"/>
          <p:cNvSpPr/>
          <p:nvPr/>
        </p:nvSpPr>
        <p:spPr>
          <a:xfrm>
            <a:off x="723900" y="3086100"/>
            <a:ext cx="393192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Arial" pitchFamily="34" charset="0"/>
                <a:ea typeface="Arial" pitchFamily="34" charset="-122"/>
                <a:cs typeface="Arial" pitchFamily="34" charset="-120"/>
              </a:rPr>
              <a:t> If a tag is not specified, it defaults to </a:t>
            </a:r>
            <a:r>
              <a:rPr lang="en-US" sz="1050" b="1" dirty="0">
                <a:solidFill>
                  <a:srgbClr val="6B7280"/>
                </a:solidFill>
                <a:latin typeface="Arial" pitchFamily="34" charset="0"/>
                <a:ea typeface="Arial" pitchFamily="34" charset="-122"/>
                <a:cs typeface="Arial" pitchFamily="34" charset="-120"/>
              </a:rPr>
              <a:t>latest</a:t>
            </a:r>
            <a:r>
              <a:rPr lang="en-US" sz="1050" dirty="0">
                <a:solidFill>
                  <a:srgbClr val="6B7280"/>
                </a:solidFill>
                <a:latin typeface="Arial" pitchFamily="34" charset="0"/>
                <a:ea typeface="Arial" pitchFamily="34" charset="-122"/>
                <a:cs typeface="Arial" pitchFamily="34" charset="-120"/>
              </a:rPr>
              <a:t>.</a:t>
            </a:r>
            <a:endParaRPr lang="en-US" sz="1050" dirty="0"/>
          </a:p>
        </p:txBody>
      </p:sp>
      <p:sp>
        <p:nvSpPr>
          <p:cNvPr id="30" name="Text 5"/>
          <p:cNvSpPr/>
          <p:nvPr/>
        </p:nvSpPr>
        <p:spPr>
          <a:xfrm>
            <a:off x="685800" y="3352800"/>
            <a:ext cx="3931920" cy="381000"/>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docker pull ubuntu:latest</a:t>
            </a:r>
            <a:endParaRPr lang="en-US" sz="1200" dirty="0"/>
          </a:p>
        </p:txBody>
      </p:sp>
      <p:sp>
        <p:nvSpPr>
          <p:cNvPr id="31" name="Text 6"/>
          <p:cNvSpPr/>
          <p:nvPr/>
        </p:nvSpPr>
        <p:spPr>
          <a:xfrm>
            <a:off x="4953000" y="2114550"/>
            <a:ext cx="1359098"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docker build</a:t>
            </a:r>
            <a:endParaRPr lang="en-US" sz="1500" dirty="0"/>
          </a:p>
        </p:txBody>
      </p:sp>
      <p:sp>
        <p:nvSpPr>
          <p:cNvPr id="32" name="Text 7"/>
          <p:cNvSpPr/>
          <p:nvPr/>
        </p:nvSpPr>
        <p:spPr>
          <a:xfrm>
            <a:off x="4457700" y="2552700"/>
            <a:ext cx="393192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Builds a new Docker image from a Dockerfile.</a:t>
            </a:r>
            <a:endParaRPr lang="en-US" sz="1200" dirty="0"/>
          </a:p>
        </p:txBody>
      </p:sp>
      <p:sp>
        <p:nvSpPr>
          <p:cNvPr id="33" name="Text 8"/>
          <p:cNvSpPr/>
          <p:nvPr/>
        </p:nvSpPr>
        <p:spPr>
          <a:xfrm>
            <a:off x="4629150" y="2857500"/>
            <a:ext cx="3276600" cy="3810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Arial" pitchFamily="34" charset="0"/>
                <a:ea typeface="Arial" pitchFamily="34" charset="-122"/>
                <a:cs typeface="Arial" pitchFamily="34" charset="-120"/>
              </a:rPr>
              <a:t> The </a:t>
            </a:r>
            <a:r>
              <a:rPr lang="en-US" sz="1050" b="1" dirty="0">
                <a:solidFill>
                  <a:srgbClr val="6B7280"/>
                </a:solidFill>
                <a:latin typeface="Arial" pitchFamily="34" charset="0"/>
                <a:ea typeface="Arial" pitchFamily="34" charset="-122"/>
                <a:cs typeface="Arial" pitchFamily="34" charset="-120"/>
              </a:rPr>
              <a:t>-t</a:t>
            </a:r>
            <a:r>
              <a:rPr lang="en-US" sz="1050" dirty="0">
                <a:solidFill>
                  <a:srgbClr val="6B7280"/>
                </a:solidFill>
                <a:latin typeface="Arial" pitchFamily="34" charset="0"/>
                <a:ea typeface="Arial" pitchFamily="34" charset="-122"/>
                <a:cs typeface="Arial" pitchFamily="34" charset="-120"/>
              </a:rPr>
              <a:t> flag tags the image with a name and optional tag.</a:t>
            </a:r>
            <a:endParaRPr lang="en-US" sz="1050" dirty="0"/>
          </a:p>
        </p:txBody>
      </p:sp>
      <p:sp>
        <p:nvSpPr>
          <p:cNvPr id="34" name="Text 9"/>
          <p:cNvSpPr/>
          <p:nvPr/>
        </p:nvSpPr>
        <p:spPr>
          <a:xfrm>
            <a:off x="4629150" y="3276600"/>
            <a:ext cx="393192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Arial" pitchFamily="34" charset="0"/>
                <a:ea typeface="Arial" pitchFamily="34" charset="-122"/>
                <a:cs typeface="Arial" pitchFamily="34" charset="-120"/>
              </a:rPr>
              <a:t> The </a:t>
            </a:r>
            <a:r>
              <a:rPr lang="en-US" sz="1050" b="1" dirty="0">
                <a:solidFill>
                  <a:srgbClr val="6B7280"/>
                </a:solidFill>
                <a:latin typeface="Arial" pitchFamily="34" charset="0"/>
                <a:ea typeface="Arial" pitchFamily="34" charset="-122"/>
                <a:cs typeface="Arial" pitchFamily="34" charset="-120"/>
              </a:rPr>
              <a:t>.</a:t>
            </a:r>
            <a:r>
              <a:rPr lang="en-US" sz="1050" dirty="0">
                <a:solidFill>
                  <a:srgbClr val="6B7280"/>
                </a:solidFill>
                <a:latin typeface="Arial" pitchFamily="34" charset="0"/>
                <a:ea typeface="Arial" pitchFamily="34" charset="-122"/>
                <a:cs typeface="Arial" pitchFamily="34" charset="-120"/>
              </a:rPr>
              <a:t> indicates the build context (current directory).</a:t>
            </a:r>
            <a:endParaRPr lang="en-US" sz="1050" dirty="0"/>
          </a:p>
        </p:txBody>
      </p:sp>
      <p:sp>
        <p:nvSpPr>
          <p:cNvPr id="35" name="Text 10"/>
          <p:cNvSpPr/>
          <p:nvPr/>
        </p:nvSpPr>
        <p:spPr>
          <a:xfrm>
            <a:off x="4572000" y="3543300"/>
            <a:ext cx="3931920" cy="381000"/>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docker build -t my-app:1.0 .</a:t>
            </a:r>
            <a:endParaRPr lang="en-US" sz="1200" dirty="0"/>
          </a:p>
        </p:txBody>
      </p:sp>
      <p:sp>
        <p:nvSpPr>
          <p:cNvPr id="36" name="Text 11"/>
          <p:cNvSpPr/>
          <p:nvPr/>
        </p:nvSpPr>
        <p:spPr>
          <a:xfrm>
            <a:off x="8839200" y="2114550"/>
            <a:ext cx="1550372"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docker search</a:t>
            </a:r>
            <a:endParaRPr lang="en-US" sz="1500" dirty="0"/>
          </a:p>
        </p:txBody>
      </p:sp>
      <p:sp>
        <p:nvSpPr>
          <p:cNvPr id="37" name="Text 12"/>
          <p:cNvSpPr/>
          <p:nvPr/>
        </p:nvSpPr>
        <p:spPr>
          <a:xfrm>
            <a:off x="8343900" y="2552700"/>
            <a:ext cx="32766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Searches for images on Docker Hub or other configured registries.</a:t>
            </a:r>
            <a:endParaRPr lang="en-US" sz="1200" dirty="0"/>
          </a:p>
        </p:txBody>
      </p:sp>
      <p:sp>
        <p:nvSpPr>
          <p:cNvPr id="38" name="Text 13"/>
          <p:cNvSpPr/>
          <p:nvPr/>
        </p:nvSpPr>
        <p:spPr>
          <a:xfrm>
            <a:off x="8458200" y="3086100"/>
            <a:ext cx="3931920" cy="381000"/>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docker search nginx</a:t>
            </a:r>
            <a:endParaRPr lang="en-US" sz="1200" dirty="0"/>
          </a:p>
        </p:txBody>
      </p:sp>
      <p:sp>
        <p:nvSpPr>
          <p:cNvPr id="39" name="Text 14"/>
          <p:cNvSpPr/>
          <p:nvPr/>
        </p:nvSpPr>
        <p:spPr>
          <a:xfrm>
            <a:off x="2273945" y="4600575"/>
            <a:ext cx="2085261" cy="17145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monospace" pitchFamily="34" charset="0"/>
                <a:ea typeface="ui-monospace" pitchFamily="34" charset="-122"/>
                <a:cs typeface="ui-monospace" pitchFamily="34" charset="-120"/>
              </a:rPr>
              <a:t>docker search nginx</a:t>
            </a:r>
            <a:endParaRPr lang="en-US" sz="1200" dirty="0"/>
          </a:p>
        </p:txBody>
      </p:sp>
      <p:sp>
        <p:nvSpPr>
          <p:cNvPr id="40" name="Text 15"/>
          <p:cNvSpPr/>
          <p:nvPr/>
        </p:nvSpPr>
        <p:spPr>
          <a:xfrm>
            <a:off x="4678412" y="4600575"/>
            <a:ext cx="2633901" cy="17145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monospace" pitchFamily="34" charset="0"/>
                <a:ea typeface="ui-monospace" pitchFamily="34" charset="-122"/>
                <a:cs typeface="ui-monospace" pitchFamily="34" charset="-120"/>
              </a:rPr>
              <a:t>docker pull nginx:latest</a:t>
            </a:r>
            <a:endParaRPr lang="en-US" sz="1200" dirty="0"/>
          </a:p>
        </p:txBody>
      </p:sp>
      <p:sp>
        <p:nvSpPr>
          <p:cNvPr id="41" name="Text 16"/>
          <p:cNvSpPr/>
          <p:nvPr/>
        </p:nvSpPr>
        <p:spPr>
          <a:xfrm>
            <a:off x="7540079" y="4600575"/>
            <a:ext cx="2853392" cy="17145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monospace" pitchFamily="34" charset="0"/>
                <a:ea typeface="ui-monospace" pitchFamily="34" charset="-122"/>
                <a:cs typeface="ui-monospace" pitchFamily="34" charset="-120"/>
              </a:rPr>
              <a:t>docker build -t my-nginx .</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5"/>
          <a:stretch>
            <a:fillRect/>
          </a:stretch>
        </p:blipFill>
        <p:spPr>
          <a:xfrm>
            <a:off x="381000" y="1181100"/>
            <a:ext cx="5562600" cy="4114800"/>
          </a:xfrm>
          <a:prstGeom prst="rect">
            <a:avLst/>
          </a:prstGeom>
        </p:spPr>
      </p:pic>
      <p:pic>
        <p:nvPicPr>
          <p:cNvPr id="6" name="Image 4" descr="preencoded.png"/>
          <p:cNvPicPr>
            <a:picLocks noChangeAspect="1"/>
          </p:cNvPicPr>
          <p:nvPr/>
        </p:nvPicPr>
        <p:blipFill>
          <a:blip r:embed="rId6"/>
          <a:stretch>
            <a:fillRect/>
          </a:stretch>
        </p:blipFill>
        <p:spPr>
          <a:xfrm>
            <a:off x="609600" y="1419225"/>
            <a:ext cx="285750" cy="285750"/>
          </a:xfrm>
          <a:prstGeom prst="rect">
            <a:avLst/>
          </a:prstGeom>
        </p:spPr>
      </p:pic>
      <p:pic>
        <p:nvPicPr>
          <p:cNvPr id="7" name="Image 5" descr="preencoded.png"/>
          <p:cNvPicPr>
            <a:picLocks noChangeAspect="1"/>
          </p:cNvPicPr>
          <p:nvPr/>
        </p:nvPicPr>
        <p:blipFill>
          <a:blip r:embed="rId7"/>
          <a:stretch>
            <a:fillRect/>
          </a:stretch>
        </p:blipFill>
        <p:spPr>
          <a:xfrm>
            <a:off x="609600" y="2514600"/>
            <a:ext cx="5105400" cy="533400"/>
          </a:xfrm>
          <a:prstGeom prst="rect">
            <a:avLst/>
          </a:prstGeom>
        </p:spPr>
      </p:pic>
      <p:pic>
        <p:nvPicPr>
          <p:cNvPr id="8" name="Image 6" descr="preencoded.png"/>
          <p:cNvPicPr>
            <a:picLocks noChangeAspect="1"/>
          </p:cNvPicPr>
          <p:nvPr/>
        </p:nvPicPr>
        <p:blipFill>
          <a:blip r:embed="rId8"/>
          <a:stretch>
            <a:fillRect/>
          </a:stretch>
        </p:blipFill>
        <p:spPr>
          <a:xfrm>
            <a:off x="609600" y="3200400"/>
            <a:ext cx="5105400" cy="1181100"/>
          </a:xfrm>
          <a:prstGeom prst="rect">
            <a:avLst/>
          </a:prstGeom>
        </p:spPr>
      </p:pic>
      <p:pic>
        <p:nvPicPr>
          <p:cNvPr id="9" name="Image 7" descr="preencoded.png"/>
          <p:cNvPicPr>
            <a:picLocks noChangeAspect="1"/>
          </p:cNvPicPr>
          <p:nvPr/>
        </p:nvPicPr>
        <p:blipFill>
          <a:blip r:embed="rId5"/>
          <a:stretch>
            <a:fillRect/>
          </a:stretch>
        </p:blipFill>
        <p:spPr>
          <a:xfrm>
            <a:off x="6248400" y="1181100"/>
            <a:ext cx="5562600" cy="4114800"/>
          </a:xfrm>
          <a:prstGeom prst="rect">
            <a:avLst/>
          </a:prstGeom>
        </p:spPr>
      </p:pic>
      <p:pic>
        <p:nvPicPr>
          <p:cNvPr id="10" name="Image 8" descr="preencoded.png"/>
          <p:cNvPicPr>
            <a:picLocks noChangeAspect="1"/>
          </p:cNvPicPr>
          <p:nvPr/>
        </p:nvPicPr>
        <p:blipFill>
          <a:blip r:embed="rId9"/>
          <a:stretch>
            <a:fillRect/>
          </a:stretch>
        </p:blipFill>
        <p:spPr>
          <a:xfrm>
            <a:off x="6477000" y="1419225"/>
            <a:ext cx="247650" cy="285750"/>
          </a:xfrm>
          <a:prstGeom prst="rect">
            <a:avLst/>
          </a:prstGeom>
        </p:spPr>
      </p:pic>
      <p:pic>
        <p:nvPicPr>
          <p:cNvPr id="11" name="Image 9" descr="preencoded.png"/>
          <p:cNvPicPr>
            <a:picLocks noChangeAspect="1"/>
          </p:cNvPicPr>
          <p:nvPr/>
        </p:nvPicPr>
        <p:blipFill>
          <a:blip r:embed="rId7"/>
          <a:stretch>
            <a:fillRect/>
          </a:stretch>
        </p:blipFill>
        <p:spPr>
          <a:xfrm>
            <a:off x="6477000" y="2286000"/>
            <a:ext cx="5105400" cy="533400"/>
          </a:xfrm>
          <a:prstGeom prst="rect">
            <a:avLst/>
          </a:prstGeom>
        </p:spPr>
      </p:pic>
      <p:pic>
        <p:nvPicPr>
          <p:cNvPr id="12" name="Image 10" descr="preencoded.png"/>
          <p:cNvPicPr>
            <a:picLocks noChangeAspect="1"/>
          </p:cNvPicPr>
          <p:nvPr/>
        </p:nvPicPr>
        <p:blipFill>
          <a:blip r:embed="rId10"/>
          <a:stretch>
            <a:fillRect/>
          </a:stretch>
        </p:blipFill>
        <p:spPr>
          <a:xfrm>
            <a:off x="6477000" y="2971800"/>
            <a:ext cx="5105400" cy="1066800"/>
          </a:xfrm>
          <a:prstGeom prst="rect">
            <a:avLst/>
          </a:prstGeom>
        </p:spPr>
      </p:pic>
      <p:pic>
        <p:nvPicPr>
          <p:cNvPr id="13" name="Image 11" descr="preencoded.png"/>
          <p:cNvPicPr>
            <a:picLocks noChangeAspect="1"/>
          </p:cNvPicPr>
          <p:nvPr/>
        </p:nvPicPr>
        <p:blipFill>
          <a:blip r:embed="rId11"/>
          <a:stretch>
            <a:fillRect/>
          </a:stretch>
        </p:blipFill>
        <p:spPr>
          <a:xfrm>
            <a:off x="6477000" y="4191000"/>
            <a:ext cx="5105400" cy="876300"/>
          </a:xfrm>
          <a:prstGeom prst="rect">
            <a:avLst/>
          </a:prstGeom>
        </p:spPr>
      </p:pic>
      <p:pic>
        <p:nvPicPr>
          <p:cNvPr id="14" name="Image 12" descr="preencoded.png"/>
          <p:cNvPicPr>
            <a:picLocks noChangeAspect="1"/>
          </p:cNvPicPr>
          <p:nvPr/>
        </p:nvPicPr>
        <p:blipFill>
          <a:blip r:embed="rId12"/>
          <a:stretch>
            <a:fillRect/>
          </a:stretch>
        </p:blipFill>
        <p:spPr>
          <a:xfrm>
            <a:off x="6591300" y="4324350"/>
            <a:ext cx="114300" cy="152400"/>
          </a:xfrm>
          <a:prstGeom prst="rect">
            <a:avLst/>
          </a:prstGeom>
        </p:spPr>
      </p:pic>
      <p:sp>
        <p:nvSpPr>
          <p:cNvPr id="15" name="Text 0"/>
          <p:cNvSpPr/>
          <p:nvPr/>
        </p:nvSpPr>
        <p:spPr>
          <a:xfrm>
            <a:off x="381000" y="3810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Arial" pitchFamily="34" charset="0"/>
                <a:ea typeface="Arial" pitchFamily="34" charset="-122"/>
                <a:cs typeface="Arial" pitchFamily="34" charset="-120"/>
              </a:rPr>
              <a:t>Image Management: Listing &amp; Removing</a:t>
            </a:r>
            <a:endParaRPr lang="en-US" sz="2700" dirty="0"/>
          </a:p>
        </p:txBody>
      </p:sp>
      <p:sp>
        <p:nvSpPr>
          <p:cNvPr id="16" name="Text 1"/>
          <p:cNvSpPr/>
          <p:nvPr/>
        </p:nvSpPr>
        <p:spPr>
          <a:xfrm>
            <a:off x="1009650" y="1428750"/>
            <a:ext cx="1921312"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Arial" pitchFamily="34" charset="0"/>
                <a:ea typeface="Arial" pitchFamily="34" charset="-122"/>
                <a:cs typeface="Arial" pitchFamily="34" charset="-120"/>
              </a:rPr>
              <a:t>docker images</a:t>
            </a:r>
            <a:endParaRPr lang="en-US" sz="1800" dirty="0"/>
          </a:p>
        </p:txBody>
      </p:sp>
      <p:sp>
        <p:nvSpPr>
          <p:cNvPr id="17" name="Text 2"/>
          <p:cNvSpPr/>
          <p:nvPr/>
        </p:nvSpPr>
        <p:spPr>
          <a:xfrm>
            <a:off x="609600" y="1905000"/>
            <a:ext cx="5105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Lists all Docker images available on the local host, showing repository, tag, image ID, creation date, and size.</a:t>
            </a:r>
            <a:endParaRPr lang="en-US" sz="1200" dirty="0"/>
          </a:p>
        </p:txBody>
      </p:sp>
      <p:sp>
        <p:nvSpPr>
          <p:cNvPr id="18" name="Text 3"/>
          <p:cNvSpPr/>
          <p:nvPr/>
        </p:nvSpPr>
        <p:spPr>
          <a:xfrm>
            <a:off x="762000" y="2667000"/>
            <a:ext cx="4800600" cy="228600"/>
          </a:xfrm>
          <a:prstGeom prst="rect">
            <a:avLst/>
          </a:prstGeom>
          <a:noFill/>
          <a:ln/>
        </p:spPr>
        <p:txBody>
          <a:bodyPr vert="horz" wrap="square" lIns="0" tIns="0" rIns="0" bIns="0" rtlCol="0" anchor="t"/>
          <a:lstStyle/>
          <a:p>
            <a:pPr marL="0" indent="0">
              <a:lnSpc>
                <a:spcPts val="1800"/>
              </a:lnSpc>
              <a:buNone/>
            </a:pPr>
            <a:r>
              <a:rPr lang="en-US" sz="1200" dirty="0">
                <a:solidFill>
                  <a:srgbClr val="0DB7ED"/>
                </a:solidFill>
                <a:latin typeface="Consolas" pitchFamily="34" charset="0"/>
                <a:ea typeface="Consolas" pitchFamily="34" charset="-122"/>
                <a:cs typeface="Consolas" pitchFamily="34" charset="-120"/>
              </a:rPr>
              <a:t>$</a:t>
            </a:r>
            <a:r>
              <a:rPr lang="en-US" sz="1200" dirty="0">
                <a:solidFill>
                  <a:srgbClr val="FFFFFF"/>
                </a:solidFill>
                <a:latin typeface="Consolas" pitchFamily="34" charset="0"/>
                <a:ea typeface="Consolas" pitchFamily="34" charset="-122"/>
                <a:cs typeface="Consolas" pitchFamily="34" charset="-120"/>
              </a:rPr>
              <a:t> docker images</a:t>
            </a:r>
            <a:endParaRPr lang="en-US" sz="1200" dirty="0"/>
          </a:p>
        </p:txBody>
      </p:sp>
      <p:sp>
        <p:nvSpPr>
          <p:cNvPr id="19" name="Text 4"/>
          <p:cNvSpPr/>
          <p:nvPr/>
        </p:nvSpPr>
        <p:spPr>
          <a:xfrm>
            <a:off x="762000" y="3352800"/>
            <a:ext cx="4800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Arial" pitchFamily="34" charset="0"/>
                <a:ea typeface="Arial" pitchFamily="34" charset="-122"/>
                <a:cs typeface="Arial" pitchFamily="34" charset="-120"/>
              </a:rPr>
              <a:t>Example Output:</a:t>
            </a:r>
            <a:endParaRPr lang="en-US" sz="1200" dirty="0"/>
          </a:p>
        </p:txBody>
      </p:sp>
      <p:sp>
        <p:nvSpPr>
          <p:cNvPr id="20" name="Text 5"/>
          <p:cNvSpPr/>
          <p:nvPr/>
        </p:nvSpPr>
        <p:spPr>
          <a:xfrm>
            <a:off x="762000" y="3657600"/>
            <a:ext cx="576072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monospace" pitchFamily="34" charset="0"/>
                <a:ea typeface="ui-monospace" pitchFamily="34" charset="-122"/>
                <a:cs typeface="ui-monospace" pitchFamily="34" charset="-120"/>
              </a:rPr>
              <a:t>REPOSITORY TAG IMAGE ID CREATED SIZE</a:t>
            </a:r>
            <a:endParaRPr lang="en-US" sz="1050" dirty="0"/>
          </a:p>
        </p:txBody>
      </p:sp>
      <p:sp>
        <p:nvSpPr>
          <p:cNvPr id="21" name="Text 6"/>
          <p:cNvSpPr/>
          <p:nvPr/>
        </p:nvSpPr>
        <p:spPr>
          <a:xfrm>
            <a:off x="762000" y="3848100"/>
            <a:ext cx="576072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monospace" pitchFamily="34" charset="0"/>
                <a:ea typeface="ui-monospace" pitchFamily="34" charset="-122"/>
                <a:cs typeface="ui-monospace" pitchFamily="34" charset="-120"/>
              </a:rPr>
              <a:t>ubuntu latest 1d1c7b3b2f7a 2 weeks ago 123MB</a:t>
            </a:r>
            <a:endParaRPr lang="en-US" sz="1050" dirty="0"/>
          </a:p>
        </p:txBody>
      </p:sp>
      <p:sp>
        <p:nvSpPr>
          <p:cNvPr id="22" name="Text 7"/>
          <p:cNvSpPr/>
          <p:nvPr/>
        </p:nvSpPr>
        <p:spPr>
          <a:xfrm>
            <a:off x="762000" y="4038600"/>
            <a:ext cx="576072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monospace" pitchFamily="34" charset="0"/>
                <a:ea typeface="ui-monospace" pitchFamily="34" charset="-122"/>
                <a:cs typeface="ui-monospace" pitchFamily="34" charset="-120"/>
              </a:rPr>
              <a:t>my-app 1.0 a1b2c3d4e5f6 1 day ago 256MB</a:t>
            </a:r>
            <a:endParaRPr lang="en-US" sz="1050" dirty="0"/>
          </a:p>
        </p:txBody>
      </p:sp>
      <p:sp>
        <p:nvSpPr>
          <p:cNvPr id="23" name="Text 8"/>
          <p:cNvSpPr/>
          <p:nvPr/>
        </p:nvSpPr>
        <p:spPr>
          <a:xfrm>
            <a:off x="6838950" y="1428750"/>
            <a:ext cx="1402675"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Arial" pitchFamily="34" charset="0"/>
                <a:ea typeface="Arial" pitchFamily="34" charset="-122"/>
                <a:cs typeface="Arial" pitchFamily="34" charset="-120"/>
              </a:rPr>
              <a:t>docker rmi</a:t>
            </a:r>
            <a:endParaRPr lang="en-US" sz="1800" dirty="0"/>
          </a:p>
        </p:txBody>
      </p:sp>
      <p:sp>
        <p:nvSpPr>
          <p:cNvPr id="24" name="Text 9"/>
          <p:cNvSpPr/>
          <p:nvPr/>
        </p:nvSpPr>
        <p:spPr>
          <a:xfrm>
            <a:off x="6477000" y="1905000"/>
            <a:ext cx="612648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Removes one or more Docker images from the local system.</a:t>
            </a:r>
            <a:endParaRPr lang="en-US" sz="1200" dirty="0"/>
          </a:p>
        </p:txBody>
      </p:sp>
      <p:sp>
        <p:nvSpPr>
          <p:cNvPr id="25" name="Text 10"/>
          <p:cNvSpPr/>
          <p:nvPr/>
        </p:nvSpPr>
        <p:spPr>
          <a:xfrm>
            <a:off x="6629400" y="2438400"/>
            <a:ext cx="4800600" cy="228600"/>
          </a:xfrm>
          <a:prstGeom prst="rect">
            <a:avLst/>
          </a:prstGeom>
          <a:noFill/>
          <a:ln/>
        </p:spPr>
        <p:txBody>
          <a:bodyPr vert="horz" wrap="square" lIns="0" tIns="0" rIns="0" bIns="0" rtlCol="0" anchor="t"/>
          <a:lstStyle/>
          <a:p>
            <a:pPr marL="0" indent="0">
              <a:lnSpc>
                <a:spcPts val="1800"/>
              </a:lnSpc>
              <a:buNone/>
            </a:pPr>
            <a:r>
              <a:rPr lang="en-US" sz="1200" dirty="0">
                <a:solidFill>
                  <a:srgbClr val="0DB7ED"/>
                </a:solidFill>
                <a:latin typeface="Consolas" pitchFamily="34" charset="0"/>
                <a:ea typeface="Consolas" pitchFamily="34" charset="-122"/>
                <a:cs typeface="Consolas" pitchFamily="34" charset="-120"/>
              </a:rPr>
              <a:t>$</a:t>
            </a:r>
            <a:r>
              <a:rPr lang="en-US" sz="1200" dirty="0">
                <a:solidFill>
                  <a:srgbClr val="FFFFFF"/>
                </a:solidFill>
                <a:latin typeface="Consolas" pitchFamily="34" charset="0"/>
                <a:ea typeface="Consolas" pitchFamily="34" charset="-122"/>
                <a:cs typeface="Consolas" pitchFamily="34" charset="-120"/>
              </a:rPr>
              <a:t> docker rmi &lt;image_name&gt;</a:t>
            </a:r>
            <a:endParaRPr lang="en-US" sz="1200" dirty="0"/>
          </a:p>
        </p:txBody>
      </p:sp>
      <p:sp>
        <p:nvSpPr>
          <p:cNvPr id="26" name="Text 11"/>
          <p:cNvSpPr/>
          <p:nvPr/>
        </p:nvSpPr>
        <p:spPr>
          <a:xfrm>
            <a:off x="6629400" y="3124200"/>
            <a:ext cx="4800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Arial" pitchFamily="34" charset="0"/>
                <a:ea typeface="Arial" pitchFamily="34" charset="-122"/>
                <a:cs typeface="Arial" pitchFamily="34" charset="-120"/>
              </a:rPr>
              <a:t>Example:</a:t>
            </a:r>
            <a:endParaRPr lang="en-US" sz="1200" dirty="0"/>
          </a:p>
        </p:txBody>
      </p:sp>
      <p:sp>
        <p:nvSpPr>
          <p:cNvPr id="27" name="Text 12"/>
          <p:cNvSpPr/>
          <p:nvPr/>
        </p:nvSpPr>
        <p:spPr>
          <a:xfrm>
            <a:off x="6629400" y="3429000"/>
            <a:ext cx="480060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monospace" pitchFamily="34" charset="0"/>
                <a:ea typeface="ui-monospace" pitchFamily="34" charset="-122"/>
                <a:cs typeface="ui-monospace" pitchFamily="34" charset="-120"/>
              </a:rPr>
              <a:t>$ docker rmi my-app:1.0</a:t>
            </a:r>
            <a:endParaRPr lang="en-US" sz="1050" dirty="0"/>
          </a:p>
        </p:txBody>
      </p:sp>
      <p:sp>
        <p:nvSpPr>
          <p:cNvPr id="28" name="Text 13"/>
          <p:cNvSpPr/>
          <p:nvPr/>
        </p:nvSpPr>
        <p:spPr>
          <a:xfrm>
            <a:off x="6629400" y="3695700"/>
            <a:ext cx="480060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monospace" pitchFamily="34" charset="0"/>
                <a:ea typeface="ui-monospace" pitchFamily="34" charset="-122"/>
                <a:cs typeface="ui-monospace" pitchFamily="34" charset="-120"/>
              </a:rPr>
              <a:t>Deleted: my-app:1.0</a:t>
            </a:r>
            <a:endParaRPr lang="en-US" sz="1050" dirty="0"/>
          </a:p>
        </p:txBody>
      </p:sp>
      <p:sp>
        <p:nvSpPr>
          <p:cNvPr id="29" name="Text 14"/>
          <p:cNvSpPr/>
          <p:nvPr/>
        </p:nvSpPr>
        <p:spPr>
          <a:xfrm>
            <a:off x="6781800" y="4305300"/>
            <a:ext cx="687586"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Arial" pitchFamily="34" charset="0"/>
                <a:ea typeface="Arial" pitchFamily="34" charset="-122"/>
                <a:cs typeface="Arial" pitchFamily="34" charset="-120"/>
              </a:rPr>
              <a:t>Pro Tip:</a:t>
            </a:r>
            <a:endParaRPr lang="en-US" sz="1200" dirty="0"/>
          </a:p>
        </p:txBody>
      </p:sp>
      <p:sp>
        <p:nvSpPr>
          <p:cNvPr id="30" name="Text 15"/>
          <p:cNvSpPr/>
          <p:nvPr/>
        </p:nvSpPr>
        <p:spPr>
          <a:xfrm>
            <a:off x="6591300" y="4572000"/>
            <a:ext cx="4876800" cy="3810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Arial" pitchFamily="34" charset="0"/>
                <a:ea typeface="Arial" pitchFamily="34" charset="-122"/>
                <a:cs typeface="Arial" pitchFamily="34" charset="-120"/>
              </a:rPr>
              <a:t>Use `docker image prune` to remove all unused (dangling) images and free up disk space.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5"/>
          <a:stretch>
            <a:fillRect/>
          </a:stretch>
        </p:blipFill>
        <p:spPr>
          <a:xfrm>
            <a:off x="381000" y="1600200"/>
            <a:ext cx="5600700" cy="1885950"/>
          </a:xfrm>
          <a:prstGeom prst="rect">
            <a:avLst/>
          </a:prstGeom>
        </p:spPr>
      </p:pic>
      <p:pic>
        <p:nvPicPr>
          <p:cNvPr id="6" name="Image 4" descr="preencoded.png"/>
          <p:cNvPicPr>
            <a:picLocks noChangeAspect="1"/>
          </p:cNvPicPr>
          <p:nvPr/>
        </p:nvPicPr>
        <p:blipFill>
          <a:blip r:embed="rId6"/>
          <a:stretch>
            <a:fillRect/>
          </a:stretch>
        </p:blipFill>
        <p:spPr>
          <a:xfrm>
            <a:off x="523875" y="1752600"/>
            <a:ext cx="361950" cy="285750"/>
          </a:xfrm>
          <a:prstGeom prst="rect">
            <a:avLst/>
          </a:prstGeom>
        </p:spPr>
      </p:pic>
      <p:pic>
        <p:nvPicPr>
          <p:cNvPr id="7" name="Image 5" descr="preencoded.png"/>
          <p:cNvPicPr>
            <a:picLocks noChangeAspect="1"/>
          </p:cNvPicPr>
          <p:nvPr/>
        </p:nvPicPr>
        <p:blipFill>
          <a:blip r:embed="rId7"/>
          <a:stretch>
            <a:fillRect/>
          </a:stretch>
        </p:blipFill>
        <p:spPr>
          <a:xfrm>
            <a:off x="1038225" y="2657475"/>
            <a:ext cx="4800600" cy="419100"/>
          </a:xfrm>
          <a:prstGeom prst="rect">
            <a:avLst/>
          </a:prstGeom>
        </p:spPr>
      </p:pic>
      <p:pic>
        <p:nvPicPr>
          <p:cNvPr id="8" name="Image 6" descr="preencoded.png"/>
          <p:cNvPicPr>
            <a:picLocks noChangeAspect="1"/>
          </p:cNvPicPr>
          <p:nvPr/>
        </p:nvPicPr>
        <p:blipFill>
          <a:blip r:embed="rId8"/>
          <a:stretch>
            <a:fillRect/>
          </a:stretch>
        </p:blipFill>
        <p:spPr>
          <a:xfrm>
            <a:off x="1038225" y="3181350"/>
            <a:ext cx="133350" cy="133350"/>
          </a:xfrm>
          <a:prstGeom prst="rect">
            <a:avLst/>
          </a:prstGeom>
        </p:spPr>
      </p:pic>
      <p:pic>
        <p:nvPicPr>
          <p:cNvPr id="9" name="Image 7" descr="preencoded.png"/>
          <p:cNvPicPr>
            <a:picLocks noChangeAspect="1"/>
          </p:cNvPicPr>
          <p:nvPr/>
        </p:nvPicPr>
        <p:blipFill>
          <a:blip r:embed="rId5"/>
          <a:stretch>
            <a:fillRect/>
          </a:stretch>
        </p:blipFill>
        <p:spPr>
          <a:xfrm>
            <a:off x="6210300" y="1600200"/>
            <a:ext cx="5600700" cy="1885950"/>
          </a:xfrm>
          <a:prstGeom prst="rect">
            <a:avLst/>
          </a:prstGeom>
        </p:spPr>
      </p:pic>
      <p:pic>
        <p:nvPicPr>
          <p:cNvPr id="10" name="Image 8" descr="preencoded.png"/>
          <p:cNvPicPr>
            <a:picLocks noChangeAspect="1"/>
          </p:cNvPicPr>
          <p:nvPr/>
        </p:nvPicPr>
        <p:blipFill>
          <a:blip r:embed="rId9"/>
          <a:stretch>
            <a:fillRect/>
          </a:stretch>
        </p:blipFill>
        <p:spPr>
          <a:xfrm>
            <a:off x="6353175" y="1752600"/>
            <a:ext cx="247650" cy="285750"/>
          </a:xfrm>
          <a:prstGeom prst="rect">
            <a:avLst/>
          </a:prstGeom>
        </p:spPr>
      </p:pic>
      <p:pic>
        <p:nvPicPr>
          <p:cNvPr id="11" name="Image 9" descr="preencoded.png"/>
          <p:cNvPicPr>
            <a:picLocks noChangeAspect="1"/>
          </p:cNvPicPr>
          <p:nvPr/>
        </p:nvPicPr>
        <p:blipFill>
          <a:blip r:embed="rId10"/>
          <a:stretch>
            <a:fillRect/>
          </a:stretch>
        </p:blipFill>
        <p:spPr>
          <a:xfrm>
            <a:off x="6753225" y="2657475"/>
            <a:ext cx="4914900" cy="419100"/>
          </a:xfrm>
          <a:prstGeom prst="rect">
            <a:avLst/>
          </a:prstGeom>
        </p:spPr>
      </p:pic>
      <p:pic>
        <p:nvPicPr>
          <p:cNvPr id="12" name="Image 10" descr="preencoded.png"/>
          <p:cNvPicPr>
            <a:picLocks noChangeAspect="1"/>
          </p:cNvPicPr>
          <p:nvPr/>
        </p:nvPicPr>
        <p:blipFill>
          <a:blip r:embed="rId11"/>
          <a:stretch>
            <a:fillRect/>
          </a:stretch>
        </p:blipFill>
        <p:spPr>
          <a:xfrm>
            <a:off x="6753225" y="3181350"/>
            <a:ext cx="104775" cy="133350"/>
          </a:xfrm>
          <a:prstGeom prst="rect">
            <a:avLst/>
          </a:prstGeom>
        </p:spPr>
      </p:pic>
      <p:pic>
        <p:nvPicPr>
          <p:cNvPr id="13" name="Image 11" descr="preencoded.png"/>
          <p:cNvPicPr>
            <a:picLocks noChangeAspect="1"/>
          </p:cNvPicPr>
          <p:nvPr/>
        </p:nvPicPr>
        <p:blipFill>
          <a:blip r:embed="rId12"/>
          <a:stretch>
            <a:fillRect/>
          </a:stretch>
        </p:blipFill>
        <p:spPr>
          <a:xfrm>
            <a:off x="381000" y="3714750"/>
            <a:ext cx="5600700" cy="1885950"/>
          </a:xfrm>
          <a:prstGeom prst="rect">
            <a:avLst/>
          </a:prstGeom>
        </p:spPr>
      </p:pic>
      <p:pic>
        <p:nvPicPr>
          <p:cNvPr id="14" name="Image 12" descr="preencoded.png"/>
          <p:cNvPicPr>
            <a:picLocks noChangeAspect="1"/>
          </p:cNvPicPr>
          <p:nvPr/>
        </p:nvPicPr>
        <p:blipFill>
          <a:blip r:embed="rId13"/>
          <a:stretch>
            <a:fillRect/>
          </a:stretch>
        </p:blipFill>
        <p:spPr>
          <a:xfrm>
            <a:off x="523875" y="3867150"/>
            <a:ext cx="247650" cy="285750"/>
          </a:xfrm>
          <a:prstGeom prst="rect">
            <a:avLst/>
          </a:prstGeom>
        </p:spPr>
      </p:pic>
      <p:pic>
        <p:nvPicPr>
          <p:cNvPr id="15" name="Image 13" descr="preencoded.png"/>
          <p:cNvPicPr>
            <a:picLocks noChangeAspect="1"/>
          </p:cNvPicPr>
          <p:nvPr/>
        </p:nvPicPr>
        <p:blipFill>
          <a:blip r:embed="rId10"/>
          <a:stretch>
            <a:fillRect/>
          </a:stretch>
        </p:blipFill>
        <p:spPr>
          <a:xfrm>
            <a:off x="923925" y="4772025"/>
            <a:ext cx="4914900" cy="419100"/>
          </a:xfrm>
          <a:prstGeom prst="rect">
            <a:avLst/>
          </a:prstGeom>
        </p:spPr>
      </p:pic>
      <p:pic>
        <p:nvPicPr>
          <p:cNvPr id="16" name="Image 14" descr="preencoded.png"/>
          <p:cNvPicPr>
            <a:picLocks noChangeAspect="1"/>
          </p:cNvPicPr>
          <p:nvPr/>
        </p:nvPicPr>
        <p:blipFill>
          <a:blip r:embed="rId14"/>
          <a:stretch>
            <a:fillRect/>
          </a:stretch>
        </p:blipFill>
        <p:spPr>
          <a:xfrm>
            <a:off x="923925" y="5295900"/>
            <a:ext cx="104775" cy="133350"/>
          </a:xfrm>
          <a:prstGeom prst="rect">
            <a:avLst/>
          </a:prstGeom>
        </p:spPr>
      </p:pic>
      <p:pic>
        <p:nvPicPr>
          <p:cNvPr id="17" name="Image 15" descr="preencoded.png"/>
          <p:cNvPicPr>
            <a:picLocks noChangeAspect="1"/>
          </p:cNvPicPr>
          <p:nvPr/>
        </p:nvPicPr>
        <p:blipFill>
          <a:blip r:embed="rId12"/>
          <a:stretch>
            <a:fillRect/>
          </a:stretch>
        </p:blipFill>
        <p:spPr>
          <a:xfrm>
            <a:off x="6210300" y="3714750"/>
            <a:ext cx="5600700" cy="1885950"/>
          </a:xfrm>
          <a:prstGeom prst="rect">
            <a:avLst/>
          </a:prstGeom>
        </p:spPr>
      </p:pic>
      <p:pic>
        <p:nvPicPr>
          <p:cNvPr id="18" name="Image 16" descr="preencoded.png"/>
          <p:cNvPicPr>
            <a:picLocks noChangeAspect="1"/>
          </p:cNvPicPr>
          <p:nvPr/>
        </p:nvPicPr>
        <p:blipFill>
          <a:blip r:embed="rId15"/>
          <a:stretch>
            <a:fillRect/>
          </a:stretch>
        </p:blipFill>
        <p:spPr>
          <a:xfrm>
            <a:off x="6353175" y="3867150"/>
            <a:ext cx="285750" cy="285750"/>
          </a:xfrm>
          <a:prstGeom prst="rect">
            <a:avLst/>
          </a:prstGeom>
        </p:spPr>
      </p:pic>
      <p:pic>
        <p:nvPicPr>
          <p:cNvPr id="19" name="Image 17" descr="preencoded.png"/>
          <p:cNvPicPr>
            <a:picLocks noChangeAspect="1"/>
          </p:cNvPicPr>
          <p:nvPr/>
        </p:nvPicPr>
        <p:blipFill>
          <a:blip r:embed="rId16"/>
          <a:stretch>
            <a:fillRect/>
          </a:stretch>
        </p:blipFill>
        <p:spPr>
          <a:xfrm>
            <a:off x="6791325" y="4543425"/>
            <a:ext cx="2795290" cy="419100"/>
          </a:xfrm>
          <a:prstGeom prst="rect">
            <a:avLst/>
          </a:prstGeom>
        </p:spPr>
      </p:pic>
      <p:pic>
        <p:nvPicPr>
          <p:cNvPr id="20" name="Image 18" descr="preencoded.png"/>
          <p:cNvPicPr>
            <a:picLocks noChangeAspect="1"/>
          </p:cNvPicPr>
          <p:nvPr/>
        </p:nvPicPr>
        <p:blipFill>
          <a:blip r:embed="rId8"/>
          <a:stretch>
            <a:fillRect/>
          </a:stretch>
        </p:blipFill>
        <p:spPr>
          <a:xfrm>
            <a:off x="6791325" y="5067300"/>
            <a:ext cx="133350" cy="133350"/>
          </a:xfrm>
          <a:prstGeom prst="rect">
            <a:avLst/>
          </a:prstGeom>
        </p:spPr>
      </p:pic>
      <p:sp>
        <p:nvSpPr>
          <p:cNvPr id="21" name="Text 0"/>
          <p:cNvSpPr/>
          <p:nvPr/>
        </p:nvSpPr>
        <p:spPr>
          <a:xfrm>
            <a:off x="381000" y="3810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Arial" pitchFamily="34" charset="0"/>
                <a:ea typeface="Arial" pitchFamily="34" charset="-122"/>
                <a:cs typeface="Arial" pitchFamily="34" charset="-120"/>
              </a:rPr>
              <a:t>Image Management: Sharing &amp; Archiving</a:t>
            </a:r>
            <a:endParaRPr lang="en-US" sz="2700" dirty="0"/>
          </a:p>
        </p:txBody>
      </p:sp>
      <p:sp>
        <p:nvSpPr>
          <p:cNvPr id="22" name="Text 1"/>
          <p:cNvSpPr/>
          <p:nvPr/>
        </p:nvSpPr>
        <p:spPr>
          <a:xfrm>
            <a:off x="381000" y="1104900"/>
            <a:ext cx="1371600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Arial" pitchFamily="34" charset="0"/>
                <a:ea typeface="Arial" pitchFamily="34" charset="-122"/>
                <a:cs typeface="Arial" pitchFamily="34" charset="-120"/>
              </a:rPr>
              <a:t>These commands facilitate the distribution and backup of Docker images.</a:t>
            </a:r>
            <a:endParaRPr lang="en-US" sz="1500" dirty="0"/>
          </a:p>
        </p:txBody>
      </p:sp>
      <p:sp>
        <p:nvSpPr>
          <p:cNvPr id="23" name="Text 2"/>
          <p:cNvSpPr/>
          <p:nvPr/>
        </p:nvSpPr>
        <p:spPr>
          <a:xfrm>
            <a:off x="1038225" y="1743075"/>
            <a:ext cx="4800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docker push</a:t>
            </a:r>
            <a:endParaRPr lang="en-US" sz="1500" dirty="0"/>
          </a:p>
        </p:txBody>
      </p:sp>
      <p:sp>
        <p:nvSpPr>
          <p:cNvPr id="24" name="Text 3"/>
          <p:cNvSpPr/>
          <p:nvPr/>
        </p:nvSpPr>
        <p:spPr>
          <a:xfrm>
            <a:off x="1038225" y="2085975"/>
            <a:ext cx="48006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Pushes a Docker image from your local machine to a Docker registry (e.g., Docker Hub).</a:t>
            </a:r>
            <a:endParaRPr lang="en-US" sz="1200" dirty="0"/>
          </a:p>
        </p:txBody>
      </p:sp>
      <p:sp>
        <p:nvSpPr>
          <p:cNvPr id="25" name="Text 4"/>
          <p:cNvSpPr/>
          <p:nvPr/>
        </p:nvSpPr>
        <p:spPr>
          <a:xfrm>
            <a:off x="1133475" y="2771775"/>
            <a:ext cx="1541443" cy="180975"/>
          </a:xfrm>
          <a:prstGeom prst="rect">
            <a:avLst/>
          </a:prstGeom>
          <a:noFill/>
          <a:ln/>
        </p:spPr>
        <p:txBody>
          <a:bodyPr vert="horz" wrap="square" lIns="0" tIns="0" rIns="0" bIns="0" rtlCol="0" anchor="t"/>
          <a:lstStyle/>
          <a:p>
            <a:pPr marL="0" indent="0">
              <a:lnSpc>
                <a:spcPts val="1800"/>
              </a:lnSpc>
              <a:buNone/>
            </a:pPr>
            <a:r>
              <a:rPr lang="en-US" sz="1200" b="1" dirty="0">
                <a:solidFill>
                  <a:srgbClr val="F96000"/>
                </a:solidFill>
                <a:latin typeface="Consolas" pitchFamily="34" charset="0"/>
                <a:ea typeface="Consolas" pitchFamily="34" charset="-122"/>
                <a:cs typeface="Consolas" pitchFamily="34" charset="-120"/>
              </a:rPr>
              <a:t>$ docker push </a:t>
            </a:r>
            <a:endParaRPr lang="en-US" sz="1200" dirty="0"/>
          </a:p>
        </p:txBody>
      </p:sp>
      <p:sp>
        <p:nvSpPr>
          <p:cNvPr id="26" name="Text 5"/>
          <p:cNvSpPr/>
          <p:nvPr/>
        </p:nvSpPr>
        <p:spPr>
          <a:xfrm>
            <a:off x="2418011" y="2771775"/>
            <a:ext cx="2312253" cy="180975"/>
          </a:xfrm>
          <a:prstGeom prst="rect">
            <a:avLst/>
          </a:prstGeom>
          <a:noFill/>
          <a:ln/>
        </p:spPr>
        <p:txBody>
          <a:bodyPr vert="horz" wrap="square" lIns="0" tIns="0" rIns="0" bIns="0" rtlCol="0" anchor="t"/>
          <a:lstStyle/>
          <a:p>
            <a:pPr marL="0" indent="0">
              <a:lnSpc>
                <a:spcPts val="1800"/>
              </a:lnSpc>
              <a:buNone/>
            </a:pPr>
            <a:r>
              <a:rPr lang="en-US" sz="1200" i="1" dirty="0">
                <a:solidFill>
                  <a:srgbClr val="9CA3AF"/>
                </a:solidFill>
                <a:latin typeface="Consolas" pitchFamily="34" charset="0"/>
                <a:ea typeface="Consolas" pitchFamily="34" charset="-122"/>
                <a:cs typeface="Consolas" pitchFamily="34" charset="-120"/>
              </a:rPr>
              <a:t>myusername/my-app:1.0</a:t>
            </a:r>
            <a:endParaRPr lang="en-US" sz="1200" dirty="0"/>
          </a:p>
        </p:txBody>
      </p:sp>
      <p:sp>
        <p:nvSpPr>
          <p:cNvPr id="27" name="Text 6"/>
          <p:cNvSpPr/>
          <p:nvPr/>
        </p:nvSpPr>
        <p:spPr>
          <a:xfrm>
            <a:off x="1209675" y="3152775"/>
            <a:ext cx="576072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Arial" pitchFamily="34" charset="0"/>
                <a:ea typeface="Arial" pitchFamily="34" charset="-122"/>
                <a:cs typeface="Arial" pitchFamily="34" charset="-120"/>
              </a:rPr>
              <a:t> Requires prior authentication using </a:t>
            </a:r>
            <a:r>
              <a:rPr lang="en-US" sz="1050" b="1" dirty="0">
                <a:solidFill>
                  <a:srgbClr val="F96000"/>
                </a:solidFill>
                <a:latin typeface="Arial" pitchFamily="34" charset="0"/>
                <a:ea typeface="Arial" pitchFamily="34" charset="-122"/>
                <a:cs typeface="Arial" pitchFamily="34" charset="-120"/>
              </a:rPr>
              <a:t>docker login</a:t>
            </a:r>
            <a:endParaRPr lang="en-US" sz="1050" dirty="0"/>
          </a:p>
        </p:txBody>
      </p:sp>
      <p:sp>
        <p:nvSpPr>
          <p:cNvPr id="28" name="Text 7"/>
          <p:cNvSpPr/>
          <p:nvPr/>
        </p:nvSpPr>
        <p:spPr>
          <a:xfrm>
            <a:off x="6753225" y="1743075"/>
            <a:ext cx="49149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docker tag</a:t>
            </a:r>
            <a:endParaRPr lang="en-US" sz="1500" dirty="0"/>
          </a:p>
        </p:txBody>
      </p:sp>
      <p:sp>
        <p:nvSpPr>
          <p:cNvPr id="29" name="Text 8"/>
          <p:cNvSpPr/>
          <p:nvPr/>
        </p:nvSpPr>
        <p:spPr>
          <a:xfrm>
            <a:off x="6753225" y="2085975"/>
            <a:ext cx="49149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Tags a Docker image with a new name and/or version. Creates an alias to an existing image.</a:t>
            </a:r>
            <a:endParaRPr lang="en-US" sz="1200" dirty="0"/>
          </a:p>
        </p:txBody>
      </p:sp>
      <p:sp>
        <p:nvSpPr>
          <p:cNvPr id="30" name="Text 9"/>
          <p:cNvSpPr/>
          <p:nvPr/>
        </p:nvSpPr>
        <p:spPr>
          <a:xfrm>
            <a:off x="6848475" y="2771775"/>
            <a:ext cx="1431429" cy="180975"/>
          </a:xfrm>
          <a:prstGeom prst="rect">
            <a:avLst/>
          </a:prstGeom>
          <a:noFill/>
          <a:ln/>
        </p:spPr>
        <p:txBody>
          <a:bodyPr vert="horz" wrap="square" lIns="0" tIns="0" rIns="0" bIns="0" rtlCol="0" anchor="t"/>
          <a:lstStyle/>
          <a:p>
            <a:pPr marL="0" indent="0">
              <a:lnSpc>
                <a:spcPts val="1800"/>
              </a:lnSpc>
              <a:buNone/>
            </a:pPr>
            <a:r>
              <a:rPr lang="en-US" sz="1200" b="1" dirty="0">
                <a:solidFill>
                  <a:srgbClr val="F96000"/>
                </a:solidFill>
                <a:latin typeface="Consolas" pitchFamily="34" charset="0"/>
                <a:ea typeface="Consolas" pitchFamily="34" charset="-122"/>
                <a:cs typeface="Consolas" pitchFamily="34" charset="-120"/>
              </a:rPr>
              <a:t>$ docker tag </a:t>
            </a:r>
            <a:endParaRPr lang="en-US" sz="1200" dirty="0"/>
          </a:p>
        </p:txBody>
      </p:sp>
      <p:sp>
        <p:nvSpPr>
          <p:cNvPr id="31" name="Text 10"/>
          <p:cNvSpPr/>
          <p:nvPr/>
        </p:nvSpPr>
        <p:spPr>
          <a:xfrm>
            <a:off x="8041332" y="2771775"/>
            <a:ext cx="3853696" cy="180975"/>
          </a:xfrm>
          <a:prstGeom prst="rect">
            <a:avLst/>
          </a:prstGeom>
          <a:noFill/>
          <a:ln/>
        </p:spPr>
        <p:txBody>
          <a:bodyPr vert="horz" wrap="square" lIns="0" tIns="0" rIns="0" bIns="0" rtlCol="0" anchor="t"/>
          <a:lstStyle/>
          <a:p>
            <a:pPr marL="0" indent="0">
              <a:lnSpc>
                <a:spcPts val="1800"/>
              </a:lnSpc>
              <a:buNone/>
            </a:pPr>
            <a:r>
              <a:rPr lang="en-US" sz="1200" i="1" dirty="0">
                <a:solidFill>
                  <a:srgbClr val="9CA3AF"/>
                </a:solidFill>
                <a:latin typeface="Consolas" pitchFamily="34" charset="0"/>
                <a:ea typeface="Consolas" pitchFamily="34" charset="-122"/>
                <a:cs typeface="Consolas" pitchFamily="34" charset="-120"/>
              </a:rPr>
              <a:t>my-app:1.0 myusername/my-app:latest</a:t>
            </a:r>
            <a:endParaRPr lang="en-US" sz="1200" dirty="0"/>
          </a:p>
        </p:txBody>
      </p:sp>
      <p:sp>
        <p:nvSpPr>
          <p:cNvPr id="32" name="Text 11"/>
          <p:cNvSpPr/>
          <p:nvPr/>
        </p:nvSpPr>
        <p:spPr>
          <a:xfrm>
            <a:off x="6896100" y="3152775"/>
            <a:ext cx="589788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Arial" pitchFamily="34" charset="0"/>
                <a:ea typeface="Arial" pitchFamily="34" charset="-122"/>
                <a:cs typeface="Arial" pitchFamily="34" charset="-120"/>
              </a:rPr>
              <a:t> Useful for versioning and organizing images</a:t>
            </a:r>
            <a:endParaRPr lang="en-US" sz="1050" dirty="0"/>
          </a:p>
        </p:txBody>
      </p:sp>
      <p:sp>
        <p:nvSpPr>
          <p:cNvPr id="33" name="Text 12"/>
          <p:cNvSpPr/>
          <p:nvPr/>
        </p:nvSpPr>
        <p:spPr>
          <a:xfrm>
            <a:off x="923925" y="3857625"/>
            <a:ext cx="49149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docker save</a:t>
            </a:r>
            <a:endParaRPr lang="en-US" sz="1500" dirty="0"/>
          </a:p>
        </p:txBody>
      </p:sp>
      <p:sp>
        <p:nvSpPr>
          <p:cNvPr id="34" name="Text 13"/>
          <p:cNvSpPr/>
          <p:nvPr/>
        </p:nvSpPr>
        <p:spPr>
          <a:xfrm>
            <a:off x="923925" y="4200525"/>
            <a:ext cx="49149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Saves one or more Docker images to a tar archive. Includes all layers and metadata.</a:t>
            </a:r>
            <a:endParaRPr lang="en-US" sz="1200" dirty="0"/>
          </a:p>
        </p:txBody>
      </p:sp>
      <p:sp>
        <p:nvSpPr>
          <p:cNvPr id="35" name="Text 14"/>
          <p:cNvSpPr/>
          <p:nvPr/>
        </p:nvSpPr>
        <p:spPr>
          <a:xfrm>
            <a:off x="1019175" y="4886325"/>
            <a:ext cx="1871841" cy="180975"/>
          </a:xfrm>
          <a:prstGeom prst="rect">
            <a:avLst/>
          </a:prstGeom>
          <a:noFill/>
          <a:ln/>
        </p:spPr>
        <p:txBody>
          <a:bodyPr vert="horz" wrap="square" lIns="0" tIns="0" rIns="0" bIns="0" rtlCol="0" anchor="t"/>
          <a:lstStyle/>
          <a:p>
            <a:pPr marL="0" indent="0">
              <a:lnSpc>
                <a:spcPts val="1800"/>
              </a:lnSpc>
              <a:buNone/>
            </a:pPr>
            <a:r>
              <a:rPr lang="en-US" sz="1200" b="1" dirty="0">
                <a:solidFill>
                  <a:srgbClr val="F96000"/>
                </a:solidFill>
                <a:latin typeface="Consolas" pitchFamily="34" charset="0"/>
                <a:ea typeface="Consolas" pitchFamily="34" charset="-122"/>
                <a:cs typeface="Consolas" pitchFamily="34" charset="-120"/>
              </a:rPr>
              <a:t>$ docker save -o </a:t>
            </a:r>
            <a:endParaRPr lang="en-US" sz="1200" dirty="0"/>
          </a:p>
        </p:txBody>
      </p:sp>
      <p:sp>
        <p:nvSpPr>
          <p:cNvPr id="36" name="Text 15"/>
          <p:cNvSpPr/>
          <p:nvPr/>
        </p:nvSpPr>
        <p:spPr>
          <a:xfrm>
            <a:off x="2579043" y="4886325"/>
            <a:ext cx="2312253" cy="180975"/>
          </a:xfrm>
          <a:prstGeom prst="rect">
            <a:avLst/>
          </a:prstGeom>
          <a:noFill/>
          <a:ln/>
        </p:spPr>
        <p:txBody>
          <a:bodyPr vert="horz" wrap="square" lIns="0" tIns="0" rIns="0" bIns="0" rtlCol="0" anchor="t"/>
          <a:lstStyle/>
          <a:p>
            <a:pPr marL="0" indent="0">
              <a:lnSpc>
                <a:spcPts val="1800"/>
              </a:lnSpc>
              <a:buNone/>
            </a:pPr>
            <a:r>
              <a:rPr lang="en-US" sz="1200" i="1" dirty="0">
                <a:solidFill>
                  <a:srgbClr val="9CA3AF"/>
                </a:solidFill>
                <a:latin typeface="Consolas" pitchFamily="34" charset="0"/>
                <a:ea typeface="Consolas" pitchFamily="34" charset="-122"/>
                <a:cs typeface="Consolas" pitchFamily="34" charset="-120"/>
              </a:rPr>
              <a:t>my-app.tar my-app:1.0</a:t>
            </a:r>
            <a:endParaRPr lang="en-US" sz="1200" dirty="0"/>
          </a:p>
        </p:txBody>
      </p:sp>
      <p:sp>
        <p:nvSpPr>
          <p:cNvPr id="37" name="Text 16"/>
          <p:cNvSpPr/>
          <p:nvPr/>
        </p:nvSpPr>
        <p:spPr>
          <a:xfrm>
            <a:off x="1066800" y="5267325"/>
            <a:ext cx="589788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Arial" pitchFamily="34" charset="0"/>
                <a:ea typeface="Arial" pitchFamily="34" charset="-122"/>
                <a:cs typeface="Arial" pitchFamily="34" charset="-120"/>
              </a:rPr>
              <a:t> Creates a portable archive of your image</a:t>
            </a:r>
            <a:endParaRPr lang="en-US" sz="1050" dirty="0"/>
          </a:p>
        </p:txBody>
      </p:sp>
      <p:sp>
        <p:nvSpPr>
          <p:cNvPr id="38" name="Text 17"/>
          <p:cNvSpPr/>
          <p:nvPr/>
        </p:nvSpPr>
        <p:spPr>
          <a:xfrm>
            <a:off x="6791325" y="3857625"/>
            <a:ext cx="279529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docker load</a:t>
            </a:r>
            <a:endParaRPr lang="en-US" sz="1500" dirty="0"/>
          </a:p>
        </p:txBody>
      </p:sp>
      <p:sp>
        <p:nvSpPr>
          <p:cNvPr id="39" name="Text 18"/>
          <p:cNvSpPr/>
          <p:nvPr/>
        </p:nvSpPr>
        <p:spPr>
          <a:xfrm>
            <a:off x="6791325" y="4200525"/>
            <a:ext cx="335434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Loads a Docker image from a tar archive.</a:t>
            </a:r>
            <a:endParaRPr lang="en-US" sz="1200" dirty="0"/>
          </a:p>
        </p:txBody>
      </p:sp>
      <p:sp>
        <p:nvSpPr>
          <p:cNvPr id="40" name="Text 19"/>
          <p:cNvSpPr/>
          <p:nvPr/>
        </p:nvSpPr>
        <p:spPr>
          <a:xfrm>
            <a:off x="6886575" y="4657725"/>
            <a:ext cx="1871841" cy="180975"/>
          </a:xfrm>
          <a:prstGeom prst="rect">
            <a:avLst/>
          </a:prstGeom>
          <a:noFill/>
          <a:ln/>
        </p:spPr>
        <p:txBody>
          <a:bodyPr vert="horz" wrap="square" lIns="0" tIns="0" rIns="0" bIns="0" rtlCol="0" anchor="t"/>
          <a:lstStyle/>
          <a:p>
            <a:pPr marL="0" indent="0">
              <a:lnSpc>
                <a:spcPts val="1800"/>
              </a:lnSpc>
              <a:buNone/>
            </a:pPr>
            <a:r>
              <a:rPr lang="en-US" sz="1200" b="1" dirty="0">
                <a:solidFill>
                  <a:srgbClr val="F96000"/>
                </a:solidFill>
                <a:latin typeface="Consolas" pitchFamily="34" charset="0"/>
                <a:ea typeface="Consolas" pitchFamily="34" charset="-122"/>
                <a:cs typeface="Consolas" pitchFamily="34" charset="-120"/>
              </a:rPr>
              <a:t>$ docker load -i </a:t>
            </a:r>
            <a:endParaRPr lang="en-US" sz="1200" dirty="0"/>
          </a:p>
        </p:txBody>
      </p:sp>
      <p:sp>
        <p:nvSpPr>
          <p:cNvPr id="41" name="Text 20"/>
          <p:cNvSpPr/>
          <p:nvPr/>
        </p:nvSpPr>
        <p:spPr>
          <a:xfrm>
            <a:off x="8446443" y="4657725"/>
            <a:ext cx="1101030" cy="180975"/>
          </a:xfrm>
          <a:prstGeom prst="rect">
            <a:avLst/>
          </a:prstGeom>
          <a:noFill/>
          <a:ln/>
        </p:spPr>
        <p:txBody>
          <a:bodyPr vert="horz" wrap="square" lIns="0" tIns="0" rIns="0" bIns="0" rtlCol="0" anchor="t"/>
          <a:lstStyle/>
          <a:p>
            <a:pPr marL="0" indent="0">
              <a:lnSpc>
                <a:spcPts val="1800"/>
              </a:lnSpc>
              <a:buNone/>
            </a:pPr>
            <a:r>
              <a:rPr lang="en-US" sz="1200" i="1" dirty="0">
                <a:solidFill>
                  <a:srgbClr val="9CA3AF"/>
                </a:solidFill>
                <a:latin typeface="Consolas" pitchFamily="34" charset="0"/>
                <a:ea typeface="Consolas" pitchFamily="34" charset="-122"/>
                <a:cs typeface="Consolas" pitchFamily="34" charset="-120"/>
              </a:rPr>
              <a:t>my-app.tar</a:t>
            </a:r>
            <a:endParaRPr lang="en-US" sz="1200" dirty="0"/>
          </a:p>
        </p:txBody>
      </p:sp>
      <p:sp>
        <p:nvSpPr>
          <p:cNvPr id="42" name="Text 21"/>
          <p:cNvSpPr/>
          <p:nvPr/>
        </p:nvSpPr>
        <p:spPr>
          <a:xfrm>
            <a:off x="6962775" y="5038725"/>
            <a:ext cx="3354348"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Arial" pitchFamily="34" charset="0"/>
                <a:ea typeface="Arial" pitchFamily="34" charset="-122"/>
                <a:cs typeface="Arial" pitchFamily="34" charset="-120"/>
              </a:rPr>
              <a:t> Alternative to </a:t>
            </a:r>
            <a:r>
              <a:rPr lang="en-US" sz="1050" b="1" dirty="0">
                <a:solidFill>
                  <a:srgbClr val="F96000"/>
                </a:solidFill>
                <a:latin typeface="Arial" pitchFamily="34" charset="0"/>
                <a:ea typeface="Arial" pitchFamily="34" charset="-122"/>
                <a:cs typeface="Arial" pitchFamily="34" charset="-120"/>
              </a:rPr>
              <a:t>docker import</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505700"/>
          </a:xfrm>
          <a:prstGeom prst="rect">
            <a:avLst/>
          </a:prstGeom>
        </p:spPr>
      </p:pic>
      <p:pic>
        <p:nvPicPr>
          <p:cNvPr id="3" name="Image 1" descr="preencoded.png"/>
          <p:cNvPicPr>
            <a:picLocks noChangeAspect="1"/>
          </p:cNvPicPr>
          <p:nvPr/>
        </p:nvPicPr>
        <p:blipFill>
          <a:blip r:embed="rId3"/>
          <a:stretch>
            <a:fillRect/>
          </a:stretch>
        </p:blipFill>
        <p:spPr>
          <a:xfrm>
            <a:off x="0" y="0"/>
            <a:ext cx="12192000" cy="7505700"/>
          </a:xfrm>
          <a:prstGeom prst="rect">
            <a:avLst/>
          </a:prstGeom>
        </p:spPr>
      </p:pic>
      <p:pic>
        <p:nvPicPr>
          <p:cNvPr id="4" name="Image 2" descr="preencoded.png"/>
          <p:cNvPicPr>
            <a:picLocks noChangeAspect="1"/>
          </p:cNvPicPr>
          <p:nvPr/>
        </p:nvPicPr>
        <p:blipFill>
          <a:blip r:embed="rId4"/>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5"/>
          <a:stretch>
            <a:fillRect/>
          </a:stretch>
        </p:blipFill>
        <p:spPr>
          <a:xfrm>
            <a:off x="381000" y="1543050"/>
            <a:ext cx="285750" cy="228600"/>
          </a:xfrm>
          <a:prstGeom prst="rect">
            <a:avLst/>
          </a:prstGeom>
        </p:spPr>
      </p:pic>
      <p:pic>
        <p:nvPicPr>
          <p:cNvPr id="6" name="Image 4" descr="preencoded.png"/>
          <p:cNvPicPr>
            <a:picLocks noChangeAspect="1"/>
          </p:cNvPicPr>
          <p:nvPr/>
        </p:nvPicPr>
        <p:blipFill>
          <a:blip r:embed="rId6"/>
          <a:stretch>
            <a:fillRect/>
          </a:stretch>
        </p:blipFill>
        <p:spPr>
          <a:xfrm>
            <a:off x="381000" y="1943100"/>
            <a:ext cx="2686050" cy="1066800"/>
          </a:xfrm>
          <a:prstGeom prst="rect">
            <a:avLst/>
          </a:prstGeom>
        </p:spPr>
      </p:pic>
      <p:pic>
        <p:nvPicPr>
          <p:cNvPr id="7" name="Image 5" descr="preencoded.png"/>
          <p:cNvPicPr>
            <a:picLocks noChangeAspect="1"/>
          </p:cNvPicPr>
          <p:nvPr/>
        </p:nvPicPr>
        <p:blipFill>
          <a:blip r:embed="rId6"/>
          <a:stretch>
            <a:fillRect/>
          </a:stretch>
        </p:blipFill>
        <p:spPr>
          <a:xfrm>
            <a:off x="3181350" y="1943100"/>
            <a:ext cx="2686050" cy="1066800"/>
          </a:xfrm>
          <a:prstGeom prst="rect">
            <a:avLst/>
          </a:prstGeom>
        </p:spPr>
      </p:pic>
      <p:pic>
        <p:nvPicPr>
          <p:cNvPr id="8" name="Image 6" descr="preencoded.png"/>
          <p:cNvPicPr>
            <a:picLocks noChangeAspect="1"/>
          </p:cNvPicPr>
          <p:nvPr/>
        </p:nvPicPr>
        <p:blipFill>
          <a:blip r:embed="rId6"/>
          <a:stretch>
            <a:fillRect/>
          </a:stretch>
        </p:blipFill>
        <p:spPr>
          <a:xfrm>
            <a:off x="381000" y="3124200"/>
            <a:ext cx="2686050" cy="1066800"/>
          </a:xfrm>
          <a:prstGeom prst="rect">
            <a:avLst/>
          </a:prstGeom>
        </p:spPr>
      </p:pic>
      <p:pic>
        <p:nvPicPr>
          <p:cNvPr id="9" name="Image 7" descr="preencoded.png"/>
          <p:cNvPicPr>
            <a:picLocks noChangeAspect="1"/>
          </p:cNvPicPr>
          <p:nvPr/>
        </p:nvPicPr>
        <p:blipFill>
          <a:blip r:embed="rId6"/>
          <a:stretch>
            <a:fillRect/>
          </a:stretch>
        </p:blipFill>
        <p:spPr>
          <a:xfrm>
            <a:off x="3181350" y="3124200"/>
            <a:ext cx="2686050" cy="1066800"/>
          </a:xfrm>
          <a:prstGeom prst="rect">
            <a:avLst/>
          </a:prstGeom>
        </p:spPr>
      </p:pic>
      <p:pic>
        <p:nvPicPr>
          <p:cNvPr id="10" name="Image 8" descr="preencoded.png"/>
          <p:cNvPicPr>
            <a:picLocks noChangeAspect="1"/>
          </p:cNvPicPr>
          <p:nvPr/>
        </p:nvPicPr>
        <p:blipFill>
          <a:blip r:embed="rId7"/>
          <a:stretch>
            <a:fillRect/>
          </a:stretch>
        </p:blipFill>
        <p:spPr>
          <a:xfrm>
            <a:off x="762000" y="4724400"/>
            <a:ext cx="381000" cy="381000"/>
          </a:xfrm>
          <a:prstGeom prst="rect">
            <a:avLst/>
          </a:prstGeom>
        </p:spPr>
      </p:pic>
      <p:pic>
        <p:nvPicPr>
          <p:cNvPr id="11" name="Image 9" descr="preencoded.png"/>
          <p:cNvPicPr>
            <a:picLocks noChangeAspect="1"/>
          </p:cNvPicPr>
          <p:nvPr/>
        </p:nvPicPr>
        <p:blipFill>
          <a:blip r:embed="rId8"/>
          <a:stretch>
            <a:fillRect/>
          </a:stretch>
        </p:blipFill>
        <p:spPr>
          <a:xfrm>
            <a:off x="1905000" y="4724400"/>
            <a:ext cx="381000" cy="381000"/>
          </a:xfrm>
          <a:prstGeom prst="rect">
            <a:avLst/>
          </a:prstGeom>
        </p:spPr>
      </p:pic>
      <p:pic>
        <p:nvPicPr>
          <p:cNvPr id="12" name="Image 10" descr="preencoded.png"/>
          <p:cNvPicPr>
            <a:picLocks noChangeAspect="1"/>
          </p:cNvPicPr>
          <p:nvPr/>
        </p:nvPicPr>
        <p:blipFill>
          <a:blip r:embed="rId9"/>
          <a:stretch>
            <a:fillRect/>
          </a:stretch>
        </p:blipFill>
        <p:spPr>
          <a:xfrm>
            <a:off x="3048000" y="4724400"/>
            <a:ext cx="381000" cy="381000"/>
          </a:xfrm>
          <a:prstGeom prst="rect">
            <a:avLst/>
          </a:prstGeom>
        </p:spPr>
      </p:pic>
      <p:pic>
        <p:nvPicPr>
          <p:cNvPr id="13" name="Image 11" descr="preencoded.png"/>
          <p:cNvPicPr>
            <a:picLocks noChangeAspect="1"/>
          </p:cNvPicPr>
          <p:nvPr/>
        </p:nvPicPr>
        <p:blipFill>
          <a:blip r:embed="rId10"/>
          <a:stretch>
            <a:fillRect/>
          </a:stretch>
        </p:blipFill>
        <p:spPr>
          <a:xfrm>
            <a:off x="3152775" y="4829175"/>
            <a:ext cx="171450" cy="171450"/>
          </a:xfrm>
          <a:prstGeom prst="rect">
            <a:avLst/>
          </a:prstGeom>
        </p:spPr>
      </p:pic>
      <p:pic>
        <p:nvPicPr>
          <p:cNvPr id="14" name="Image 12" descr="preencoded.png"/>
          <p:cNvPicPr>
            <a:picLocks noChangeAspect="1"/>
          </p:cNvPicPr>
          <p:nvPr/>
        </p:nvPicPr>
        <p:blipFill>
          <a:blip r:embed="rId11"/>
          <a:stretch>
            <a:fillRect/>
          </a:stretch>
        </p:blipFill>
        <p:spPr>
          <a:xfrm>
            <a:off x="1143000" y="4914900"/>
            <a:ext cx="762000" cy="19050"/>
          </a:xfrm>
          <a:prstGeom prst="rect">
            <a:avLst/>
          </a:prstGeom>
        </p:spPr>
      </p:pic>
      <p:pic>
        <p:nvPicPr>
          <p:cNvPr id="15" name="Image 13" descr="preencoded.png"/>
          <p:cNvPicPr>
            <a:picLocks noChangeAspect="1"/>
          </p:cNvPicPr>
          <p:nvPr/>
        </p:nvPicPr>
        <p:blipFill>
          <a:blip r:embed="rId11"/>
          <a:stretch>
            <a:fillRect/>
          </a:stretch>
        </p:blipFill>
        <p:spPr>
          <a:xfrm>
            <a:off x="2286000" y="4914900"/>
            <a:ext cx="762000" cy="19050"/>
          </a:xfrm>
          <a:prstGeom prst="rect">
            <a:avLst/>
          </a:prstGeom>
        </p:spPr>
      </p:pic>
      <p:pic>
        <p:nvPicPr>
          <p:cNvPr id="16" name="Image 14" descr="preencoded.png"/>
          <p:cNvPicPr>
            <a:picLocks noChangeAspect="1"/>
          </p:cNvPicPr>
          <p:nvPr/>
        </p:nvPicPr>
        <p:blipFill>
          <a:blip r:embed="rId12"/>
          <a:stretch>
            <a:fillRect/>
          </a:stretch>
        </p:blipFill>
        <p:spPr>
          <a:xfrm>
            <a:off x="6324600" y="1543050"/>
            <a:ext cx="257175" cy="228600"/>
          </a:xfrm>
          <a:prstGeom prst="rect">
            <a:avLst/>
          </a:prstGeom>
        </p:spPr>
      </p:pic>
      <p:pic>
        <p:nvPicPr>
          <p:cNvPr id="17" name="Image 15" descr="preencoded.png"/>
          <p:cNvPicPr>
            <a:picLocks noChangeAspect="1"/>
          </p:cNvPicPr>
          <p:nvPr/>
        </p:nvPicPr>
        <p:blipFill>
          <a:blip r:embed="rId13"/>
          <a:stretch>
            <a:fillRect/>
          </a:stretch>
        </p:blipFill>
        <p:spPr>
          <a:xfrm>
            <a:off x="6324600" y="1943100"/>
            <a:ext cx="5486400" cy="1181100"/>
          </a:xfrm>
          <a:prstGeom prst="rect">
            <a:avLst/>
          </a:prstGeom>
        </p:spPr>
      </p:pic>
      <p:pic>
        <p:nvPicPr>
          <p:cNvPr id="18" name="Image 16" descr="preencoded.png"/>
          <p:cNvPicPr>
            <a:picLocks noChangeAspect="1"/>
          </p:cNvPicPr>
          <p:nvPr/>
        </p:nvPicPr>
        <p:blipFill>
          <a:blip r:embed="rId14"/>
          <a:stretch>
            <a:fillRect/>
          </a:stretch>
        </p:blipFill>
        <p:spPr>
          <a:xfrm>
            <a:off x="6438900" y="2628900"/>
            <a:ext cx="2155478" cy="381000"/>
          </a:xfrm>
          <a:prstGeom prst="rect">
            <a:avLst/>
          </a:prstGeom>
        </p:spPr>
      </p:pic>
      <p:pic>
        <p:nvPicPr>
          <p:cNvPr id="19" name="Image 17" descr="preencoded.png"/>
          <p:cNvPicPr>
            <a:picLocks noChangeAspect="1"/>
          </p:cNvPicPr>
          <p:nvPr/>
        </p:nvPicPr>
        <p:blipFill>
          <a:blip r:embed="rId13"/>
          <a:stretch>
            <a:fillRect/>
          </a:stretch>
        </p:blipFill>
        <p:spPr>
          <a:xfrm>
            <a:off x="6324600" y="3276600"/>
            <a:ext cx="5486400" cy="1181100"/>
          </a:xfrm>
          <a:prstGeom prst="rect">
            <a:avLst/>
          </a:prstGeom>
        </p:spPr>
      </p:pic>
      <p:pic>
        <p:nvPicPr>
          <p:cNvPr id="20" name="Image 18" descr="preencoded.png"/>
          <p:cNvPicPr>
            <a:picLocks noChangeAspect="1"/>
          </p:cNvPicPr>
          <p:nvPr/>
        </p:nvPicPr>
        <p:blipFill>
          <a:blip r:embed="rId15"/>
          <a:stretch>
            <a:fillRect/>
          </a:stretch>
        </p:blipFill>
        <p:spPr>
          <a:xfrm>
            <a:off x="6438900" y="3962400"/>
            <a:ext cx="1788468" cy="381000"/>
          </a:xfrm>
          <a:prstGeom prst="rect">
            <a:avLst/>
          </a:prstGeom>
        </p:spPr>
      </p:pic>
      <p:pic>
        <p:nvPicPr>
          <p:cNvPr id="21" name="Image 19" descr="preencoded.png"/>
          <p:cNvPicPr>
            <a:picLocks noChangeAspect="1"/>
          </p:cNvPicPr>
          <p:nvPr/>
        </p:nvPicPr>
        <p:blipFill>
          <a:blip r:embed="rId13"/>
          <a:stretch>
            <a:fillRect/>
          </a:stretch>
        </p:blipFill>
        <p:spPr>
          <a:xfrm>
            <a:off x="6324600" y="4610100"/>
            <a:ext cx="5486400" cy="1181100"/>
          </a:xfrm>
          <a:prstGeom prst="rect">
            <a:avLst/>
          </a:prstGeom>
        </p:spPr>
      </p:pic>
      <p:pic>
        <p:nvPicPr>
          <p:cNvPr id="22" name="Image 20" descr="preencoded.png"/>
          <p:cNvPicPr>
            <a:picLocks noChangeAspect="1"/>
          </p:cNvPicPr>
          <p:nvPr/>
        </p:nvPicPr>
        <p:blipFill>
          <a:blip r:embed="rId16"/>
          <a:stretch>
            <a:fillRect/>
          </a:stretch>
        </p:blipFill>
        <p:spPr>
          <a:xfrm>
            <a:off x="6438900" y="5295900"/>
            <a:ext cx="2247156" cy="381000"/>
          </a:xfrm>
          <a:prstGeom prst="rect">
            <a:avLst/>
          </a:prstGeom>
        </p:spPr>
      </p:pic>
      <p:pic>
        <p:nvPicPr>
          <p:cNvPr id="23" name="Image 21" descr="preencoded.png"/>
          <p:cNvPicPr>
            <a:picLocks noChangeAspect="1"/>
          </p:cNvPicPr>
          <p:nvPr/>
        </p:nvPicPr>
        <p:blipFill>
          <a:blip r:embed="rId13"/>
          <a:stretch>
            <a:fillRect/>
          </a:stretch>
        </p:blipFill>
        <p:spPr>
          <a:xfrm>
            <a:off x="6324600" y="5943600"/>
            <a:ext cx="5486400" cy="1181100"/>
          </a:xfrm>
          <a:prstGeom prst="rect">
            <a:avLst/>
          </a:prstGeom>
        </p:spPr>
      </p:pic>
      <p:sp>
        <p:nvSpPr>
          <p:cNvPr id="25"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Arial" pitchFamily="34" charset="0"/>
                <a:ea typeface="Arial" pitchFamily="34" charset="-122"/>
                <a:cs typeface="Arial" pitchFamily="34" charset="-120"/>
              </a:rPr>
              <a:t>Docker Networking Commands</a:t>
            </a:r>
            <a:endParaRPr lang="en-US" sz="2700" dirty="0"/>
          </a:p>
        </p:txBody>
      </p:sp>
      <p:sp>
        <p:nvSpPr>
          <p:cNvPr id="26" name="Text 1"/>
          <p:cNvSpPr/>
          <p:nvPr/>
        </p:nvSpPr>
        <p:spPr>
          <a:xfrm>
            <a:off x="381000" y="1104900"/>
            <a:ext cx="1371600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Arial" pitchFamily="34" charset="0"/>
                <a:ea typeface="Arial" pitchFamily="34" charset="-122"/>
                <a:cs typeface="Arial" pitchFamily="34" charset="-120"/>
              </a:rPr>
              <a:t>Docker networking enables containers to communicate with each other, the Docker host, and external services.</a:t>
            </a:r>
            <a:endParaRPr lang="en-US" sz="1350" dirty="0"/>
          </a:p>
        </p:txBody>
      </p:sp>
      <p:sp>
        <p:nvSpPr>
          <p:cNvPr id="27" name="Text 2"/>
          <p:cNvSpPr/>
          <p:nvPr/>
        </p:nvSpPr>
        <p:spPr>
          <a:xfrm>
            <a:off x="742950" y="1524000"/>
            <a:ext cx="5486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Arial" pitchFamily="34" charset="0"/>
                <a:ea typeface="Arial" pitchFamily="34" charset="-122"/>
                <a:cs typeface="Arial" pitchFamily="34" charset="-120"/>
              </a:rPr>
              <a:t>Network Drivers</a:t>
            </a:r>
            <a:endParaRPr lang="en-US" sz="1800" dirty="0"/>
          </a:p>
        </p:txBody>
      </p:sp>
      <p:sp>
        <p:nvSpPr>
          <p:cNvPr id="28" name="Text 3"/>
          <p:cNvSpPr/>
          <p:nvPr/>
        </p:nvSpPr>
        <p:spPr>
          <a:xfrm>
            <a:off x="495300" y="2057400"/>
            <a:ext cx="294894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bridge (Default)</a:t>
            </a:r>
            <a:endParaRPr lang="en-US" sz="1350" dirty="0"/>
          </a:p>
        </p:txBody>
      </p:sp>
      <p:sp>
        <p:nvSpPr>
          <p:cNvPr id="29" name="Text 4"/>
          <p:cNvSpPr/>
          <p:nvPr/>
        </p:nvSpPr>
        <p:spPr>
          <a:xfrm>
            <a:off x="495300" y="2324100"/>
            <a:ext cx="245745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Arial" pitchFamily="34" charset="0"/>
                <a:ea typeface="Arial" pitchFamily="34" charset="-122"/>
                <a:cs typeface="Arial" pitchFamily="34" charset="-120"/>
              </a:rPr>
              <a:t>Creates a private network on the host. Containers can communicate using internal IP addresses.</a:t>
            </a:r>
            <a:endParaRPr lang="en-US" sz="1050" dirty="0"/>
          </a:p>
        </p:txBody>
      </p:sp>
      <p:sp>
        <p:nvSpPr>
          <p:cNvPr id="30" name="Text 5"/>
          <p:cNvSpPr/>
          <p:nvPr/>
        </p:nvSpPr>
        <p:spPr>
          <a:xfrm>
            <a:off x="3295650" y="2057400"/>
            <a:ext cx="24574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host</a:t>
            </a:r>
            <a:endParaRPr lang="en-US" sz="1350" dirty="0"/>
          </a:p>
        </p:txBody>
      </p:sp>
      <p:sp>
        <p:nvSpPr>
          <p:cNvPr id="31" name="Text 6"/>
          <p:cNvSpPr/>
          <p:nvPr/>
        </p:nvSpPr>
        <p:spPr>
          <a:xfrm>
            <a:off x="3295650" y="2324100"/>
            <a:ext cx="245745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Arial" pitchFamily="34" charset="0"/>
                <a:ea typeface="Arial" pitchFamily="34" charset="-122"/>
                <a:cs typeface="Arial" pitchFamily="34" charset="-120"/>
              </a:rPr>
              <a:t>Removes network isolation, allowing container to share host's network namespace directly.</a:t>
            </a:r>
            <a:endParaRPr lang="en-US" sz="1050" dirty="0"/>
          </a:p>
        </p:txBody>
      </p:sp>
      <p:sp>
        <p:nvSpPr>
          <p:cNvPr id="32" name="Text 7"/>
          <p:cNvSpPr/>
          <p:nvPr/>
        </p:nvSpPr>
        <p:spPr>
          <a:xfrm>
            <a:off x="495300" y="3238500"/>
            <a:ext cx="24574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none</a:t>
            </a:r>
            <a:endParaRPr lang="en-US" sz="1350" dirty="0"/>
          </a:p>
        </p:txBody>
      </p:sp>
      <p:sp>
        <p:nvSpPr>
          <p:cNvPr id="33" name="Text 8"/>
          <p:cNvSpPr/>
          <p:nvPr/>
        </p:nvSpPr>
        <p:spPr>
          <a:xfrm>
            <a:off x="495300" y="3505200"/>
            <a:ext cx="245745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Arial" pitchFamily="34" charset="0"/>
                <a:ea typeface="Arial" pitchFamily="34" charset="-122"/>
                <a:cs typeface="Arial" pitchFamily="34" charset="-120"/>
              </a:rPr>
              <a:t>Provides completely isolated network stack with no network access.</a:t>
            </a:r>
            <a:endParaRPr lang="en-US" sz="1050" dirty="0"/>
          </a:p>
        </p:txBody>
      </p:sp>
      <p:sp>
        <p:nvSpPr>
          <p:cNvPr id="34" name="Text 9"/>
          <p:cNvSpPr/>
          <p:nvPr/>
        </p:nvSpPr>
        <p:spPr>
          <a:xfrm>
            <a:off x="3295650" y="3238500"/>
            <a:ext cx="24574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overlay</a:t>
            </a:r>
            <a:endParaRPr lang="en-US" sz="1350" dirty="0"/>
          </a:p>
        </p:txBody>
      </p:sp>
      <p:sp>
        <p:nvSpPr>
          <p:cNvPr id="35" name="Text 10"/>
          <p:cNvSpPr/>
          <p:nvPr/>
        </p:nvSpPr>
        <p:spPr>
          <a:xfrm>
            <a:off x="3295650" y="3505200"/>
            <a:ext cx="245745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Arial" pitchFamily="34" charset="0"/>
                <a:ea typeface="Arial" pitchFamily="34" charset="-122"/>
                <a:cs typeface="Arial" pitchFamily="34" charset="-120"/>
              </a:rPr>
              <a:t>For multi-host networking, creating distributed networks across Docker hosts.</a:t>
            </a:r>
            <a:endParaRPr lang="en-US" sz="1050" dirty="0"/>
          </a:p>
        </p:txBody>
      </p:sp>
      <p:sp>
        <p:nvSpPr>
          <p:cNvPr id="36" name="Text 11"/>
          <p:cNvSpPr/>
          <p:nvPr/>
        </p:nvSpPr>
        <p:spPr>
          <a:xfrm>
            <a:off x="6657975" y="1524000"/>
            <a:ext cx="65836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Arial" pitchFamily="34" charset="0"/>
                <a:ea typeface="Arial" pitchFamily="34" charset="-122"/>
                <a:cs typeface="Arial" pitchFamily="34" charset="-120"/>
              </a:rPr>
              <a:t>Core Network Commands</a:t>
            </a:r>
            <a:endParaRPr lang="en-US" sz="1800" dirty="0"/>
          </a:p>
        </p:txBody>
      </p:sp>
      <p:sp>
        <p:nvSpPr>
          <p:cNvPr id="37" name="Text 12"/>
          <p:cNvSpPr/>
          <p:nvPr/>
        </p:nvSpPr>
        <p:spPr>
          <a:xfrm>
            <a:off x="6438900" y="20574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Create Network</a:t>
            </a:r>
            <a:endParaRPr lang="en-US" sz="1350" dirty="0"/>
          </a:p>
        </p:txBody>
      </p:sp>
      <p:sp>
        <p:nvSpPr>
          <p:cNvPr id="38" name="Text 13"/>
          <p:cNvSpPr/>
          <p:nvPr/>
        </p:nvSpPr>
        <p:spPr>
          <a:xfrm>
            <a:off x="6438900" y="2324100"/>
            <a:ext cx="630936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Creates a new user-defined network.</a:t>
            </a:r>
            <a:endParaRPr lang="en-US" sz="1200" dirty="0"/>
          </a:p>
        </p:txBody>
      </p:sp>
      <p:sp>
        <p:nvSpPr>
          <p:cNvPr id="39" name="Text 14"/>
          <p:cNvSpPr/>
          <p:nvPr/>
        </p:nvSpPr>
        <p:spPr>
          <a:xfrm>
            <a:off x="6553200" y="2628900"/>
            <a:ext cx="2586573" cy="381000"/>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docker network create</a:t>
            </a:r>
            <a:endParaRPr lang="en-US" sz="1200" dirty="0"/>
          </a:p>
        </p:txBody>
      </p:sp>
      <p:sp>
        <p:nvSpPr>
          <p:cNvPr id="40" name="Text 15"/>
          <p:cNvSpPr/>
          <p:nvPr/>
        </p:nvSpPr>
        <p:spPr>
          <a:xfrm>
            <a:off x="6438900" y="33909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List Networks</a:t>
            </a:r>
            <a:endParaRPr lang="en-US" sz="1350" dirty="0"/>
          </a:p>
        </p:txBody>
      </p:sp>
      <p:sp>
        <p:nvSpPr>
          <p:cNvPr id="41" name="Text 16"/>
          <p:cNvSpPr/>
          <p:nvPr/>
        </p:nvSpPr>
        <p:spPr>
          <a:xfrm>
            <a:off x="6438900" y="3657600"/>
            <a:ext cx="630936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Lists all Docker networks on the host.</a:t>
            </a:r>
            <a:endParaRPr lang="en-US" sz="1200" dirty="0"/>
          </a:p>
        </p:txBody>
      </p:sp>
      <p:sp>
        <p:nvSpPr>
          <p:cNvPr id="42" name="Text 17"/>
          <p:cNvSpPr/>
          <p:nvPr/>
        </p:nvSpPr>
        <p:spPr>
          <a:xfrm>
            <a:off x="6553200" y="3962400"/>
            <a:ext cx="2146161" cy="381000"/>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docker network ls</a:t>
            </a:r>
            <a:endParaRPr lang="en-US" sz="1200" dirty="0"/>
          </a:p>
        </p:txBody>
      </p:sp>
      <p:sp>
        <p:nvSpPr>
          <p:cNvPr id="43" name="Text 18"/>
          <p:cNvSpPr/>
          <p:nvPr/>
        </p:nvSpPr>
        <p:spPr>
          <a:xfrm>
            <a:off x="6438900" y="47244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Connect Container</a:t>
            </a:r>
            <a:endParaRPr lang="en-US" sz="1350" dirty="0"/>
          </a:p>
        </p:txBody>
      </p:sp>
      <p:sp>
        <p:nvSpPr>
          <p:cNvPr id="44" name="Text 19"/>
          <p:cNvSpPr/>
          <p:nvPr/>
        </p:nvSpPr>
        <p:spPr>
          <a:xfrm>
            <a:off x="6438900" y="4991100"/>
            <a:ext cx="630936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Connects a running container to an existing network.</a:t>
            </a:r>
            <a:endParaRPr lang="en-US" sz="1200" dirty="0"/>
          </a:p>
        </p:txBody>
      </p:sp>
      <p:sp>
        <p:nvSpPr>
          <p:cNvPr id="45" name="Text 20"/>
          <p:cNvSpPr/>
          <p:nvPr/>
        </p:nvSpPr>
        <p:spPr>
          <a:xfrm>
            <a:off x="6553200" y="5295900"/>
            <a:ext cx="2696587" cy="381000"/>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docker network connect</a:t>
            </a:r>
            <a:endParaRPr lang="en-US" sz="1200" dirty="0"/>
          </a:p>
        </p:txBody>
      </p:sp>
      <p:sp>
        <p:nvSpPr>
          <p:cNvPr id="46" name="Text 21"/>
          <p:cNvSpPr/>
          <p:nvPr/>
        </p:nvSpPr>
        <p:spPr>
          <a:xfrm>
            <a:off x="6438900" y="60579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Inspect Network</a:t>
            </a:r>
            <a:endParaRPr lang="en-US" sz="1350" dirty="0"/>
          </a:p>
        </p:txBody>
      </p:sp>
      <p:sp>
        <p:nvSpPr>
          <p:cNvPr id="47" name="Text 22"/>
          <p:cNvSpPr/>
          <p:nvPr/>
        </p:nvSpPr>
        <p:spPr>
          <a:xfrm>
            <a:off x="6438900" y="6324600"/>
            <a:ext cx="630936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Displays detailed information about a specific network.</a:t>
            </a:r>
            <a:endParaRPr lang="en-US" sz="1200" dirty="0"/>
          </a:p>
        </p:txBody>
      </p:sp>
      <p:sp>
        <p:nvSpPr>
          <p:cNvPr id="48" name="Text 23"/>
          <p:cNvSpPr/>
          <p:nvPr/>
        </p:nvSpPr>
        <p:spPr>
          <a:xfrm>
            <a:off x="6553200" y="6629400"/>
            <a:ext cx="2696587" cy="381000"/>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docker network inspect</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5"/>
          <a:stretch>
            <a:fillRect/>
          </a:stretch>
        </p:blipFill>
        <p:spPr>
          <a:xfrm>
            <a:off x="381000" y="1866900"/>
            <a:ext cx="3657600" cy="3695700"/>
          </a:xfrm>
          <a:prstGeom prst="rect">
            <a:avLst/>
          </a:prstGeom>
        </p:spPr>
      </p:pic>
      <p:pic>
        <p:nvPicPr>
          <p:cNvPr id="6" name="Image 4" descr="preencoded.png"/>
          <p:cNvPicPr>
            <a:picLocks noChangeAspect="1"/>
          </p:cNvPicPr>
          <p:nvPr/>
        </p:nvPicPr>
        <p:blipFill>
          <a:blip r:embed="rId6"/>
          <a:stretch>
            <a:fillRect/>
          </a:stretch>
        </p:blipFill>
        <p:spPr>
          <a:xfrm>
            <a:off x="523875" y="2076450"/>
            <a:ext cx="266700" cy="304800"/>
          </a:xfrm>
          <a:prstGeom prst="rect">
            <a:avLst/>
          </a:prstGeom>
        </p:spPr>
      </p:pic>
      <p:pic>
        <p:nvPicPr>
          <p:cNvPr id="7" name="Image 5" descr="preencoded.png"/>
          <p:cNvPicPr>
            <a:picLocks noChangeAspect="1"/>
          </p:cNvPicPr>
          <p:nvPr/>
        </p:nvPicPr>
        <p:blipFill>
          <a:blip r:embed="rId7"/>
          <a:stretch>
            <a:fillRect/>
          </a:stretch>
        </p:blipFill>
        <p:spPr>
          <a:xfrm>
            <a:off x="523875" y="2962275"/>
            <a:ext cx="152400" cy="152400"/>
          </a:xfrm>
          <a:prstGeom prst="rect">
            <a:avLst/>
          </a:prstGeom>
        </p:spPr>
      </p:pic>
      <p:pic>
        <p:nvPicPr>
          <p:cNvPr id="8" name="Image 6" descr="preencoded.png"/>
          <p:cNvPicPr>
            <a:picLocks noChangeAspect="1"/>
          </p:cNvPicPr>
          <p:nvPr/>
        </p:nvPicPr>
        <p:blipFill>
          <a:blip r:embed="rId7"/>
          <a:stretch>
            <a:fillRect/>
          </a:stretch>
        </p:blipFill>
        <p:spPr>
          <a:xfrm>
            <a:off x="523875" y="3267075"/>
            <a:ext cx="152400" cy="152400"/>
          </a:xfrm>
          <a:prstGeom prst="rect">
            <a:avLst/>
          </a:prstGeom>
        </p:spPr>
      </p:pic>
      <p:pic>
        <p:nvPicPr>
          <p:cNvPr id="9" name="Image 7" descr="preencoded.png"/>
          <p:cNvPicPr>
            <a:picLocks noChangeAspect="1"/>
          </p:cNvPicPr>
          <p:nvPr/>
        </p:nvPicPr>
        <p:blipFill>
          <a:blip r:embed="rId7"/>
          <a:stretch>
            <a:fillRect/>
          </a:stretch>
        </p:blipFill>
        <p:spPr>
          <a:xfrm>
            <a:off x="523875" y="3571875"/>
            <a:ext cx="152400" cy="152400"/>
          </a:xfrm>
          <a:prstGeom prst="rect">
            <a:avLst/>
          </a:prstGeom>
        </p:spPr>
      </p:pic>
      <p:pic>
        <p:nvPicPr>
          <p:cNvPr id="10" name="Image 8" descr="preencoded.png"/>
          <p:cNvPicPr>
            <a:picLocks noChangeAspect="1"/>
          </p:cNvPicPr>
          <p:nvPr/>
        </p:nvPicPr>
        <p:blipFill>
          <a:blip r:embed="rId7"/>
          <a:stretch>
            <a:fillRect/>
          </a:stretch>
        </p:blipFill>
        <p:spPr>
          <a:xfrm>
            <a:off x="523875" y="3876675"/>
            <a:ext cx="152400" cy="152400"/>
          </a:xfrm>
          <a:prstGeom prst="rect">
            <a:avLst/>
          </a:prstGeom>
        </p:spPr>
      </p:pic>
      <p:pic>
        <p:nvPicPr>
          <p:cNvPr id="11" name="Image 9" descr="preencoded.png"/>
          <p:cNvPicPr>
            <a:picLocks noChangeAspect="1"/>
          </p:cNvPicPr>
          <p:nvPr/>
        </p:nvPicPr>
        <p:blipFill>
          <a:blip r:embed="rId7"/>
          <a:stretch>
            <a:fillRect/>
          </a:stretch>
        </p:blipFill>
        <p:spPr>
          <a:xfrm>
            <a:off x="523875" y="4181475"/>
            <a:ext cx="152400" cy="152400"/>
          </a:xfrm>
          <a:prstGeom prst="rect">
            <a:avLst/>
          </a:prstGeom>
        </p:spPr>
      </p:pic>
      <p:pic>
        <p:nvPicPr>
          <p:cNvPr id="12" name="Image 10" descr="preencoded.png"/>
          <p:cNvPicPr>
            <a:picLocks noChangeAspect="1"/>
          </p:cNvPicPr>
          <p:nvPr/>
        </p:nvPicPr>
        <p:blipFill>
          <a:blip r:embed="rId8"/>
          <a:stretch>
            <a:fillRect/>
          </a:stretch>
        </p:blipFill>
        <p:spPr>
          <a:xfrm>
            <a:off x="4267200" y="1866900"/>
            <a:ext cx="3657600" cy="3695700"/>
          </a:xfrm>
          <a:prstGeom prst="rect">
            <a:avLst/>
          </a:prstGeom>
        </p:spPr>
      </p:pic>
      <p:pic>
        <p:nvPicPr>
          <p:cNvPr id="13" name="Image 11" descr="preencoded.png"/>
          <p:cNvPicPr>
            <a:picLocks noChangeAspect="1"/>
          </p:cNvPicPr>
          <p:nvPr/>
        </p:nvPicPr>
        <p:blipFill>
          <a:blip r:embed="rId9"/>
          <a:stretch>
            <a:fillRect/>
          </a:stretch>
        </p:blipFill>
        <p:spPr>
          <a:xfrm>
            <a:off x="4410075" y="2076450"/>
            <a:ext cx="342900" cy="304800"/>
          </a:xfrm>
          <a:prstGeom prst="rect">
            <a:avLst/>
          </a:prstGeom>
        </p:spPr>
      </p:pic>
      <p:pic>
        <p:nvPicPr>
          <p:cNvPr id="14" name="Image 12" descr="preencoded.png"/>
          <p:cNvPicPr>
            <a:picLocks noChangeAspect="1"/>
          </p:cNvPicPr>
          <p:nvPr/>
        </p:nvPicPr>
        <p:blipFill>
          <a:blip r:embed="rId8"/>
          <a:stretch>
            <a:fillRect/>
          </a:stretch>
        </p:blipFill>
        <p:spPr>
          <a:xfrm>
            <a:off x="8153400" y="1866900"/>
            <a:ext cx="3657600" cy="3695700"/>
          </a:xfrm>
          <a:prstGeom prst="rect">
            <a:avLst/>
          </a:prstGeom>
        </p:spPr>
      </p:pic>
      <p:pic>
        <p:nvPicPr>
          <p:cNvPr id="15" name="Image 13" descr="preencoded.png"/>
          <p:cNvPicPr>
            <a:picLocks noChangeAspect="1"/>
          </p:cNvPicPr>
          <p:nvPr/>
        </p:nvPicPr>
        <p:blipFill>
          <a:blip r:embed="rId10"/>
          <a:stretch>
            <a:fillRect/>
          </a:stretch>
        </p:blipFill>
        <p:spPr>
          <a:xfrm>
            <a:off x="8296275" y="2076450"/>
            <a:ext cx="381000" cy="304800"/>
          </a:xfrm>
          <a:prstGeom prst="rect">
            <a:avLst/>
          </a:prstGeom>
        </p:spPr>
      </p:pic>
      <p:pic>
        <p:nvPicPr>
          <p:cNvPr id="16" name="Image 14" descr="preencoded.png"/>
          <p:cNvPicPr>
            <a:picLocks noChangeAspect="1"/>
          </p:cNvPicPr>
          <p:nvPr/>
        </p:nvPicPr>
        <p:blipFill>
          <a:blip r:embed="rId11"/>
          <a:stretch>
            <a:fillRect/>
          </a:stretch>
        </p:blipFill>
        <p:spPr>
          <a:xfrm>
            <a:off x="8296275" y="3514725"/>
            <a:ext cx="3371850" cy="800100"/>
          </a:xfrm>
          <a:prstGeom prst="rect">
            <a:avLst/>
          </a:prstGeom>
        </p:spPr>
      </p:pic>
      <p:pic>
        <p:nvPicPr>
          <p:cNvPr id="17" name="Image 15" descr="preencoded.png"/>
          <p:cNvPicPr>
            <a:picLocks noChangeAspect="1"/>
          </p:cNvPicPr>
          <p:nvPr/>
        </p:nvPicPr>
        <p:blipFill>
          <a:blip r:embed="rId12"/>
          <a:stretch>
            <a:fillRect/>
          </a:stretch>
        </p:blipFill>
        <p:spPr>
          <a:xfrm>
            <a:off x="8296275" y="4429125"/>
            <a:ext cx="3371850" cy="990600"/>
          </a:xfrm>
          <a:prstGeom prst="rect">
            <a:avLst/>
          </a:prstGeom>
        </p:spPr>
      </p:pic>
      <p:sp>
        <p:nvSpPr>
          <p:cNvPr id="18"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Arial" pitchFamily="34" charset="0"/>
                <a:ea typeface="Arial" pitchFamily="34" charset="-122"/>
                <a:cs typeface="Arial" pitchFamily="34" charset="-120"/>
              </a:rPr>
              <a:t>Docker Volume Commands</a:t>
            </a:r>
            <a:endParaRPr lang="en-US" sz="2700" dirty="0"/>
          </a:p>
        </p:txBody>
      </p:sp>
      <p:sp>
        <p:nvSpPr>
          <p:cNvPr id="19" name="Text 1"/>
          <p:cNvSpPr/>
          <p:nvPr/>
        </p:nvSpPr>
        <p:spPr>
          <a:xfrm>
            <a:off x="381000" y="1104900"/>
            <a:ext cx="114300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Arial" pitchFamily="34" charset="0"/>
                <a:ea typeface="Arial" pitchFamily="34" charset="-122"/>
                <a:cs typeface="Arial" pitchFamily="34" charset="-120"/>
              </a:rPr>
              <a:t>Volumes are the preferred mechanism for persisting data generated by and used by Docker containers. They are managed by Docker and isolated from the host machine's core functionality.</a:t>
            </a:r>
            <a:endParaRPr lang="en-US" sz="1350" dirty="0"/>
          </a:p>
        </p:txBody>
      </p:sp>
      <p:sp>
        <p:nvSpPr>
          <p:cNvPr id="20" name="Text 2"/>
          <p:cNvSpPr/>
          <p:nvPr/>
        </p:nvSpPr>
        <p:spPr>
          <a:xfrm>
            <a:off x="523875" y="2562225"/>
            <a:ext cx="40462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Why Use Volumes?</a:t>
            </a:r>
            <a:endParaRPr lang="en-US" sz="1500" dirty="0"/>
          </a:p>
        </p:txBody>
      </p:sp>
      <p:sp>
        <p:nvSpPr>
          <p:cNvPr id="21" name="Text 3"/>
          <p:cNvSpPr/>
          <p:nvPr/>
        </p:nvSpPr>
        <p:spPr>
          <a:xfrm>
            <a:off x="561975" y="2943225"/>
            <a:ext cx="356235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Arial" pitchFamily="34" charset="0"/>
                <a:ea typeface="Arial" pitchFamily="34" charset="-122"/>
                <a:cs typeface="Arial" pitchFamily="34" charset="-120"/>
              </a:rPr>
              <a:t> Data Persistence</a:t>
            </a:r>
            <a:endParaRPr lang="en-US" sz="1200" dirty="0"/>
          </a:p>
        </p:txBody>
      </p:sp>
      <p:sp>
        <p:nvSpPr>
          <p:cNvPr id="22" name="Text 4"/>
          <p:cNvSpPr/>
          <p:nvPr/>
        </p:nvSpPr>
        <p:spPr>
          <a:xfrm>
            <a:off x="561975" y="3248025"/>
            <a:ext cx="356235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Arial" pitchFamily="34" charset="0"/>
                <a:ea typeface="Arial" pitchFamily="34" charset="-122"/>
                <a:cs typeface="Arial" pitchFamily="34" charset="-120"/>
              </a:rPr>
              <a:t> Managed by Docker</a:t>
            </a:r>
            <a:endParaRPr lang="en-US" sz="1200" dirty="0"/>
          </a:p>
        </p:txBody>
      </p:sp>
      <p:sp>
        <p:nvSpPr>
          <p:cNvPr id="23" name="Text 5"/>
          <p:cNvSpPr/>
          <p:nvPr/>
        </p:nvSpPr>
        <p:spPr>
          <a:xfrm>
            <a:off x="561975" y="3552825"/>
            <a:ext cx="356235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Arial" pitchFamily="34" charset="0"/>
                <a:ea typeface="Arial" pitchFamily="34" charset="-122"/>
                <a:cs typeface="Arial" pitchFamily="34" charset="-120"/>
              </a:rPr>
              <a:t> Portability</a:t>
            </a:r>
            <a:endParaRPr lang="en-US" sz="1200" dirty="0"/>
          </a:p>
        </p:txBody>
      </p:sp>
      <p:sp>
        <p:nvSpPr>
          <p:cNvPr id="24" name="Text 6"/>
          <p:cNvSpPr/>
          <p:nvPr/>
        </p:nvSpPr>
        <p:spPr>
          <a:xfrm>
            <a:off x="561975" y="3857625"/>
            <a:ext cx="42748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Arial" pitchFamily="34" charset="0"/>
                <a:ea typeface="Arial" pitchFamily="34" charset="-122"/>
                <a:cs typeface="Arial" pitchFamily="34" charset="-120"/>
              </a:rPr>
              <a:t> Better Performance</a:t>
            </a:r>
            <a:endParaRPr lang="en-US" sz="1200" dirty="0"/>
          </a:p>
        </p:txBody>
      </p:sp>
      <p:sp>
        <p:nvSpPr>
          <p:cNvPr id="25" name="Text 7"/>
          <p:cNvSpPr/>
          <p:nvPr/>
        </p:nvSpPr>
        <p:spPr>
          <a:xfrm>
            <a:off x="561975" y="4162425"/>
            <a:ext cx="356235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Arial" pitchFamily="34" charset="0"/>
                <a:ea typeface="Arial" pitchFamily="34" charset="-122"/>
                <a:cs typeface="Arial" pitchFamily="34" charset="-120"/>
              </a:rPr>
              <a:t> Data Sharing</a:t>
            </a:r>
            <a:endParaRPr lang="en-US" sz="1200" dirty="0"/>
          </a:p>
        </p:txBody>
      </p:sp>
      <p:sp>
        <p:nvSpPr>
          <p:cNvPr id="26" name="Text 8"/>
          <p:cNvSpPr/>
          <p:nvPr/>
        </p:nvSpPr>
        <p:spPr>
          <a:xfrm>
            <a:off x="4410075" y="2562225"/>
            <a:ext cx="40462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Core Volume Commands</a:t>
            </a:r>
            <a:endParaRPr lang="en-US" sz="1500" dirty="0"/>
          </a:p>
        </p:txBody>
      </p:sp>
      <p:sp>
        <p:nvSpPr>
          <p:cNvPr id="27" name="Text 9"/>
          <p:cNvSpPr/>
          <p:nvPr/>
        </p:nvSpPr>
        <p:spPr>
          <a:xfrm>
            <a:off x="4410075" y="2971800"/>
            <a:ext cx="1880592" cy="161925"/>
          </a:xfrm>
          <a:prstGeom prst="rect">
            <a:avLst/>
          </a:prstGeom>
          <a:noFill/>
          <a:ln/>
        </p:spPr>
        <p:txBody>
          <a:bodyPr vert="horz" wrap="square" lIns="0" tIns="0" rIns="0" bIns="0" rtlCol="0" anchor="t"/>
          <a:lstStyle/>
          <a:p>
            <a:pPr marL="0" indent="0" algn="l">
              <a:lnSpc>
                <a:spcPts val="1800"/>
              </a:lnSpc>
              <a:buNone/>
            </a:pPr>
            <a:r>
              <a:rPr lang="en-US" sz="1200" b="1" dirty="0">
                <a:solidFill>
                  <a:srgbClr val="4B5563"/>
                </a:solidFill>
                <a:latin typeface="Arial" pitchFamily="34" charset="0"/>
                <a:ea typeface="Arial" pitchFamily="34" charset="-122"/>
                <a:cs typeface="Arial" pitchFamily="34" charset="-120"/>
              </a:rPr>
              <a:t>docker volume create</a:t>
            </a:r>
            <a:endParaRPr lang="en-US" sz="1200" dirty="0"/>
          </a:p>
        </p:txBody>
      </p:sp>
      <p:sp>
        <p:nvSpPr>
          <p:cNvPr id="28" name="Text 10"/>
          <p:cNvSpPr/>
          <p:nvPr/>
        </p:nvSpPr>
        <p:spPr>
          <a:xfrm>
            <a:off x="4410075" y="3171825"/>
            <a:ext cx="4046220"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Arial" pitchFamily="34" charset="0"/>
                <a:ea typeface="Arial" pitchFamily="34" charset="-122"/>
                <a:cs typeface="Arial" pitchFamily="34" charset="-120"/>
              </a:rPr>
              <a:t>Creates a new Docker volume</a:t>
            </a:r>
            <a:endParaRPr lang="en-US" sz="1050" dirty="0"/>
          </a:p>
        </p:txBody>
      </p:sp>
      <p:sp>
        <p:nvSpPr>
          <p:cNvPr id="29" name="Text 11"/>
          <p:cNvSpPr/>
          <p:nvPr/>
        </p:nvSpPr>
        <p:spPr>
          <a:xfrm>
            <a:off x="4410075" y="3467100"/>
            <a:ext cx="1494115" cy="161925"/>
          </a:xfrm>
          <a:prstGeom prst="rect">
            <a:avLst/>
          </a:prstGeom>
          <a:noFill/>
          <a:ln/>
        </p:spPr>
        <p:txBody>
          <a:bodyPr vert="horz" wrap="square" lIns="0" tIns="0" rIns="0" bIns="0" rtlCol="0" anchor="t"/>
          <a:lstStyle/>
          <a:p>
            <a:pPr marL="0" indent="0" algn="l">
              <a:lnSpc>
                <a:spcPts val="1800"/>
              </a:lnSpc>
              <a:buNone/>
            </a:pPr>
            <a:r>
              <a:rPr lang="en-US" sz="1200" b="1" dirty="0">
                <a:solidFill>
                  <a:srgbClr val="4B5563"/>
                </a:solidFill>
                <a:latin typeface="Arial" pitchFamily="34" charset="0"/>
                <a:ea typeface="Arial" pitchFamily="34" charset="-122"/>
                <a:cs typeface="Arial" pitchFamily="34" charset="-120"/>
              </a:rPr>
              <a:t>docker volume ls</a:t>
            </a:r>
            <a:endParaRPr lang="en-US" sz="1200" dirty="0"/>
          </a:p>
        </p:txBody>
      </p:sp>
      <p:sp>
        <p:nvSpPr>
          <p:cNvPr id="30" name="Text 12"/>
          <p:cNvSpPr/>
          <p:nvPr/>
        </p:nvSpPr>
        <p:spPr>
          <a:xfrm>
            <a:off x="4410075" y="3667125"/>
            <a:ext cx="4046220"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Arial" pitchFamily="34" charset="0"/>
                <a:ea typeface="Arial" pitchFamily="34" charset="-122"/>
                <a:cs typeface="Arial" pitchFamily="34" charset="-120"/>
              </a:rPr>
              <a:t>Lists all Docker volumes</a:t>
            </a:r>
            <a:endParaRPr lang="en-US" sz="1050" dirty="0"/>
          </a:p>
        </p:txBody>
      </p:sp>
      <p:sp>
        <p:nvSpPr>
          <p:cNvPr id="31" name="Text 13"/>
          <p:cNvSpPr/>
          <p:nvPr/>
        </p:nvSpPr>
        <p:spPr>
          <a:xfrm>
            <a:off x="4410075" y="3962400"/>
            <a:ext cx="1981855" cy="161925"/>
          </a:xfrm>
          <a:prstGeom prst="rect">
            <a:avLst/>
          </a:prstGeom>
          <a:noFill/>
          <a:ln/>
        </p:spPr>
        <p:txBody>
          <a:bodyPr vert="horz" wrap="square" lIns="0" tIns="0" rIns="0" bIns="0" rtlCol="0" anchor="t"/>
          <a:lstStyle/>
          <a:p>
            <a:pPr marL="0" indent="0" algn="l">
              <a:lnSpc>
                <a:spcPts val="1800"/>
              </a:lnSpc>
              <a:buNone/>
            </a:pPr>
            <a:r>
              <a:rPr lang="en-US" sz="1200" b="1" dirty="0">
                <a:solidFill>
                  <a:srgbClr val="4B5563"/>
                </a:solidFill>
                <a:latin typeface="Arial" pitchFamily="34" charset="0"/>
                <a:ea typeface="Arial" pitchFamily="34" charset="-122"/>
                <a:cs typeface="Arial" pitchFamily="34" charset="-120"/>
              </a:rPr>
              <a:t>docker volume inspect</a:t>
            </a:r>
            <a:endParaRPr lang="en-US" sz="1200" dirty="0"/>
          </a:p>
        </p:txBody>
      </p:sp>
      <p:sp>
        <p:nvSpPr>
          <p:cNvPr id="32" name="Text 14"/>
          <p:cNvSpPr/>
          <p:nvPr/>
        </p:nvSpPr>
        <p:spPr>
          <a:xfrm>
            <a:off x="4410075" y="4162425"/>
            <a:ext cx="4046220"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Arial" pitchFamily="34" charset="0"/>
                <a:ea typeface="Arial" pitchFamily="34" charset="-122"/>
                <a:cs typeface="Arial" pitchFamily="34" charset="-120"/>
              </a:rPr>
              <a:t>Displays detailed volume information</a:t>
            </a:r>
            <a:endParaRPr lang="en-US" sz="1050" dirty="0"/>
          </a:p>
        </p:txBody>
      </p:sp>
      <p:sp>
        <p:nvSpPr>
          <p:cNvPr id="33" name="Text 15"/>
          <p:cNvSpPr/>
          <p:nvPr/>
        </p:nvSpPr>
        <p:spPr>
          <a:xfrm>
            <a:off x="4410075" y="4457700"/>
            <a:ext cx="1575375" cy="161925"/>
          </a:xfrm>
          <a:prstGeom prst="rect">
            <a:avLst/>
          </a:prstGeom>
          <a:noFill/>
          <a:ln/>
        </p:spPr>
        <p:txBody>
          <a:bodyPr vert="horz" wrap="square" lIns="0" tIns="0" rIns="0" bIns="0" rtlCol="0" anchor="t"/>
          <a:lstStyle/>
          <a:p>
            <a:pPr marL="0" indent="0" algn="l">
              <a:lnSpc>
                <a:spcPts val="1800"/>
              </a:lnSpc>
              <a:buNone/>
            </a:pPr>
            <a:r>
              <a:rPr lang="en-US" sz="1200" b="1" dirty="0">
                <a:solidFill>
                  <a:srgbClr val="4B5563"/>
                </a:solidFill>
                <a:latin typeface="Arial" pitchFamily="34" charset="0"/>
                <a:ea typeface="Arial" pitchFamily="34" charset="-122"/>
                <a:cs typeface="Arial" pitchFamily="34" charset="-120"/>
              </a:rPr>
              <a:t>docker volume rm</a:t>
            </a:r>
            <a:endParaRPr lang="en-US" sz="1200" dirty="0"/>
          </a:p>
        </p:txBody>
      </p:sp>
      <p:sp>
        <p:nvSpPr>
          <p:cNvPr id="34" name="Text 16"/>
          <p:cNvSpPr/>
          <p:nvPr/>
        </p:nvSpPr>
        <p:spPr>
          <a:xfrm>
            <a:off x="4410075" y="4657725"/>
            <a:ext cx="4046220"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Arial" pitchFamily="34" charset="0"/>
                <a:ea typeface="Arial" pitchFamily="34" charset="-122"/>
                <a:cs typeface="Arial" pitchFamily="34" charset="-120"/>
              </a:rPr>
              <a:t>Removes one or more volumes</a:t>
            </a:r>
            <a:endParaRPr lang="en-US" sz="1050" dirty="0"/>
          </a:p>
        </p:txBody>
      </p:sp>
      <p:sp>
        <p:nvSpPr>
          <p:cNvPr id="35" name="Text 17"/>
          <p:cNvSpPr/>
          <p:nvPr/>
        </p:nvSpPr>
        <p:spPr>
          <a:xfrm>
            <a:off x="4410075" y="4953000"/>
            <a:ext cx="1849695" cy="161925"/>
          </a:xfrm>
          <a:prstGeom prst="rect">
            <a:avLst/>
          </a:prstGeom>
          <a:noFill/>
          <a:ln/>
        </p:spPr>
        <p:txBody>
          <a:bodyPr vert="horz" wrap="square" lIns="0" tIns="0" rIns="0" bIns="0" rtlCol="0" anchor="t"/>
          <a:lstStyle/>
          <a:p>
            <a:pPr marL="0" indent="0" algn="l">
              <a:lnSpc>
                <a:spcPts val="1800"/>
              </a:lnSpc>
              <a:buNone/>
            </a:pPr>
            <a:r>
              <a:rPr lang="en-US" sz="1200" b="1" dirty="0">
                <a:solidFill>
                  <a:srgbClr val="4B5563"/>
                </a:solidFill>
                <a:latin typeface="Arial" pitchFamily="34" charset="0"/>
                <a:ea typeface="Arial" pitchFamily="34" charset="-122"/>
                <a:cs typeface="Arial" pitchFamily="34" charset="-120"/>
              </a:rPr>
              <a:t>docker volume prune</a:t>
            </a:r>
            <a:endParaRPr lang="en-US" sz="1200" dirty="0"/>
          </a:p>
        </p:txBody>
      </p:sp>
      <p:sp>
        <p:nvSpPr>
          <p:cNvPr id="36" name="Text 18"/>
          <p:cNvSpPr/>
          <p:nvPr/>
        </p:nvSpPr>
        <p:spPr>
          <a:xfrm>
            <a:off x="4410075" y="5153025"/>
            <a:ext cx="4046220"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Arial" pitchFamily="34" charset="0"/>
                <a:ea typeface="Arial" pitchFamily="34" charset="-122"/>
                <a:cs typeface="Arial" pitchFamily="34" charset="-120"/>
              </a:rPr>
              <a:t>Removes all unused local volumes</a:t>
            </a:r>
            <a:endParaRPr lang="en-US" sz="1050" dirty="0"/>
          </a:p>
        </p:txBody>
      </p:sp>
      <p:sp>
        <p:nvSpPr>
          <p:cNvPr id="37" name="Text 19"/>
          <p:cNvSpPr/>
          <p:nvPr/>
        </p:nvSpPr>
        <p:spPr>
          <a:xfrm>
            <a:off x="8296275" y="2562225"/>
            <a:ext cx="40462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Arial" pitchFamily="34" charset="0"/>
                <a:ea typeface="Arial" pitchFamily="34" charset="-122"/>
                <a:cs typeface="Arial" pitchFamily="34" charset="-120"/>
              </a:rPr>
              <a:t>Mounting Volumes</a:t>
            </a:r>
            <a:endParaRPr lang="en-US" sz="1500" dirty="0"/>
          </a:p>
        </p:txBody>
      </p:sp>
      <p:sp>
        <p:nvSpPr>
          <p:cNvPr id="38" name="Text 20"/>
          <p:cNvSpPr/>
          <p:nvPr/>
        </p:nvSpPr>
        <p:spPr>
          <a:xfrm>
            <a:off x="8296275" y="2943225"/>
            <a:ext cx="33718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Arial" pitchFamily="34" charset="0"/>
                <a:ea typeface="Arial" pitchFamily="34" charset="-122"/>
                <a:cs typeface="Arial" pitchFamily="34" charset="-120"/>
              </a:rPr>
              <a:t>Volumes can be mounted using </a:t>
            </a:r>
            <a:r>
              <a:rPr lang="en-US" sz="1200" b="1" dirty="0">
                <a:solidFill>
                  <a:srgbClr val="4B5563"/>
                </a:solidFill>
                <a:latin typeface="Arial" pitchFamily="34" charset="0"/>
                <a:ea typeface="Arial" pitchFamily="34" charset="-122"/>
                <a:cs typeface="Arial" pitchFamily="34" charset="-120"/>
              </a:rPr>
              <a:t>docker run</a:t>
            </a:r>
            <a:r>
              <a:rPr lang="en-US" sz="1200" dirty="0">
                <a:solidFill>
                  <a:srgbClr val="4B5563"/>
                </a:solidFill>
                <a:latin typeface="Arial" pitchFamily="34" charset="0"/>
                <a:ea typeface="Arial" pitchFamily="34" charset="-122"/>
                <a:cs typeface="Arial" pitchFamily="34" charset="-120"/>
              </a:rPr>
              <a:t> with either the </a:t>
            </a:r>
            <a:r>
              <a:rPr lang="en-US" sz="1200" b="1" dirty="0">
                <a:solidFill>
                  <a:srgbClr val="4B5563"/>
                </a:solidFill>
                <a:latin typeface="Arial" pitchFamily="34" charset="0"/>
                <a:ea typeface="Arial" pitchFamily="34" charset="-122"/>
                <a:cs typeface="Arial" pitchFamily="34" charset="-120"/>
              </a:rPr>
              <a:t>-v</a:t>
            </a:r>
            <a:r>
              <a:rPr lang="en-US" sz="1200" dirty="0">
                <a:solidFill>
                  <a:srgbClr val="4B5563"/>
                </a:solidFill>
                <a:latin typeface="Arial" pitchFamily="34" charset="0"/>
                <a:ea typeface="Arial" pitchFamily="34" charset="-122"/>
                <a:cs typeface="Arial" pitchFamily="34" charset="-120"/>
              </a:rPr>
              <a:t> or </a:t>
            </a:r>
            <a:r>
              <a:rPr lang="en-US" sz="1200" b="1" dirty="0">
                <a:solidFill>
                  <a:srgbClr val="4B5563"/>
                </a:solidFill>
                <a:latin typeface="Arial" pitchFamily="34" charset="0"/>
                <a:ea typeface="Arial" pitchFamily="34" charset="-122"/>
                <a:cs typeface="Arial" pitchFamily="34" charset="-120"/>
              </a:rPr>
              <a:t>--mount</a:t>
            </a:r>
            <a:r>
              <a:rPr lang="en-US" sz="1200" dirty="0">
                <a:solidFill>
                  <a:srgbClr val="4B5563"/>
                </a:solidFill>
                <a:latin typeface="Arial" pitchFamily="34" charset="0"/>
                <a:ea typeface="Arial" pitchFamily="34" charset="-122"/>
                <a:cs typeface="Arial" pitchFamily="34" charset="-120"/>
              </a:rPr>
              <a:t> flag.</a:t>
            </a:r>
            <a:endParaRPr lang="en-US" sz="1200" dirty="0"/>
          </a:p>
        </p:txBody>
      </p:sp>
      <p:sp>
        <p:nvSpPr>
          <p:cNvPr id="39" name="Text 21"/>
          <p:cNvSpPr/>
          <p:nvPr/>
        </p:nvSpPr>
        <p:spPr>
          <a:xfrm>
            <a:off x="8439150" y="3609975"/>
            <a:ext cx="3086100" cy="3810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Consolas" pitchFamily="34" charset="0"/>
                <a:ea typeface="Consolas" pitchFamily="34" charset="-122"/>
                <a:cs typeface="Consolas" pitchFamily="34" charset="-120"/>
              </a:rPr>
              <a:t>$ docker run -v my-volume:/data image_tag</a:t>
            </a:r>
            <a:endParaRPr lang="en-US" sz="1050" dirty="0"/>
          </a:p>
        </p:txBody>
      </p:sp>
      <p:sp>
        <p:nvSpPr>
          <p:cNvPr id="40" name="Text 22"/>
          <p:cNvSpPr/>
          <p:nvPr/>
        </p:nvSpPr>
        <p:spPr>
          <a:xfrm>
            <a:off x="8439150" y="4029075"/>
            <a:ext cx="370332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Consolas" pitchFamily="34" charset="0"/>
                <a:ea typeface="Consolas" pitchFamily="34" charset="-122"/>
                <a:cs typeface="Consolas" pitchFamily="34" charset="-120"/>
              </a:rPr>
              <a:t>Using -v (shorthand)</a:t>
            </a:r>
            <a:endParaRPr lang="en-US" sz="1050" dirty="0"/>
          </a:p>
        </p:txBody>
      </p:sp>
      <p:sp>
        <p:nvSpPr>
          <p:cNvPr id="41" name="Text 23"/>
          <p:cNvSpPr/>
          <p:nvPr/>
        </p:nvSpPr>
        <p:spPr>
          <a:xfrm>
            <a:off x="8439150" y="4524375"/>
            <a:ext cx="3086100" cy="571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Consolas" pitchFamily="34" charset="0"/>
                <a:ea typeface="Consolas" pitchFamily="34" charset="-122"/>
                <a:cs typeface="Consolas" pitchFamily="34" charset="-120"/>
              </a:rPr>
              <a:t>$ docker run --mount type=volume,source=my-volume,target=/data image_tag</a:t>
            </a:r>
            <a:endParaRPr lang="en-US" sz="1050" dirty="0"/>
          </a:p>
        </p:txBody>
      </p:sp>
      <p:sp>
        <p:nvSpPr>
          <p:cNvPr id="42" name="Text 24"/>
          <p:cNvSpPr/>
          <p:nvPr/>
        </p:nvSpPr>
        <p:spPr>
          <a:xfrm>
            <a:off x="8439150" y="5133975"/>
            <a:ext cx="370332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Consolas" pitchFamily="34" charset="0"/>
                <a:ea typeface="Consolas" pitchFamily="34" charset="-122"/>
                <a:cs typeface="Consolas" pitchFamily="34" charset="-120"/>
              </a:rPr>
              <a:t>Using --mount (explicit)</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5"/>
          <a:stretch>
            <a:fillRect/>
          </a:stretch>
        </p:blipFill>
        <p:spPr>
          <a:xfrm>
            <a:off x="381000" y="1104900"/>
            <a:ext cx="3657600" cy="3886200"/>
          </a:xfrm>
          <a:prstGeom prst="rect">
            <a:avLst/>
          </a:prstGeom>
        </p:spPr>
      </p:pic>
      <p:pic>
        <p:nvPicPr>
          <p:cNvPr id="6" name="Image 4" descr="preencoded.png"/>
          <p:cNvPicPr>
            <a:picLocks noChangeAspect="1"/>
          </p:cNvPicPr>
          <p:nvPr/>
        </p:nvPicPr>
        <p:blipFill>
          <a:blip r:embed="rId6"/>
          <a:stretch>
            <a:fillRect/>
          </a:stretch>
        </p:blipFill>
        <p:spPr>
          <a:xfrm>
            <a:off x="571500" y="1295400"/>
            <a:ext cx="3276600" cy="419100"/>
          </a:xfrm>
          <a:prstGeom prst="rect">
            <a:avLst/>
          </a:prstGeom>
        </p:spPr>
      </p:pic>
      <p:pic>
        <p:nvPicPr>
          <p:cNvPr id="7" name="Image 5" descr="preencoded.png"/>
          <p:cNvPicPr>
            <a:picLocks noChangeAspect="1"/>
          </p:cNvPicPr>
          <p:nvPr/>
        </p:nvPicPr>
        <p:blipFill>
          <a:blip r:embed="rId7"/>
          <a:stretch>
            <a:fillRect/>
          </a:stretch>
        </p:blipFill>
        <p:spPr>
          <a:xfrm>
            <a:off x="571500" y="1295400"/>
            <a:ext cx="361950" cy="342900"/>
          </a:xfrm>
          <a:prstGeom prst="rect">
            <a:avLst/>
          </a:prstGeom>
        </p:spPr>
      </p:pic>
      <p:pic>
        <p:nvPicPr>
          <p:cNvPr id="8" name="Image 6" descr="preencoded.png"/>
          <p:cNvPicPr>
            <a:picLocks noChangeAspect="1"/>
          </p:cNvPicPr>
          <p:nvPr/>
        </p:nvPicPr>
        <p:blipFill>
          <a:blip r:embed="rId8"/>
          <a:stretch>
            <a:fillRect/>
          </a:stretch>
        </p:blipFill>
        <p:spPr>
          <a:xfrm>
            <a:off x="571500" y="2819400"/>
            <a:ext cx="152400" cy="152400"/>
          </a:xfrm>
          <a:prstGeom prst="rect">
            <a:avLst/>
          </a:prstGeom>
        </p:spPr>
      </p:pic>
      <p:pic>
        <p:nvPicPr>
          <p:cNvPr id="9" name="Image 7" descr="preencoded.png"/>
          <p:cNvPicPr>
            <a:picLocks noChangeAspect="1"/>
          </p:cNvPicPr>
          <p:nvPr/>
        </p:nvPicPr>
        <p:blipFill>
          <a:blip r:embed="rId8"/>
          <a:stretch>
            <a:fillRect/>
          </a:stretch>
        </p:blipFill>
        <p:spPr>
          <a:xfrm>
            <a:off x="571500" y="3352800"/>
            <a:ext cx="152400" cy="152400"/>
          </a:xfrm>
          <a:prstGeom prst="rect">
            <a:avLst/>
          </a:prstGeom>
        </p:spPr>
      </p:pic>
      <p:pic>
        <p:nvPicPr>
          <p:cNvPr id="10" name="Image 8" descr="preencoded.png"/>
          <p:cNvPicPr>
            <a:picLocks noChangeAspect="1"/>
          </p:cNvPicPr>
          <p:nvPr/>
        </p:nvPicPr>
        <p:blipFill>
          <a:blip r:embed="rId9"/>
          <a:stretch>
            <a:fillRect/>
          </a:stretch>
        </p:blipFill>
        <p:spPr>
          <a:xfrm>
            <a:off x="571500" y="3886200"/>
            <a:ext cx="3276600" cy="381000"/>
          </a:xfrm>
          <a:prstGeom prst="rect">
            <a:avLst/>
          </a:prstGeom>
        </p:spPr>
      </p:pic>
      <p:pic>
        <p:nvPicPr>
          <p:cNvPr id="11" name="Image 9" descr="preencoded.png"/>
          <p:cNvPicPr>
            <a:picLocks noChangeAspect="1"/>
          </p:cNvPicPr>
          <p:nvPr/>
        </p:nvPicPr>
        <p:blipFill>
          <a:blip r:embed="rId9"/>
          <a:stretch>
            <a:fillRect/>
          </a:stretch>
        </p:blipFill>
        <p:spPr>
          <a:xfrm>
            <a:off x="571500" y="4343400"/>
            <a:ext cx="3276600" cy="381000"/>
          </a:xfrm>
          <a:prstGeom prst="rect">
            <a:avLst/>
          </a:prstGeom>
        </p:spPr>
      </p:pic>
      <p:pic>
        <p:nvPicPr>
          <p:cNvPr id="12" name="Image 10" descr="preencoded.png"/>
          <p:cNvPicPr>
            <a:picLocks noChangeAspect="1"/>
          </p:cNvPicPr>
          <p:nvPr/>
        </p:nvPicPr>
        <p:blipFill>
          <a:blip r:embed="rId10"/>
          <a:stretch>
            <a:fillRect/>
          </a:stretch>
        </p:blipFill>
        <p:spPr>
          <a:xfrm>
            <a:off x="4267200" y="1104900"/>
            <a:ext cx="3657600" cy="3886200"/>
          </a:xfrm>
          <a:prstGeom prst="rect">
            <a:avLst/>
          </a:prstGeom>
        </p:spPr>
      </p:pic>
      <p:pic>
        <p:nvPicPr>
          <p:cNvPr id="13" name="Image 11" descr="preencoded.png"/>
          <p:cNvPicPr>
            <a:picLocks noChangeAspect="1"/>
          </p:cNvPicPr>
          <p:nvPr/>
        </p:nvPicPr>
        <p:blipFill>
          <a:blip r:embed="rId6"/>
          <a:stretch>
            <a:fillRect/>
          </a:stretch>
        </p:blipFill>
        <p:spPr>
          <a:xfrm>
            <a:off x="4457700" y="1295400"/>
            <a:ext cx="3276600" cy="419100"/>
          </a:xfrm>
          <a:prstGeom prst="rect">
            <a:avLst/>
          </a:prstGeom>
        </p:spPr>
      </p:pic>
      <p:pic>
        <p:nvPicPr>
          <p:cNvPr id="14" name="Image 12" descr="preencoded.png"/>
          <p:cNvPicPr>
            <a:picLocks noChangeAspect="1"/>
          </p:cNvPicPr>
          <p:nvPr/>
        </p:nvPicPr>
        <p:blipFill>
          <a:blip r:embed="rId11"/>
          <a:stretch>
            <a:fillRect/>
          </a:stretch>
        </p:blipFill>
        <p:spPr>
          <a:xfrm>
            <a:off x="4457700" y="1295400"/>
            <a:ext cx="285750" cy="342900"/>
          </a:xfrm>
          <a:prstGeom prst="rect">
            <a:avLst/>
          </a:prstGeom>
        </p:spPr>
      </p:pic>
      <p:pic>
        <p:nvPicPr>
          <p:cNvPr id="15" name="Image 13" descr="preencoded.png"/>
          <p:cNvPicPr>
            <a:picLocks noChangeAspect="1"/>
          </p:cNvPicPr>
          <p:nvPr/>
        </p:nvPicPr>
        <p:blipFill>
          <a:blip r:embed="rId9"/>
          <a:stretch>
            <a:fillRect/>
          </a:stretch>
        </p:blipFill>
        <p:spPr>
          <a:xfrm>
            <a:off x="4457700" y="2781300"/>
            <a:ext cx="3276600" cy="381000"/>
          </a:xfrm>
          <a:prstGeom prst="rect">
            <a:avLst/>
          </a:prstGeom>
        </p:spPr>
      </p:pic>
      <p:pic>
        <p:nvPicPr>
          <p:cNvPr id="16" name="Image 14" descr="preencoded.png"/>
          <p:cNvPicPr>
            <a:picLocks noChangeAspect="1"/>
          </p:cNvPicPr>
          <p:nvPr/>
        </p:nvPicPr>
        <p:blipFill>
          <a:blip r:embed="rId8"/>
          <a:stretch>
            <a:fillRect/>
          </a:stretch>
        </p:blipFill>
        <p:spPr>
          <a:xfrm>
            <a:off x="4457700" y="4152900"/>
            <a:ext cx="152400" cy="152400"/>
          </a:xfrm>
          <a:prstGeom prst="rect">
            <a:avLst/>
          </a:prstGeom>
        </p:spPr>
      </p:pic>
      <p:pic>
        <p:nvPicPr>
          <p:cNvPr id="17" name="Image 15" descr="preencoded.png"/>
          <p:cNvPicPr>
            <a:picLocks noChangeAspect="1"/>
          </p:cNvPicPr>
          <p:nvPr/>
        </p:nvPicPr>
        <p:blipFill>
          <a:blip r:embed="rId8"/>
          <a:stretch>
            <a:fillRect/>
          </a:stretch>
        </p:blipFill>
        <p:spPr>
          <a:xfrm>
            <a:off x="4457700" y="4457700"/>
            <a:ext cx="152400" cy="152400"/>
          </a:xfrm>
          <a:prstGeom prst="rect">
            <a:avLst/>
          </a:prstGeom>
        </p:spPr>
      </p:pic>
      <p:pic>
        <p:nvPicPr>
          <p:cNvPr id="18" name="Image 16" descr="preencoded.png"/>
          <p:cNvPicPr>
            <a:picLocks noChangeAspect="1"/>
          </p:cNvPicPr>
          <p:nvPr/>
        </p:nvPicPr>
        <p:blipFill>
          <a:blip r:embed="rId10"/>
          <a:stretch>
            <a:fillRect/>
          </a:stretch>
        </p:blipFill>
        <p:spPr>
          <a:xfrm>
            <a:off x="8153400" y="1104900"/>
            <a:ext cx="3657600" cy="3886200"/>
          </a:xfrm>
          <a:prstGeom prst="rect">
            <a:avLst/>
          </a:prstGeom>
        </p:spPr>
      </p:pic>
      <p:pic>
        <p:nvPicPr>
          <p:cNvPr id="19" name="Image 17" descr="preencoded.png"/>
          <p:cNvPicPr>
            <a:picLocks noChangeAspect="1"/>
          </p:cNvPicPr>
          <p:nvPr/>
        </p:nvPicPr>
        <p:blipFill>
          <a:blip r:embed="rId6"/>
          <a:stretch>
            <a:fillRect/>
          </a:stretch>
        </p:blipFill>
        <p:spPr>
          <a:xfrm>
            <a:off x="8343900" y="1295400"/>
            <a:ext cx="3276600" cy="419100"/>
          </a:xfrm>
          <a:prstGeom prst="rect">
            <a:avLst/>
          </a:prstGeom>
        </p:spPr>
      </p:pic>
      <p:pic>
        <p:nvPicPr>
          <p:cNvPr id="20" name="Image 18" descr="preencoded.png"/>
          <p:cNvPicPr>
            <a:picLocks noChangeAspect="1"/>
          </p:cNvPicPr>
          <p:nvPr/>
        </p:nvPicPr>
        <p:blipFill>
          <a:blip r:embed="rId12"/>
          <a:stretch>
            <a:fillRect/>
          </a:stretch>
        </p:blipFill>
        <p:spPr>
          <a:xfrm>
            <a:off x="8343900" y="1295400"/>
            <a:ext cx="219075" cy="342900"/>
          </a:xfrm>
          <a:prstGeom prst="rect">
            <a:avLst/>
          </a:prstGeom>
        </p:spPr>
      </p:pic>
      <p:pic>
        <p:nvPicPr>
          <p:cNvPr id="21" name="Image 19" descr="preencoded.png"/>
          <p:cNvPicPr>
            <a:picLocks noChangeAspect="1"/>
          </p:cNvPicPr>
          <p:nvPr/>
        </p:nvPicPr>
        <p:blipFill>
          <a:blip r:embed="rId13"/>
          <a:stretch>
            <a:fillRect/>
          </a:stretch>
        </p:blipFill>
        <p:spPr>
          <a:xfrm>
            <a:off x="8343900" y="2590800"/>
            <a:ext cx="114300" cy="152400"/>
          </a:xfrm>
          <a:prstGeom prst="rect">
            <a:avLst/>
          </a:prstGeom>
        </p:spPr>
      </p:pic>
      <p:pic>
        <p:nvPicPr>
          <p:cNvPr id="22" name="Image 20" descr="preencoded.png"/>
          <p:cNvPicPr>
            <a:picLocks noChangeAspect="1"/>
          </p:cNvPicPr>
          <p:nvPr/>
        </p:nvPicPr>
        <p:blipFill>
          <a:blip r:embed="rId14"/>
          <a:stretch>
            <a:fillRect/>
          </a:stretch>
        </p:blipFill>
        <p:spPr>
          <a:xfrm>
            <a:off x="8343900" y="3009900"/>
            <a:ext cx="152400" cy="152400"/>
          </a:xfrm>
          <a:prstGeom prst="rect">
            <a:avLst/>
          </a:prstGeom>
        </p:spPr>
      </p:pic>
      <p:pic>
        <p:nvPicPr>
          <p:cNvPr id="23" name="Image 21" descr="preencoded.png"/>
          <p:cNvPicPr>
            <a:picLocks noChangeAspect="1"/>
          </p:cNvPicPr>
          <p:nvPr/>
        </p:nvPicPr>
        <p:blipFill>
          <a:blip r:embed="rId15"/>
          <a:stretch>
            <a:fillRect/>
          </a:stretch>
        </p:blipFill>
        <p:spPr>
          <a:xfrm>
            <a:off x="8343900" y="3314700"/>
            <a:ext cx="152400" cy="152400"/>
          </a:xfrm>
          <a:prstGeom prst="rect">
            <a:avLst/>
          </a:prstGeom>
        </p:spPr>
      </p:pic>
      <p:pic>
        <p:nvPicPr>
          <p:cNvPr id="24" name="Image 22" descr="preencoded.png"/>
          <p:cNvPicPr>
            <a:picLocks noChangeAspect="1"/>
          </p:cNvPicPr>
          <p:nvPr/>
        </p:nvPicPr>
        <p:blipFill>
          <a:blip r:embed="rId16"/>
          <a:stretch>
            <a:fillRect/>
          </a:stretch>
        </p:blipFill>
        <p:spPr>
          <a:xfrm>
            <a:off x="8343900" y="3619500"/>
            <a:ext cx="133350" cy="152400"/>
          </a:xfrm>
          <a:prstGeom prst="rect">
            <a:avLst/>
          </a:prstGeom>
        </p:spPr>
      </p:pic>
      <p:pic>
        <p:nvPicPr>
          <p:cNvPr id="25" name="Image 23" descr="preencoded.png"/>
          <p:cNvPicPr>
            <a:picLocks noChangeAspect="1"/>
          </p:cNvPicPr>
          <p:nvPr/>
        </p:nvPicPr>
        <p:blipFill>
          <a:blip r:embed="rId17"/>
          <a:stretch>
            <a:fillRect/>
          </a:stretch>
        </p:blipFill>
        <p:spPr>
          <a:xfrm>
            <a:off x="8343900" y="3924300"/>
            <a:ext cx="152400" cy="152400"/>
          </a:xfrm>
          <a:prstGeom prst="rect">
            <a:avLst/>
          </a:prstGeom>
        </p:spPr>
      </p:pic>
      <p:pic>
        <p:nvPicPr>
          <p:cNvPr id="26" name="Image 24" descr="preencoded.png"/>
          <p:cNvPicPr>
            <a:picLocks noChangeAspect="1"/>
          </p:cNvPicPr>
          <p:nvPr/>
        </p:nvPicPr>
        <p:blipFill>
          <a:blip r:embed="rId18"/>
          <a:stretch>
            <a:fillRect/>
          </a:stretch>
        </p:blipFill>
        <p:spPr>
          <a:xfrm>
            <a:off x="8343900" y="4229100"/>
            <a:ext cx="152400" cy="152400"/>
          </a:xfrm>
          <a:prstGeom prst="rect">
            <a:avLst/>
          </a:prstGeom>
        </p:spPr>
      </p:pic>
      <p:sp>
        <p:nvSpPr>
          <p:cNvPr id="27"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Arial" pitchFamily="34" charset="0"/>
                <a:ea typeface="Arial" pitchFamily="34" charset="-122"/>
                <a:cs typeface="Arial" pitchFamily="34" charset="-120"/>
              </a:rPr>
              <a:t>Advanced Docker Topics</a:t>
            </a:r>
            <a:endParaRPr lang="en-US" sz="2700" dirty="0"/>
          </a:p>
        </p:txBody>
      </p:sp>
      <p:sp>
        <p:nvSpPr>
          <p:cNvPr id="28" name="Text 1"/>
          <p:cNvSpPr/>
          <p:nvPr/>
        </p:nvSpPr>
        <p:spPr>
          <a:xfrm>
            <a:off x="1047750" y="1314450"/>
            <a:ext cx="2256175"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Arial" pitchFamily="34" charset="0"/>
                <a:ea typeface="Arial" pitchFamily="34" charset="-122"/>
                <a:cs typeface="Arial" pitchFamily="34" charset="-120"/>
              </a:rPr>
              <a:t>Docker Compose</a:t>
            </a:r>
            <a:endParaRPr lang="en-US" sz="1800" dirty="0"/>
          </a:p>
        </p:txBody>
      </p:sp>
      <p:sp>
        <p:nvSpPr>
          <p:cNvPr id="29" name="Text 2"/>
          <p:cNvSpPr/>
          <p:nvPr/>
        </p:nvSpPr>
        <p:spPr>
          <a:xfrm>
            <a:off x="571500" y="1828800"/>
            <a:ext cx="32766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A tool for defining and running multi-container applications</a:t>
            </a:r>
            <a:endParaRPr lang="en-US" sz="1200" dirty="0"/>
          </a:p>
        </p:txBody>
      </p:sp>
      <p:sp>
        <p:nvSpPr>
          <p:cNvPr id="30" name="Text 3"/>
          <p:cNvSpPr/>
          <p:nvPr/>
        </p:nvSpPr>
        <p:spPr>
          <a:xfrm>
            <a:off x="571500" y="2438400"/>
            <a:ext cx="3276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Key Concepts:</a:t>
            </a:r>
            <a:endParaRPr lang="en-US" sz="1350" dirty="0"/>
          </a:p>
        </p:txBody>
      </p:sp>
      <p:sp>
        <p:nvSpPr>
          <p:cNvPr id="31" name="Text 4"/>
          <p:cNvSpPr/>
          <p:nvPr/>
        </p:nvSpPr>
        <p:spPr>
          <a:xfrm>
            <a:off x="800100" y="2781300"/>
            <a:ext cx="30480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Define all services, networks, and volumes in a single YAML file</a:t>
            </a:r>
            <a:endParaRPr lang="en-US" sz="1200" dirty="0"/>
          </a:p>
        </p:txBody>
      </p:sp>
      <p:sp>
        <p:nvSpPr>
          <p:cNvPr id="32" name="Text 5"/>
          <p:cNvSpPr/>
          <p:nvPr/>
        </p:nvSpPr>
        <p:spPr>
          <a:xfrm>
            <a:off x="800100" y="3314700"/>
            <a:ext cx="30480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Simplify complex application stacks with a single command</a:t>
            </a:r>
            <a:endParaRPr lang="en-US" sz="1200" dirty="0"/>
          </a:p>
        </p:txBody>
      </p:sp>
      <p:sp>
        <p:nvSpPr>
          <p:cNvPr id="33" name="Text 6"/>
          <p:cNvSpPr/>
          <p:nvPr/>
        </p:nvSpPr>
        <p:spPr>
          <a:xfrm>
            <a:off x="685800" y="3981450"/>
            <a:ext cx="2092047" cy="180975"/>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 docker compose up</a:t>
            </a:r>
            <a:endParaRPr lang="en-US" sz="1200" dirty="0"/>
          </a:p>
        </p:txBody>
      </p:sp>
      <p:sp>
        <p:nvSpPr>
          <p:cNvPr id="34" name="Text 7"/>
          <p:cNvSpPr/>
          <p:nvPr/>
        </p:nvSpPr>
        <p:spPr>
          <a:xfrm>
            <a:off x="685800" y="4438650"/>
            <a:ext cx="2312253" cy="180975"/>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 docker compose down</a:t>
            </a:r>
            <a:endParaRPr lang="en-US" sz="1200" dirty="0"/>
          </a:p>
        </p:txBody>
      </p:sp>
      <p:sp>
        <p:nvSpPr>
          <p:cNvPr id="35" name="Text 8"/>
          <p:cNvSpPr/>
          <p:nvPr/>
        </p:nvSpPr>
        <p:spPr>
          <a:xfrm>
            <a:off x="4857750" y="1314450"/>
            <a:ext cx="2713732"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Arial" pitchFamily="34" charset="0"/>
                <a:ea typeface="Arial" pitchFamily="34" charset="-122"/>
                <a:cs typeface="Arial" pitchFamily="34" charset="-120"/>
              </a:rPr>
              <a:t>System Maintenance</a:t>
            </a:r>
            <a:endParaRPr lang="en-US" sz="1800" dirty="0"/>
          </a:p>
        </p:txBody>
      </p:sp>
      <p:sp>
        <p:nvSpPr>
          <p:cNvPr id="36" name="Text 9"/>
          <p:cNvSpPr/>
          <p:nvPr/>
        </p:nvSpPr>
        <p:spPr>
          <a:xfrm>
            <a:off x="4457700" y="1828800"/>
            <a:ext cx="32766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Regular maintenance for optimal Docker performance</a:t>
            </a:r>
            <a:endParaRPr lang="en-US" sz="1200" dirty="0"/>
          </a:p>
        </p:txBody>
      </p:sp>
      <p:sp>
        <p:nvSpPr>
          <p:cNvPr id="37" name="Text 10"/>
          <p:cNvSpPr/>
          <p:nvPr/>
        </p:nvSpPr>
        <p:spPr>
          <a:xfrm>
            <a:off x="4457700" y="2438400"/>
            <a:ext cx="393192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Essential Commands:</a:t>
            </a:r>
            <a:endParaRPr lang="en-US" sz="1350" dirty="0"/>
          </a:p>
        </p:txBody>
      </p:sp>
      <p:sp>
        <p:nvSpPr>
          <p:cNvPr id="38" name="Text 11"/>
          <p:cNvSpPr/>
          <p:nvPr/>
        </p:nvSpPr>
        <p:spPr>
          <a:xfrm>
            <a:off x="4572000" y="2876550"/>
            <a:ext cx="2312253" cy="180975"/>
          </a:xfrm>
          <a:prstGeom prst="rect">
            <a:avLst/>
          </a:prstGeom>
          <a:noFill/>
          <a:ln/>
        </p:spPr>
        <p:txBody>
          <a:bodyPr vert="horz" wrap="square" lIns="0" tIns="0" rIns="0" bIns="0" rtlCol="0" anchor="t"/>
          <a:lstStyle/>
          <a:p>
            <a:pPr marL="0" indent="0">
              <a:lnSpc>
                <a:spcPts val="1800"/>
              </a:lnSpc>
              <a:buNone/>
            </a:pPr>
            <a:r>
              <a:rPr lang="en-US" sz="1200" dirty="0">
                <a:solidFill>
                  <a:srgbClr val="00FF00"/>
                </a:solidFill>
                <a:latin typeface="Consolas" pitchFamily="34" charset="0"/>
                <a:ea typeface="Consolas" pitchFamily="34" charset="-122"/>
                <a:cs typeface="Consolas" pitchFamily="34" charset="-120"/>
              </a:rPr>
              <a:t>$ docker system prune</a:t>
            </a:r>
            <a:endParaRPr lang="en-US" sz="1200" dirty="0"/>
          </a:p>
        </p:txBody>
      </p:sp>
      <p:sp>
        <p:nvSpPr>
          <p:cNvPr id="39" name="Text 12"/>
          <p:cNvSpPr/>
          <p:nvPr/>
        </p:nvSpPr>
        <p:spPr>
          <a:xfrm>
            <a:off x="4457700" y="3238500"/>
            <a:ext cx="32766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Arial" pitchFamily="34" charset="0"/>
                <a:ea typeface="Arial" pitchFamily="34" charset="-122"/>
                <a:cs typeface="Arial" pitchFamily="34" charset="-120"/>
              </a:rPr>
              <a:t>Removes all unused data including stopped containers, networks, and dangling images</a:t>
            </a:r>
            <a:endParaRPr lang="en-US" sz="1050" dirty="0"/>
          </a:p>
        </p:txBody>
      </p:sp>
      <p:sp>
        <p:nvSpPr>
          <p:cNvPr id="40" name="Text 13"/>
          <p:cNvSpPr/>
          <p:nvPr/>
        </p:nvSpPr>
        <p:spPr>
          <a:xfrm>
            <a:off x="4457700" y="3771900"/>
            <a:ext cx="3276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Arial" pitchFamily="34" charset="0"/>
                <a:ea typeface="Arial" pitchFamily="34" charset="-122"/>
                <a:cs typeface="Arial" pitchFamily="34" charset="-120"/>
              </a:rPr>
              <a:t>Benefits:</a:t>
            </a:r>
            <a:endParaRPr lang="en-US" sz="1350" dirty="0"/>
          </a:p>
        </p:txBody>
      </p:sp>
      <p:sp>
        <p:nvSpPr>
          <p:cNvPr id="41" name="Text 14"/>
          <p:cNvSpPr/>
          <p:nvPr/>
        </p:nvSpPr>
        <p:spPr>
          <a:xfrm>
            <a:off x="4686300" y="4114800"/>
            <a:ext cx="154519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Free up disk space</a:t>
            </a:r>
            <a:endParaRPr lang="en-US" sz="1200" dirty="0"/>
          </a:p>
        </p:txBody>
      </p:sp>
      <p:sp>
        <p:nvSpPr>
          <p:cNvPr id="42" name="Text 15"/>
          <p:cNvSpPr/>
          <p:nvPr/>
        </p:nvSpPr>
        <p:spPr>
          <a:xfrm>
            <a:off x="4686300" y="4419600"/>
            <a:ext cx="272462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Arial" pitchFamily="34" charset="0"/>
                <a:ea typeface="Arial" pitchFamily="34" charset="-122"/>
                <a:cs typeface="Arial" pitchFamily="34" charset="-120"/>
              </a:rPr>
              <a:t>Prevent performance degradation</a:t>
            </a:r>
            <a:endParaRPr lang="en-US" sz="1200" dirty="0"/>
          </a:p>
        </p:txBody>
      </p:sp>
      <p:sp>
        <p:nvSpPr>
          <p:cNvPr id="43" name="Text 16"/>
          <p:cNvSpPr/>
          <p:nvPr/>
        </p:nvSpPr>
        <p:spPr>
          <a:xfrm>
            <a:off x="8677275" y="1314450"/>
            <a:ext cx="1890951"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Arial" pitchFamily="34" charset="0"/>
                <a:ea typeface="Arial" pitchFamily="34" charset="-122"/>
                <a:cs typeface="Arial" pitchFamily="34" charset="-120"/>
              </a:rPr>
              <a:t>Best Practices</a:t>
            </a:r>
            <a:endParaRPr lang="en-US" sz="1800" dirty="0"/>
          </a:p>
        </p:txBody>
      </p:sp>
      <p:sp>
        <p:nvSpPr>
          <p:cNvPr id="44" name="Text 17"/>
          <p:cNvSpPr/>
          <p:nvPr/>
        </p:nvSpPr>
        <p:spPr>
          <a:xfrm>
            <a:off x="8343900" y="1828800"/>
            <a:ext cx="32766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Key recommendations for secure, efficient Docker environments</a:t>
            </a:r>
            <a:endParaRPr lang="en-US" sz="1200" dirty="0"/>
          </a:p>
        </p:txBody>
      </p:sp>
      <p:sp>
        <p:nvSpPr>
          <p:cNvPr id="45" name="Text 18"/>
          <p:cNvSpPr/>
          <p:nvPr/>
        </p:nvSpPr>
        <p:spPr>
          <a:xfrm>
            <a:off x="8534400" y="2438400"/>
            <a:ext cx="30861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Use .dockerignore to exclude unnecessary files</a:t>
            </a:r>
            <a:endParaRPr lang="en-US" sz="1200" dirty="0"/>
          </a:p>
        </p:txBody>
      </p:sp>
      <p:sp>
        <p:nvSpPr>
          <p:cNvPr id="46" name="Text 19"/>
          <p:cNvSpPr/>
          <p:nvPr/>
        </p:nvSpPr>
        <p:spPr>
          <a:xfrm>
            <a:off x="8572500" y="2971800"/>
            <a:ext cx="3537406"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Choose small, trusted base images (Alpine)</a:t>
            </a:r>
            <a:endParaRPr lang="en-US" sz="1200" dirty="0"/>
          </a:p>
        </p:txBody>
      </p:sp>
      <p:sp>
        <p:nvSpPr>
          <p:cNvPr id="47" name="Text 20"/>
          <p:cNvSpPr/>
          <p:nvPr/>
        </p:nvSpPr>
        <p:spPr>
          <a:xfrm>
            <a:off x="8572500" y="3276600"/>
            <a:ext cx="2327612"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Implement multi-stage builds</a:t>
            </a:r>
            <a:endParaRPr lang="en-US" sz="1200" dirty="0"/>
          </a:p>
        </p:txBody>
      </p:sp>
      <p:sp>
        <p:nvSpPr>
          <p:cNvPr id="48" name="Text 21"/>
          <p:cNvSpPr/>
          <p:nvPr/>
        </p:nvSpPr>
        <p:spPr>
          <a:xfrm>
            <a:off x="8553450" y="3581400"/>
            <a:ext cx="2805529"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Pin image versions to specific tags</a:t>
            </a:r>
            <a:endParaRPr lang="en-US" sz="1200" dirty="0"/>
          </a:p>
        </p:txBody>
      </p:sp>
      <p:sp>
        <p:nvSpPr>
          <p:cNvPr id="49" name="Text 22"/>
          <p:cNvSpPr/>
          <p:nvPr/>
        </p:nvSpPr>
        <p:spPr>
          <a:xfrm>
            <a:off x="8572500" y="3886200"/>
            <a:ext cx="2378869"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Design ephemeral containers</a:t>
            </a:r>
            <a:endParaRPr lang="en-US" sz="1200" dirty="0"/>
          </a:p>
        </p:txBody>
      </p:sp>
      <p:sp>
        <p:nvSpPr>
          <p:cNvPr id="50" name="Text 23"/>
          <p:cNvSpPr/>
          <p:nvPr/>
        </p:nvSpPr>
        <p:spPr>
          <a:xfrm>
            <a:off x="8572500" y="4191000"/>
            <a:ext cx="360866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Arial" pitchFamily="34" charset="0"/>
                <a:ea typeface="Arial" pitchFamily="34" charset="-122"/>
                <a:cs typeface="Arial" pitchFamily="34" charset="-120"/>
              </a:rPr>
              <a:t>Follow single concern per container principle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5715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571500"/>
          </a:xfrm>
          <a:prstGeom prst="rect">
            <a:avLst/>
          </a:prstGeom>
        </p:spPr>
      </p:pic>
      <p:pic>
        <p:nvPicPr>
          <p:cNvPr id="8" name="Image 6" descr="preencoded.png"/>
          <p:cNvPicPr>
            <a:picLocks noChangeAspect="1"/>
          </p:cNvPicPr>
          <p:nvPr/>
        </p:nvPicPr>
        <p:blipFill>
          <a:blip r:embed="rId6"/>
          <a:stretch>
            <a:fillRect/>
          </a:stretch>
        </p:blipFill>
        <p:spPr>
          <a:xfrm>
            <a:off x="609600" y="2762250"/>
            <a:ext cx="3848100" cy="571500"/>
          </a:xfrm>
          <a:prstGeom prst="rect">
            <a:avLst/>
          </a:prstGeom>
        </p:spPr>
      </p:pic>
      <p:pic>
        <p:nvPicPr>
          <p:cNvPr id="9" name="Image 7" descr="preencoded.png"/>
          <p:cNvPicPr>
            <a:picLocks noChangeAspect="1"/>
          </p:cNvPicPr>
          <p:nvPr/>
        </p:nvPicPr>
        <p:blipFill>
          <a:blip r:embed="rId6"/>
          <a:stretch>
            <a:fillRect/>
          </a:stretch>
        </p:blipFill>
        <p:spPr>
          <a:xfrm>
            <a:off x="4686300" y="2762250"/>
            <a:ext cx="3848100" cy="571500"/>
          </a:xfrm>
          <a:prstGeom prst="rect">
            <a:avLst/>
          </a:prstGeom>
        </p:spPr>
      </p:pic>
      <p:pic>
        <p:nvPicPr>
          <p:cNvPr id="10" name="Image 8" descr="preencoded.png"/>
          <p:cNvPicPr>
            <a:picLocks noChangeAspect="1"/>
          </p:cNvPicPr>
          <p:nvPr/>
        </p:nvPicPr>
        <p:blipFill>
          <a:blip r:embed="rId7"/>
          <a:stretch>
            <a:fillRect/>
          </a:stretch>
        </p:blipFill>
        <p:spPr>
          <a:xfrm>
            <a:off x="9782175" y="2562225"/>
            <a:ext cx="857250" cy="685800"/>
          </a:xfrm>
          <a:prstGeom prst="rect">
            <a:avLst/>
          </a:prstGeom>
        </p:spPr>
      </p:pic>
      <p:pic>
        <p:nvPicPr>
          <p:cNvPr id="11" name="Image 9" descr="preencoded.png"/>
          <p:cNvPicPr>
            <a:picLocks noChangeAspect="1"/>
          </p:cNvPicPr>
          <p:nvPr/>
        </p:nvPicPr>
        <p:blipFill>
          <a:blip r:embed="rId8"/>
          <a:stretch>
            <a:fillRect/>
          </a:stretch>
        </p:blipFill>
        <p:spPr>
          <a:xfrm>
            <a:off x="8839200" y="3476625"/>
            <a:ext cx="2743200" cy="1181100"/>
          </a:xfrm>
          <a:prstGeom prst="rect">
            <a:avLst/>
          </a:prstGeom>
        </p:spPr>
      </p:pic>
      <p:pic>
        <p:nvPicPr>
          <p:cNvPr id="12" name="Image 10" descr="preencoded.png"/>
          <p:cNvPicPr>
            <a:picLocks noChangeAspect="1"/>
          </p:cNvPicPr>
          <p:nvPr/>
        </p:nvPicPr>
        <p:blipFill>
          <a:blip r:embed="rId9"/>
          <a:stretch>
            <a:fillRect/>
          </a:stretch>
        </p:blipFill>
        <p:spPr>
          <a:xfrm>
            <a:off x="8991600" y="3667125"/>
            <a:ext cx="171450" cy="152400"/>
          </a:xfrm>
          <a:prstGeom prst="rect">
            <a:avLst/>
          </a:prstGeom>
        </p:spPr>
      </p:pic>
      <p:pic>
        <p:nvPicPr>
          <p:cNvPr id="13" name="Image 11" descr="preencoded.png"/>
          <p:cNvPicPr>
            <a:picLocks noChangeAspect="1"/>
          </p:cNvPicPr>
          <p:nvPr/>
        </p:nvPicPr>
        <p:blipFill>
          <a:blip r:embed="rId10"/>
          <a:stretch>
            <a:fillRect/>
          </a:stretch>
        </p:blipFill>
        <p:spPr>
          <a:xfrm>
            <a:off x="609600" y="6515100"/>
            <a:ext cx="114300" cy="152400"/>
          </a:xfrm>
          <a:prstGeom prst="rect">
            <a:avLst/>
          </a:prstGeom>
        </p:spPr>
      </p:pic>
      <p:sp>
        <p:nvSpPr>
          <p:cNvPr id="14"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9</a:t>
            </a:r>
            <a:endParaRPr lang="en-US" sz="1200" dirty="0"/>
          </a:p>
        </p:txBody>
      </p:sp>
      <p:sp>
        <p:nvSpPr>
          <p:cNvPr id="15" name="Text 1"/>
          <p:cNvSpPr/>
          <p:nvPr/>
        </p:nvSpPr>
        <p:spPr>
          <a:xfrm>
            <a:off x="1143000" y="304800"/>
            <a:ext cx="5633918"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Starting Container Command</a:t>
            </a:r>
            <a:endParaRPr lang="en-US" sz="2250" dirty="0"/>
          </a:p>
        </p:txBody>
      </p:sp>
      <p:sp>
        <p:nvSpPr>
          <p:cNvPr id="16"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Docker command is used to create and start a new container from an image?</a:t>
            </a:r>
            <a:endParaRPr lang="en-US" sz="1800" dirty="0"/>
          </a:p>
        </p:txBody>
      </p:sp>
      <p:sp>
        <p:nvSpPr>
          <p:cNvPr id="17"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8" name="Text 4"/>
          <p:cNvSpPr/>
          <p:nvPr/>
        </p:nvSpPr>
        <p:spPr>
          <a:xfrm>
            <a:off x="1156841" y="2124075"/>
            <a:ext cx="1747540"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create</a:t>
            </a:r>
            <a:endParaRPr lang="en-US" sz="1350" dirty="0"/>
          </a:p>
        </p:txBody>
      </p:sp>
      <p:sp>
        <p:nvSpPr>
          <p:cNvPr id="19"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0" name="Text 6"/>
          <p:cNvSpPr/>
          <p:nvPr/>
        </p:nvSpPr>
        <p:spPr>
          <a:xfrm>
            <a:off x="5227737" y="2124075"/>
            <a:ext cx="1623596"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start</a:t>
            </a:r>
            <a:endParaRPr lang="en-US" sz="1350" dirty="0"/>
          </a:p>
        </p:txBody>
      </p:sp>
      <p:sp>
        <p:nvSpPr>
          <p:cNvPr id="21" name="Text 7"/>
          <p:cNvSpPr/>
          <p:nvPr/>
        </p:nvSpPr>
        <p:spPr>
          <a:xfrm>
            <a:off x="762000" y="29146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2" name="Text 8"/>
          <p:cNvSpPr/>
          <p:nvPr/>
        </p:nvSpPr>
        <p:spPr>
          <a:xfrm>
            <a:off x="1145679" y="2924175"/>
            <a:ext cx="1375886"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run</a:t>
            </a:r>
            <a:endParaRPr lang="en-US" sz="1350" dirty="0"/>
          </a:p>
        </p:txBody>
      </p:sp>
      <p:sp>
        <p:nvSpPr>
          <p:cNvPr id="23" name="Text 9"/>
          <p:cNvSpPr/>
          <p:nvPr/>
        </p:nvSpPr>
        <p:spPr>
          <a:xfrm>
            <a:off x="4838700" y="29146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4" name="Text 10"/>
          <p:cNvSpPr/>
          <p:nvPr/>
        </p:nvSpPr>
        <p:spPr>
          <a:xfrm>
            <a:off x="5240685" y="2924175"/>
            <a:ext cx="1499830"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init</a:t>
            </a:r>
            <a:endParaRPr lang="en-US" sz="1350" dirty="0"/>
          </a:p>
        </p:txBody>
      </p:sp>
      <p:sp>
        <p:nvSpPr>
          <p:cNvPr id="25" name="Text 11"/>
          <p:cNvSpPr/>
          <p:nvPr/>
        </p:nvSpPr>
        <p:spPr>
          <a:xfrm>
            <a:off x="9239250" y="3629025"/>
            <a:ext cx="1805940"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ui-sans-serif" pitchFamily="34" charset="0"/>
                <a:ea typeface="ui-sans-serif" pitchFamily="34" charset="-122"/>
                <a:cs typeface="ui-sans-serif" pitchFamily="34" charset="-120"/>
              </a:rPr>
              <a:t>Docker Command</a:t>
            </a:r>
            <a:endParaRPr lang="en-US" sz="1200" dirty="0"/>
          </a:p>
        </p:txBody>
      </p:sp>
      <p:sp>
        <p:nvSpPr>
          <p:cNvPr id="26" name="Text 12"/>
          <p:cNvSpPr/>
          <p:nvPr/>
        </p:nvSpPr>
        <p:spPr>
          <a:xfrm>
            <a:off x="8991600" y="3933825"/>
            <a:ext cx="2438400" cy="571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The </a:t>
            </a:r>
            <a:r>
              <a:rPr lang="en-US" sz="1050" dirty="0">
                <a:solidFill>
                  <a:srgbClr val="374151"/>
                </a:solidFill>
                <a:highlight>
                  <a:srgbClr val="F8F8F8"/>
                </a:highlight>
                <a:latin typeface="Arial" pitchFamily="34" charset="0"/>
                <a:ea typeface="Arial" pitchFamily="34" charset="-122"/>
                <a:cs typeface="Arial" pitchFamily="34" charset="-120"/>
              </a:rPr>
              <a:t>docker run</a:t>
            </a:r>
            <a:r>
              <a:rPr lang="en-US" sz="1050" dirty="0">
                <a:solidFill>
                  <a:srgbClr val="374151"/>
                </a:solidFill>
                <a:latin typeface="ui-sans-serif" pitchFamily="34" charset="0"/>
                <a:ea typeface="ui-sans-serif" pitchFamily="34" charset="-122"/>
                <a:cs typeface="ui-sans-serif" pitchFamily="34" charset="-120"/>
              </a:rPr>
              <a:t> command creates a new container from an image and starts it immediately.</a:t>
            </a:r>
            <a:endParaRPr lang="en-US" sz="1050" dirty="0"/>
          </a:p>
        </p:txBody>
      </p:sp>
      <p:sp>
        <p:nvSpPr>
          <p:cNvPr id="27" name="Text 13"/>
          <p:cNvSpPr/>
          <p:nvPr/>
        </p:nvSpPr>
        <p:spPr>
          <a:xfrm>
            <a:off x="800100" y="6477000"/>
            <a:ext cx="173378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Commands</a:t>
            </a:r>
            <a:endParaRPr lang="en-US" sz="1200" dirty="0"/>
          </a:p>
        </p:txBody>
      </p:sp>
      <p:sp>
        <p:nvSpPr>
          <p:cNvPr id="28" name="Text 14"/>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18/61</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924800" cy="647700"/>
          </a:xfrm>
          <a:prstGeom prst="rect">
            <a:avLst/>
          </a:prstGeom>
        </p:spPr>
      </p:pic>
      <p:pic>
        <p:nvPicPr>
          <p:cNvPr id="7" name="Image 5" descr="preencoded.png"/>
          <p:cNvPicPr>
            <a:picLocks noChangeAspect="1"/>
          </p:cNvPicPr>
          <p:nvPr/>
        </p:nvPicPr>
        <p:blipFill>
          <a:blip r:embed="rId7"/>
          <a:stretch>
            <a:fillRect/>
          </a:stretch>
        </p:blipFill>
        <p:spPr>
          <a:xfrm>
            <a:off x="762000" y="1200150"/>
            <a:ext cx="190500" cy="266700"/>
          </a:xfrm>
          <a:prstGeom prst="rect">
            <a:avLst/>
          </a:prstGeom>
        </p:spPr>
      </p:pic>
      <p:pic>
        <p:nvPicPr>
          <p:cNvPr id="8" name="Image 6" descr="preencoded.png"/>
          <p:cNvPicPr>
            <a:picLocks noChangeAspect="1"/>
          </p:cNvPicPr>
          <p:nvPr/>
        </p:nvPicPr>
        <p:blipFill>
          <a:blip r:embed="rId8"/>
          <a:stretch>
            <a:fillRect/>
          </a:stretch>
        </p:blipFill>
        <p:spPr>
          <a:xfrm>
            <a:off x="8839200" y="1047750"/>
            <a:ext cx="2743200" cy="1828800"/>
          </a:xfrm>
          <a:prstGeom prst="rect">
            <a:avLst/>
          </a:prstGeom>
        </p:spPr>
      </p:pic>
      <p:pic>
        <p:nvPicPr>
          <p:cNvPr id="9" name="Image 7" descr="preencoded.png"/>
          <p:cNvPicPr>
            <a:picLocks noChangeAspect="1"/>
          </p:cNvPicPr>
          <p:nvPr/>
        </p:nvPicPr>
        <p:blipFill>
          <a:blip r:embed="rId9"/>
          <a:stretch>
            <a:fillRect/>
          </a:stretch>
        </p:blipFill>
        <p:spPr>
          <a:xfrm>
            <a:off x="9886950" y="1238250"/>
            <a:ext cx="647700" cy="571500"/>
          </a:xfrm>
          <a:prstGeom prst="rect">
            <a:avLst/>
          </a:prstGeom>
        </p:spPr>
      </p:pic>
      <p:pic>
        <p:nvPicPr>
          <p:cNvPr id="10" name="Image 8" descr="preencoded.png"/>
          <p:cNvPicPr>
            <a:picLocks noChangeAspect="1"/>
          </p:cNvPicPr>
          <p:nvPr/>
        </p:nvPicPr>
        <p:blipFill>
          <a:blip r:embed="rId10"/>
          <a:stretch>
            <a:fillRect/>
          </a:stretch>
        </p:blipFill>
        <p:spPr>
          <a:xfrm>
            <a:off x="9580364" y="1962150"/>
            <a:ext cx="1260872" cy="419100"/>
          </a:xfrm>
          <a:prstGeom prst="rect">
            <a:avLst/>
          </a:prstGeom>
        </p:spPr>
      </p:pic>
      <p:pic>
        <p:nvPicPr>
          <p:cNvPr id="11" name="Image 9" descr="preencoded.png"/>
          <p:cNvPicPr>
            <a:picLocks noChangeAspect="1"/>
          </p:cNvPicPr>
          <p:nvPr/>
        </p:nvPicPr>
        <p:blipFill>
          <a:blip r:embed="rId11"/>
          <a:stretch>
            <a:fillRect/>
          </a:stretch>
        </p:blipFill>
        <p:spPr>
          <a:xfrm>
            <a:off x="8839200" y="3105150"/>
            <a:ext cx="2743200" cy="1819275"/>
          </a:xfrm>
          <a:prstGeom prst="rect">
            <a:avLst/>
          </a:prstGeom>
        </p:spPr>
      </p:pic>
      <p:pic>
        <p:nvPicPr>
          <p:cNvPr id="12" name="Image 10" descr="preencoded.png"/>
          <p:cNvPicPr>
            <a:picLocks noChangeAspect="1"/>
          </p:cNvPicPr>
          <p:nvPr/>
        </p:nvPicPr>
        <p:blipFill>
          <a:blip r:embed="rId12"/>
          <a:stretch>
            <a:fillRect/>
          </a:stretch>
        </p:blipFill>
        <p:spPr>
          <a:xfrm>
            <a:off x="8991600" y="3286125"/>
            <a:ext cx="133350" cy="171450"/>
          </a:xfrm>
          <a:prstGeom prst="rect">
            <a:avLst/>
          </a:prstGeom>
        </p:spPr>
      </p:pic>
      <p:pic>
        <p:nvPicPr>
          <p:cNvPr id="13" name="Image 11" descr="preencoded.png"/>
          <p:cNvPicPr>
            <a:picLocks noChangeAspect="1"/>
          </p:cNvPicPr>
          <p:nvPr/>
        </p:nvPicPr>
        <p:blipFill>
          <a:blip r:embed="rId13"/>
          <a:stretch>
            <a:fillRect/>
          </a:stretch>
        </p:blipFill>
        <p:spPr>
          <a:xfrm>
            <a:off x="609600" y="6515100"/>
            <a:ext cx="114300" cy="152400"/>
          </a:xfrm>
          <a:prstGeom prst="rect">
            <a:avLst/>
          </a:prstGeom>
        </p:spPr>
      </p:pic>
      <p:sp>
        <p:nvSpPr>
          <p:cNvPr id="14" name="Text 0"/>
          <p:cNvSpPr/>
          <p:nvPr/>
        </p:nvSpPr>
        <p:spPr>
          <a:xfrm>
            <a:off x="746968" y="285750"/>
            <a:ext cx="3810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9</a:t>
            </a:r>
            <a:endParaRPr lang="en-US" sz="1200" dirty="0"/>
          </a:p>
        </p:txBody>
      </p:sp>
      <p:sp>
        <p:nvSpPr>
          <p:cNvPr id="15" name="Text 1"/>
          <p:cNvSpPr/>
          <p:nvPr/>
        </p:nvSpPr>
        <p:spPr>
          <a:xfrm>
            <a:off x="1143000" y="304800"/>
            <a:ext cx="5633918"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Starting Container Command</a:t>
            </a:r>
            <a:endParaRPr lang="en-US" sz="2250" dirty="0"/>
          </a:p>
        </p:txBody>
      </p:sp>
      <p:sp>
        <p:nvSpPr>
          <p:cNvPr id="16" name="Text 2"/>
          <p:cNvSpPr/>
          <p:nvPr/>
        </p:nvSpPr>
        <p:spPr>
          <a:xfrm>
            <a:off x="1028700" y="1200150"/>
            <a:ext cx="4123551"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Correct Answer: C) `docker run`</a:t>
            </a:r>
            <a:endParaRPr lang="en-US" sz="1500" dirty="0"/>
          </a:p>
        </p:txBody>
      </p:sp>
      <p:sp>
        <p:nvSpPr>
          <p:cNvPr id="17" name="Text 3"/>
          <p:cNvSpPr/>
          <p:nvPr/>
        </p:nvSpPr>
        <p:spPr>
          <a:xfrm>
            <a:off x="609600" y="1924050"/>
            <a:ext cx="7924800" cy="97155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The </a:t>
            </a:r>
            <a:r>
              <a:rPr lang="en-US" sz="1500" dirty="0">
                <a:solidFill>
                  <a:srgbClr val="374151"/>
                </a:solidFill>
                <a:highlight>
                  <a:srgbClr val="F5F5F5"/>
                </a:highlight>
                <a:latin typeface="Arial" pitchFamily="34" charset="0"/>
                <a:ea typeface="Arial" pitchFamily="34" charset="-122"/>
                <a:cs typeface="Arial" pitchFamily="34" charset="-120"/>
              </a:rPr>
              <a:t>docker run</a:t>
            </a:r>
            <a:r>
              <a:rPr lang="en-US" sz="1500" dirty="0">
                <a:solidFill>
                  <a:srgbClr val="374151"/>
                </a:solidFill>
                <a:latin typeface="ui-sans-serif" pitchFamily="34" charset="0"/>
                <a:ea typeface="ui-sans-serif" pitchFamily="34" charset="-122"/>
                <a:cs typeface="ui-sans-serif" pitchFamily="34" charset="-120"/>
              </a:rPr>
              <a:t> command is fundamental for creating a new container from a specified image and then starting it. If the image is not available locally, Docker will automatically attempt to pull it first.</a:t>
            </a:r>
            <a:endParaRPr lang="en-US" sz="1500" dirty="0"/>
          </a:p>
        </p:txBody>
      </p:sp>
      <p:sp>
        <p:nvSpPr>
          <p:cNvPr id="18" name="Text 4"/>
          <p:cNvSpPr/>
          <p:nvPr/>
        </p:nvSpPr>
        <p:spPr>
          <a:xfrm>
            <a:off x="609600" y="3124200"/>
            <a:ext cx="7924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Key Points:</a:t>
            </a:r>
            <a:endParaRPr lang="en-US" sz="1500" dirty="0"/>
          </a:p>
        </p:txBody>
      </p:sp>
      <p:sp>
        <p:nvSpPr>
          <p:cNvPr id="19" name="Text 5"/>
          <p:cNvSpPr/>
          <p:nvPr/>
        </p:nvSpPr>
        <p:spPr>
          <a:xfrm>
            <a:off x="647700" y="3505200"/>
            <a:ext cx="788670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Creates a new container from an image</a:t>
            </a:r>
            <a:endParaRPr lang="en-US" sz="1350" dirty="0"/>
          </a:p>
        </p:txBody>
      </p:sp>
      <p:sp>
        <p:nvSpPr>
          <p:cNvPr id="20" name="Text 6"/>
          <p:cNvSpPr/>
          <p:nvPr/>
        </p:nvSpPr>
        <p:spPr>
          <a:xfrm>
            <a:off x="647700" y="3848100"/>
            <a:ext cx="788670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Starts the container immediately</a:t>
            </a:r>
            <a:endParaRPr lang="en-US" sz="1350" dirty="0"/>
          </a:p>
        </p:txBody>
      </p:sp>
      <p:sp>
        <p:nvSpPr>
          <p:cNvPr id="21" name="Text 7"/>
          <p:cNvSpPr/>
          <p:nvPr/>
        </p:nvSpPr>
        <p:spPr>
          <a:xfrm>
            <a:off x="647700" y="4191000"/>
            <a:ext cx="946404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Automatically pulls the image if not present locally</a:t>
            </a:r>
            <a:endParaRPr lang="en-US" sz="1350" dirty="0"/>
          </a:p>
        </p:txBody>
      </p:sp>
      <p:sp>
        <p:nvSpPr>
          <p:cNvPr id="22" name="Text 8"/>
          <p:cNvSpPr/>
          <p:nvPr/>
        </p:nvSpPr>
        <p:spPr>
          <a:xfrm>
            <a:off x="647700" y="4533900"/>
            <a:ext cx="9464040" cy="43815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Combines the functionality of </a:t>
            </a:r>
            <a:r>
              <a:rPr lang="en-US" sz="1350" dirty="0">
                <a:solidFill>
                  <a:srgbClr val="374151"/>
                </a:solidFill>
                <a:highlight>
                  <a:srgbClr val="F5F5F5"/>
                </a:highlight>
                <a:latin typeface="Arial" pitchFamily="34" charset="0"/>
                <a:ea typeface="Arial" pitchFamily="34" charset="-122"/>
                <a:cs typeface="Arial" pitchFamily="34" charset="-120"/>
              </a:rPr>
              <a:t>docker create</a:t>
            </a:r>
            <a:r>
              <a:rPr lang="en-US" sz="1350" dirty="0">
                <a:solidFill>
                  <a:srgbClr val="374151"/>
                </a:solidFill>
                <a:latin typeface="ui-sans-serif" pitchFamily="34" charset="0"/>
                <a:ea typeface="ui-sans-serif" pitchFamily="34" charset="-122"/>
                <a:cs typeface="ui-sans-serif" pitchFamily="34" charset="-120"/>
              </a:rPr>
              <a:t> and </a:t>
            </a:r>
            <a:r>
              <a:rPr lang="en-US" sz="1350" dirty="0">
                <a:solidFill>
                  <a:srgbClr val="374151"/>
                </a:solidFill>
                <a:highlight>
                  <a:srgbClr val="F5F5F5"/>
                </a:highlight>
                <a:latin typeface="Arial" pitchFamily="34" charset="0"/>
                <a:ea typeface="Arial" pitchFamily="34" charset="-122"/>
                <a:cs typeface="Arial" pitchFamily="34" charset="-120"/>
              </a:rPr>
              <a:t>docker start</a:t>
            </a:r>
            <a:endParaRPr lang="en-US" sz="1350" dirty="0"/>
          </a:p>
        </p:txBody>
      </p:sp>
      <p:sp>
        <p:nvSpPr>
          <p:cNvPr id="23" name="Text 9"/>
          <p:cNvSpPr/>
          <p:nvPr/>
        </p:nvSpPr>
        <p:spPr>
          <a:xfrm>
            <a:off x="9454277" y="1962150"/>
            <a:ext cx="1513046" cy="419100"/>
          </a:xfrm>
          <a:prstGeom prst="rect">
            <a:avLst/>
          </a:prstGeom>
          <a:noFill/>
          <a:ln/>
        </p:spPr>
        <p:txBody>
          <a:bodyPr vert="horz" wrap="square" lIns="0" tIns="0" rIns="0" bIns="0" rtlCol="0" anchor="t"/>
          <a:lstStyle/>
          <a:p>
            <a:pPr marL="0" indent="0" algn="ctr">
              <a:lnSpc>
                <a:spcPts val="2100"/>
              </a:lnSpc>
              <a:buNone/>
            </a:pPr>
            <a:r>
              <a:rPr lang="en-US" sz="1350" dirty="0">
                <a:solidFill>
                  <a:srgbClr val="000000"/>
                </a:solidFill>
                <a:latin typeface="Arial" pitchFamily="34" charset="0"/>
                <a:ea typeface="Arial" pitchFamily="34" charset="-122"/>
                <a:cs typeface="Arial" pitchFamily="34" charset="-120"/>
              </a:rPr>
              <a:t>docker run</a:t>
            </a:r>
            <a:endParaRPr lang="en-US" sz="1350" dirty="0"/>
          </a:p>
        </p:txBody>
      </p:sp>
      <p:sp>
        <p:nvSpPr>
          <p:cNvPr id="24" name="Text 10"/>
          <p:cNvSpPr/>
          <p:nvPr/>
        </p:nvSpPr>
        <p:spPr>
          <a:xfrm>
            <a:off x="8793480" y="2457450"/>
            <a:ext cx="2834640" cy="228600"/>
          </a:xfrm>
          <a:prstGeom prst="rect">
            <a:avLst/>
          </a:prstGeom>
          <a:noFill/>
          <a:ln/>
        </p:spPr>
        <p:txBody>
          <a:bodyPr vert="horz" wrap="square" lIns="0" tIns="0" rIns="0" bIns="0" rtlCol="0" anchor="t"/>
          <a:lstStyle/>
          <a:p>
            <a:pPr marL="0" indent="0" algn="ctr">
              <a:lnSpc>
                <a:spcPts val="1800"/>
              </a:lnSpc>
              <a:buNone/>
            </a:pPr>
            <a:r>
              <a:rPr lang="en-US" sz="1200" i="1" dirty="0">
                <a:solidFill>
                  <a:srgbClr val="4B5563"/>
                </a:solidFill>
                <a:latin typeface="ui-sans-serif" pitchFamily="34" charset="0"/>
                <a:ea typeface="ui-sans-serif" pitchFamily="34" charset="-122"/>
                <a:cs typeface="ui-sans-serif" pitchFamily="34" charset="-120"/>
              </a:rPr>
              <a:t>Create and start a container</a:t>
            </a:r>
            <a:endParaRPr lang="en-US" sz="1200" dirty="0"/>
          </a:p>
        </p:txBody>
      </p:sp>
      <p:sp>
        <p:nvSpPr>
          <p:cNvPr id="25" name="Text 11"/>
          <p:cNvSpPr/>
          <p:nvPr/>
        </p:nvSpPr>
        <p:spPr>
          <a:xfrm>
            <a:off x="9201150" y="3257550"/>
            <a:ext cx="292608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 Did You Know?</a:t>
            </a:r>
            <a:endParaRPr lang="en-US" sz="1350" dirty="0"/>
          </a:p>
        </p:txBody>
      </p:sp>
      <p:sp>
        <p:nvSpPr>
          <p:cNvPr id="26" name="Text 12"/>
          <p:cNvSpPr/>
          <p:nvPr/>
        </p:nvSpPr>
        <p:spPr>
          <a:xfrm>
            <a:off x="8991600" y="3600450"/>
            <a:ext cx="2438400" cy="1171575"/>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You can also use </a:t>
            </a:r>
            <a:r>
              <a:rPr lang="en-US" sz="975" dirty="0">
                <a:solidFill>
                  <a:srgbClr val="374151"/>
                </a:solidFill>
                <a:highlight>
                  <a:srgbClr val="F5F5F5"/>
                </a:highlight>
                <a:latin typeface="Arial" pitchFamily="34" charset="0"/>
                <a:ea typeface="Arial" pitchFamily="34" charset="-122"/>
                <a:cs typeface="Arial" pitchFamily="34" charset="-120"/>
              </a:rPr>
              <a:t>docker run -it</a:t>
            </a:r>
            <a:r>
              <a:rPr lang="en-US" sz="1200" dirty="0">
                <a:solidFill>
                  <a:srgbClr val="374151"/>
                </a:solidFill>
                <a:latin typeface="ui-sans-serif" pitchFamily="34" charset="0"/>
                <a:ea typeface="ui-sans-serif" pitchFamily="34" charset="-122"/>
                <a:cs typeface="ui-sans-serif" pitchFamily="34" charset="-120"/>
              </a:rPr>
              <a:t> for interactive containers, where </a:t>
            </a:r>
            <a:r>
              <a:rPr lang="en-US" sz="975" dirty="0">
                <a:solidFill>
                  <a:srgbClr val="374151"/>
                </a:solidFill>
                <a:highlight>
                  <a:srgbClr val="F5F5F5"/>
                </a:highlight>
                <a:latin typeface="Arial" pitchFamily="34" charset="0"/>
                <a:ea typeface="Arial" pitchFamily="34" charset="-122"/>
                <a:cs typeface="Arial" pitchFamily="34" charset="-120"/>
              </a:rPr>
              <a:t>-it</a:t>
            </a:r>
            <a:r>
              <a:rPr lang="en-US" sz="1200" dirty="0">
                <a:solidFill>
                  <a:srgbClr val="374151"/>
                </a:solidFill>
                <a:latin typeface="ui-sans-serif" pitchFamily="34" charset="0"/>
                <a:ea typeface="ui-sans-serif" pitchFamily="34" charset="-122"/>
                <a:cs typeface="ui-sans-serif" pitchFamily="34" charset="-120"/>
              </a:rPr>
              <a:t> stands for interactive terminal.</a:t>
            </a:r>
            <a:endParaRPr lang="en-US" sz="1200" dirty="0"/>
          </a:p>
        </p:txBody>
      </p:sp>
      <p:sp>
        <p:nvSpPr>
          <p:cNvPr id="27" name="Text 13"/>
          <p:cNvSpPr/>
          <p:nvPr/>
        </p:nvSpPr>
        <p:spPr>
          <a:xfrm>
            <a:off x="800100" y="6477000"/>
            <a:ext cx="173378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Commands</a:t>
            </a:r>
            <a:endParaRPr lang="en-US" sz="1200" dirty="0"/>
          </a:p>
        </p:txBody>
      </p:sp>
      <p:sp>
        <p:nvSpPr>
          <p:cNvPr id="28" name="Text 14"/>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19/61</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5715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571500"/>
          </a:xfrm>
          <a:prstGeom prst="rect">
            <a:avLst/>
          </a:prstGeom>
        </p:spPr>
      </p:pic>
      <p:pic>
        <p:nvPicPr>
          <p:cNvPr id="8" name="Image 6" descr="preencoded.png"/>
          <p:cNvPicPr>
            <a:picLocks noChangeAspect="1"/>
          </p:cNvPicPr>
          <p:nvPr/>
        </p:nvPicPr>
        <p:blipFill>
          <a:blip r:embed="rId6"/>
          <a:stretch>
            <a:fillRect/>
          </a:stretch>
        </p:blipFill>
        <p:spPr>
          <a:xfrm>
            <a:off x="609600" y="2762250"/>
            <a:ext cx="3848100" cy="571500"/>
          </a:xfrm>
          <a:prstGeom prst="rect">
            <a:avLst/>
          </a:prstGeom>
        </p:spPr>
      </p:pic>
      <p:pic>
        <p:nvPicPr>
          <p:cNvPr id="9" name="Image 7" descr="preencoded.png"/>
          <p:cNvPicPr>
            <a:picLocks noChangeAspect="1"/>
          </p:cNvPicPr>
          <p:nvPr/>
        </p:nvPicPr>
        <p:blipFill>
          <a:blip r:embed="rId6"/>
          <a:stretch>
            <a:fillRect/>
          </a:stretch>
        </p:blipFill>
        <p:spPr>
          <a:xfrm>
            <a:off x="4686300" y="2762250"/>
            <a:ext cx="3848100" cy="571500"/>
          </a:xfrm>
          <a:prstGeom prst="rect">
            <a:avLst/>
          </a:prstGeom>
        </p:spPr>
      </p:pic>
      <p:pic>
        <p:nvPicPr>
          <p:cNvPr id="10" name="Image 8" descr="preencoded.png"/>
          <p:cNvPicPr>
            <a:picLocks noChangeAspect="1"/>
          </p:cNvPicPr>
          <p:nvPr/>
        </p:nvPicPr>
        <p:blipFill>
          <a:blip r:embed="rId7"/>
          <a:stretch>
            <a:fillRect/>
          </a:stretch>
        </p:blipFill>
        <p:spPr>
          <a:xfrm>
            <a:off x="9782175" y="2028825"/>
            <a:ext cx="857250" cy="685800"/>
          </a:xfrm>
          <a:prstGeom prst="rect">
            <a:avLst/>
          </a:prstGeom>
        </p:spPr>
      </p:pic>
      <p:pic>
        <p:nvPicPr>
          <p:cNvPr id="11" name="Image 9" descr="preencoded.png"/>
          <p:cNvPicPr>
            <a:picLocks noChangeAspect="1"/>
          </p:cNvPicPr>
          <p:nvPr/>
        </p:nvPicPr>
        <p:blipFill>
          <a:blip r:embed="rId8"/>
          <a:stretch>
            <a:fillRect/>
          </a:stretch>
        </p:blipFill>
        <p:spPr>
          <a:xfrm>
            <a:off x="8839200" y="2943225"/>
            <a:ext cx="2743200" cy="2247900"/>
          </a:xfrm>
          <a:prstGeom prst="rect">
            <a:avLst/>
          </a:prstGeom>
        </p:spPr>
      </p:pic>
      <p:pic>
        <p:nvPicPr>
          <p:cNvPr id="12" name="Image 10" descr="preencoded.png"/>
          <p:cNvPicPr>
            <a:picLocks noChangeAspect="1"/>
          </p:cNvPicPr>
          <p:nvPr/>
        </p:nvPicPr>
        <p:blipFill>
          <a:blip r:embed="rId9"/>
          <a:stretch>
            <a:fillRect/>
          </a:stretch>
        </p:blipFill>
        <p:spPr>
          <a:xfrm>
            <a:off x="10082213" y="3095625"/>
            <a:ext cx="257175" cy="304800"/>
          </a:xfrm>
          <a:prstGeom prst="rect">
            <a:avLst/>
          </a:prstGeom>
        </p:spPr>
      </p:pic>
      <p:pic>
        <p:nvPicPr>
          <p:cNvPr id="13" name="Image 11" descr="preencoded.png"/>
          <p:cNvPicPr>
            <a:picLocks noChangeAspect="1"/>
          </p:cNvPicPr>
          <p:nvPr/>
        </p:nvPicPr>
        <p:blipFill>
          <a:blip r:embed="rId10"/>
          <a:stretch>
            <a:fillRect/>
          </a:stretch>
        </p:blipFill>
        <p:spPr>
          <a:xfrm>
            <a:off x="8991600" y="3476625"/>
            <a:ext cx="2438400" cy="1562100"/>
          </a:xfrm>
          <a:prstGeom prst="rect">
            <a:avLst/>
          </a:prstGeom>
        </p:spPr>
      </p:pic>
      <p:sp>
        <p:nvSpPr>
          <p:cNvPr id="14"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10</a:t>
            </a:r>
            <a:endParaRPr lang="en-US" sz="1200" dirty="0"/>
          </a:p>
        </p:txBody>
      </p:sp>
      <p:sp>
        <p:nvSpPr>
          <p:cNvPr id="15" name="Text 1"/>
          <p:cNvSpPr/>
          <p:nvPr/>
        </p:nvSpPr>
        <p:spPr>
          <a:xfrm>
            <a:off x="1143000" y="304800"/>
            <a:ext cx="546979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Viewing Running Containers</a:t>
            </a:r>
            <a:endParaRPr lang="en-US" sz="2250" dirty="0"/>
          </a:p>
        </p:txBody>
      </p:sp>
      <p:sp>
        <p:nvSpPr>
          <p:cNvPr id="16"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command is used to list all currently running Docker containers?</a:t>
            </a:r>
            <a:endParaRPr lang="en-US" sz="1800" dirty="0"/>
          </a:p>
        </p:txBody>
      </p:sp>
      <p:sp>
        <p:nvSpPr>
          <p:cNvPr id="17"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8" name="Text 4"/>
          <p:cNvSpPr/>
          <p:nvPr/>
        </p:nvSpPr>
        <p:spPr>
          <a:xfrm>
            <a:off x="1156841" y="2124075"/>
            <a:ext cx="1747540"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images</a:t>
            </a:r>
            <a:endParaRPr lang="en-US" sz="1350" dirty="0"/>
          </a:p>
        </p:txBody>
      </p:sp>
      <p:sp>
        <p:nvSpPr>
          <p:cNvPr id="19"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0" name="Text 6"/>
          <p:cNvSpPr/>
          <p:nvPr/>
        </p:nvSpPr>
        <p:spPr>
          <a:xfrm>
            <a:off x="5227737" y="2124075"/>
            <a:ext cx="1252121"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ps</a:t>
            </a:r>
            <a:endParaRPr lang="en-US" sz="1350" dirty="0"/>
          </a:p>
        </p:txBody>
      </p:sp>
      <p:sp>
        <p:nvSpPr>
          <p:cNvPr id="21" name="Text 7"/>
          <p:cNvSpPr/>
          <p:nvPr/>
        </p:nvSpPr>
        <p:spPr>
          <a:xfrm>
            <a:off x="762000" y="29146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2" name="Text 8"/>
          <p:cNvSpPr/>
          <p:nvPr/>
        </p:nvSpPr>
        <p:spPr>
          <a:xfrm>
            <a:off x="1145679" y="2924175"/>
            <a:ext cx="1499830"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logs</a:t>
            </a:r>
            <a:endParaRPr lang="en-US" sz="1350" dirty="0"/>
          </a:p>
        </p:txBody>
      </p:sp>
      <p:sp>
        <p:nvSpPr>
          <p:cNvPr id="23" name="Text 9"/>
          <p:cNvSpPr/>
          <p:nvPr/>
        </p:nvSpPr>
        <p:spPr>
          <a:xfrm>
            <a:off x="4838700" y="29146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4" name="Text 10"/>
          <p:cNvSpPr/>
          <p:nvPr/>
        </p:nvSpPr>
        <p:spPr>
          <a:xfrm>
            <a:off x="5240685" y="2924175"/>
            <a:ext cx="1871305"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inspect</a:t>
            </a:r>
            <a:endParaRPr lang="en-US" sz="1350" dirty="0"/>
          </a:p>
        </p:txBody>
      </p:sp>
      <p:sp>
        <p:nvSpPr>
          <p:cNvPr id="25" name="Text 11"/>
          <p:cNvSpPr/>
          <p:nvPr/>
        </p:nvSpPr>
        <p:spPr>
          <a:xfrm>
            <a:off x="9105900" y="3590925"/>
            <a:ext cx="2209800" cy="190500"/>
          </a:xfrm>
          <a:prstGeom prst="rect">
            <a:avLst/>
          </a:prstGeom>
          <a:noFill/>
          <a:ln/>
        </p:spPr>
        <p:txBody>
          <a:bodyPr vert="horz" wrap="square" lIns="0" tIns="0" rIns="0" bIns="0" rtlCol="0" anchor="t"/>
          <a:lstStyle/>
          <a:p>
            <a:pPr marL="0" indent="0">
              <a:lnSpc>
                <a:spcPts val="1500"/>
              </a:lnSpc>
              <a:buNone/>
            </a:pPr>
            <a:r>
              <a:rPr lang="en-US" sz="1050" dirty="0">
                <a:solidFill>
                  <a:srgbClr val="60A5FA"/>
                </a:solidFill>
                <a:latin typeface="ui-monospace" pitchFamily="34" charset="0"/>
                <a:ea typeface="ui-monospace" pitchFamily="34" charset="-122"/>
                <a:cs typeface="ui-monospace" pitchFamily="34" charset="-120"/>
              </a:rPr>
              <a:t>$</a:t>
            </a:r>
            <a:r>
              <a:rPr lang="en-US" sz="1050" dirty="0">
                <a:solidFill>
                  <a:srgbClr val="4ADE80"/>
                </a:solidFill>
                <a:latin typeface="ui-monospace" pitchFamily="34" charset="0"/>
                <a:ea typeface="ui-monospace" pitchFamily="34" charset="-122"/>
                <a:cs typeface="ui-monospace" pitchFamily="34" charset="-120"/>
              </a:rPr>
              <a:t> docker ps</a:t>
            </a:r>
            <a:endParaRPr lang="en-US" sz="1050" dirty="0"/>
          </a:p>
        </p:txBody>
      </p:sp>
      <p:sp>
        <p:nvSpPr>
          <p:cNvPr id="26" name="Text 12"/>
          <p:cNvSpPr/>
          <p:nvPr/>
        </p:nvSpPr>
        <p:spPr>
          <a:xfrm>
            <a:off x="9105900" y="3781425"/>
            <a:ext cx="2209800" cy="381000"/>
          </a:xfrm>
          <a:prstGeom prst="rect">
            <a:avLst/>
          </a:prstGeom>
          <a:noFill/>
          <a:ln/>
        </p:spPr>
        <p:txBody>
          <a:bodyPr vert="horz" wrap="square" lIns="0" tIns="0" rIns="0" bIns="0" rtlCol="0" anchor="t"/>
          <a:lstStyle/>
          <a:p>
            <a:pPr marL="0" indent="0">
              <a:lnSpc>
                <a:spcPts val="1500"/>
              </a:lnSpc>
              <a:buNone/>
            </a:pPr>
            <a:r>
              <a:rPr lang="en-US" sz="1050" dirty="0">
                <a:solidFill>
                  <a:srgbClr val="9CA3AF"/>
                </a:solidFill>
                <a:latin typeface="ui-monospace" pitchFamily="34" charset="0"/>
                <a:ea typeface="ui-monospace" pitchFamily="34" charset="-122"/>
                <a:cs typeface="ui-monospace" pitchFamily="34" charset="-120"/>
              </a:rPr>
              <a:t>CONTAINER ID IMAGE COMMAND CREATED STATUS PORTS NAMES</a:t>
            </a:r>
            <a:endParaRPr lang="en-US" sz="1050" dirty="0"/>
          </a:p>
        </p:txBody>
      </p:sp>
      <p:sp>
        <p:nvSpPr>
          <p:cNvPr id="27" name="Text 13"/>
          <p:cNvSpPr/>
          <p:nvPr/>
        </p:nvSpPr>
        <p:spPr>
          <a:xfrm>
            <a:off x="9105900" y="4162425"/>
            <a:ext cx="2209800" cy="7620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monospace" pitchFamily="34" charset="0"/>
                <a:ea typeface="ui-monospace" pitchFamily="34" charset="-122"/>
                <a:cs typeface="ui-monospace" pitchFamily="34" charset="-120"/>
              </a:rPr>
              <a:t>abc123def456 nginx:latest "nginx" 2 hours ago Up 2 hours 80/tcp hopeful_varahamihira</a:t>
            </a:r>
            <a:endParaRPr lang="en-US" sz="1050" dirty="0"/>
          </a:p>
        </p:txBody>
      </p:sp>
      <p:sp>
        <p:nvSpPr>
          <p:cNvPr id="28" name="Text 14"/>
          <p:cNvSpPr/>
          <p:nvPr/>
        </p:nvSpPr>
        <p:spPr>
          <a:xfrm>
            <a:off x="685800" y="6477000"/>
            <a:ext cx="173378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Commands</a:t>
            </a:r>
            <a:endParaRPr lang="en-US" sz="1200" dirty="0"/>
          </a:p>
        </p:txBody>
      </p:sp>
      <p:sp>
        <p:nvSpPr>
          <p:cNvPr id="29" name="Text 15"/>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20/61</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6278761" cy="647700"/>
          </a:xfrm>
          <a:prstGeom prst="rect">
            <a:avLst/>
          </a:prstGeom>
        </p:spPr>
      </p:pic>
      <p:pic>
        <p:nvPicPr>
          <p:cNvPr id="7" name="Image 5" descr="preencoded.png"/>
          <p:cNvPicPr>
            <a:picLocks noChangeAspect="1"/>
          </p:cNvPicPr>
          <p:nvPr/>
        </p:nvPicPr>
        <p:blipFill>
          <a:blip r:embed="rId7"/>
          <a:stretch>
            <a:fillRect/>
          </a:stretch>
        </p:blipFill>
        <p:spPr>
          <a:xfrm>
            <a:off x="609600" y="2419350"/>
            <a:ext cx="171450" cy="171450"/>
          </a:xfrm>
          <a:prstGeom prst="rect">
            <a:avLst/>
          </a:prstGeom>
        </p:spPr>
      </p:pic>
      <p:sp>
        <p:nvSpPr>
          <p:cNvPr id="8"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10</a:t>
            </a:r>
            <a:endParaRPr lang="en-US" sz="1200" dirty="0"/>
          </a:p>
        </p:txBody>
      </p:sp>
      <p:sp>
        <p:nvSpPr>
          <p:cNvPr id="9" name="Text 1"/>
          <p:cNvSpPr/>
          <p:nvPr/>
        </p:nvSpPr>
        <p:spPr>
          <a:xfrm>
            <a:off x="1143000" y="304800"/>
            <a:ext cx="546979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Viewing Running Containers</a:t>
            </a:r>
            <a:endParaRPr lang="en-US" sz="2250" dirty="0"/>
          </a:p>
        </p:txBody>
      </p:sp>
      <p:sp>
        <p:nvSpPr>
          <p:cNvPr id="10" name="Text 2"/>
          <p:cNvSpPr/>
          <p:nvPr/>
        </p:nvSpPr>
        <p:spPr>
          <a:xfrm>
            <a:off x="762000" y="12001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6A34A"/>
                </a:solidFill>
                <a:latin typeface="ui-sans-serif" pitchFamily="34" charset="0"/>
                <a:ea typeface="ui-sans-serif" pitchFamily="34" charset="-122"/>
                <a:cs typeface="ui-sans-serif" pitchFamily="34" charset="-120"/>
              </a:rPr>
              <a:t>B.</a:t>
            </a:r>
            <a:endParaRPr lang="en-US" sz="1500" dirty="0"/>
          </a:p>
        </p:txBody>
      </p:sp>
      <p:sp>
        <p:nvSpPr>
          <p:cNvPr id="11" name="Text 3"/>
          <p:cNvSpPr/>
          <p:nvPr/>
        </p:nvSpPr>
        <p:spPr>
          <a:xfrm>
            <a:off x="1093887" y="1200150"/>
            <a:ext cx="1124248"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docker ps</a:t>
            </a:r>
            <a:endParaRPr lang="en-US" sz="1350" dirty="0"/>
          </a:p>
        </p:txBody>
      </p:sp>
      <p:sp>
        <p:nvSpPr>
          <p:cNvPr id="12" name="Text 4"/>
          <p:cNvSpPr/>
          <p:nvPr/>
        </p:nvSpPr>
        <p:spPr>
          <a:xfrm>
            <a:off x="609600" y="1924050"/>
            <a:ext cx="6278761"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13" name="Text 5"/>
          <p:cNvSpPr/>
          <p:nvPr/>
        </p:nvSpPr>
        <p:spPr>
          <a:xfrm>
            <a:off x="895350" y="2381250"/>
            <a:ext cx="1299418" cy="276225"/>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The </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885950"/>
            <a:ext cx="3848100" cy="800100"/>
          </a:xfrm>
          <a:prstGeom prst="rect">
            <a:avLst/>
          </a:prstGeom>
        </p:spPr>
      </p:pic>
      <p:pic>
        <p:nvPicPr>
          <p:cNvPr id="7" name="Image 5" descr="preencoded.png"/>
          <p:cNvPicPr>
            <a:picLocks noChangeAspect="1"/>
          </p:cNvPicPr>
          <p:nvPr/>
        </p:nvPicPr>
        <p:blipFill>
          <a:blip r:embed="rId7"/>
          <a:stretch>
            <a:fillRect/>
          </a:stretch>
        </p:blipFill>
        <p:spPr>
          <a:xfrm>
            <a:off x="1099691" y="2038350"/>
            <a:ext cx="1543496" cy="495300"/>
          </a:xfrm>
          <a:prstGeom prst="rect">
            <a:avLst/>
          </a:prstGeom>
        </p:spPr>
      </p:pic>
      <p:pic>
        <p:nvPicPr>
          <p:cNvPr id="8" name="Image 6" descr="preencoded.png"/>
          <p:cNvPicPr>
            <a:picLocks noChangeAspect="1"/>
          </p:cNvPicPr>
          <p:nvPr/>
        </p:nvPicPr>
        <p:blipFill>
          <a:blip r:embed="rId6"/>
          <a:stretch>
            <a:fillRect/>
          </a:stretch>
        </p:blipFill>
        <p:spPr>
          <a:xfrm>
            <a:off x="4686300" y="1885950"/>
            <a:ext cx="3848100" cy="800100"/>
          </a:xfrm>
          <a:prstGeom prst="rect">
            <a:avLst/>
          </a:prstGeom>
        </p:spPr>
      </p:pic>
      <p:pic>
        <p:nvPicPr>
          <p:cNvPr id="9" name="Image 7" descr="preencoded.png"/>
          <p:cNvPicPr>
            <a:picLocks noChangeAspect="1"/>
          </p:cNvPicPr>
          <p:nvPr/>
        </p:nvPicPr>
        <p:blipFill>
          <a:blip r:embed="rId8"/>
          <a:stretch>
            <a:fillRect/>
          </a:stretch>
        </p:blipFill>
        <p:spPr>
          <a:xfrm>
            <a:off x="5170587" y="2038350"/>
            <a:ext cx="1440359" cy="495300"/>
          </a:xfrm>
          <a:prstGeom prst="rect">
            <a:avLst/>
          </a:prstGeom>
        </p:spPr>
      </p:pic>
      <p:pic>
        <p:nvPicPr>
          <p:cNvPr id="10" name="Image 8" descr="preencoded.png"/>
          <p:cNvPicPr>
            <a:picLocks noChangeAspect="1"/>
          </p:cNvPicPr>
          <p:nvPr/>
        </p:nvPicPr>
        <p:blipFill>
          <a:blip r:embed="rId6"/>
          <a:stretch>
            <a:fillRect/>
          </a:stretch>
        </p:blipFill>
        <p:spPr>
          <a:xfrm>
            <a:off x="609600" y="2914650"/>
            <a:ext cx="3848100" cy="800100"/>
          </a:xfrm>
          <a:prstGeom prst="rect">
            <a:avLst/>
          </a:prstGeom>
        </p:spPr>
      </p:pic>
      <p:pic>
        <p:nvPicPr>
          <p:cNvPr id="11" name="Image 9" descr="preencoded.png"/>
          <p:cNvPicPr>
            <a:picLocks noChangeAspect="1"/>
          </p:cNvPicPr>
          <p:nvPr/>
        </p:nvPicPr>
        <p:blipFill>
          <a:blip r:embed="rId9"/>
          <a:stretch>
            <a:fillRect/>
          </a:stretch>
        </p:blipFill>
        <p:spPr>
          <a:xfrm>
            <a:off x="1088529" y="3067050"/>
            <a:ext cx="1440359" cy="495300"/>
          </a:xfrm>
          <a:prstGeom prst="rect">
            <a:avLst/>
          </a:prstGeom>
        </p:spPr>
      </p:pic>
      <p:pic>
        <p:nvPicPr>
          <p:cNvPr id="12" name="Image 10" descr="preencoded.png"/>
          <p:cNvPicPr>
            <a:picLocks noChangeAspect="1"/>
          </p:cNvPicPr>
          <p:nvPr/>
        </p:nvPicPr>
        <p:blipFill>
          <a:blip r:embed="rId6"/>
          <a:stretch>
            <a:fillRect/>
          </a:stretch>
        </p:blipFill>
        <p:spPr>
          <a:xfrm>
            <a:off x="4686300" y="2914650"/>
            <a:ext cx="3848100" cy="800100"/>
          </a:xfrm>
          <a:prstGeom prst="rect">
            <a:avLst/>
          </a:prstGeom>
        </p:spPr>
      </p:pic>
      <p:pic>
        <p:nvPicPr>
          <p:cNvPr id="13" name="Image 11" descr="preencoded.png"/>
          <p:cNvPicPr>
            <a:picLocks noChangeAspect="1"/>
          </p:cNvPicPr>
          <p:nvPr/>
        </p:nvPicPr>
        <p:blipFill>
          <a:blip r:embed="rId10"/>
          <a:stretch>
            <a:fillRect/>
          </a:stretch>
        </p:blipFill>
        <p:spPr>
          <a:xfrm>
            <a:off x="5183535" y="3067050"/>
            <a:ext cx="1337072" cy="495300"/>
          </a:xfrm>
          <a:prstGeom prst="rect">
            <a:avLst/>
          </a:prstGeom>
        </p:spPr>
      </p:pic>
      <p:pic>
        <p:nvPicPr>
          <p:cNvPr id="14" name="Image 12" descr="preencoded.png"/>
          <p:cNvPicPr>
            <a:picLocks noChangeAspect="1"/>
          </p:cNvPicPr>
          <p:nvPr/>
        </p:nvPicPr>
        <p:blipFill>
          <a:blip r:embed="rId11"/>
          <a:stretch>
            <a:fillRect/>
          </a:stretch>
        </p:blipFill>
        <p:spPr>
          <a:xfrm>
            <a:off x="9867900" y="2033588"/>
            <a:ext cx="685800" cy="685800"/>
          </a:xfrm>
          <a:prstGeom prst="rect">
            <a:avLst/>
          </a:prstGeom>
        </p:spPr>
      </p:pic>
      <p:pic>
        <p:nvPicPr>
          <p:cNvPr id="15" name="Image 13" descr="preencoded.png"/>
          <p:cNvPicPr>
            <a:picLocks noChangeAspect="1"/>
          </p:cNvPicPr>
          <p:nvPr/>
        </p:nvPicPr>
        <p:blipFill>
          <a:blip r:embed="rId12"/>
          <a:stretch>
            <a:fillRect/>
          </a:stretch>
        </p:blipFill>
        <p:spPr>
          <a:xfrm>
            <a:off x="8839200" y="2947988"/>
            <a:ext cx="2743200" cy="2238375"/>
          </a:xfrm>
          <a:prstGeom prst="rect">
            <a:avLst/>
          </a:prstGeom>
        </p:spPr>
      </p:pic>
      <p:pic>
        <p:nvPicPr>
          <p:cNvPr id="16" name="Image 14" descr="preencoded.png"/>
          <p:cNvPicPr>
            <a:picLocks noChangeAspect="1"/>
          </p:cNvPicPr>
          <p:nvPr/>
        </p:nvPicPr>
        <p:blipFill>
          <a:blip r:embed="rId13"/>
          <a:stretch>
            <a:fillRect/>
          </a:stretch>
        </p:blipFill>
        <p:spPr>
          <a:xfrm>
            <a:off x="8991600" y="4433888"/>
            <a:ext cx="2438400" cy="600075"/>
          </a:xfrm>
          <a:prstGeom prst="rect">
            <a:avLst/>
          </a:prstGeom>
        </p:spPr>
      </p:pic>
      <p:pic>
        <p:nvPicPr>
          <p:cNvPr id="17" name="Image 15" descr="preencoded.png"/>
          <p:cNvPicPr>
            <a:picLocks noChangeAspect="1"/>
          </p:cNvPicPr>
          <p:nvPr/>
        </p:nvPicPr>
        <p:blipFill>
          <a:blip r:embed="rId14"/>
          <a:stretch>
            <a:fillRect/>
          </a:stretch>
        </p:blipFill>
        <p:spPr>
          <a:xfrm>
            <a:off x="609600" y="6515100"/>
            <a:ext cx="190500" cy="152400"/>
          </a:xfrm>
          <a:prstGeom prst="rect">
            <a:avLst/>
          </a:prstGeom>
        </p:spPr>
      </p:pic>
      <p:sp>
        <p:nvSpPr>
          <p:cNvPr id="18"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11</a:t>
            </a:r>
            <a:endParaRPr lang="en-US" sz="1200" dirty="0"/>
          </a:p>
        </p:txBody>
      </p:sp>
      <p:sp>
        <p:nvSpPr>
          <p:cNvPr id="19" name="Text 1"/>
          <p:cNvSpPr/>
          <p:nvPr/>
        </p:nvSpPr>
        <p:spPr>
          <a:xfrm>
            <a:off x="1143000" y="304800"/>
            <a:ext cx="4086404"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Image Pull Command</a:t>
            </a:r>
            <a:endParaRPr lang="en-US" sz="2250" dirty="0"/>
          </a:p>
        </p:txBody>
      </p:sp>
      <p:sp>
        <p:nvSpPr>
          <p:cNvPr id="20"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correct Docker command to download an image from a Docker registry like Docker Hub?</a:t>
            </a:r>
            <a:endParaRPr lang="en-US" sz="1800" dirty="0"/>
          </a:p>
        </p:txBody>
      </p:sp>
      <p:sp>
        <p:nvSpPr>
          <p:cNvPr id="21" name="Text 3"/>
          <p:cNvSpPr/>
          <p:nvPr/>
        </p:nvSpPr>
        <p:spPr>
          <a:xfrm>
            <a:off x="762000" y="20383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2" name="Text 4"/>
          <p:cNvSpPr/>
          <p:nvPr/>
        </p:nvSpPr>
        <p:spPr>
          <a:xfrm>
            <a:off x="1252091" y="2038350"/>
            <a:ext cx="1852196" cy="4953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Arial" pitchFamily="34" charset="0"/>
                <a:ea typeface="Arial" pitchFamily="34" charset="-122"/>
                <a:cs typeface="Arial" pitchFamily="34" charset="-120"/>
              </a:rPr>
              <a:t>docker build</a:t>
            </a:r>
            <a:endParaRPr lang="en-US" sz="1350" dirty="0"/>
          </a:p>
        </p:txBody>
      </p:sp>
      <p:sp>
        <p:nvSpPr>
          <p:cNvPr id="23" name="Text 5"/>
          <p:cNvSpPr/>
          <p:nvPr/>
        </p:nvSpPr>
        <p:spPr>
          <a:xfrm>
            <a:off x="4838700" y="20383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4" name="Text 6"/>
          <p:cNvSpPr/>
          <p:nvPr/>
        </p:nvSpPr>
        <p:spPr>
          <a:xfrm>
            <a:off x="5322987" y="2038350"/>
            <a:ext cx="1728430" cy="4953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Arial" pitchFamily="34" charset="0"/>
                <a:ea typeface="Arial" pitchFamily="34" charset="-122"/>
                <a:cs typeface="Arial" pitchFamily="34" charset="-120"/>
              </a:rPr>
              <a:t>docker push</a:t>
            </a:r>
            <a:endParaRPr lang="en-US" sz="1350" dirty="0"/>
          </a:p>
        </p:txBody>
      </p:sp>
      <p:sp>
        <p:nvSpPr>
          <p:cNvPr id="25" name="Text 7"/>
          <p:cNvSpPr/>
          <p:nvPr/>
        </p:nvSpPr>
        <p:spPr>
          <a:xfrm>
            <a:off x="762000" y="30670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6" name="Text 8"/>
          <p:cNvSpPr/>
          <p:nvPr/>
        </p:nvSpPr>
        <p:spPr>
          <a:xfrm>
            <a:off x="1240929" y="3067050"/>
            <a:ext cx="1728430" cy="4953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Arial" pitchFamily="34" charset="0"/>
                <a:ea typeface="Arial" pitchFamily="34" charset="-122"/>
                <a:cs typeface="Arial" pitchFamily="34" charset="-120"/>
              </a:rPr>
              <a:t>docker pull</a:t>
            </a:r>
            <a:endParaRPr lang="en-US" sz="1350" dirty="0"/>
          </a:p>
        </p:txBody>
      </p:sp>
      <p:sp>
        <p:nvSpPr>
          <p:cNvPr id="27" name="Text 9"/>
          <p:cNvSpPr/>
          <p:nvPr/>
        </p:nvSpPr>
        <p:spPr>
          <a:xfrm>
            <a:off x="4838700" y="30670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8" name="Text 10"/>
          <p:cNvSpPr/>
          <p:nvPr/>
        </p:nvSpPr>
        <p:spPr>
          <a:xfrm>
            <a:off x="5335935" y="3067050"/>
            <a:ext cx="1604486" cy="4953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Arial" pitchFamily="34" charset="0"/>
                <a:ea typeface="Arial" pitchFamily="34" charset="-122"/>
                <a:cs typeface="Arial" pitchFamily="34" charset="-120"/>
              </a:rPr>
              <a:t>docker get</a:t>
            </a:r>
            <a:endParaRPr lang="en-US" sz="1350" dirty="0"/>
          </a:p>
        </p:txBody>
      </p:sp>
      <p:sp>
        <p:nvSpPr>
          <p:cNvPr id="29" name="Text 11"/>
          <p:cNvSpPr/>
          <p:nvPr/>
        </p:nvSpPr>
        <p:spPr>
          <a:xfrm>
            <a:off x="8991600" y="3100388"/>
            <a:ext cx="29260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Docker Command</a:t>
            </a:r>
            <a:endParaRPr lang="en-US" sz="1200" dirty="0"/>
          </a:p>
        </p:txBody>
      </p:sp>
      <p:sp>
        <p:nvSpPr>
          <p:cNvPr id="30" name="Text 12"/>
          <p:cNvSpPr/>
          <p:nvPr/>
        </p:nvSpPr>
        <p:spPr>
          <a:xfrm>
            <a:off x="8991600" y="3405188"/>
            <a:ext cx="24384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The </a:t>
            </a:r>
            <a:r>
              <a:rPr lang="en-US" sz="1200" b="1" dirty="0">
                <a:solidFill>
                  <a:srgbClr val="4B5563"/>
                </a:solidFill>
                <a:latin typeface="ui-sans-serif" pitchFamily="34" charset="0"/>
                <a:ea typeface="ui-sans-serif" pitchFamily="34" charset="-122"/>
                <a:cs typeface="ui-sans-serif" pitchFamily="34" charset="-120"/>
              </a:rPr>
              <a:t>docker pull</a:t>
            </a:r>
            <a:r>
              <a:rPr lang="en-US" sz="1200" dirty="0">
                <a:solidFill>
                  <a:srgbClr val="4B5563"/>
                </a:solidFill>
                <a:latin typeface="ui-sans-serif" pitchFamily="34" charset="0"/>
                <a:ea typeface="ui-sans-serif" pitchFamily="34" charset="-122"/>
                <a:cs typeface="ui-sans-serif" pitchFamily="34" charset="-120"/>
              </a:rPr>
              <a:t> command fetches an image from a Docker registry and saves it to your local system.</a:t>
            </a:r>
            <a:endParaRPr lang="en-US" sz="1200" dirty="0"/>
          </a:p>
        </p:txBody>
      </p:sp>
      <p:sp>
        <p:nvSpPr>
          <p:cNvPr id="31" name="Text 13"/>
          <p:cNvSpPr/>
          <p:nvPr/>
        </p:nvSpPr>
        <p:spPr>
          <a:xfrm>
            <a:off x="9144000" y="4433888"/>
            <a:ext cx="2438400" cy="600075"/>
          </a:xfrm>
          <a:prstGeom prst="rect">
            <a:avLst/>
          </a:prstGeom>
          <a:noFill/>
          <a:ln/>
        </p:spPr>
        <p:txBody>
          <a:bodyPr vert="horz" wrap="square" lIns="0" tIns="0" rIns="0" bIns="0" rtlCol="0" anchor="t"/>
          <a:lstStyle/>
          <a:p>
            <a:pPr marL="0" indent="0">
              <a:lnSpc>
                <a:spcPts val="1463"/>
              </a:lnSpc>
              <a:buNone/>
            </a:pPr>
            <a:r>
              <a:rPr lang="en-US" sz="975" dirty="0">
                <a:solidFill>
                  <a:srgbClr val="6B7280"/>
                </a:solidFill>
                <a:latin typeface="Arial" pitchFamily="34" charset="0"/>
                <a:ea typeface="Arial" pitchFamily="34" charset="-122"/>
                <a:cs typeface="Arial" pitchFamily="34" charset="-120"/>
              </a:rPr>
              <a:t># Pull latest image</a:t>
            </a:r>
            <a:r>
              <a:rPr lang="en-US" sz="975" dirty="0">
                <a:solidFill>
                  <a:srgbClr val="000000"/>
                </a:solidFill>
                <a:latin typeface="Arial" pitchFamily="34" charset="0"/>
                <a:ea typeface="Arial" pitchFamily="34" charset="-122"/>
                <a:cs typeface="Arial" pitchFamily="34" charset="-120"/>
              </a:rPr>
              <a:t>
docker pull nginx</a:t>
            </a:r>
            <a:endParaRPr lang="en-US" sz="975" dirty="0"/>
          </a:p>
        </p:txBody>
      </p:sp>
      <p:sp>
        <p:nvSpPr>
          <p:cNvPr id="32" name="Text 14"/>
          <p:cNvSpPr/>
          <p:nvPr/>
        </p:nvSpPr>
        <p:spPr>
          <a:xfrm>
            <a:off x="876300" y="6477000"/>
            <a:ext cx="173378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Commands</a:t>
            </a:r>
            <a:endParaRPr lang="en-US" sz="1200" dirty="0"/>
          </a:p>
        </p:txBody>
      </p:sp>
      <p:sp>
        <p:nvSpPr>
          <p:cNvPr id="33" name="Text 15"/>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22/61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42900" cy="342900"/>
          </a:xfrm>
          <a:prstGeom prst="rect">
            <a:avLst/>
          </a:prstGeom>
        </p:spPr>
      </p:pic>
      <p:pic>
        <p:nvPicPr>
          <p:cNvPr id="6" name="Image 4" descr="preencoded.png"/>
          <p:cNvPicPr>
            <a:picLocks noChangeAspect="1"/>
          </p:cNvPicPr>
          <p:nvPr/>
        </p:nvPicPr>
        <p:blipFill>
          <a:blip r:embed="rId6"/>
          <a:stretch>
            <a:fillRect/>
          </a:stretch>
        </p:blipFill>
        <p:spPr>
          <a:xfrm>
            <a:off x="609600" y="1771650"/>
            <a:ext cx="3886200" cy="571500"/>
          </a:xfrm>
          <a:prstGeom prst="rect">
            <a:avLst/>
          </a:prstGeom>
        </p:spPr>
      </p:pic>
      <p:pic>
        <p:nvPicPr>
          <p:cNvPr id="7" name="Image 5" descr="preencoded.png"/>
          <p:cNvPicPr>
            <a:picLocks noChangeAspect="1"/>
          </p:cNvPicPr>
          <p:nvPr/>
        </p:nvPicPr>
        <p:blipFill>
          <a:blip r:embed="rId6"/>
          <a:stretch>
            <a:fillRect/>
          </a:stretch>
        </p:blipFill>
        <p:spPr>
          <a:xfrm>
            <a:off x="4648200" y="1771650"/>
            <a:ext cx="3886200" cy="571500"/>
          </a:xfrm>
          <a:prstGeom prst="rect">
            <a:avLst/>
          </a:prstGeom>
        </p:spPr>
      </p:pic>
      <p:pic>
        <p:nvPicPr>
          <p:cNvPr id="8" name="Image 6" descr="preencoded.png"/>
          <p:cNvPicPr>
            <a:picLocks noChangeAspect="1"/>
          </p:cNvPicPr>
          <p:nvPr/>
        </p:nvPicPr>
        <p:blipFill>
          <a:blip r:embed="rId6"/>
          <a:stretch>
            <a:fillRect/>
          </a:stretch>
        </p:blipFill>
        <p:spPr>
          <a:xfrm>
            <a:off x="609600" y="2495550"/>
            <a:ext cx="3886200" cy="571500"/>
          </a:xfrm>
          <a:prstGeom prst="rect">
            <a:avLst/>
          </a:prstGeom>
        </p:spPr>
      </p:pic>
      <p:pic>
        <p:nvPicPr>
          <p:cNvPr id="9" name="Image 7" descr="preencoded.png"/>
          <p:cNvPicPr>
            <a:picLocks noChangeAspect="1"/>
          </p:cNvPicPr>
          <p:nvPr/>
        </p:nvPicPr>
        <p:blipFill>
          <a:blip r:embed="rId6"/>
          <a:stretch>
            <a:fillRect/>
          </a:stretch>
        </p:blipFill>
        <p:spPr>
          <a:xfrm>
            <a:off x="4648200" y="2495550"/>
            <a:ext cx="3886200" cy="571500"/>
          </a:xfrm>
          <a:prstGeom prst="rect">
            <a:avLst/>
          </a:prstGeom>
        </p:spPr>
      </p:pic>
      <p:pic>
        <p:nvPicPr>
          <p:cNvPr id="10" name="Image 8" descr="preencoded.png"/>
          <p:cNvPicPr>
            <a:picLocks noChangeAspect="1"/>
          </p:cNvPicPr>
          <p:nvPr/>
        </p:nvPicPr>
        <p:blipFill>
          <a:blip r:embed="rId7"/>
          <a:stretch>
            <a:fillRect/>
          </a:stretch>
        </p:blipFill>
        <p:spPr>
          <a:xfrm>
            <a:off x="609600" y="3295650"/>
            <a:ext cx="7924800" cy="2143125"/>
          </a:xfrm>
          <a:prstGeom prst="rect">
            <a:avLst/>
          </a:prstGeom>
        </p:spPr>
      </p:pic>
      <p:pic>
        <p:nvPicPr>
          <p:cNvPr id="11" name="Image 9" descr="preencoded.png"/>
          <p:cNvPicPr>
            <a:picLocks noChangeAspect="1"/>
          </p:cNvPicPr>
          <p:nvPr/>
        </p:nvPicPr>
        <p:blipFill>
          <a:blip r:embed="rId8"/>
          <a:stretch>
            <a:fillRect/>
          </a:stretch>
        </p:blipFill>
        <p:spPr>
          <a:xfrm>
            <a:off x="838200" y="3943350"/>
            <a:ext cx="152400" cy="152400"/>
          </a:xfrm>
          <a:prstGeom prst="rect">
            <a:avLst/>
          </a:prstGeom>
        </p:spPr>
      </p:pic>
      <p:pic>
        <p:nvPicPr>
          <p:cNvPr id="12" name="Image 10" descr="preencoded.png"/>
          <p:cNvPicPr>
            <a:picLocks noChangeAspect="1"/>
          </p:cNvPicPr>
          <p:nvPr/>
        </p:nvPicPr>
        <p:blipFill>
          <a:blip r:embed="rId8"/>
          <a:stretch>
            <a:fillRect/>
          </a:stretch>
        </p:blipFill>
        <p:spPr>
          <a:xfrm>
            <a:off x="838200" y="4600575"/>
            <a:ext cx="152400" cy="152400"/>
          </a:xfrm>
          <a:prstGeom prst="rect">
            <a:avLst/>
          </a:prstGeom>
        </p:spPr>
      </p:pic>
      <p:pic>
        <p:nvPicPr>
          <p:cNvPr id="13" name="Image 11" descr="preencoded.png"/>
          <p:cNvPicPr>
            <a:picLocks noChangeAspect="1"/>
          </p:cNvPicPr>
          <p:nvPr/>
        </p:nvPicPr>
        <p:blipFill>
          <a:blip r:embed="rId8"/>
          <a:stretch>
            <a:fillRect/>
          </a:stretch>
        </p:blipFill>
        <p:spPr>
          <a:xfrm>
            <a:off x="838200" y="4981575"/>
            <a:ext cx="152400" cy="152400"/>
          </a:xfrm>
          <a:prstGeom prst="rect">
            <a:avLst/>
          </a:prstGeom>
        </p:spPr>
      </p:pic>
      <p:pic>
        <p:nvPicPr>
          <p:cNvPr id="14" name="Image 12" descr="preencoded.png"/>
          <p:cNvPicPr>
            <a:picLocks noChangeAspect="1"/>
          </p:cNvPicPr>
          <p:nvPr/>
        </p:nvPicPr>
        <p:blipFill>
          <a:blip r:embed="rId9"/>
          <a:stretch>
            <a:fillRect/>
          </a:stretch>
        </p:blipFill>
        <p:spPr>
          <a:xfrm>
            <a:off x="9867900" y="2002631"/>
            <a:ext cx="685800" cy="685800"/>
          </a:xfrm>
          <a:prstGeom prst="rect">
            <a:avLst/>
          </a:prstGeom>
        </p:spPr>
      </p:pic>
      <p:pic>
        <p:nvPicPr>
          <p:cNvPr id="15" name="Image 13" descr="preencoded.png"/>
          <p:cNvPicPr>
            <a:picLocks noChangeAspect="1"/>
          </p:cNvPicPr>
          <p:nvPr/>
        </p:nvPicPr>
        <p:blipFill>
          <a:blip r:embed="rId10"/>
          <a:stretch>
            <a:fillRect/>
          </a:stretch>
        </p:blipFill>
        <p:spPr>
          <a:xfrm>
            <a:off x="8839200" y="2917031"/>
            <a:ext cx="2743200" cy="414338"/>
          </a:xfrm>
          <a:prstGeom prst="rect">
            <a:avLst/>
          </a:prstGeom>
        </p:spPr>
      </p:pic>
      <p:pic>
        <p:nvPicPr>
          <p:cNvPr id="16" name="Image 14" descr="preencoded.png"/>
          <p:cNvPicPr>
            <a:picLocks noChangeAspect="1"/>
          </p:cNvPicPr>
          <p:nvPr/>
        </p:nvPicPr>
        <p:blipFill>
          <a:blip r:embed="rId11"/>
          <a:stretch>
            <a:fillRect/>
          </a:stretch>
        </p:blipFill>
        <p:spPr>
          <a:xfrm>
            <a:off x="8839200" y="4169569"/>
            <a:ext cx="2743200" cy="1009650"/>
          </a:xfrm>
          <a:prstGeom prst="rect">
            <a:avLst/>
          </a:prstGeom>
        </p:spPr>
      </p:pic>
      <p:pic>
        <p:nvPicPr>
          <p:cNvPr id="17" name="Image 15" descr="preencoded.png"/>
          <p:cNvPicPr>
            <a:picLocks noChangeAspect="1"/>
          </p:cNvPicPr>
          <p:nvPr/>
        </p:nvPicPr>
        <p:blipFill>
          <a:blip r:embed="rId12"/>
          <a:stretch>
            <a:fillRect/>
          </a:stretch>
        </p:blipFill>
        <p:spPr>
          <a:xfrm>
            <a:off x="9066907" y="4350544"/>
            <a:ext cx="152400" cy="152400"/>
          </a:xfrm>
          <a:prstGeom prst="rect">
            <a:avLst/>
          </a:prstGeom>
        </p:spPr>
      </p:pic>
      <p:pic>
        <p:nvPicPr>
          <p:cNvPr id="18" name="Image 16" descr="preencoded.png"/>
          <p:cNvPicPr>
            <a:picLocks noChangeAspect="1"/>
          </p:cNvPicPr>
          <p:nvPr/>
        </p:nvPicPr>
        <p:blipFill>
          <a:blip r:embed="rId13"/>
          <a:stretch>
            <a:fillRect/>
          </a:stretch>
        </p:blipFill>
        <p:spPr>
          <a:xfrm>
            <a:off x="609600" y="6515100"/>
            <a:ext cx="114300" cy="152400"/>
          </a:xfrm>
          <a:prstGeom prst="rect">
            <a:avLst/>
          </a:prstGeom>
        </p:spPr>
      </p:pic>
      <p:sp>
        <p:nvSpPr>
          <p:cNvPr id="19" name="Text 0"/>
          <p:cNvSpPr/>
          <p:nvPr/>
        </p:nvSpPr>
        <p:spPr>
          <a:xfrm>
            <a:off x="725091" y="285750"/>
            <a:ext cx="342900" cy="3429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C</a:t>
            </a:r>
            <a:endParaRPr lang="en-US" sz="1200" dirty="0"/>
          </a:p>
        </p:txBody>
      </p:sp>
      <p:sp>
        <p:nvSpPr>
          <p:cNvPr id="20" name="Text 1"/>
          <p:cNvSpPr/>
          <p:nvPr/>
        </p:nvSpPr>
        <p:spPr>
          <a:xfrm>
            <a:off x="1104900" y="285750"/>
            <a:ext cx="4086404"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Image Pull Command</a:t>
            </a:r>
            <a:endParaRPr lang="en-US" sz="2250" dirty="0"/>
          </a:p>
        </p:txBody>
      </p:sp>
      <p:sp>
        <p:nvSpPr>
          <p:cNvPr id="21" name="Text 2"/>
          <p:cNvSpPr/>
          <p:nvPr/>
        </p:nvSpPr>
        <p:spPr>
          <a:xfrm>
            <a:off x="609600" y="9334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correct Docker command to download an image from a Docker registry like Docker Hub?</a:t>
            </a:r>
            <a:endParaRPr lang="en-US" sz="1800" dirty="0"/>
          </a:p>
        </p:txBody>
      </p:sp>
      <p:sp>
        <p:nvSpPr>
          <p:cNvPr id="22" name="Text 3"/>
          <p:cNvSpPr/>
          <p:nvPr/>
        </p:nvSpPr>
        <p:spPr>
          <a:xfrm>
            <a:off x="762000" y="19240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3" name="Text 4"/>
          <p:cNvSpPr/>
          <p:nvPr/>
        </p:nvSpPr>
        <p:spPr>
          <a:xfrm>
            <a:off x="1099691" y="1924050"/>
            <a:ext cx="1263908"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build</a:t>
            </a:r>
            <a:endParaRPr lang="en-US" sz="1350" dirty="0"/>
          </a:p>
        </p:txBody>
      </p:sp>
      <p:sp>
        <p:nvSpPr>
          <p:cNvPr id="24" name="Text 5"/>
          <p:cNvSpPr/>
          <p:nvPr/>
        </p:nvSpPr>
        <p:spPr>
          <a:xfrm>
            <a:off x="4800600" y="19240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5" name="Text 6"/>
          <p:cNvSpPr/>
          <p:nvPr/>
        </p:nvSpPr>
        <p:spPr>
          <a:xfrm>
            <a:off x="5132487" y="1924050"/>
            <a:ext cx="1256586"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push</a:t>
            </a:r>
            <a:endParaRPr lang="en-US" sz="1350" dirty="0"/>
          </a:p>
        </p:txBody>
      </p:sp>
      <p:sp>
        <p:nvSpPr>
          <p:cNvPr id="26" name="Text 7"/>
          <p:cNvSpPr/>
          <p:nvPr/>
        </p:nvSpPr>
        <p:spPr>
          <a:xfrm>
            <a:off x="762000" y="26479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7" name="Text 8"/>
          <p:cNvSpPr/>
          <p:nvPr/>
        </p:nvSpPr>
        <p:spPr>
          <a:xfrm>
            <a:off x="1088529" y="2647950"/>
            <a:ext cx="1358205"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monospace" pitchFamily="34" charset="0"/>
                <a:ea typeface="ui-monospace" pitchFamily="34" charset="-122"/>
                <a:cs typeface="ui-monospace" pitchFamily="34" charset="-120"/>
              </a:rPr>
              <a:t>docker pull</a:t>
            </a:r>
            <a:endParaRPr lang="en-US" sz="1350" dirty="0"/>
          </a:p>
        </p:txBody>
      </p:sp>
      <p:sp>
        <p:nvSpPr>
          <p:cNvPr id="28" name="Text 9"/>
          <p:cNvSpPr/>
          <p:nvPr/>
        </p:nvSpPr>
        <p:spPr>
          <a:xfrm>
            <a:off x="4800600" y="26479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9" name="Text 10"/>
          <p:cNvSpPr/>
          <p:nvPr/>
        </p:nvSpPr>
        <p:spPr>
          <a:xfrm>
            <a:off x="5145435" y="2647950"/>
            <a:ext cx="1095851"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docker get</a:t>
            </a:r>
            <a:endParaRPr lang="en-US" sz="1350" dirty="0"/>
          </a:p>
        </p:txBody>
      </p:sp>
      <p:sp>
        <p:nvSpPr>
          <p:cNvPr id="30" name="Text 11"/>
          <p:cNvSpPr/>
          <p:nvPr/>
        </p:nvSpPr>
        <p:spPr>
          <a:xfrm>
            <a:off x="838200" y="3524250"/>
            <a:ext cx="7467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Explanation:</a:t>
            </a:r>
            <a:endParaRPr lang="en-US" sz="1500" dirty="0"/>
          </a:p>
        </p:txBody>
      </p:sp>
      <p:sp>
        <p:nvSpPr>
          <p:cNvPr id="31" name="Text 12"/>
          <p:cNvSpPr/>
          <p:nvPr/>
        </p:nvSpPr>
        <p:spPr>
          <a:xfrm>
            <a:off x="1104900" y="3905250"/>
            <a:ext cx="7200900" cy="542925"/>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The </a:t>
            </a:r>
            <a:r>
              <a:rPr lang="en-US" sz="1350" dirty="0">
                <a:solidFill>
                  <a:srgbClr val="374151"/>
                </a:solidFill>
                <a:latin typeface="ui-monospace" pitchFamily="34" charset="0"/>
                <a:ea typeface="ui-monospace" pitchFamily="34" charset="-122"/>
                <a:cs typeface="ui-monospace" pitchFamily="34" charset="-120"/>
              </a:rPr>
              <a:t>docker pull</a:t>
            </a:r>
            <a:r>
              <a:rPr lang="en-US" sz="1350" dirty="0">
                <a:solidFill>
                  <a:srgbClr val="374151"/>
                </a:solidFill>
                <a:latin typeface="ui-sans-serif" pitchFamily="34" charset="0"/>
                <a:ea typeface="ui-sans-serif" pitchFamily="34" charset="-122"/>
                <a:cs typeface="ui-sans-serif" pitchFamily="34" charset="-120"/>
              </a:rPr>
              <a:t> command is used to fetch an image from a Docker registry and save it to the local system.</a:t>
            </a:r>
            <a:endParaRPr lang="en-US" sz="1350" dirty="0"/>
          </a:p>
        </p:txBody>
      </p:sp>
      <p:sp>
        <p:nvSpPr>
          <p:cNvPr id="32" name="Text 13"/>
          <p:cNvSpPr/>
          <p:nvPr/>
        </p:nvSpPr>
        <p:spPr>
          <a:xfrm>
            <a:off x="1104900" y="4562475"/>
            <a:ext cx="7365028" cy="2667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By default, it pulls the latest version unless a specific tag is mentioned.</a:t>
            </a:r>
            <a:endParaRPr lang="en-US" sz="1350" dirty="0"/>
          </a:p>
        </p:txBody>
      </p:sp>
      <p:sp>
        <p:nvSpPr>
          <p:cNvPr id="33" name="Text 14"/>
          <p:cNvSpPr/>
          <p:nvPr/>
        </p:nvSpPr>
        <p:spPr>
          <a:xfrm>
            <a:off x="1104900" y="4943475"/>
            <a:ext cx="8623399" cy="2667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This is the standard way to download images before running or building containers.</a:t>
            </a:r>
            <a:endParaRPr lang="en-US" sz="1350" dirty="0"/>
          </a:p>
        </p:txBody>
      </p:sp>
      <p:sp>
        <p:nvSpPr>
          <p:cNvPr id="34" name="Text 15"/>
          <p:cNvSpPr/>
          <p:nvPr/>
        </p:nvSpPr>
        <p:spPr>
          <a:xfrm>
            <a:off x="9360872" y="3050381"/>
            <a:ext cx="1699855" cy="142875"/>
          </a:xfrm>
          <a:prstGeom prst="rect">
            <a:avLst/>
          </a:prstGeom>
          <a:noFill/>
          <a:ln/>
        </p:spPr>
        <p:txBody>
          <a:bodyPr vert="horz" wrap="square" lIns="0" tIns="0" rIns="0" bIns="0" rtlCol="0" anchor="t"/>
          <a:lstStyle/>
          <a:p>
            <a:pPr marL="0" indent="0" algn="ctr">
              <a:lnSpc>
                <a:spcPts val="1463"/>
              </a:lnSpc>
              <a:buNone/>
            </a:pPr>
            <a:r>
              <a:rPr lang="en-US" sz="975" b="1" dirty="0">
                <a:solidFill>
                  <a:srgbClr val="0F766E"/>
                </a:solidFill>
                <a:latin typeface="Arial" pitchFamily="34" charset="0"/>
                <a:ea typeface="Arial" pitchFamily="34" charset="-122"/>
                <a:cs typeface="Arial" pitchFamily="34" charset="-120"/>
              </a:rPr>
              <a:t>$ docker pull nginx</a:t>
            </a:r>
            <a:endParaRPr lang="en-US" sz="975" dirty="0"/>
          </a:p>
        </p:txBody>
      </p:sp>
      <p:sp>
        <p:nvSpPr>
          <p:cNvPr id="35" name="Text 16"/>
          <p:cNvSpPr/>
          <p:nvPr/>
        </p:nvSpPr>
        <p:spPr>
          <a:xfrm>
            <a:off x="8839200" y="3483769"/>
            <a:ext cx="274320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Pulls the latest nginx image from Docker Hub</a:t>
            </a:r>
            <a:endParaRPr lang="en-US" sz="1200" dirty="0"/>
          </a:p>
        </p:txBody>
      </p:sp>
      <p:sp>
        <p:nvSpPr>
          <p:cNvPr id="36" name="Text 17"/>
          <p:cNvSpPr/>
          <p:nvPr/>
        </p:nvSpPr>
        <p:spPr>
          <a:xfrm>
            <a:off x="8991600" y="4321969"/>
            <a:ext cx="2438400" cy="704850"/>
          </a:xfrm>
          <a:prstGeom prst="rect">
            <a:avLst/>
          </a:prstGeom>
          <a:noFill/>
          <a:ln/>
        </p:spPr>
        <p:txBody>
          <a:bodyPr vert="horz" wrap="square" lIns="0" tIns="0" rIns="0" bIns="0" rtlCol="0" anchor="t"/>
          <a:lstStyle/>
          <a:p>
            <a:pPr marL="0" indent="0" algn="ctr">
              <a:lnSpc>
                <a:spcPts val="1800"/>
              </a:lnSpc>
              <a:buNone/>
            </a:pPr>
            <a:r>
              <a:rPr lang="en-US" sz="1200" i="1" dirty="0">
                <a:solidFill>
                  <a:srgbClr val="374151"/>
                </a:solidFill>
                <a:latin typeface="ui-sans-serif" pitchFamily="34" charset="0"/>
                <a:ea typeface="ui-sans-serif" pitchFamily="34" charset="-122"/>
                <a:cs typeface="ui-sans-serif" pitchFamily="34" charset="-120"/>
              </a:rPr>
              <a:t> You can specify a tag for a specific version: </a:t>
            </a:r>
            <a:r>
              <a:rPr lang="en-US" sz="1200" i="1" dirty="0">
                <a:solidFill>
                  <a:srgbClr val="374151"/>
                </a:solidFill>
                <a:latin typeface="ui-monospace" pitchFamily="34" charset="0"/>
                <a:ea typeface="ui-monospace" pitchFamily="34" charset="-122"/>
                <a:cs typeface="ui-monospace" pitchFamily="34" charset="-120"/>
              </a:rPr>
              <a:t>docker pull nginx:1.19</a:t>
            </a:r>
            <a:endParaRPr lang="en-US" sz="1200" dirty="0"/>
          </a:p>
        </p:txBody>
      </p:sp>
      <p:sp>
        <p:nvSpPr>
          <p:cNvPr id="37" name="Text 18"/>
          <p:cNvSpPr/>
          <p:nvPr/>
        </p:nvSpPr>
        <p:spPr>
          <a:xfrm>
            <a:off x="800100" y="6477000"/>
            <a:ext cx="173378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Commands</a:t>
            </a:r>
            <a:endParaRPr lang="en-US" sz="1200" dirty="0"/>
          </a:p>
        </p:txBody>
      </p:sp>
      <p:sp>
        <p:nvSpPr>
          <p:cNvPr id="38" name="Text 19"/>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23/61</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2266950"/>
            <a:ext cx="3848100" cy="914400"/>
          </a:xfrm>
          <a:prstGeom prst="rect">
            <a:avLst/>
          </a:prstGeom>
        </p:spPr>
      </p:pic>
      <p:pic>
        <p:nvPicPr>
          <p:cNvPr id="7" name="Image 5" descr="preencoded.png"/>
          <p:cNvPicPr>
            <a:picLocks noChangeAspect="1"/>
          </p:cNvPicPr>
          <p:nvPr/>
        </p:nvPicPr>
        <p:blipFill>
          <a:blip r:embed="rId6"/>
          <a:stretch>
            <a:fillRect/>
          </a:stretch>
        </p:blipFill>
        <p:spPr>
          <a:xfrm>
            <a:off x="4686300" y="2266950"/>
            <a:ext cx="3848100" cy="914400"/>
          </a:xfrm>
          <a:prstGeom prst="rect">
            <a:avLst/>
          </a:prstGeom>
        </p:spPr>
      </p:pic>
      <p:pic>
        <p:nvPicPr>
          <p:cNvPr id="8" name="Image 6" descr="preencoded.png"/>
          <p:cNvPicPr>
            <a:picLocks noChangeAspect="1"/>
          </p:cNvPicPr>
          <p:nvPr/>
        </p:nvPicPr>
        <p:blipFill>
          <a:blip r:embed="rId6"/>
          <a:stretch>
            <a:fillRect/>
          </a:stretch>
        </p:blipFill>
        <p:spPr>
          <a:xfrm>
            <a:off x="609600" y="3409950"/>
            <a:ext cx="3848100" cy="914400"/>
          </a:xfrm>
          <a:prstGeom prst="rect">
            <a:avLst/>
          </a:prstGeom>
        </p:spPr>
      </p:pic>
      <p:pic>
        <p:nvPicPr>
          <p:cNvPr id="9" name="Image 7" descr="preencoded.png"/>
          <p:cNvPicPr>
            <a:picLocks noChangeAspect="1"/>
          </p:cNvPicPr>
          <p:nvPr/>
        </p:nvPicPr>
        <p:blipFill>
          <a:blip r:embed="rId6"/>
          <a:stretch>
            <a:fillRect/>
          </a:stretch>
        </p:blipFill>
        <p:spPr>
          <a:xfrm>
            <a:off x="4686300" y="3409950"/>
            <a:ext cx="3848100" cy="914400"/>
          </a:xfrm>
          <a:prstGeom prst="rect">
            <a:avLst/>
          </a:prstGeom>
        </p:spPr>
      </p:pic>
      <p:pic>
        <p:nvPicPr>
          <p:cNvPr id="10" name="Image 8" descr="preencoded.png"/>
          <p:cNvPicPr>
            <a:picLocks noChangeAspect="1"/>
          </p:cNvPicPr>
          <p:nvPr/>
        </p:nvPicPr>
        <p:blipFill>
          <a:blip r:embed="rId7"/>
          <a:stretch>
            <a:fillRect/>
          </a:stretch>
        </p:blipFill>
        <p:spPr>
          <a:xfrm>
            <a:off x="9550896" y="2867025"/>
            <a:ext cx="200025" cy="304800"/>
          </a:xfrm>
          <a:prstGeom prst="rect">
            <a:avLst/>
          </a:prstGeom>
        </p:spPr>
      </p:pic>
      <p:pic>
        <p:nvPicPr>
          <p:cNvPr id="11" name="Image 9" descr="preencoded.png"/>
          <p:cNvPicPr>
            <a:picLocks noChangeAspect="1"/>
          </p:cNvPicPr>
          <p:nvPr/>
        </p:nvPicPr>
        <p:blipFill>
          <a:blip r:embed="rId8"/>
          <a:stretch>
            <a:fillRect/>
          </a:stretch>
        </p:blipFill>
        <p:spPr>
          <a:xfrm>
            <a:off x="9996488" y="3476625"/>
            <a:ext cx="428625" cy="571500"/>
          </a:xfrm>
          <a:prstGeom prst="rect">
            <a:avLst/>
          </a:prstGeom>
        </p:spPr>
      </p:pic>
      <p:pic>
        <p:nvPicPr>
          <p:cNvPr id="12" name="Image 10" descr="preencoded.png"/>
          <p:cNvPicPr>
            <a:picLocks noChangeAspect="1"/>
          </p:cNvPicPr>
          <p:nvPr/>
        </p:nvPicPr>
        <p:blipFill>
          <a:blip r:embed="rId7"/>
          <a:stretch>
            <a:fillRect/>
          </a:stretch>
        </p:blipFill>
        <p:spPr>
          <a:xfrm>
            <a:off x="9499402" y="4200525"/>
            <a:ext cx="200025" cy="304800"/>
          </a:xfrm>
          <a:prstGeom prst="rect">
            <a:avLst/>
          </a:prstGeom>
        </p:spPr>
      </p:pic>
      <p:pic>
        <p:nvPicPr>
          <p:cNvPr id="13" name="Image 11" descr="preencoded.png"/>
          <p:cNvPicPr>
            <a:picLocks noChangeAspect="1"/>
          </p:cNvPicPr>
          <p:nvPr/>
        </p:nvPicPr>
        <p:blipFill>
          <a:blip r:embed="rId9"/>
          <a:stretch>
            <a:fillRect/>
          </a:stretch>
        </p:blipFill>
        <p:spPr>
          <a:xfrm>
            <a:off x="609600" y="6515100"/>
            <a:ext cx="171450" cy="152400"/>
          </a:xfrm>
          <a:prstGeom prst="rect">
            <a:avLst/>
          </a:prstGeom>
        </p:spPr>
      </p:pic>
      <p:sp>
        <p:nvSpPr>
          <p:cNvPr id="14"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12</a:t>
            </a:r>
            <a:endParaRPr lang="en-US" sz="1200" dirty="0"/>
          </a:p>
        </p:txBody>
      </p:sp>
      <p:sp>
        <p:nvSpPr>
          <p:cNvPr id="15" name="Text 1"/>
          <p:cNvSpPr/>
          <p:nvPr/>
        </p:nvSpPr>
        <p:spPr>
          <a:xfrm>
            <a:off x="1143000" y="304800"/>
            <a:ext cx="6209883"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Deleting Containers and Images</a:t>
            </a:r>
            <a:endParaRPr lang="en-US" sz="2250" dirty="0"/>
          </a:p>
        </p:txBody>
      </p:sp>
      <p:sp>
        <p:nvSpPr>
          <p:cNvPr id="16" name="Text 2"/>
          <p:cNvSpPr/>
          <p:nvPr/>
        </p:nvSpPr>
        <p:spPr>
          <a:xfrm>
            <a:off x="609600" y="1047750"/>
            <a:ext cx="7924800" cy="9144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pair of commands correctly distinguishes between removing a stopped container and removing a Docker image?</a:t>
            </a:r>
            <a:endParaRPr lang="en-US" sz="1800" dirty="0"/>
          </a:p>
        </p:txBody>
      </p:sp>
      <p:sp>
        <p:nvSpPr>
          <p:cNvPr id="17" name="Text 3"/>
          <p:cNvSpPr/>
          <p:nvPr/>
        </p:nvSpPr>
        <p:spPr>
          <a:xfrm>
            <a:off x="762000" y="24193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8" name="Text 4"/>
          <p:cNvSpPr/>
          <p:nvPr/>
        </p:nvSpPr>
        <p:spPr>
          <a:xfrm>
            <a:off x="1156841" y="2419350"/>
            <a:ext cx="274802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rm</a:t>
            </a:r>
            <a:r>
              <a:rPr lang="en-US" sz="1350" dirty="0">
                <a:solidFill>
                  <a:srgbClr val="374151"/>
                </a:solidFill>
                <a:latin typeface="ui-sans-serif" pitchFamily="34" charset="0"/>
                <a:ea typeface="ui-sans-serif" pitchFamily="34" charset="-122"/>
                <a:cs typeface="ui-sans-serif" pitchFamily="34" charset="-120"/>
              </a:rPr>
              <a:t> for containers</a:t>
            </a:r>
            <a:endParaRPr lang="en-US" sz="1350" dirty="0"/>
          </a:p>
        </p:txBody>
      </p:sp>
      <p:sp>
        <p:nvSpPr>
          <p:cNvPr id="19" name="Text 5"/>
          <p:cNvSpPr/>
          <p:nvPr/>
        </p:nvSpPr>
        <p:spPr>
          <a:xfrm>
            <a:off x="1156841" y="2762250"/>
            <a:ext cx="274802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rmi</a:t>
            </a:r>
            <a:r>
              <a:rPr lang="en-US" sz="1350" dirty="0">
                <a:solidFill>
                  <a:srgbClr val="374151"/>
                </a:solidFill>
                <a:latin typeface="ui-sans-serif" pitchFamily="34" charset="0"/>
                <a:ea typeface="ui-sans-serif" pitchFamily="34" charset="-122"/>
                <a:cs typeface="ui-sans-serif" pitchFamily="34" charset="-120"/>
              </a:rPr>
              <a:t> for images</a:t>
            </a:r>
            <a:endParaRPr lang="en-US" sz="1350" dirty="0"/>
          </a:p>
        </p:txBody>
      </p:sp>
      <p:sp>
        <p:nvSpPr>
          <p:cNvPr id="20" name="Text 6"/>
          <p:cNvSpPr/>
          <p:nvPr/>
        </p:nvSpPr>
        <p:spPr>
          <a:xfrm>
            <a:off x="4838700" y="24193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1" name="Text 7"/>
          <p:cNvSpPr/>
          <p:nvPr/>
        </p:nvSpPr>
        <p:spPr>
          <a:xfrm>
            <a:off x="5227737" y="2419350"/>
            <a:ext cx="3243441"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delete</a:t>
            </a:r>
            <a:r>
              <a:rPr lang="en-US" sz="1350" dirty="0">
                <a:solidFill>
                  <a:srgbClr val="374151"/>
                </a:solidFill>
                <a:latin typeface="ui-sans-serif" pitchFamily="34" charset="0"/>
                <a:ea typeface="ui-sans-serif" pitchFamily="34" charset="-122"/>
                <a:cs typeface="ui-sans-serif" pitchFamily="34" charset="-120"/>
              </a:rPr>
              <a:t> for containers</a:t>
            </a:r>
            <a:endParaRPr lang="en-US" sz="1350" dirty="0"/>
          </a:p>
        </p:txBody>
      </p:sp>
      <p:sp>
        <p:nvSpPr>
          <p:cNvPr id="22" name="Text 8"/>
          <p:cNvSpPr/>
          <p:nvPr/>
        </p:nvSpPr>
        <p:spPr>
          <a:xfrm>
            <a:off x="5227737" y="2762250"/>
            <a:ext cx="3243441"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clean</a:t>
            </a:r>
            <a:r>
              <a:rPr lang="en-US" sz="1350" dirty="0">
                <a:solidFill>
                  <a:srgbClr val="374151"/>
                </a:solidFill>
                <a:latin typeface="ui-sans-serif" pitchFamily="34" charset="0"/>
                <a:ea typeface="ui-sans-serif" pitchFamily="34" charset="-122"/>
                <a:cs typeface="ui-sans-serif" pitchFamily="34" charset="-120"/>
              </a:rPr>
              <a:t> for images</a:t>
            </a:r>
            <a:endParaRPr lang="en-US" sz="1350" dirty="0"/>
          </a:p>
        </p:txBody>
      </p:sp>
      <p:sp>
        <p:nvSpPr>
          <p:cNvPr id="23" name="Text 9"/>
          <p:cNvSpPr/>
          <p:nvPr/>
        </p:nvSpPr>
        <p:spPr>
          <a:xfrm>
            <a:off x="762000" y="35623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4" name="Text 10"/>
          <p:cNvSpPr/>
          <p:nvPr/>
        </p:nvSpPr>
        <p:spPr>
          <a:xfrm>
            <a:off x="1145679" y="3562350"/>
            <a:ext cx="299573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stop</a:t>
            </a:r>
            <a:r>
              <a:rPr lang="en-US" sz="1350" dirty="0">
                <a:solidFill>
                  <a:srgbClr val="374151"/>
                </a:solidFill>
                <a:latin typeface="ui-sans-serif" pitchFamily="34" charset="0"/>
                <a:ea typeface="ui-sans-serif" pitchFamily="34" charset="-122"/>
                <a:cs typeface="ui-sans-serif" pitchFamily="34" charset="-120"/>
              </a:rPr>
              <a:t> for containers</a:t>
            </a:r>
            <a:endParaRPr lang="en-US" sz="1350" dirty="0"/>
          </a:p>
        </p:txBody>
      </p:sp>
      <p:sp>
        <p:nvSpPr>
          <p:cNvPr id="25" name="Text 11"/>
          <p:cNvSpPr/>
          <p:nvPr/>
        </p:nvSpPr>
        <p:spPr>
          <a:xfrm>
            <a:off x="1145679" y="3905250"/>
            <a:ext cx="299573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prune</a:t>
            </a:r>
            <a:r>
              <a:rPr lang="en-US" sz="1350" dirty="0">
                <a:solidFill>
                  <a:srgbClr val="374151"/>
                </a:solidFill>
                <a:latin typeface="ui-sans-serif" pitchFamily="34" charset="0"/>
                <a:ea typeface="ui-sans-serif" pitchFamily="34" charset="-122"/>
                <a:cs typeface="ui-sans-serif" pitchFamily="34" charset="-120"/>
              </a:rPr>
              <a:t> for images</a:t>
            </a:r>
            <a:endParaRPr lang="en-US" sz="1350" dirty="0"/>
          </a:p>
        </p:txBody>
      </p:sp>
      <p:sp>
        <p:nvSpPr>
          <p:cNvPr id="26" name="Text 12"/>
          <p:cNvSpPr/>
          <p:nvPr/>
        </p:nvSpPr>
        <p:spPr>
          <a:xfrm>
            <a:off x="4838700" y="35623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7" name="Text 13"/>
          <p:cNvSpPr/>
          <p:nvPr/>
        </p:nvSpPr>
        <p:spPr>
          <a:xfrm>
            <a:off x="5240685" y="3562350"/>
            <a:ext cx="299573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kill</a:t>
            </a:r>
            <a:r>
              <a:rPr lang="en-US" sz="1350" dirty="0">
                <a:solidFill>
                  <a:srgbClr val="374151"/>
                </a:solidFill>
                <a:latin typeface="ui-sans-serif" pitchFamily="34" charset="0"/>
                <a:ea typeface="ui-sans-serif" pitchFamily="34" charset="-122"/>
                <a:cs typeface="ui-sans-serif" pitchFamily="34" charset="-120"/>
              </a:rPr>
              <a:t> for containers</a:t>
            </a:r>
            <a:endParaRPr lang="en-US" sz="1350" dirty="0"/>
          </a:p>
        </p:txBody>
      </p:sp>
      <p:sp>
        <p:nvSpPr>
          <p:cNvPr id="28" name="Text 14"/>
          <p:cNvSpPr/>
          <p:nvPr/>
        </p:nvSpPr>
        <p:spPr>
          <a:xfrm>
            <a:off x="5240685" y="3905250"/>
            <a:ext cx="299573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purge</a:t>
            </a:r>
            <a:r>
              <a:rPr lang="en-US" sz="1350" dirty="0">
                <a:solidFill>
                  <a:srgbClr val="374151"/>
                </a:solidFill>
                <a:latin typeface="ui-sans-serif" pitchFamily="34" charset="0"/>
                <a:ea typeface="ui-sans-serif" pitchFamily="34" charset="-122"/>
                <a:cs typeface="ui-sans-serif" pitchFamily="34" charset="-120"/>
              </a:rPr>
              <a:t> for images</a:t>
            </a:r>
            <a:endParaRPr lang="en-US" sz="1350" dirty="0"/>
          </a:p>
        </p:txBody>
      </p:sp>
      <p:sp>
        <p:nvSpPr>
          <p:cNvPr id="29" name="Text 15"/>
          <p:cNvSpPr/>
          <p:nvPr/>
        </p:nvSpPr>
        <p:spPr>
          <a:xfrm>
            <a:off x="9884271" y="2881313"/>
            <a:ext cx="1252121" cy="276225"/>
          </a:xfrm>
          <a:prstGeom prst="rect">
            <a:avLst/>
          </a:prstGeom>
          <a:noFill/>
          <a:ln/>
        </p:spPr>
        <p:txBody>
          <a:bodyPr vert="horz" wrap="square" lIns="0" tIns="0" rIns="0" bIns="0" rtlCol="0" anchor="t"/>
          <a:lstStyle/>
          <a:p>
            <a:pPr marL="0" indent="0">
              <a:lnSpc>
                <a:spcPts val="2100"/>
              </a:lnSpc>
              <a:buNone/>
            </a:pPr>
            <a:r>
              <a:rPr lang="en-US" sz="1350" dirty="0">
                <a:solidFill>
                  <a:srgbClr val="000000"/>
                </a:solidFill>
                <a:highlight>
                  <a:srgbClr val="F8F8F8"/>
                </a:highlight>
                <a:latin typeface="Arial" pitchFamily="34" charset="0"/>
                <a:ea typeface="Arial" pitchFamily="34" charset="-122"/>
                <a:cs typeface="Arial" pitchFamily="34" charset="-120"/>
              </a:rPr>
              <a:t>docker rm</a:t>
            </a:r>
            <a:endParaRPr lang="en-US" sz="1350" dirty="0"/>
          </a:p>
        </p:txBody>
      </p:sp>
      <p:sp>
        <p:nvSpPr>
          <p:cNvPr id="30" name="Text 16"/>
          <p:cNvSpPr/>
          <p:nvPr/>
        </p:nvSpPr>
        <p:spPr>
          <a:xfrm>
            <a:off x="9832777" y="4214813"/>
            <a:ext cx="1375886" cy="276225"/>
          </a:xfrm>
          <a:prstGeom prst="rect">
            <a:avLst/>
          </a:prstGeom>
          <a:noFill/>
          <a:ln/>
        </p:spPr>
        <p:txBody>
          <a:bodyPr vert="horz" wrap="square" lIns="0" tIns="0" rIns="0" bIns="0" rtlCol="0" anchor="t"/>
          <a:lstStyle/>
          <a:p>
            <a:pPr marL="0" indent="0">
              <a:lnSpc>
                <a:spcPts val="2100"/>
              </a:lnSpc>
              <a:buNone/>
            </a:pPr>
            <a:r>
              <a:rPr lang="en-US" sz="1350" dirty="0">
                <a:solidFill>
                  <a:srgbClr val="000000"/>
                </a:solidFill>
                <a:highlight>
                  <a:srgbClr val="F8F8F8"/>
                </a:highlight>
                <a:latin typeface="Arial" pitchFamily="34" charset="0"/>
                <a:ea typeface="Arial" pitchFamily="34" charset="-122"/>
                <a:cs typeface="Arial" pitchFamily="34" charset="-120"/>
              </a:rPr>
              <a:t>docker rmi</a:t>
            </a:r>
            <a:endParaRPr lang="en-US" sz="1350" dirty="0"/>
          </a:p>
        </p:txBody>
      </p:sp>
      <p:sp>
        <p:nvSpPr>
          <p:cNvPr id="31" name="Text 17"/>
          <p:cNvSpPr/>
          <p:nvPr/>
        </p:nvSpPr>
        <p:spPr>
          <a:xfrm>
            <a:off x="857250" y="6477000"/>
            <a:ext cx="173378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Commands</a:t>
            </a:r>
            <a:endParaRPr lang="en-US" sz="1200" dirty="0"/>
          </a:p>
        </p:txBody>
      </p:sp>
      <p:sp>
        <p:nvSpPr>
          <p:cNvPr id="32" name="Text 18"/>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24/61</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304800"/>
            <a:ext cx="304800" cy="304800"/>
          </a:xfrm>
          <a:prstGeom prst="rect">
            <a:avLst/>
          </a:prstGeom>
        </p:spPr>
      </p:pic>
      <p:pic>
        <p:nvPicPr>
          <p:cNvPr id="6" name="Image 4" descr="preencoded.png"/>
          <p:cNvPicPr>
            <a:picLocks noChangeAspect="1"/>
          </p:cNvPicPr>
          <p:nvPr/>
        </p:nvPicPr>
        <p:blipFill>
          <a:blip r:embed="rId6"/>
          <a:stretch>
            <a:fillRect/>
          </a:stretch>
        </p:blipFill>
        <p:spPr>
          <a:xfrm>
            <a:off x="609600" y="1009650"/>
            <a:ext cx="7010400" cy="1143000"/>
          </a:xfrm>
          <a:prstGeom prst="rect">
            <a:avLst/>
          </a:prstGeom>
        </p:spPr>
      </p:pic>
      <p:pic>
        <p:nvPicPr>
          <p:cNvPr id="7" name="Image 5" descr="preencoded.png"/>
          <p:cNvPicPr>
            <a:picLocks noChangeAspect="1"/>
          </p:cNvPicPr>
          <p:nvPr/>
        </p:nvPicPr>
        <p:blipFill>
          <a:blip r:embed="rId7"/>
          <a:stretch>
            <a:fillRect/>
          </a:stretch>
        </p:blipFill>
        <p:spPr>
          <a:xfrm>
            <a:off x="609600" y="2800350"/>
            <a:ext cx="171450" cy="171450"/>
          </a:xfrm>
          <a:prstGeom prst="rect">
            <a:avLst/>
          </a:prstGeom>
        </p:spPr>
      </p:pic>
      <p:pic>
        <p:nvPicPr>
          <p:cNvPr id="8" name="Image 6" descr="preencoded.png"/>
          <p:cNvPicPr>
            <a:picLocks noChangeAspect="1"/>
          </p:cNvPicPr>
          <p:nvPr/>
        </p:nvPicPr>
        <p:blipFill>
          <a:blip r:embed="rId7"/>
          <a:stretch>
            <a:fillRect/>
          </a:stretch>
        </p:blipFill>
        <p:spPr>
          <a:xfrm>
            <a:off x="609600" y="3486150"/>
            <a:ext cx="171450" cy="171450"/>
          </a:xfrm>
          <a:prstGeom prst="rect">
            <a:avLst/>
          </a:prstGeom>
        </p:spPr>
      </p:pic>
      <p:pic>
        <p:nvPicPr>
          <p:cNvPr id="9" name="Image 7" descr="preencoded.png"/>
          <p:cNvPicPr>
            <a:picLocks noChangeAspect="1"/>
          </p:cNvPicPr>
          <p:nvPr/>
        </p:nvPicPr>
        <p:blipFill>
          <a:blip r:embed="rId8"/>
          <a:stretch>
            <a:fillRect/>
          </a:stretch>
        </p:blipFill>
        <p:spPr>
          <a:xfrm>
            <a:off x="609600" y="4171950"/>
            <a:ext cx="133350" cy="171450"/>
          </a:xfrm>
          <a:prstGeom prst="rect">
            <a:avLst/>
          </a:prstGeom>
        </p:spPr>
      </p:pic>
      <p:pic>
        <p:nvPicPr>
          <p:cNvPr id="10" name="Image 8" descr="preencoded.png"/>
          <p:cNvPicPr>
            <a:picLocks noChangeAspect="1"/>
          </p:cNvPicPr>
          <p:nvPr/>
        </p:nvPicPr>
        <p:blipFill>
          <a:blip r:embed="rId9"/>
          <a:stretch>
            <a:fillRect/>
          </a:stretch>
        </p:blipFill>
        <p:spPr>
          <a:xfrm>
            <a:off x="7924800" y="2471738"/>
            <a:ext cx="3657600" cy="2238375"/>
          </a:xfrm>
          <a:prstGeom prst="rect">
            <a:avLst/>
          </a:prstGeom>
        </p:spPr>
      </p:pic>
      <p:pic>
        <p:nvPicPr>
          <p:cNvPr id="11" name="Image 9" descr="preencoded.png"/>
          <p:cNvPicPr>
            <a:picLocks noChangeAspect="1"/>
          </p:cNvPicPr>
          <p:nvPr/>
        </p:nvPicPr>
        <p:blipFill>
          <a:blip r:embed="rId10"/>
          <a:stretch>
            <a:fillRect/>
          </a:stretch>
        </p:blipFill>
        <p:spPr>
          <a:xfrm>
            <a:off x="8153400" y="3174206"/>
            <a:ext cx="457200" cy="457200"/>
          </a:xfrm>
          <a:prstGeom prst="rect">
            <a:avLst/>
          </a:prstGeom>
        </p:spPr>
      </p:pic>
      <p:pic>
        <p:nvPicPr>
          <p:cNvPr id="12" name="Image 10" descr="preencoded.png"/>
          <p:cNvPicPr>
            <a:picLocks noChangeAspect="1"/>
          </p:cNvPicPr>
          <p:nvPr/>
        </p:nvPicPr>
        <p:blipFill>
          <a:blip r:embed="rId11"/>
          <a:stretch>
            <a:fillRect/>
          </a:stretch>
        </p:blipFill>
        <p:spPr>
          <a:xfrm>
            <a:off x="8272463" y="3269456"/>
            <a:ext cx="219075" cy="266700"/>
          </a:xfrm>
          <a:prstGeom prst="rect">
            <a:avLst/>
          </a:prstGeom>
        </p:spPr>
      </p:pic>
      <p:pic>
        <p:nvPicPr>
          <p:cNvPr id="13" name="Image 11" descr="preencoded.png"/>
          <p:cNvPicPr>
            <a:picLocks noChangeAspect="1"/>
          </p:cNvPicPr>
          <p:nvPr/>
        </p:nvPicPr>
        <p:blipFill>
          <a:blip r:embed="rId12"/>
          <a:stretch>
            <a:fillRect/>
          </a:stretch>
        </p:blipFill>
        <p:spPr>
          <a:xfrm>
            <a:off x="8763000" y="3119438"/>
            <a:ext cx="1797100" cy="338138"/>
          </a:xfrm>
          <a:prstGeom prst="rect">
            <a:avLst/>
          </a:prstGeom>
        </p:spPr>
      </p:pic>
      <p:pic>
        <p:nvPicPr>
          <p:cNvPr id="14" name="Image 12" descr="preencoded.png"/>
          <p:cNvPicPr>
            <a:picLocks noChangeAspect="1"/>
          </p:cNvPicPr>
          <p:nvPr/>
        </p:nvPicPr>
        <p:blipFill>
          <a:blip r:embed="rId13"/>
          <a:stretch>
            <a:fillRect/>
          </a:stretch>
        </p:blipFill>
        <p:spPr>
          <a:xfrm>
            <a:off x="8153400" y="3969544"/>
            <a:ext cx="457200" cy="457200"/>
          </a:xfrm>
          <a:prstGeom prst="rect">
            <a:avLst/>
          </a:prstGeom>
        </p:spPr>
      </p:pic>
      <p:pic>
        <p:nvPicPr>
          <p:cNvPr id="15" name="Image 13" descr="preencoded.png"/>
          <p:cNvPicPr>
            <a:picLocks noChangeAspect="1"/>
          </p:cNvPicPr>
          <p:nvPr/>
        </p:nvPicPr>
        <p:blipFill>
          <a:blip r:embed="rId14"/>
          <a:stretch>
            <a:fillRect/>
          </a:stretch>
        </p:blipFill>
        <p:spPr>
          <a:xfrm>
            <a:off x="8286750" y="4064794"/>
            <a:ext cx="190500" cy="266700"/>
          </a:xfrm>
          <a:prstGeom prst="rect">
            <a:avLst/>
          </a:prstGeom>
        </p:spPr>
      </p:pic>
      <p:pic>
        <p:nvPicPr>
          <p:cNvPr id="16" name="Image 14" descr="preencoded.png"/>
          <p:cNvPicPr>
            <a:picLocks noChangeAspect="1"/>
          </p:cNvPicPr>
          <p:nvPr/>
        </p:nvPicPr>
        <p:blipFill>
          <a:blip r:embed="rId15"/>
          <a:stretch>
            <a:fillRect/>
          </a:stretch>
        </p:blipFill>
        <p:spPr>
          <a:xfrm>
            <a:off x="8763000" y="3914775"/>
            <a:ext cx="1494383" cy="338138"/>
          </a:xfrm>
          <a:prstGeom prst="rect">
            <a:avLst/>
          </a:prstGeom>
        </p:spPr>
      </p:pic>
      <p:pic>
        <p:nvPicPr>
          <p:cNvPr id="17" name="Image 15" descr="preencoded.png"/>
          <p:cNvPicPr>
            <a:picLocks noChangeAspect="1"/>
          </p:cNvPicPr>
          <p:nvPr/>
        </p:nvPicPr>
        <p:blipFill>
          <a:blip r:embed="rId16"/>
          <a:stretch>
            <a:fillRect/>
          </a:stretch>
        </p:blipFill>
        <p:spPr>
          <a:xfrm>
            <a:off x="609600" y="6515100"/>
            <a:ext cx="114300" cy="152400"/>
          </a:xfrm>
          <a:prstGeom prst="rect">
            <a:avLst/>
          </a:prstGeom>
        </p:spPr>
      </p:pic>
      <p:sp>
        <p:nvSpPr>
          <p:cNvPr id="18" name="Text 0"/>
          <p:cNvSpPr/>
          <p:nvPr/>
        </p:nvSpPr>
        <p:spPr>
          <a:xfrm>
            <a:off x="702915" y="304800"/>
            <a:ext cx="304800" cy="3048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A</a:t>
            </a:r>
            <a:endParaRPr lang="en-US" sz="1200" dirty="0"/>
          </a:p>
        </p:txBody>
      </p:sp>
      <p:sp>
        <p:nvSpPr>
          <p:cNvPr id="19" name="Text 1"/>
          <p:cNvSpPr/>
          <p:nvPr/>
        </p:nvSpPr>
        <p:spPr>
          <a:xfrm>
            <a:off x="1066800" y="285750"/>
            <a:ext cx="6209883"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Deleting Containers and Images</a:t>
            </a:r>
            <a:endParaRPr lang="en-US" sz="2250" dirty="0"/>
          </a:p>
        </p:txBody>
      </p:sp>
      <p:sp>
        <p:nvSpPr>
          <p:cNvPr id="20" name="Text 2"/>
          <p:cNvSpPr/>
          <p:nvPr/>
        </p:nvSpPr>
        <p:spPr>
          <a:xfrm>
            <a:off x="838200" y="1238250"/>
            <a:ext cx="65532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Correct Answer: A</a:t>
            </a:r>
            <a:endParaRPr lang="en-US" sz="1800" dirty="0"/>
          </a:p>
        </p:txBody>
      </p:sp>
      <p:sp>
        <p:nvSpPr>
          <p:cNvPr id="21" name="Text 3"/>
          <p:cNvSpPr/>
          <p:nvPr/>
        </p:nvSpPr>
        <p:spPr>
          <a:xfrm>
            <a:off x="876300" y="1657350"/>
            <a:ext cx="78638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highlight>
                  <a:srgbClr val="FF6B6B"/>
                </a:highlight>
                <a:latin typeface="ui-sans-serif" pitchFamily="34" charset="0"/>
                <a:ea typeface="ui-sans-serif" pitchFamily="34" charset="-122"/>
                <a:cs typeface="ui-sans-serif" pitchFamily="34" charset="-120"/>
              </a:rPr>
              <a:t>docker rm</a:t>
            </a:r>
            <a:r>
              <a:rPr lang="en-US" sz="1500" dirty="0">
                <a:solidFill>
                  <a:srgbClr val="374151"/>
                </a:solidFill>
                <a:latin typeface="ui-sans-serif" pitchFamily="34" charset="0"/>
                <a:ea typeface="ui-sans-serif" pitchFamily="34" charset="-122"/>
                <a:cs typeface="ui-sans-serif" pitchFamily="34" charset="-120"/>
              </a:rPr>
              <a:t> for containers, </a:t>
            </a:r>
            <a:r>
              <a:rPr lang="en-US" sz="1500" b="1" dirty="0">
                <a:solidFill>
                  <a:srgbClr val="374151"/>
                </a:solidFill>
                <a:highlight>
                  <a:srgbClr val="FF6B6B"/>
                </a:highlight>
                <a:latin typeface="ui-sans-serif" pitchFamily="34" charset="0"/>
                <a:ea typeface="ui-sans-serif" pitchFamily="34" charset="-122"/>
                <a:cs typeface="ui-sans-serif" pitchFamily="34" charset="-120"/>
              </a:rPr>
              <a:t>docker rmi</a:t>
            </a:r>
            <a:r>
              <a:rPr lang="en-US" sz="1500" dirty="0">
                <a:solidFill>
                  <a:srgbClr val="374151"/>
                </a:solidFill>
                <a:latin typeface="ui-sans-serif" pitchFamily="34" charset="0"/>
                <a:ea typeface="ui-sans-serif" pitchFamily="34" charset="-122"/>
                <a:cs typeface="ui-sans-serif" pitchFamily="34" charset="-120"/>
              </a:rPr>
              <a:t> for images</a:t>
            </a:r>
            <a:endParaRPr lang="en-US" sz="1500" dirty="0"/>
          </a:p>
        </p:txBody>
      </p:sp>
      <p:sp>
        <p:nvSpPr>
          <p:cNvPr id="22" name="Text 4"/>
          <p:cNvSpPr/>
          <p:nvPr/>
        </p:nvSpPr>
        <p:spPr>
          <a:xfrm>
            <a:off x="609600" y="2381250"/>
            <a:ext cx="7010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Explanation:</a:t>
            </a:r>
            <a:endParaRPr lang="en-US" sz="1500" dirty="0"/>
          </a:p>
        </p:txBody>
      </p:sp>
      <p:sp>
        <p:nvSpPr>
          <p:cNvPr id="23" name="Text 5"/>
          <p:cNvSpPr/>
          <p:nvPr/>
        </p:nvSpPr>
        <p:spPr>
          <a:xfrm>
            <a:off x="895350" y="2762250"/>
            <a:ext cx="6724650" cy="533400"/>
          </a:xfrm>
          <a:prstGeom prst="rect">
            <a:avLst/>
          </a:prstGeom>
          <a:noFill/>
          <a:ln/>
        </p:spPr>
        <p:txBody>
          <a:bodyPr vert="horz" wrap="square" lIns="0" tIns="0" rIns="0" bIns="0" rtlCol="0" anchor="t"/>
          <a:lstStyle/>
          <a:p>
            <a:pPr marL="0" indent="0" algn="l">
              <a:lnSpc>
                <a:spcPts val="2100"/>
              </a:lnSpc>
              <a:buNone/>
            </a:pPr>
            <a:r>
              <a:rPr lang="en-US" sz="1350" b="1" dirty="0">
                <a:solidFill>
                  <a:srgbClr val="374151"/>
                </a:solidFill>
                <a:latin typeface="ui-sans-serif" pitchFamily="34" charset="0"/>
                <a:ea typeface="ui-sans-serif" pitchFamily="34" charset="-122"/>
                <a:cs typeface="ui-sans-serif" pitchFamily="34" charset="-120"/>
              </a:rPr>
              <a:t>docker rm</a:t>
            </a:r>
            <a:r>
              <a:rPr lang="en-US" sz="1350" dirty="0">
                <a:solidFill>
                  <a:srgbClr val="374151"/>
                </a:solidFill>
                <a:latin typeface="ui-sans-serif" pitchFamily="34" charset="0"/>
                <a:ea typeface="ui-sans-serif" pitchFamily="34" charset="-122"/>
                <a:cs typeface="ui-sans-serif" pitchFamily="34" charset="-120"/>
              </a:rPr>
              <a:t> is used to remove one or more stopped containers. A running container must be stopped first before it can be removed.</a:t>
            </a:r>
            <a:endParaRPr lang="en-US" sz="1350" dirty="0"/>
          </a:p>
        </p:txBody>
      </p:sp>
      <p:sp>
        <p:nvSpPr>
          <p:cNvPr id="24" name="Text 6"/>
          <p:cNvSpPr/>
          <p:nvPr/>
        </p:nvSpPr>
        <p:spPr>
          <a:xfrm>
            <a:off x="895350" y="3448050"/>
            <a:ext cx="6724650" cy="533400"/>
          </a:xfrm>
          <a:prstGeom prst="rect">
            <a:avLst/>
          </a:prstGeom>
          <a:noFill/>
          <a:ln/>
        </p:spPr>
        <p:txBody>
          <a:bodyPr vert="horz" wrap="square" lIns="0" tIns="0" rIns="0" bIns="0" rtlCol="0" anchor="t"/>
          <a:lstStyle/>
          <a:p>
            <a:pPr marL="0" indent="0" algn="l">
              <a:lnSpc>
                <a:spcPts val="2100"/>
              </a:lnSpc>
              <a:buNone/>
            </a:pPr>
            <a:r>
              <a:rPr lang="en-US" sz="1350" b="1" dirty="0">
                <a:solidFill>
                  <a:srgbClr val="374151"/>
                </a:solidFill>
                <a:latin typeface="ui-sans-serif" pitchFamily="34" charset="0"/>
                <a:ea typeface="ui-sans-serif" pitchFamily="34" charset="-122"/>
                <a:cs typeface="ui-sans-serif" pitchFamily="34" charset="-120"/>
              </a:rPr>
              <a:t>docker rmi</a:t>
            </a:r>
            <a:r>
              <a:rPr lang="en-US" sz="1350" dirty="0">
                <a:solidFill>
                  <a:srgbClr val="374151"/>
                </a:solidFill>
                <a:latin typeface="ui-sans-serif" pitchFamily="34" charset="0"/>
                <a:ea typeface="ui-sans-serif" pitchFamily="34" charset="-122"/>
                <a:cs typeface="ui-sans-serif" pitchFamily="34" charset="-120"/>
              </a:rPr>
              <a:t> is used to delete images from Docker's local storage, freeing up space.</a:t>
            </a:r>
            <a:endParaRPr lang="en-US" sz="1350" dirty="0"/>
          </a:p>
        </p:txBody>
      </p:sp>
      <p:sp>
        <p:nvSpPr>
          <p:cNvPr id="25" name="Text 7"/>
          <p:cNvSpPr/>
          <p:nvPr/>
        </p:nvSpPr>
        <p:spPr>
          <a:xfrm>
            <a:off x="857250" y="4133850"/>
            <a:ext cx="67627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Important: Before removing a container, ensure it's stopped. Similarly, before removing an image, ensure no containers are using it.</a:t>
            </a:r>
            <a:endParaRPr lang="en-US" sz="1350" dirty="0"/>
          </a:p>
        </p:txBody>
      </p:sp>
      <p:sp>
        <p:nvSpPr>
          <p:cNvPr id="26" name="Text 8"/>
          <p:cNvSpPr/>
          <p:nvPr/>
        </p:nvSpPr>
        <p:spPr>
          <a:xfrm>
            <a:off x="7833360" y="2700338"/>
            <a:ext cx="384048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374151"/>
                </a:solidFill>
                <a:latin typeface="ui-sans-serif" pitchFamily="34" charset="0"/>
                <a:ea typeface="ui-sans-serif" pitchFamily="34" charset="-122"/>
                <a:cs typeface="ui-sans-serif" pitchFamily="34" charset="-120"/>
              </a:rPr>
              <a:t>Docker Commands</a:t>
            </a:r>
            <a:endParaRPr lang="en-US" sz="1500" dirty="0"/>
          </a:p>
        </p:txBody>
      </p:sp>
      <p:sp>
        <p:nvSpPr>
          <p:cNvPr id="27" name="Text 9"/>
          <p:cNvSpPr/>
          <p:nvPr/>
        </p:nvSpPr>
        <p:spPr>
          <a:xfrm>
            <a:off x="8839200" y="3119438"/>
            <a:ext cx="2156520" cy="338138"/>
          </a:xfrm>
          <a:prstGeom prst="rect">
            <a:avLst/>
          </a:prstGeom>
          <a:noFill/>
          <a:ln/>
        </p:spPr>
        <p:txBody>
          <a:bodyPr vert="horz" wrap="square" lIns="0" tIns="0" rIns="0" bIns="0" rtlCol="0" anchor="t"/>
          <a:lstStyle/>
          <a:p>
            <a:pPr marL="0" indent="0">
              <a:lnSpc>
                <a:spcPts val="1463"/>
              </a:lnSpc>
              <a:buNone/>
            </a:pPr>
            <a:r>
              <a:rPr lang="en-US" sz="975" dirty="0">
                <a:solidFill>
                  <a:srgbClr val="000000"/>
                </a:solidFill>
                <a:latin typeface="Arial" pitchFamily="34" charset="0"/>
                <a:ea typeface="Arial" pitchFamily="34" charset="-122"/>
                <a:cs typeface="Arial" pitchFamily="34" charset="-120"/>
              </a:rPr>
              <a:t>docker rm [container]</a:t>
            </a:r>
            <a:endParaRPr lang="en-US" sz="975" dirty="0"/>
          </a:p>
        </p:txBody>
      </p:sp>
      <p:sp>
        <p:nvSpPr>
          <p:cNvPr id="28" name="Text 10"/>
          <p:cNvSpPr/>
          <p:nvPr/>
        </p:nvSpPr>
        <p:spPr>
          <a:xfrm>
            <a:off x="8763000" y="3495675"/>
            <a:ext cx="215652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Remove stopped container</a:t>
            </a:r>
            <a:endParaRPr lang="en-US" sz="1050" dirty="0"/>
          </a:p>
        </p:txBody>
      </p:sp>
      <p:sp>
        <p:nvSpPr>
          <p:cNvPr id="29" name="Text 11"/>
          <p:cNvSpPr/>
          <p:nvPr/>
        </p:nvSpPr>
        <p:spPr>
          <a:xfrm>
            <a:off x="8839200" y="3914775"/>
            <a:ext cx="1793260" cy="338138"/>
          </a:xfrm>
          <a:prstGeom prst="rect">
            <a:avLst/>
          </a:prstGeom>
          <a:noFill/>
          <a:ln/>
        </p:spPr>
        <p:txBody>
          <a:bodyPr vert="horz" wrap="square" lIns="0" tIns="0" rIns="0" bIns="0" rtlCol="0" anchor="t"/>
          <a:lstStyle/>
          <a:p>
            <a:pPr marL="0" indent="0">
              <a:lnSpc>
                <a:spcPts val="1463"/>
              </a:lnSpc>
              <a:buNone/>
            </a:pPr>
            <a:r>
              <a:rPr lang="en-US" sz="975" dirty="0">
                <a:solidFill>
                  <a:srgbClr val="000000"/>
                </a:solidFill>
                <a:latin typeface="Arial" pitchFamily="34" charset="0"/>
                <a:ea typeface="Arial" pitchFamily="34" charset="-122"/>
                <a:cs typeface="Arial" pitchFamily="34" charset="-120"/>
              </a:rPr>
              <a:t>docker rmi [image]</a:t>
            </a:r>
            <a:endParaRPr lang="en-US" sz="975" dirty="0"/>
          </a:p>
        </p:txBody>
      </p:sp>
      <p:sp>
        <p:nvSpPr>
          <p:cNvPr id="30" name="Text 12"/>
          <p:cNvSpPr/>
          <p:nvPr/>
        </p:nvSpPr>
        <p:spPr>
          <a:xfrm>
            <a:off x="8763000" y="4291013"/>
            <a:ext cx="179326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Remove image</a:t>
            </a:r>
            <a:endParaRPr lang="en-US" sz="1050" dirty="0"/>
          </a:p>
        </p:txBody>
      </p:sp>
      <p:sp>
        <p:nvSpPr>
          <p:cNvPr id="31" name="Text 13"/>
          <p:cNvSpPr/>
          <p:nvPr/>
        </p:nvSpPr>
        <p:spPr>
          <a:xfrm>
            <a:off x="800100" y="6477000"/>
            <a:ext cx="173378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Commands</a:t>
            </a:r>
            <a:endParaRPr lang="en-US" sz="1200" dirty="0"/>
          </a:p>
        </p:txBody>
      </p:sp>
      <p:sp>
        <p:nvSpPr>
          <p:cNvPr id="32" name="Text 14"/>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25/61</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5715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571500"/>
          </a:xfrm>
          <a:prstGeom prst="rect">
            <a:avLst/>
          </a:prstGeom>
        </p:spPr>
      </p:pic>
      <p:pic>
        <p:nvPicPr>
          <p:cNvPr id="8" name="Image 6" descr="preencoded.png"/>
          <p:cNvPicPr>
            <a:picLocks noChangeAspect="1"/>
          </p:cNvPicPr>
          <p:nvPr/>
        </p:nvPicPr>
        <p:blipFill>
          <a:blip r:embed="rId6"/>
          <a:stretch>
            <a:fillRect/>
          </a:stretch>
        </p:blipFill>
        <p:spPr>
          <a:xfrm>
            <a:off x="609600" y="2762250"/>
            <a:ext cx="3848100" cy="571500"/>
          </a:xfrm>
          <a:prstGeom prst="rect">
            <a:avLst/>
          </a:prstGeom>
        </p:spPr>
      </p:pic>
      <p:pic>
        <p:nvPicPr>
          <p:cNvPr id="9" name="Image 7" descr="preencoded.png"/>
          <p:cNvPicPr>
            <a:picLocks noChangeAspect="1"/>
          </p:cNvPicPr>
          <p:nvPr/>
        </p:nvPicPr>
        <p:blipFill>
          <a:blip r:embed="rId6"/>
          <a:stretch>
            <a:fillRect/>
          </a:stretch>
        </p:blipFill>
        <p:spPr>
          <a:xfrm>
            <a:off x="4686300" y="2762250"/>
            <a:ext cx="3848100" cy="571500"/>
          </a:xfrm>
          <a:prstGeom prst="rect">
            <a:avLst/>
          </a:prstGeom>
        </p:spPr>
      </p:pic>
      <p:pic>
        <p:nvPicPr>
          <p:cNvPr id="10" name="Image 8" descr="preencoded.png"/>
          <p:cNvPicPr>
            <a:picLocks noChangeAspect="1"/>
          </p:cNvPicPr>
          <p:nvPr/>
        </p:nvPicPr>
        <p:blipFill>
          <a:blip r:embed="rId7"/>
          <a:stretch>
            <a:fillRect/>
          </a:stretch>
        </p:blipFill>
        <p:spPr>
          <a:xfrm>
            <a:off x="9825038" y="2181225"/>
            <a:ext cx="771525" cy="685800"/>
          </a:xfrm>
          <a:prstGeom prst="rect">
            <a:avLst/>
          </a:prstGeom>
        </p:spPr>
      </p:pic>
      <p:pic>
        <p:nvPicPr>
          <p:cNvPr id="11" name="Image 9" descr="preencoded.png"/>
          <p:cNvPicPr>
            <a:picLocks noChangeAspect="1"/>
          </p:cNvPicPr>
          <p:nvPr/>
        </p:nvPicPr>
        <p:blipFill>
          <a:blip r:embed="rId8"/>
          <a:stretch>
            <a:fillRect/>
          </a:stretch>
        </p:blipFill>
        <p:spPr>
          <a:xfrm>
            <a:off x="8839200" y="3095625"/>
            <a:ext cx="2743200" cy="1943100"/>
          </a:xfrm>
          <a:prstGeom prst="rect">
            <a:avLst/>
          </a:prstGeom>
        </p:spPr>
      </p:pic>
      <p:pic>
        <p:nvPicPr>
          <p:cNvPr id="12" name="Image 10" descr="preencoded.png"/>
          <p:cNvPicPr>
            <a:picLocks noChangeAspect="1"/>
          </p:cNvPicPr>
          <p:nvPr/>
        </p:nvPicPr>
        <p:blipFill>
          <a:blip r:embed="rId9"/>
          <a:stretch>
            <a:fillRect/>
          </a:stretch>
        </p:blipFill>
        <p:spPr>
          <a:xfrm>
            <a:off x="10134600" y="3276600"/>
            <a:ext cx="152400" cy="152400"/>
          </a:xfrm>
          <a:prstGeom prst="rect">
            <a:avLst/>
          </a:prstGeom>
        </p:spPr>
      </p:pic>
      <p:pic>
        <p:nvPicPr>
          <p:cNvPr id="13" name="Image 11" descr="preencoded.png"/>
          <p:cNvPicPr>
            <a:picLocks noChangeAspect="1"/>
          </p:cNvPicPr>
          <p:nvPr/>
        </p:nvPicPr>
        <p:blipFill>
          <a:blip r:embed="rId10"/>
          <a:stretch>
            <a:fillRect/>
          </a:stretch>
        </p:blipFill>
        <p:spPr>
          <a:xfrm>
            <a:off x="609600" y="6515100"/>
            <a:ext cx="114300" cy="152400"/>
          </a:xfrm>
          <a:prstGeom prst="rect">
            <a:avLst/>
          </a:prstGeom>
        </p:spPr>
      </p:pic>
      <p:sp>
        <p:nvSpPr>
          <p:cNvPr id="14"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13</a:t>
            </a:r>
            <a:endParaRPr lang="en-US" sz="1200" dirty="0"/>
          </a:p>
        </p:txBody>
      </p:sp>
      <p:sp>
        <p:nvSpPr>
          <p:cNvPr id="15" name="Text 1"/>
          <p:cNvSpPr/>
          <p:nvPr/>
        </p:nvSpPr>
        <p:spPr>
          <a:xfrm>
            <a:off x="1143000" y="304800"/>
            <a:ext cx="8366046"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Executing Commands in Running Container</a:t>
            </a:r>
            <a:endParaRPr lang="en-US" sz="2250" dirty="0"/>
          </a:p>
        </p:txBody>
      </p:sp>
      <p:sp>
        <p:nvSpPr>
          <p:cNvPr id="16"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To execute a command inside a running Docker container, which command should be used?</a:t>
            </a:r>
            <a:endParaRPr lang="en-US" sz="1800" dirty="0"/>
          </a:p>
        </p:txBody>
      </p:sp>
      <p:sp>
        <p:nvSpPr>
          <p:cNvPr id="17"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8" name="Text 4"/>
          <p:cNvSpPr/>
          <p:nvPr/>
        </p:nvSpPr>
        <p:spPr>
          <a:xfrm>
            <a:off x="1156841" y="2124075"/>
            <a:ext cx="1375886"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run</a:t>
            </a:r>
            <a:endParaRPr lang="en-US" sz="1350" dirty="0"/>
          </a:p>
        </p:txBody>
      </p:sp>
      <p:sp>
        <p:nvSpPr>
          <p:cNvPr id="19"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0" name="Text 6"/>
          <p:cNvSpPr/>
          <p:nvPr/>
        </p:nvSpPr>
        <p:spPr>
          <a:xfrm>
            <a:off x="5227737" y="2124075"/>
            <a:ext cx="1747540"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attach</a:t>
            </a:r>
            <a:endParaRPr lang="en-US" sz="1350" dirty="0"/>
          </a:p>
        </p:txBody>
      </p:sp>
      <p:sp>
        <p:nvSpPr>
          <p:cNvPr id="21" name="Text 7"/>
          <p:cNvSpPr/>
          <p:nvPr/>
        </p:nvSpPr>
        <p:spPr>
          <a:xfrm>
            <a:off x="762000" y="29146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2" name="Text 8"/>
          <p:cNvSpPr/>
          <p:nvPr/>
        </p:nvSpPr>
        <p:spPr>
          <a:xfrm>
            <a:off x="1145679" y="2924175"/>
            <a:ext cx="1499830"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exec</a:t>
            </a:r>
            <a:endParaRPr lang="en-US" sz="1350" dirty="0"/>
          </a:p>
        </p:txBody>
      </p:sp>
      <p:sp>
        <p:nvSpPr>
          <p:cNvPr id="23" name="Text 9"/>
          <p:cNvSpPr/>
          <p:nvPr/>
        </p:nvSpPr>
        <p:spPr>
          <a:xfrm>
            <a:off x="4838700" y="29146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4" name="Text 10"/>
          <p:cNvSpPr/>
          <p:nvPr/>
        </p:nvSpPr>
        <p:spPr>
          <a:xfrm>
            <a:off x="5240685" y="2924175"/>
            <a:ext cx="1375886" cy="238125"/>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highlight>
                  <a:srgbClr val="F8F8F8"/>
                </a:highlight>
                <a:latin typeface="Arial" pitchFamily="34" charset="0"/>
                <a:ea typeface="Arial" pitchFamily="34" charset="-122"/>
                <a:cs typeface="Arial" pitchFamily="34" charset="-120"/>
              </a:rPr>
              <a:t>docker cmd</a:t>
            </a:r>
            <a:endParaRPr lang="en-US" sz="1350" dirty="0"/>
          </a:p>
        </p:txBody>
      </p:sp>
      <p:sp>
        <p:nvSpPr>
          <p:cNvPr id="25" name="Text 11"/>
          <p:cNvSpPr/>
          <p:nvPr/>
        </p:nvSpPr>
        <p:spPr>
          <a:xfrm>
            <a:off x="8991600" y="3552825"/>
            <a:ext cx="2438400" cy="1333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The </a:t>
            </a:r>
            <a:r>
              <a:rPr lang="en-US" sz="1050" dirty="0">
                <a:solidFill>
                  <a:srgbClr val="4B5563"/>
                </a:solidFill>
                <a:highlight>
                  <a:srgbClr val="F8F8F8"/>
                </a:highlight>
                <a:latin typeface="Arial" pitchFamily="34" charset="0"/>
                <a:ea typeface="Arial" pitchFamily="34" charset="-122"/>
                <a:cs typeface="Arial" pitchFamily="34" charset="-120"/>
              </a:rPr>
              <a:t>docker exec</a:t>
            </a:r>
            <a:r>
              <a:rPr lang="en-US" sz="1050" dirty="0">
                <a:solidFill>
                  <a:srgbClr val="4B5563"/>
                </a:solidFill>
                <a:latin typeface="ui-sans-serif" pitchFamily="34" charset="0"/>
                <a:ea typeface="ui-sans-serif" pitchFamily="34" charset="-122"/>
                <a:cs typeface="ui-sans-serif" pitchFamily="34" charset="-120"/>
              </a:rPr>
              <a:t> command allows users to run new commands within a container that is already running. This is useful for debugging or performing administrative tasks inside the container.</a:t>
            </a:r>
            <a:endParaRPr lang="en-US" sz="1050" dirty="0"/>
          </a:p>
        </p:txBody>
      </p:sp>
      <p:sp>
        <p:nvSpPr>
          <p:cNvPr id="26" name="Text 12"/>
          <p:cNvSpPr/>
          <p:nvPr/>
        </p:nvSpPr>
        <p:spPr>
          <a:xfrm>
            <a:off x="800100" y="6477000"/>
            <a:ext cx="173378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Commands</a:t>
            </a:r>
            <a:endParaRPr lang="en-US" sz="1200" dirty="0"/>
          </a:p>
        </p:txBody>
      </p:sp>
      <p:sp>
        <p:nvSpPr>
          <p:cNvPr id="27" name="Text 13"/>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26/61</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42900" cy="342900"/>
          </a:xfrm>
          <a:prstGeom prst="rect">
            <a:avLst/>
          </a:prstGeom>
        </p:spPr>
      </p:pic>
      <p:pic>
        <p:nvPicPr>
          <p:cNvPr id="6" name="Image 4" descr="preencoded.png"/>
          <p:cNvPicPr>
            <a:picLocks noChangeAspect="1"/>
          </p:cNvPicPr>
          <p:nvPr/>
        </p:nvPicPr>
        <p:blipFill>
          <a:blip r:embed="rId6"/>
          <a:stretch>
            <a:fillRect/>
          </a:stretch>
        </p:blipFill>
        <p:spPr>
          <a:xfrm>
            <a:off x="609600" y="4362450"/>
            <a:ext cx="6278761" cy="495300"/>
          </a:xfrm>
          <a:prstGeom prst="rect">
            <a:avLst/>
          </a:prstGeom>
        </p:spPr>
      </p:pic>
      <p:pic>
        <p:nvPicPr>
          <p:cNvPr id="7" name="Image 5" descr="preencoded.png"/>
          <p:cNvPicPr>
            <a:picLocks noChangeAspect="1"/>
          </p:cNvPicPr>
          <p:nvPr/>
        </p:nvPicPr>
        <p:blipFill>
          <a:blip r:embed="rId7"/>
          <a:stretch>
            <a:fillRect/>
          </a:stretch>
        </p:blipFill>
        <p:spPr>
          <a:xfrm>
            <a:off x="7193161" y="1009650"/>
            <a:ext cx="4389090" cy="1714500"/>
          </a:xfrm>
          <a:prstGeom prst="rect">
            <a:avLst/>
          </a:prstGeom>
        </p:spPr>
      </p:pic>
      <p:pic>
        <p:nvPicPr>
          <p:cNvPr id="8" name="Image 6" descr="preencoded.png"/>
          <p:cNvPicPr>
            <a:picLocks noChangeAspect="1"/>
          </p:cNvPicPr>
          <p:nvPr/>
        </p:nvPicPr>
        <p:blipFill>
          <a:blip r:embed="rId8"/>
          <a:stretch>
            <a:fillRect/>
          </a:stretch>
        </p:blipFill>
        <p:spPr>
          <a:xfrm>
            <a:off x="7421761" y="1238250"/>
            <a:ext cx="171450" cy="304800"/>
          </a:xfrm>
          <a:prstGeom prst="rect">
            <a:avLst/>
          </a:prstGeom>
        </p:spPr>
      </p:pic>
      <p:pic>
        <p:nvPicPr>
          <p:cNvPr id="9" name="Image 7" descr="preencoded.png"/>
          <p:cNvPicPr>
            <a:picLocks noChangeAspect="1"/>
          </p:cNvPicPr>
          <p:nvPr/>
        </p:nvPicPr>
        <p:blipFill>
          <a:blip r:embed="rId9"/>
          <a:stretch>
            <a:fillRect/>
          </a:stretch>
        </p:blipFill>
        <p:spPr>
          <a:xfrm>
            <a:off x="7421761" y="1733550"/>
            <a:ext cx="152400" cy="152400"/>
          </a:xfrm>
          <a:prstGeom prst="rect">
            <a:avLst/>
          </a:prstGeom>
        </p:spPr>
      </p:pic>
      <p:pic>
        <p:nvPicPr>
          <p:cNvPr id="10" name="Image 8" descr="preencoded.png"/>
          <p:cNvPicPr>
            <a:picLocks noChangeAspect="1"/>
          </p:cNvPicPr>
          <p:nvPr/>
        </p:nvPicPr>
        <p:blipFill>
          <a:blip r:embed="rId9"/>
          <a:stretch>
            <a:fillRect/>
          </a:stretch>
        </p:blipFill>
        <p:spPr>
          <a:xfrm>
            <a:off x="7421761" y="2076450"/>
            <a:ext cx="152400" cy="152400"/>
          </a:xfrm>
          <a:prstGeom prst="rect">
            <a:avLst/>
          </a:prstGeom>
        </p:spPr>
      </p:pic>
      <p:pic>
        <p:nvPicPr>
          <p:cNvPr id="11" name="Image 9" descr="preencoded.png"/>
          <p:cNvPicPr>
            <a:picLocks noChangeAspect="1"/>
          </p:cNvPicPr>
          <p:nvPr/>
        </p:nvPicPr>
        <p:blipFill>
          <a:blip r:embed="rId10"/>
          <a:stretch>
            <a:fillRect/>
          </a:stretch>
        </p:blipFill>
        <p:spPr>
          <a:xfrm>
            <a:off x="9001869" y="3914775"/>
            <a:ext cx="771525" cy="685800"/>
          </a:xfrm>
          <a:prstGeom prst="rect">
            <a:avLst/>
          </a:prstGeom>
        </p:spPr>
      </p:pic>
      <p:pic>
        <p:nvPicPr>
          <p:cNvPr id="12" name="Image 10" descr="preencoded.png"/>
          <p:cNvPicPr>
            <a:picLocks noChangeAspect="1"/>
          </p:cNvPicPr>
          <p:nvPr/>
        </p:nvPicPr>
        <p:blipFill>
          <a:blip r:embed="rId11"/>
          <a:stretch>
            <a:fillRect/>
          </a:stretch>
        </p:blipFill>
        <p:spPr>
          <a:xfrm>
            <a:off x="609600" y="6515100"/>
            <a:ext cx="114300" cy="152400"/>
          </a:xfrm>
          <a:prstGeom prst="rect">
            <a:avLst/>
          </a:prstGeom>
        </p:spPr>
      </p:pic>
      <p:sp>
        <p:nvSpPr>
          <p:cNvPr id="13" name="Text 0"/>
          <p:cNvSpPr/>
          <p:nvPr/>
        </p:nvSpPr>
        <p:spPr>
          <a:xfrm>
            <a:off x="725091" y="285750"/>
            <a:ext cx="342900" cy="3429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C</a:t>
            </a:r>
            <a:endParaRPr lang="en-US" sz="1200" dirty="0"/>
          </a:p>
        </p:txBody>
      </p:sp>
      <p:sp>
        <p:nvSpPr>
          <p:cNvPr id="14" name="Text 1"/>
          <p:cNvSpPr/>
          <p:nvPr/>
        </p:nvSpPr>
        <p:spPr>
          <a:xfrm>
            <a:off x="1104900" y="285750"/>
            <a:ext cx="8366046"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Executing Commands in Running Container</a:t>
            </a:r>
            <a:endParaRPr lang="en-US" sz="2250" dirty="0"/>
          </a:p>
        </p:txBody>
      </p:sp>
      <p:sp>
        <p:nvSpPr>
          <p:cNvPr id="15" name="Text 2"/>
          <p:cNvSpPr/>
          <p:nvPr/>
        </p:nvSpPr>
        <p:spPr>
          <a:xfrm>
            <a:off x="609600" y="1009650"/>
            <a:ext cx="7534513"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Correct Answer: C) `docker exec`</a:t>
            </a:r>
            <a:endParaRPr lang="en-US" sz="1800" dirty="0"/>
          </a:p>
        </p:txBody>
      </p:sp>
      <p:sp>
        <p:nvSpPr>
          <p:cNvPr id="16" name="Text 3"/>
          <p:cNvSpPr/>
          <p:nvPr/>
        </p:nvSpPr>
        <p:spPr>
          <a:xfrm>
            <a:off x="609600" y="1466850"/>
            <a:ext cx="6278761"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a:t>
            </a:r>
            <a:r>
              <a:rPr lang="en-US" sz="1350" b="1" dirty="0">
                <a:solidFill>
                  <a:srgbClr val="374151"/>
                </a:solidFill>
                <a:latin typeface="ui-sans-serif" pitchFamily="34" charset="0"/>
                <a:ea typeface="ui-sans-serif" pitchFamily="34" charset="-122"/>
                <a:cs typeface="ui-sans-serif" pitchFamily="34" charset="-120"/>
              </a:rPr>
              <a:t>docker exec</a:t>
            </a:r>
            <a:r>
              <a:rPr lang="en-US" sz="1350" dirty="0">
                <a:solidFill>
                  <a:srgbClr val="374151"/>
                </a:solidFill>
                <a:latin typeface="ui-sans-serif" pitchFamily="34" charset="0"/>
                <a:ea typeface="ui-sans-serif" pitchFamily="34" charset="-122"/>
                <a:cs typeface="ui-sans-serif" pitchFamily="34" charset="-120"/>
              </a:rPr>
              <a:t> command allows users to run new commands within a container that is already running.</a:t>
            </a:r>
            <a:endParaRPr lang="en-US" sz="1350" dirty="0"/>
          </a:p>
        </p:txBody>
      </p:sp>
      <p:sp>
        <p:nvSpPr>
          <p:cNvPr id="17" name="Text 4"/>
          <p:cNvSpPr/>
          <p:nvPr/>
        </p:nvSpPr>
        <p:spPr>
          <a:xfrm>
            <a:off x="609600" y="2228850"/>
            <a:ext cx="6278761"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Why this is correct:</a:t>
            </a:r>
            <a:endParaRPr lang="en-US" sz="1500" dirty="0"/>
          </a:p>
        </p:txBody>
      </p:sp>
      <p:sp>
        <p:nvSpPr>
          <p:cNvPr id="18" name="Text 5"/>
          <p:cNvSpPr/>
          <p:nvPr/>
        </p:nvSpPr>
        <p:spPr>
          <a:xfrm>
            <a:off x="647700" y="2609850"/>
            <a:ext cx="748879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It enables interactive debugging sessions with running containers</a:t>
            </a:r>
            <a:endParaRPr lang="en-US" sz="1200" dirty="0"/>
          </a:p>
        </p:txBody>
      </p:sp>
      <p:sp>
        <p:nvSpPr>
          <p:cNvPr id="19" name="Text 6"/>
          <p:cNvSpPr/>
          <p:nvPr/>
        </p:nvSpPr>
        <p:spPr>
          <a:xfrm>
            <a:off x="647700" y="2914650"/>
            <a:ext cx="748879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Allows execution of administrative tasks inside containers</a:t>
            </a:r>
            <a:endParaRPr lang="en-US" sz="1200" dirty="0"/>
          </a:p>
        </p:txBody>
      </p:sp>
      <p:sp>
        <p:nvSpPr>
          <p:cNvPr id="20" name="Text 7"/>
          <p:cNvSpPr/>
          <p:nvPr/>
        </p:nvSpPr>
        <p:spPr>
          <a:xfrm>
            <a:off x="647700" y="3219450"/>
            <a:ext cx="748879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Provides a way to inspect container state and processes</a:t>
            </a:r>
            <a:endParaRPr lang="en-US" sz="1200" dirty="0"/>
          </a:p>
        </p:txBody>
      </p:sp>
      <p:sp>
        <p:nvSpPr>
          <p:cNvPr id="21" name="Text 8"/>
          <p:cNvSpPr/>
          <p:nvPr/>
        </p:nvSpPr>
        <p:spPr>
          <a:xfrm>
            <a:off x="647700" y="3524250"/>
            <a:ext cx="748879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Can be used to start a shell session in a running container</a:t>
            </a:r>
            <a:endParaRPr lang="en-US" sz="1200" dirty="0"/>
          </a:p>
        </p:txBody>
      </p:sp>
      <p:sp>
        <p:nvSpPr>
          <p:cNvPr id="22" name="Text 9"/>
          <p:cNvSpPr/>
          <p:nvPr/>
        </p:nvSpPr>
        <p:spPr>
          <a:xfrm>
            <a:off x="609600" y="3981450"/>
            <a:ext cx="6278761"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Example usage:</a:t>
            </a:r>
            <a:endParaRPr lang="en-US" sz="1500" dirty="0"/>
          </a:p>
        </p:txBody>
      </p:sp>
      <p:sp>
        <p:nvSpPr>
          <p:cNvPr id="23" name="Text 10"/>
          <p:cNvSpPr/>
          <p:nvPr/>
        </p:nvSpPr>
        <p:spPr>
          <a:xfrm>
            <a:off x="762000" y="4362450"/>
            <a:ext cx="7534513" cy="495300"/>
          </a:xfrm>
          <a:prstGeom prst="rect">
            <a:avLst/>
          </a:prstGeom>
          <a:noFill/>
          <a:ln/>
        </p:spPr>
        <p:txBody>
          <a:bodyPr vert="horz" wrap="square" lIns="0" tIns="0" rIns="0" bIns="0" rtlCol="0" anchor="t"/>
          <a:lstStyle/>
          <a:p>
            <a:pPr marL="0" indent="0">
              <a:lnSpc>
                <a:spcPts val="2100"/>
              </a:lnSpc>
              <a:buNone/>
            </a:pPr>
            <a:r>
              <a:rPr lang="en-US" sz="1350" dirty="0">
                <a:solidFill>
                  <a:srgbClr val="000000"/>
                </a:solidFill>
                <a:latin typeface="Arial" pitchFamily="34" charset="0"/>
                <a:ea typeface="Arial" pitchFamily="34" charset="-122"/>
                <a:cs typeface="Arial" pitchFamily="34" charset="-120"/>
              </a:rPr>
              <a:t>docker exec -it &lt;container_name&gt; /bin/bash</a:t>
            </a:r>
            <a:endParaRPr lang="en-US" sz="1350" dirty="0"/>
          </a:p>
        </p:txBody>
      </p:sp>
      <p:sp>
        <p:nvSpPr>
          <p:cNvPr id="24" name="Text 11"/>
          <p:cNvSpPr/>
          <p:nvPr/>
        </p:nvSpPr>
        <p:spPr>
          <a:xfrm>
            <a:off x="7707511" y="1257300"/>
            <a:ext cx="13678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Key Points</a:t>
            </a:r>
            <a:endParaRPr lang="en-US" sz="1500" dirty="0"/>
          </a:p>
        </p:txBody>
      </p:sp>
      <p:sp>
        <p:nvSpPr>
          <p:cNvPr id="25" name="Text 12"/>
          <p:cNvSpPr/>
          <p:nvPr/>
        </p:nvSpPr>
        <p:spPr>
          <a:xfrm>
            <a:off x="7650361" y="1695450"/>
            <a:ext cx="292875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Use </a:t>
            </a:r>
            <a:r>
              <a:rPr lang="en-US" sz="1200" b="1" dirty="0">
                <a:solidFill>
                  <a:srgbClr val="374151"/>
                </a:solidFill>
                <a:latin typeface="ui-sans-serif" pitchFamily="34" charset="0"/>
                <a:ea typeface="ui-sans-serif" pitchFamily="34" charset="-122"/>
                <a:cs typeface="ui-sans-serif" pitchFamily="34" charset="-120"/>
              </a:rPr>
              <a:t>-it</a:t>
            </a:r>
            <a:r>
              <a:rPr lang="en-US" sz="1200" dirty="0">
                <a:solidFill>
                  <a:srgbClr val="374151"/>
                </a:solidFill>
                <a:latin typeface="ui-sans-serif" pitchFamily="34" charset="0"/>
                <a:ea typeface="ui-sans-serif" pitchFamily="34" charset="-122"/>
                <a:cs typeface="ui-sans-serif" pitchFamily="34" charset="-120"/>
              </a:rPr>
              <a:t> flags to run interactively</a:t>
            </a:r>
            <a:endParaRPr lang="en-US" sz="1200" dirty="0"/>
          </a:p>
        </p:txBody>
      </p:sp>
      <p:sp>
        <p:nvSpPr>
          <p:cNvPr id="26" name="Text 13"/>
          <p:cNvSpPr/>
          <p:nvPr/>
        </p:nvSpPr>
        <p:spPr>
          <a:xfrm>
            <a:off x="7650361" y="2038350"/>
            <a:ext cx="370329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Can execute any command available in the container</a:t>
            </a:r>
            <a:endParaRPr lang="en-US" sz="1200" dirty="0"/>
          </a:p>
        </p:txBody>
      </p:sp>
      <p:sp>
        <p:nvSpPr>
          <p:cNvPr id="27" name="Text 14"/>
          <p:cNvSpPr/>
          <p:nvPr/>
        </p:nvSpPr>
        <p:spPr>
          <a:xfrm>
            <a:off x="7193161" y="4752975"/>
            <a:ext cx="4389090" cy="457200"/>
          </a:xfrm>
          <a:prstGeom prst="rect">
            <a:avLst/>
          </a:prstGeom>
          <a:noFill/>
          <a:ln/>
        </p:spPr>
        <p:txBody>
          <a:bodyPr vert="horz" wrap="square" lIns="0" tIns="0" rIns="0" bIns="0" rtlCol="0" anchor="t"/>
          <a:lstStyle/>
          <a:p>
            <a:pPr marL="0" indent="0" algn="ctr">
              <a:lnSpc>
                <a:spcPts val="1800"/>
              </a:lnSpc>
              <a:buNone/>
            </a:pPr>
            <a:r>
              <a:rPr lang="en-US" sz="1200" i="1" dirty="0">
                <a:solidFill>
                  <a:srgbClr val="4B5563"/>
                </a:solidFill>
                <a:latin typeface="ui-sans-serif" pitchFamily="34" charset="0"/>
                <a:ea typeface="ui-sans-serif" pitchFamily="34" charset="-122"/>
                <a:cs typeface="ui-sans-serif" pitchFamily="34" charset="-120"/>
              </a:rPr>
              <a:t>"docker exec is essential for container debugging and maintenance tasks"</a:t>
            </a:r>
            <a:endParaRPr lang="en-US" sz="1200" dirty="0"/>
          </a:p>
        </p:txBody>
      </p:sp>
      <p:sp>
        <p:nvSpPr>
          <p:cNvPr id="28" name="Text 15"/>
          <p:cNvSpPr/>
          <p:nvPr/>
        </p:nvSpPr>
        <p:spPr>
          <a:xfrm>
            <a:off x="800100" y="6477000"/>
            <a:ext cx="173378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Docker Commands</a:t>
            </a:r>
            <a:endParaRPr lang="en-US" sz="1200" dirty="0"/>
          </a:p>
        </p:txBody>
      </p:sp>
      <p:sp>
        <p:nvSpPr>
          <p:cNvPr id="29"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27/61</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CAD0C-2200-E306-34FE-8F6E4C44E71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4CDE225-5423-F579-559B-729FFD2CC862}"/>
              </a:ext>
            </a:extLst>
          </p:cNvPr>
          <p:cNvPicPr>
            <a:picLocks noChangeAspect="1"/>
          </p:cNvPicPr>
          <p:nvPr/>
        </p:nvPicPr>
        <p:blipFill>
          <a:blip r:embed="rId3"/>
          <a:stretch>
            <a:fillRect/>
          </a:stretch>
        </p:blipFill>
        <p:spPr>
          <a:xfrm>
            <a:off x="0" y="0"/>
            <a:ext cx="12192000" cy="7082287"/>
          </a:xfrm>
          <a:prstGeom prst="rect">
            <a:avLst/>
          </a:prstGeom>
        </p:spPr>
      </p:pic>
      <p:pic>
        <p:nvPicPr>
          <p:cNvPr id="3" name="Image 1" descr="preencoded.png">
            <a:extLst>
              <a:ext uri="{FF2B5EF4-FFF2-40B4-BE49-F238E27FC236}">
                <a16:creationId xmlns:a16="http://schemas.microsoft.com/office/drawing/2014/main" id="{668DAB9F-0144-85D4-B687-11A495597EC2}"/>
              </a:ext>
            </a:extLst>
          </p:cNvPr>
          <p:cNvPicPr>
            <a:picLocks noChangeAspect="1"/>
          </p:cNvPicPr>
          <p:nvPr/>
        </p:nvPicPr>
        <p:blipFill>
          <a:blip r:embed="rId4"/>
          <a:stretch>
            <a:fillRect/>
          </a:stretch>
        </p:blipFill>
        <p:spPr>
          <a:xfrm>
            <a:off x="4310063" y="1762125"/>
            <a:ext cx="3571875" cy="4286250"/>
          </a:xfrm>
          <a:prstGeom prst="rect">
            <a:avLst/>
          </a:prstGeom>
        </p:spPr>
      </p:pic>
      <p:pic>
        <p:nvPicPr>
          <p:cNvPr id="4" name="Image 2" descr="preencoded.png">
            <a:extLst>
              <a:ext uri="{FF2B5EF4-FFF2-40B4-BE49-F238E27FC236}">
                <a16:creationId xmlns:a16="http://schemas.microsoft.com/office/drawing/2014/main" id="{21906344-E1CE-7F0C-68F2-881996D4079D}"/>
              </a:ext>
            </a:extLst>
          </p:cNvPr>
          <p:cNvPicPr>
            <a:picLocks noChangeAspect="1"/>
          </p:cNvPicPr>
          <p:nvPr/>
        </p:nvPicPr>
        <p:blipFill>
          <a:blip r:embed="rId5"/>
          <a:stretch>
            <a:fillRect/>
          </a:stretch>
        </p:blipFill>
        <p:spPr>
          <a:xfrm>
            <a:off x="5486400" y="1524000"/>
            <a:ext cx="1219200" cy="38100"/>
          </a:xfrm>
          <a:prstGeom prst="rect">
            <a:avLst/>
          </a:prstGeom>
        </p:spPr>
      </p:pic>
      <p:pic>
        <p:nvPicPr>
          <p:cNvPr id="5" name="Image 3" descr="preencoded.png">
            <a:extLst>
              <a:ext uri="{FF2B5EF4-FFF2-40B4-BE49-F238E27FC236}">
                <a16:creationId xmlns:a16="http://schemas.microsoft.com/office/drawing/2014/main" id="{9B77D0BE-C80C-4CE0-E37E-46253E549B3E}"/>
              </a:ext>
            </a:extLst>
          </p:cNvPr>
          <p:cNvPicPr>
            <a:picLocks noChangeAspect="1"/>
          </p:cNvPicPr>
          <p:nvPr/>
        </p:nvPicPr>
        <p:blipFill>
          <a:blip r:embed="rId6"/>
          <a:stretch>
            <a:fillRect/>
          </a:stretch>
        </p:blipFill>
        <p:spPr>
          <a:xfrm>
            <a:off x="2267694" y="2171700"/>
            <a:ext cx="3494633" cy="1028700"/>
          </a:xfrm>
          <a:prstGeom prst="rect">
            <a:avLst/>
          </a:prstGeom>
        </p:spPr>
      </p:pic>
      <p:pic>
        <p:nvPicPr>
          <p:cNvPr id="6" name="Image 4" descr="preencoded.png">
            <a:extLst>
              <a:ext uri="{FF2B5EF4-FFF2-40B4-BE49-F238E27FC236}">
                <a16:creationId xmlns:a16="http://schemas.microsoft.com/office/drawing/2014/main" id="{F066DEB1-C301-1562-4F93-6A5AF2AD6068}"/>
              </a:ext>
            </a:extLst>
          </p:cNvPr>
          <p:cNvPicPr>
            <a:picLocks noChangeAspect="1"/>
          </p:cNvPicPr>
          <p:nvPr/>
        </p:nvPicPr>
        <p:blipFill>
          <a:blip r:embed="rId7"/>
          <a:stretch>
            <a:fillRect/>
          </a:stretch>
        </p:blipFill>
        <p:spPr>
          <a:xfrm>
            <a:off x="3843486" y="2324100"/>
            <a:ext cx="342900" cy="381000"/>
          </a:xfrm>
          <a:prstGeom prst="rect">
            <a:avLst/>
          </a:prstGeom>
        </p:spPr>
      </p:pic>
      <p:pic>
        <p:nvPicPr>
          <p:cNvPr id="7" name="Image 5" descr="preencoded.png">
            <a:extLst>
              <a:ext uri="{FF2B5EF4-FFF2-40B4-BE49-F238E27FC236}">
                <a16:creationId xmlns:a16="http://schemas.microsoft.com/office/drawing/2014/main" id="{DAA8EA7B-1AA6-0874-7D2F-872648C4A4F9}"/>
              </a:ext>
            </a:extLst>
          </p:cNvPr>
          <p:cNvPicPr>
            <a:picLocks noChangeAspect="1"/>
          </p:cNvPicPr>
          <p:nvPr/>
        </p:nvPicPr>
        <p:blipFill>
          <a:blip r:embed="rId8"/>
          <a:stretch>
            <a:fillRect/>
          </a:stretch>
        </p:blipFill>
        <p:spPr>
          <a:xfrm>
            <a:off x="6067127" y="2171700"/>
            <a:ext cx="3857030" cy="1028700"/>
          </a:xfrm>
          <a:prstGeom prst="rect">
            <a:avLst/>
          </a:prstGeom>
        </p:spPr>
      </p:pic>
      <p:pic>
        <p:nvPicPr>
          <p:cNvPr id="8" name="Image 6" descr="preencoded.png">
            <a:extLst>
              <a:ext uri="{FF2B5EF4-FFF2-40B4-BE49-F238E27FC236}">
                <a16:creationId xmlns:a16="http://schemas.microsoft.com/office/drawing/2014/main" id="{6482B0C4-71A1-729B-E158-73EB5A088708}"/>
              </a:ext>
            </a:extLst>
          </p:cNvPr>
          <p:cNvPicPr>
            <a:picLocks noChangeAspect="1"/>
          </p:cNvPicPr>
          <p:nvPr/>
        </p:nvPicPr>
        <p:blipFill>
          <a:blip r:embed="rId9"/>
          <a:stretch>
            <a:fillRect/>
          </a:stretch>
        </p:blipFill>
        <p:spPr>
          <a:xfrm>
            <a:off x="7843242" y="2324100"/>
            <a:ext cx="304800" cy="381000"/>
          </a:xfrm>
          <a:prstGeom prst="rect">
            <a:avLst/>
          </a:prstGeom>
        </p:spPr>
      </p:pic>
      <p:pic>
        <p:nvPicPr>
          <p:cNvPr id="9" name="Image 7" descr="preencoded.png">
            <a:extLst>
              <a:ext uri="{FF2B5EF4-FFF2-40B4-BE49-F238E27FC236}">
                <a16:creationId xmlns:a16="http://schemas.microsoft.com/office/drawing/2014/main" id="{BB3BDD47-A592-39B0-9A06-A1B5CFE93C5F}"/>
              </a:ext>
            </a:extLst>
          </p:cNvPr>
          <p:cNvPicPr>
            <a:picLocks noChangeAspect="1"/>
          </p:cNvPicPr>
          <p:nvPr/>
        </p:nvPicPr>
        <p:blipFill>
          <a:blip r:embed="rId10"/>
          <a:stretch>
            <a:fillRect/>
          </a:stretch>
        </p:blipFill>
        <p:spPr>
          <a:xfrm>
            <a:off x="1585020" y="3657600"/>
            <a:ext cx="9021961" cy="2705100"/>
          </a:xfrm>
          <a:prstGeom prst="rect">
            <a:avLst/>
          </a:prstGeom>
        </p:spPr>
      </p:pic>
      <p:pic>
        <p:nvPicPr>
          <p:cNvPr id="10" name="Image 8" descr="preencoded.png">
            <a:extLst>
              <a:ext uri="{FF2B5EF4-FFF2-40B4-BE49-F238E27FC236}">
                <a16:creationId xmlns:a16="http://schemas.microsoft.com/office/drawing/2014/main" id="{F5D75378-30EF-2907-4165-6EF7329AAD47}"/>
              </a:ext>
            </a:extLst>
          </p:cNvPr>
          <p:cNvPicPr>
            <a:picLocks noChangeAspect="1"/>
          </p:cNvPicPr>
          <p:nvPr/>
        </p:nvPicPr>
        <p:blipFill>
          <a:blip r:embed="rId11"/>
          <a:stretch>
            <a:fillRect/>
          </a:stretch>
        </p:blipFill>
        <p:spPr>
          <a:xfrm>
            <a:off x="1813620" y="3924300"/>
            <a:ext cx="228600" cy="228600"/>
          </a:xfrm>
          <a:prstGeom prst="rect">
            <a:avLst/>
          </a:prstGeom>
        </p:spPr>
      </p:pic>
      <p:pic>
        <p:nvPicPr>
          <p:cNvPr id="11" name="Image 9" descr="preencoded.png">
            <a:extLst>
              <a:ext uri="{FF2B5EF4-FFF2-40B4-BE49-F238E27FC236}">
                <a16:creationId xmlns:a16="http://schemas.microsoft.com/office/drawing/2014/main" id="{2003AD81-F8BE-FEDC-25DF-02021D7182B1}"/>
              </a:ext>
            </a:extLst>
          </p:cNvPr>
          <p:cNvPicPr>
            <a:picLocks noChangeAspect="1"/>
          </p:cNvPicPr>
          <p:nvPr/>
        </p:nvPicPr>
        <p:blipFill>
          <a:blip r:embed="rId12"/>
          <a:stretch>
            <a:fillRect/>
          </a:stretch>
        </p:blipFill>
        <p:spPr>
          <a:xfrm>
            <a:off x="1813620" y="4343400"/>
            <a:ext cx="4206180" cy="495300"/>
          </a:xfrm>
          <a:prstGeom prst="rect">
            <a:avLst/>
          </a:prstGeom>
        </p:spPr>
      </p:pic>
      <p:pic>
        <p:nvPicPr>
          <p:cNvPr id="12" name="Image 10" descr="preencoded.png">
            <a:extLst>
              <a:ext uri="{FF2B5EF4-FFF2-40B4-BE49-F238E27FC236}">
                <a16:creationId xmlns:a16="http://schemas.microsoft.com/office/drawing/2014/main" id="{565499AA-2883-A598-29D7-FDF05202EB61}"/>
              </a:ext>
            </a:extLst>
          </p:cNvPr>
          <p:cNvPicPr>
            <a:picLocks noChangeAspect="1"/>
          </p:cNvPicPr>
          <p:nvPr/>
        </p:nvPicPr>
        <p:blipFill>
          <a:blip r:embed="rId13"/>
          <a:stretch>
            <a:fillRect/>
          </a:stretch>
        </p:blipFill>
        <p:spPr>
          <a:xfrm>
            <a:off x="1927920" y="4457700"/>
            <a:ext cx="190500" cy="266700"/>
          </a:xfrm>
          <a:prstGeom prst="rect">
            <a:avLst/>
          </a:prstGeom>
        </p:spPr>
      </p:pic>
      <p:pic>
        <p:nvPicPr>
          <p:cNvPr id="13" name="Image 11" descr="preencoded.png">
            <a:extLst>
              <a:ext uri="{FF2B5EF4-FFF2-40B4-BE49-F238E27FC236}">
                <a16:creationId xmlns:a16="http://schemas.microsoft.com/office/drawing/2014/main" id="{68798C63-30E6-1396-C4E5-BD0A8AD4B322}"/>
              </a:ext>
            </a:extLst>
          </p:cNvPr>
          <p:cNvPicPr>
            <a:picLocks noChangeAspect="1"/>
          </p:cNvPicPr>
          <p:nvPr/>
        </p:nvPicPr>
        <p:blipFill>
          <a:blip r:embed="rId14"/>
          <a:stretch>
            <a:fillRect/>
          </a:stretch>
        </p:blipFill>
        <p:spPr>
          <a:xfrm>
            <a:off x="6172200" y="4343400"/>
            <a:ext cx="4206180" cy="495300"/>
          </a:xfrm>
          <a:prstGeom prst="rect">
            <a:avLst/>
          </a:prstGeom>
        </p:spPr>
      </p:pic>
      <p:pic>
        <p:nvPicPr>
          <p:cNvPr id="14" name="Image 12" descr="preencoded.png">
            <a:extLst>
              <a:ext uri="{FF2B5EF4-FFF2-40B4-BE49-F238E27FC236}">
                <a16:creationId xmlns:a16="http://schemas.microsoft.com/office/drawing/2014/main" id="{A4461ED9-FB34-AA64-93DB-1ADE771F7B41}"/>
              </a:ext>
            </a:extLst>
          </p:cNvPr>
          <p:cNvPicPr>
            <a:picLocks noChangeAspect="1"/>
          </p:cNvPicPr>
          <p:nvPr/>
        </p:nvPicPr>
        <p:blipFill>
          <a:blip r:embed="rId15"/>
          <a:stretch>
            <a:fillRect/>
          </a:stretch>
        </p:blipFill>
        <p:spPr>
          <a:xfrm>
            <a:off x="6286500" y="4457700"/>
            <a:ext cx="190500" cy="266700"/>
          </a:xfrm>
          <a:prstGeom prst="rect">
            <a:avLst/>
          </a:prstGeom>
        </p:spPr>
      </p:pic>
      <p:pic>
        <p:nvPicPr>
          <p:cNvPr id="15" name="Image 13" descr="preencoded.png">
            <a:extLst>
              <a:ext uri="{FF2B5EF4-FFF2-40B4-BE49-F238E27FC236}">
                <a16:creationId xmlns:a16="http://schemas.microsoft.com/office/drawing/2014/main" id="{2544872B-812B-1E42-5ED3-7B96E48391FC}"/>
              </a:ext>
            </a:extLst>
          </p:cNvPr>
          <p:cNvPicPr>
            <a:picLocks noChangeAspect="1"/>
          </p:cNvPicPr>
          <p:nvPr/>
        </p:nvPicPr>
        <p:blipFill>
          <a:blip r:embed="rId16"/>
          <a:stretch>
            <a:fillRect/>
          </a:stretch>
        </p:blipFill>
        <p:spPr>
          <a:xfrm>
            <a:off x="1813620" y="4991100"/>
            <a:ext cx="4206180" cy="495300"/>
          </a:xfrm>
          <a:prstGeom prst="rect">
            <a:avLst/>
          </a:prstGeom>
        </p:spPr>
      </p:pic>
      <p:pic>
        <p:nvPicPr>
          <p:cNvPr id="16" name="Image 14" descr="preencoded.png">
            <a:extLst>
              <a:ext uri="{FF2B5EF4-FFF2-40B4-BE49-F238E27FC236}">
                <a16:creationId xmlns:a16="http://schemas.microsoft.com/office/drawing/2014/main" id="{E634E2AB-214F-A04B-875F-CEAFA0299123}"/>
              </a:ext>
            </a:extLst>
          </p:cNvPr>
          <p:cNvPicPr>
            <a:picLocks noChangeAspect="1"/>
          </p:cNvPicPr>
          <p:nvPr/>
        </p:nvPicPr>
        <p:blipFill>
          <a:blip r:embed="rId17"/>
          <a:stretch>
            <a:fillRect/>
          </a:stretch>
        </p:blipFill>
        <p:spPr>
          <a:xfrm>
            <a:off x="1927920" y="5105400"/>
            <a:ext cx="238125" cy="266700"/>
          </a:xfrm>
          <a:prstGeom prst="rect">
            <a:avLst/>
          </a:prstGeom>
        </p:spPr>
      </p:pic>
      <p:pic>
        <p:nvPicPr>
          <p:cNvPr id="17" name="Image 15" descr="preencoded.png">
            <a:extLst>
              <a:ext uri="{FF2B5EF4-FFF2-40B4-BE49-F238E27FC236}">
                <a16:creationId xmlns:a16="http://schemas.microsoft.com/office/drawing/2014/main" id="{30AC5917-63E4-54CE-D7E6-F773D66D4E74}"/>
              </a:ext>
            </a:extLst>
          </p:cNvPr>
          <p:cNvPicPr>
            <a:picLocks noChangeAspect="1"/>
          </p:cNvPicPr>
          <p:nvPr/>
        </p:nvPicPr>
        <p:blipFill>
          <a:blip r:embed="rId18"/>
          <a:stretch>
            <a:fillRect/>
          </a:stretch>
        </p:blipFill>
        <p:spPr>
          <a:xfrm>
            <a:off x="6172200" y="4991100"/>
            <a:ext cx="4206180" cy="495300"/>
          </a:xfrm>
          <a:prstGeom prst="rect">
            <a:avLst/>
          </a:prstGeom>
        </p:spPr>
      </p:pic>
      <p:pic>
        <p:nvPicPr>
          <p:cNvPr id="18" name="Image 16" descr="preencoded.png">
            <a:extLst>
              <a:ext uri="{FF2B5EF4-FFF2-40B4-BE49-F238E27FC236}">
                <a16:creationId xmlns:a16="http://schemas.microsoft.com/office/drawing/2014/main" id="{2AA89A79-4C4D-D9C0-3A60-1C0B9DBC0842}"/>
              </a:ext>
            </a:extLst>
          </p:cNvPr>
          <p:cNvPicPr>
            <a:picLocks noChangeAspect="1"/>
          </p:cNvPicPr>
          <p:nvPr/>
        </p:nvPicPr>
        <p:blipFill>
          <a:blip r:embed="rId19"/>
          <a:stretch>
            <a:fillRect/>
          </a:stretch>
        </p:blipFill>
        <p:spPr>
          <a:xfrm>
            <a:off x="6286500" y="5105400"/>
            <a:ext cx="190500" cy="266700"/>
          </a:xfrm>
          <a:prstGeom prst="rect">
            <a:avLst/>
          </a:prstGeom>
        </p:spPr>
      </p:pic>
      <p:pic>
        <p:nvPicPr>
          <p:cNvPr id="19" name="Image 17" descr="preencoded.png">
            <a:extLst>
              <a:ext uri="{FF2B5EF4-FFF2-40B4-BE49-F238E27FC236}">
                <a16:creationId xmlns:a16="http://schemas.microsoft.com/office/drawing/2014/main" id="{15EF7376-3CD1-1D33-D61F-9911544454C0}"/>
              </a:ext>
            </a:extLst>
          </p:cNvPr>
          <p:cNvPicPr>
            <a:picLocks noChangeAspect="1"/>
          </p:cNvPicPr>
          <p:nvPr/>
        </p:nvPicPr>
        <p:blipFill>
          <a:blip r:embed="rId20"/>
          <a:stretch>
            <a:fillRect/>
          </a:stretch>
        </p:blipFill>
        <p:spPr>
          <a:xfrm>
            <a:off x="1813620" y="5638800"/>
            <a:ext cx="8564761" cy="495300"/>
          </a:xfrm>
          <a:prstGeom prst="rect">
            <a:avLst/>
          </a:prstGeom>
        </p:spPr>
      </p:pic>
      <p:pic>
        <p:nvPicPr>
          <p:cNvPr id="20" name="Image 18" descr="preencoded.png">
            <a:extLst>
              <a:ext uri="{FF2B5EF4-FFF2-40B4-BE49-F238E27FC236}">
                <a16:creationId xmlns:a16="http://schemas.microsoft.com/office/drawing/2014/main" id="{16FED151-F7E5-86BC-F3D8-0D515AADEB61}"/>
              </a:ext>
            </a:extLst>
          </p:cNvPr>
          <p:cNvPicPr>
            <a:picLocks noChangeAspect="1"/>
          </p:cNvPicPr>
          <p:nvPr/>
        </p:nvPicPr>
        <p:blipFill>
          <a:blip r:embed="rId21"/>
          <a:stretch>
            <a:fillRect/>
          </a:stretch>
        </p:blipFill>
        <p:spPr>
          <a:xfrm>
            <a:off x="1927920" y="5753100"/>
            <a:ext cx="190500" cy="266700"/>
          </a:xfrm>
          <a:prstGeom prst="rect">
            <a:avLst/>
          </a:prstGeom>
        </p:spPr>
      </p:pic>
      <p:sp>
        <p:nvSpPr>
          <p:cNvPr id="24" name="Text 0">
            <a:extLst>
              <a:ext uri="{FF2B5EF4-FFF2-40B4-BE49-F238E27FC236}">
                <a16:creationId xmlns:a16="http://schemas.microsoft.com/office/drawing/2014/main" id="{B59897B6-8C50-B892-47FC-A5757BFB0323}"/>
              </a:ext>
            </a:extLst>
          </p:cNvPr>
          <p:cNvSpPr/>
          <p:nvPr/>
        </p:nvSpPr>
        <p:spPr>
          <a:xfrm>
            <a:off x="457200" y="457200"/>
            <a:ext cx="11277600" cy="914400"/>
          </a:xfrm>
          <a:prstGeom prst="rect">
            <a:avLst/>
          </a:prstGeom>
          <a:noFill/>
          <a:ln/>
        </p:spPr>
        <p:txBody>
          <a:bodyPr vert="horz" wrap="square" lIns="0" tIns="0" rIns="0" bIns="0" rtlCol="0" anchor="t"/>
          <a:lstStyle/>
          <a:p>
            <a:pPr marL="0" indent="0" algn="ctr">
              <a:lnSpc>
                <a:spcPts val="3600"/>
              </a:lnSpc>
              <a:buNone/>
            </a:pPr>
            <a:r>
              <a:rPr lang="en-US" sz="3600" b="1" dirty="0">
                <a:solidFill>
                  <a:srgbClr val="2563EB"/>
                </a:solidFill>
                <a:latin typeface="ui-sans-serif" pitchFamily="34" charset="0"/>
                <a:ea typeface="ui-sans-serif" pitchFamily="34" charset="-122"/>
                <a:cs typeface="ui-sans-serif" pitchFamily="34" charset="-120"/>
              </a:rPr>
              <a:t>Stay Connected with Our Cloud Computing Journey!</a:t>
            </a:r>
            <a:endParaRPr lang="en-US" sz="3600" dirty="0"/>
          </a:p>
        </p:txBody>
      </p:sp>
      <p:sp>
        <p:nvSpPr>
          <p:cNvPr id="25" name="Text 1">
            <a:extLst>
              <a:ext uri="{FF2B5EF4-FFF2-40B4-BE49-F238E27FC236}">
                <a16:creationId xmlns:a16="http://schemas.microsoft.com/office/drawing/2014/main" id="{F7FEF01F-817C-80AF-DEF6-8DFDEB6CA057}"/>
              </a:ext>
            </a:extLst>
          </p:cNvPr>
          <p:cNvSpPr/>
          <p:nvPr/>
        </p:nvSpPr>
        <p:spPr>
          <a:xfrm>
            <a:off x="2420094" y="2781300"/>
            <a:ext cx="382780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Like this video if you found it helpful!</a:t>
            </a:r>
            <a:endParaRPr lang="en-US" sz="1350" dirty="0"/>
          </a:p>
        </p:txBody>
      </p:sp>
      <p:sp>
        <p:nvSpPr>
          <p:cNvPr id="26" name="Text 2">
            <a:extLst>
              <a:ext uri="{FF2B5EF4-FFF2-40B4-BE49-F238E27FC236}">
                <a16:creationId xmlns:a16="http://schemas.microsoft.com/office/drawing/2014/main" id="{1CA0689E-C605-D37A-85D2-F5DA362553F2}"/>
              </a:ext>
            </a:extLst>
          </p:cNvPr>
          <p:cNvSpPr/>
          <p:nvPr/>
        </p:nvSpPr>
        <p:spPr>
          <a:xfrm>
            <a:off x="6219527" y="2781300"/>
            <a:ext cx="4262676"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Subscribe for cloud tech updates!</a:t>
            </a:r>
            <a:endParaRPr lang="en-US" sz="1350" dirty="0"/>
          </a:p>
        </p:txBody>
      </p:sp>
      <p:sp>
        <p:nvSpPr>
          <p:cNvPr id="27" name="Text 3">
            <a:extLst>
              <a:ext uri="{FF2B5EF4-FFF2-40B4-BE49-F238E27FC236}">
                <a16:creationId xmlns:a16="http://schemas.microsoft.com/office/drawing/2014/main" id="{1D7E260B-6B9E-5D60-A468-98A792E1514F}"/>
              </a:ext>
            </a:extLst>
          </p:cNvPr>
          <p:cNvSpPr/>
          <p:nvPr/>
        </p:nvSpPr>
        <p:spPr>
          <a:xfrm>
            <a:off x="2156520" y="3886200"/>
            <a:ext cx="10277713"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Comment below which cloud topic you want to see next like:</a:t>
            </a:r>
            <a:endParaRPr lang="en-US" sz="1800" dirty="0"/>
          </a:p>
        </p:txBody>
      </p:sp>
      <p:sp>
        <p:nvSpPr>
          <p:cNvPr id="28" name="Text 4">
            <a:extLst>
              <a:ext uri="{FF2B5EF4-FFF2-40B4-BE49-F238E27FC236}">
                <a16:creationId xmlns:a16="http://schemas.microsoft.com/office/drawing/2014/main" id="{6EB7AC34-FEDE-ADC7-79B7-AC51B799DABC}"/>
              </a:ext>
            </a:extLst>
          </p:cNvPr>
          <p:cNvSpPr/>
          <p:nvPr/>
        </p:nvSpPr>
        <p:spPr>
          <a:xfrm>
            <a:off x="2232720" y="4457700"/>
            <a:ext cx="1977747"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Cloud Security Tips</a:t>
            </a:r>
            <a:endParaRPr lang="en-US" sz="1350" dirty="0"/>
          </a:p>
        </p:txBody>
      </p:sp>
      <p:sp>
        <p:nvSpPr>
          <p:cNvPr id="29" name="Text 5">
            <a:extLst>
              <a:ext uri="{FF2B5EF4-FFF2-40B4-BE49-F238E27FC236}">
                <a16:creationId xmlns:a16="http://schemas.microsoft.com/office/drawing/2014/main" id="{90693531-9D18-4C14-0461-97B3EF6E771D}"/>
              </a:ext>
            </a:extLst>
          </p:cNvPr>
          <p:cNvSpPr/>
          <p:nvPr/>
        </p:nvSpPr>
        <p:spPr>
          <a:xfrm>
            <a:off x="6591300" y="4457700"/>
            <a:ext cx="295501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Cost Optimization Strategies</a:t>
            </a:r>
            <a:endParaRPr lang="en-US" sz="1350" dirty="0"/>
          </a:p>
        </p:txBody>
      </p:sp>
      <p:sp>
        <p:nvSpPr>
          <p:cNvPr id="30" name="Text 6">
            <a:extLst>
              <a:ext uri="{FF2B5EF4-FFF2-40B4-BE49-F238E27FC236}">
                <a16:creationId xmlns:a16="http://schemas.microsoft.com/office/drawing/2014/main" id="{849D30B3-F7EA-557A-FD69-BB5ED6187ABB}"/>
              </a:ext>
            </a:extLst>
          </p:cNvPr>
          <p:cNvSpPr/>
          <p:nvPr/>
        </p:nvSpPr>
        <p:spPr>
          <a:xfrm>
            <a:off x="2280345" y="5105400"/>
            <a:ext cx="258568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Multi-Cloud Management</a:t>
            </a:r>
            <a:endParaRPr lang="en-US" sz="1350" dirty="0"/>
          </a:p>
        </p:txBody>
      </p:sp>
      <p:sp>
        <p:nvSpPr>
          <p:cNvPr id="31" name="Text 7">
            <a:extLst>
              <a:ext uri="{FF2B5EF4-FFF2-40B4-BE49-F238E27FC236}">
                <a16:creationId xmlns:a16="http://schemas.microsoft.com/office/drawing/2014/main" id="{4174E8AF-2297-C969-7476-B2941E6D3712}"/>
              </a:ext>
            </a:extLst>
          </p:cNvPr>
          <p:cNvSpPr/>
          <p:nvPr/>
        </p:nvSpPr>
        <p:spPr>
          <a:xfrm>
            <a:off x="6591300" y="5105400"/>
            <a:ext cx="226796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Serverless Computing</a:t>
            </a:r>
            <a:endParaRPr lang="en-US" sz="1350" dirty="0"/>
          </a:p>
        </p:txBody>
      </p:sp>
      <p:sp>
        <p:nvSpPr>
          <p:cNvPr id="32" name="Text 8">
            <a:extLst>
              <a:ext uri="{FF2B5EF4-FFF2-40B4-BE49-F238E27FC236}">
                <a16:creationId xmlns:a16="http://schemas.microsoft.com/office/drawing/2014/main" id="{F22B6AEF-DD8E-AB1B-3B03-BBBA76B6E498}"/>
              </a:ext>
            </a:extLst>
          </p:cNvPr>
          <p:cNvSpPr/>
          <p:nvPr/>
        </p:nvSpPr>
        <p:spPr>
          <a:xfrm>
            <a:off x="2232720" y="5753100"/>
            <a:ext cx="226421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Cloud Migration Steps</a:t>
            </a:r>
            <a:endParaRPr lang="en-US" sz="1350" dirty="0"/>
          </a:p>
        </p:txBody>
      </p:sp>
      <p:sp>
        <p:nvSpPr>
          <p:cNvPr id="36" name="TextBox 35">
            <a:extLst>
              <a:ext uri="{FF2B5EF4-FFF2-40B4-BE49-F238E27FC236}">
                <a16:creationId xmlns:a16="http://schemas.microsoft.com/office/drawing/2014/main" id="{C61396CD-CEE5-1D23-89AC-0CFADCD9ADD5}"/>
              </a:ext>
            </a:extLst>
          </p:cNvPr>
          <p:cNvSpPr txBox="1"/>
          <p:nvPr/>
        </p:nvSpPr>
        <p:spPr>
          <a:xfrm>
            <a:off x="198156" y="969242"/>
            <a:ext cx="11948088" cy="384080"/>
          </a:xfrm>
          <a:prstGeom prst="rect">
            <a:avLst/>
          </a:prstGeom>
          <a:noFill/>
        </p:spPr>
        <p:txBody>
          <a:bodyPr wrap="square">
            <a:spAutoFit/>
          </a:bodyPr>
          <a:lstStyle/>
          <a:p>
            <a:pPr marL="0" indent="0" algn="ctr">
              <a:lnSpc>
                <a:spcPts val="2400"/>
              </a:lnSpc>
              <a:buNone/>
            </a:pPr>
            <a:r>
              <a:rPr lang="en-US" sz="1800" dirty="0">
                <a:solidFill>
                  <a:srgbClr val="374151"/>
                </a:solidFill>
                <a:latin typeface="ui-sans-serif" pitchFamily="34" charset="0"/>
                <a:ea typeface="ui-sans-serif" pitchFamily="34" charset="-122"/>
                <a:cs typeface="ui-sans-serif" pitchFamily="34" charset="-120"/>
              </a:rPr>
              <a:t> Dive deeper into the cloud world! Check out our specialized playlists for your continuous learning journey!</a:t>
            </a:r>
            <a:endParaRPr lang="en-US" sz="1800" dirty="0"/>
          </a:p>
        </p:txBody>
      </p:sp>
      <p:sp>
        <p:nvSpPr>
          <p:cNvPr id="33" name="Text 8">
            <a:extLst>
              <a:ext uri="{FF2B5EF4-FFF2-40B4-BE49-F238E27FC236}">
                <a16:creationId xmlns:a16="http://schemas.microsoft.com/office/drawing/2014/main" id="{D1372BEE-C919-FE34-D953-F2C23B8C5CDC}"/>
              </a:ext>
            </a:extLst>
          </p:cNvPr>
          <p:cNvSpPr/>
          <p:nvPr/>
        </p:nvSpPr>
        <p:spPr>
          <a:xfrm>
            <a:off x="6591300" y="5773833"/>
            <a:ext cx="2264212" cy="266700"/>
          </a:xfrm>
          <a:prstGeom prst="rect">
            <a:avLst/>
          </a:prstGeom>
          <a:noFill/>
          <a:ln/>
        </p:spPr>
        <p:txBody>
          <a:bodyPr vert="horz" wrap="square" lIns="0" tIns="0" rIns="0" bIns="0" rtlCol="0" anchor="t"/>
          <a:lstStyle/>
          <a:p>
            <a:pPr>
              <a:lnSpc>
                <a:spcPts val="2100"/>
              </a:lnSpc>
            </a:pPr>
            <a:r>
              <a:rPr lang="en-IN" sz="1400" dirty="0"/>
              <a:t>Anything you'd like 🙂</a:t>
            </a:r>
            <a:endParaRPr lang="en-US" sz="1350" dirty="0"/>
          </a:p>
        </p:txBody>
      </p:sp>
      <p:pic>
        <p:nvPicPr>
          <p:cNvPr id="34" name="Image 14" descr="preencoded.png">
            <a:extLst>
              <a:ext uri="{FF2B5EF4-FFF2-40B4-BE49-F238E27FC236}">
                <a16:creationId xmlns:a16="http://schemas.microsoft.com/office/drawing/2014/main" id="{312DD7A4-71DC-05C1-A42A-58CD324A38F5}"/>
              </a:ext>
            </a:extLst>
          </p:cNvPr>
          <p:cNvPicPr>
            <a:picLocks noChangeAspect="1"/>
          </p:cNvPicPr>
          <p:nvPr/>
        </p:nvPicPr>
        <p:blipFill>
          <a:blip r:embed="rId17"/>
          <a:stretch>
            <a:fillRect/>
          </a:stretch>
        </p:blipFill>
        <p:spPr>
          <a:xfrm>
            <a:off x="6307217" y="5806440"/>
            <a:ext cx="238125" cy="266700"/>
          </a:xfrm>
          <a:prstGeom prst="rect">
            <a:avLst/>
          </a:prstGeom>
        </p:spPr>
      </p:pic>
      <p:cxnSp>
        <p:nvCxnSpPr>
          <p:cNvPr id="37" name="Straight Connector 36">
            <a:extLst>
              <a:ext uri="{FF2B5EF4-FFF2-40B4-BE49-F238E27FC236}">
                <a16:creationId xmlns:a16="http://schemas.microsoft.com/office/drawing/2014/main" id="{34AC6BAF-F0AD-39A0-BBE9-4949420CC737}"/>
              </a:ext>
            </a:extLst>
          </p:cNvPr>
          <p:cNvCxnSpPr>
            <a:cxnSpLocks/>
          </p:cNvCxnSpPr>
          <p:nvPr/>
        </p:nvCxnSpPr>
        <p:spPr>
          <a:xfrm>
            <a:off x="6206490" y="5787390"/>
            <a:ext cx="0" cy="2667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7672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009650" y="0"/>
            <a:ext cx="2857500" cy="2800350"/>
          </a:xfrm>
          <a:prstGeom prst="rect">
            <a:avLst/>
          </a:prstGeom>
        </p:spPr>
      </p:pic>
      <p:pic>
        <p:nvPicPr>
          <p:cNvPr id="4" name="Image 2" descr="preencoded.png"/>
          <p:cNvPicPr>
            <a:picLocks noChangeAspect="1"/>
          </p:cNvPicPr>
          <p:nvPr/>
        </p:nvPicPr>
        <p:blipFill>
          <a:blip r:embed="rId5"/>
          <a:stretch>
            <a:fillRect/>
          </a:stretch>
        </p:blipFill>
        <p:spPr>
          <a:xfrm>
            <a:off x="8324850" y="3371850"/>
            <a:ext cx="2857500" cy="2857500"/>
          </a:xfrm>
          <a:prstGeom prst="rect">
            <a:avLst/>
          </a:prstGeom>
        </p:spPr>
      </p:pic>
      <p:pic>
        <p:nvPicPr>
          <p:cNvPr id="5" name="Image 3" descr="preencoded.png"/>
          <p:cNvPicPr>
            <a:picLocks noChangeAspect="1"/>
          </p:cNvPicPr>
          <p:nvPr/>
        </p:nvPicPr>
        <p:blipFill>
          <a:blip r:embed="rId6"/>
          <a:stretch>
            <a:fillRect/>
          </a:stretch>
        </p:blipFill>
        <p:spPr>
          <a:xfrm>
            <a:off x="9544050" y="1314450"/>
            <a:ext cx="2647950" cy="2857500"/>
          </a:xfrm>
          <a:prstGeom prst="rect">
            <a:avLst/>
          </a:prstGeom>
        </p:spPr>
      </p:pic>
      <p:pic>
        <p:nvPicPr>
          <p:cNvPr id="6" name="Image 4" descr="preencoded.png"/>
          <p:cNvPicPr>
            <a:picLocks noChangeAspect="1"/>
          </p:cNvPicPr>
          <p:nvPr/>
        </p:nvPicPr>
        <p:blipFill>
          <a:blip r:embed="rId7"/>
          <a:stretch>
            <a:fillRect/>
          </a:stretch>
        </p:blipFill>
        <p:spPr>
          <a:xfrm>
            <a:off x="2228850" y="4057650"/>
            <a:ext cx="2857500" cy="2857500"/>
          </a:xfrm>
          <a:prstGeom prst="rect">
            <a:avLst/>
          </a:prstGeom>
        </p:spPr>
      </p:pic>
      <p:pic>
        <p:nvPicPr>
          <p:cNvPr id="7" name="Image 5" descr="preencoded.png"/>
          <p:cNvPicPr>
            <a:picLocks noChangeAspect="1"/>
          </p:cNvPicPr>
          <p:nvPr/>
        </p:nvPicPr>
        <p:blipFill>
          <a:blip r:embed="rId8"/>
          <a:stretch>
            <a:fillRect/>
          </a:stretch>
        </p:blipFill>
        <p:spPr>
          <a:xfrm>
            <a:off x="1646783" y="2457450"/>
            <a:ext cx="952500" cy="47625"/>
          </a:xfrm>
          <a:prstGeom prst="rect">
            <a:avLst/>
          </a:prstGeom>
        </p:spPr>
      </p:pic>
      <p:pic>
        <p:nvPicPr>
          <p:cNvPr id="8" name="Image 6" descr="preencoded.png"/>
          <p:cNvPicPr>
            <a:picLocks noChangeAspect="1"/>
          </p:cNvPicPr>
          <p:nvPr/>
        </p:nvPicPr>
        <p:blipFill>
          <a:blip r:embed="rId8"/>
          <a:stretch>
            <a:fillRect/>
          </a:stretch>
        </p:blipFill>
        <p:spPr>
          <a:xfrm>
            <a:off x="1646783" y="4629150"/>
            <a:ext cx="952500" cy="47625"/>
          </a:xfrm>
          <a:prstGeom prst="rect">
            <a:avLst/>
          </a:prstGeom>
        </p:spPr>
      </p:pic>
      <p:pic>
        <p:nvPicPr>
          <p:cNvPr id="9" name="Image 7" descr="preencoded.png"/>
          <p:cNvPicPr>
            <a:picLocks noChangeAspect="1"/>
          </p:cNvPicPr>
          <p:nvPr/>
        </p:nvPicPr>
        <p:blipFill>
          <a:blip r:embed="rId9"/>
          <a:stretch>
            <a:fillRect/>
          </a:stretch>
        </p:blipFill>
        <p:spPr>
          <a:xfrm>
            <a:off x="762000" y="5486400"/>
            <a:ext cx="609600" cy="609600"/>
          </a:xfrm>
          <a:prstGeom prst="rect">
            <a:avLst/>
          </a:prstGeom>
        </p:spPr>
      </p:pic>
      <p:pic>
        <p:nvPicPr>
          <p:cNvPr id="10" name="Image 8" descr="preencoded.png"/>
          <p:cNvPicPr>
            <a:picLocks noChangeAspect="1"/>
          </p:cNvPicPr>
          <p:nvPr/>
        </p:nvPicPr>
        <p:blipFill>
          <a:blip r:embed="rId10"/>
          <a:stretch>
            <a:fillRect/>
          </a:stretch>
        </p:blipFill>
        <p:spPr>
          <a:xfrm>
            <a:off x="1524000" y="5486400"/>
            <a:ext cx="609600" cy="609600"/>
          </a:xfrm>
          <a:prstGeom prst="rect">
            <a:avLst/>
          </a:prstGeom>
        </p:spPr>
      </p:pic>
      <p:pic>
        <p:nvPicPr>
          <p:cNvPr id="11" name="Image 9" descr="preencoded.png"/>
          <p:cNvPicPr>
            <a:picLocks noChangeAspect="1"/>
          </p:cNvPicPr>
          <p:nvPr/>
        </p:nvPicPr>
        <p:blipFill>
          <a:blip r:embed="rId10"/>
          <a:stretch>
            <a:fillRect/>
          </a:stretch>
        </p:blipFill>
        <p:spPr>
          <a:xfrm>
            <a:off x="2286000" y="5486400"/>
            <a:ext cx="609600" cy="609600"/>
          </a:xfrm>
          <a:prstGeom prst="rect">
            <a:avLst/>
          </a:prstGeom>
        </p:spPr>
      </p:pic>
      <p:sp>
        <p:nvSpPr>
          <p:cNvPr id="12" name="Text 0"/>
          <p:cNvSpPr/>
          <p:nvPr/>
        </p:nvSpPr>
        <p:spPr>
          <a:xfrm>
            <a:off x="756955" y="2457450"/>
            <a:ext cx="10677942" cy="457200"/>
          </a:xfrm>
          <a:prstGeom prst="rect">
            <a:avLst/>
          </a:prstGeom>
          <a:noFill/>
          <a:ln/>
        </p:spPr>
        <p:txBody>
          <a:bodyPr vert="horz" wrap="square" lIns="0" tIns="0" rIns="0" bIns="0" rtlCol="0" anchor="t"/>
          <a:lstStyle/>
          <a:p>
            <a:pPr marL="0" indent="0" algn="ctr">
              <a:lnSpc>
                <a:spcPts val="3600"/>
              </a:lnSpc>
              <a:buNone/>
            </a:pPr>
            <a:r>
              <a:rPr lang="en-US" sz="3600" b="1" dirty="0">
                <a:solidFill>
                  <a:srgbClr val="1F2937"/>
                </a:solidFill>
                <a:latin typeface="ui-sans-serif" pitchFamily="34" charset="0"/>
                <a:ea typeface="ui-sans-serif" pitchFamily="34" charset="-122"/>
                <a:cs typeface="ui-sans-serif" pitchFamily="34" charset="-120"/>
              </a:rPr>
              <a:t>Amazon Elastic Container Registry</a:t>
            </a:r>
            <a:endParaRPr lang="en-US" sz="3600" dirty="0"/>
          </a:p>
        </p:txBody>
      </p:sp>
      <p:sp>
        <p:nvSpPr>
          <p:cNvPr id="13" name="Text 1"/>
          <p:cNvSpPr/>
          <p:nvPr/>
        </p:nvSpPr>
        <p:spPr>
          <a:xfrm>
            <a:off x="1646783" y="3067050"/>
            <a:ext cx="8898285"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374151"/>
                </a:solidFill>
                <a:latin typeface="ui-sans-serif" pitchFamily="34" charset="0"/>
                <a:ea typeface="ui-sans-serif" pitchFamily="34" charset="-122"/>
                <a:cs typeface="ui-sans-serif" pitchFamily="34" charset="-120"/>
              </a:rPr>
              <a:t>(ECR)</a:t>
            </a:r>
            <a:endParaRPr lang="en-US" sz="2700" dirty="0"/>
          </a:p>
        </p:txBody>
      </p:sp>
      <p:sp>
        <p:nvSpPr>
          <p:cNvPr id="14" name="Text 2"/>
          <p:cNvSpPr/>
          <p:nvPr/>
        </p:nvSpPr>
        <p:spPr>
          <a:xfrm>
            <a:off x="915263" y="3752850"/>
            <a:ext cx="8778240" cy="266700"/>
          </a:xfrm>
          <a:prstGeom prst="rect">
            <a:avLst/>
          </a:prstGeom>
          <a:noFill/>
          <a:ln/>
        </p:spPr>
        <p:txBody>
          <a:bodyPr vert="horz" wrap="square" lIns="0" tIns="0" rIns="0" bIns="0" rtlCol="0" anchor="t"/>
          <a:lstStyle/>
          <a:p>
            <a:pPr marL="0" indent="0" algn="ctr">
              <a:lnSpc>
                <a:spcPts val="2100"/>
              </a:lnSpc>
              <a:buNone/>
            </a:pPr>
            <a:r>
              <a:rPr lang="en-US" sz="1500" dirty="0">
                <a:solidFill>
                  <a:srgbClr val="4B5563"/>
                </a:solidFill>
                <a:latin typeface="ui-sans-serif" pitchFamily="34" charset="0"/>
                <a:ea typeface="ui-sans-serif" pitchFamily="34" charset="-122"/>
                <a:cs typeface="ui-sans-serif" pitchFamily="34" charset="-120"/>
              </a:rPr>
              <a:t>A fully managed container image registry service provided by AWS</a:t>
            </a:r>
            <a:endParaRPr lang="en-US" sz="1500" dirty="0"/>
          </a:p>
        </p:txBody>
      </p:sp>
      <p:sp>
        <p:nvSpPr>
          <p:cNvPr id="16" name="Text 4"/>
          <p:cNvSpPr/>
          <p:nvPr/>
        </p:nvSpPr>
        <p:spPr>
          <a:xfrm>
            <a:off x="9279434" y="6134100"/>
            <a:ext cx="3037880" cy="342900"/>
          </a:xfrm>
          <a:prstGeom prst="rect">
            <a:avLst/>
          </a:prstGeom>
          <a:noFill/>
          <a:ln/>
        </p:spPr>
        <p:txBody>
          <a:bodyPr vert="horz" wrap="square" lIns="0" tIns="0" rIns="0" bIns="0" rtlCol="0" anchor="t"/>
          <a:lstStyle/>
          <a:p>
            <a:pPr marL="0" indent="0">
              <a:lnSpc>
                <a:spcPts val="2700"/>
              </a:lnSpc>
              <a:buNone/>
            </a:pPr>
            <a:r>
              <a:rPr lang="en-US" sz="1800" dirty="0">
                <a:solidFill>
                  <a:srgbClr val="333333"/>
                </a:solidFill>
                <a:latin typeface="ui-sans-serif" pitchFamily="34" charset="0"/>
                <a:ea typeface="ui-sans-serif" pitchFamily="34" charset="-122"/>
                <a:cs typeface="ui-sans-serif" pitchFamily="34" charset="-120"/>
              </a:rPr>
              <a:t>Amazon Web Services</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391400"/>
          </a:xfrm>
          <a:prstGeom prst="rect">
            <a:avLst/>
          </a:prstGeom>
        </p:spPr>
      </p:pic>
      <p:pic>
        <p:nvPicPr>
          <p:cNvPr id="3" name="Image 1" descr="preencoded.png"/>
          <p:cNvPicPr>
            <a:picLocks noChangeAspect="1"/>
          </p:cNvPicPr>
          <p:nvPr/>
        </p:nvPicPr>
        <p:blipFill>
          <a:blip r:embed="rId4"/>
          <a:stretch>
            <a:fillRect/>
          </a:stretch>
        </p:blipFill>
        <p:spPr>
          <a:xfrm>
            <a:off x="457200" y="952500"/>
            <a:ext cx="762000" cy="38100"/>
          </a:xfrm>
          <a:prstGeom prst="rect">
            <a:avLst/>
          </a:prstGeom>
        </p:spPr>
      </p:pic>
      <p:pic>
        <p:nvPicPr>
          <p:cNvPr id="4" name="Image 2" descr="preencoded.png"/>
          <p:cNvPicPr>
            <a:picLocks noChangeAspect="1"/>
          </p:cNvPicPr>
          <p:nvPr/>
        </p:nvPicPr>
        <p:blipFill>
          <a:blip r:embed="rId5"/>
          <a:stretch>
            <a:fillRect/>
          </a:stretch>
        </p:blipFill>
        <p:spPr>
          <a:xfrm>
            <a:off x="457200" y="3429000"/>
            <a:ext cx="5524500" cy="1409700"/>
          </a:xfrm>
          <a:prstGeom prst="rect">
            <a:avLst/>
          </a:prstGeom>
        </p:spPr>
      </p:pic>
      <p:pic>
        <p:nvPicPr>
          <p:cNvPr id="5" name="Image 3" descr="preencoded.png"/>
          <p:cNvPicPr>
            <a:picLocks noChangeAspect="1"/>
          </p:cNvPicPr>
          <p:nvPr/>
        </p:nvPicPr>
        <p:blipFill>
          <a:blip r:embed="rId6"/>
          <a:stretch>
            <a:fillRect/>
          </a:stretch>
        </p:blipFill>
        <p:spPr>
          <a:xfrm>
            <a:off x="647700" y="3619500"/>
            <a:ext cx="571500" cy="571500"/>
          </a:xfrm>
          <a:prstGeom prst="rect">
            <a:avLst/>
          </a:prstGeom>
        </p:spPr>
      </p:pic>
      <p:pic>
        <p:nvPicPr>
          <p:cNvPr id="6" name="Image 4" descr="preencoded.png"/>
          <p:cNvPicPr>
            <a:picLocks noChangeAspect="1"/>
          </p:cNvPicPr>
          <p:nvPr/>
        </p:nvPicPr>
        <p:blipFill>
          <a:blip r:embed="rId7"/>
          <a:stretch>
            <a:fillRect/>
          </a:stretch>
        </p:blipFill>
        <p:spPr>
          <a:xfrm>
            <a:off x="833438" y="3752850"/>
            <a:ext cx="200025" cy="304800"/>
          </a:xfrm>
          <a:prstGeom prst="rect">
            <a:avLst/>
          </a:prstGeom>
        </p:spPr>
      </p:pic>
      <p:pic>
        <p:nvPicPr>
          <p:cNvPr id="7" name="Image 5" descr="preencoded.png"/>
          <p:cNvPicPr>
            <a:picLocks noChangeAspect="1"/>
          </p:cNvPicPr>
          <p:nvPr/>
        </p:nvPicPr>
        <p:blipFill>
          <a:blip r:embed="rId5"/>
          <a:stretch>
            <a:fillRect/>
          </a:stretch>
        </p:blipFill>
        <p:spPr>
          <a:xfrm>
            <a:off x="6210300" y="3429000"/>
            <a:ext cx="5524500" cy="1409700"/>
          </a:xfrm>
          <a:prstGeom prst="rect">
            <a:avLst/>
          </a:prstGeom>
        </p:spPr>
      </p:pic>
      <p:pic>
        <p:nvPicPr>
          <p:cNvPr id="8" name="Image 6" descr="preencoded.png"/>
          <p:cNvPicPr>
            <a:picLocks noChangeAspect="1"/>
          </p:cNvPicPr>
          <p:nvPr/>
        </p:nvPicPr>
        <p:blipFill>
          <a:blip r:embed="rId8"/>
          <a:stretch>
            <a:fillRect/>
          </a:stretch>
        </p:blipFill>
        <p:spPr>
          <a:xfrm>
            <a:off x="6400800" y="3619500"/>
            <a:ext cx="571500" cy="571500"/>
          </a:xfrm>
          <a:prstGeom prst="rect">
            <a:avLst/>
          </a:prstGeom>
        </p:spPr>
      </p:pic>
      <p:pic>
        <p:nvPicPr>
          <p:cNvPr id="9" name="Image 7" descr="preencoded.png"/>
          <p:cNvPicPr>
            <a:picLocks noChangeAspect="1"/>
          </p:cNvPicPr>
          <p:nvPr/>
        </p:nvPicPr>
        <p:blipFill>
          <a:blip r:embed="rId9"/>
          <a:stretch>
            <a:fillRect/>
          </a:stretch>
        </p:blipFill>
        <p:spPr>
          <a:xfrm>
            <a:off x="6572250" y="3752850"/>
            <a:ext cx="228600" cy="304800"/>
          </a:xfrm>
          <a:prstGeom prst="rect">
            <a:avLst/>
          </a:prstGeom>
        </p:spPr>
      </p:pic>
      <p:pic>
        <p:nvPicPr>
          <p:cNvPr id="10" name="Image 8" descr="preencoded.png"/>
          <p:cNvPicPr>
            <a:picLocks noChangeAspect="1"/>
          </p:cNvPicPr>
          <p:nvPr/>
        </p:nvPicPr>
        <p:blipFill>
          <a:blip r:embed="rId5"/>
          <a:stretch>
            <a:fillRect/>
          </a:stretch>
        </p:blipFill>
        <p:spPr>
          <a:xfrm>
            <a:off x="457200" y="5067300"/>
            <a:ext cx="5524500" cy="1409700"/>
          </a:xfrm>
          <a:prstGeom prst="rect">
            <a:avLst/>
          </a:prstGeom>
        </p:spPr>
      </p:pic>
      <p:pic>
        <p:nvPicPr>
          <p:cNvPr id="11" name="Image 9" descr="preencoded.png"/>
          <p:cNvPicPr>
            <a:picLocks noChangeAspect="1"/>
          </p:cNvPicPr>
          <p:nvPr/>
        </p:nvPicPr>
        <p:blipFill>
          <a:blip r:embed="rId10"/>
          <a:stretch>
            <a:fillRect/>
          </a:stretch>
        </p:blipFill>
        <p:spPr>
          <a:xfrm>
            <a:off x="647700" y="5257800"/>
            <a:ext cx="571500" cy="571500"/>
          </a:xfrm>
          <a:prstGeom prst="rect">
            <a:avLst/>
          </a:prstGeom>
        </p:spPr>
      </p:pic>
      <p:pic>
        <p:nvPicPr>
          <p:cNvPr id="12" name="Image 10" descr="preencoded.png"/>
          <p:cNvPicPr>
            <a:picLocks noChangeAspect="1"/>
          </p:cNvPicPr>
          <p:nvPr/>
        </p:nvPicPr>
        <p:blipFill>
          <a:blip r:embed="rId11"/>
          <a:stretch>
            <a:fillRect/>
          </a:stretch>
        </p:blipFill>
        <p:spPr>
          <a:xfrm>
            <a:off x="833438" y="5391150"/>
            <a:ext cx="200025" cy="304800"/>
          </a:xfrm>
          <a:prstGeom prst="rect">
            <a:avLst/>
          </a:prstGeom>
        </p:spPr>
      </p:pic>
      <p:pic>
        <p:nvPicPr>
          <p:cNvPr id="13" name="Image 11" descr="preencoded.png"/>
          <p:cNvPicPr>
            <a:picLocks noChangeAspect="1"/>
          </p:cNvPicPr>
          <p:nvPr/>
        </p:nvPicPr>
        <p:blipFill>
          <a:blip r:embed="rId5"/>
          <a:stretch>
            <a:fillRect/>
          </a:stretch>
        </p:blipFill>
        <p:spPr>
          <a:xfrm>
            <a:off x="6210300" y="5067300"/>
            <a:ext cx="5524500" cy="1409700"/>
          </a:xfrm>
          <a:prstGeom prst="rect">
            <a:avLst/>
          </a:prstGeom>
        </p:spPr>
      </p:pic>
      <p:pic>
        <p:nvPicPr>
          <p:cNvPr id="14" name="Image 12" descr="preencoded.png"/>
          <p:cNvPicPr>
            <a:picLocks noChangeAspect="1"/>
          </p:cNvPicPr>
          <p:nvPr/>
        </p:nvPicPr>
        <p:blipFill>
          <a:blip r:embed="rId12"/>
          <a:stretch>
            <a:fillRect/>
          </a:stretch>
        </p:blipFill>
        <p:spPr>
          <a:xfrm>
            <a:off x="6400800" y="5257800"/>
            <a:ext cx="571500" cy="571500"/>
          </a:xfrm>
          <a:prstGeom prst="rect">
            <a:avLst/>
          </a:prstGeom>
        </p:spPr>
      </p:pic>
      <p:pic>
        <p:nvPicPr>
          <p:cNvPr id="15" name="Image 13" descr="preencoded.png"/>
          <p:cNvPicPr>
            <a:picLocks noChangeAspect="1"/>
          </p:cNvPicPr>
          <p:nvPr/>
        </p:nvPicPr>
        <p:blipFill>
          <a:blip r:embed="rId13"/>
          <a:stretch>
            <a:fillRect/>
          </a:stretch>
        </p:blipFill>
        <p:spPr>
          <a:xfrm>
            <a:off x="6572250" y="5391150"/>
            <a:ext cx="228600" cy="304800"/>
          </a:xfrm>
          <a:prstGeom prst="rect">
            <a:avLst/>
          </a:prstGeom>
        </p:spPr>
      </p:pic>
      <p:sp>
        <p:nvSpPr>
          <p:cNvPr id="16"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What is Amazon ECR?</a:t>
            </a:r>
            <a:endParaRPr lang="en-US" sz="2700" dirty="0"/>
          </a:p>
        </p:txBody>
      </p:sp>
      <p:sp>
        <p:nvSpPr>
          <p:cNvPr id="17" name="Text 1"/>
          <p:cNvSpPr/>
          <p:nvPr/>
        </p:nvSpPr>
        <p:spPr>
          <a:xfrm>
            <a:off x="457200" y="1485900"/>
            <a:ext cx="11277600" cy="1485900"/>
          </a:xfrm>
          <a:prstGeom prst="rect">
            <a:avLst/>
          </a:prstGeom>
          <a:noFill/>
          <a:ln/>
        </p:spPr>
        <p:txBody>
          <a:bodyPr vert="horz" wrap="square" lIns="0" tIns="0" rIns="0" bIns="0" rtlCol="0" anchor="t"/>
          <a:lstStyle/>
          <a:p>
            <a:pPr marL="0" indent="0">
              <a:lnSpc>
                <a:spcPts val="2925"/>
              </a:lnSpc>
              <a:buNone/>
            </a:pPr>
            <a:r>
              <a:rPr lang="en-US" sz="1800" dirty="0">
                <a:solidFill>
                  <a:srgbClr val="374151"/>
                </a:solidFill>
                <a:latin typeface="ui-sans-serif" pitchFamily="34" charset="0"/>
                <a:ea typeface="ui-sans-serif" pitchFamily="34" charset="-122"/>
                <a:cs typeface="ui-sans-serif" pitchFamily="34" charset="-120"/>
              </a:rPr>
              <a:t>Amazon Elastic Container Registry (ECR) is a fully managed container image registry service provided by Amazon Web Services (AWS). It offers a secure, scalable, and reliable solution for developers to store, manage, share, and deploy their container images and Open Container Initiative (OCI) compatible artifacts anywhere.</a:t>
            </a:r>
            <a:endParaRPr lang="en-US" sz="1800" dirty="0"/>
          </a:p>
        </p:txBody>
      </p:sp>
      <p:sp>
        <p:nvSpPr>
          <p:cNvPr id="18" name="Text 2"/>
          <p:cNvSpPr/>
          <p:nvPr/>
        </p:nvSpPr>
        <p:spPr>
          <a:xfrm>
            <a:off x="1371600" y="3619500"/>
            <a:ext cx="4419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Managed Service</a:t>
            </a:r>
            <a:endParaRPr lang="en-US" sz="1500" dirty="0"/>
          </a:p>
        </p:txBody>
      </p:sp>
      <p:sp>
        <p:nvSpPr>
          <p:cNvPr id="19" name="Text 3"/>
          <p:cNvSpPr/>
          <p:nvPr/>
        </p:nvSpPr>
        <p:spPr>
          <a:xfrm>
            <a:off x="1371600" y="3962400"/>
            <a:ext cx="44196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Eliminates the need to operate your own container repositories, allowing you to focus on building and deploying applications.</a:t>
            </a:r>
            <a:endParaRPr lang="en-US" sz="1200" dirty="0"/>
          </a:p>
        </p:txBody>
      </p:sp>
      <p:sp>
        <p:nvSpPr>
          <p:cNvPr id="20" name="Text 4"/>
          <p:cNvSpPr/>
          <p:nvPr/>
        </p:nvSpPr>
        <p:spPr>
          <a:xfrm>
            <a:off x="7124700" y="3619500"/>
            <a:ext cx="4419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Secure</a:t>
            </a:r>
            <a:endParaRPr lang="en-US" sz="1500" dirty="0"/>
          </a:p>
        </p:txBody>
      </p:sp>
      <p:sp>
        <p:nvSpPr>
          <p:cNvPr id="21" name="Text 5"/>
          <p:cNvSpPr/>
          <p:nvPr/>
        </p:nvSpPr>
        <p:spPr>
          <a:xfrm>
            <a:off x="7124700" y="3962400"/>
            <a:ext cx="44196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Integrates with AWS Identity and Access Management (IAM) for resource-based permissions and encrypts images at rest.</a:t>
            </a:r>
            <a:endParaRPr lang="en-US" sz="1200" dirty="0"/>
          </a:p>
        </p:txBody>
      </p:sp>
      <p:sp>
        <p:nvSpPr>
          <p:cNvPr id="22" name="Text 6"/>
          <p:cNvSpPr/>
          <p:nvPr/>
        </p:nvSpPr>
        <p:spPr>
          <a:xfrm>
            <a:off x="1371600" y="5257800"/>
            <a:ext cx="4419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Share &amp; Deploy</a:t>
            </a:r>
            <a:endParaRPr lang="en-US" sz="1500" dirty="0"/>
          </a:p>
        </p:txBody>
      </p:sp>
      <p:sp>
        <p:nvSpPr>
          <p:cNvPr id="23" name="Text 7"/>
          <p:cNvSpPr/>
          <p:nvPr/>
        </p:nvSpPr>
        <p:spPr>
          <a:xfrm>
            <a:off x="1371600" y="5600700"/>
            <a:ext cx="44196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Simplifies the workflow for containerized applications by making it easy to share and deploy container images across environments.</a:t>
            </a:r>
            <a:endParaRPr lang="en-US" sz="1200" dirty="0"/>
          </a:p>
        </p:txBody>
      </p:sp>
      <p:sp>
        <p:nvSpPr>
          <p:cNvPr id="24" name="Text 8"/>
          <p:cNvSpPr/>
          <p:nvPr/>
        </p:nvSpPr>
        <p:spPr>
          <a:xfrm>
            <a:off x="7124700" y="5257800"/>
            <a:ext cx="4419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OCI Compatible</a:t>
            </a:r>
            <a:endParaRPr lang="en-US" sz="1500" dirty="0"/>
          </a:p>
        </p:txBody>
      </p:sp>
      <p:sp>
        <p:nvSpPr>
          <p:cNvPr id="25" name="Text 9"/>
          <p:cNvSpPr/>
          <p:nvPr/>
        </p:nvSpPr>
        <p:spPr>
          <a:xfrm>
            <a:off x="7124700" y="5600700"/>
            <a:ext cx="44196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Supports Open Container Initiative (OCI) standards and Docker Registry HTTP API V2 for maximum compatibility.</a:t>
            </a:r>
            <a:endParaRPr lang="en-US" sz="1200" dirty="0"/>
          </a:p>
        </p:txBody>
      </p:sp>
      <p:sp>
        <p:nvSpPr>
          <p:cNvPr id="26" name="Text 10"/>
          <p:cNvSpPr/>
          <p:nvPr/>
        </p:nvSpPr>
        <p:spPr>
          <a:xfrm>
            <a:off x="457200" y="6705600"/>
            <a:ext cx="3723858"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Amazon Elastic Container Registry (ECR)</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848600"/>
          </a:xfrm>
          <a:prstGeom prst="rect">
            <a:avLst/>
          </a:prstGeom>
        </p:spPr>
      </p:pic>
      <p:pic>
        <p:nvPicPr>
          <p:cNvPr id="3" name="Image 1" descr="preencoded.png"/>
          <p:cNvPicPr>
            <a:picLocks noChangeAspect="1"/>
          </p:cNvPicPr>
          <p:nvPr/>
        </p:nvPicPr>
        <p:blipFill>
          <a:blip r:embed="rId4"/>
          <a:stretch>
            <a:fillRect/>
          </a:stretch>
        </p:blipFill>
        <p:spPr>
          <a:xfrm>
            <a:off x="457200" y="952500"/>
            <a:ext cx="762000" cy="38100"/>
          </a:xfrm>
          <a:prstGeom prst="rect">
            <a:avLst/>
          </a:prstGeom>
        </p:spPr>
      </p:pic>
      <p:pic>
        <p:nvPicPr>
          <p:cNvPr id="4" name="Image 2" descr="preencoded.png"/>
          <p:cNvPicPr>
            <a:picLocks noChangeAspect="1"/>
          </p:cNvPicPr>
          <p:nvPr/>
        </p:nvPicPr>
        <p:blipFill>
          <a:blip r:embed="rId5"/>
          <a:stretch>
            <a:fillRect/>
          </a:stretch>
        </p:blipFill>
        <p:spPr>
          <a:xfrm>
            <a:off x="457200" y="1981200"/>
            <a:ext cx="5543550" cy="1295400"/>
          </a:xfrm>
          <a:prstGeom prst="rect">
            <a:avLst/>
          </a:prstGeom>
        </p:spPr>
      </p:pic>
      <p:pic>
        <p:nvPicPr>
          <p:cNvPr id="5" name="Image 3" descr="preencoded.png"/>
          <p:cNvPicPr>
            <a:picLocks noChangeAspect="1"/>
          </p:cNvPicPr>
          <p:nvPr/>
        </p:nvPicPr>
        <p:blipFill>
          <a:blip r:embed="rId6"/>
          <a:stretch>
            <a:fillRect/>
          </a:stretch>
        </p:blipFill>
        <p:spPr>
          <a:xfrm>
            <a:off x="609600" y="2133600"/>
            <a:ext cx="476250" cy="476250"/>
          </a:xfrm>
          <a:prstGeom prst="rect">
            <a:avLst/>
          </a:prstGeom>
        </p:spPr>
      </p:pic>
      <p:pic>
        <p:nvPicPr>
          <p:cNvPr id="6" name="Image 4" descr="preencoded.png"/>
          <p:cNvPicPr>
            <a:picLocks noChangeAspect="1"/>
          </p:cNvPicPr>
          <p:nvPr/>
        </p:nvPicPr>
        <p:blipFill>
          <a:blip r:embed="rId7"/>
          <a:stretch>
            <a:fillRect/>
          </a:stretch>
        </p:blipFill>
        <p:spPr>
          <a:xfrm>
            <a:off x="762000" y="2238375"/>
            <a:ext cx="171450" cy="266700"/>
          </a:xfrm>
          <a:prstGeom prst="rect">
            <a:avLst/>
          </a:prstGeom>
        </p:spPr>
      </p:pic>
      <p:pic>
        <p:nvPicPr>
          <p:cNvPr id="7" name="Image 5" descr="preencoded.png"/>
          <p:cNvPicPr>
            <a:picLocks noChangeAspect="1"/>
          </p:cNvPicPr>
          <p:nvPr/>
        </p:nvPicPr>
        <p:blipFill>
          <a:blip r:embed="rId5"/>
          <a:stretch>
            <a:fillRect/>
          </a:stretch>
        </p:blipFill>
        <p:spPr>
          <a:xfrm>
            <a:off x="6191250" y="1981200"/>
            <a:ext cx="5543550" cy="1295400"/>
          </a:xfrm>
          <a:prstGeom prst="rect">
            <a:avLst/>
          </a:prstGeom>
        </p:spPr>
      </p:pic>
      <p:pic>
        <p:nvPicPr>
          <p:cNvPr id="8" name="Image 6" descr="preencoded.png"/>
          <p:cNvPicPr>
            <a:picLocks noChangeAspect="1"/>
          </p:cNvPicPr>
          <p:nvPr/>
        </p:nvPicPr>
        <p:blipFill>
          <a:blip r:embed="rId8"/>
          <a:stretch>
            <a:fillRect/>
          </a:stretch>
        </p:blipFill>
        <p:spPr>
          <a:xfrm>
            <a:off x="6343650" y="2133600"/>
            <a:ext cx="476250" cy="476250"/>
          </a:xfrm>
          <a:prstGeom prst="rect">
            <a:avLst/>
          </a:prstGeom>
        </p:spPr>
      </p:pic>
      <p:pic>
        <p:nvPicPr>
          <p:cNvPr id="9" name="Image 7" descr="preencoded.png"/>
          <p:cNvPicPr>
            <a:picLocks noChangeAspect="1"/>
          </p:cNvPicPr>
          <p:nvPr/>
        </p:nvPicPr>
        <p:blipFill>
          <a:blip r:embed="rId9"/>
          <a:stretch>
            <a:fillRect/>
          </a:stretch>
        </p:blipFill>
        <p:spPr>
          <a:xfrm>
            <a:off x="6486525" y="2238375"/>
            <a:ext cx="190500" cy="266700"/>
          </a:xfrm>
          <a:prstGeom prst="rect">
            <a:avLst/>
          </a:prstGeom>
        </p:spPr>
      </p:pic>
      <p:pic>
        <p:nvPicPr>
          <p:cNvPr id="10" name="Image 8" descr="preencoded.png"/>
          <p:cNvPicPr>
            <a:picLocks noChangeAspect="1"/>
          </p:cNvPicPr>
          <p:nvPr/>
        </p:nvPicPr>
        <p:blipFill>
          <a:blip r:embed="rId10"/>
          <a:stretch>
            <a:fillRect/>
          </a:stretch>
        </p:blipFill>
        <p:spPr>
          <a:xfrm>
            <a:off x="457200" y="3467100"/>
            <a:ext cx="5543550" cy="1524000"/>
          </a:xfrm>
          <a:prstGeom prst="rect">
            <a:avLst/>
          </a:prstGeom>
        </p:spPr>
      </p:pic>
      <p:pic>
        <p:nvPicPr>
          <p:cNvPr id="11" name="Image 9" descr="preencoded.png"/>
          <p:cNvPicPr>
            <a:picLocks noChangeAspect="1"/>
          </p:cNvPicPr>
          <p:nvPr/>
        </p:nvPicPr>
        <p:blipFill>
          <a:blip r:embed="rId11"/>
          <a:stretch>
            <a:fillRect/>
          </a:stretch>
        </p:blipFill>
        <p:spPr>
          <a:xfrm>
            <a:off x="609600" y="3619500"/>
            <a:ext cx="476250" cy="476250"/>
          </a:xfrm>
          <a:prstGeom prst="rect">
            <a:avLst/>
          </a:prstGeom>
        </p:spPr>
      </p:pic>
      <p:pic>
        <p:nvPicPr>
          <p:cNvPr id="12" name="Image 10" descr="preencoded.png"/>
          <p:cNvPicPr>
            <a:picLocks noChangeAspect="1"/>
          </p:cNvPicPr>
          <p:nvPr/>
        </p:nvPicPr>
        <p:blipFill>
          <a:blip r:embed="rId12"/>
          <a:stretch>
            <a:fillRect/>
          </a:stretch>
        </p:blipFill>
        <p:spPr>
          <a:xfrm>
            <a:off x="738188" y="3724275"/>
            <a:ext cx="219075" cy="266700"/>
          </a:xfrm>
          <a:prstGeom prst="rect">
            <a:avLst/>
          </a:prstGeom>
        </p:spPr>
      </p:pic>
      <p:pic>
        <p:nvPicPr>
          <p:cNvPr id="13" name="Image 11" descr="preencoded.png"/>
          <p:cNvPicPr>
            <a:picLocks noChangeAspect="1"/>
          </p:cNvPicPr>
          <p:nvPr/>
        </p:nvPicPr>
        <p:blipFill>
          <a:blip r:embed="rId10"/>
          <a:stretch>
            <a:fillRect/>
          </a:stretch>
        </p:blipFill>
        <p:spPr>
          <a:xfrm>
            <a:off x="6191250" y="3467100"/>
            <a:ext cx="5543550" cy="1524000"/>
          </a:xfrm>
          <a:prstGeom prst="rect">
            <a:avLst/>
          </a:prstGeom>
        </p:spPr>
      </p:pic>
      <p:pic>
        <p:nvPicPr>
          <p:cNvPr id="14" name="Image 12" descr="preencoded.png"/>
          <p:cNvPicPr>
            <a:picLocks noChangeAspect="1"/>
          </p:cNvPicPr>
          <p:nvPr/>
        </p:nvPicPr>
        <p:blipFill>
          <a:blip r:embed="rId13"/>
          <a:stretch>
            <a:fillRect/>
          </a:stretch>
        </p:blipFill>
        <p:spPr>
          <a:xfrm>
            <a:off x="6343650" y="3619500"/>
            <a:ext cx="476250" cy="476250"/>
          </a:xfrm>
          <a:prstGeom prst="rect">
            <a:avLst/>
          </a:prstGeom>
        </p:spPr>
      </p:pic>
      <p:pic>
        <p:nvPicPr>
          <p:cNvPr id="15" name="Image 13" descr="preencoded.png"/>
          <p:cNvPicPr>
            <a:picLocks noChangeAspect="1"/>
          </p:cNvPicPr>
          <p:nvPr/>
        </p:nvPicPr>
        <p:blipFill>
          <a:blip r:embed="rId14"/>
          <a:stretch>
            <a:fillRect/>
          </a:stretch>
        </p:blipFill>
        <p:spPr>
          <a:xfrm>
            <a:off x="6486525" y="3724275"/>
            <a:ext cx="190500" cy="266700"/>
          </a:xfrm>
          <a:prstGeom prst="rect">
            <a:avLst/>
          </a:prstGeom>
        </p:spPr>
      </p:pic>
      <p:pic>
        <p:nvPicPr>
          <p:cNvPr id="16" name="Image 14" descr="preencoded.png"/>
          <p:cNvPicPr>
            <a:picLocks noChangeAspect="1"/>
          </p:cNvPicPr>
          <p:nvPr/>
        </p:nvPicPr>
        <p:blipFill>
          <a:blip r:embed="rId15"/>
          <a:stretch>
            <a:fillRect/>
          </a:stretch>
        </p:blipFill>
        <p:spPr>
          <a:xfrm>
            <a:off x="3238500" y="5181600"/>
            <a:ext cx="5715000" cy="1752600"/>
          </a:xfrm>
          <a:prstGeom prst="rect">
            <a:avLst/>
          </a:prstGeom>
        </p:spPr>
      </p:pic>
      <p:pic>
        <p:nvPicPr>
          <p:cNvPr id="17" name="Image 15" descr="preencoded.png"/>
          <p:cNvPicPr>
            <a:picLocks noChangeAspect="1"/>
          </p:cNvPicPr>
          <p:nvPr/>
        </p:nvPicPr>
        <p:blipFill>
          <a:blip r:embed="rId16"/>
          <a:stretch>
            <a:fillRect/>
          </a:stretch>
        </p:blipFill>
        <p:spPr>
          <a:xfrm>
            <a:off x="3390900" y="5334000"/>
            <a:ext cx="476250" cy="476250"/>
          </a:xfrm>
          <a:prstGeom prst="rect">
            <a:avLst/>
          </a:prstGeom>
        </p:spPr>
      </p:pic>
      <p:sp>
        <p:nvSpPr>
          <p:cNvPr id="18"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Core Components of ECR</a:t>
            </a:r>
            <a:endParaRPr lang="en-US" sz="2700" dirty="0"/>
          </a:p>
        </p:txBody>
      </p:sp>
      <p:sp>
        <p:nvSpPr>
          <p:cNvPr id="19" name="Text 1"/>
          <p:cNvSpPr/>
          <p:nvPr/>
        </p:nvSpPr>
        <p:spPr>
          <a:xfrm>
            <a:off x="457200" y="1485900"/>
            <a:ext cx="1353312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Amazon ECR is comprised of several key components that facilitate its container image management functionality:</a:t>
            </a:r>
            <a:endParaRPr lang="en-US" sz="1500" dirty="0"/>
          </a:p>
        </p:txBody>
      </p:sp>
      <p:sp>
        <p:nvSpPr>
          <p:cNvPr id="20" name="Text 2"/>
          <p:cNvSpPr/>
          <p:nvPr/>
        </p:nvSpPr>
        <p:spPr>
          <a:xfrm>
            <a:off x="1238250" y="2133600"/>
            <a:ext cx="46101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Registry</a:t>
            </a:r>
            <a:endParaRPr lang="en-US" sz="1500" dirty="0"/>
          </a:p>
        </p:txBody>
      </p:sp>
      <p:sp>
        <p:nvSpPr>
          <p:cNvPr id="21" name="Text 3"/>
          <p:cNvSpPr/>
          <p:nvPr/>
        </p:nvSpPr>
        <p:spPr>
          <a:xfrm>
            <a:off x="1238250" y="2438400"/>
            <a:ext cx="46101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Each AWS account is provisioned with its own Amazon ECR registry, serving as the top-level container for all repositories and images within that account.</a:t>
            </a:r>
            <a:endParaRPr lang="en-US" sz="1200" dirty="0"/>
          </a:p>
        </p:txBody>
      </p:sp>
      <p:sp>
        <p:nvSpPr>
          <p:cNvPr id="22" name="Text 4"/>
          <p:cNvSpPr/>
          <p:nvPr/>
        </p:nvSpPr>
        <p:spPr>
          <a:xfrm>
            <a:off x="6972300" y="2133600"/>
            <a:ext cx="46101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Authorization Token</a:t>
            </a:r>
            <a:endParaRPr lang="en-US" sz="1500" dirty="0"/>
          </a:p>
        </p:txBody>
      </p:sp>
      <p:sp>
        <p:nvSpPr>
          <p:cNvPr id="23" name="Text 5"/>
          <p:cNvSpPr/>
          <p:nvPr/>
        </p:nvSpPr>
        <p:spPr>
          <a:xfrm>
            <a:off x="6972300" y="2438400"/>
            <a:ext cx="46101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Before interacting with ECR registries, Docker clients must authenticate using an authorization token, typically obtained via the AWS Command Line Interface (CLI).</a:t>
            </a:r>
            <a:endParaRPr lang="en-US" sz="1200" dirty="0"/>
          </a:p>
        </p:txBody>
      </p:sp>
      <p:sp>
        <p:nvSpPr>
          <p:cNvPr id="24" name="Text 6"/>
          <p:cNvSpPr/>
          <p:nvPr/>
        </p:nvSpPr>
        <p:spPr>
          <a:xfrm>
            <a:off x="1238250" y="3619500"/>
            <a:ext cx="46101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Repository</a:t>
            </a:r>
            <a:endParaRPr lang="en-US" sz="1500" dirty="0"/>
          </a:p>
        </p:txBody>
      </p:sp>
      <p:sp>
        <p:nvSpPr>
          <p:cNvPr id="25" name="Text 7"/>
          <p:cNvSpPr/>
          <p:nvPr/>
        </p:nvSpPr>
        <p:spPr>
          <a:xfrm>
            <a:off x="1238250" y="3924300"/>
            <a:ext cx="46101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repository is where Docker images, OCI images, and other OCI-compatible artifacts are stored. Users can create multiple repositories to organize their container images, similar to folders.</a:t>
            </a:r>
            <a:endParaRPr lang="en-US" sz="1200" dirty="0"/>
          </a:p>
        </p:txBody>
      </p:sp>
      <p:sp>
        <p:nvSpPr>
          <p:cNvPr id="26" name="Text 8"/>
          <p:cNvSpPr/>
          <p:nvPr/>
        </p:nvSpPr>
        <p:spPr>
          <a:xfrm>
            <a:off x="6972300" y="3619500"/>
            <a:ext cx="46101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Repository Policy</a:t>
            </a:r>
            <a:endParaRPr lang="en-US" sz="1500" dirty="0"/>
          </a:p>
        </p:txBody>
      </p:sp>
      <p:sp>
        <p:nvSpPr>
          <p:cNvPr id="27" name="Text 9"/>
          <p:cNvSpPr/>
          <p:nvPr/>
        </p:nvSpPr>
        <p:spPr>
          <a:xfrm>
            <a:off x="6972300" y="3924300"/>
            <a:ext cx="46101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These policies define granular access controls for repositories, specifying which users or AWS services have permissions to perform actions like pushing, pulling, or managing images.</a:t>
            </a:r>
            <a:endParaRPr lang="en-US" sz="1200" dirty="0"/>
          </a:p>
        </p:txBody>
      </p:sp>
      <p:sp>
        <p:nvSpPr>
          <p:cNvPr id="28" name="Text 10"/>
          <p:cNvSpPr/>
          <p:nvPr/>
        </p:nvSpPr>
        <p:spPr>
          <a:xfrm>
            <a:off x="4019550" y="5334000"/>
            <a:ext cx="47815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Image</a:t>
            </a:r>
            <a:endParaRPr lang="en-US" sz="1500" dirty="0"/>
          </a:p>
        </p:txBody>
      </p:sp>
      <p:sp>
        <p:nvSpPr>
          <p:cNvPr id="29" name="Text 11"/>
          <p:cNvSpPr/>
          <p:nvPr/>
        </p:nvSpPr>
        <p:spPr>
          <a:xfrm>
            <a:off x="4019550" y="5638800"/>
            <a:ext cx="47815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The image is the fundamental unit stored in ECR. It is a lightweight, standalone, and executable package containing everything needed to run a piece of software, including code, runtime, libraries, environment variables, and configuration files.</a:t>
            </a:r>
            <a:endParaRPr lang="en-US" sz="1200" dirty="0"/>
          </a:p>
        </p:txBody>
      </p:sp>
      <p:sp>
        <p:nvSpPr>
          <p:cNvPr id="30" name="Text 12"/>
          <p:cNvSpPr/>
          <p:nvPr/>
        </p:nvSpPr>
        <p:spPr>
          <a:xfrm>
            <a:off x="457200" y="7162800"/>
            <a:ext cx="3723858"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Amazon Elastic Container Registry (ECR)</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457200" y="681906"/>
            <a:ext cx="762000" cy="38100"/>
          </a:xfrm>
          <a:prstGeom prst="rect">
            <a:avLst/>
          </a:prstGeom>
        </p:spPr>
      </p:pic>
      <p:pic>
        <p:nvPicPr>
          <p:cNvPr id="4" name="Image 2" descr="preencoded.png"/>
          <p:cNvPicPr>
            <a:picLocks noChangeAspect="1"/>
          </p:cNvPicPr>
          <p:nvPr/>
        </p:nvPicPr>
        <p:blipFill>
          <a:blip r:embed="rId4"/>
          <a:stretch>
            <a:fillRect/>
          </a:stretch>
        </p:blipFill>
        <p:spPr>
          <a:xfrm>
            <a:off x="457200" y="1803136"/>
            <a:ext cx="3606701" cy="2457450"/>
          </a:xfrm>
          <a:prstGeom prst="rect">
            <a:avLst/>
          </a:prstGeom>
        </p:spPr>
      </p:pic>
      <p:pic>
        <p:nvPicPr>
          <p:cNvPr id="5" name="Image 3" descr="preencoded.png"/>
          <p:cNvPicPr>
            <a:picLocks noChangeAspect="1"/>
          </p:cNvPicPr>
          <p:nvPr/>
        </p:nvPicPr>
        <p:blipFill>
          <a:blip r:embed="rId5"/>
          <a:stretch>
            <a:fillRect/>
          </a:stretch>
        </p:blipFill>
        <p:spPr>
          <a:xfrm>
            <a:off x="647700" y="1993636"/>
            <a:ext cx="476250" cy="476250"/>
          </a:xfrm>
          <a:prstGeom prst="rect">
            <a:avLst/>
          </a:prstGeom>
        </p:spPr>
      </p:pic>
      <p:pic>
        <p:nvPicPr>
          <p:cNvPr id="6" name="Image 4" descr="preencoded.png"/>
          <p:cNvPicPr>
            <a:picLocks noChangeAspect="1"/>
          </p:cNvPicPr>
          <p:nvPr/>
        </p:nvPicPr>
        <p:blipFill>
          <a:blip r:embed="rId6"/>
          <a:stretch>
            <a:fillRect/>
          </a:stretch>
        </p:blipFill>
        <p:spPr>
          <a:xfrm>
            <a:off x="766763" y="2098411"/>
            <a:ext cx="238125" cy="266700"/>
          </a:xfrm>
          <a:prstGeom prst="rect">
            <a:avLst/>
          </a:prstGeom>
        </p:spPr>
      </p:pic>
      <p:pic>
        <p:nvPicPr>
          <p:cNvPr id="7" name="Image 5" descr="preencoded.png"/>
          <p:cNvPicPr>
            <a:picLocks noChangeAspect="1"/>
          </p:cNvPicPr>
          <p:nvPr/>
        </p:nvPicPr>
        <p:blipFill>
          <a:blip r:embed="rId7"/>
          <a:stretch>
            <a:fillRect/>
          </a:stretch>
        </p:blipFill>
        <p:spPr>
          <a:xfrm>
            <a:off x="4292501" y="1803136"/>
            <a:ext cx="3606850" cy="2457450"/>
          </a:xfrm>
          <a:prstGeom prst="rect">
            <a:avLst/>
          </a:prstGeom>
        </p:spPr>
      </p:pic>
      <p:pic>
        <p:nvPicPr>
          <p:cNvPr id="8" name="Image 6" descr="preencoded.png"/>
          <p:cNvPicPr>
            <a:picLocks noChangeAspect="1"/>
          </p:cNvPicPr>
          <p:nvPr/>
        </p:nvPicPr>
        <p:blipFill>
          <a:blip r:embed="rId8"/>
          <a:stretch>
            <a:fillRect/>
          </a:stretch>
        </p:blipFill>
        <p:spPr>
          <a:xfrm>
            <a:off x="4483001" y="1993636"/>
            <a:ext cx="476250" cy="476250"/>
          </a:xfrm>
          <a:prstGeom prst="rect">
            <a:avLst/>
          </a:prstGeom>
        </p:spPr>
      </p:pic>
      <p:pic>
        <p:nvPicPr>
          <p:cNvPr id="9" name="Image 7" descr="preencoded.png"/>
          <p:cNvPicPr>
            <a:picLocks noChangeAspect="1"/>
          </p:cNvPicPr>
          <p:nvPr/>
        </p:nvPicPr>
        <p:blipFill>
          <a:blip r:embed="rId9"/>
          <a:stretch>
            <a:fillRect/>
          </a:stretch>
        </p:blipFill>
        <p:spPr>
          <a:xfrm>
            <a:off x="4625876" y="2098411"/>
            <a:ext cx="190500" cy="266700"/>
          </a:xfrm>
          <a:prstGeom prst="rect">
            <a:avLst/>
          </a:prstGeom>
        </p:spPr>
      </p:pic>
      <p:pic>
        <p:nvPicPr>
          <p:cNvPr id="10" name="Image 8" descr="preencoded.png"/>
          <p:cNvPicPr>
            <a:picLocks noChangeAspect="1"/>
          </p:cNvPicPr>
          <p:nvPr/>
        </p:nvPicPr>
        <p:blipFill>
          <a:blip r:embed="rId10"/>
          <a:stretch>
            <a:fillRect/>
          </a:stretch>
        </p:blipFill>
        <p:spPr>
          <a:xfrm>
            <a:off x="8127950" y="1803136"/>
            <a:ext cx="3606701" cy="2457450"/>
          </a:xfrm>
          <a:prstGeom prst="rect">
            <a:avLst/>
          </a:prstGeom>
        </p:spPr>
      </p:pic>
      <p:pic>
        <p:nvPicPr>
          <p:cNvPr id="11" name="Image 9" descr="preencoded.png"/>
          <p:cNvPicPr>
            <a:picLocks noChangeAspect="1"/>
          </p:cNvPicPr>
          <p:nvPr/>
        </p:nvPicPr>
        <p:blipFill>
          <a:blip r:embed="rId11"/>
          <a:stretch>
            <a:fillRect/>
          </a:stretch>
        </p:blipFill>
        <p:spPr>
          <a:xfrm>
            <a:off x="8318450" y="1993636"/>
            <a:ext cx="476250" cy="476250"/>
          </a:xfrm>
          <a:prstGeom prst="rect">
            <a:avLst/>
          </a:prstGeom>
        </p:spPr>
      </p:pic>
      <p:pic>
        <p:nvPicPr>
          <p:cNvPr id="12" name="Image 10" descr="preencoded.png"/>
          <p:cNvPicPr>
            <a:picLocks noChangeAspect="1"/>
          </p:cNvPicPr>
          <p:nvPr/>
        </p:nvPicPr>
        <p:blipFill>
          <a:blip r:embed="rId12"/>
          <a:stretch>
            <a:fillRect/>
          </a:stretch>
        </p:blipFill>
        <p:spPr>
          <a:xfrm>
            <a:off x="8461325" y="2098411"/>
            <a:ext cx="190500" cy="266700"/>
          </a:xfrm>
          <a:prstGeom prst="rect">
            <a:avLst/>
          </a:prstGeom>
        </p:spPr>
      </p:pic>
      <p:pic>
        <p:nvPicPr>
          <p:cNvPr id="13" name="Image 11" descr="preencoded.png"/>
          <p:cNvPicPr>
            <a:picLocks noChangeAspect="1"/>
          </p:cNvPicPr>
          <p:nvPr/>
        </p:nvPicPr>
        <p:blipFill>
          <a:blip r:embed="rId13"/>
          <a:stretch>
            <a:fillRect/>
          </a:stretch>
        </p:blipFill>
        <p:spPr>
          <a:xfrm>
            <a:off x="457200" y="4601158"/>
            <a:ext cx="3606701" cy="2228850"/>
          </a:xfrm>
          <a:prstGeom prst="rect">
            <a:avLst/>
          </a:prstGeom>
        </p:spPr>
      </p:pic>
      <p:pic>
        <p:nvPicPr>
          <p:cNvPr id="14" name="Image 12" descr="preencoded.png"/>
          <p:cNvPicPr>
            <a:picLocks noChangeAspect="1"/>
          </p:cNvPicPr>
          <p:nvPr/>
        </p:nvPicPr>
        <p:blipFill>
          <a:blip r:embed="rId5"/>
          <a:stretch>
            <a:fillRect/>
          </a:stretch>
        </p:blipFill>
        <p:spPr>
          <a:xfrm>
            <a:off x="647700" y="4679686"/>
            <a:ext cx="476250" cy="476250"/>
          </a:xfrm>
          <a:prstGeom prst="rect">
            <a:avLst/>
          </a:prstGeom>
        </p:spPr>
      </p:pic>
      <p:pic>
        <p:nvPicPr>
          <p:cNvPr id="15" name="Image 13" descr="preencoded.png"/>
          <p:cNvPicPr>
            <a:picLocks noChangeAspect="1"/>
          </p:cNvPicPr>
          <p:nvPr/>
        </p:nvPicPr>
        <p:blipFill>
          <a:blip r:embed="rId14"/>
          <a:stretch>
            <a:fillRect/>
          </a:stretch>
        </p:blipFill>
        <p:spPr>
          <a:xfrm>
            <a:off x="790575" y="4784461"/>
            <a:ext cx="190500" cy="266700"/>
          </a:xfrm>
          <a:prstGeom prst="rect">
            <a:avLst/>
          </a:prstGeom>
        </p:spPr>
      </p:pic>
      <p:pic>
        <p:nvPicPr>
          <p:cNvPr id="16" name="Image 14" descr="preencoded.png"/>
          <p:cNvPicPr>
            <a:picLocks noChangeAspect="1"/>
          </p:cNvPicPr>
          <p:nvPr/>
        </p:nvPicPr>
        <p:blipFill>
          <a:blip r:embed="rId15"/>
          <a:stretch>
            <a:fillRect/>
          </a:stretch>
        </p:blipFill>
        <p:spPr>
          <a:xfrm>
            <a:off x="4292501" y="4601158"/>
            <a:ext cx="3606850" cy="2228850"/>
          </a:xfrm>
          <a:prstGeom prst="rect">
            <a:avLst/>
          </a:prstGeom>
        </p:spPr>
      </p:pic>
      <p:pic>
        <p:nvPicPr>
          <p:cNvPr id="17" name="Image 15" descr="preencoded.png"/>
          <p:cNvPicPr>
            <a:picLocks noChangeAspect="1"/>
          </p:cNvPicPr>
          <p:nvPr/>
        </p:nvPicPr>
        <p:blipFill>
          <a:blip r:embed="rId8"/>
          <a:stretch>
            <a:fillRect/>
          </a:stretch>
        </p:blipFill>
        <p:spPr>
          <a:xfrm>
            <a:off x="4483001" y="4679686"/>
            <a:ext cx="476250" cy="476250"/>
          </a:xfrm>
          <a:prstGeom prst="rect">
            <a:avLst/>
          </a:prstGeom>
        </p:spPr>
      </p:pic>
      <p:pic>
        <p:nvPicPr>
          <p:cNvPr id="18" name="Image 16" descr="preencoded.png"/>
          <p:cNvPicPr>
            <a:picLocks noChangeAspect="1"/>
          </p:cNvPicPr>
          <p:nvPr/>
        </p:nvPicPr>
        <p:blipFill>
          <a:blip r:embed="rId16"/>
          <a:stretch>
            <a:fillRect/>
          </a:stretch>
        </p:blipFill>
        <p:spPr>
          <a:xfrm>
            <a:off x="4649688" y="4784461"/>
            <a:ext cx="142875" cy="266700"/>
          </a:xfrm>
          <a:prstGeom prst="rect">
            <a:avLst/>
          </a:prstGeom>
        </p:spPr>
      </p:pic>
      <p:pic>
        <p:nvPicPr>
          <p:cNvPr id="19" name="Image 17" descr="preencoded.png"/>
          <p:cNvPicPr>
            <a:picLocks noChangeAspect="1"/>
          </p:cNvPicPr>
          <p:nvPr/>
        </p:nvPicPr>
        <p:blipFill>
          <a:blip r:embed="rId17"/>
          <a:stretch>
            <a:fillRect/>
          </a:stretch>
        </p:blipFill>
        <p:spPr>
          <a:xfrm>
            <a:off x="8127950" y="4601158"/>
            <a:ext cx="3606701" cy="2228850"/>
          </a:xfrm>
          <a:prstGeom prst="rect">
            <a:avLst/>
          </a:prstGeom>
        </p:spPr>
      </p:pic>
      <p:pic>
        <p:nvPicPr>
          <p:cNvPr id="20" name="Image 18" descr="preencoded.png"/>
          <p:cNvPicPr>
            <a:picLocks noChangeAspect="1"/>
          </p:cNvPicPr>
          <p:nvPr/>
        </p:nvPicPr>
        <p:blipFill>
          <a:blip r:embed="rId11"/>
          <a:stretch>
            <a:fillRect/>
          </a:stretch>
        </p:blipFill>
        <p:spPr>
          <a:xfrm>
            <a:off x="8318450" y="4679686"/>
            <a:ext cx="476250" cy="476250"/>
          </a:xfrm>
          <a:prstGeom prst="rect">
            <a:avLst/>
          </a:prstGeom>
        </p:spPr>
      </p:pic>
      <p:pic>
        <p:nvPicPr>
          <p:cNvPr id="21" name="Image 19" descr="preencoded.png"/>
          <p:cNvPicPr>
            <a:picLocks noChangeAspect="1"/>
          </p:cNvPicPr>
          <p:nvPr/>
        </p:nvPicPr>
        <p:blipFill>
          <a:blip r:embed="rId18"/>
          <a:stretch>
            <a:fillRect/>
          </a:stretch>
        </p:blipFill>
        <p:spPr>
          <a:xfrm>
            <a:off x="8447038" y="4784461"/>
            <a:ext cx="219075" cy="266700"/>
          </a:xfrm>
          <a:prstGeom prst="rect">
            <a:avLst/>
          </a:prstGeom>
        </p:spPr>
      </p:pic>
      <p:sp>
        <p:nvSpPr>
          <p:cNvPr id="22" name="Text 0"/>
          <p:cNvSpPr/>
          <p:nvPr/>
        </p:nvSpPr>
        <p:spPr>
          <a:xfrm>
            <a:off x="457200" y="205265"/>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Key Features and Benefits</a:t>
            </a:r>
            <a:endParaRPr lang="en-US" sz="2700" dirty="0"/>
          </a:p>
        </p:txBody>
      </p:sp>
      <p:sp>
        <p:nvSpPr>
          <p:cNvPr id="23" name="Text 1"/>
          <p:cNvSpPr/>
          <p:nvPr/>
        </p:nvSpPr>
        <p:spPr>
          <a:xfrm>
            <a:off x="457200" y="888736"/>
            <a:ext cx="112776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Amazon ECR offers powerful capabilities that streamline container image management, enhance security, and improve efficiency in containerized application workflows.</a:t>
            </a:r>
            <a:endParaRPr lang="en-US" sz="1500" dirty="0"/>
          </a:p>
        </p:txBody>
      </p:sp>
      <p:sp>
        <p:nvSpPr>
          <p:cNvPr id="24" name="Text 2"/>
          <p:cNvSpPr/>
          <p:nvPr/>
        </p:nvSpPr>
        <p:spPr>
          <a:xfrm>
            <a:off x="647700" y="2584186"/>
            <a:ext cx="387084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Lifecycle Policies</a:t>
            </a:r>
            <a:endParaRPr lang="en-US" sz="1500" dirty="0"/>
          </a:p>
        </p:txBody>
      </p:sp>
      <p:sp>
        <p:nvSpPr>
          <p:cNvPr id="25" name="Text 3"/>
          <p:cNvSpPr/>
          <p:nvPr/>
        </p:nvSpPr>
        <p:spPr>
          <a:xfrm>
            <a:off x="647700" y="2927086"/>
            <a:ext cx="3225701"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Automatically clean up unused or outdated images based on criteria like image age, tag status, or count, reducing storage costs and maintaining organization.</a:t>
            </a:r>
            <a:endParaRPr lang="en-US" sz="1200" dirty="0"/>
          </a:p>
        </p:txBody>
      </p:sp>
      <p:sp>
        <p:nvSpPr>
          <p:cNvPr id="26" name="Text 4"/>
          <p:cNvSpPr/>
          <p:nvPr/>
        </p:nvSpPr>
        <p:spPr>
          <a:xfrm>
            <a:off x="4483001" y="2584186"/>
            <a:ext cx="32258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Image Scanning</a:t>
            </a:r>
            <a:endParaRPr lang="en-US" sz="1500" dirty="0"/>
          </a:p>
        </p:txBody>
      </p:sp>
      <p:sp>
        <p:nvSpPr>
          <p:cNvPr id="27" name="Text 5"/>
          <p:cNvSpPr/>
          <p:nvPr/>
        </p:nvSpPr>
        <p:spPr>
          <a:xfrm>
            <a:off x="4483001" y="2927086"/>
            <a:ext cx="32258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Identify software vulnerabilities in container images automatically. Configure repositories to scan images upon push, ensuring proactive vulnerability management.</a:t>
            </a:r>
            <a:endParaRPr lang="en-US" sz="1200" dirty="0"/>
          </a:p>
        </p:txBody>
      </p:sp>
      <p:sp>
        <p:nvSpPr>
          <p:cNvPr id="28" name="Text 6"/>
          <p:cNvSpPr/>
          <p:nvPr/>
        </p:nvSpPr>
        <p:spPr>
          <a:xfrm>
            <a:off x="8318450" y="2584186"/>
            <a:ext cx="322570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Replication</a:t>
            </a:r>
            <a:endParaRPr lang="en-US" sz="1500" dirty="0"/>
          </a:p>
        </p:txBody>
      </p:sp>
      <p:sp>
        <p:nvSpPr>
          <p:cNvPr id="29" name="Text 7"/>
          <p:cNvSpPr/>
          <p:nvPr/>
        </p:nvSpPr>
        <p:spPr>
          <a:xfrm>
            <a:off x="8318450" y="2927086"/>
            <a:ext cx="3225701"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Cross-Region and cross-account replication simplifies making container images available where needed, ensuring faster access and aiding disaster recovery.</a:t>
            </a:r>
            <a:endParaRPr lang="en-US" sz="1200" dirty="0"/>
          </a:p>
        </p:txBody>
      </p:sp>
      <p:sp>
        <p:nvSpPr>
          <p:cNvPr id="30" name="Text 8"/>
          <p:cNvSpPr/>
          <p:nvPr/>
        </p:nvSpPr>
        <p:spPr>
          <a:xfrm>
            <a:off x="647700" y="5270236"/>
            <a:ext cx="387084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Security &amp; Access Control</a:t>
            </a:r>
            <a:endParaRPr lang="en-US" sz="1500" dirty="0"/>
          </a:p>
        </p:txBody>
      </p:sp>
      <p:sp>
        <p:nvSpPr>
          <p:cNvPr id="31" name="Text 9"/>
          <p:cNvSpPr/>
          <p:nvPr/>
        </p:nvSpPr>
        <p:spPr>
          <a:xfrm>
            <a:off x="647700" y="5613136"/>
            <a:ext cx="3225701"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Integrates with AWS IAM for fine-grained permissions, automatic encryption at rest using S3 server-side encryption, and secure HTTPS data transfer.</a:t>
            </a:r>
            <a:endParaRPr lang="en-US" sz="1200" dirty="0"/>
          </a:p>
        </p:txBody>
      </p:sp>
      <p:sp>
        <p:nvSpPr>
          <p:cNvPr id="32" name="Text 10"/>
          <p:cNvSpPr/>
          <p:nvPr/>
        </p:nvSpPr>
        <p:spPr>
          <a:xfrm>
            <a:off x="4483001" y="5270236"/>
            <a:ext cx="38710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Integration &amp; Compatibility</a:t>
            </a:r>
            <a:endParaRPr lang="en-US" sz="1500" dirty="0"/>
          </a:p>
        </p:txBody>
      </p:sp>
      <p:sp>
        <p:nvSpPr>
          <p:cNvPr id="33" name="Text 11"/>
          <p:cNvSpPr/>
          <p:nvPr/>
        </p:nvSpPr>
        <p:spPr>
          <a:xfrm>
            <a:off x="4483001" y="5613136"/>
            <a:ext cx="322585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Seamlessly integrates with ECS, EKS, AWS Fargate, and Lambda. Supports OCI standards and Docker Registry HTTP API V2 for maximum compatibility.</a:t>
            </a:r>
            <a:endParaRPr lang="en-US" sz="1200" dirty="0"/>
          </a:p>
        </p:txBody>
      </p:sp>
      <p:sp>
        <p:nvSpPr>
          <p:cNvPr id="34" name="Text 12"/>
          <p:cNvSpPr/>
          <p:nvPr/>
        </p:nvSpPr>
        <p:spPr>
          <a:xfrm>
            <a:off x="8318450" y="5214252"/>
            <a:ext cx="387084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Reliability &amp; Performance</a:t>
            </a:r>
            <a:endParaRPr lang="en-US" sz="1500" dirty="0"/>
          </a:p>
        </p:txBody>
      </p:sp>
      <p:sp>
        <p:nvSpPr>
          <p:cNvPr id="36" name="Text 13"/>
          <p:cNvSpPr/>
          <p:nvPr/>
        </p:nvSpPr>
        <p:spPr>
          <a:xfrm>
            <a:off x="8318450" y="5538488"/>
            <a:ext cx="3225701"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Provides high availability, scalability, and performance for container image storage and retrieval, ensuring consistent deployment across environments.</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219950"/>
          </a:xfrm>
          <a:prstGeom prst="rect">
            <a:avLst/>
          </a:prstGeom>
        </p:spPr>
      </p:pic>
      <p:pic>
        <p:nvPicPr>
          <p:cNvPr id="3" name="Image 1" descr="preencoded.png"/>
          <p:cNvPicPr>
            <a:picLocks noChangeAspect="1"/>
          </p:cNvPicPr>
          <p:nvPr/>
        </p:nvPicPr>
        <p:blipFill>
          <a:blip r:embed="rId4"/>
          <a:stretch>
            <a:fillRect/>
          </a:stretch>
        </p:blipFill>
        <p:spPr>
          <a:xfrm>
            <a:off x="457200" y="952500"/>
            <a:ext cx="762000" cy="38100"/>
          </a:xfrm>
          <a:prstGeom prst="rect">
            <a:avLst/>
          </a:prstGeom>
        </p:spPr>
      </p:pic>
      <p:pic>
        <p:nvPicPr>
          <p:cNvPr id="4" name="Image 2" descr="preencoded.png"/>
          <p:cNvPicPr>
            <a:picLocks noChangeAspect="1"/>
          </p:cNvPicPr>
          <p:nvPr/>
        </p:nvPicPr>
        <p:blipFill>
          <a:blip r:embed="rId5"/>
          <a:stretch>
            <a:fillRect/>
          </a:stretch>
        </p:blipFill>
        <p:spPr>
          <a:xfrm>
            <a:off x="457200" y="2133600"/>
            <a:ext cx="3606701" cy="4095750"/>
          </a:xfrm>
          <a:prstGeom prst="rect">
            <a:avLst/>
          </a:prstGeom>
        </p:spPr>
      </p:pic>
      <p:pic>
        <p:nvPicPr>
          <p:cNvPr id="5" name="Image 3" descr="preencoded.png"/>
          <p:cNvPicPr>
            <a:picLocks noChangeAspect="1"/>
          </p:cNvPicPr>
          <p:nvPr/>
        </p:nvPicPr>
        <p:blipFill>
          <a:blip r:embed="rId6"/>
          <a:stretch>
            <a:fillRect/>
          </a:stretch>
        </p:blipFill>
        <p:spPr>
          <a:xfrm>
            <a:off x="685800" y="2362200"/>
            <a:ext cx="666750" cy="666750"/>
          </a:xfrm>
          <a:prstGeom prst="rect">
            <a:avLst/>
          </a:prstGeom>
        </p:spPr>
      </p:pic>
      <p:pic>
        <p:nvPicPr>
          <p:cNvPr id="6" name="Image 4" descr="preencoded.png"/>
          <p:cNvPicPr>
            <a:picLocks noChangeAspect="1"/>
          </p:cNvPicPr>
          <p:nvPr/>
        </p:nvPicPr>
        <p:blipFill>
          <a:blip r:embed="rId7"/>
          <a:stretch>
            <a:fillRect/>
          </a:stretch>
        </p:blipFill>
        <p:spPr>
          <a:xfrm>
            <a:off x="876300" y="2524125"/>
            <a:ext cx="285750" cy="342900"/>
          </a:xfrm>
          <a:prstGeom prst="rect">
            <a:avLst/>
          </a:prstGeom>
        </p:spPr>
      </p:pic>
      <p:pic>
        <p:nvPicPr>
          <p:cNvPr id="7" name="Image 5" descr="preencoded.png"/>
          <p:cNvPicPr>
            <a:picLocks noChangeAspect="1"/>
          </p:cNvPicPr>
          <p:nvPr/>
        </p:nvPicPr>
        <p:blipFill>
          <a:blip r:embed="rId8"/>
          <a:stretch>
            <a:fillRect/>
          </a:stretch>
        </p:blipFill>
        <p:spPr>
          <a:xfrm>
            <a:off x="4292501" y="2133600"/>
            <a:ext cx="3606850" cy="4095750"/>
          </a:xfrm>
          <a:prstGeom prst="rect">
            <a:avLst/>
          </a:prstGeom>
        </p:spPr>
      </p:pic>
      <p:pic>
        <p:nvPicPr>
          <p:cNvPr id="8" name="Image 6" descr="preencoded.png"/>
          <p:cNvPicPr>
            <a:picLocks noChangeAspect="1"/>
          </p:cNvPicPr>
          <p:nvPr/>
        </p:nvPicPr>
        <p:blipFill>
          <a:blip r:embed="rId9"/>
          <a:stretch>
            <a:fillRect/>
          </a:stretch>
        </p:blipFill>
        <p:spPr>
          <a:xfrm>
            <a:off x="4521101" y="2362200"/>
            <a:ext cx="666750" cy="666750"/>
          </a:xfrm>
          <a:prstGeom prst="rect">
            <a:avLst/>
          </a:prstGeom>
        </p:spPr>
      </p:pic>
      <p:pic>
        <p:nvPicPr>
          <p:cNvPr id="9" name="Image 7" descr="preencoded.png"/>
          <p:cNvPicPr>
            <a:picLocks noChangeAspect="1"/>
          </p:cNvPicPr>
          <p:nvPr/>
        </p:nvPicPr>
        <p:blipFill>
          <a:blip r:embed="rId10"/>
          <a:stretch>
            <a:fillRect/>
          </a:stretch>
        </p:blipFill>
        <p:spPr>
          <a:xfrm>
            <a:off x="4692551" y="2524125"/>
            <a:ext cx="323850" cy="342900"/>
          </a:xfrm>
          <a:prstGeom prst="rect">
            <a:avLst/>
          </a:prstGeom>
        </p:spPr>
      </p:pic>
      <p:pic>
        <p:nvPicPr>
          <p:cNvPr id="10" name="Image 8" descr="preencoded.png"/>
          <p:cNvPicPr>
            <a:picLocks noChangeAspect="1"/>
          </p:cNvPicPr>
          <p:nvPr/>
        </p:nvPicPr>
        <p:blipFill>
          <a:blip r:embed="rId11"/>
          <a:stretch>
            <a:fillRect/>
          </a:stretch>
        </p:blipFill>
        <p:spPr>
          <a:xfrm>
            <a:off x="8127950" y="2133600"/>
            <a:ext cx="3606701" cy="4095750"/>
          </a:xfrm>
          <a:prstGeom prst="rect">
            <a:avLst/>
          </a:prstGeom>
        </p:spPr>
      </p:pic>
      <p:pic>
        <p:nvPicPr>
          <p:cNvPr id="11" name="Image 9" descr="preencoded.png"/>
          <p:cNvPicPr>
            <a:picLocks noChangeAspect="1"/>
          </p:cNvPicPr>
          <p:nvPr/>
        </p:nvPicPr>
        <p:blipFill>
          <a:blip r:embed="rId12"/>
          <a:stretch>
            <a:fillRect/>
          </a:stretch>
        </p:blipFill>
        <p:spPr>
          <a:xfrm>
            <a:off x="8356550" y="2362200"/>
            <a:ext cx="593973" cy="666750"/>
          </a:xfrm>
          <a:prstGeom prst="rect">
            <a:avLst/>
          </a:prstGeom>
        </p:spPr>
      </p:pic>
      <p:pic>
        <p:nvPicPr>
          <p:cNvPr id="12" name="Image 10" descr="preencoded.png"/>
          <p:cNvPicPr>
            <a:picLocks noChangeAspect="1"/>
          </p:cNvPicPr>
          <p:nvPr/>
        </p:nvPicPr>
        <p:blipFill>
          <a:blip r:embed="rId13"/>
          <a:stretch>
            <a:fillRect/>
          </a:stretch>
        </p:blipFill>
        <p:spPr>
          <a:xfrm>
            <a:off x="8472488" y="2524125"/>
            <a:ext cx="361950" cy="342900"/>
          </a:xfrm>
          <a:prstGeom prst="rect">
            <a:avLst/>
          </a:prstGeom>
        </p:spPr>
      </p:pic>
      <p:sp>
        <p:nvSpPr>
          <p:cNvPr id="13"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Practical Use Cases</a:t>
            </a:r>
            <a:endParaRPr lang="en-US" sz="2700" dirty="0"/>
          </a:p>
        </p:txBody>
      </p:sp>
      <p:sp>
        <p:nvSpPr>
          <p:cNvPr id="14" name="Text 1"/>
          <p:cNvSpPr/>
          <p:nvPr/>
        </p:nvSpPr>
        <p:spPr>
          <a:xfrm>
            <a:off x="457200" y="1485900"/>
            <a:ext cx="1353312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Amazon ECR provides versatile solutions for real-world container image management challenges:</a:t>
            </a:r>
            <a:endParaRPr lang="en-US" sz="1500" dirty="0"/>
          </a:p>
        </p:txBody>
      </p:sp>
      <p:sp>
        <p:nvSpPr>
          <p:cNvPr id="15" name="Text 2"/>
          <p:cNvSpPr/>
          <p:nvPr/>
        </p:nvSpPr>
        <p:spPr>
          <a:xfrm>
            <a:off x="1504950" y="2543175"/>
            <a:ext cx="2338328"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CI/CD Pipelines</a:t>
            </a:r>
            <a:endParaRPr lang="en-US" sz="1800" dirty="0"/>
          </a:p>
        </p:txBody>
      </p:sp>
      <p:sp>
        <p:nvSpPr>
          <p:cNvPr id="16" name="Text 3"/>
          <p:cNvSpPr/>
          <p:nvPr/>
        </p:nvSpPr>
        <p:spPr>
          <a:xfrm>
            <a:off x="685800" y="3181350"/>
            <a:ext cx="3149501" cy="1733550"/>
          </a:xfrm>
          <a:prstGeom prst="rect">
            <a:avLst/>
          </a:prstGeom>
          <a:noFill/>
          <a:ln/>
        </p:spPr>
        <p:txBody>
          <a:bodyPr vert="horz" wrap="square" lIns="0" tIns="0" rIns="0" bIns="0" rtlCol="0" anchor="t"/>
          <a:lstStyle/>
          <a:p>
            <a:pPr marL="0" indent="0">
              <a:lnSpc>
                <a:spcPts val="1950"/>
              </a:lnSpc>
              <a:buNone/>
            </a:pPr>
            <a:r>
              <a:rPr lang="en-US" sz="1200" dirty="0">
                <a:solidFill>
                  <a:srgbClr val="4B5563"/>
                </a:solidFill>
                <a:latin typeface="ui-sans-serif" pitchFamily="34" charset="0"/>
                <a:ea typeface="ui-sans-serif" pitchFamily="34" charset="-122"/>
                <a:cs typeface="ui-sans-serif" pitchFamily="34" charset="-120"/>
              </a:rPr>
              <a:t>ECR integrates seamlessly into CI/CD workflows, automating building, testing, and deployment of containerized applications. Tools like AWS CodeBuild, CodePipeline, and Jenkins can be configured to automatically build Docker images and push them to ECR.</a:t>
            </a:r>
            <a:endParaRPr lang="en-US" sz="1200" dirty="0"/>
          </a:p>
        </p:txBody>
      </p:sp>
      <p:sp>
        <p:nvSpPr>
          <p:cNvPr id="17" name="Text 4"/>
          <p:cNvSpPr/>
          <p:nvPr/>
        </p:nvSpPr>
        <p:spPr>
          <a:xfrm>
            <a:off x="704850" y="5067300"/>
            <a:ext cx="4008001"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Automated image building</a:t>
            </a:r>
            <a:endParaRPr lang="en-US" sz="1200" dirty="0"/>
          </a:p>
        </p:txBody>
      </p:sp>
      <p:sp>
        <p:nvSpPr>
          <p:cNvPr id="18" name="Text 5"/>
          <p:cNvSpPr/>
          <p:nvPr/>
        </p:nvSpPr>
        <p:spPr>
          <a:xfrm>
            <a:off x="704850" y="5295900"/>
            <a:ext cx="4008001"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Consistent testing environments</a:t>
            </a:r>
            <a:endParaRPr lang="en-US" sz="1200" dirty="0"/>
          </a:p>
        </p:txBody>
      </p:sp>
      <p:sp>
        <p:nvSpPr>
          <p:cNvPr id="19" name="Text 6"/>
          <p:cNvSpPr/>
          <p:nvPr/>
        </p:nvSpPr>
        <p:spPr>
          <a:xfrm>
            <a:off x="704850" y="5524500"/>
            <a:ext cx="4008001"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Streamlined deployment processes</a:t>
            </a:r>
            <a:endParaRPr lang="en-US" sz="1200" dirty="0"/>
          </a:p>
        </p:txBody>
      </p:sp>
      <p:sp>
        <p:nvSpPr>
          <p:cNvPr id="20" name="Text 7"/>
          <p:cNvSpPr/>
          <p:nvPr/>
        </p:nvSpPr>
        <p:spPr>
          <a:xfrm>
            <a:off x="5340251" y="2543175"/>
            <a:ext cx="2122765"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Microservices</a:t>
            </a:r>
            <a:endParaRPr lang="en-US" sz="1800" dirty="0"/>
          </a:p>
        </p:txBody>
      </p:sp>
      <p:sp>
        <p:nvSpPr>
          <p:cNvPr id="21" name="Text 8"/>
          <p:cNvSpPr/>
          <p:nvPr/>
        </p:nvSpPr>
        <p:spPr>
          <a:xfrm>
            <a:off x="4521101" y="3181350"/>
            <a:ext cx="3149650" cy="1733550"/>
          </a:xfrm>
          <a:prstGeom prst="rect">
            <a:avLst/>
          </a:prstGeom>
          <a:noFill/>
          <a:ln/>
        </p:spPr>
        <p:txBody>
          <a:bodyPr vert="horz" wrap="square" lIns="0" tIns="0" rIns="0" bIns="0" rtlCol="0" anchor="t"/>
          <a:lstStyle/>
          <a:p>
            <a:pPr marL="0" indent="0">
              <a:lnSpc>
                <a:spcPts val="1950"/>
              </a:lnSpc>
              <a:buNone/>
            </a:pPr>
            <a:r>
              <a:rPr lang="en-US" sz="1200" dirty="0">
                <a:solidFill>
                  <a:srgbClr val="4B5563"/>
                </a:solidFill>
                <a:latin typeface="ui-sans-serif" pitchFamily="34" charset="0"/>
                <a:ea typeface="ui-sans-serif" pitchFamily="34" charset="-122"/>
                <a:cs typeface="ui-sans-serif" pitchFamily="34" charset="-120"/>
              </a:rPr>
              <a:t>ECR is ideal for managing container images in microservices architectures. Applications broken down into smaller, decoupled services can each have their container images stored in ECR, enabling independent development, deployment, and scaling.</a:t>
            </a:r>
            <a:endParaRPr lang="en-US" sz="1200" dirty="0"/>
          </a:p>
        </p:txBody>
      </p:sp>
      <p:sp>
        <p:nvSpPr>
          <p:cNvPr id="22" name="Text 9"/>
          <p:cNvSpPr/>
          <p:nvPr/>
        </p:nvSpPr>
        <p:spPr>
          <a:xfrm>
            <a:off x="4540151" y="5067300"/>
            <a:ext cx="334015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Service isolation</a:t>
            </a:r>
            <a:endParaRPr lang="en-US" sz="1200" dirty="0"/>
          </a:p>
        </p:txBody>
      </p:sp>
      <p:sp>
        <p:nvSpPr>
          <p:cNvPr id="23" name="Text 10"/>
          <p:cNvSpPr/>
          <p:nvPr/>
        </p:nvSpPr>
        <p:spPr>
          <a:xfrm>
            <a:off x="4540151" y="5295900"/>
            <a:ext cx="40081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Independent scaling</a:t>
            </a:r>
            <a:endParaRPr lang="en-US" sz="1200" dirty="0"/>
          </a:p>
        </p:txBody>
      </p:sp>
      <p:sp>
        <p:nvSpPr>
          <p:cNvPr id="24" name="Text 11"/>
          <p:cNvSpPr/>
          <p:nvPr/>
        </p:nvSpPr>
        <p:spPr>
          <a:xfrm>
            <a:off x="4540151" y="5524500"/>
            <a:ext cx="40081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Technology flexibility</a:t>
            </a:r>
            <a:endParaRPr lang="en-US" sz="1200" dirty="0"/>
          </a:p>
        </p:txBody>
      </p:sp>
      <p:sp>
        <p:nvSpPr>
          <p:cNvPr id="25" name="Text 12"/>
          <p:cNvSpPr/>
          <p:nvPr/>
        </p:nvSpPr>
        <p:spPr>
          <a:xfrm>
            <a:off x="9102923" y="2390775"/>
            <a:ext cx="2403128" cy="6096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Hybrid &amp; Multi-Cloud</a:t>
            </a:r>
            <a:endParaRPr lang="en-US" sz="1800" dirty="0"/>
          </a:p>
        </p:txBody>
      </p:sp>
      <p:sp>
        <p:nvSpPr>
          <p:cNvPr id="26" name="Text 13"/>
          <p:cNvSpPr/>
          <p:nvPr/>
        </p:nvSpPr>
        <p:spPr>
          <a:xfrm>
            <a:off x="8356550" y="3181350"/>
            <a:ext cx="3149501" cy="1981200"/>
          </a:xfrm>
          <a:prstGeom prst="rect">
            <a:avLst/>
          </a:prstGeom>
          <a:noFill/>
          <a:ln/>
        </p:spPr>
        <p:txBody>
          <a:bodyPr vert="horz" wrap="square" lIns="0" tIns="0" rIns="0" bIns="0" rtlCol="0" anchor="t"/>
          <a:lstStyle/>
          <a:p>
            <a:pPr marL="0" indent="0">
              <a:lnSpc>
                <a:spcPts val="1950"/>
              </a:lnSpc>
              <a:buNone/>
            </a:pPr>
            <a:r>
              <a:rPr lang="en-US" sz="1200" dirty="0">
                <a:solidFill>
                  <a:srgbClr val="4B5563"/>
                </a:solidFill>
                <a:latin typeface="ui-sans-serif" pitchFamily="34" charset="0"/>
                <a:ea typeface="ui-sans-serif" pitchFamily="34" charset="-122"/>
                <a:cs typeface="ui-sans-serif" pitchFamily="34" charset="-120"/>
              </a:rPr>
              <a:t>ECR supports hybrid and multi-cloud deployment strategies by serving as a centralized and secure image repository. Organizations can pull container images from ECR to on-premises environments or other cloud providers, ensuring consistency across diverse deployment targets.</a:t>
            </a:r>
            <a:endParaRPr lang="en-US" sz="1200" dirty="0"/>
          </a:p>
        </p:txBody>
      </p:sp>
      <p:sp>
        <p:nvSpPr>
          <p:cNvPr id="27" name="Text 14"/>
          <p:cNvSpPr/>
          <p:nvPr/>
        </p:nvSpPr>
        <p:spPr>
          <a:xfrm>
            <a:off x="8375600" y="5314950"/>
            <a:ext cx="4008001"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Unified image management</a:t>
            </a:r>
            <a:endParaRPr lang="en-US" sz="1200" dirty="0"/>
          </a:p>
        </p:txBody>
      </p:sp>
      <p:sp>
        <p:nvSpPr>
          <p:cNvPr id="28" name="Text 15"/>
          <p:cNvSpPr/>
          <p:nvPr/>
        </p:nvSpPr>
        <p:spPr>
          <a:xfrm>
            <a:off x="8375600" y="5543550"/>
            <a:ext cx="4008001"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Consistent deployments</a:t>
            </a:r>
            <a:endParaRPr lang="en-US" sz="1200" dirty="0"/>
          </a:p>
        </p:txBody>
      </p:sp>
      <p:sp>
        <p:nvSpPr>
          <p:cNvPr id="29" name="Text 16"/>
          <p:cNvSpPr/>
          <p:nvPr/>
        </p:nvSpPr>
        <p:spPr>
          <a:xfrm>
            <a:off x="8375600" y="5772150"/>
            <a:ext cx="4008001"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4B5563"/>
                </a:solidFill>
                <a:latin typeface="ui-sans-serif" pitchFamily="34" charset="0"/>
                <a:ea typeface="ui-sans-serif" pitchFamily="34" charset="-122"/>
                <a:cs typeface="ui-sans-serif" pitchFamily="34" charset="-120"/>
              </a:rPr>
              <a:t>Cloud migration support</a:t>
            </a:r>
            <a:endParaRPr lang="en-US" sz="1200" dirty="0"/>
          </a:p>
        </p:txBody>
      </p:sp>
      <p:sp>
        <p:nvSpPr>
          <p:cNvPr id="30" name="Text 17"/>
          <p:cNvSpPr/>
          <p:nvPr/>
        </p:nvSpPr>
        <p:spPr>
          <a:xfrm>
            <a:off x="457200" y="6534150"/>
            <a:ext cx="3723858"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Amazon Elastic Container Registry (ECR)</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457200" y="523278"/>
            <a:ext cx="762000" cy="38100"/>
          </a:xfrm>
          <a:prstGeom prst="rect">
            <a:avLst/>
          </a:prstGeom>
        </p:spPr>
      </p:pic>
      <p:pic>
        <p:nvPicPr>
          <p:cNvPr id="4" name="Image 2" descr="preencoded.png"/>
          <p:cNvPicPr>
            <a:picLocks noChangeAspect="1"/>
          </p:cNvPicPr>
          <p:nvPr/>
        </p:nvPicPr>
        <p:blipFill>
          <a:blip r:embed="rId4"/>
          <a:stretch>
            <a:fillRect/>
          </a:stretch>
        </p:blipFill>
        <p:spPr>
          <a:xfrm>
            <a:off x="457200" y="1378574"/>
            <a:ext cx="5524500" cy="4419600"/>
          </a:xfrm>
          <a:prstGeom prst="rect">
            <a:avLst/>
          </a:prstGeom>
        </p:spPr>
      </p:pic>
      <p:pic>
        <p:nvPicPr>
          <p:cNvPr id="5" name="Image 3" descr="preencoded.png"/>
          <p:cNvPicPr>
            <a:picLocks noChangeAspect="1"/>
          </p:cNvPicPr>
          <p:nvPr/>
        </p:nvPicPr>
        <p:blipFill>
          <a:blip r:embed="rId5"/>
          <a:stretch>
            <a:fillRect/>
          </a:stretch>
        </p:blipFill>
        <p:spPr>
          <a:xfrm>
            <a:off x="609600" y="1569074"/>
            <a:ext cx="190500" cy="190500"/>
          </a:xfrm>
          <a:prstGeom prst="rect">
            <a:avLst/>
          </a:prstGeom>
        </p:spPr>
      </p:pic>
      <p:pic>
        <p:nvPicPr>
          <p:cNvPr id="6" name="Image 4" descr="preencoded.png"/>
          <p:cNvPicPr>
            <a:picLocks noChangeAspect="1"/>
          </p:cNvPicPr>
          <p:nvPr/>
        </p:nvPicPr>
        <p:blipFill>
          <a:blip r:embed="rId6"/>
          <a:stretch>
            <a:fillRect/>
          </a:stretch>
        </p:blipFill>
        <p:spPr>
          <a:xfrm>
            <a:off x="609600" y="1911974"/>
            <a:ext cx="5219700" cy="914400"/>
          </a:xfrm>
          <a:prstGeom prst="rect">
            <a:avLst/>
          </a:prstGeom>
        </p:spPr>
      </p:pic>
      <p:pic>
        <p:nvPicPr>
          <p:cNvPr id="7" name="Image 5" descr="preencoded.png"/>
          <p:cNvPicPr>
            <a:picLocks noChangeAspect="1"/>
          </p:cNvPicPr>
          <p:nvPr/>
        </p:nvPicPr>
        <p:blipFill>
          <a:blip r:embed="rId7"/>
          <a:stretch>
            <a:fillRect/>
          </a:stretch>
        </p:blipFill>
        <p:spPr>
          <a:xfrm>
            <a:off x="609600" y="1911974"/>
            <a:ext cx="1466106" cy="914400"/>
          </a:xfrm>
          <a:prstGeom prst="rect">
            <a:avLst/>
          </a:prstGeom>
        </p:spPr>
      </p:pic>
      <p:pic>
        <p:nvPicPr>
          <p:cNvPr id="8" name="Image 6" descr="preencoded.png"/>
          <p:cNvPicPr>
            <a:picLocks noChangeAspect="1"/>
          </p:cNvPicPr>
          <p:nvPr/>
        </p:nvPicPr>
        <p:blipFill>
          <a:blip r:embed="rId8"/>
          <a:stretch>
            <a:fillRect/>
          </a:stretch>
        </p:blipFill>
        <p:spPr>
          <a:xfrm>
            <a:off x="2075706" y="1911974"/>
            <a:ext cx="1000869" cy="914400"/>
          </a:xfrm>
          <a:prstGeom prst="rect">
            <a:avLst/>
          </a:prstGeom>
        </p:spPr>
      </p:pic>
      <p:pic>
        <p:nvPicPr>
          <p:cNvPr id="9" name="Image 7" descr="preencoded.png"/>
          <p:cNvPicPr>
            <a:picLocks noChangeAspect="1"/>
          </p:cNvPicPr>
          <p:nvPr/>
        </p:nvPicPr>
        <p:blipFill>
          <a:blip r:embed="rId9"/>
          <a:stretch>
            <a:fillRect/>
          </a:stretch>
        </p:blipFill>
        <p:spPr>
          <a:xfrm>
            <a:off x="3076575" y="1911974"/>
            <a:ext cx="1502718" cy="914400"/>
          </a:xfrm>
          <a:prstGeom prst="rect">
            <a:avLst/>
          </a:prstGeom>
        </p:spPr>
      </p:pic>
      <p:pic>
        <p:nvPicPr>
          <p:cNvPr id="10" name="Image 8" descr="preencoded.png"/>
          <p:cNvPicPr>
            <a:picLocks noChangeAspect="1"/>
          </p:cNvPicPr>
          <p:nvPr/>
        </p:nvPicPr>
        <p:blipFill>
          <a:blip r:embed="rId10"/>
          <a:stretch>
            <a:fillRect/>
          </a:stretch>
        </p:blipFill>
        <p:spPr>
          <a:xfrm>
            <a:off x="4579293" y="1911974"/>
            <a:ext cx="1250007" cy="914400"/>
          </a:xfrm>
          <a:prstGeom prst="rect">
            <a:avLst/>
          </a:prstGeom>
        </p:spPr>
      </p:pic>
      <p:pic>
        <p:nvPicPr>
          <p:cNvPr id="11" name="Image 9" descr="preencoded.png"/>
          <p:cNvPicPr>
            <a:picLocks noChangeAspect="1"/>
          </p:cNvPicPr>
          <p:nvPr/>
        </p:nvPicPr>
        <p:blipFill>
          <a:blip r:embed="rId11"/>
          <a:stretch>
            <a:fillRect/>
          </a:stretch>
        </p:blipFill>
        <p:spPr>
          <a:xfrm>
            <a:off x="609600" y="2826374"/>
            <a:ext cx="5219700" cy="876300"/>
          </a:xfrm>
          <a:prstGeom prst="rect">
            <a:avLst/>
          </a:prstGeom>
        </p:spPr>
      </p:pic>
      <p:pic>
        <p:nvPicPr>
          <p:cNvPr id="12" name="Image 10" descr="preencoded.png"/>
          <p:cNvPicPr>
            <a:picLocks noChangeAspect="1"/>
          </p:cNvPicPr>
          <p:nvPr/>
        </p:nvPicPr>
        <p:blipFill>
          <a:blip r:embed="rId12"/>
          <a:stretch>
            <a:fillRect/>
          </a:stretch>
        </p:blipFill>
        <p:spPr>
          <a:xfrm>
            <a:off x="609600" y="2826374"/>
            <a:ext cx="1466106" cy="876300"/>
          </a:xfrm>
          <a:prstGeom prst="rect">
            <a:avLst/>
          </a:prstGeom>
        </p:spPr>
      </p:pic>
      <p:pic>
        <p:nvPicPr>
          <p:cNvPr id="13" name="Image 11" descr="preencoded.png"/>
          <p:cNvPicPr>
            <a:picLocks noChangeAspect="1"/>
          </p:cNvPicPr>
          <p:nvPr/>
        </p:nvPicPr>
        <p:blipFill>
          <a:blip r:embed="rId13"/>
          <a:stretch>
            <a:fillRect/>
          </a:stretch>
        </p:blipFill>
        <p:spPr>
          <a:xfrm>
            <a:off x="2075706" y="2826374"/>
            <a:ext cx="1000869" cy="876300"/>
          </a:xfrm>
          <a:prstGeom prst="rect">
            <a:avLst/>
          </a:prstGeom>
        </p:spPr>
      </p:pic>
      <p:pic>
        <p:nvPicPr>
          <p:cNvPr id="14" name="Image 12" descr="preencoded.png"/>
          <p:cNvPicPr>
            <a:picLocks noChangeAspect="1"/>
          </p:cNvPicPr>
          <p:nvPr/>
        </p:nvPicPr>
        <p:blipFill>
          <a:blip r:embed="rId14"/>
          <a:stretch>
            <a:fillRect/>
          </a:stretch>
        </p:blipFill>
        <p:spPr>
          <a:xfrm>
            <a:off x="2218581" y="3064499"/>
            <a:ext cx="152400" cy="152400"/>
          </a:xfrm>
          <a:prstGeom prst="rect">
            <a:avLst/>
          </a:prstGeom>
        </p:spPr>
      </p:pic>
      <p:pic>
        <p:nvPicPr>
          <p:cNvPr id="15" name="Image 13" descr="preencoded.png"/>
          <p:cNvPicPr>
            <a:picLocks noChangeAspect="1"/>
          </p:cNvPicPr>
          <p:nvPr/>
        </p:nvPicPr>
        <p:blipFill>
          <a:blip r:embed="rId15"/>
          <a:stretch>
            <a:fillRect/>
          </a:stretch>
        </p:blipFill>
        <p:spPr>
          <a:xfrm>
            <a:off x="3076575" y="2826374"/>
            <a:ext cx="1502718" cy="876300"/>
          </a:xfrm>
          <a:prstGeom prst="rect">
            <a:avLst/>
          </a:prstGeom>
        </p:spPr>
      </p:pic>
      <p:pic>
        <p:nvPicPr>
          <p:cNvPr id="16" name="Image 14" descr="preencoded.png"/>
          <p:cNvPicPr>
            <a:picLocks noChangeAspect="1"/>
          </p:cNvPicPr>
          <p:nvPr/>
        </p:nvPicPr>
        <p:blipFill>
          <a:blip r:embed="rId14"/>
          <a:stretch>
            <a:fillRect/>
          </a:stretch>
        </p:blipFill>
        <p:spPr>
          <a:xfrm>
            <a:off x="3219450" y="3064499"/>
            <a:ext cx="152400" cy="152400"/>
          </a:xfrm>
          <a:prstGeom prst="rect">
            <a:avLst/>
          </a:prstGeom>
        </p:spPr>
      </p:pic>
      <p:pic>
        <p:nvPicPr>
          <p:cNvPr id="17" name="Image 15" descr="preencoded.png"/>
          <p:cNvPicPr>
            <a:picLocks noChangeAspect="1"/>
          </p:cNvPicPr>
          <p:nvPr/>
        </p:nvPicPr>
        <p:blipFill>
          <a:blip r:embed="rId16"/>
          <a:stretch>
            <a:fillRect/>
          </a:stretch>
        </p:blipFill>
        <p:spPr>
          <a:xfrm>
            <a:off x="4579293" y="2826374"/>
            <a:ext cx="1250007" cy="876300"/>
          </a:xfrm>
          <a:prstGeom prst="rect">
            <a:avLst/>
          </a:prstGeom>
        </p:spPr>
      </p:pic>
      <p:pic>
        <p:nvPicPr>
          <p:cNvPr id="18" name="Image 16" descr="preencoded.png"/>
          <p:cNvPicPr>
            <a:picLocks noChangeAspect="1"/>
          </p:cNvPicPr>
          <p:nvPr/>
        </p:nvPicPr>
        <p:blipFill>
          <a:blip r:embed="rId17"/>
          <a:stretch>
            <a:fillRect/>
          </a:stretch>
        </p:blipFill>
        <p:spPr>
          <a:xfrm>
            <a:off x="4722168" y="2950199"/>
            <a:ext cx="152400" cy="152400"/>
          </a:xfrm>
          <a:prstGeom prst="rect">
            <a:avLst/>
          </a:prstGeom>
        </p:spPr>
      </p:pic>
      <p:pic>
        <p:nvPicPr>
          <p:cNvPr id="19" name="Image 17" descr="preencoded.png"/>
          <p:cNvPicPr>
            <a:picLocks noChangeAspect="1"/>
          </p:cNvPicPr>
          <p:nvPr/>
        </p:nvPicPr>
        <p:blipFill>
          <a:blip r:embed="rId18"/>
          <a:stretch>
            <a:fillRect/>
          </a:stretch>
        </p:blipFill>
        <p:spPr>
          <a:xfrm>
            <a:off x="609600" y="3702674"/>
            <a:ext cx="5219700" cy="647700"/>
          </a:xfrm>
          <a:prstGeom prst="rect">
            <a:avLst/>
          </a:prstGeom>
        </p:spPr>
      </p:pic>
      <p:pic>
        <p:nvPicPr>
          <p:cNvPr id="20" name="Image 18" descr="preencoded.png"/>
          <p:cNvPicPr>
            <a:picLocks noChangeAspect="1"/>
          </p:cNvPicPr>
          <p:nvPr/>
        </p:nvPicPr>
        <p:blipFill>
          <a:blip r:embed="rId19"/>
          <a:stretch>
            <a:fillRect/>
          </a:stretch>
        </p:blipFill>
        <p:spPr>
          <a:xfrm>
            <a:off x="609600" y="3702674"/>
            <a:ext cx="1466106" cy="647700"/>
          </a:xfrm>
          <a:prstGeom prst="rect">
            <a:avLst/>
          </a:prstGeom>
        </p:spPr>
      </p:pic>
      <p:pic>
        <p:nvPicPr>
          <p:cNvPr id="21" name="Image 19" descr="preencoded.png"/>
          <p:cNvPicPr>
            <a:picLocks noChangeAspect="1"/>
          </p:cNvPicPr>
          <p:nvPr/>
        </p:nvPicPr>
        <p:blipFill>
          <a:blip r:embed="rId20"/>
          <a:stretch>
            <a:fillRect/>
          </a:stretch>
        </p:blipFill>
        <p:spPr>
          <a:xfrm>
            <a:off x="2075706" y="3702674"/>
            <a:ext cx="1000869" cy="647700"/>
          </a:xfrm>
          <a:prstGeom prst="rect">
            <a:avLst/>
          </a:prstGeom>
        </p:spPr>
      </p:pic>
      <p:pic>
        <p:nvPicPr>
          <p:cNvPr id="22" name="Image 20" descr="preencoded.png"/>
          <p:cNvPicPr>
            <a:picLocks noChangeAspect="1"/>
          </p:cNvPicPr>
          <p:nvPr/>
        </p:nvPicPr>
        <p:blipFill>
          <a:blip r:embed="rId17"/>
          <a:stretch>
            <a:fillRect/>
          </a:stretch>
        </p:blipFill>
        <p:spPr>
          <a:xfrm>
            <a:off x="2218581" y="3940799"/>
            <a:ext cx="152400" cy="152400"/>
          </a:xfrm>
          <a:prstGeom prst="rect">
            <a:avLst/>
          </a:prstGeom>
        </p:spPr>
      </p:pic>
      <p:pic>
        <p:nvPicPr>
          <p:cNvPr id="23" name="Image 21" descr="preencoded.png"/>
          <p:cNvPicPr>
            <a:picLocks noChangeAspect="1"/>
          </p:cNvPicPr>
          <p:nvPr/>
        </p:nvPicPr>
        <p:blipFill>
          <a:blip r:embed="rId21"/>
          <a:stretch>
            <a:fillRect/>
          </a:stretch>
        </p:blipFill>
        <p:spPr>
          <a:xfrm>
            <a:off x="3076575" y="3702674"/>
            <a:ext cx="1502718" cy="647700"/>
          </a:xfrm>
          <a:prstGeom prst="rect">
            <a:avLst/>
          </a:prstGeom>
        </p:spPr>
      </p:pic>
      <p:pic>
        <p:nvPicPr>
          <p:cNvPr id="24" name="Image 22" descr="preencoded.png"/>
          <p:cNvPicPr>
            <a:picLocks noChangeAspect="1"/>
          </p:cNvPicPr>
          <p:nvPr/>
        </p:nvPicPr>
        <p:blipFill>
          <a:blip r:embed="rId22"/>
          <a:stretch>
            <a:fillRect/>
          </a:stretch>
        </p:blipFill>
        <p:spPr>
          <a:xfrm>
            <a:off x="3219450" y="3940799"/>
            <a:ext cx="95250" cy="152400"/>
          </a:xfrm>
          <a:prstGeom prst="rect">
            <a:avLst/>
          </a:prstGeom>
        </p:spPr>
      </p:pic>
      <p:pic>
        <p:nvPicPr>
          <p:cNvPr id="25" name="Image 23" descr="preencoded.png"/>
          <p:cNvPicPr>
            <a:picLocks noChangeAspect="1"/>
          </p:cNvPicPr>
          <p:nvPr/>
        </p:nvPicPr>
        <p:blipFill>
          <a:blip r:embed="rId23"/>
          <a:stretch>
            <a:fillRect/>
          </a:stretch>
        </p:blipFill>
        <p:spPr>
          <a:xfrm>
            <a:off x="4579293" y="3702674"/>
            <a:ext cx="1250007" cy="647700"/>
          </a:xfrm>
          <a:prstGeom prst="rect">
            <a:avLst/>
          </a:prstGeom>
        </p:spPr>
      </p:pic>
      <p:pic>
        <p:nvPicPr>
          <p:cNvPr id="26" name="Image 24" descr="preencoded.png"/>
          <p:cNvPicPr>
            <a:picLocks noChangeAspect="1"/>
          </p:cNvPicPr>
          <p:nvPr/>
        </p:nvPicPr>
        <p:blipFill>
          <a:blip r:embed="rId22"/>
          <a:stretch>
            <a:fillRect/>
          </a:stretch>
        </p:blipFill>
        <p:spPr>
          <a:xfrm>
            <a:off x="4722168" y="3940799"/>
            <a:ext cx="95250" cy="152400"/>
          </a:xfrm>
          <a:prstGeom prst="rect">
            <a:avLst/>
          </a:prstGeom>
        </p:spPr>
      </p:pic>
      <p:pic>
        <p:nvPicPr>
          <p:cNvPr id="27" name="Image 25" descr="preencoded.png"/>
          <p:cNvPicPr>
            <a:picLocks noChangeAspect="1"/>
          </p:cNvPicPr>
          <p:nvPr/>
        </p:nvPicPr>
        <p:blipFill>
          <a:blip r:embed="rId24"/>
          <a:stretch>
            <a:fillRect/>
          </a:stretch>
        </p:blipFill>
        <p:spPr>
          <a:xfrm>
            <a:off x="609600" y="4350374"/>
            <a:ext cx="5219700" cy="647700"/>
          </a:xfrm>
          <a:prstGeom prst="rect">
            <a:avLst/>
          </a:prstGeom>
        </p:spPr>
      </p:pic>
      <p:pic>
        <p:nvPicPr>
          <p:cNvPr id="28" name="Image 26" descr="preencoded.png"/>
          <p:cNvPicPr>
            <a:picLocks noChangeAspect="1"/>
          </p:cNvPicPr>
          <p:nvPr/>
        </p:nvPicPr>
        <p:blipFill>
          <a:blip r:embed="rId19"/>
          <a:stretch>
            <a:fillRect/>
          </a:stretch>
        </p:blipFill>
        <p:spPr>
          <a:xfrm>
            <a:off x="609600" y="4350374"/>
            <a:ext cx="1466106" cy="647700"/>
          </a:xfrm>
          <a:prstGeom prst="rect">
            <a:avLst/>
          </a:prstGeom>
        </p:spPr>
      </p:pic>
      <p:pic>
        <p:nvPicPr>
          <p:cNvPr id="29" name="Image 27" descr="preencoded.png"/>
          <p:cNvPicPr>
            <a:picLocks noChangeAspect="1"/>
          </p:cNvPicPr>
          <p:nvPr/>
        </p:nvPicPr>
        <p:blipFill>
          <a:blip r:embed="rId20"/>
          <a:stretch>
            <a:fillRect/>
          </a:stretch>
        </p:blipFill>
        <p:spPr>
          <a:xfrm>
            <a:off x="2075706" y="4350374"/>
            <a:ext cx="1000869" cy="647700"/>
          </a:xfrm>
          <a:prstGeom prst="rect">
            <a:avLst/>
          </a:prstGeom>
        </p:spPr>
      </p:pic>
      <p:pic>
        <p:nvPicPr>
          <p:cNvPr id="30" name="Image 28" descr="preencoded.png"/>
          <p:cNvPicPr>
            <a:picLocks noChangeAspect="1"/>
          </p:cNvPicPr>
          <p:nvPr/>
        </p:nvPicPr>
        <p:blipFill>
          <a:blip r:embed="rId17"/>
          <a:stretch>
            <a:fillRect/>
          </a:stretch>
        </p:blipFill>
        <p:spPr>
          <a:xfrm>
            <a:off x="2218581" y="4588499"/>
            <a:ext cx="152400" cy="152400"/>
          </a:xfrm>
          <a:prstGeom prst="rect">
            <a:avLst/>
          </a:prstGeom>
        </p:spPr>
      </p:pic>
      <p:pic>
        <p:nvPicPr>
          <p:cNvPr id="31" name="Image 29" descr="preencoded.png"/>
          <p:cNvPicPr>
            <a:picLocks noChangeAspect="1"/>
          </p:cNvPicPr>
          <p:nvPr/>
        </p:nvPicPr>
        <p:blipFill>
          <a:blip r:embed="rId21"/>
          <a:stretch>
            <a:fillRect/>
          </a:stretch>
        </p:blipFill>
        <p:spPr>
          <a:xfrm>
            <a:off x="3076575" y="4350374"/>
            <a:ext cx="1502718" cy="647700"/>
          </a:xfrm>
          <a:prstGeom prst="rect">
            <a:avLst/>
          </a:prstGeom>
        </p:spPr>
      </p:pic>
      <p:pic>
        <p:nvPicPr>
          <p:cNvPr id="32" name="Image 30" descr="preencoded.png"/>
          <p:cNvPicPr>
            <a:picLocks noChangeAspect="1"/>
          </p:cNvPicPr>
          <p:nvPr/>
        </p:nvPicPr>
        <p:blipFill>
          <a:blip r:embed="rId22"/>
          <a:stretch>
            <a:fillRect/>
          </a:stretch>
        </p:blipFill>
        <p:spPr>
          <a:xfrm>
            <a:off x="3219450" y="4588499"/>
            <a:ext cx="95250" cy="152400"/>
          </a:xfrm>
          <a:prstGeom prst="rect">
            <a:avLst/>
          </a:prstGeom>
        </p:spPr>
      </p:pic>
      <p:pic>
        <p:nvPicPr>
          <p:cNvPr id="33" name="Image 31" descr="preencoded.png"/>
          <p:cNvPicPr>
            <a:picLocks noChangeAspect="1"/>
          </p:cNvPicPr>
          <p:nvPr/>
        </p:nvPicPr>
        <p:blipFill>
          <a:blip r:embed="rId23"/>
          <a:stretch>
            <a:fillRect/>
          </a:stretch>
        </p:blipFill>
        <p:spPr>
          <a:xfrm>
            <a:off x="4579293" y="4350374"/>
            <a:ext cx="1250007" cy="647700"/>
          </a:xfrm>
          <a:prstGeom prst="rect">
            <a:avLst/>
          </a:prstGeom>
        </p:spPr>
      </p:pic>
      <p:pic>
        <p:nvPicPr>
          <p:cNvPr id="34" name="Image 32" descr="preencoded.png"/>
          <p:cNvPicPr>
            <a:picLocks noChangeAspect="1"/>
          </p:cNvPicPr>
          <p:nvPr/>
        </p:nvPicPr>
        <p:blipFill>
          <a:blip r:embed="rId22"/>
          <a:stretch>
            <a:fillRect/>
          </a:stretch>
        </p:blipFill>
        <p:spPr>
          <a:xfrm>
            <a:off x="4722168" y="4588499"/>
            <a:ext cx="95250" cy="152400"/>
          </a:xfrm>
          <a:prstGeom prst="rect">
            <a:avLst/>
          </a:prstGeom>
        </p:spPr>
      </p:pic>
      <p:pic>
        <p:nvPicPr>
          <p:cNvPr id="35" name="Image 33" descr="preencoded.png"/>
          <p:cNvPicPr>
            <a:picLocks noChangeAspect="1"/>
          </p:cNvPicPr>
          <p:nvPr/>
        </p:nvPicPr>
        <p:blipFill>
          <a:blip r:embed="rId18"/>
          <a:stretch>
            <a:fillRect/>
          </a:stretch>
        </p:blipFill>
        <p:spPr>
          <a:xfrm>
            <a:off x="609600" y="4998074"/>
            <a:ext cx="5219700" cy="647700"/>
          </a:xfrm>
          <a:prstGeom prst="rect">
            <a:avLst/>
          </a:prstGeom>
        </p:spPr>
      </p:pic>
      <p:pic>
        <p:nvPicPr>
          <p:cNvPr id="36" name="Image 34" descr="preencoded.png"/>
          <p:cNvPicPr>
            <a:picLocks noChangeAspect="1"/>
          </p:cNvPicPr>
          <p:nvPr/>
        </p:nvPicPr>
        <p:blipFill>
          <a:blip r:embed="rId19"/>
          <a:stretch>
            <a:fillRect/>
          </a:stretch>
        </p:blipFill>
        <p:spPr>
          <a:xfrm>
            <a:off x="609600" y="4998074"/>
            <a:ext cx="1466106" cy="647700"/>
          </a:xfrm>
          <a:prstGeom prst="rect">
            <a:avLst/>
          </a:prstGeom>
        </p:spPr>
      </p:pic>
      <p:pic>
        <p:nvPicPr>
          <p:cNvPr id="37" name="Image 35" descr="preencoded.png"/>
          <p:cNvPicPr>
            <a:picLocks noChangeAspect="1"/>
          </p:cNvPicPr>
          <p:nvPr/>
        </p:nvPicPr>
        <p:blipFill>
          <a:blip r:embed="rId25"/>
          <a:stretch>
            <a:fillRect/>
          </a:stretch>
        </p:blipFill>
        <p:spPr>
          <a:xfrm>
            <a:off x="2075706" y="4998074"/>
            <a:ext cx="1000869" cy="647700"/>
          </a:xfrm>
          <a:prstGeom prst="rect">
            <a:avLst/>
          </a:prstGeom>
        </p:spPr>
      </p:pic>
      <p:pic>
        <p:nvPicPr>
          <p:cNvPr id="38" name="Image 36" descr="preencoded.png"/>
          <p:cNvPicPr>
            <a:picLocks noChangeAspect="1"/>
          </p:cNvPicPr>
          <p:nvPr/>
        </p:nvPicPr>
        <p:blipFill>
          <a:blip r:embed="rId14"/>
          <a:stretch>
            <a:fillRect/>
          </a:stretch>
        </p:blipFill>
        <p:spPr>
          <a:xfrm>
            <a:off x="2218581" y="5236199"/>
            <a:ext cx="152400" cy="152400"/>
          </a:xfrm>
          <a:prstGeom prst="rect">
            <a:avLst/>
          </a:prstGeom>
        </p:spPr>
      </p:pic>
      <p:pic>
        <p:nvPicPr>
          <p:cNvPr id="39" name="Image 37" descr="preencoded.png"/>
          <p:cNvPicPr>
            <a:picLocks noChangeAspect="1"/>
          </p:cNvPicPr>
          <p:nvPr/>
        </p:nvPicPr>
        <p:blipFill>
          <a:blip r:embed="rId26"/>
          <a:stretch>
            <a:fillRect/>
          </a:stretch>
        </p:blipFill>
        <p:spPr>
          <a:xfrm>
            <a:off x="3076575" y="4998074"/>
            <a:ext cx="1502718" cy="647700"/>
          </a:xfrm>
          <a:prstGeom prst="rect">
            <a:avLst/>
          </a:prstGeom>
        </p:spPr>
      </p:pic>
      <p:pic>
        <p:nvPicPr>
          <p:cNvPr id="40" name="Image 38" descr="preencoded.png"/>
          <p:cNvPicPr>
            <a:picLocks noChangeAspect="1"/>
          </p:cNvPicPr>
          <p:nvPr/>
        </p:nvPicPr>
        <p:blipFill>
          <a:blip r:embed="rId17"/>
          <a:stretch>
            <a:fillRect/>
          </a:stretch>
        </p:blipFill>
        <p:spPr>
          <a:xfrm>
            <a:off x="3219450" y="5121899"/>
            <a:ext cx="152400" cy="152400"/>
          </a:xfrm>
          <a:prstGeom prst="rect">
            <a:avLst/>
          </a:prstGeom>
        </p:spPr>
      </p:pic>
      <p:pic>
        <p:nvPicPr>
          <p:cNvPr id="41" name="Image 39" descr="preencoded.png"/>
          <p:cNvPicPr>
            <a:picLocks noChangeAspect="1"/>
          </p:cNvPicPr>
          <p:nvPr/>
        </p:nvPicPr>
        <p:blipFill>
          <a:blip r:embed="rId23"/>
          <a:stretch>
            <a:fillRect/>
          </a:stretch>
        </p:blipFill>
        <p:spPr>
          <a:xfrm>
            <a:off x="4579293" y="4998074"/>
            <a:ext cx="1250007" cy="647700"/>
          </a:xfrm>
          <a:prstGeom prst="rect">
            <a:avLst/>
          </a:prstGeom>
        </p:spPr>
      </p:pic>
      <p:pic>
        <p:nvPicPr>
          <p:cNvPr id="42" name="Image 40" descr="preencoded.png"/>
          <p:cNvPicPr>
            <a:picLocks noChangeAspect="1"/>
          </p:cNvPicPr>
          <p:nvPr/>
        </p:nvPicPr>
        <p:blipFill>
          <a:blip r:embed="rId22"/>
          <a:stretch>
            <a:fillRect/>
          </a:stretch>
        </p:blipFill>
        <p:spPr>
          <a:xfrm>
            <a:off x="4722168" y="5236199"/>
            <a:ext cx="95250" cy="152400"/>
          </a:xfrm>
          <a:prstGeom prst="rect">
            <a:avLst/>
          </a:prstGeom>
        </p:spPr>
      </p:pic>
      <p:pic>
        <p:nvPicPr>
          <p:cNvPr id="43" name="Image 41" descr="preencoded.png"/>
          <p:cNvPicPr>
            <a:picLocks noChangeAspect="1"/>
          </p:cNvPicPr>
          <p:nvPr/>
        </p:nvPicPr>
        <p:blipFill>
          <a:blip r:embed="rId4"/>
          <a:stretch>
            <a:fillRect/>
          </a:stretch>
        </p:blipFill>
        <p:spPr>
          <a:xfrm>
            <a:off x="6210300" y="1378574"/>
            <a:ext cx="5524500" cy="4419600"/>
          </a:xfrm>
          <a:prstGeom prst="rect">
            <a:avLst/>
          </a:prstGeom>
        </p:spPr>
      </p:pic>
      <p:pic>
        <p:nvPicPr>
          <p:cNvPr id="44" name="Image 42" descr="preencoded.png"/>
          <p:cNvPicPr>
            <a:picLocks noChangeAspect="1"/>
          </p:cNvPicPr>
          <p:nvPr/>
        </p:nvPicPr>
        <p:blipFill>
          <a:blip r:embed="rId27"/>
          <a:stretch>
            <a:fillRect/>
          </a:stretch>
        </p:blipFill>
        <p:spPr>
          <a:xfrm>
            <a:off x="6362700" y="1569074"/>
            <a:ext cx="123825" cy="190500"/>
          </a:xfrm>
          <a:prstGeom prst="rect">
            <a:avLst/>
          </a:prstGeom>
        </p:spPr>
      </p:pic>
      <p:pic>
        <p:nvPicPr>
          <p:cNvPr id="45" name="Image 43" descr="preencoded.png"/>
          <p:cNvPicPr>
            <a:picLocks noChangeAspect="1"/>
          </p:cNvPicPr>
          <p:nvPr/>
        </p:nvPicPr>
        <p:blipFill>
          <a:blip r:embed="rId6"/>
          <a:stretch>
            <a:fillRect/>
          </a:stretch>
        </p:blipFill>
        <p:spPr>
          <a:xfrm>
            <a:off x="6362700" y="1911974"/>
            <a:ext cx="5219700" cy="914400"/>
          </a:xfrm>
          <a:prstGeom prst="rect">
            <a:avLst/>
          </a:prstGeom>
        </p:spPr>
      </p:pic>
      <p:pic>
        <p:nvPicPr>
          <p:cNvPr id="46" name="Image 44" descr="preencoded.png"/>
          <p:cNvPicPr>
            <a:picLocks noChangeAspect="1"/>
          </p:cNvPicPr>
          <p:nvPr/>
        </p:nvPicPr>
        <p:blipFill>
          <a:blip r:embed="rId28"/>
          <a:stretch>
            <a:fillRect/>
          </a:stretch>
        </p:blipFill>
        <p:spPr>
          <a:xfrm>
            <a:off x="6362700" y="1911974"/>
            <a:ext cx="1350318" cy="914400"/>
          </a:xfrm>
          <a:prstGeom prst="rect">
            <a:avLst/>
          </a:prstGeom>
        </p:spPr>
      </p:pic>
      <p:pic>
        <p:nvPicPr>
          <p:cNvPr id="47" name="Image 45" descr="preencoded.png"/>
          <p:cNvPicPr>
            <a:picLocks noChangeAspect="1"/>
          </p:cNvPicPr>
          <p:nvPr/>
        </p:nvPicPr>
        <p:blipFill>
          <a:blip r:embed="rId29"/>
          <a:stretch>
            <a:fillRect/>
          </a:stretch>
        </p:blipFill>
        <p:spPr>
          <a:xfrm>
            <a:off x="7713018" y="1911974"/>
            <a:ext cx="1070967" cy="914400"/>
          </a:xfrm>
          <a:prstGeom prst="rect">
            <a:avLst/>
          </a:prstGeom>
        </p:spPr>
      </p:pic>
      <p:pic>
        <p:nvPicPr>
          <p:cNvPr id="48" name="Image 46" descr="preencoded.png"/>
          <p:cNvPicPr>
            <a:picLocks noChangeAspect="1"/>
          </p:cNvPicPr>
          <p:nvPr/>
        </p:nvPicPr>
        <p:blipFill>
          <a:blip r:embed="rId30"/>
          <a:stretch>
            <a:fillRect/>
          </a:stretch>
        </p:blipFill>
        <p:spPr>
          <a:xfrm>
            <a:off x="8783985" y="1911974"/>
            <a:ext cx="1493490" cy="914400"/>
          </a:xfrm>
          <a:prstGeom prst="rect">
            <a:avLst/>
          </a:prstGeom>
        </p:spPr>
      </p:pic>
      <p:pic>
        <p:nvPicPr>
          <p:cNvPr id="49" name="Image 47" descr="preencoded.png"/>
          <p:cNvPicPr>
            <a:picLocks noChangeAspect="1"/>
          </p:cNvPicPr>
          <p:nvPr/>
        </p:nvPicPr>
        <p:blipFill>
          <a:blip r:embed="rId31"/>
          <a:stretch>
            <a:fillRect/>
          </a:stretch>
        </p:blipFill>
        <p:spPr>
          <a:xfrm>
            <a:off x="10277475" y="1911974"/>
            <a:ext cx="1304925" cy="914400"/>
          </a:xfrm>
          <a:prstGeom prst="rect">
            <a:avLst/>
          </a:prstGeom>
        </p:spPr>
      </p:pic>
      <p:pic>
        <p:nvPicPr>
          <p:cNvPr id="50" name="Image 48" descr="preencoded.png"/>
          <p:cNvPicPr>
            <a:picLocks noChangeAspect="1"/>
          </p:cNvPicPr>
          <p:nvPr/>
        </p:nvPicPr>
        <p:blipFill>
          <a:blip r:embed="rId24"/>
          <a:stretch>
            <a:fillRect/>
          </a:stretch>
        </p:blipFill>
        <p:spPr>
          <a:xfrm>
            <a:off x="6362700" y="2826374"/>
            <a:ext cx="5219700" cy="647700"/>
          </a:xfrm>
          <a:prstGeom prst="rect">
            <a:avLst/>
          </a:prstGeom>
        </p:spPr>
      </p:pic>
      <p:pic>
        <p:nvPicPr>
          <p:cNvPr id="51" name="Image 49" descr="preencoded.png"/>
          <p:cNvPicPr>
            <a:picLocks noChangeAspect="1"/>
          </p:cNvPicPr>
          <p:nvPr/>
        </p:nvPicPr>
        <p:blipFill>
          <a:blip r:embed="rId32"/>
          <a:stretch>
            <a:fillRect/>
          </a:stretch>
        </p:blipFill>
        <p:spPr>
          <a:xfrm>
            <a:off x="6362700" y="2826374"/>
            <a:ext cx="1350318" cy="647700"/>
          </a:xfrm>
          <a:prstGeom prst="rect">
            <a:avLst/>
          </a:prstGeom>
        </p:spPr>
      </p:pic>
      <p:pic>
        <p:nvPicPr>
          <p:cNvPr id="52" name="Image 50" descr="preencoded.png"/>
          <p:cNvPicPr>
            <a:picLocks noChangeAspect="1"/>
          </p:cNvPicPr>
          <p:nvPr/>
        </p:nvPicPr>
        <p:blipFill>
          <a:blip r:embed="rId33"/>
          <a:stretch>
            <a:fillRect/>
          </a:stretch>
        </p:blipFill>
        <p:spPr>
          <a:xfrm>
            <a:off x="7713018" y="2826374"/>
            <a:ext cx="1070967" cy="647700"/>
          </a:xfrm>
          <a:prstGeom prst="rect">
            <a:avLst/>
          </a:prstGeom>
        </p:spPr>
      </p:pic>
      <p:pic>
        <p:nvPicPr>
          <p:cNvPr id="53" name="Image 51" descr="preencoded.png"/>
          <p:cNvPicPr>
            <a:picLocks noChangeAspect="1"/>
          </p:cNvPicPr>
          <p:nvPr/>
        </p:nvPicPr>
        <p:blipFill>
          <a:blip r:embed="rId34"/>
          <a:stretch>
            <a:fillRect/>
          </a:stretch>
        </p:blipFill>
        <p:spPr>
          <a:xfrm>
            <a:off x="7855893" y="3064499"/>
            <a:ext cx="95250" cy="152400"/>
          </a:xfrm>
          <a:prstGeom prst="rect">
            <a:avLst/>
          </a:prstGeom>
        </p:spPr>
      </p:pic>
      <p:pic>
        <p:nvPicPr>
          <p:cNvPr id="54" name="Image 52" descr="preencoded.png"/>
          <p:cNvPicPr>
            <a:picLocks noChangeAspect="1"/>
          </p:cNvPicPr>
          <p:nvPr/>
        </p:nvPicPr>
        <p:blipFill>
          <a:blip r:embed="rId35"/>
          <a:stretch>
            <a:fillRect/>
          </a:stretch>
        </p:blipFill>
        <p:spPr>
          <a:xfrm>
            <a:off x="8783985" y="2826374"/>
            <a:ext cx="1493490" cy="647700"/>
          </a:xfrm>
          <a:prstGeom prst="rect">
            <a:avLst/>
          </a:prstGeom>
        </p:spPr>
      </p:pic>
      <p:pic>
        <p:nvPicPr>
          <p:cNvPr id="55" name="Image 53" descr="preencoded.png"/>
          <p:cNvPicPr>
            <a:picLocks noChangeAspect="1"/>
          </p:cNvPicPr>
          <p:nvPr/>
        </p:nvPicPr>
        <p:blipFill>
          <a:blip r:embed="rId34"/>
          <a:stretch>
            <a:fillRect/>
          </a:stretch>
        </p:blipFill>
        <p:spPr>
          <a:xfrm>
            <a:off x="8926860" y="3064499"/>
            <a:ext cx="95250" cy="152400"/>
          </a:xfrm>
          <a:prstGeom prst="rect">
            <a:avLst/>
          </a:prstGeom>
        </p:spPr>
      </p:pic>
      <p:pic>
        <p:nvPicPr>
          <p:cNvPr id="56" name="Image 54" descr="preencoded.png"/>
          <p:cNvPicPr>
            <a:picLocks noChangeAspect="1"/>
          </p:cNvPicPr>
          <p:nvPr/>
        </p:nvPicPr>
        <p:blipFill>
          <a:blip r:embed="rId36"/>
          <a:stretch>
            <a:fillRect/>
          </a:stretch>
        </p:blipFill>
        <p:spPr>
          <a:xfrm>
            <a:off x="10277475" y="2826374"/>
            <a:ext cx="1304925" cy="647700"/>
          </a:xfrm>
          <a:prstGeom prst="rect">
            <a:avLst/>
          </a:prstGeom>
        </p:spPr>
      </p:pic>
      <p:pic>
        <p:nvPicPr>
          <p:cNvPr id="57" name="Image 55" descr="preencoded.png"/>
          <p:cNvPicPr>
            <a:picLocks noChangeAspect="1"/>
          </p:cNvPicPr>
          <p:nvPr/>
        </p:nvPicPr>
        <p:blipFill>
          <a:blip r:embed="rId34"/>
          <a:stretch>
            <a:fillRect/>
          </a:stretch>
        </p:blipFill>
        <p:spPr>
          <a:xfrm>
            <a:off x="10420350" y="3064499"/>
            <a:ext cx="95250" cy="152400"/>
          </a:xfrm>
          <a:prstGeom prst="rect">
            <a:avLst/>
          </a:prstGeom>
        </p:spPr>
      </p:pic>
      <p:pic>
        <p:nvPicPr>
          <p:cNvPr id="58" name="Image 56" descr="preencoded.png"/>
          <p:cNvPicPr>
            <a:picLocks noChangeAspect="1"/>
          </p:cNvPicPr>
          <p:nvPr/>
        </p:nvPicPr>
        <p:blipFill>
          <a:blip r:embed="rId37"/>
          <a:stretch>
            <a:fillRect/>
          </a:stretch>
        </p:blipFill>
        <p:spPr>
          <a:xfrm>
            <a:off x="6362700" y="3474074"/>
            <a:ext cx="5219700" cy="876300"/>
          </a:xfrm>
          <a:prstGeom prst="rect">
            <a:avLst/>
          </a:prstGeom>
        </p:spPr>
      </p:pic>
      <p:pic>
        <p:nvPicPr>
          <p:cNvPr id="59" name="Image 57" descr="preencoded.png"/>
          <p:cNvPicPr>
            <a:picLocks noChangeAspect="1"/>
          </p:cNvPicPr>
          <p:nvPr/>
        </p:nvPicPr>
        <p:blipFill>
          <a:blip r:embed="rId38"/>
          <a:stretch>
            <a:fillRect/>
          </a:stretch>
        </p:blipFill>
        <p:spPr>
          <a:xfrm>
            <a:off x="6362700" y="3474074"/>
            <a:ext cx="1350318" cy="876300"/>
          </a:xfrm>
          <a:prstGeom prst="rect">
            <a:avLst/>
          </a:prstGeom>
        </p:spPr>
      </p:pic>
      <p:pic>
        <p:nvPicPr>
          <p:cNvPr id="60" name="Image 58" descr="preencoded.png"/>
          <p:cNvPicPr>
            <a:picLocks noChangeAspect="1"/>
          </p:cNvPicPr>
          <p:nvPr/>
        </p:nvPicPr>
        <p:blipFill>
          <a:blip r:embed="rId39"/>
          <a:stretch>
            <a:fillRect/>
          </a:stretch>
        </p:blipFill>
        <p:spPr>
          <a:xfrm>
            <a:off x="7713018" y="3474074"/>
            <a:ext cx="1070967" cy="876300"/>
          </a:xfrm>
          <a:prstGeom prst="rect">
            <a:avLst/>
          </a:prstGeom>
        </p:spPr>
      </p:pic>
      <p:pic>
        <p:nvPicPr>
          <p:cNvPr id="61" name="Image 59" descr="preencoded.png"/>
          <p:cNvPicPr>
            <a:picLocks noChangeAspect="1"/>
          </p:cNvPicPr>
          <p:nvPr/>
        </p:nvPicPr>
        <p:blipFill>
          <a:blip r:embed="rId40"/>
          <a:stretch>
            <a:fillRect/>
          </a:stretch>
        </p:blipFill>
        <p:spPr>
          <a:xfrm>
            <a:off x="7855893" y="3712199"/>
            <a:ext cx="95250" cy="152400"/>
          </a:xfrm>
          <a:prstGeom prst="rect">
            <a:avLst/>
          </a:prstGeom>
        </p:spPr>
      </p:pic>
      <p:pic>
        <p:nvPicPr>
          <p:cNvPr id="62" name="Image 60" descr="preencoded.png"/>
          <p:cNvPicPr>
            <a:picLocks noChangeAspect="1"/>
          </p:cNvPicPr>
          <p:nvPr/>
        </p:nvPicPr>
        <p:blipFill>
          <a:blip r:embed="rId41"/>
          <a:stretch>
            <a:fillRect/>
          </a:stretch>
        </p:blipFill>
        <p:spPr>
          <a:xfrm>
            <a:off x="8783985" y="3474074"/>
            <a:ext cx="1493490" cy="876300"/>
          </a:xfrm>
          <a:prstGeom prst="rect">
            <a:avLst/>
          </a:prstGeom>
        </p:spPr>
      </p:pic>
      <p:pic>
        <p:nvPicPr>
          <p:cNvPr id="63" name="Image 61" descr="preencoded.png"/>
          <p:cNvPicPr>
            <a:picLocks noChangeAspect="1"/>
          </p:cNvPicPr>
          <p:nvPr/>
        </p:nvPicPr>
        <p:blipFill>
          <a:blip r:embed="rId34"/>
          <a:stretch>
            <a:fillRect/>
          </a:stretch>
        </p:blipFill>
        <p:spPr>
          <a:xfrm>
            <a:off x="8926860" y="3597899"/>
            <a:ext cx="95250" cy="152400"/>
          </a:xfrm>
          <a:prstGeom prst="rect">
            <a:avLst/>
          </a:prstGeom>
        </p:spPr>
      </p:pic>
      <p:pic>
        <p:nvPicPr>
          <p:cNvPr id="64" name="Image 62" descr="preencoded.png"/>
          <p:cNvPicPr>
            <a:picLocks noChangeAspect="1"/>
          </p:cNvPicPr>
          <p:nvPr/>
        </p:nvPicPr>
        <p:blipFill>
          <a:blip r:embed="rId42"/>
          <a:stretch>
            <a:fillRect/>
          </a:stretch>
        </p:blipFill>
        <p:spPr>
          <a:xfrm>
            <a:off x="10277475" y="3474074"/>
            <a:ext cx="1304925" cy="876300"/>
          </a:xfrm>
          <a:prstGeom prst="rect">
            <a:avLst/>
          </a:prstGeom>
        </p:spPr>
      </p:pic>
      <p:pic>
        <p:nvPicPr>
          <p:cNvPr id="65" name="Image 63" descr="preencoded.png"/>
          <p:cNvPicPr>
            <a:picLocks noChangeAspect="1"/>
          </p:cNvPicPr>
          <p:nvPr/>
        </p:nvPicPr>
        <p:blipFill>
          <a:blip r:embed="rId34"/>
          <a:stretch>
            <a:fillRect/>
          </a:stretch>
        </p:blipFill>
        <p:spPr>
          <a:xfrm>
            <a:off x="10420350" y="3826499"/>
            <a:ext cx="95250" cy="152400"/>
          </a:xfrm>
          <a:prstGeom prst="rect">
            <a:avLst/>
          </a:prstGeom>
        </p:spPr>
      </p:pic>
      <p:pic>
        <p:nvPicPr>
          <p:cNvPr id="66" name="Image 64" descr="preencoded.png"/>
          <p:cNvPicPr>
            <a:picLocks noChangeAspect="1"/>
          </p:cNvPicPr>
          <p:nvPr/>
        </p:nvPicPr>
        <p:blipFill>
          <a:blip r:embed="rId24"/>
          <a:stretch>
            <a:fillRect/>
          </a:stretch>
        </p:blipFill>
        <p:spPr>
          <a:xfrm>
            <a:off x="6362700" y="4350374"/>
            <a:ext cx="5219700" cy="647700"/>
          </a:xfrm>
          <a:prstGeom prst="rect">
            <a:avLst/>
          </a:prstGeom>
        </p:spPr>
      </p:pic>
      <p:pic>
        <p:nvPicPr>
          <p:cNvPr id="67" name="Image 65" descr="preencoded.png"/>
          <p:cNvPicPr>
            <a:picLocks noChangeAspect="1"/>
          </p:cNvPicPr>
          <p:nvPr/>
        </p:nvPicPr>
        <p:blipFill>
          <a:blip r:embed="rId32"/>
          <a:stretch>
            <a:fillRect/>
          </a:stretch>
        </p:blipFill>
        <p:spPr>
          <a:xfrm>
            <a:off x="6362700" y="4350374"/>
            <a:ext cx="1350318" cy="647700"/>
          </a:xfrm>
          <a:prstGeom prst="rect">
            <a:avLst/>
          </a:prstGeom>
        </p:spPr>
      </p:pic>
      <p:pic>
        <p:nvPicPr>
          <p:cNvPr id="68" name="Image 66" descr="preencoded.png"/>
          <p:cNvPicPr>
            <a:picLocks noChangeAspect="1"/>
          </p:cNvPicPr>
          <p:nvPr/>
        </p:nvPicPr>
        <p:blipFill>
          <a:blip r:embed="rId33"/>
          <a:stretch>
            <a:fillRect/>
          </a:stretch>
        </p:blipFill>
        <p:spPr>
          <a:xfrm>
            <a:off x="7713018" y="4350374"/>
            <a:ext cx="1070967" cy="647700"/>
          </a:xfrm>
          <a:prstGeom prst="rect">
            <a:avLst/>
          </a:prstGeom>
        </p:spPr>
      </p:pic>
      <p:pic>
        <p:nvPicPr>
          <p:cNvPr id="69" name="Image 67" descr="preencoded.png"/>
          <p:cNvPicPr>
            <a:picLocks noChangeAspect="1"/>
          </p:cNvPicPr>
          <p:nvPr/>
        </p:nvPicPr>
        <p:blipFill>
          <a:blip r:embed="rId17"/>
          <a:stretch>
            <a:fillRect/>
          </a:stretch>
        </p:blipFill>
        <p:spPr>
          <a:xfrm>
            <a:off x="7855893" y="4588499"/>
            <a:ext cx="152400" cy="152400"/>
          </a:xfrm>
          <a:prstGeom prst="rect">
            <a:avLst/>
          </a:prstGeom>
        </p:spPr>
      </p:pic>
      <p:pic>
        <p:nvPicPr>
          <p:cNvPr id="70" name="Image 68" descr="preencoded.png"/>
          <p:cNvPicPr>
            <a:picLocks noChangeAspect="1"/>
          </p:cNvPicPr>
          <p:nvPr/>
        </p:nvPicPr>
        <p:blipFill>
          <a:blip r:embed="rId35"/>
          <a:stretch>
            <a:fillRect/>
          </a:stretch>
        </p:blipFill>
        <p:spPr>
          <a:xfrm>
            <a:off x="8783985" y="4350374"/>
            <a:ext cx="1493490" cy="647700"/>
          </a:xfrm>
          <a:prstGeom prst="rect">
            <a:avLst/>
          </a:prstGeom>
        </p:spPr>
      </p:pic>
      <p:pic>
        <p:nvPicPr>
          <p:cNvPr id="71" name="Image 69" descr="preencoded.png"/>
          <p:cNvPicPr>
            <a:picLocks noChangeAspect="1"/>
          </p:cNvPicPr>
          <p:nvPr/>
        </p:nvPicPr>
        <p:blipFill>
          <a:blip r:embed="rId22"/>
          <a:stretch>
            <a:fillRect/>
          </a:stretch>
        </p:blipFill>
        <p:spPr>
          <a:xfrm>
            <a:off x="8926860" y="4588499"/>
            <a:ext cx="95250" cy="152400"/>
          </a:xfrm>
          <a:prstGeom prst="rect">
            <a:avLst/>
          </a:prstGeom>
        </p:spPr>
      </p:pic>
      <p:pic>
        <p:nvPicPr>
          <p:cNvPr id="72" name="Image 70" descr="preencoded.png"/>
          <p:cNvPicPr>
            <a:picLocks noChangeAspect="1"/>
          </p:cNvPicPr>
          <p:nvPr/>
        </p:nvPicPr>
        <p:blipFill>
          <a:blip r:embed="rId36"/>
          <a:stretch>
            <a:fillRect/>
          </a:stretch>
        </p:blipFill>
        <p:spPr>
          <a:xfrm>
            <a:off x="10277475" y="4350374"/>
            <a:ext cx="1304925" cy="647700"/>
          </a:xfrm>
          <a:prstGeom prst="rect">
            <a:avLst/>
          </a:prstGeom>
        </p:spPr>
      </p:pic>
      <p:pic>
        <p:nvPicPr>
          <p:cNvPr id="73" name="Image 71" descr="preencoded.png"/>
          <p:cNvPicPr>
            <a:picLocks noChangeAspect="1"/>
          </p:cNvPicPr>
          <p:nvPr/>
        </p:nvPicPr>
        <p:blipFill>
          <a:blip r:embed="rId43"/>
          <a:stretch>
            <a:fillRect/>
          </a:stretch>
        </p:blipFill>
        <p:spPr>
          <a:xfrm>
            <a:off x="10420350" y="4588499"/>
            <a:ext cx="152400" cy="152400"/>
          </a:xfrm>
          <a:prstGeom prst="rect">
            <a:avLst/>
          </a:prstGeom>
        </p:spPr>
      </p:pic>
      <p:pic>
        <p:nvPicPr>
          <p:cNvPr id="74" name="Image 72" descr="preencoded.png"/>
          <p:cNvPicPr>
            <a:picLocks noChangeAspect="1"/>
          </p:cNvPicPr>
          <p:nvPr/>
        </p:nvPicPr>
        <p:blipFill>
          <a:blip r:embed="rId18"/>
          <a:stretch>
            <a:fillRect/>
          </a:stretch>
        </p:blipFill>
        <p:spPr>
          <a:xfrm>
            <a:off x="6362700" y="4998074"/>
            <a:ext cx="5219700" cy="647700"/>
          </a:xfrm>
          <a:prstGeom prst="rect">
            <a:avLst/>
          </a:prstGeom>
        </p:spPr>
      </p:pic>
      <p:pic>
        <p:nvPicPr>
          <p:cNvPr id="75" name="Image 73" descr="preencoded.png"/>
          <p:cNvPicPr>
            <a:picLocks noChangeAspect="1"/>
          </p:cNvPicPr>
          <p:nvPr/>
        </p:nvPicPr>
        <p:blipFill>
          <a:blip r:embed="rId32"/>
          <a:stretch>
            <a:fillRect/>
          </a:stretch>
        </p:blipFill>
        <p:spPr>
          <a:xfrm>
            <a:off x="6362700" y="4998074"/>
            <a:ext cx="1350318" cy="647700"/>
          </a:xfrm>
          <a:prstGeom prst="rect">
            <a:avLst/>
          </a:prstGeom>
        </p:spPr>
      </p:pic>
      <p:pic>
        <p:nvPicPr>
          <p:cNvPr id="76" name="Image 74" descr="preencoded.png"/>
          <p:cNvPicPr>
            <a:picLocks noChangeAspect="1"/>
          </p:cNvPicPr>
          <p:nvPr/>
        </p:nvPicPr>
        <p:blipFill>
          <a:blip r:embed="rId44"/>
          <a:stretch>
            <a:fillRect/>
          </a:stretch>
        </p:blipFill>
        <p:spPr>
          <a:xfrm>
            <a:off x="7713018" y="4998074"/>
            <a:ext cx="1070967" cy="647700"/>
          </a:xfrm>
          <a:prstGeom prst="rect">
            <a:avLst/>
          </a:prstGeom>
        </p:spPr>
      </p:pic>
      <p:pic>
        <p:nvPicPr>
          <p:cNvPr id="77" name="Image 75" descr="preencoded.png"/>
          <p:cNvPicPr>
            <a:picLocks noChangeAspect="1"/>
          </p:cNvPicPr>
          <p:nvPr/>
        </p:nvPicPr>
        <p:blipFill>
          <a:blip r:embed="rId45"/>
          <a:stretch>
            <a:fillRect/>
          </a:stretch>
        </p:blipFill>
        <p:spPr>
          <a:xfrm>
            <a:off x="7855893" y="5121899"/>
            <a:ext cx="171450" cy="152400"/>
          </a:xfrm>
          <a:prstGeom prst="rect">
            <a:avLst/>
          </a:prstGeom>
        </p:spPr>
      </p:pic>
      <p:pic>
        <p:nvPicPr>
          <p:cNvPr id="78" name="Image 76" descr="preencoded.png"/>
          <p:cNvPicPr>
            <a:picLocks noChangeAspect="1"/>
          </p:cNvPicPr>
          <p:nvPr/>
        </p:nvPicPr>
        <p:blipFill>
          <a:blip r:embed="rId46"/>
          <a:stretch>
            <a:fillRect/>
          </a:stretch>
        </p:blipFill>
        <p:spPr>
          <a:xfrm>
            <a:off x="8783985" y="4998074"/>
            <a:ext cx="1493490" cy="647700"/>
          </a:xfrm>
          <a:prstGeom prst="rect">
            <a:avLst/>
          </a:prstGeom>
        </p:spPr>
      </p:pic>
      <p:pic>
        <p:nvPicPr>
          <p:cNvPr id="79" name="Image 77" descr="preencoded.png"/>
          <p:cNvPicPr>
            <a:picLocks noChangeAspect="1"/>
          </p:cNvPicPr>
          <p:nvPr/>
        </p:nvPicPr>
        <p:blipFill>
          <a:blip r:embed="rId47"/>
          <a:stretch>
            <a:fillRect/>
          </a:stretch>
        </p:blipFill>
        <p:spPr>
          <a:xfrm>
            <a:off x="8926860" y="5121899"/>
            <a:ext cx="171450" cy="152400"/>
          </a:xfrm>
          <a:prstGeom prst="rect">
            <a:avLst/>
          </a:prstGeom>
        </p:spPr>
      </p:pic>
      <p:pic>
        <p:nvPicPr>
          <p:cNvPr id="80" name="Image 78" descr="preencoded.png"/>
          <p:cNvPicPr>
            <a:picLocks noChangeAspect="1"/>
          </p:cNvPicPr>
          <p:nvPr/>
        </p:nvPicPr>
        <p:blipFill>
          <a:blip r:embed="rId36"/>
          <a:stretch>
            <a:fillRect/>
          </a:stretch>
        </p:blipFill>
        <p:spPr>
          <a:xfrm>
            <a:off x="10277475" y="4998074"/>
            <a:ext cx="1304925" cy="647700"/>
          </a:xfrm>
          <a:prstGeom prst="rect">
            <a:avLst/>
          </a:prstGeom>
        </p:spPr>
      </p:pic>
      <p:pic>
        <p:nvPicPr>
          <p:cNvPr id="81" name="Image 79" descr="preencoded.png"/>
          <p:cNvPicPr>
            <a:picLocks noChangeAspect="1"/>
          </p:cNvPicPr>
          <p:nvPr/>
        </p:nvPicPr>
        <p:blipFill>
          <a:blip r:embed="rId47"/>
          <a:stretch>
            <a:fillRect/>
          </a:stretch>
        </p:blipFill>
        <p:spPr>
          <a:xfrm>
            <a:off x="10420350" y="5236199"/>
            <a:ext cx="171450" cy="152400"/>
          </a:xfrm>
          <a:prstGeom prst="rect">
            <a:avLst/>
          </a:prstGeom>
        </p:spPr>
      </p:pic>
      <p:sp>
        <p:nvSpPr>
          <p:cNvPr id="83" name="Text 0"/>
          <p:cNvSpPr/>
          <p:nvPr/>
        </p:nvSpPr>
        <p:spPr>
          <a:xfrm>
            <a:off x="457200" y="111957"/>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1F2937"/>
                </a:solidFill>
                <a:latin typeface="ui-sans-serif" pitchFamily="34" charset="0"/>
                <a:ea typeface="ui-sans-serif" pitchFamily="34" charset="-122"/>
                <a:cs typeface="ui-sans-serif" pitchFamily="34" charset="-120"/>
              </a:rPr>
              <a:t>ECR vs. Other Container Registries</a:t>
            </a:r>
            <a:endParaRPr lang="en-US" sz="2700" dirty="0"/>
          </a:p>
        </p:txBody>
      </p:sp>
      <p:sp>
        <p:nvSpPr>
          <p:cNvPr id="84" name="Text 1"/>
          <p:cNvSpPr/>
          <p:nvPr/>
        </p:nvSpPr>
        <p:spPr>
          <a:xfrm>
            <a:off x="457200" y="616574"/>
            <a:ext cx="112776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When choosing a container registry, it's important to understand how Amazon ECR compares to other options in terms of features, security, pricing, and performance.</a:t>
            </a:r>
            <a:endParaRPr lang="en-US" sz="1350" dirty="0"/>
          </a:p>
        </p:txBody>
      </p:sp>
      <p:sp>
        <p:nvSpPr>
          <p:cNvPr id="85" name="Text 2"/>
          <p:cNvSpPr/>
          <p:nvPr/>
        </p:nvSpPr>
        <p:spPr>
          <a:xfrm>
            <a:off x="876300" y="1530974"/>
            <a:ext cx="52197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Features &amp; Security</a:t>
            </a:r>
            <a:endParaRPr lang="en-US" sz="1500" dirty="0"/>
          </a:p>
        </p:txBody>
      </p:sp>
      <p:sp>
        <p:nvSpPr>
          <p:cNvPr id="86" name="Text 3"/>
          <p:cNvSpPr/>
          <p:nvPr/>
        </p:nvSpPr>
        <p:spPr>
          <a:xfrm>
            <a:off x="752475" y="1911974"/>
            <a:ext cx="1466106" cy="9144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Feature</a:t>
            </a:r>
            <a:endParaRPr lang="en-US" sz="1200" dirty="0"/>
          </a:p>
        </p:txBody>
      </p:sp>
      <p:sp>
        <p:nvSpPr>
          <p:cNvPr id="87" name="Text 4"/>
          <p:cNvSpPr/>
          <p:nvPr/>
        </p:nvSpPr>
        <p:spPr>
          <a:xfrm>
            <a:off x="2218581" y="1911974"/>
            <a:ext cx="1000869" cy="9144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Amazon ECR</a:t>
            </a:r>
            <a:endParaRPr lang="en-US" sz="1200" dirty="0"/>
          </a:p>
        </p:txBody>
      </p:sp>
      <p:sp>
        <p:nvSpPr>
          <p:cNvPr id="88" name="Text 5"/>
          <p:cNvSpPr/>
          <p:nvPr/>
        </p:nvSpPr>
        <p:spPr>
          <a:xfrm>
            <a:off x="3219450" y="1911974"/>
            <a:ext cx="1803261" cy="9144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Docker Hub</a:t>
            </a:r>
            <a:endParaRPr lang="en-US" sz="1200" dirty="0"/>
          </a:p>
        </p:txBody>
      </p:sp>
      <p:sp>
        <p:nvSpPr>
          <p:cNvPr id="89" name="Text 6"/>
          <p:cNvSpPr/>
          <p:nvPr/>
        </p:nvSpPr>
        <p:spPr>
          <a:xfrm>
            <a:off x="4722168" y="1911974"/>
            <a:ext cx="1250007" cy="9144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GitHub Container Registry</a:t>
            </a:r>
            <a:endParaRPr lang="en-US" sz="1200" dirty="0"/>
          </a:p>
        </p:txBody>
      </p:sp>
      <p:sp>
        <p:nvSpPr>
          <p:cNvPr id="90" name="Text 7"/>
          <p:cNvSpPr/>
          <p:nvPr/>
        </p:nvSpPr>
        <p:spPr>
          <a:xfrm>
            <a:off x="752475" y="2826374"/>
            <a:ext cx="1759327" cy="8763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Authentication</a:t>
            </a:r>
            <a:endParaRPr lang="en-US" sz="1200" dirty="0"/>
          </a:p>
        </p:txBody>
      </p:sp>
      <p:sp>
        <p:nvSpPr>
          <p:cNvPr id="91" name="Text 8"/>
          <p:cNvSpPr/>
          <p:nvPr/>
        </p:nvSpPr>
        <p:spPr>
          <a:xfrm>
            <a:off x="2447181" y="2826374"/>
            <a:ext cx="1000869" cy="8763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AWS IAM</a:t>
            </a:r>
            <a:endParaRPr lang="en-US" sz="1200" dirty="0"/>
          </a:p>
        </p:txBody>
      </p:sp>
      <p:sp>
        <p:nvSpPr>
          <p:cNvPr id="92" name="Text 9"/>
          <p:cNvSpPr/>
          <p:nvPr/>
        </p:nvSpPr>
        <p:spPr>
          <a:xfrm>
            <a:off x="3219450" y="2826374"/>
            <a:ext cx="1803261" cy="8763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Password/Token</a:t>
            </a:r>
            <a:endParaRPr lang="en-US" sz="1200" dirty="0"/>
          </a:p>
        </p:txBody>
      </p:sp>
      <p:sp>
        <p:nvSpPr>
          <p:cNvPr id="93" name="Text 10"/>
          <p:cNvSpPr/>
          <p:nvPr/>
        </p:nvSpPr>
        <p:spPr>
          <a:xfrm>
            <a:off x="4950768" y="2826374"/>
            <a:ext cx="1250007" cy="8763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Personal Access Token</a:t>
            </a:r>
            <a:endParaRPr lang="en-US" sz="1200" dirty="0"/>
          </a:p>
        </p:txBody>
      </p:sp>
      <p:sp>
        <p:nvSpPr>
          <p:cNvPr id="94" name="Text 11"/>
          <p:cNvSpPr/>
          <p:nvPr/>
        </p:nvSpPr>
        <p:spPr>
          <a:xfrm>
            <a:off x="752475" y="3702674"/>
            <a:ext cx="1466106"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MFA for Image Push/Pull</a:t>
            </a:r>
            <a:endParaRPr lang="en-US" sz="1200" dirty="0"/>
          </a:p>
        </p:txBody>
      </p:sp>
      <p:sp>
        <p:nvSpPr>
          <p:cNvPr id="95" name="Text 12"/>
          <p:cNvSpPr/>
          <p:nvPr/>
        </p:nvSpPr>
        <p:spPr>
          <a:xfrm>
            <a:off x="2447181" y="3702674"/>
            <a:ext cx="1000869"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Yes</a:t>
            </a:r>
            <a:endParaRPr lang="en-US" sz="1200" dirty="0"/>
          </a:p>
        </p:txBody>
      </p:sp>
      <p:sp>
        <p:nvSpPr>
          <p:cNvPr id="96" name="Text 13"/>
          <p:cNvSpPr/>
          <p:nvPr/>
        </p:nvSpPr>
        <p:spPr>
          <a:xfrm>
            <a:off x="3390900" y="3702674"/>
            <a:ext cx="1502718"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No</a:t>
            </a:r>
            <a:endParaRPr lang="en-US" sz="1200" dirty="0"/>
          </a:p>
        </p:txBody>
      </p:sp>
      <p:sp>
        <p:nvSpPr>
          <p:cNvPr id="97" name="Text 14"/>
          <p:cNvSpPr/>
          <p:nvPr/>
        </p:nvSpPr>
        <p:spPr>
          <a:xfrm>
            <a:off x="4893618" y="3702674"/>
            <a:ext cx="1250007"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No</a:t>
            </a:r>
            <a:endParaRPr lang="en-US" sz="1200" dirty="0"/>
          </a:p>
        </p:txBody>
      </p:sp>
      <p:sp>
        <p:nvSpPr>
          <p:cNvPr id="98" name="Text 15"/>
          <p:cNvSpPr/>
          <p:nvPr/>
        </p:nvSpPr>
        <p:spPr>
          <a:xfrm>
            <a:off x="752475" y="4350374"/>
            <a:ext cx="1466106"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Immutable Images</a:t>
            </a:r>
            <a:endParaRPr lang="en-US" sz="1200" dirty="0"/>
          </a:p>
        </p:txBody>
      </p:sp>
      <p:sp>
        <p:nvSpPr>
          <p:cNvPr id="99" name="Text 16"/>
          <p:cNvSpPr/>
          <p:nvPr/>
        </p:nvSpPr>
        <p:spPr>
          <a:xfrm>
            <a:off x="2447181" y="4350374"/>
            <a:ext cx="1000869"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Yes</a:t>
            </a:r>
            <a:endParaRPr lang="en-US" sz="1200" dirty="0"/>
          </a:p>
        </p:txBody>
      </p:sp>
      <p:sp>
        <p:nvSpPr>
          <p:cNvPr id="100" name="Text 17"/>
          <p:cNvSpPr/>
          <p:nvPr/>
        </p:nvSpPr>
        <p:spPr>
          <a:xfrm>
            <a:off x="3390900" y="4350374"/>
            <a:ext cx="1502718"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No</a:t>
            </a:r>
            <a:endParaRPr lang="en-US" sz="1200" dirty="0"/>
          </a:p>
        </p:txBody>
      </p:sp>
      <p:sp>
        <p:nvSpPr>
          <p:cNvPr id="101" name="Text 18"/>
          <p:cNvSpPr/>
          <p:nvPr/>
        </p:nvSpPr>
        <p:spPr>
          <a:xfrm>
            <a:off x="4893618" y="4350374"/>
            <a:ext cx="1250007"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No</a:t>
            </a:r>
            <a:endParaRPr lang="en-US" sz="1200" dirty="0"/>
          </a:p>
        </p:txBody>
      </p:sp>
      <p:sp>
        <p:nvSpPr>
          <p:cNvPr id="102" name="Text 19"/>
          <p:cNvSpPr/>
          <p:nvPr/>
        </p:nvSpPr>
        <p:spPr>
          <a:xfrm>
            <a:off x="752475" y="4998074"/>
            <a:ext cx="1466106"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Image Scanning</a:t>
            </a:r>
            <a:endParaRPr lang="en-US" sz="1200" dirty="0"/>
          </a:p>
        </p:txBody>
      </p:sp>
      <p:sp>
        <p:nvSpPr>
          <p:cNvPr id="103" name="Text 20"/>
          <p:cNvSpPr/>
          <p:nvPr/>
        </p:nvSpPr>
        <p:spPr>
          <a:xfrm>
            <a:off x="2447181" y="4998074"/>
            <a:ext cx="1000869"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Yes</a:t>
            </a:r>
            <a:endParaRPr lang="en-US" sz="1200" dirty="0"/>
          </a:p>
        </p:txBody>
      </p:sp>
      <p:sp>
        <p:nvSpPr>
          <p:cNvPr id="104" name="Text 21"/>
          <p:cNvSpPr/>
          <p:nvPr/>
        </p:nvSpPr>
        <p:spPr>
          <a:xfrm>
            <a:off x="3448050" y="4998074"/>
            <a:ext cx="1502718"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Yes (paid plans)</a:t>
            </a:r>
            <a:endParaRPr lang="en-US" sz="1200" dirty="0"/>
          </a:p>
        </p:txBody>
      </p:sp>
      <p:sp>
        <p:nvSpPr>
          <p:cNvPr id="105" name="Text 22"/>
          <p:cNvSpPr/>
          <p:nvPr/>
        </p:nvSpPr>
        <p:spPr>
          <a:xfrm>
            <a:off x="4893618" y="4998074"/>
            <a:ext cx="1250007"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No</a:t>
            </a:r>
            <a:endParaRPr lang="en-US" sz="1200" dirty="0"/>
          </a:p>
        </p:txBody>
      </p:sp>
      <p:sp>
        <p:nvSpPr>
          <p:cNvPr id="106" name="Text 23"/>
          <p:cNvSpPr/>
          <p:nvPr/>
        </p:nvSpPr>
        <p:spPr>
          <a:xfrm>
            <a:off x="6562725" y="1530974"/>
            <a:ext cx="52197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Pricing &amp; Performance</a:t>
            </a:r>
            <a:endParaRPr lang="en-US" sz="1500" dirty="0"/>
          </a:p>
        </p:txBody>
      </p:sp>
      <p:sp>
        <p:nvSpPr>
          <p:cNvPr id="107" name="Text 24"/>
          <p:cNvSpPr/>
          <p:nvPr/>
        </p:nvSpPr>
        <p:spPr>
          <a:xfrm>
            <a:off x="6505575" y="1911974"/>
            <a:ext cx="1350318" cy="9144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Pricing Component</a:t>
            </a:r>
            <a:endParaRPr lang="en-US" sz="1200" dirty="0"/>
          </a:p>
        </p:txBody>
      </p:sp>
      <p:sp>
        <p:nvSpPr>
          <p:cNvPr id="108" name="Text 25"/>
          <p:cNvSpPr/>
          <p:nvPr/>
        </p:nvSpPr>
        <p:spPr>
          <a:xfrm>
            <a:off x="7855893" y="1911974"/>
            <a:ext cx="1070967" cy="9144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Amazon ECR</a:t>
            </a:r>
            <a:endParaRPr lang="en-US" sz="1200" dirty="0"/>
          </a:p>
        </p:txBody>
      </p:sp>
      <p:sp>
        <p:nvSpPr>
          <p:cNvPr id="109" name="Text 26"/>
          <p:cNvSpPr/>
          <p:nvPr/>
        </p:nvSpPr>
        <p:spPr>
          <a:xfrm>
            <a:off x="8926860" y="1911974"/>
            <a:ext cx="1792188" cy="9144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Docker Hub</a:t>
            </a:r>
            <a:endParaRPr lang="en-US" sz="1200" dirty="0"/>
          </a:p>
        </p:txBody>
      </p:sp>
      <p:sp>
        <p:nvSpPr>
          <p:cNvPr id="110" name="Text 27"/>
          <p:cNvSpPr/>
          <p:nvPr/>
        </p:nvSpPr>
        <p:spPr>
          <a:xfrm>
            <a:off x="10420350" y="1911974"/>
            <a:ext cx="1304925" cy="9144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GitHub Container Registry</a:t>
            </a:r>
            <a:endParaRPr lang="en-US" sz="1200" dirty="0"/>
          </a:p>
        </p:txBody>
      </p:sp>
      <p:sp>
        <p:nvSpPr>
          <p:cNvPr id="111" name="Text 28"/>
          <p:cNvSpPr/>
          <p:nvPr/>
        </p:nvSpPr>
        <p:spPr>
          <a:xfrm>
            <a:off x="6505575" y="2826374"/>
            <a:ext cx="1350318"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Public Repository</a:t>
            </a:r>
            <a:endParaRPr lang="en-US" sz="1200" dirty="0"/>
          </a:p>
        </p:txBody>
      </p:sp>
      <p:sp>
        <p:nvSpPr>
          <p:cNvPr id="112" name="Text 29"/>
          <p:cNvSpPr/>
          <p:nvPr/>
        </p:nvSpPr>
        <p:spPr>
          <a:xfrm>
            <a:off x="8027343" y="2826374"/>
            <a:ext cx="1070967"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$0</a:t>
            </a:r>
            <a:endParaRPr lang="en-US" sz="1200" dirty="0"/>
          </a:p>
        </p:txBody>
      </p:sp>
      <p:sp>
        <p:nvSpPr>
          <p:cNvPr id="113" name="Text 30"/>
          <p:cNvSpPr/>
          <p:nvPr/>
        </p:nvSpPr>
        <p:spPr>
          <a:xfrm>
            <a:off x="9098310" y="2826374"/>
            <a:ext cx="1493490"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$0</a:t>
            </a:r>
            <a:endParaRPr lang="en-US" sz="1200" dirty="0"/>
          </a:p>
        </p:txBody>
      </p:sp>
      <p:sp>
        <p:nvSpPr>
          <p:cNvPr id="114" name="Text 31"/>
          <p:cNvSpPr/>
          <p:nvPr/>
        </p:nvSpPr>
        <p:spPr>
          <a:xfrm>
            <a:off x="10591800" y="2826374"/>
            <a:ext cx="1304925"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$0</a:t>
            </a:r>
            <a:endParaRPr lang="en-US" sz="1200" dirty="0"/>
          </a:p>
        </p:txBody>
      </p:sp>
      <p:sp>
        <p:nvSpPr>
          <p:cNvPr id="115" name="Text 32"/>
          <p:cNvSpPr/>
          <p:nvPr/>
        </p:nvSpPr>
        <p:spPr>
          <a:xfrm>
            <a:off x="6505575" y="3474074"/>
            <a:ext cx="1350318" cy="8763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Private Repository</a:t>
            </a:r>
            <a:endParaRPr lang="en-US" sz="1200" dirty="0"/>
          </a:p>
        </p:txBody>
      </p:sp>
      <p:sp>
        <p:nvSpPr>
          <p:cNvPr id="116" name="Text 33"/>
          <p:cNvSpPr/>
          <p:nvPr/>
        </p:nvSpPr>
        <p:spPr>
          <a:xfrm>
            <a:off x="7855893" y="3474074"/>
            <a:ext cx="1285161" cy="8763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$0.10/GB</a:t>
            </a:r>
            <a:endParaRPr lang="en-US" sz="1200" dirty="0"/>
          </a:p>
        </p:txBody>
      </p:sp>
      <p:sp>
        <p:nvSpPr>
          <p:cNvPr id="117" name="Text 34"/>
          <p:cNvSpPr/>
          <p:nvPr/>
        </p:nvSpPr>
        <p:spPr>
          <a:xfrm>
            <a:off x="8926860" y="3474074"/>
            <a:ext cx="1493490" cy="8763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$7/user/month (paid)</a:t>
            </a:r>
            <a:endParaRPr lang="en-US" sz="1200" dirty="0"/>
          </a:p>
        </p:txBody>
      </p:sp>
      <p:sp>
        <p:nvSpPr>
          <p:cNvPr id="118" name="Text 35"/>
          <p:cNvSpPr/>
          <p:nvPr/>
        </p:nvSpPr>
        <p:spPr>
          <a:xfrm>
            <a:off x="10591800" y="3474074"/>
            <a:ext cx="1565910" cy="8763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$0.25/GB</a:t>
            </a:r>
            <a:endParaRPr lang="en-US" sz="1200" dirty="0"/>
          </a:p>
        </p:txBody>
      </p:sp>
      <p:sp>
        <p:nvSpPr>
          <p:cNvPr id="119" name="Text 36"/>
          <p:cNvSpPr/>
          <p:nvPr/>
        </p:nvSpPr>
        <p:spPr>
          <a:xfrm>
            <a:off x="6505575" y="4350374"/>
            <a:ext cx="1350318"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SLA Availability</a:t>
            </a:r>
            <a:endParaRPr lang="en-US" sz="1200" dirty="0"/>
          </a:p>
        </p:txBody>
      </p:sp>
      <p:sp>
        <p:nvSpPr>
          <p:cNvPr id="120" name="Text 37"/>
          <p:cNvSpPr/>
          <p:nvPr/>
        </p:nvSpPr>
        <p:spPr>
          <a:xfrm>
            <a:off x="8084493" y="4350374"/>
            <a:ext cx="1285161"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99.9%</a:t>
            </a:r>
            <a:endParaRPr lang="en-US" sz="1200" dirty="0"/>
          </a:p>
        </p:txBody>
      </p:sp>
      <p:sp>
        <p:nvSpPr>
          <p:cNvPr id="121" name="Text 38"/>
          <p:cNvSpPr/>
          <p:nvPr/>
        </p:nvSpPr>
        <p:spPr>
          <a:xfrm>
            <a:off x="9098310" y="4350374"/>
            <a:ext cx="1493490"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n/a</a:t>
            </a:r>
            <a:endParaRPr lang="en-US" sz="1200" dirty="0"/>
          </a:p>
        </p:txBody>
      </p:sp>
      <p:sp>
        <p:nvSpPr>
          <p:cNvPr id="122" name="Text 39"/>
          <p:cNvSpPr/>
          <p:nvPr/>
        </p:nvSpPr>
        <p:spPr>
          <a:xfrm>
            <a:off x="10648950" y="4350374"/>
            <a:ext cx="1565910"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n/a (beta)</a:t>
            </a:r>
            <a:endParaRPr lang="en-US" sz="1200" dirty="0"/>
          </a:p>
        </p:txBody>
      </p:sp>
      <p:sp>
        <p:nvSpPr>
          <p:cNvPr id="123" name="Text 40"/>
          <p:cNvSpPr/>
          <p:nvPr/>
        </p:nvSpPr>
        <p:spPr>
          <a:xfrm>
            <a:off x="6505575" y="4998074"/>
            <a:ext cx="1350318"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Rate Limits (Pull)</a:t>
            </a:r>
            <a:endParaRPr lang="en-US" sz="1200" dirty="0"/>
          </a:p>
        </p:txBody>
      </p:sp>
      <p:sp>
        <p:nvSpPr>
          <p:cNvPr id="124" name="Text 41"/>
          <p:cNvSpPr/>
          <p:nvPr/>
        </p:nvSpPr>
        <p:spPr>
          <a:xfrm>
            <a:off x="7855893" y="4998074"/>
            <a:ext cx="1285161"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1,000/sec</a:t>
            </a:r>
            <a:endParaRPr lang="en-US" sz="1200" dirty="0"/>
          </a:p>
        </p:txBody>
      </p:sp>
      <p:sp>
        <p:nvSpPr>
          <p:cNvPr id="126" name="Text 43"/>
          <p:cNvSpPr/>
          <p:nvPr/>
        </p:nvSpPr>
        <p:spPr>
          <a:xfrm>
            <a:off x="10668000" y="4998074"/>
            <a:ext cx="1304925" cy="6477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n/a</a:t>
            </a:r>
            <a:endParaRPr lang="en-US" sz="1200" dirty="0"/>
          </a:p>
        </p:txBody>
      </p:sp>
      <p:sp>
        <p:nvSpPr>
          <p:cNvPr id="127" name="Text 44"/>
          <p:cNvSpPr/>
          <p:nvPr/>
        </p:nvSpPr>
        <p:spPr>
          <a:xfrm>
            <a:off x="571500" y="6064874"/>
            <a:ext cx="11049000" cy="4572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When to choose ECR:</a:t>
            </a:r>
            <a:r>
              <a:rPr lang="en-US" sz="1200" dirty="0">
                <a:solidFill>
                  <a:srgbClr val="374151"/>
                </a:solidFill>
                <a:latin typeface="ui-sans-serif" pitchFamily="34" charset="0"/>
                <a:ea typeface="ui-sans-serif" pitchFamily="34" charset="-122"/>
                <a:cs typeface="ui-sans-serif" pitchFamily="34" charset="-120"/>
              </a:rPr>
              <a:t> Amazon ECR is particularly well-suited for container-based workloads running on AWS, offering deep integration with other AWS services and robust security features.</a:t>
            </a:r>
            <a:endParaRPr lang="en-US" sz="1200" dirty="0"/>
          </a:p>
        </p:txBody>
      </p:sp>
      <p:sp>
        <p:nvSpPr>
          <p:cNvPr id="128" name="Text 45"/>
          <p:cNvSpPr/>
          <p:nvPr/>
        </p:nvSpPr>
        <p:spPr>
          <a:xfrm>
            <a:off x="457200" y="6556287"/>
            <a:ext cx="3723858"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Amazon Elastic Container Registry (ECR)</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73896-05FE-4A3D-F9F4-50D6F436E94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7D22AA5-C18A-22F9-3EA7-B31E08C1C979}"/>
              </a:ext>
            </a:extLst>
          </p:cNvPr>
          <p:cNvPicPr>
            <a:picLocks noChangeAspect="1"/>
          </p:cNvPicPr>
          <p:nvPr/>
        </p:nvPicPr>
        <p:blipFill>
          <a:blip r:embed="rId3"/>
          <a:stretch>
            <a:fillRect/>
          </a:stretch>
        </p:blipFill>
        <p:spPr>
          <a:xfrm>
            <a:off x="0" y="0"/>
            <a:ext cx="12192000" cy="7082287"/>
          </a:xfrm>
          <a:prstGeom prst="rect">
            <a:avLst/>
          </a:prstGeom>
        </p:spPr>
      </p:pic>
      <p:pic>
        <p:nvPicPr>
          <p:cNvPr id="3" name="Image 1" descr="preencoded.png">
            <a:extLst>
              <a:ext uri="{FF2B5EF4-FFF2-40B4-BE49-F238E27FC236}">
                <a16:creationId xmlns:a16="http://schemas.microsoft.com/office/drawing/2014/main" id="{5F443AB2-2A62-5057-BB01-E10CA9FFB43B}"/>
              </a:ext>
            </a:extLst>
          </p:cNvPr>
          <p:cNvPicPr>
            <a:picLocks noChangeAspect="1"/>
          </p:cNvPicPr>
          <p:nvPr/>
        </p:nvPicPr>
        <p:blipFill>
          <a:blip r:embed="rId4"/>
          <a:stretch>
            <a:fillRect/>
          </a:stretch>
        </p:blipFill>
        <p:spPr>
          <a:xfrm>
            <a:off x="4310063" y="1762125"/>
            <a:ext cx="3571875" cy="4286250"/>
          </a:xfrm>
          <a:prstGeom prst="rect">
            <a:avLst/>
          </a:prstGeom>
        </p:spPr>
      </p:pic>
      <p:pic>
        <p:nvPicPr>
          <p:cNvPr id="4" name="Image 2" descr="preencoded.png">
            <a:extLst>
              <a:ext uri="{FF2B5EF4-FFF2-40B4-BE49-F238E27FC236}">
                <a16:creationId xmlns:a16="http://schemas.microsoft.com/office/drawing/2014/main" id="{13939845-B16C-6B3D-94CC-BFEC100E7BA2}"/>
              </a:ext>
            </a:extLst>
          </p:cNvPr>
          <p:cNvPicPr>
            <a:picLocks noChangeAspect="1"/>
          </p:cNvPicPr>
          <p:nvPr/>
        </p:nvPicPr>
        <p:blipFill>
          <a:blip r:embed="rId5"/>
          <a:stretch>
            <a:fillRect/>
          </a:stretch>
        </p:blipFill>
        <p:spPr>
          <a:xfrm>
            <a:off x="5486400" y="1524000"/>
            <a:ext cx="1219200" cy="38100"/>
          </a:xfrm>
          <a:prstGeom prst="rect">
            <a:avLst/>
          </a:prstGeom>
        </p:spPr>
      </p:pic>
      <p:pic>
        <p:nvPicPr>
          <p:cNvPr id="5" name="Image 3" descr="preencoded.png">
            <a:extLst>
              <a:ext uri="{FF2B5EF4-FFF2-40B4-BE49-F238E27FC236}">
                <a16:creationId xmlns:a16="http://schemas.microsoft.com/office/drawing/2014/main" id="{9005A22E-B404-D5E2-6D26-377FC1EF62A1}"/>
              </a:ext>
            </a:extLst>
          </p:cNvPr>
          <p:cNvPicPr>
            <a:picLocks noChangeAspect="1"/>
          </p:cNvPicPr>
          <p:nvPr/>
        </p:nvPicPr>
        <p:blipFill>
          <a:blip r:embed="rId6"/>
          <a:stretch>
            <a:fillRect/>
          </a:stretch>
        </p:blipFill>
        <p:spPr>
          <a:xfrm>
            <a:off x="2267694" y="2171700"/>
            <a:ext cx="3494633" cy="1028700"/>
          </a:xfrm>
          <a:prstGeom prst="rect">
            <a:avLst/>
          </a:prstGeom>
        </p:spPr>
      </p:pic>
      <p:pic>
        <p:nvPicPr>
          <p:cNvPr id="6" name="Image 4" descr="preencoded.png">
            <a:extLst>
              <a:ext uri="{FF2B5EF4-FFF2-40B4-BE49-F238E27FC236}">
                <a16:creationId xmlns:a16="http://schemas.microsoft.com/office/drawing/2014/main" id="{B08BF1AA-2F86-2915-C1F8-8745D59A45FA}"/>
              </a:ext>
            </a:extLst>
          </p:cNvPr>
          <p:cNvPicPr>
            <a:picLocks noChangeAspect="1"/>
          </p:cNvPicPr>
          <p:nvPr/>
        </p:nvPicPr>
        <p:blipFill>
          <a:blip r:embed="rId7"/>
          <a:stretch>
            <a:fillRect/>
          </a:stretch>
        </p:blipFill>
        <p:spPr>
          <a:xfrm>
            <a:off x="3843486" y="2324100"/>
            <a:ext cx="342900" cy="381000"/>
          </a:xfrm>
          <a:prstGeom prst="rect">
            <a:avLst/>
          </a:prstGeom>
        </p:spPr>
      </p:pic>
      <p:pic>
        <p:nvPicPr>
          <p:cNvPr id="7" name="Image 5" descr="preencoded.png">
            <a:extLst>
              <a:ext uri="{FF2B5EF4-FFF2-40B4-BE49-F238E27FC236}">
                <a16:creationId xmlns:a16="http://schemas.microsoft.com/office/drawing/2014/main" id="{AA8A7E9B-2FD1-8141-80C9-3073361792AC}"/>
              </a:ext>
            </a:extLst>
          </p:cNvPr>
          <p:cNvPicPr>
            <a:picLocks noChangeAspect="1"/>
          </p:cNvPicPr>
          <p:nvPr/>
        </p:nvPicPr>
        <p:blipFill>
          <a:blip r:embed="rId8"/>
          <a:stretch>
            <a:fillRect/>
          </a:stretch>
        </p:blipFill>
        <p:spPr>
          <a:xfrm>
            <a:off x="6067127" y="2171700"/>
            <a:ext cx="3857030" cy="1028700"/>
          </a:xfrm>
          <a:prstGeom prst="rect">
            <a:avLst/>
          </a:prstGeom>
        </p:spPr>
      </p:pic>
      <p:pic>
        <p:nvPicPr>
          <p:cNvPr id="8" name="Image 6" descr="preencoded.png">
            <a:extLst>
              <a:ext uri="{FF2B5EF4-FFF2-40B4-BE49-F238E27FC236}">
                <a16:creationId xmlns:a16="http://schemas.microsoft.com/office/drawing/2014/main" id="{0876D5E8-29C2-0F31-5862-D7AB59CE96CF}"/>
              </a:ext>
            </a:extLst>
          </p:cNvPr>
          <p:cNvPicPr>
            <a:picLocks noChangeAspect="1"/>
          </p:cNvPicPr>
          <p:nvPr/>
        </p:nvPicPr>
        <p:blipFill>
          <a:blip r:embed="rId9"/>
          <a:stretch>
            <a:fillRect/>
          </a:stretch>
        </p:blipFill>
        <p:spPr>
          <a:xfrm>
            <a:off x="7843242" y="2324100"/>
            <a:ext cx="304800" cy="381000"/>
          </a:xfrm>
          <a:prstGeom prst="rect">
            <a:avLst/>
          </a:prstGeom>
        </p:spPr>
      </p:pic>
      <p:pic>
        <p:nvPicPr>
          <p:cNvPr id="9" name="Image 7" descr="preencoded.png">
            <a:extLst>
              <a:ext uri="{FF2B5EF4-FFF2-40B4-BE49-F238E27FC236}">
                <a16:creationId xmlns:a16="http://schemas.microsoft.com/office/drawing/2014/main" id="{C7D283FB-B3E7-76CC-D3EE-B6F5CE684116}"/>
              </a:ext>
            </a:extLst>
          </p:cNvPr>
          <p:cNvPicPr>
            <a:picLocks noChangeAspect="1"/>
          </p:cNvPicPr>
          <p:nvPr/>
        </p:nvPicPr>
        <p:blipFill>
          <a:blip r:embed="rId10"/>
          <a:stretch>
            <a:fillRect/>
          </a:stretch>
        </p:blipFill>
        <p:spPr>
          <a:xfrm>
            <a:off x="1585020" y="3657600"/>
            <a:ext cx="9021961" cy="2705100"/>
          </a:xfrm>
          <a:prstGeom prst="rect">
            <a:avLst/>
          </a:prstGeom>
        </p:spPr>
      </p:pic>
      <p:pic>
        <p:nvPicPr>
          <p:cNvPr id="10" name="Image 8" descr="preencoded.png">
            <a:extLst>
              <a:ext uri="{FF2B5EF4-FFF2-40B4-BE49-F238E27FC236}">
                <a16:creationId xmlns:a16="http://schemas.microsoft.com/office/drawing/2014/main" id="{A3E8F281-E3A6-2529-9D84-45D374B26124}"/>
              </a:ext>
            </a:extLst>
          </p:cNvPr>
          <p:cNvPicPr>
            <a:picLocks noChangeAspect="1"/>
          </p:cNvPicPr>
          <p:nvPr/>
        </p:nvPicPr>
        <p:blipFill>
          <a:blip r:embed="rId11"/>
          <a:stretch>
            <a:fillRect/>
          </a:stretch>
        </p:blipFill>
        <p:spPr>
          <a:xfrm>
            <a:off x="1813620" y="3924300"/>
            <a:ext cx="228600" cy="228600"/>
          </a:xfrm>
          <a:prstGeom prst="rect">
            <a:avLst/>
          </a:prstGeom>
        </p:spPr>
      </p:pic>
      <p:pic>
        <p:nvPicPr>
          <p:cNvPr id="11" name="Image 9" descr="preencoded.png">
            <a:extLst>
              <a:ext uri="{FF2B5EF4-FFF2-40B4-BE49-F238E27FC236}">
                <a16:creationId xmlns:a16="http://schemas.microsoft.com/office/drawing/2014/main" id="{D2B26DFA-D801-3BBC-FADA-6C33F1A6700A}"/>
              </a:ext>
            </a:extLst>
          </p:cNvPr>
          <p:cNvPicPr>
            <a:picLocks noChangeAspect="1"/>
          </p:cNvPicPr>
          <p:nvPr/>
        </p:nvPicPr>
        <p:blipFill>
          <a:blip r:embed="rId12"/>
          <a:stretch>
            <a:fillRect/>
          </a:stretch>
        </p:blipFill>
        <p:spPr>
          <a:xfrm>
            <a:off x="1813620" y="4343400"/>
            <a:ext cx="4206180" cy="495300"/>
          </a:xfrm>
          <a:prstGeom prst="rect">
            <a:avLst/>
          </a:prstGeom>
        </p:spPr>
      </p:pic>
      <p:pic>
        <p:nvPicPr>
          <p:cNvPr id="12" name="Image 10" descr="preencoded.png">
            <a:extLst>
              <a:ext uri="{FF2B5EF4-FFF2-40B4-BE49-F238E27FC236}">
                <a16:creationId xmlns:a16="http://schemas.microsoft.com/office/drawing/2014/main" id="{6AB8FA4C-60E9-8BD2-1E5F-4E25B4DC4653}"/>
              </a:ext>
            </a:extLst>
          </p:cNvPr>
          <p:cNvPicPr>
            <a:picLocks noChangeAspect="1"/>
          </p:cNvPicPr>
          <p:nvPr/>
        </p:nvPicPr>
        <p:blipFill>
          <a:blip r:embed="rId13"/>
          <a:stretch>
            <a:fillRect/>
          </a:stretch>
        </p:blipFill>
        <p:spPr>
          <a:xfrm>
            <a:off x="1927920" y="4457700"/>
            <a:ext cx="190500" cy="266700"/>
          </a:xfrm>
          <a:prstGeom prst="rect">
            <a:avLst/>
          </a:prstGeom>
        </p:spPr>
      </p:pic>
      <p:pic>
        <p:nvPicPr>
          <p:cNvPr id="13" name="Image 11" descr="preencoded.png">
            <a:extLst>
              <a:ext uri="{FF2B5EF4-FFF2-40B4-BE49-F238E27FC236}">
                <a16:creationId xmlns:a16="http://schemas.microsoft.com/office/drawing/2014/main" id="{2D3B3D70-7933-C475-6438-D9E4205FDA68}"/>
              </a:ext>
            </a:extLst>
          </p:cNvPr>
          <p:cNvPicPr>
            <a:picLocks noChangeAspect="1"/>
          </p:cNvPicPr>
          <p:nvPr/>
        </p:nvPicPr>
        <p:blipFill>
          <a:blip r:embed="rId14"/>
          <a:stretch>
            <a:fillRect/>
          </a:stretch>
        </p:blipFill>
        <p:spPr>
          <a:xfrm>
            <a:off x="6172200" y="4343400"/>
            <a:ext cx="4206180" cy="495300"/>
          </a:xfrm>
          <a:prstGeom prst="rect">
            <a:avLst/>
          </a:prstGeom>
        </p:spPr>
      </p:pic>
      <p:pic>
        <p:nvPicPr>
          <p:cNvPr id="14" name="Image 12" descr="preencoded.png">
            <a:extLst>
              <a:ext uri="{FF2B5EF4-FFF2-40B4-BE49-F238E27FC236}">
                <a16:creationId xmlns:a16="http://schemas.microsoft.com/office/drawing/2014/main" id="{72A2F9B7-5DD5-C629-15A9-0BBD61F26079}"/>
              </a:ext>
            </a:extLst>
          </p:cNvPr>
          <p:cNvPicPr>
            <a:picLocks noChangeAspect="1"/>
          </p:cNvPicPr>
          <p:nvPr/>
        </p:nvPicPr>
        <p:blipFill>
          <a:blip r:embed="rId15"/>
          <a:stretch>
            <a:fillRect/>
          </a:stretch>
        </p:blipFill>
        <p:spPr>
          <a:xfrm>
            <a:off x="6286500" y="4457700"/>
            <a:ext cx="190500" cy="266700"/>
          </a:xfrm>
          <a:prstGeom prst="rect">
            <a:avLst/>
          </a:prstGeom>
        </p:spPr>
      </p:pic>
      <p:pic>
        <p:nvPicPr>
          <p:cNvPr id="15" name="Image 13" descr="preencoded.png">
            <a:extLst>
              <a:ext uri="{FF2B5EF4-FFF2-40B4-BE49-F238E27FC236}">
                <a16:creationId xmlns:a16="http://schemas.microsoft.com/office/drawing/2014/main" id="{E712DDC4-3869-954F-53F5-C939475F4EFA}"/>
              </a:ext>
            </a:extLst>
          </p:cNvPr>
          <p:cNvPicPr>
            <a:picLocks noChangeAspect="1"/>
          </p:cNvPicPr>
          <p:nvPr/>
        </p:nvPicPr>
        <p:blipFill>
          <a:blip r:embed="rId16"/>
          <a:stretch>
            <a:fillRect/>
          </a:stretch>
        </p:blipFill>
        <p:spPr>
          <a:xfrm>
            <a:off x="1813620" y="4991100"/>
            <a:ext cx="4206180" cy="495300"/>
          </a:xfrm>
          <a:prstGeom prst="rect">
            <a:avLst/>
          </a:prstGeom>
        </p:spPr>
      </p:pic>
      <p:pic>
        <p:nvPicPr>
          <p:cNvPr id="16" name="Image 14" descr="preencoded.png">
            <a:extLst>
              <a:ext uri="{FF2B5EF4-FFF2-40B4-BE49-F238E27FC236}">
                <a16:creationId xmlns:a16="http://schemas.microsoft.com/office/drawing/2014/main" id="{15DF6CE5-4EA1-1E2F-06ED-CBD25C128CB3}"/>
              </a:ext>
            </a:extLst>
          </p:cNvPr>
          <p:cNvPicPr>
            <a:picLocks noChangeAspect="1"/>
          </p:cNvPicPr>
          <p:nvPr/>
        </p:nvPicPr>
        <p:blipFill>
          <a:blip r:embed="rId17"/>
          <a:stretch>
            <a:fillRect/>
          </a:stretch>
        </p:blipFill>
        <p:spPr>
          <a:xfrm>
            <a:off x="1927920" y="5105400"/>
            <a:ext cx="238125" cy="266700"/>
          </a:xfrm>
          <a:prstGeom prst="rect">
            <a:avLst/>
          </a:prstGeom>
        </p:spPr>
      </p:pic>
      <p:pic>
        <p:nvPicPr>
          <p:cNvPr id="17" name="Image 15" descr="preencoded.png">
            <a:extLst>
              <a:ext uri="{FF2B5EF4-FFF2-40B4-BE49-F238E27FC236}">
                <a16:creationId xmlns:a16="http://schemas.microsoft.com/office/drawing/2014/main" id="{0913B76C-F3A3-F2EF-EC9E-ECA153629DF4}"/>
              </a:ext>
            </a:extLst>
          </p:cNvPr>
          <p:cNvPicPr>
            <a:picLocks noChangeAspect="1"/>
          </p:cNvPicPr>
          <p:nvPr/>
        </p:nvPicPr>
        <p:blipFill>
          <a:blip r:embed="rId18"/>
          <a:stretch>
            <a:fillRect/>
          </a:stretch>
        </p:blipFill>
        <p:spPr>
          <a:xfrm>
            <a:off x="6172200" y="4991100"/>
            <a:ext cx="4206180" cy="495300"/>
          </a:xfrm>
          <a:prstGeom prst="rect">
            <a:avLst/>
          </a:prstGeom>
        </p:spPr>
      </p:pic>
      <p:pic>
        <p:nvPicPr>
          <p:cNvPr id="18" name="Image 16" descr="preencoded.png">
            <a:extLst>
              <a:ext uri="{FF2B5EF4-FFF2-40B4-BE49-F238E27FC236}">
                <a16:creationId xmlns:a16="http://schemas.microsoft.com/office/drawing/2014/main" id="{E36D14F6-1E19-3ADB-51BE-45EA5750F408}"/>
              </a:ext>
            </a:extLst>
          </p:cNvPr>
          <p:cNvPicPr>
            <a:picLocks noChangeAspect="1"/>
          </p:cNvPicPr>
          <p:nvPr/>
        </p:nvPicPr>
        <p:blipFill>
          <a:blip r:embed="rId19"/>
          <a:stretch>
            <a:fillRect/>
          </a:stretch>
        </p:blipFill>
        <p:spPr>
          <a:xfrm>
            <a:off x="6286500" y="5105400"/>
            <a:ext cx="190500" cy="266700"/>
          </a:xfrm>
          <a:prstGeom prst="rect">
            <a:avLst/>
          </a:prstGeom>
        </p:spPr>
      </p:pic>
      <p:pic>
        <p:nvPicPr>
          <p:cNvPr id="19" name="Image 17" descr="preencoded.png">
            <a:extLst>
              <a:ext uri="{FF2B5EF4-FFF2-40B4-BE49-F238E27FC236}">
                <a16:creationId xmlns:a16="http://schemas.microsoft.com/office/drawing/2014/main" id="{1DFA2A23-06F0-2E75-0FE0-E7F7E9C47AF7}"/>
              </a:ext>
            </a:extLst>
          </p:cNvPr>
          <p:cNvPicPr>
            <a:picLocks noChangeAspect="1"/>
          </p:cNvPicPr>
          <p:nvPr/>
        </p:nvPicPr>
        <p:blipFill>
          <a:blip r:embed="rId20"/>
          <a:stretch>
            <a:fillRect/>
          </a:stretch>
        </p:blipFill>
        <p:spPr>
          <a:xfrm>
            <a:off x="1813620" y="5638800"/>
            <a:ext cx="8564761" cy="495300"/>
          </a:xfrm>
          <a:prstGeom prst="rect">
            <a:avLst/>
          </a:prstGeom>
        </p:spPr>
      </p:pic>
      <p:pic>
        <p:nvPicPr>
          <p:cNvPr id="20" name="Image 18" descr="preencoded.png">
            <a:extLst>
              <a:ext uri="{FF2B5EF4-FFF2-40B4-BE49-F238E27FC236}">
                <a16:creationId xmlns:a16="http://schemas.microsoft.com/office/drawing/2014/main" id="{8A7655D8-066A-6811-DE3C-BF1319B655E3}"/>
              </a:ext>
            </a:extLst>
          </p:cNvPr>
          <p:cNvPicPr>
            <a:picLocks noChangeAspect="1"/>
          </p:cNvPicPr>
          <p:nvPr/>
        </p:nvPicPr>
        <p:blipFill>
          <a:blip r:embed="rId21"/>
          <a:stretch>
            <a:fillRect/>
          </a:stretch>
        </p:blipFill>
        <p:spPr>
          <a:xfrm>
            <a:off x="1927920" y="5753100"/>
            <a:ext cx="190500" cy="266700"/>
          </a:xfrm>
          <a:prstGeom prst="rect">
            <a:avLst/>
          </a:prstGeom>
        </p:spPr>
      </p:pic>
      <p:sp>
        <p:nvSpPr>
          <p:cNvPr id="24" name="Text 0">
            <a:extLst>
              <a:ext uri="{FF2B5EF4-FFF2-40B4-BE49-F238E27FC236}">
                <a16:creationId xmlns:a16="http://schemas.microsoft.com/office/drawing/2014/main" id="{3DA5FEEC-E31A-0211-1C21-749D424943D5}"/>
              </a:ext>
            </a:extLst>
          </p:cNvPr>
          <p:cNvSpPr/>
          <p:nvPr/>
        </p:nvSpPr>
        <p:spPr>
          <a:xfrm>
            <a:off x="457200" y="457200"/>
            <a:ext cx="11277600" cy="914400"/>
          </a:xfrm>
          <a:prstGeom prst="rect">
            <a:avLst/>
          </a:prstGeom>
          <a:noFill/>
          <a:ln/>
        </p:spPr>
        <p:txBody>
          <a:bodyPr vert="horz" wrap="square" lIns="0" tIns="0" rIns="0" bIns="0" rtlCol="0" anchor="t"/>
          <a:lstStyle/>
          <a:p>
            <a:pPr marL="0" indent="0" algn="ctr">
              <a:lnSpc>
                <a:spcPts val="3600"/>
              </a:lnSpc>
              <a:buNone/>
            </a:pPr>
            <a:r>
              <a:rPr lang="en-US" sz="3600" b="1" dirty="0">
                <a:solidFill>
                  <a:srgbClr val="2563EB"/>
                </a:solidFill>
                <a:latin typeface="ui-sans-serif" pitchFamily="34" charset="0"/>
                <a:ea typeface="ui-sans-serif" pitchFamily="34" charset="-122"/>
                <a:cs typeface="ui-sans-serif" pitchFamily="34" charset="-120"/>
              </a:rPr>
              <a:t>Stay Connected with Our Cloud Computing Journey!</a:t>
            </a:r>
            <a:endParaRPr lang="en-US" sz="3600" dirty="0"/>
          </a:p>
        </p:txBody>
      </p:sp>
      <p:sp>
        <p:nvSpPr>
          <p:cNvPr id="25" name="Text 1">
            <a:extLst>
              <a:ext uri="{FF2B5EF4-FFF2-40B4-BE49-F238E27FC236}">
                <a16:creationId xmlns:a16="http://schemas.microsoft.com/office/drawing/2014/main" id="{5A6A0C3C-A279-4719-FDCA-C6E71D0AD07F}"/>
              </a:ext>
            </a:extLst>
          </p:cNvPr>
          <p:cNvSpPr/>
          <p:nvPr/>
        </p:nvSpPr>
        <p:spPr>
          <a:xfrm>
            <a:off x="2420094" y="2781300"/>
            <a:ext cx="382780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Like this video if you found it helpful!</a:t>
            </a:r>
            <a:endParaRPr lang="en-US" sz="1350" dirty="0"/>
          </a:p>
        </p:txBody>
      </p:sp>
      <p:sp>
        <p:nvSpPr>
          <p:cNvPr id="26" name="Text 2">
            <a:extLst>
              <a:ext uri="{FF2B5EF4-FFF2-40B4-BE49-F238E27FC236}">
                <a16:creationId xmlns:a16="http://schemas.microsoft.com/office/drawing/2014/main" id="{4D1BF9E7-1DCB-845E-84BE-8BB1F4157980}"/>
              </a:ext>
            </a:extLst>
          </p:cNvPr>
          <p:cNvSpPr/>
          <p:nvPr/>
        </p:nvSpPr>
        <p:spPr>
          <a:xfrm>
            <a:off x="6219527" y="2781300"/>
            <a:ext cx="4262676"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Subscribe for cloud tech updates!</a:t>
            </a:r>
            <a:endParaRPr lang="en-US" sz="1350" dirty="0"/>
          </a:p>
        </p:txBody>
      </p:sp>
      <p:sp>
        <p:nvSpPr>
          <p:cNvPr id="27" name="Text 3">
            <a:extLst>
              <a:ext uri="{FF2B5EF4-FFF2-40B4-BE49-F238E27FC236}">
                <a16:creationId xmlns:a16="http://schemas.microsoft.com/office/drawing/2014/main" id="{34974008-FF45-6A95-9F0F-A85AAF557941}"/>
              </a:ext>
            </a:extLst>
          </p:cNvPr>
          <p:cNvSpPr/>
          <p:nvPr/>
        </p:nvSpPr>
        <p:spPr>
          <a:xfrm>
            <a:off x="2156520" y="3886200"/>
            <a:ext cx="10277713"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Comment below which cloud topic you want to see next like:</a:t>
            </a:r>
            <a:endParaRPr lang="en-US" sz="1800" dirty="0"/>
          </a:p>
        </p:txBody>
      </p:sp>
      <p:sp>
        <p:nvSpPr>
          <p:cNvPr id="28" name="Text 4">
            <a:extLst>
              <a:ext uri="{FF2B5EF4-FFF2-40B4-BE49-F238E27FC236}">
                <a16:creationId xmlns:a16="http://schemas.microsoft.com/office/drawing/2014/main" id="{465C868D-3568-9EBD-B51A-AFF426B0DB26}"/>
              </a:ext>
            </a:extLst>
          </p:cNvPr>
          <p:cNvSpPr/>
          <p:nvPr/>
        </p:nvSpPr>
        <p:spPr>
          <a:xfrm>
            <a:off x="2232720" y="4457700"/>
            <a:ext cx="1977747"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Cloud Security Tips</a:t>
            </a:r>
            <a:endParaRPr lang="en-US" sz="1350" dirty="0"/>
          </a:p>
        </p:txBody>
      </p:sp>
      <p:sp>
        <p:nvSpPr>
          <p:cNvPr id="29" name="Text 5">
            <a:extLst>
              <a:ext uri="{FF2B5EF4-FFF2-40B4-BE49-F238E27FC236}">
                <a16:creationId xmlns:a16="http://schemas.microsoft.com/office/drawing/2014/main" id="{735B9E24-4335-8914-EE96-F2496723D230}"/>
              </a:ext>
            </a:extLst>
          </p:cNvPr>
          <p:cNvSpPr/>
          <p:nvPr/>
        </p:nvSpPr>
        <p:spPr>
          <a:xfrm>
            <a:off x="6591300" y="4457700"/>
            <a:ext cx="295501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Cost Optimization Strategies</a:t>
            </a:r>
            <a:endParaRPr lang="en-US" sz="1350" dirty="0"/>
          </a:p>
        </p:txBody>
      </p:sp>
      <p:sp>
        <p:nvSpPr>
          <p:cNvPr id="30" name="Text 6">
            <a:extLst>
              <a:ext uri="{FF2B5EF4-FFF2-40B4-BE49-F238E27FC236}">
                <a16:creationId xmlns:a16="http://schemas.microsoft.com/office/drawing/2014/main" id="{60D47450-2240-AE70-0929-CFBC5185CED6}"/>
              </a:ext>
            </a:extLst>
          </p:cNvPr>
          <p:cNvSpPr/>
          <p:nvPr/>
        </p:nvSpPr>
        <p:spPr>
          <a:xfrm>
            <a:off x="2280345" y="5105400"/>
            <a:ext cx="258568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Multi-Cloud Management</a:t>
            </a:r>
            <a:endParaRPr lang="en-US" sz="1350" dirty="0"/>
          </a:p>
        </p:txBody>
      </p:sp>
      <p:sp>
        <p:nvSpPr>
          <p:cNvPr id="31" name="Text 7">
            <a:extLst>
              <a:ext uri="{FF2B5EF4-FFF2-40B4-BE49-F238E27FC236}">
                <a16:creationId xmlns:a16="http://schemas.microsoft.com/office/drawing/2014/main" id="{69707833-11BC-64AB-8E7C-4DC23079ADE8}"/>
              </a:ext>
            </a:extLst>
          </p:cNvPr>
          <p:cNvSpPr/>
          <p:nvPr/>
        </p:nvSpPr>
        <p:spPr>
          <a:xfrm>
            <a:off x="6591300" y="5105400"/>
            <a:ext cx="226796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Serverless Computing</a:t>
            </a:r>
            <a:endParaRPr lang="en-US" sz="1350" dirty="0"/>
          </a:p>
        </p:txBody>
      </p:sp>
      <p:sp>
        <p:nvSpPr>
          <p:cNvPr id="32" name="Text 8">
            <a:extLst>
              <a:ext uri="{FF2B5EF4-FFF2-40B4-BE49-F238E27FC236}">
                <a16:creationId xmlns:a16="http://schemas.microsoft.com/office/drawing/2014/main" id="{618DA340-530A-CEA7-4BC9-ED4C42899B5B}"/>
              </a:ext>
            </a:extLst>
          </p:cNvPr>
          <p:cNvSpPr/>
          <p:nvPr/>
        </p:nvSpPr>
        <p:spPr>
          <a:xfrm>
            <a:off x="2232720" y="5753100"/>
            <a:ext cx="226421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Cloud Migration Steps</a:t>
            </a:r>
            <a:endParaRPr lang="en-US" sz="1350" dirty="0"/>
          </a:p>
        </p:txBody>
      </p:sp>
      <p:sp>
        <p:nvSpPr>
          <p:cNvPr id="36" name="TextBox 35">
            <a:extLst>
              <a:ext uri="{FF2B5EF4-FFF2-40B4-BE49-F238E27FC236}">
                <a16:creationId xmlns:a16="http://schemas.microsoft.com/office/drawing/2014/main" id="{3CBA7F92-8C6E-511C-1115-12094BC6A449}"/>
              </a:ext>
            </a:extLst>
          </p:cNvPr>
          <p:cNvSpPr txBox="1"/>
          <p:nvPr/>
        </p:nvSpPr>
        <p:spPr>
          <a:xfrm>
            <a:off x="198156" y="969242"/>
            <a:ext cx="11948088" cy="384080"/>
          </a:xfrm>
          <a:prstGeom prst="rect">
            <a:avLst/>
          </a:prstGeom>
          <a:noFill/>
        </p:spPr>
        <p:txBody>
          <a:bodyPr wrap="square">
            <a:spAutoFit/>
          </a:bodyPr>
          <a:lstStyle/>
          <a:p>
            <a:pPr marL="0" indent="0" algn="ctr">
              <a:lnSpc>
                <a:spcPts val="2400"/>
              </a:lnSpc>
              <a:buNone/>
            </a:pPr>
            <a:r>
              <a:rPr lang="en-US" sz="1800" dirty="0">
                <a:solidFill>
                  <a:srgbClr val="374151"/>
                </a:solidFill>
                <a:latin typeface="ui-sans-serif" pitchFamily="34" charset="0"/>
                <a:ea typeface="ui-sans-serif" pitchFamily="34" charset="-122"/>
                <a:cs typeface="ui-sans-serif" pitchFamily="34" charset="-120"/>
              </a:rPr>
              <a:t> Dive deeper into the cloud world! Check out our specialized playlists for your continuous learning journey!</a:t>
            </a:r>
            <a:endParaRPr lang="en-US" sz="1800" dirty="0"/>
          </a:p>
        </p:txBody>
      </p:sp>
      <p:sp>
        <p:nvSpPr>
          <p:cNvPr id="33" name="Text 8">
            <a:extLst>
              <a:ext uri="{FF2B5EF4-FFF2-40B4-BE49-F238E27FC236}">
                <a16:creationId xmlns:a16="http://schemas.microsoft.com/office/drawing/2014/main" id="{38ED3128-004E-3FB9-EBAA-281001BD8FEB}"/>
              </a:ext>
            </a:extLst>
          </p:cNvPr>
          <p:cNvSpPr/>
          <p:nvPr/>
        </p:nvSpPr>
        <p:spPr>
          <a:xfrm>
            <a:off x="6591300" y="5773833"/>
            <a:ext cx="2264212" cy="266700"/>
          </a:xfrm>
          <a:prstGeom prst="rect">
            <a:avLst/>
          </a:prstGeom>
          <a:noFill/>
          <a:ln/>
        </p:spPr>
        <p:txBody>
          <a:bodyPr vert="horz" wrap="square" lIns="0" tIns="0" rIns="0" bIns="0" rtlCol="0" anchor="t"/>
          <a:lstStyle/>
          <a:p>
            <a:pPr>
              <a:lnSpc>
                <a:spcPts val="2100"/>
              </a:lnSpc>
            </a:pPr>
            <a:r>
              <a:rPr lang="en-IN" sz="1400" dirty="0"/>
              <a:t>Anything you'd like 🙂</a:t>
            </a:r>
            <a:endParaRPr lang="en-US" sz="1350" dirty="0"/>
          </a:p>
        </p:txBody>
      </p:sp>
      <p:pic>
        <p:nvPicPr>
          <p:cNvPr id="34" name="Image 14" descr="preencoded.png">
            <a:extLst>
              <a:ext uri="{FF2B5EF4-FFF2-40B4-BE49-F238E27FC236}">
                <a16:creationId xmlns:a16="http://schemas.microsoft.com/office/drawing/2014/main" id="{4F4B5B73-B987-9286-5648-6F0CD397A54C}"/>
              </a:ext>
            </a:extLst>
          </p:cNvPr>
          <p:cNvPicPr>
            <a:picLocks noChangeAspect="1"/>
          </p:cNvPicPr>
          <p:nvPr/>
        </p:nvPicPr>
        <p:blipFill>
          <a:blip r:embed="rId17"/>
          <a:stretch>
            <a:fillRect/>
          </a:stretch>
        </p:blipFill>
        <p:spPr>
          <a:xfrm>
            <a:off x="6307217" y="5806440"/>
            <a:ext cx="238125" cy="266700"/>
          </a:xfrm>
          <a:prstGeom prst="rect">
            <a:avLst/>
          </a:prstGeom>
        </p:spPr>
      </p:pic>
      <p:cxnSp>
        <p:nvCxnSpPr>
          <p:cNvPr id="37" name="Straight Connector 36">
            <a:extLst>
              <a:ext uri="{FF2B5EF4-FFF2-40B4-BE49-F238E27FC236}">
                <a16:creationId xmlns:a16="http://schemas.microsoft.com/office/drawing/2014/main" id="{D3A997F2-9127-D719-F314-C476D94ED39B}"/>
              </a:ext>
            </a:extLst>
          </p:cNvPr>
          <p:cNvCxnSpPr>
            <a:cxnSpLocks/>
          </p:cNvCxnSpPr>
          <p:nvPr/>
        </p:nvCxnSpPr>
        <p:spPr>
          <a:xfrm>
            <a:off x="6206490" y="5787390"/>
            <a:ext cx="0" cy="2667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07739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8382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838200"/>
          </a:xfrm>
          <a:prstGeom prst="rect">
            <a:avLst/>
          </a:prstGeom>
        </p:spPr>
      </p:pic>
      <p:pic>
        <p:nvPicPr>
          <p:cNvPr id="8" name="Image 6" descr="preencoded.png"/>
          <p:cNvPicPr>
            <a:picLocks noChangeAspect="1"/>
          </p:cNvPicPr>
          <p:nvPr/>
        </p:nvPicPr>
        <p:blipFill>
          <a:blip r:embed="rId6"/>
          <a:stretch>
            <a:fillRect/>
          </a:stretch>
        </p:blipFill>
        <p:spPr>
          <a:xfrm>
            <a:off x="609600" y="3028950"/>
            <a:ext cx="3848100" cy="838200"/>
          </a:xfrm>
          <a:prstGeom prst="rect">
            <a:avLst/>
          </a:prstGeom>
        </p:spPr>
      </p:pic>
      <p:pic>
        <p:nvPicPr>
          <p:cNvPr id="9" name="Image 7" descr="preencoded.png"/>
          <p:cNvPicPr>
            <a:picLocks noChangeAspect="1"/>
          </p:cNvPicPr>
          <p:nvPr/>
        </p:nvPicPr>
        <p:blipFill>
          <a:blip r:embed="rId7"/>
          <a:stretch>
            <a:fillRect/>
          </a:stretch>
        </p:blipFill>
        <p:spPr>
          <a:xfrm>
            <a:off x="4686300" y="3028950"/>
            <a:ext cx="3848100" cy="838200"/>
          </a:xfrm>
          <a:prstGeom prst="rect">
            <a:avLst/>
          </a:prstGeom>
        </p:spPr>
      </p:pic>
      <p:pic>
        <p:nvPicPr>
          <p:cNvPr id="10" name="Image 8" descr="preencoded.png"/>
          <p:cNvPicPr>
            <a:picLocks noChangeAspect="1"/>
          </p:cNvPicPr>
          <p:nvPr/>
        </p:nvPicPr>
        <p:blipFill>
          <a:blip r:embed="rId8"/>
          <a:stretch>
            <a:fillRect/>
          </a:stretch>
        </p:blipFill>
        <p:spPr>
          <a:xfrm>
            <a:off x="9782175" y="2695575"/>
            <a:ext cx="857250" cy="685800"/>
          </a:xfrm>
          <a:prstGeom prst="rect">
            <a:avLst/>
          </a:prstGeom>
        </p:spPr>
      </p:pic>
      <p:pic>
        <p:nvPicPr>
          <p:cNvPr id="11" name="Image 9" descr="preencoded.png"/>
          <p:cNvPicPr>
            <a:picLocks noChangeAspect="1"/>
          </p:cNvPicPr>
          <p:nvPr/>
        </p:nvPicPr>
        <p:blipFill>
          <a:blip r:embed="rId9"/>
          <a:stretch>
            <a:fillRect/>
          </a:stretch>
        </p:blipFill>
        <p:spPr>
          <a:xfrm>
            <a:off x="609600" y="6515100"/>
            <a:ext cx="190500" cy="152400"/>
          </a:xfrm>
          <a:prstGeom prst="rect">
            <a:avLst/>
          </a:prstGeom>
        </p:spPr>
      </p:pic>
      <p:sp>
        <p:nvSpPr>
          <p:cNvPr id="12"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17</a:t>
            </a:r>
            <a:endParaRPr lang="en-US" sz="1200" dirty="0"/>
          </a:p>
        </p:txBody>
      </p:sp>
      <p:sp>
        <p:nvSpPr>
          <p:cNvPr id="13" name="Text 1"/>
          <p:cNvSpPr/>
          <p:nvPr/>
        </p:nvSpPr>
        <p:spPr>
          <a:xfrm>
            <a:off x="1143000" y="304800"/>
            <a:ext cx="5830550"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Amazon ECR Primary Function</a:t>
            </a:r>
            <a:endParaRPr lang="en-US" sz="2250" dirty="0"/>
          </a:p>
        </p:txBody>
      </p:sp>
      <p:sp>
        <p:nvSpPr>
          <p:cNvPr id="14"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primary function of Amazon Elastic Container Registry (ECR)?</a:t>
            </a:r>
            <a:endParaRPr lang="en-US" sz="1800" dirty="0"/>
          </a:p>
        </p:txBody>
      </p:sp>
      <p:sp>
        <p:nvSpPr>
          <p:cNvPr id="15"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6" name="Text 4"/>
          <p:cNvSpPr/>
          <p:nvPr/>
        </p:nvSpPr>
        <p:spPr>
          <a:xfrm>
            <a:off x="1099691" y="2114550"/>
            <a:ext cx="3205609"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orchestrate Docker containers across a cluster.</a:t>
            </a:r>
            <a:endParaRPr lang="en-US" sz="1350" dirty="0"/>
          </a:p>
        </p:txBody>
      </p:sp>
      <p:sp>
        <p:nvSpPr>
          <p:cNvPr id="17"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18" name="Text 6"/>
          <p:cNvSpPr/>
          <p:nvPr/>
        </p:nvSpPr>
        <p:spPr>
          <a:xfrm>
            <a:off x="5170587" y="2114550"/>
            <a:ext cx="3211413"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provide a fully managed Docker container image registry service.</a:t>
            </a:r>
            <a:endParaRPr lang="en-US" sz="1350" dirty="0"/>
          </a:p>
        </p:txBody>
      </p:sp>
      <p:sp>
        <p:nvSpPr>
          <p:cNvPr id="19" name="Text 7"/>
          <p:cNvSpPr/>
          <p:nvPr/>
        </p:nvSpPr>
        <p:spPr>
          <a:xfrm>
            <a:off x="762000" y="31813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0" name="Text 8"/>
          <p:cNvSpPr/>
          <p:nvPr/>
        </p:nvSpPr>
        <p:spPr>
          <a:xfrm>
            <a:off x="1088529" y="3181350"/>
            <a:ext cx="3216771"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build Docker images from Dockerfiles.</a:t>
            </a:r>
            <a:endParaRPr lang="en-US" sz="1350" dirty="0"/>
          </a:p>
        </p:txBody>
      </p:sp>
      <p:sp>
        <p:nvSpPr>
          <p:cNvPr id="21" name="Text 9"/>
          <p:cNvSpPr/>
          <p:nvPr/>
        </p:nvSpPr>
        <p:spPr>
          <a:xfrm>
            <a:off x="4838700" y="31813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2" name="Text 10"/>
          <p:cNvSpPr/>
          <p:nvPr/>
        </p:nvSpPr>
        <p:spPr>
          <a:xfrm>
            <a:off x="5183535" y="3181350"/>
            <a:ext cx="282071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run serverless functions.</a:t>
            </a:r>
            <a:endParaRPr lang="en-US" sz="1350" dirty="0"/>
          </a:p>
        </p:txBody>
      </p:sp>
      <p:sp>
        <p:nvSpPr>
          <p:cNvPr id="23" name="Text 11"/>
          <p:cNvSpPr/>
          <p:nvPr/>
        </p:nvSpPr>
        <p:spPr>
          <a:xfrm>
            <a:off x="8839200" y="3609975"/>
            <a:ext cx="2743200" cy="914400"/>
          </a:xfrm>
          <a:prstGeom prst="rect">
            <a:avLst/>
          </a:prstGeom>
          <a:noFill/>
          <a:ln/>
        </p:spPr>
        <p:txBody>
          <a:bodyPr vert="horz" wrap="square" lIns="0" tIns="0" rIns="0" bIns="0" rtlCol="0" anchor="t"/>
          <a:lstStyle/>
          <a:p>
            <a:pPr marL="0" indent="0" algn="ctr">
              <a:lnSpc>
                <a:spcPts val="1800"/>
              </a:lnSpc>
              <a:buNone/>
            </a:pPr>
            <a:r>
              <a:rPr lang="en-US" sz="1200" i="1" dirty="0">
                <a:solidFill>
                  <a:srgbClr val="4B5563"/>
                </a:solidFill>
                <a:latin typeface="ui-sans-serif" pitchFamily="34" charset="0"/>
                <a:ea typeface="ui-sans-serif" pitchFamily="34" charset="-122"/>
                <a:cs typeface="ui-sans-serif" pitchFamily="34" charset="-120"/>
              </a:rPr>
              <a:t>"Amazon ECR is a fully managed container image registry service that makes it easy to store, share, and deploy container images."</a:t>
            </a:r>
            <a:endParaRPr lang="en-US" sz="1200" dirty="0"/>
          </a:p>
        </p:txBody>
      </p:sp>
      <p:sp>
        <p:nvSpPr>
          <p:cNvPr id="24" name="Text 12"/>
          <p:cNvSpPr/>
          <p:nvPr/>
        </p:nvSpPr>
        <p:spPr>
          <a:xfrm>
            <a:off x="876300" y="6477000"/>
            <a:ext cx="84046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ECR</a:t>
            </a:r>
            <a:endParaRPr lang="en-US" sz="1200" dirty="0"/>
          </a:p>
        </p:txBody>
      </p:sp>
      <p:sp>
        <p:nvSpPr>
          <p:cNvPr id="25" name="Text 13"/>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34/61</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924800" cy="1143000"/>
          </a:xfrm>
          <a:prstGeom prst="rect">
            <a:avLst/>
          </a:prstGeom>
        </p:spPr>
      </p:pic>
      <p:pic>
        <p:nvPicPr>
          <p:cNvPr id="7" name="Image 5" descr="preencoded.png"/>
          <p:cNvPicPr>
            <a:picLocks noChangeAspect="1"/>
          </p:cNvPicPr>
          <p:nvPr/>
        </p:nvPicPr>
        <p:blipFill>
          <a:blip r:embed="rId7"/>
          <a:stretch>
            <a:fillRect/>
          </a:stretch>
        </p:blipFill>
        <p:spPr>
          <a:xfrm>
            <a:off x="838200" y="1390650"/>
            <a:ext cx="228600" cy="304800"/>
          </a:xfrm>
          <a:prstGeom prst="rect">
            <a:avLst/>
          </a:prstGeom>
        </p:spPr>
      </p:pic>
      <p:pic>
        <p:nvPicPr>
          <p:cNvPr id="8" name="Image 6" descr="preencoded.png"/>
          <p:cNvPicPr>
            <a:picLocks noChangeAspect="1"/>
          </p:cNvPicPr>
          <p:nvPr/>
        </p:nvPicPr>
        <p:blipFill>
          <a:blip r:embed="rId8"/>
          <a:stretch>
            <a:fillRect/>
          </a:stretch>
        </p:blipFill>
        <p:spPr>
          <a:xfrm>
            <a:off x="609600" y="4210050"/>
            <a:ext cx="142875" cy="266700"/>
          </a:xfrm>
          <a:prstGeom prst="rect">
            <a:avLst/>
          </a:prstGeom>
        </p:spPr>
      </p:pic>
      <p:pic>
        <p:nvPicPr>
          <p:cNvPr id="9" name="Image 7" descr="preencoded.png"/>
          <p:cNvPicPr>
            <a:picLocks noChangeAspect="1"/>
          </p:cNvPicPr>
          <p:nvPr/>
        </p:nvPicPr>
        <p:blipFill>
          <a:blip r:embed="rId9"/>
          <a:stretch>
            <a:fillRect/>
          </a:stretch>
        </p:blipFill>
        <p:spPr>
          <a:xfrm>
            <a:off x="9782175" y="2352675"/>
            <a:ext cx="857250" cy="685800"/>
          </a:xfrm>
          <a:prstGeom prst="rect">
            <a:avLst/>
          </a:prstGeom>
        </p:spPr>
      </p:pic>
      <p:pic>
        <p:nvPicPr>
          <p:cNvPr id="10" name="Image 8" descr="preencoded.png"/>
          <p:cNvPicPr>
            <a:picLocks noChangeAspect="1"/>
          </p:cNvPicPr>
          <p:nvPr/>
        </p:nvPicPr>
        <p:blipFill>
          <a:blip r:embed="rId10"/>
          <a:stretch>
            <a:fillRect/>
          </a:stretch>
        </p:blipFill>
        <p:spPr>
          <a:xfrm>
            <a:off x="9290596" y="3267075"/>
            <a:ext cx="1840409" cy="1600200"/>
          </a:xfrm>
          <a:prstGeom prst="rect">
            <a:avLst/>
          </a:prstGeom>
        </p:spPr>
      </p:pic>
      <p:pic>
        <p:nvPicPr>
          <p:cNvPr id="11" name="Image 9" descr="preencoded.png"/>
          <p:cNvPicPr>
            <a:picLocks noChangeAspect="1"/>
          </p:cNvPicPr>
          <p:nvPr/>
        </p:nvPicPr>
        <p:blipFill>
          <a:blip r:embed="rId11"/>
          <a:stretch>
            <a:fillRect/>
          </a:stretch>
        </p:blipFill>
        <p:spPr>
          <a:xfrm>
            <a:off x="9442996" y="3752850"/>
            <a:ext cx="133350" cy="133350"/>
          </a:xfrm>
          <a:prstGeom prst="rect">
            <a:avLst/>
          </a:prstGeom>
        </p:spPr>
      </p:pic>
      <p:pic>
        <p:nvPicPr>
          <p:cNvPr id="12" name="Image 10" descr="preencoded.png"/>
          <p:cNvPicPr>
            <a:picLocks noChangeAspect="1"/>
          </p:cNvPicPr>
          <p:nvPr/>
        </p:nvPicPr>
        <p:blipFill>
          <a:blip r:embed="rId11"/>
          <a:stretch>
            <a:fillRect/>
          </a:stretch>
        </p:blipFill>
        <p:spPr>
          <a:xfrm>
            <a:off x="9442996" y="4019550"/>
            <a:ext cx="133350" cy="133350"/>
          </a:xfrm>
          <a:prstGeom prst="rect">
            <a:avLst/>
          </a:prstGeom>
        </p:spPr>
      </p:pic>
      <p:pic>
        <p:nvPicPr>
          <p:cNvPr id="13" name="Image 11" descr="preencoded.png"/>
          <p:cNvPicPr>
            <a:picLocks noChangeAspect="1"/>
          </p:cNvPicPr>
          <p:nvPr/>
        </p:nvPicPr>
        <p:blipFill>
          <a:blip r:embed="rId11"/>
          <a:stretch>
            <a:fillRect/>
          </a:stretch>
        </p:blipFill>
        <p:spPr>
          <a:xfrm>
            <a:off x="9442996" y="4286250"/>
            <a:ext cx="133350" cy="133350"/>
          </a:xfrm>
          <a:prstGeom prst="rect">
            <a:avLst/>
          </a:prstGeom>
        </p:spPr>
      </p:pic>
      <p:pic>
        <p:nvPicPr>
          <p:cNvPr id="14" name="Image 12" descr="preencoded.png"/>
          <p:cNvPicPr>
            <a:picLocks noChangeAspect="1"/>
          </p:cNvPicPr>
          <p:nvPr/>
        </p:nvPicPr>
        <p:blipFill>
          <a:blip r:embed="rId11"/>
          <a:stretch>
            <a:fillRect/>
          </a:stretch>
        </p:blipFill>
        <p:spPr>
          <a:xfrm>
            <a:off x="9442996" y="4552950"/>
            <a:ext cx="133350" cy="133350"/>
          </a:xfrm>
          <a:prstGeom prst="rect">
            <a:avLst/>
          </a:prstGeom>
        </p:spPr>
      </p:pic>
      <p:pic>
        <p:nvPicPr>
          <p:cNvPr id="15" name="Image 13" descr="preencoded.png"/>
          <p:cNvPicPr>
            <a:picLocks noChangeAspect="1"/>
          </p:cNvPicPr>
          <p:nvPr/>
        </p:nvPicPr>
        <p:blipFill>
          <a:blip r:embed="rId12"/>
          <a:stretch>
            <a:fillRect/>
          </a:stretch>
        </p:blipFill>
        <p:spPr>
          <a:xfrm>
            <a:off x="609600" y="6515100"/>
            <a:ext cx="190500" cy="152400"/>
          </a:xfrm>
          <a:prstGeom prst="rect">
            <a:avLst/>
          </a:prstGeom>
        </p:spPr>
      </p:pic>
      <p:sp>
        <p:nvSpPr>
          <p:cNvPr id="16"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17</a:t>
            </a:r>
            <a:endParaRPr lang="en-US" sz="1200" dirty="0"/>
          </a:p>
        </p:txBody>
      </p:sp>
      <p:sp>
        <p:nvSpPr>
          <p:cNvPr id="17" name="Text 1"/>
          <p:cNvSpPr/>
          <p:nvPr/>
        </p:nvSpPr>
        <p:spPr>
          <a:xfrm>
            <a:off x="1143000" y="304800"/>
            <a:ext cx="5830550"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Amazon ECR Primary Function</a:t>
            </a:r>
            <a:endParaRPr lang="en-US" sz="2250" dirty="0"/>
          </a:p>
        </p:txBody>
      </p:sp>
      <p:sp>
        <p:nvSpPr>
          <p:cNvPr id="18" name="Text 2"/>
          <p:cNvSpPr/>
          <p:nvPr/>
        </p:nvSpPr>
        <p:spPr>
          <a:xfrm>
            <a:off x="1181100" y="1276350"/>
            <a:ext cx="7124700"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Correct Answer: B. To provide a fully managed Docker container image registry service.</a:t>
            </a:r>
            <a:endParaRPr lang="en-US" sz="1500" dirty="0"/>
          </a:p>
        </p:txBody>
      </p:sp>
      <p:sp>
        <p:nvSpPr>
          <p:cNvPr id="19" name="Text 3"/>
          <p:cNvSpPr/>
          <p:nvPr/>
        </p:nvSpPr>
        <p:spPr>
          <a:xfrm>
            <a:off x="609600" y="2495550"/>
            <a:ext cx="7924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0" name="Text 4"/>
          <p:cNvSpPr/>
          <p:nvPr/>
        </p:nvSpPr>
        <p:spPr>
          <a:xfrm>
            <a:off x="609600" y="2952750"/>
            <a:ext cx="7924800" cy="10668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Amazon ECR is a fully managed container image registry service that makes it easy to store, share, and deploy container images. It supports private repositories with resource-based permissions using AWS IAM, allowing specified users or EC2 instances to access container repositories and images.</a:t>
            </a:r>
            <a:endParaRPr lang="en-US" sz="1350" dirty="0"/>
          </a:p>
        </p:txBody>
      </p:sp>
      <p:sp>
        <p:nvSpPr>
          <p:cNvPr id="21" name="Text 5"/>
          <p:cNvSpPr/>
          <p:nvPr/>
        </p:nvSpPr>
        <p:spPr>
          <a:xfrm>
            <a:off x="866775" y="4171950"/>
            <a:ext cx="3792795"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Key benefits of Amazon ECR include:</a:t>
            </a:r>
            <a:endParaRPr lang="en-US" sz="1350" dirty="0"/>
          </a:p>
        </p:txBody>
      </p:sp>
      <p:sp>
        <p:nvSpPr>
          <p:cNvPr id="22" name="Text 6"/>
          <p:cNvSpPr/>
          <p:nvPr/>
        </p:nvSpPr>
        <p:spPr>
          <a:xfrm>
            <a:off x="876300" y="4629150"/>
            <a:ext cx="918972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Fully managed service that scales automatically</a:t>
            </a:r>
            <a:endParaRPr lang="en-US" sz="1350" dirty="0"/>
          </a:p>
        </p:txBody>
      </p:sp>
      <p:sp>
        <p:nvSpPr>
          <p:cNvPr id="23" name="Text 7"/>
          <p:cNvSpPr/>
          <p:nvPr/>
        </p:nvSpPr>
        <p:spPr>
          <a:xfrm>
            <a:off x="876300" y="4972050"/>
            <a:ext cx="918972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Secure storage with IAM-based permissions</a:t>
            </a:r>
            <a:endParaRPr lang="en-US" sz="1350" dirty="0"/>
          </a:p>
        </p:txBody>
      </p:sp>
      <p:sp>
        <p:nvSpPr>
          <p:cNvPr id="24" name="Text 8"/>
          <p:cNvSpPr/>
          <p:nvPr/>
        </p:nvSpPr>
        <p:spPr>
          <a:xfrm>
            <a:off x="876300" y="5314950"/>
            <a:ext cx="765810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Integration with AWS services</a:t>
            </a:r>
            <a:endParaRPr lang="en-US" sz="1350" dirty="0"/>
          </a:p>
        </p:txBody>
      </p:sp>
      <p:sp>
        <p:nvSpPr>
          <p:cNvPr id="25" name="Text 9"/>
          <p:cNvSpPr/>
          <p:nvPr/>
        </p:nvSpPr>
        <p:spPr>
          <a:xfrm>
            <a:off x="876300" y="5657850"/>
            <a:ext cx="7658100" cy="266700"/>
          </a:xfrm>
          <a:prstGeom prst="rect">
            <a:avLst/>
          </a:prstGeom>
          <a:noFill/>
          <a:ln/>
        </p:spPr>
        <p:txBody>
          <a:bodyPr vert="horz" wrap="square" lIns="0" tIns="0" rIns="0" bIns="0" rtlCol="0" anchor="t"/>
          <a:lstStyle/>
          <a:p>
            <a:pPr marL="342900" indent="-342900" algn="l">
              <a:lnSpc>
                <a:spcPts val="2100"/>
              </a:lnSpc>
              <a:buSzPct val="100000"/>
              <a:buChar char="•"/>
            </a:pPr>
            <a:r>
              <a:rPr lang="en-US" sz="1350" dirty="0">
                <a:solidFill>
                  <a:srgbClr val="374151"/>
                </a:solidFill>
                <a:latin typeface="ui-sans-serif" pitchFamily="34" charset="0"/>
                <a:ea typeface="ui-sans-serif" pitchFamily="34" charset="-122"/>
                <a:cs typeface="ui-sans-serif" pitchFamily="34" charset="-120"/>
              </a:rPr>
              <a:t>Image scanning for vulnerabilities</a:t>
            </a:r>
            <a:endParaRPr lang="en-US" sz="1350" dirty="0"/>
          </a:p>
        </p:txBody>
      </p:sp>
      <p:sp>
        <p:nvSpPr>
          <p:cNvPr id="26" name="Text 10"/>
          <p:cNvSpPr/>
          <p:nvPr/>
        </p:nvSpPr>
        <p:spPr>
          <a:xfrm>
            <a:off x="9289435" y="3419475"/>
            <a:ext cx="184273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ECR Features</a:t>
            </a:r>
            <a:endParaRPr lang="en-US" sz="1200" dirty="0"/>
          </a:p>
        </p:txBody>
      </p:sp>
      <p:sp>
        <p:nvSpPr>
          <p:cNvPr id="27" name="Text 11"/>
          <p:cNvSpPr/>
          <p:nvPr/>
        </p:nvSpPr>
        <p:spPr>
          <a:xfrm>
            <a:off x="9462046" y="3724275"/>
            <a:ext cx="207133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000000"/>
                </a:solidFill>
                <a:latin typeface="ui-sans-serif" pitchFamily="34" charset="0"/>
                <a:ea typeface="ui-sans-serif" pitchFamily="34" charset="-122"/>
                <a:cs typeface="ui-sans-serif" pitchFamily="34" charset="-120"/>
              </a:rPr>
              <a:t>Private Repositories</a:t>
            </a:r>
            <a:endParaRPr lang="en-US" sz="1050" dirty="0"/>
          </a:p>
        </p:txBody>
      </p:sp>
      <p:sp>
        <p:nvSpPr>
          <p:cNvPr id="28" name="Text 12"/>
          <p:cNvSpPr/>
          <p:nvPr/>
        </p:nvSpPr>
        <p:spPr>
          <a:xfrm>
            <a:off x="9462046" y="3990975"/>
            <a:ext cx="207133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000000"/>
                </a:solidFill>
                <a:latin typeface="ui-sans-serif" pitchFamily="34" charset="0"/>
                <a:ea typeface="ui-sans-serif" pitchFamily="34" charset="-122"/>
                <a:cs typeface="ui-sans-serif" pitchFamily="34" charset="-120"/>
              </a:rPr>
              <a:t>IAM Integration</a:t>
            </a:r>
            <a:endParaRPr lang="en-US" sz="1050" dirty="0"/>
          </a:p>
        </p:txBody>
      </p:sp>
      <p:sp>
        <p:nvSpPr>
          <p:cNvPr id="29" name="Text 13"/>
          <p:cNvSpPr/>
          <p:nvPr/>
        </p:nvSpPr>
        <p:spPr>
          <a:xfrm>
            <a:off x="9462046" y="4257675"/>
            <a:ext cx="207133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000000"/>
                </a:solidFill>
                <a:latin typeface="ui-sans-serif" pitchFamily="34" charset="0"/>
                <a:ea typeface="ui-sans-serif" pitchFamily="34" charset="-122"/>
                <a:cs typeface="ui-sans-serif" pitchFamily="34" charset="-120"/>
              </a:rPr>
              <a:t>Image Scanning</a:t>
            </a:r>
            <a:endParaRPr lang="en-US" sz="1050" dirty="0"/>
          </a:p>
        </p:txBody>
      </p:sp>
      <p:sp>
        <p:nvSpPr>
          <p:cNvPr id="30" name="Text 14"/>
          <p:cNvSpPr/>
          <p:nvPr/>
        </p:nvSpPr>
        <p:spPr>
          <a:xfrm>
            <a:off x="9462046" y="4524375"/>
            <a:ext cx="207133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000000"/>
                </a:solidFill>
                <a:latin typeface="ui-sans-serif" pitchFamily="34" charset="0"/>
                <a:ea typeface="ui-sans-serif" pitchFamily="34" charset="-122"/>
                <a:cs typeface="ui-sans-serif" pitchFamily="34" charset="-120"/>
              </a:rPr>
              <a:t>Lifecycle Policies</a:t>
            </a:r>
            <a:endParaRPr lang="en-US" sz="1050" dirty="0"/>
          </a:p>
        </p:txBody>
      </p:sp>
      <p:sp>
        <p:nvSpPr>
          <p:cNvPr id="31" name="Text 15"/>
          <p:cNvSpPr/>
          <p:nvPr/>
        </p:nvSpPr>
        <p:spPr>
          <a:xfrm>
            <a:off x="876300" y="6477000"/>
            <a:ext cx="116764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Amazon ECR</a:t>
            </a:r>
            <a:endParaRPr lang="en-US" sz="1200" dirty="0"/>
          </a:p>
        </p:txBody>
      </p:sp>
      <p:sp>
        <p:nvSpPr>
          <p:cNvPr id="32"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35/61</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5715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571500"/>
          </a:xfrm>
          <a:prstGeom prst="rect">
            <a:avLst/>
          </a:prstGeom>
        </p:spPr>
      </p:pic>
      <p:pic>
        <p:nvPicPr>
          <p:cNvPr id="8" name="Image 6" descr="preencoded.png"/>
          <p:cNvPicPr>
            <a:picLocks noChangeAspect="1"/>
          </p:cNvPicPr>
          <p:nvPr/>
        </p:nvPicPr>
        <p:blipFill>
          <a:blip r:embed="rId6"/>
          <a:stretch>
            <a:fillRect/>
          </a:stretch>
        </p:blipFill>
        <p:spPr>
          <a:xfrm>
            <a:off x="609600" y="2762250"/>
            <a:ext cx="3848100" cy="571500"/>
          </a:xfrm>
          <a:prstGeom prst="rect">
            <a:avLst/>
          </a:prstGeom>
        </p:spPr>
      </p:pic>
      <p:pic>
        <p:nvPicPr>
          <p:cNvPr id="9" name="Image 7" descr="preencoded.png"/>
          <p:cNvPicPr>
            <a:picLocks noChangeAspect="1"/>
          </p:cNvPicPr>
          <p:nvPr/>
        </p:nvPicPr>
        <p:blipFill>
          <a:blip r:embed="rId6"/>
          <a:stretch>
            <a:fillRect/>
          </a:stretch>
        </p:blipFill>
        <p:spPr>
          <a:xfrm>
            <a:off x="4686300" y="2762250"/>
            <a:ext cx="3848100" cy="571500"/>
          </a:xfrm>
          <a:prstGeom prst="rect">
            <a:avLst/>
          </a:prstGeom>
        </p:spPr>
      </p:pic>
      <p:pic>
        <p:nvPicPr>
          <p:cNvPr id="10" name="Image 8" descr="preencoded.png"/>
          <p:cNvPicPr>
            <a:picLocks noChangeAspect="1"/>
          </p:cNvPicPr>
          <p:nvPr/>
        </p:nvPicPr>
        <p:blipFill>
          <a:blip r:embed="rId7"/>
          <a:stretch>
            <a:fillRect/>
          </a:stretch>
        </p:blipFill>
        <p:spPr>
          <a:xfrm>
            <a:off x="8839200" y="1971675"/>
            <a:ext cx="2743200" cy="3048000"/>
          </a:xfrm>
          <a:prstGeom prst="rect">
            <a:avLst/>
          </a:prstGeom>
        </p:spPr>
      </p:pic>
      <p:pic>
        <p:nvPicPr>
          <p:cNvPr id="11" name="Image 9" descr="preencoded.png"/>
          <p:cNvPicPr>
            <a:picLocks noChangeAspect="1"/>
          </p:cNvPicPr>
          <p:nvPr/>
        </p:nvPicPr>
        <p:blipFill>
          <a:blip r:embed="rId8"/>
          <a:stretch>
            <a:fillRect/>
          </a:stretch>
        </p:blipFill>
        <p:spPr>
          <a:xfrm>
            <a:off x="9982200" y="2200275"/>
            <a:ext cx="457200" cy="457200"/>
          </a:xfrm>
          <a:prstGeom prst="rect">
            <a:avLst/>
          </a:prstGeom>
        </p:spPr>
      </p:pic>
      <p:pic>
        <p:nvPicPr>
          <p:cNvPr id="12" name="Image 10" descr="preencoded.png"/>
          <p:cNvPicPr>
            <a:picLocks noChangeAspect="1"/>
          </p:cNvPicPr>
          <p:nvPr/>
        </p:nvPicPr>
        <p:blipFill>
          <a:blip r:embed="rId9"/>
          <a:stretch>
            <a:fillRect/>
          </a:stretch>
        </p:blipFill>
        <p:spPr>
          <a:xfrm>
            <a:off x="9067800" y="3343275"/>
            <a:ext cx="152400" cy="152400"/>
          </a:xfrm>
          <a:prstGeom prst="rect">
            <a:avLst/>
          </a:prstGeom>
        </p:spPr>
      </p:pic>
      <p:pic>
        <p:nvPicPr>
          <p:cNvPr id="13" name="Image 11" descr="preencoded.png"/>
          <p:cNvPicPr>
            <a:picLocks noChangeAspect="1"/>
          </p:cNvPicPr>
          <p:nvPr/>
        </p:nvPicPr>
        <p:blipFill>
          <a:blip r:embed="rId9"/>
          <a:stretch>
            <a:fillRect/>
          </a:stretch>
        </p:blipFill>
        <p:spPr>
          <a:xfrm>
            <a:off x="9067800" y="3914775"/>
            <a:ext cx="152400" cy="152400"/>
          </a:xfrm>
          <a:prstGeom prst="rect">
            <a:avLst/>
          </a:prstGeom>
        </p:spPr>
      </p:pic>
      <p:pic>
        <p:nvPicPr>
          <p:cNvPr id="14" name="Image 12" descr="preencoded.png"/>
          <p:cNvPicPr>
            <a:picLocks noChangeAspect="1"/>
          </p:cNvPicPr>
          <p:nvPr/>
        </p:nvPicPr>
        <p:blipFill>
          <a:blip r:embed="rId9"/>
          <a:stretch>
            <a:fillRect/>
          </a:stretch>
        </p:blipFill>
        <p:spPr>
          <a:xfrm>
            <a:off x="9067800" y="4486275"/>
            <a:ext cx="152400" cy="152400"/>
          </a:xfrm>
          <a:prstGeom prst="rect">
            <a:avLst/>
          </a:prstGeom>
        </p:spPr>
      </p:pic>
      <p:pic>
        <p:nvPicPr>
          <p:cNvPr id="15" name="Image 13" descr="preencoded.png"/>
          <p:cNvPicPr>
            <a:picLocks noChangeAspect="1"/>
          </p:cNvPicPr>
          <p:nvPr/>
        </p:nvPicPr>
        <p:blipFill>
          <a:blip r:embed="rId10"/>
          <a:stretch>
            <a:fillRect/>
          </a:stretch>
        </p:blipFill>
        <p:spPr>
          <a:xfrm>
            <a:off x="609600" y="6515100"/>
            <a:ext cx="190500" cy="152400"/>
          </a:xfrm>
          <a:prstGeom prst="rect">
            <a:avLst/>
          </a:prstGeom>
        </p:spPr>
      </p:pic>
      <p:sp>
        <p:nvSpPr>
          <p:cNvPr id="16"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18</a:t>
            </a:r>
            <a:endParaRPr lang="en-US" sz="1200" dirty="0"/>
          </a:p>
        </p:txBody>
      </p:sp>
      <p:sp>
        <p:nvSpPr>
          <p:cNvPr id="17" name="Text 1"/>
          <p:cNvSpPr/>
          <p:nvPr/>
        </p:nvSpPr>
        <p:spPr>
          <a:xfrm>
            <a:off x="1143000" y="304800"/>
            <a:ext cx="557337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ECR Image Scanning Feature</a:t>
            </a:r>
            <a:endParaRPr lang="en-US" sz="2250" dirty="0"/>
          </a:p>
        </p:txBody>
      </p:sp>
      <p:sp>
        <p:nvSpPr>
          <p:cNvPr id="18"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feature of Amazon ECR helps identify software vulnerabilities in container images?</a:t>
            </a:r>
            <a:endParaRPr lang="en-US" sz="1800" dirty="0"/>
          </a:p>
        </p:txBody>
      </p:sp>
      <p:sp>
        <p:nvSpPr>
          <p:cNvPr id="19"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0" name="Text 4"/>
          <p:cNvSpPr/>
          <p:nvPr/>
        </p:nvSpPr>
        <p:spPr>
          <a:xfrm>
            <a:off x="1099691" y="2114550"/>
            <a:ext cx="1728966"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Lifecycle Policies</a:t>
            </a:r>
            <a:endParaRPr lang="en-US" sz="1350" dirty="0"/>
          </a:p>
        </p:txBody>
      </p:sp>
      <p:sp>
        <p:nvSpPr>
          <p:cNvPr id="21"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2" name="Text 6"/>
          <p:cNvSpPr/>
          <p:nvPr/>
        </p:nvSpPr>
        <p:spPr>
          <a:xfrm>
            <a:off x="5170587" y="2114550"/>
            <a:ext cx="2546568"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Cross-Region Replication</a:t>
            </a:r>
            <a:endParaRPr lang="en-US" sz="1350" dirty="0"/>
          </a:p>
        </p:txBody>
      </p:sp>
      <p:sp>
        <p:nvSpPr>
          <p:cNvPr id="23" name="Text 7"/>
          <p:cNvSpPr/>
          <p:nvPr/>
        </p:nvSpPr>
        <p:spPr>
          <a:xfrm>
            <a:off x="762000" y="29146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4" name="Text 8"/>
          <p:cNvSpPr/>
          <p:nvPr/>
        </p:nvSpPr>
        <p:spPr>
          <a:xfrm>
            <a:off x="1088529" y="2914650"/>
            <a:ext cx="165860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Image Scanning</a:t>
            </a:r>
            <a:endParaRPr lang="en-US" sz="1350" dirty="0"/>
          </a:p>
        </p:txBody>
      </p:sp>
      <p:sp>
        <p:nvSpPr>
          <p:cNvPr id="25" name="Text 9"/>
          <p:cNvSpPr/>
          <p:nvPr/>
        </p:nvSpPr>
        <p:spPr>
          <a:xfrm>
            <a:off x="4838700" y="29146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6" name="Text 10"/>
          <p:cNvSpPr/>
          <p:nvPr/>
        </p:nvSpPr>
        <p:spPr>
          <a:xfrm>
            <a:off x="5183535" y="2914650"/>
            <a:ext cx="1953101"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Pull-through Cache</a:t>
            </a:r>
            <a:endParaRPr lang="en-US" sz="1350" dirty="0"/>
          </a:p>
        </p:txBody>
      </p:sp>
      <p:sp>
        <p:nvSpPr>
          <p:cNvPr id="27" name="Text 11"/>
          <p:cNvSpPr/>
          <p:nvPr/>
        </p:nvSpPr>
        <p:spPr>
          <a:xfrm>
            <a:off x="8839200" y="2809875"/>
            <a:ext cx="27432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000000"/>
                </a:solidFill>
                <a:latin typeface="ui-sans-serif" pitchFamily="34" charset="0"/>
                <a:ea typeface="ui-sans-serif" pitchFamily="34" charset="-122"/>
                <a:cs typeface="ui-sans-serif" pitchFamily="34" charset="-120"/>
              </a:rPr>
              <a:t>ECR Image Scanning</a:t>
            </a:r>
            <a:endParaRPr lang="en-US" sz="1500" dirty="0"/>
          </a:p>
        </p:txBody>
      </p:sp>
      <p:sp>
        <p:nvSpPr>
          <p:cNvPr id="28" name="Text 12"/>
          <p:cNvSpPr/>
          <p:nvPr/>
        </p:nvSpPr>
        <p:spPr>
          <a:xfrm>
            <a:off x="9296400" y="3190875"/>
            <a:ext cx="2057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Basic scanning (CVE database)</a:t>
            </a:r>
            <a:endParaRPr lang="en-US" sz="1200" dirty="0"/>
          </a:p>
        </p:txBody>
      </p:sp>
      <p:sp>
        <p:nvSpPr>
          <p:cNvPr id="29" name="Text 13"/>
          <p:cNvSpPr/>
          <p:nvPr/>
        </p:nvSpPr>
        <p:spPr>
          <a:xfrm>
            <a:off x="9296400" y="3762375"/>
            <a:ext cx="2057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Enhanced scanning with Amazon Inspector</a:t>
            </a:r>
            <a:endParaRPr lang="en-US" sz="1200" dirty="0"/>
          </a:p>
        </p:txBody>
      </p:sp>
      <p:sp>
        <p:nvSpPr>
          <p:cNvPr id="30" name="Text 14"/>
          <p:cNvSpPr/>
          <p:nvPr/>
        </p:nvSpPr>
        <p:spPr>
          <a:xfrm>
            <a:off x="9296400" y="4333875"/>
            <a:ext cx="2057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Continuous vulnerability detection</a:t>
            </a:r>
            <a:endParaRPr lang="en-US" sz="1200" dirty="0"/>
          </a:p>
        </p:txBody>
      </p:sp>
      <p:sp>
        <p:nvSpPr>
          <p:cNvPr id="31" name="Text 15"/>
          <p:cNvSpPr/>
          <p:nvPr/>
        </p:nvSpPr>
        <p:spPr>
          <a:xfrm>
            <a:off x="876300" y="6477000"/>
            <a:ext cx="116764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Amazon ECR</a:t>
            </a:r>
            <a:endParaRPr lang="en-US" sz="1200" dirty="0"/>
          </a:p>
        </p:txBody>
      </p:sp>
      <p:sp>
        <p:nvSpPr>
          <p:cNvPr id="32"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36/61</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010400" cy="304800"/>
          </a:xfrm>
          <a:prstGeom prst="rect">
            <a:avLst/>
          </a:prstGeom>
        </p:spPr>
      </p:pic>
      <p:pic>
        <p:nvPicPr>
          <p:cNvPr id="7" name="Image 5" descr="preencoded.png"/>
          <p:cNvPicPr>
            <a:picLocks noChangeAspect="1"/>
          </p:cNvPicPr>
          <p:nvPr/>
        </p:nvPicPr>
        <p:blipFill>
          <a:blip r:embed="rId7"/>
          <a:stretch>
            <a:fillRect/>
          </a:stretch>
        </p:blipFill>
        <p:spPr>
          <a:xfrm>
            <a:off x="762000" y="1066800"/>
            <a:ext cx="1547068" cy="266700"/>
          </a:xfrm>
          <a:prstGeom prst="rect">
            <a:avLst/>
          </a:prstGeom>
        </p:spPr>
      </p:pic>
      <p:pic>
        <p:nvPicPr>
          <p:cNvPr id="8" name="Image 6" descr="preencoded.png"/>
          <p:cNvPicPr>
            <a:picLocks noChangeAspect="1"/>
          </p:cNvPicPr>
          <p:nvPr/>
        </p:nvPicPr>
        <p:blipFill>
          <a:blip r:embed="rId8"/>
          <a:stretch>
            <a:fillRect/>
          </a:stretch>
        </p:blipFill>
        <p:spPr>
          <a:xfrm>
            <a:off x="609600" y="2343150"/>
            <a:ext cx="7010400" cy="1714500"/>
          </a:xfrm>
          <a:prstGeom prst="rect">
            <a:avLst/>
          </a:prstGeom>
        </p:spPr>
      </p:pic>
      <p:pic>
        <p:nvPicPr>
          <p:cNvPr id="9" name="Image 7" descr="preencoded.png"/>
          <p:cNvPicPr>
            <a:picLocks noChangeAspect="1"/>
          </p:cNvPicPr>
          <p:nvPr/>
        </p:nvPicPr>
        <p:blipFill>
          <a:blip r:embed="rId9"/>
          <a:stretch>
            <a:fillRect/>
          </a:stretch>
        </p:blipFill>
        <p:spPr>
          <a:xfrm>
            <a:off x="762000" y="2533650"/>
            <a:ext cx="228600" cy="304800"/>
          </a:xfrm>
          <a:prstGeom prst="rect">
            <a:avLst/>
          </a:prstGeom>
        </p:spPr>
      </p:pic>
      <p:pic>
        <p:nvPicPr>
          <p:cNvPr id="10" name="Image 8" descr="preencoded.png"/>
          <p:cNvPicPr>
            <a:picLocks noChangeAspect="1"/>
          </p:cNvPicPr>
          <p:nvPr/>
        </p:nvPicPr>
        <p:blipFill>
          <a:blip r:embed="rId10"/>
          <a:stretch>
            <a:fillRect/>
          </a:stretch>
        </p:blipFill>
        <p:spPr>
          <a:xfrm>
            <a:off x="609600" y="4286250"/>
            <a:ext cx="7010400" cy="762000"/>
          </a:xfrm>
          <a:prstGeom prst="rect">
            <a:avLst/>
          </a:prstGeom>
        </p:spPr>
      </p:pic>
      <p:pic>
        <p:nvPicPr>
          <p:cNvPr id="11" name="Image 9" descr="preencoded.png"/>
          <p:cNvPicPr>
            <a:picLocks noChangeAspect="1"/>
          </p:cNvPicPr>
          <p:nvPr/>
        </p:nvPicPr>
        <p:blipFill>
          <a:blip r:embed="rId11"/>
          <a:stretch>
            <a:fillRect/>
          </a:stretch>
        </p:blipFill>
        <p:spPr>
          <a:xfrm>
            <a:off x="762000" y="4533900"/>
            <a:ext cx="142875" cy="266700"/>
          </a:xfrm>
          <a:prstGeom prst="rect">
            <a:avLst/>
          </a:prstGeom>
        </p:spPr>
      </p:pic>
      <p:pic>
        <p:nvPicPr>
          <p:cNvPr id="12" name="Image 10" descr="preencoded.png"/>
          <p:cNvPicPr>
            <a:picLocks noChangeAspect="1"/>
          </p:cNvPicPr>
          <p:nvPr/>
        </p:nvPicPr>
        <p:blipFill>
          <a:blip r:embed="rId12"/>
          <a:stretch>
            <a:fillRect/>
          </a:stretch>
        </p:blipFill>
        <p:spPr>
          <a:xfrm>
            <a:off x="7924800" y="2524125"/>
            <a:ext cx="3657600" cy="2171700"/>
          </a:xfrm>
          <a:prstGeom prst="rect">
            <a:avLst/>
          </a:prstGeom>
        </p:spPr>
      </p:pic>
      <p:pic>
        <p:nvPicPr>
          <p:cNvPr id="13" name="Image 11" descr="preencoded.png"/>
          <p:cNvPicPr>
            <a:picLocks noChangeAspect="1"/>
          </p:cNvPicPr>
          <p:nvPr/>
        </p:nvPicPr>
        <p:blipFill>
          <a:blip r:embed="rId13"/>
          <a:stretch>
            <a:fillRect/>
          </a:stretch>
        </p:blipFill>
        <p:spPr>
          <a:xfrm>
            <a:off x="9467850" y="3171825"/>
            <a:ext cx="571500" cy="571500"/>
          </a:xfrm>
          <a:prstGeom prst="rect">
            <a:avLst/>
          </a:prstGeom>
        </p:spPr>
      </p:pic>
      <p:pic>
        <p:nvPicPr>
          <p:cNvPr id="14" name="Image 12" descr="preencoded.png"/>
          <p:cNvPicPr>
            <a:picLocks noChangeAspect="1"/>
          </p:cNvPicPr>
          <p:nvPr/>
        </p:nvPicPr>
        <p:blipFill>
          <a:blip r:embed="rId14"/>
          <a:stretch>
            <a:fillRect/>
          </a:stretch>
        </p:blipFill>
        <p:spPr>
          <a:xfrm>
            <a:off x="8153400" y="3952875"/>
            <a:ext cx="114300" cy="114300"/>
          </a:xfrm>
          <a:prstGeom prst="rect">
            <a:avLst/>
          </a:prstGeom>
        </p:spPr>
      </p:pic>
      <p:pic>
        <p:nvPicPr>
          <p:cNvPr id="15" name="Image 13" descr="preencoded.png"/>
          <p:cNvPicPr>
            <a:picLocks noChangeAspect="1"/>
          </p:cNvPicPr>
          <p:nvPr/>
        </p:nvPicPr>
        <p:blipFill>
          <a:blip r:embed="rId15"/>
          <a:stretch>
            <a:fillRect/>
          </a:stretch>
        </p:blipFill>
        <p:spPr>
          <a:xfrm>
            <a:off x="8153400" y="4295775"/>
            <a:ext cx="114300" cy="114300"/>
          </a:xfrm>
          <a:prstGeom prst="rect">
            <a:avLst/>
          </a:prstGeom>
        </p:spPr>
      </p:pic>
      <p:pic>
        <p:nvPicPr>
          <p:cNvPr id="16" name="Image 14" descr="preencoded.png"/>
          <p:cNvPicPr>
            <a:picLocks noChangeAspect="1"/>
          </p:cNvPicPr>
          <p:nvPr/>
        </p:nvPicPr>
        <p:blipFill>
          <a:blip r:embed="rId16"/>
          <a:stretch>
            <a:fillRect/>
          </a:stretch>
        </p:blipFill>
        <p:spPr>
          <a:xfrm>
            <a:off x="609600" y="6515100"/>
            <a:ext cx="190500" cy="152400"/>
          </a:xfrm>
          <a:prstGeom prst="rect">
            <a:avLst/>
          </a:prstGeom>
        </p:spPr>
      </p:pic>
      <p:sp>
        <p:nvSpPr>
          <p:cNvPr id="17"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18</a:t>
            </a:r>
            <a:endParaRPr lang="en-US" sz="1200" dirty="0"/>
          </a:p>
        </p:txBody>
      </p:sp>
      <p:sp>
        <p:nvSpPr>
          <p:cNvPr id="18" name="Text 1"/>
          <p:cNvSpPr/>
          <p:nvPr/>
        </p:nvSpPr>
        <p:spPr>
          <a:xfrm>
            <a:off x="1143000" y="304800"/>
            <a:ext cx="557337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ECR Image Scanning Feature</a:t>
            </a:r>
            <a:endParaRPr lang="en-US" sz="2250" dirty="0"/>
          </a:p>
        </p:txBody>
      </p:sp>
      <p:sp>
        <p:nvSpPr>
          <p:cNvPr id="19" name="Text 2"/>
          <p:cNvSpPr/>
          <p:nvPr/>
        </p:nvSpPr>
        <p:spPr>
          <a:xfrm>
            <a:off x="838200" y="1066800"/>
            <a:ext cx="1856482" cy="266700"/>
          </a:xfrm>
          <a:prstGeom prst="rect">
            <a:avLst/>
          </a:prstGeom>
          <a:noFill/>
          <a:ln/>
        </p:spPr>
        <p:txBody>
          <a:bodyPr vert="horz" wrap="square" lIns="0" tIns="0" rIns="0" bIns="0" rtlCol="0" anchor="t"/>
          <a:lstStyle/>
          <a:p>
            <a:pPr marL="0" indent="0">
              <a:lnSpc>
                <a:spcPts val="1500"/>
              </a:lnSpc>
              <a:buNone/>
            </a:pPr>
            <a:r>
              <a:rPr lang="en-US" sz="1050" b="1" dirty="0">
                <a:solidFill>
                  <a:srgbClr val="FFFFFF"/>
                </a:solidFill>
                <a:latin typeface="ui-sans-serif" pitchFamily="34" charset="0"/>
                <a:ea typeface="ui-sans-serif" pitchFamily="34" charset="-122"/>
                <a:cs typeface="ui-sans-serif" pitchFamily="34" charset="-120"/>
              </a:rPr>
              <a:t>CORRECT ANSWER</a:t>
            </a:r>
            <a:endParaRPr lang="en-US" sz="1050" dirty="0"/>
          </a:p>
        </p:txBody>
      </p:sp>
      <p:sp>
        <p:nvSpPr>
          <p:cNvPr id="20" name="Text 3"/>
          <p:cNvSpPr/>
          <p:nvPr/>
        </p:nvSpPr>
        <p:spPr>
          <a:xfrm>
            <a:off x="2423368" y="1047750"/>
            <a:ext cx="2873573"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C. Image Scanning</a:t>
            </a:r>
            <a:endParaRPr lang="en-US" sz="1800" dirty="0"/>
          </a:p>
        </p:txBody>
      </p:sp>
      <p:sp>
        <p:nvSpPr>
          <p:cNvPr id="21" name="Text 4"/>
          <p:cNvSpPr/>
          <p:nvPr/>
        </p:nvSpPr>
        <p:spPr>
          <a:xfrm>
            <a:off x="609600" y="1581150"/>
            <a:ext cx="701040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Amazon ECR image scanning helps identify software vulnerabilities in container images.</a:t>
            </a:r>
            <a:endParaRPr lang="en-US" sz="1500" dirty="0"/>
          </a:p>
        </p:txBody>
      </p:sp>
      <p:sp>
        <p:nvSpPr>
          <p:cNvPr id="22" name="Text 5"/>
          <p:cNvSpPr/>
          <p:nvPr/>
        </p:nvSpPr>
        <p:spPr>
          <a:xfrm>
            <a:off x="1143000" y="2495550"/>
            <a:ext cx="6324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Key Points:</a:t>
            </a:r>
            <a:endParaRPr lang="en-US" sz="1500" dirty="0"/>
          </a:p>
        </p:txBody>
      </p:sp>
      <p:sp>
        <p:nvSpPr>
          <p:cNvPr id="23" name="Text 6"/>
          <p:cNvSpPr/>
          <p:nvPr/>
        </p:nvSpPr>
        <p:spPr>
          <a:xfrm>
            <a:off x="1181100" y="2838450"/>
            <a:ext cx="75438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000000"/>
                </a:solidFill>
                <a:latin typeface="ui-sans-serif" pitchFamily="34" charset="0"/>
                <a:ea typeface="ui-sans-serif" pitchFamily="34" charset="-122"/>
                <a:cs typeface="ui-sans-serif" pitchFamily="34" charset="-120"/>
              </a:rPr>
              <a:t>Basic scanning uses the CVE database to identify vulnerabilities</a:t>
            </a:r>
            <a:endParaRPr lang="en-US" sz="1200" dirty="0"/>
          </a:p>
        </p:txBody>
      </p:sp>
      <p:sp>
        <p:nvSpPr>
          <p:cNvPr id="24" name="Text 7"/>
          <p:cNvSpPr/>
          <p:nvPr/>
        </p:nvSpPr>
        <p:spPr>
          <a:xfrm>
            <a:off x="1181100" y="3143250"/>
            <a:ext cx="62865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000000"/>
                </a:solidFill>
                <a:latin typeface="ui-sans-serif" pitchFamily="34" charset="0"/>
                <a:ea typeface="ui-sans-serif" pitchFamily="34" charset="-122"/>
                <a:cs typeface="ui-sans-serif" pitchFamily="34" charset="-120"/>
              </a:rPr>
              <a:t>Enhanced scanning integrates with Amazon Inspector for continuous scanning of OS and programming language package vulnerabilities</a:t>
            </a:r>
            <a:endParaRPr lang="en-US" sz="1200" dirty="0"/>
          </a:p>
        </p:txBody>
      </p:sp>
      <p:sp>
        <p:nvSpPr>
          <p:cNvPr id="25" name="Text 8"/>
          <p:cNvSpPr/>
          <p:nvPr/>
        </p:nvSpPr>
        <p:spPr>
          <a:xfrm>
            <a:off x="1181100" y="3676650"/>
            <a:ext cx="75438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000000"/>
                </a:solidFill>
                <a:latin typeface="ui-sans-serif" pitchFamily="34" charset="0"/>
                <a:ea typeface="ui-sans-serif" pitchFamily="34" charset="-122"/>
                <a:cs typeface="ui-sans-serif" pitchFamily="34" charset="-120"/>
              </a:rPr>
              <a:t>Helps ensure container images are secure before deployment</a:t>
            </a:r>
            <a:endParaRPr lang="en-US" sz="1200" dirty="0"/>
          </a:p>
        </p:txBody>
      </p:sp>
      <p:sp>
        <p:nvSpPr>
          <p:cNvPr id="26" name="Text 9"/>
          <p:cNvSpPr/>
          <p:nvPr/>
        </p:nvSpPr>
        <p:spPr>
          <a:xfrm>
            <a:off x="1019175" y="4438650"/>
            <a:ext cx="6448425" cy="457200"/>
          </a:xfrm>
          <a:prstGeom prst="rect">
            <a:avLst/>
          </a:prstGeom>
          <a:noFill/>
          <a:ln/>
        </p:spPr>
        <p:txBody>
          <a:bodyPr vert="horz" wrap="square" lIns="0" tIns="0" rIns="0" bIns="0" rtlCol="0" anchor="t"/>
          <a:lstStyle/>
          <a:p>
            <a:pPr marL="0" indent="0">
              <a:lnSpc>
                <a:spcPts val="1800"/>
              </a:lnSpc>
              <a:buNone/>
            </a:pPr>
            <a:r>
              <a:rPr lang="en-US" sz="1200" i="1" dirty="0">
                <a:solidFill>
                  <a:srgbClr val="374151"/>
                </a:solidFill>
                <a:latin typeface="ui-sans-serif" pitchFamily="34" charset="0"/>
                <a:ea typeface="ui-sans-serif" pitchFamily="34" charset="-122"/>
                <a:cs typeface="ui-sans-serif" pitchFamily="34" charset="-120"/>
              </a:rPr>
              <a:t>Image scanning is an important security feature that helps maintain the integrity of container images in your registry.</a:t>
            </a:r>
            <a:endParaRPr lang="en-US" sz="1200" dirty="0"/>
          </a:p>
        </p:txBody>
      </p:sp>
      <p:sp>
        <p:nvSpPr>
          <p:cNvPr id="27" name="Text 10"/>
          <p:cNvSpPr/>
          <p:nvPr/>
        </p:nvSpPr>
        <p:spPr>
          <a:xfrm>
            <a:off x="7833360" y="2752725"/>
            <a:ext cx="384048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F2937"/>
                </a:solidFill>
                <a:latin typeface="ui-sans-serif" pitchFamily="34" charset="0"/>
                <a:ea typeface="ui-sans-serif" pitchFamily="34" charset="-122"/>
                <a:cs typeface="ui-sans-serif" pitchFamily="34" charset="-120"/>
              </a:rPr>
              <a:t>ECR Image Scanning</a:t>
            </a:r>
            <a:endParaRPr lang="en-US" sz="1500" dirty="0"/>
          </a:p>
        </p:txBody>
      </p:sp>
      <p:sp>
        <p:nvSpPr>
          <p:cNvPr id="28" name="Text 11"/>
          <p:cNvSpPr/>
          <p:nvPr/>
        </p:nvSpPr>
        <p:spPr>
          <a:xfrm>
            <a:off x="8343900" y="3895725"/>
            <a:ext cx="1385709"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Basic Scanning</a:t>
            </a:r>
            <a:endParaRPr lang="en-US" sz="1200" dirty="0"/>
          </a:p>
        </p:txBody>
      </p:sp>
      <p:sp>
        <p:nvSpPr>
          <p:cNvPr id="29" name="Text 12"/>
          <p:cNvSpPr/>
          <p:nvPr/>
        </p:nvSpPr>
        <p:spPr>
          <a:xfrm>
            <a:off x="8343900" y="4238625"/>
            <a:ext cx="180594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Enhanced Scanning</a:t>
            </a:r>
            <a:endParaRPr lang="en-US" sz="1200" dirty="0"/>
          </a:p>
        </p:txBody>
      </p:sp>
      <p:sp>
        <p:nvSpPr>
          <p:cNvPr id="30" name="Text 13"/>
          <p:cNvSpPr/>
          <p:nvPr/>
        </p:nvSpPr>
        <p:spPr>
          <a:xfrm>
            <a:off x="876300" y="6477000"/>
            <a:ext cx="116764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Amazon ECR</a:t>
            </a:r>
            <a:endParaRPr lang="en-US" sz="1200" dirty="0"/>
          </a:p>
        </p:txBody>
      </p:sp>
      <p:sp>
        <p:nvSpPr>
          <p:cNvPr id="31" name="Text 14"/>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37/61</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657350"/>
            <a:ext cx="3848100" cy="838200"/>
          </a:xfrm>
          <a:prstGeom prst="rect">
            <a:avLst/>
          </a:prstGeom>
        </p:spPr>
      </p:pic>
      <p:pic>
        <p:nvPicPr>
          <p:cNvPr id="7" name="Image 5" descr="preencoded.png"/>
          <p:cNvPicPr>
            <a:picLocks noChangeAspect="1"/>
          </p:cNvPicPr>
          <p:nvPr/>
        </p:nvPicPr>
        <p:blipFill>
          <a:blip r:embed="rId6"/>
          <a:stretch>
            <a:fillRect/>
          </a:stretch>
        </p:blipFill>
        <p:spPr>
          <a:xfrm>
            <a:off x="4686300" y="1657350"/>
            <a:ext cx="3848100" cy="838200"/>
          </a:xfrm>
          <a:prstGeom prst="rect">
            <a:avLst/>
          </a:prstGeom>
        </p:spPr>
      </p:pic>
      <p:pic>
        <p:nvPicPr>
          <p:cNvPr id="8" name="Image 6" descr="preencoded.png"/>
          <p:cNvPicPr>
            <a:picLocks noChangeAspect="1"/>
          </p:cNvPicPr>
          <p:nvPr/>
        </p:nvPicPr>
        <p:blipFill>
          <a:blip r:embed="rId6"/>
          <a:stretch>
            <a:fillRect/>
          </a:stretch>
        </p:blipFill>
        <p:spPr>
          <a:xfrm>
            <a:off x="609600" y="2724150"/>
            <a:ext cx="3848100" cy="838200"/>
          </a:xfrm>
          <a:prstGeom prst="rect">
            <a:avLst/>
          </a:prstGeom>
        </p:spPr>
      </p:pic>
      <p:pic>
        <p:nvPicPr>
          <p:cNvPr id="9" name="Image 7" descr="preencoded.png"/>
          <p:cNvPicPr>
            <a:picLocks noChangeAspect="1"/>
          </p:cNvPicPr>
          <p:nvPr/>
        </p:nvPicPr>
        <p:blipFill>
          <a:blip r:embed="rId6"/>
          <a:stretch>
            <a:fillRect/>
          </a:stretch>
        </p:blipFill>
        <p:spPr>
          <a:xfrm>
            <a:off x="4686300" y="2724150"/>
            <a:ext cx="3848100" cy="838200"/>
          </a:xfrm>
          <a:prstGeom prst="rect">
            <a:avLst/>
          </a:prstGeom>
        </p:spPr>
      </p:pic>
      <p:pic>
        <p:nvPicPr>
          <p:cNvPr id="10" name="Image 8" descr="preencoded.png"/>
          <p:cNvPicPr>
            <a:picLocks noChangeAspect="1"/>
          </p:cNvPicPr>
          <p:nvPr/>
        </p:nvPicPr>
        <p:blipFill>
          <a:blip r:embed="rId7"/>
          <a:stretch>
            <a:fillRect/>
          </a:stretch>
        </p:blipFill>
        <p:spPr>
          <a:xfrm>
            <a:off x="9782175" y="2581275"/>
            <a:ext cx="857250" cy="685800"/>
          </a:xfrm>
          <a:prstGeom prst="rect">
            <a:avLst/>
          </a:prstGeom>
        </p:spPr>
      </p:pic>
      <p:pic>
        <p:nvPicPr>
          <p:cNvPr id="11" name="Image 9" descr="preencoded.png"/>
          <p:cNvPicPr>
            <a:picLocks noChangeAspect="1"/>
          </p:cNvPicPr>
          <p:nvPr/>
        </p:nvPicPr>
        <p:blipFill>
          <a:blip r:embed="rId8"/>
          <a:stretch>
            <a:fillRect/>
          </a:stretch>
        </p:blipFill>
        <p:spPr>
          <a:xfrm>
            <a:off x="609600" y="6515100"/>
            <a:ext cx="190500" cy="152400"/>
          </a:xfrm>
          <a:prstGeom prst="rect">
            <a:avLst/>
          </a:prstGeom>
        </p:spPr>
      </p:pic>
      <p:sp>
        <p:nvSpPr>
          <p:cNvPr id="12"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19</a:t>
            </a:r>
            <a:endParaRPr lang="en-US" sz="1200" dirty="0"/>
          </a:p>
        </p:txBody>
      </p:sp>
      <p:sp>
        <p:nvSpPr>
          <p:cNvPr id="13" name="Text 1"/>
          <p:cNvSpPr/>
          <p:nvPr/>
        </p:nvSpPr>
        <p:spPr>
          <a:xfrm>
            <a:off x="1143000" y="304800"/>
            <a:ext cx="5867698"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ECR Lifecycle Policies Purpose</a:t>
            </a:r>
            <a:endParaRPr lang="en-US" sz="2250" dirty="0"/>
          </a:p>
        </p:txBody>
      </p:sp>
      <p:sp>
        <p:nvSpPr>
          <p:cNvPr id="14" name="Text 2"/>
          <p:cNvSpPr/>
          <p:nvPr/>
        </p:nvSpPr>
        <p:spPr>
          <a:xfrm>
            <a:off x="609600" y="1047750"/>
            <a:ext cx="95097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main purpose of Amazon ECR lifecycle policies?</a:t>
            </a:r>
            <a:endParaRPr lang="en-US" sz="1800" dirty="0"/>
          </a:p>
        </p:txBody>
      </p:sp>
      <p:sp>
        <p:nvSpPr>
          <p:cNvPr id="15" name="Text 3"/>
          <p:cNvSpPr/>
          <p:nvPr/>
        </p:nvSpPr>
        <p:spPr>
          <a:xfrm>
            <a:off x="762000" y="18097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6" name="Text 4"/>
          <p:cNvSpPr/>
          <p:nvPr/>
        </p:nvSpPr>
        <p:spPr>
          <a:xfrm>
            <a:off x="1099691" y="1809750"/>
            <a:ext cx="372082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encrypt container images at rest.</a:t>
            </a:r>
            <a:endParaRPr lang="en-US" sz="1350" dirty="0"/>
          </a:p>
        </p:txBody>
      </p:sp>
      <p:sp>
        <p:nvSpPr>
          <p:cNvPr id="17" name="Text 5"/>
          <p:cNvSpPr/>
          <p:nvPr/>
        </p:nvSpPr>
        <p:spPr>
          <a:xfrm>
            <a:off x="4838700" y="18097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18" name="Text 6"/>
          <p:cNvSpPr/>
          <p:nvPr/>
        </p:nvSpPr>
        <p:spPr>
          <a:xfrm>
            <a:off x="5170587" y="1809750"/>
            <a:ext cx="3211413"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automate the cleanup of old or unused container images.</a:t>
            </a:r>
            <a:endParaRPr lang="en-US" sz="1350" dirty="0"/>
          </a:p>
        </p:txBody>
      </p:sp>
      <p:sp>
        <p:nvSpPr>
          <p:cNvPr id="19" name="Text 7"/>
          <p:cNvSpPr/>
          <p:nvPr/>
        </p:nvSpPr>
        <p:spPr>
          <a:xfrm>
            <a:off x="762000" y="28765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0" name="Text 8"/>
          <p:cNvSpPr/>
          <p:nvPr/>
        </p:nvSpPr>
        <p:spPr>
          <a:xfrm>
            <a:off x="1088529" y="2876550"/>
            <a:ext cx="3216771"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replicate images across different AWS regions.</a:t>
            </a:r>
            <a:endParaRPr lang="en-US" sz="1350" dirty="0"/>
          </a:p>
        </p:txBody>
      </p:sp>
      <p:sp>
        <p:nvSpPr>
          <p:cNvPr id="21" name="Text 9"/>
          <p:cNvSpPr/>
          <p:nvPr/>
        </p:nvSpPr>
        <p:spPr>
          <a:xfrm>
            <a:off x="4838700" y="28765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2" name="Text 10"/>
          <p:cNvSpPr/>
          <p:nvPr/>
        </p:nvSpPr>
        <p:spPr>
          <a:xfrm>
            <a:off x="5183535" y="2876550"/>
            <a:ext cx="3198465"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provide fine-grained access control to repositories.</a:t>
            </a:r>
            <a:endParaRPr lang="en-US" sz="1350" dirty="0"/>
          </a:p>
        </p:txBody>
      </p:sp>
      <p:sp>
        <p:nvSpPr>
          <p:cNvPr id="23" name="Text 11"/>
          <p:cNvSpPr/>
          <p:nvPr/>
        </p:nvSpPr>
        <p:spPr>
          <a:xfrm>
            <a:off x="8839200" y="3495675"/>
            <a:ext cx="2743200" cy="1143000"/>
          </a:xfrm>
          <a:prstGeom prst="rect">
            <a:avLst/>
          </a:prstGeom>
          <a:noFill/>
          <a:ln/>
        </p:spPr>
        <p:txBody>
          <a:bodyPr vert="horz" wrap="square" lIns="0" tIns="0" rIns="0" bIns="0" rtlCol="0" anchor="t"/>
          <a:lstStyle/>
          <a:p>
            <a:pPr marL="0" indent="0" algn="ctr">
              <a:lnSpc>
                <a:spcPts val="1800"/>
              </a:lnSpc>
              <a:buNone/>
            </a:pPr>
            <a:r>
              <a:rPr lang="en-US" sz="1200" i="1" dirty="0">
                <a:solidFill>
                  <a:srgbClr val="4B5563"/>
                </a:solidFill>
                <a:latin typeface="ui-sans-serif" pitchFamily="34" charset="0"/>
                <a:ea typeface="ui-sans-serif" pitchFamily="34" charset="-122"/>
                <a:cs typeface="ui-sans-serif" pitchFamily="34" charset="-120"/>
              </a:rPr>
              <a:t>"ECR lifecycle policies help manage the lifecycle of images in your private repository, allowing you to define rules for cleaning up unused images based on age or count."</a:t>
            </a:r>
            <a:endParaRPr lang="en-US" sz="1200" dirty="0"/>
          </a:p>
        </p:txBody>
      </p:sp>
      <p:sp>
        <p:nvSpPr>
          <p:cNvPr id="24" name="Text 12"/>
          <p:cNvSpPr/>
          <p:nvPr/>
        </p:nvSpPr>
        <p:spPr>
          <a:xfrm>
            <a:off x="876300" y="6477000"/>
            <a:ext cx="116764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Amazon ECR</a:t>
            </a:r>
            <a:endParaRPr lang="en-US" sz="1200" dirty="0"/>
          </a:p>
        </p:txBody>
      </p:sp>
      <p:sp>
        <p:nvSpPr>
          <p:cNvPr id="25" name="Text 13"/>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38/61</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924800" cy="1104900"/>
          </a:xfrm>
          <a:prstGeom prst="rect">
            <a:avLst/>
          </a:prstGeom>
        </p:spPr>
      </p:pic>
      <p:pic>
        <p:nvPicPr>
          <p:cNvPr id="7" name="Image 5" descr="preencoded.png"/>
          <p:cNvPicPr>
            <a:picLocks noChangeAspect="1"/>
          </p:cNvPicPr>
          <p:nvPr/>
        </p:nvPicPr>
        <p:blipFill>
          <a:blip r:embed="rId7"/>
          <a:stretch>
            <a:fillRect/>
          </a:stretch>
        </p:blipFill>
        <p:spPr>
          <a:xfrm>
            <a:off x="838200" y="1390650"/>
            <a:ext cx="228600" cy="304800"/>
          </a:xfrm>
          <a:prstGeom prst="rect">
            <a:avLst/>
          </a:prstGeom>
        </p:spPr>
      </p:pic>
      <p:pic>
        <p:nvPicPr>
          <p:cNvPr id="8" name="Image 6" descr="preencoded.png"/>
          <p:cNvPicPr>
            <a:picLocks noChangeAspect="1"/>
          </p:cNvPicPr>
          <p:nvPr/>
        </p:nvPicPr>
        <p:blipFill>
          <a:blip r:embed="rId8"/>
          <a:stretch>
            <a:fillRect/>
          </a:stretch>
        </p:blipFill>
        <p:spPr>
          <a:xfrm>
            <a:off x="609600" y="2838450"/>
            <a:ext cx="7924800" cy="2286000"/>
          </a:xfrm>
          <a:prstGeom prst="rect">
            <a:avLst/>
          </a:prstGeom>
        </p:spPr>
      </p:pic>
      <p:pic>
        <p:nvPicPr>
          <p:cNvPr id="9" name="Image 7" descr="preencoded.png"/>
          <p:cNvPicPr>
            <a:picLocks noChangeAspect="1"/>
          </p:cNvPicPr>
          <p:nvPr/>
        </p:nvPicPr>
        <p:blipFill>
          <a:blip r:embed="rId9"/>
          <a:stretch>
            <a:fillRect/>
          </a:stretch>
        </p:blipFill>
        <p:spPr>
          <a:xfrm>
            <a:off x="762000" y="3981450"/>
            <a:ext cx="152400" cy="152400"/>
          </a:xfrm>
          <a:prstGeom prst="rect">
            <a:avLst/>
          </a:prstGeom>
        </p:spPr>
      </p:pic>
      <p:pic>
        <p:nvPicPr>
          <p:cNvPr id="10" name="Image 8" descr="preencoded.png"/>
          <p:cNvPicPr>
            <a:picLocks noChangeAspect="1"/>
          </p:cNvPicPr>
          <p:nvPr/>
        </p:nvPicPr>
        <p:blipFill>
          <a:blip r:embed="rId9"/>
          <a:stretch>
            <a:fillRect/>
          </a:stretch>
        </p:blipFill>
        <p:spPr>
          <a:xfrm>
            <a:off x="762000" y="4362450"/>
            <a:ext cx="152400" cy="152400"/>
          </a:xfrm>
          <a:prstGeom prst="rect">
            <a:avLst/>
          </a:prstGeom>
        </p:spPr>
      </p:pic>
      <p:pic>
        <p:nvPicPr>
          <p:cNvPr id="11" name="Image 9" descr="preencoded.png"/>
          <p:cNvPicPr>
            <a:picLocks noChangeAspect="1"/>
          </p:cNvPicPr>
          <p:nvPr/>
        </p:nvPicPr>
        <p:blipFill>
          <a:blip r:embed="rId9"/>
          <a:stretch>
            <a:fillRect/>
          </a:stretch>
        </p:blipFill>
        <p:spPr>
          <a:xfrm>
            <a:off x="762000" y="4743450"/>
            <a:ext cx="152400" cy="152400"/>
          </a:xfrm>
          <a:prstGeom prst="rect">
            <a:avLst/>
          </a:prstGeom>
        </p:spPr>
      </p:pic>
      <p:pic>
        <p:nvPicPr>
          <p:cNvPr id="12" name="Image 10" descr="preencoded.png"/>
          <p:cNvPicPr>
            <a:picLocks noChangeAspect="1"/>
          </p:cNvPicPr>
          <p:nvPr/>
        </p:nvPicPr>
        <p:blipFill>
          <a:blip r:embed="rId10"/>
          <a:stretch>
            <a:fillRect/>
          </a:stretch>
        </p:blipFill>
        <p:spPr>
          <a:xfrm>
            <a:off x="9782175" y="2409825"/>
            <a:ext cx="857250" cy="685800"/>
          </a:xfrm>
          <a:prstGeom prst="rect">
            <a:avLst/>
          </a:prstGeom>
        </p:spPr>
      </p:pic>
      <p:pic>
        <p:nvPicPr>
          <p:cNvPr id="13" name="Image 11" descr="preencoded.png"/>
          <p:cNvPicPr>
            <a:picLocks noChangeAspect="1"/>
          </p:cNvPicPr>
          <p:nvPr/>
        </p:nvPicPr>
        <p:blipFill>
          <a:blip r:embed="rId11"/>
          <a:stretch>
            <a:fillRect/>
          </a:stretch>
        </p:blipFill>
        <p:spPr>
          <a:xfrm>
            <a:off x="8839200" y="3324225"/>
            <a:ext cx="2743200" cy="1485900"/>
          </a:xfrm>
          <a:prstGeom prst="rect">
            <a:avLst/>
          </a:prstGeom>
        </p:spPr>
      </p:pic>
      <p:pic>
        <p:nvPicPr>
          <p:cNvPr id="14" name="Image 12" descr="preencoded.png"/>
          <p:cNvPicPr>
            <a:picLocks noChangeAspect="1"/>
          </p:cNvPicPr>
          <p:nvPr/>
        </p:nvPicPr>
        <p:blipFill>
          <a:blip r:embed="rId12"/>
          <a:stretch>
            <a:fillRect/>
          </a:stretch>
        </p:blipFill>
        <p:spPr>
          <a:xfrm>
            <a:off x="8991600" y="3857625"/>
            <a:ext cx="190500" cy="152400"/>
          </a:xfrm>
          <a:prstGeom prst="rect">
            <a:avLst/>
          </a:prstGeom>
        </p:spPr>
      </p:pic>
      <p:pic>
        <p:nvPicPr>
          <p:cNvPr id="15" name="Image 13" descr="preencoded.png"/>
          <p:cNvPicPr>
            <a:picLocks noChangeAspect="1"/>
          </p:cNvPicPr>
          <p:nvPr/>
        </p:nvPicPr>
        <p:blipFill>
          <a:blip r:embed="rId13"/>
          <a:stretch>
            <a:fillRect/>
          </a:stretch>
        </p:blipFill>
        <p:spPr>
          <a:xfrm>
            <a:off x="8991600" y="4162425"/>
            <a:ext cx="152400" cy="152400"/>
          </a:xfrm>
          <a:prstGeom prst="rect">
            <a:avLst/>
          </a:prstGeom>
        </p:spPr>
      </p:pic>
      <p:pic>
        <p:nvPicPr>
          <p:cNvPr id="16" name="Image 14" descr="preencoded.png"/>
          <p:cNvPicPr>
            <a:picLocks noChangeAspect="1"/>
          </p:cNvPicPr>
          <p:nvPr/>
        </p:nvPicPr>
        <p:blipFill>
          <a:blip r:embed="rId14"/>
          <a:stretch>
            <a:fillRect/>
          </a:stretch>
        </p:blipFill>
        <p:spPr>
          <a:xfrm>
            <a:off x="8991600" y="4467225"/>
            <a:ext cx="152400" cy="152400"/>
          </a:xfrm>
          <a:prstGeom prst="rect">
            <a:avLst/>
          </a:prstGeom>
        </p:spPr>
      </p:pic>
      <p:pic>
        <p:nvPicPr>
          <p:cNvPr id="17" name="Image 15" descr="preencoded.png"/>
          <p:cNvPicPr>
            <a:picLocks noChangeAspect="1"/>
          </p:cNvPicPr>
          <p:nvPr/>
        </p:nvPicPr>
        <p:blipFill>
          <a:blip r:embed="rId15"/>
          <a:stretch>
            <a:fillRect/>
          </a:stretch>
        </p:blipFill>
        <p:spPr>
          <a:xfrm>
            <a:off x="609600" y="6515100"/>
            <a:ext cx="152400" cy="152400"/>
          </a:xfrm>
          <a:prstGeom prst="rect">
            <a:avLst/>
          </a:prstGeom>
        </p:spPr>
      </p:pic>
      <p:sp>
        <p:nvSpPr>
          <p:cNvPr id="18"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19</a:t>
            </a:r>
            <a:endParaRPr lang="en-US" sz="1200" dirty="0"/>
          </a:p>
        </p:txBody>
      </p:sp>
      <p:sp>
        <p:nvSpPr>
          <p:cNvPr id="19" name="Text 1"/>
          <p:cNvSpPr/>
          <p:nvPr/>
        </p:nvSpPr>
        <p:spPr>
          <a:xfrm>
            <a:off x="1143000" y="304800"/>
            <a:ext cx="5867698"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ECR Lifecycle Policies Purpose</a:t>
            </a:r>
            <a:endParaRPr lang="en-US" sz="2250" dirty="0"/>
          </a:p>
        </p:txBody>
      </p:sp>
      <p:sp>
        <p:nvSpPr>
          <p:cNvPr id="20" name="Text 2"/>
          <p:cNvSpPr/>
          <p:nvPr/>
        </p:nvSpPr>
        <p:spPr>
          <a:xfrm>
            <a:off x="1181100" y="1276350"/>
            <a:ext cx="7124700" cy="5334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Correct Answer: B. To automate the cleanup of old or unused container images.</a:t>
            </a:r>
            <a:endParaRPr lang="en-US" sz="1500" dirty="0"/>
          </a:p>
        </p:txBody>
      </p:sp>
      <p:sp>
        <p:nvSpPr>
          <p:cNvPr id="21" name="Text 3"/>
          <p:cNvSpPr/>
          <p:nvPr/>
        </p:nvSpPr>
        <p:spPr>
          <a:xfrm>
            <a:off x="609600" y="2381250"/>
            <a:ext cx="7924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2" name="Text 4"/>
          <p:cNvSpPr/>
          <p:nvPr/>
        </p:nvSpPr>
        <p:spPr>
          <a:xfrm>
            <a:off x="762000" y="2990850"/>
            <a:ext cx="76200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Amazon ECR lifecycle policies provide more control over the lifecycle management of images in a private repository by defining rules for cleaning up unused images based on age or count.</a:t>
            </a:r>
            <a:endParaRPr lang="en-US" sz="1350" dirty="0"/>
          </a:p>
        </p:txBody>
      </p:sp>
      <p:sp>
        <p:nvSpPr>
          <p:cNvPr id="23" name="Text 5"/>
          <p:cNvSpPr/>
          <p:nvPr/>
        </p:nvSpPr>
        <p:spPr>
          <a:xfrm>
            <a:off x="1028700" y="3943350"/>
            <a:ext cx="3014305" cy="2667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Helps in saving storage costs</a:t>
            </a:r>
            <a:endParaRPr lang="en-US" sz="1350" dirty="0"/>
          </a:p>
        </p:txBody>
      </p:sp>
      <p:sp>
        <p:nvSpPr>
          <p:cNvPr id="24" name="Text 6"/>
          <p:cNvSpPr/>
          <p:nvPr/>
        </p:nvSpPr>
        <p:spPr>
          <a:xfrm>
            <a:off x="1028700" y="4324350"/>
            <a:ext cx="4551462" cy="2667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Automates cleanup of old or unused images</a:t>
            </a:r>
            <a:endParaRPr lang="en-US" sz="1350" dirty="0"/>
          </a:p>
        </p:txBody>
      </p:sp>
      <p:sp>
        <p:nvSpPr>
          <p:cNvPr id="25" name="Text 7"/>
          <p:cNvSpPr/>
          <p:nvPr/>
        </p:nvSpPr>
        <p:spPr>
          <a:xfrm>
            <a:off x="1028700" y="4705350"/>
            <a:ext cx="6508135" cy="2667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Provides flexibility to define rules based on image age or count</a:t>
            </a:r>
            <a:endParaRPr lang="en-US" sz="1350" dirty="0"/>
          </a:p>
        </p:txBody>
      </p:sp>
      <p:sp>
        <p:nvSpPr>
          <p:cNvPr id="26" name="Text 8"/>
          <p:cNvSpPr/>
          <p:nvPr/>
        </p:nvSpPr>
        <p:spPr>
          <a:xfrm>
            <a:off x="8747760" y="3476625"/>
            <a:ext cx="292608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374151"/>
                </a:solidFill>
                <a:latin typeface="ui-sans-serif" pitchFamily="34" charset="0"/>
                <a:ea typeface="ui-sans-serif" pitchFamily="34" charset="-122"/>
                <a:cs typeface="ui-sans-serif" pitchFamily="34" charset="-120"/>
              </a:rPr>
              <a:t>Lifecycle Policy Benefits</a:t>
            </a:r>
            <a:endParaRPr lang="en-US" sz="1350" dirty="0"/>
          </a:p>
        </p:txBody>
      </p:sp>
      <p:sp>
        <p:nvSpPr>
          <p:cNvPr id="27" name="Text 9"/>
          <p:cNvSpPr/>
          <p:nvPr/>
        </p:nvSpPr>
        <p:spPr>
          <a:xfrm>
            <a:off x="9258300" y="3819525"/>
            <a:ext cx="179718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Automated cleanup</a:t>
            </a:r>
            <a:endParaRPr lang="en-US" sz="1200" dirty="0"/>
          </a:p>
        </p:txBody>
      </p:sp>
      <p:sp>
        <p:nvSpPr>
          <p:cNvPr id="28" name="Text 10"/>
          <p:cNvSpPr/>
          <p:nvPr/>
        </p:nvSpPr>
        <p:spPr>
          <a:xfrm>
            <a:off x="9220200" y="4124325"/>
            <a:ext cx="133123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Cost reduction</a:t>
            </a:r>
            <a:endParaRPr lang="en-US" sz="1200" dirty="0"/>
          </a:p>
        </p:txBody>
      </p:sp>
      <p:sp>
        <p:nvSpPr>
          <p:cNvPr id="29" name="Text 11"/>
          <p:cNvSpPr/>
          <p:nvPr/>
        </p:nvSpPr>
        <p:spPr>
          <a:xfrm>
            <a:off x="9220200" y="4429125"/>
            <a:ext cx="185594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Image management</a:t>
            </a:r>
            <a:endParaRPr lang="en-US" sz="1200" dirty="0"/>
          </a:p>
        </p:txBody>
      </p:sp>
      <p:sp>
        <p:nvSpPr>
          <p:cNvPr id="30" name="Text 12"/>
          <p:cNvSpPr/>
          <p:nvPr/>
        </p:nvSpPr>
        <p:spPr>
          <a:xfrm>
            <a:off x="838200" y="6477000"/>
            <a:ext cx="116764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Amazon ECR</a:t>
            </a:r>
            <a:endParaRPr lang="en-US" sz="1200" dirty="0"/>
          </a:p>
        </p:txBody>
      </p:sp>
      <p:sp>
        <p:nvSpPr>
          <p:cNvPr id="31" name="Text 13"/>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39/61</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1905000" y="1143000"/>
            <a:ext cx="762000" cy="762000"/>
          </a:xfrm>
          <a:prstGeom prst="rect">
            <a:avLst/>
          </a:prstGeom>
        </p:spPr>
      </p:pic>
      <p:pic>
        <p:nvPicPr>
          <p:cNvPr id="5" name="Image 3" descr="preencoded.png"/>
          <p:cNvPicPr>
            <a:picLocks noChangeAspect="1"/>
          </p:cNvPicPr>
          <p:nvPr/>
        </p:nvPicPr>
        <p:blipFill>
          <a:blip r:embed="rId6"/>
          <a:stretch>
            <a:fillRect/>
          </a:stretch>
        </p:blipFill>
        <p:spPr>
          <a:xfrm>
            <a:off x="2857500" y="1714500"/>
            <a:ext cx="571500" cy="571500"/>
          </a:xfrm>
          <a:prstGeom prst="rect">
            <a:avLst/>
          </a:prstGeom>
        </p:spPr>
      </p:pic>
      <p:pic>
        <p:nvPicPr>
          <p:cNvPr id="6" name="Image 4" descr="preencoded.png"/>
          <p:cNvPicPr>
            <a:picLocks noChangeAspect="1"/>
          </p:cNvPicPr>
          <p:nvPr/>
        </p:nvPicPr>
        <p:blipFill>
          <a:blip r:embed="rId7"/>
          <a:stretch>
            <a:fillRect/>
          </a:stretch>
        </p:blipFill>
        <p:spPr>
          <a:xfrm>
            <a:off x="9144000" y="1428750"/>
            <a:ext cx="666750" cy="666750"/>
          </a:xfrm>
          <a:prstGeom prst="rect">
            <a:avLst/>
          </a:prstGeom>
        </p:spPr>
      </p:pic>
      <p:pic>
        <p:nvPicPr>
          <p:cNvPr id="7" name="Image 5" descr="preencoded.png"/>
          <p:cNvPicPr>
            <a:picLocks noChangeAspect="1"/>
          </p:cNvPicPr>
          <p:nvPr/>
        </p:nvPicPr>
        <p:blipFill>
          <a:blip r:embed="rId8"/>
          <a:stretch>
            <a:fillRect/>
          </a:stretch>
        </p:blipFill>
        <p:spPr>
          <a:xfrm>
            <a:off x="10001250" y="2095500"/>
            <a:ext cx="476250" cy="476250"/>
          </a:xfrm>
          <a:prstGeom prst="rect">
            <a:avLst/>
          </a:prstGeom>
        </p:spPr>
      </p:pic>
      <p:pic>
        <p:nvPicPr>
          <p:cNvPr id="8" name="Image 6" descr="preencoded.png"/>
          <p:cNvPicPr>
            <a:picLocks noChangeAspect="1"/>
          </p:cNvPicPr>
          <p:nvPr/>
        </p:nvPicPr>
        <p:blipFill>
          <a:blip r:embed="rId9"/>
          <a:stretch>
            <a:fillRect/>
          </a:stretch>
        </p:blipFill>
        <p:spPr>
          <a:xfrm>
            <a:off x="2095500" y="4286250"/>
            <a:ext cx="857250" cy="857250"/>
          </a:xfrm>
          <a:prstGeom prst="rect">
            <a:avLst/>
          </a:prstGeom>
        </p:spPr>
      </p:pic>
      <p:pic>
        <p:nvPicPr>
          <p:cNvPr id="9" name="Image 7" descr="preencoded.png"/>
          <p:cNvPicPr>
            <a:picLocks noChangeAspect="1"/>
          </p:cNvPicPr>
          <p:nvPr/>
        </p:nvPicPr>
        <p:blipFill>
          <a:blip r:embed="rId10"/>
          <a:stretch>
            <a:fillRect/>
          </a:stretch>
        </p:blipFill>
        <p:spPr>
          <a:xfrm>
            <a:off x="8810625" y="4714875"/>
            <a:ext cx="714375" cy="714375"/>
          </a:xfrm>
          <a:prstGeom prst="rect">
            <a:avLst/>
          </a:prstGeom>
        </p:spPr>
      </p:pic>
      <p:pic>
        <p:nvPicPr>
          <p:cNvPr id="10" name="Image 8" descr="preencoded.png"/>
          <p:cNvPicPr>
            <a:picLocks noChangeAspect="1"/>
          </p:cNvPicPr>
          <p:nvPr/>
        </p:nvPicPr>
        <p:blipFill>
          <a:blip r:embed="rId11"/>
          <a:stretch>
            <a:fillRect/>
          </a:stretch>
        </p:blipFill>
        <p:spPr>
          <a:xfrm>
            <a:off x="3609529" y="3829050"/>
            <a:ext cx="762000" cy="38100"/>
          </a:xfrm>
          <a:prstGeom prst="rect">
            <a:avLst/>
          </a:prstGeom>
        </p:spPr>
      </p:pic>
      <p:pic>
        <p:nvPicPr>
          <p:cNvPr id="11" name="Image 9" descr="preencoded.png"/>
          <p:cNvPicPr>
            <a:picLocks noChangeAspect="1"/>
          </p:cNvPicPr>
          <p:nvPr/>
        </p:nvPicPr>
        <p:blipFill>
          <a:blip r:embed="rId11"/>
          <a:stretch>
            <a:fillRect/>
          </a:stretch>
        </p:blipFill>
        <p:spPr>
          <a:xfrm>
            <a:off x="7820323" y="3829050"/>
            <a:ext cx="762000" cy="38100"/>
          </a:xfrm>
          <a:prstGeom prst="rect">
            <a:avLst/>
          </a:prstGeom>
        </p:spPr>
      </p:pic>
      <p:pic>
        <p:nvPicPr>
          <p:cNvPr id="12" name="Image 10" descr="preencoded.png"/>
          <p:cNvPicPr>
            <a:picLocks noChangeAspect="1"/>
          </p:cNvPicPr>
          <p:nvPr/>
        </p:nvPicPr>
        <p:blipFill>
          <a:blip r:embed="rId12"/>
          <a:stretch>
            <a:fillRect/>
          </a:stretch>
        </p:blipFill>
        <p:spPr>
          <a:xfrm>
            <a:off x="11019830" y="381000"/>
            <a:ext cx="285750" cy="304800"/>
          </a:xfrm>
          <a:prstGeom prst="rect">
            <a:avLst/>
          </a:prstGeom>
        </p:spPr>
      </p:pic>
      <p:sp>
        <p:nvSpPr>
          <p:cNvPr id="21" name="Text 0"/>
          <p:cNvSpPr/>
          <p:nvPr/>
        </p:nvSpPr>
        <p:spPr>
          <a:xfrm>
            <a:off x="-24765" y="2419350"/>
            <a:ext cx="12241530" cy="457200"/>
          </a:xfrm>
          <a:prstGeom prst="rect">
            <a:avLst/>
          </a:prstGeom>
          <a:noFill/>
          <a:ln/>
        </p:spPr>
        <p:txBody>
          <a:bodyPr vert="horz" wrap="square" lIns="0" tIns="0" rIns="0" bIns="0" rtlCol="0" anchor="t"/>
          <a:lstStyle/>
          <a:p>
            <a:pPr marL="0" indent="0" algn="ctr">
              <a:lnSpc>
                <a:spcPts val="3600"/>
              </a:lnSpc>
              <a:buNone/>
            </a:pPr>
            <a:r>
              <a:rPr lang="en-US" sz="3600" b="1" dirty="0">
                <a:solidFill>
                  <a:srgbClr val="006D77"/>
                </a:solidFill>
                <a:latin typeface="ui-sans-serif" pitchFamily="34" charset="0"/>
                <a:ea typeface="ui-sans-serif" pitchFamily="34" charset="-122"/>
                <a:cs typeface="ui-sans-serif" pitchFamily="34" charset="-120"/>
              </a:rPr>
              <a:t>Amazon Elastic Container Service (ECS)</a:t>
            </a:r>
            <a:endParaRPr lang="en-US" sz="3600" dirty="0"/>
          </a:p>
        </p:txBody>
      </p:sp>
      <p:sp>
        <p:nvSpPr>
          <p:cNvPr id="22" name="Text 1"/>
          <p:cNvSpPr/>
          <p:nvPr/>
        </p:nvSpPr>
        <p:spPr>
          <a:xfrm>
            <a:off x="-24765" y="3105150"/>
            <a:ext cx="12241530" cy="304800"/>
          </a:xfrm>
          <a:prstGeom prst="rect">
            <a:avLst/>
          </a:prstGeom>
          <a:noFill/>
          <a:ln/>
        </p:spPr>
        <p:txBody>
          <a:bodyPr vert="horz" wrap="square" lIns="0" tIns="0" rIns="0" bIns="0" rtlCol="0" anchor="t"/>
          <a:lstStyle/>
          <a:p>
            <a:pPr marL="0" indent="0" algn="ctr">
              <a:lnSpc>
                <a:spcPts val="2400"/>
              </a:lnSpc>
              <a:buNone/>
            </a:pPr>
            <a:r>
              <a:rPr lang="en-US" sz="1800" dirty="0">
                <a:solidFill>
                  <a:srgbClr val="374151"/>
                </a:solidFill>
                <a:latin typeface="ui-sans-serif" pitchFamily="34" charset="0"/>
                <a:ea typeface="ui-sans-serif" pitchFamily="34" charset="-122"/>
                <a:cs typeface="ui-sans-serif" pitchFamily="34" charset="-120"/>
              </a:rPr>
              <a:t>A Fully Managed Container Orchestration Service</a:t>
            </a:r>
            <a:endParaRPr lang="en-US" sz="1800" dirty="0"/>
          </a:p>
        </p:txBody>
      </p:sp>
      <p:sp>
        <p:nvSpPr>
          <p:cNvPr id="23" name="Text 2"/>
          <p:cNvSpPr/>
          <p:nvPr/>
        </p:nvSpPr>
        <p:spPr>
          <a:xfrm>
            <a:off x="4209529" y="3714750"/>
            <a:ext cx="3772793" cy="266700"/>
          </a:xfrm>
          <a:prstGeom prst="rect">
            <a:avLst/>
          </a:prstGeom>
          <a:noFill/>
          <a:ln/>
        </p:spPr>
        <p:txBody>
          <a:bodyPr vert="horz" wrap="square" lIns="0" tIns="0" rIns="0" bIns="0" rtlCol="0" anchor="t"/>
          <a:lstStyle/>
          <a:p>
            <a:pPr marL="0" indent="0" algn="ctr">
              <a:lnSpc>
                <a:spcPts val="2100"/>
              </a:lnSpc>
              <a:buNone/>
            </a:pPr>
            <a:r>
              <a:rPr lang="en-US" sz="1500" dirty="0">
                <a:solidFill>
                  <a:srgbClr val="4B5563"/>
                </a:solidFill>
                <a:latin typeface="ui-sans-serif" pitchFamily="34" charset="0"/>
                <a:ea typeface="ui-sans-serif" pitchFamily="34" charset="-122"/>
                <a:cs typeface="ui-sans-serif" pitchFamily="34" charset="-120"/>
              </a:rPr>
              <a:t>Containerize. Orchestrate. Scale.</a:t>
            </a:r>
            <a:endParaRPr lang="en-US" sz="1500" dirty="0"/>
          </a:p>
        </p:txBody>
      </p:sp>
      <p:sp>
        <p:nvSpPr>
          <p:cNvPr id="24" name="Text 3"/>
          <p:cNvSpPr/>
          <p:nvPr/>
        </p:nvSpPr>
        <p:spPr>
          <a:xfrm>
            <a:off x="11381780" y="400050"/>
            <a:ext cx="515064" cy="266700"/>
          </a:xfrm>
          <a:prstGeom prst="rect">
            <a:avLst/>
          </a:prstGeom>
          <a:noFill/>
          <a:ln/>
        </p:spPr>
        <p:txBody>
          <a:bodyPr vert="horz" wrap="square" lIns="0" tIns="0" rIns="0" bIns="0" rtlCol="0" anchor="t"/>
          <a:lstStyle/>
          <a:p>
            <a:pPr marL="0" indent="0">
              <a:lnSpc>
                <a:spcPts val="2100"/>
              </a:lnSpc>
              <a:buNone/>
            </a:pPr>
            <a:r>
              <a:rPr lang="en-US" sz="1500" dirty="0">
                <a:solidFill>
                  <a:srgbClr val="4B5563"/>
                </a:solidFill>
                <a:latin typeface="ui-sans-serif" pitchFamily="34" charset="0"/>
                <a:ea typeface="ui-sans-serif" pitchFamily="34" charset="-122"/>
                <a:cs typeface="ui-sans-serif" pitchFamily="34" charset="-120"/>
              </a:rPr>
              <a:t>AWS</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876300"/>
            <a:ext cx="1219200" cy="38100"/>
          </a:xfrm>
          <a:prstGeom prst="rect">
            <a:avLst/>
          </a:prstGeom>
        </p:spPr>
      </p:pic>
      <p:pic>
        <p:nvPicPr>
          <p:cNvPr id="5" name="Image 3" descr="preencoded.png"/>
          <p:cNvPicPr>
            <a:picLocks noChangeAspect="1"/>
          </p:cNvPicPr>
          <p:nvPr/>
        </p:nvPicPr>
        <p:blipFill>
          <a:blip r:embed="rId6"/>
          <a:stretch>
            <a:fillRect/>
          </a:stretch>
        </p:blipFill>
        <p:spPr>
          <a:xfrm>
            <a:off x="609600" y="1143000"/>
            <a:ext cx="5181600" cy="2269331"/>
          </a:xfrm>
          <a:prstGeom prst="rect">
            <a:avLst/>
          </a:prstGeom>
        </p:spPr>
      </p:pic>
      <p:pic>
        <p:nvPicPr>
          <p:cNvPr id="6" name="Image 4" descr="preencoded.png"/>
          <p:cNvPicPr>
            <a:picLocks noChangeAspect="1"/>
          </p:cNvPicPr>
          <p:nvPr/>
        </p:nvPicPr>
        <p:blipFill>
          <a:blip r:embed="rId7"/>
          <a:stretch>
            <a:fillRect/>
          </a:stretch>
        </p:blipFill>
        <p:spPr>
          <a:xfrm>
            <a:off x="6400800" y="1600200"/>
            <a:ext cx="571500" cy="571500"/>
          </a:xfrm>
          <a:prstGeom prst="rect">
            <a:avLst/>
          </a:prstGeom>
        </p:spPr>
      </p:pic>
      <p:pic>
        <p:nvPicPr>
          <p:cNvPr id="7" name="Image 5" descr="preencoded.png"/>
          <p:cNvPicPr>
            <a:picLocks noChangeAspect="1"/>
          </p:cNvPicPr>
          <p:nvPr/>
        </p:nvPicPr>
        <p:blipFill>
          <a:blip r:embed="rId8"/>
          <a:stretch>
            <a:fillRect/>
          </a:stretch>
        </p:blipFill>
        <p:spPr>
          <a:xfrm>
            <a:off x="6557963" y="1733550"/>
            <a:ext cx="257175" cy="304800"/>
          </a:xfrm>
          <a:prstGeom prst="rect">
            <a:avLst/>
          </a:prstGeom>
        </p:spPr>
      </p:pic>
      <p:pic>
        <p:nvPicPr>
          <p:cNvPr id="8" name="Image 6" descr="preencoded.png"/>
          <p:cNvPicPr>
            <a:picLocks noChangeAspect="1"/>
          </p:cNvPicPr>
          <p:nvPr/>
        </p:nvPicPr>
        <p:blipFill>
          <a:blip r:embed="rId9"/>
          <a:stretch>
            <a:fillRect/>
          </a:stretch>
        </p:blipFill>
        <p:spPr>
          <a:xfrm>
            <a:off x="6400800" y="2514600"/>
            <a:ext cx="571500" cy="571500"/>
          </a:xfrm>
          <a:prstGeom prst="rect">
            <a:avLst/>
          </a:prstGeom>
        </p:spPr>
      </p:pic>
      <p:pic>
        <p:nvPicPr>
          <p:cNvPr id="9" name="Image 7" descr="preencoded.png"/>
          <p:cNvPicPr>
            <a:picLocks noChangeAspect="1"/>
          </p:cNvPicPr>
          <p:nvPr/>
        </p:nvPicPr>
        <p:blipFill>
          <a:blip r:embed="rId10"/>
          <a:stretch>
            <a:fillRect/>
          </a:stretch>
        </p:blipFill>
        <p:spPr>
          <a:xfrm>
            <a:off x="6572250" y="2647950"/>
            <a:ext cx="228600" cy="304800"/>
          </a:xfrm>
          <a:prstGeom prst="rect">
            <a:avLst/>
          </a:prstGeom>
        </p:spPr>
      </p:pic>
      <p:pic>
        <p:nvPicPr>
          <p:cNvPr id="10" name="Image 8" descr="preencoded.png"/>
          <p:cNvPicPr>
            <a:picLocks noChangeAspect="1"/>
          </p:cNvPicPr>
          <p:nvPr/>
        </p:nvPicPr>
        <p:blipFill>
          <a:blip r:embed="rId11"/>
          <a:stretch>
            <a:fillRect/>
          </a:stretch>
        </p:blipFill>
        <p:spPr>
          <a:xfrm>
            <a:off x="6400800" y="3429000"/>
            <a:ext cx="571500" cy="571500"/>
          </a:xfrm>
          <a:prstGeom prst="rect">
            <a:avLst/>
          </a:prstGeom>
        </p:spPr>
      </p:pic>
      <p:pic>
        <p:nvPicPr>
          <p:cNvPr id="11" name="Image 9" descr="preencoded.png"/>
          <p:cNvPicPr>
            <a:picLocks noChangeAspect="1"/>
          </p:cNvPicPr>
          <p:nvPr/>
        </p:nvPicPr>
        <p:blipFill>
          <a:blip r:embed="rId12"/>
          <a:stretch>
            <a:fillRect/>
          </a:stretch>
        </p:blipFill>
        <p:spPr>
          <a:xfrm>
            <a:off x="6586538" y="3562350"/>
            <a:ext cx="200025" cy="304800"/>
          </a:xfrm>
          <a:prstGeom prst="rect">
            <a:avLst/>
          </a:prstGeom>
        </p:spPr>
      </p:pic>
      <p:pic>
        <p:nvPicPr>
          <p:cNvPr id="12" name="Image 10" descr="preencoded.png"/>
          <p:cNvPicPr>
            <a:picLocks noChangeAspect="1"/>
          </p:cNvPicPr>
          <p:nvPr/>
        </p:nvPicPr>
        <p:blipFill>
          <a:blip r:embed="rId13"/>
          <a:stretch>
            <a:fillRect/>
          </a:stretch>
        </p:blipFill>
        <p:spPr>
          <a:xfrm>
            <a:off x="609600" y="5600700"/>
            <a:ext cx="10972800" cy="609600"/>
          </a:xfrm>
          <a:prstGeom prst="rect">
            <a:avLst/>
          </a:prstGeom>
        </p:spPr>
      </p:pic>
      <p:sp>
        <p:nvSpPr>
          <p:cNvPr id="14" name="Text 0"/>
          <p:cNvSpPr/>
          <p:nvPr/>
        </p:nvSpPr>
        <p:spPr>
          <a:xfrm>
            <a:off x="609600" y="3810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006D77"/>
                </a:solidFill>
                <a:latin typeface="ui-sans-serif" pitchFamily="34" charset="0"/>
                <a:ea typeface="ui-sans-serif" pitchFamily="34" charset="-122"/>
                <a:cs typeface="ui-sans-serif" pitchFamily="34" charset="-120"/>
              </a:rPr>
              <a:t>What is Amazon ECS?</a:t>
            </a:r>
            <a:endParaRPr lang="en-US" sz="2700" dirty="0"/>
          </a:p>
        </p:txBody>
      </p:sp>
      <p:sp>
        <p:nvSpPr>
          <p:cNvPr id="15" name="Text 1"/>
          <p:cNvSpPr/>
          <p:nvPr/>
        </p:nvSpPr>
        <p:spPr>
          <a:xfrm>
            <a:off x="838200" y="1371600"/>
            <a:ext cx="4724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Definition</a:t>
            </a:r>
            <a:endParaRPr lang="en-US" sz="1800" dirty="0"/>
          </a:p>
        </p:txBody>
      </p:sp>
      <p:sp>
        <p:nvSpPr>
          <p:cNvPr id="16" name="Text 2"/>
          <p:cNvSpPr/>
          <p:nvPr/>
        </p:nvSpPr>
        <p:spPr>
          <a:xfrm>
            <a:off x="838200" y="1790700"/>
            <a:ext cx="4724400" cy="1393031"/>
          </a:xfrm>
          <a:prstGeom prst="rect">
            <a:avLst/>
          </a:prstGeom>
          <a:noFill/>
          <a:ln/>
        </p:spPr>
        <p:txBody>
          <a:bodyPr vert="horz" wrap="square" lIns="0" tIns="0" rIns="0" bIns="0" rtlCol="0" anchor="t"/>
          <a:lstStyle/>
          <a:p>
            <a:pPr marL="0" indent="0">
              <a:lnSpc>
                <a:spcPts val="2194"/>
              </a:lnSpc>
              <a:buNone/>
            </a:pPr>
            <a:r>
              <a:rPr lang="en-US" sz="1350" dirty="0">
                <a:solidFill>
                  <a:srgbClr val="374151"/>
                </a:solidFill>
                <a:latin typeface="ui-sans-serif" pitchFamily="34" charset="0"/>
                <a:ea typeface="ui-sans-serif" pitchFamily="34" charset="-122"/>
                <a:cs typeface="ui-sans-serif" pitchFamily="34" charset="-120"/>
              </a:rPr>
              <a:t>Amazon Elastic Container Service (ECS) is a </a:t>
            </a:r>
            <a:r>
              <a:rPr lang="en-US" sz="1350" b="1" dirty="0">
                <a:solidFill>
                  <a:srgbClr val="006D77"/>
                </a:solidFill>
                <a:latin typeface="ui-sans-serif" pitchFamily="34" charset="0"/>
                <a:ea typeface="ui-sans-serif" pitchFamily="34" charset="-122"/>
                <a:cs typeface="ui-sans-serif" pitchFamily="34" charset="-120"/>
              </a:rPr>
              <a:t>fully managed container orchestration service</a:t>
            </a:r>
            <a:r>
              <a:rPr lang="en-US" sz="1350" dirty="0">
                <a:solidFill>
                  <a:srgbClr val="374151"/>
                </a:solidFill>
                <a:latin typeface="ui-sans-serif" pitchFamily="34" charset="0"/>
                <a:ea typeface="ui-sans-serif" pitchFamily="34" charset="-122"/>
                <a:cs typeface="ui-sans-serif" pitchFamily="34" charset="-120"/>
              </a:rPr>
              <a:t> provided by Amazon Web Services (AWS) that simplifies the deployment, management, and scaling of containerized applications.</a:t>
            </a:r>
            <a:endParaRPr lang="en-US" sz="1350" dirty="0"/>
          </a:p>
        </p:txBody>
      </p:sp>
      <p:sp>
        <p:nvSpPr>
          <p:cNvPr id="17" name="Text 3"/>
          <p:cNvSpPr/>
          <p:nvPr/>
        </p:nvSpPr>
        <p:spPr>
          <a:xfrm>
            <a:off x="609600" y="3640931"/>
            <a:ext cx="51816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Primary Purpose</a:t>
            </a:r>
            <a:endParaRPr lang="en-US" sz="1800" dirty="0"/>
          </a:p>
        </p:txBody>
      </p:sp>
      <p:sp>
        <p:nvSpPr>
          <p:cNvPr id="18" name="Text 4"/>
          <p:cNvSpPr/>
          <p:nvPr/>
        </p:nvSpPr>
        <p:spPr>
          <a:xfrm>
            <a:off x="609600" y="4060031"/>
            <a:ext cx="5181600" cy="835819"/>
          </a:xfrm>
          <a:prstGeom prst="rect">
            <a:avLst/>
          </a:prstGeom>
          <a:noFill/>
          <a:ln/>
        </p:spPr>
        <p:txBody>
          <a:bodyPr vert="horz" wrap="square" lIns="0" tIns="0" rIns="0" bIns="0" rtlCol="0" anchor="t"/>
          <a:lstStyle/>
          <a:p>
            <a:pPr marL="0" indent="0">
              <a:lnSpc>
                <a:spcPts val="2194"/>
              </a:lnSpc>
              <a:buNone/>
            </a:pPr>
            <a:r>
              <a:rPr lang="en-US" sz="1350" dirty="0">
                <a:solidFill>
                  <a:srgbClr val="374151"/>
                </a:solidFill>
                <a:latin typeface="ui-sans-serif" pitchFamily="34" charset="0"/>
                <a:ea typeface="ui-sans-serif" pitchFamily="34" charset="-122"/>
                <a:cs typeface="ui-sans-serif" pitchFamily="34" charset="-120"/>
              </a:rPr>
              <a:t>To </a:t>
            </a:r>
            <a:r>
              <a:rPr lang="en-US" sz="1350" b="1" dirty="0">
                <a:solidFill>
                  <a:srgbClr val="006D77"/>
                </a:solidFill>
                <a:latin typeface="ui-sans-serif" pitchFamily="34" charset="0"/>
                <a:ea typeface="ui-sans-serif" pitchFamily="34" charset="-122"/>
                <a:cs typeface="ui-sans-serif" pitchFamily="34" charset="-120"/>
              </a:rPr>
              <a:t>abstract away the operational complexities</a:t>
            </a:r>
            <a:r>
              <a:rPr lang="en-US" sz="1350" dirty="0">
                <a:solidFill>
                  <a:srgbClr val="374151"/>
                </a:solidFill>
                <a:latin typeface="ui-sans-serif" pitchFamily="34" charset="0"/>
                <a:ea typeface="ui-sans-serif" pitchFamily="34" charset="-122"/>
                <a:cs typeface="ui-sans-serif" pitchFamily="34" charset="-120"/>
              </a:rPr>
              <a:t> of managing underlying infrastructure, allowing development teams to focus on building and innovating applications.</a:t>
            </a:r>
            <a:endParaRPr lang="en-US" sz="1350" dirty="0"/>
          </a:p>
        </p:txBody>
      </p:sp>
      <p:sp>
        <p:nvSpPr>
          <p:cNvPr id="19" name="Text 5"/>
          <p:cNvSpPr/>
          <p:nvPr/>
        </p:nvSpPr>
        <p:spPr>
          <a:xfrm>
            <a:off x="6400800" y="1143000"/>
            <a:ext cx="621792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Key Characteristics</a:t>
            </a:r>
            <a:endParaRPr lang="en-US" sz="1800" dirty="0"/>
          </a:p>
        </p:txBody>
      </p:sp>
      <p:sp>
        <p:nvSpPr>
          <p:cNvPr id="20" name="Text 6"/>
          <p:cNvSpPr/>
          <p:nvPr/>
        </p:nvSpPr>
        <p:spPr>
          <a:xfrm>
            <a:off x="7124700" y="1600200"/>
            <a:ext cx="534924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Container Orchestration</a:t>
            </a:r>
            <a:endParaRPr lang="en-US" sz="1500" dirty="0"/>
          </a:p>
        </p:txBody>
      </p:sp>
      <p:sp>
        <p:nvSpPr>
          <p:cNvPr id="21" name="Text 7"/>
          <p:cNvSpPr/>
          <p:nvPr/>
        </p:nvSpPr>
        <p:spPr>
          <a:xfrm>
            <a:off x="7124700" y="1866900"/>
            <a:ext cx="44577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Manages the deployment and scaling of containerized applications, primarily Docker containers.</a:t>
            </a:r>
            <a:endParaRPr lang="en-US" sz="1200" dirty="0"/>
          </a:p>
        </p:txBody>
      </p:sp>
      <p:sp>
        <p:nvSpPr>
          <p:cNvPr id="22" name="Text 8"/>
          <p:cNvSpPr/>
          <p:nvPr/>
        </p:nvSpPr>
        <p:spPr>
          <a:xfrm>
            <a:off x="7124700" y="2514600"/>
            <a:ext cx="534924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Infrastructure Abstraction</a:t>
            </a:r>
            <a:endParaRPr lang="en-US" sz="1500" dirty="0"/>
          </a:p>
        </p:txBody>
      </p:sp>
      <p:sp>
        <p:nvSpPr>
          <p:cNvPr id="23" name="Text 9"/>
          <p:cNvSpPr/>
          <p:nvPr/>
        </p:nvSpPr>
        <p:spPr>
          <a:xfrm>
            <a:off x="7124700" y="2781300"/>
            <a:ext cx="44577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Hides the complexity of underlying infrastructure, including server provisioning and configuration.</a:t>
            </a:r>
            <a:endParaRPr lang="en-US" sz="1200" dirty="0"/>
          </a:p>
        </p:txBody>
      </p:sp>
      <p:sp>
        <p:nvSpPr>
          <p:cNvPr id="24" name="Text 10"/>
          <p:cNvSpPr/>
          <p:nvPr/>
        </p:nvSpPr>
        <p:spPr>
          <a:xfrm>
            <a:off x="7124700" y="3429000"/>
            <a:ext cx="445770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Developer Focus</a:t>
            </a:r>
            <a:endParaRPr lang="en-US" sz="1500" dirty="0"/>
          </a:p>
        </p:txBody>
      </p:sp>
      <p:sp>
        <p:nvSpPr>
          <p:cNvPr id="25" name="Text 11"/>
          <p:cNvSpPr/>
          <p:nvPr/>
        </p:nvSpPr>
        <p:spPr>
          <a:xfrm>
            <a:off x="7124700" y="3695700"/>
            <a:ext cx="44577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Enables teams to focus on application development rather than infrastructure management.</a:t>
            </a:r>
            <a:endParaRPr lang="en-US" sz="1200" dirty="0"/>
          </a:p>
        </p:txBody>
      </p:sp>
      <p:sp>
        <p:nvSpPr>
          <p:cNvPr id="26" name="Text 12"/>
          <p:cNvSpPr/>
          <p:nvPr/>
        </p:nvSpPr>
        <p:spPr>
          <a:xfrm>
            <a:off x="819150" y="6438900"/>
            <a:ext cx="299733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Amazon Elastic Container Service</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609600" y="531063"/>
            <a:ext cx="1219200" cy="38100"/>
          </a:xfrm>
          <a:prstGeom prst="rect">
            <a:avLst/>
          </a:prstGeom>
        </p:spPr>
      </p:pic>
      <p:pic>
        <p:nvPicPr>
          <p:cNvPr id="5" name="Image 3" descr="preencoded.png"/>
          <p:cNvPicPr>
            <a:picLocks noChangeAspect="1"/>
          </p:cNvPicPr>
          <p:nvPr/>
        </p:nvPicPr>
        <p:blipFill>
          <a:blip r:embed="rId4"/>
          <a:stretch>
            <a:fillRect/>
          </a:stretch>
        </p:blipFill>
        <p:spPr>
          <a:xfrm>
            <a:off x="609600" y="1304734"/>
            <a:ext cx="5372100" cy="1866900"/>
          </a:xfrm>
          <a:prstGeom prst="rect">
            <a:avLst/>
          </a:prstGeom>
        </p:spPr>
      </p:pic>
      <p:pic>
        <p:nvPicPr>
          <p:cNvPr id="6" name="Image 4" descr="preencoded.png"/>
          <p:cNvPicPr>
            <a:picLocks noChangeAspect="1"/>
          </p:cNvPicPr>
          <p:nvPr/>
        </p:nvPicPr>
        <p:blipFill>
          <a:blip r:embed="rId5"/>
          <a:stretch>
            <a:fillRect/>
          </a:stretch>
        </p:blipFill>
        <p:spPr>
          <a:xfrm>
            <a:off x="800100" y="1495234"/>
            <a:ext cx="476250" cy="476250"/>
          </a:xfrm>
          <a:prstGeom prst="rect">
            <a:avLst/>
          </a:prstGeom>
        </p:spPr>
      </p:pic>
      <p:pic>
        <p:nvPicPr>
          <p:cNvPr id="7" name="Image 5" descr="preencoded.png"/>
          <p:cNvPicPr>
            <a:picLocks noChangeAspect="1"/>
          </p:cNvPicPr>
          <p:nvPr/>
        </p:nvPicPr>
        <p:blipFill>
          <a:blip r:embed="rId6"/>
          <a:stretch>
            <a:fillRect/>
          </a:stretch>
        </p:blipFill>
        <p:spPr>
          <a:xfrm>
            <a:off x="952500" y="1580959"/>
            <a:ext cx="171450" cy="304800"/>
          </a:xfrm>
          <a:prstGeom prst="rect">
            <a:avLst/>
          </a:prstGeom>
        </p:spPr>
      </p:pic>
      <p:pic>
        <p:nvPicPr>
          <p:cNvPr id="8" name="Image 6" descr="preencoded.png"/>
          <p:cNvPicPr>
            <a:picLocks noChangeAspect="1"/>
          </p:cNvPicPr>
          <p:nvPr/>
        </p:nvPicPr>
        <p:blipFill>
          <a:blip r:embed="rId7"/>
          <a:stretch>
            <a:fillRect/>
          </a:stretch>
        </p:blipFill>
        <p:spPr>
          <a:xfrm>
            <a:off x="6210300" y="1304734"/>
            <a:ext cx="5372100" cy="1866900"/>
          </a:xfrm>
          <a:prstGeom prst="rect">
            <a:avLst/>
          </a:prstGeom>
        </p:spPr>
      </p:pic>
      <p:pic>
        <p:nvPicPr>
          <p:cNvPr id="9" name="Image 7" descr="preencoded.png"/>
          <p:cNvPicPr>
            <a:picLocks noChangeAspect="1"/>
          </p:cNvPicPr>
          <p:nvPr/>
        </p:nvPicPr>
        <p:blipFill>
          <a:blip r:embed="rId8"/>
          <a:stretch>
            <a:fillRect/>
          </a:stretch>
        </p:blipFill>
        <p:spPr>
          <a:xfrm>
            <a:off x="6400800" y="1495234"/>
            <a:ext cx="476250" cy="476250"/>
          </a:xfrm>
          <a:prstGeom prst="rect">
            <a:avLst/>
          </a:prstGeom>
        </p:spPr>
      </p:pic>
      <p:pic>
        <p:nvPicPr>
          <p:cNvPr id="10" name="Image 8" descr="preencoded.png"/>
          <p:cNvPicPr>
            <a:picLocks noChangeAspect="1"/>
          </p:cNvPicPr>
          <p:nvPr/>
        </p:nvPicPr>
        <p:blipFill>
          <a:blip r:embed="rId9"/>
          <a:stretch>
            <a:fillRect/>
          </a:stretch>
        </p:blipFill>
        <p:spPr>
          <a:xfrm>
            <a:off x="6524625" y="1580959"/>
            <a:ext cx="228600" cy="304800"/>
          </a:xfrm>
          <a:prstGeom prst="rect">
            <a:avLst/>
          </a:prstGeom>
        </p:spPr>
      </p:pic>
      <p:pic>
        <p:nvPicPr>
          <p:cNvPr id="11" name="Image 9" descr="preencoded.png"/>
          <p:cNvPicPr>
            <a:picLocks noChangeAspect="1"/>
          </p:cNvPicPr>
          <p:nvPr/>
        </p:nvPicPr>
        <p:blipFill>
          <a:blip r:embed="rId10"/>
          <a:stretch>
            <a:fillRect/>
          </a:stretch>
        </p:blipFill>
        <p:spPr>
          <a:xfrm>
            <a:off x="609600" y="3400234"/>
            <a:ext cx="5372100" cy="1866900"/>
          </a:xfrm>
          <a:prstGeom prst="rect">
            <a:avLst/>
          </a:prstGeom>
        </p:spPr>
      </p:pic>
      <p:pic>
        <p:nvPicPr>
          <p:cNvPr id="12" name="Image 10" descr="preencoded.png"/>
          <p:cNvPicPr>
            <a:picLocks noChangeAspect="1"/>
          </p:cNvPicPr>
          <p:nvPr/>
        </p:nvPicPr>
        <p:blipFill>
          <a:blip r:embed="rId11"/>
          <a:stretch>
            <a:fillRect/>
          </a:stretch>
        </p:blipFill>
        <p:spPr>
          <a:xfrm>
            <a:off x="800100" y="3590734"/>
            <a:ext cx="476250" cy="476250"/>
          </a:xfrm>
          <a:prstGeom prst="rect">
            <a:avLst/>
          </a:prstGeom>
        </p:spPr>
      </p:pic>
      <p:pic>
        <p:nvPicPr>
          <p:cNvPr id="13" name="Image 11" descr="preencoded.png"/>
          <p:cNvPicPr>
            <a:picLocks noChangeAspect="1"/>
          </p:cNvPicPr>
          <p:nvPr/>
        </p:nvPicPr>
        <p:blipFill>
          <a:blip r:embed="rId12"/>
          <a:stretch>
            <a:fillRect/>
          </a:stretch>
        </p:blipFill>
        <p:spPr>
          <a:xfrm>
            <a:off x="895350" y="3676459"/>
            <a:ext cx="285750" cy="304800"/>
          </a:xfrm>
          <a:prstGeom prst="rect">
            <a:avLst/>
          </a:prstGeom>
        </p:spPr>
      </p:pic>
      <p:pic>
        <p:nvPicPr>
          <p:cNvPr id="14" name="Image 12" descr="preencoded.png"/>
          <p:cNvPicPr>
            <a:picLocks noChangeAspect="1"/>
          </p:cNvPicPr>
          <p:nvPr/>
        </p:nvPicPr>
        <p:blipFill>
          <a:blip r:embed="rId13"/>
          <a:stretch>
            <a:fillRect/>
          </a:stretch>
        </p:blipFill>
        <p:spPr>
          <a:xfrm>
            <a:off x="6210300" y="3400234"/>
            <a:ext cx="5372100" cy="1866900"/>
          </a:xfrm>
          <a:prstGeom prst="rect">
            <a:avLst/>
          </a:prstGeom>
        </p:spPr>
      </p:pic>
      <p:pic>
        <p:nvPicPr>
          <p:cNvPr id="15" name="Image 13" descr="preencoded.png"/>
          <p:cNvPicPr>
            <a:picLocks noChangeAspect="1"/>
          </p:cNvPicPr>
          <p:nvPr/>
        </p:nvPicPr>
        <p:blipFill>
          <a:blip r:embed="rId14"/>
          <a:stretch>
            <a:fillRect/>
          </a:stretch>
        </p:blipFill>
        <p:spPr>
          <a:xfrm>
            <a:off x="6400800" y="3590734"/>
            <a:ext cx="476250" cy="476250"/>
          </a:xfrm>
          <a:prstGeom prst="rect">
            <a:avLst/>
          </a:prstGeom>
        </p:spPr>
      </p:pic>
      <p:pic>
        <p:nvPicPr>
          <p:cNvPr id="16" name="Image 14" descr="preencoded.png"/>
          <p:cNvPicPr>
            <a:picLocks noChangeAspect="1"/>
          </p:cNvPicPr>
          <p:nvPr/>
        </p:nvPicPr>
        <p:blipFill>
          <a:blip r:embed="rId15"/>
          <a:stretch>
            <a:fillRect/>
          </a:stretch>
        </p:blipFill>
        <p:spPr>
          <a:xfrm>
            <a:off x="6524625" y="3676459"/>
            <a:ext cx="228600" cy="304800"/>
          </a:xfrm>
          <a:prstGeom prst="rect">
            <a:avLst/>
          </a:prstGeom>
        </p:spPr>
      </p:pic>
      <p:pic>
        <p:nvPicPr>
          <p:cNvPr id="17" name="Image 15" descr="preencoded.png"/>
          <p:cNvPicPr>
            <a:picLocks noChangeAspect="1"/>
          </p:cNvPicPr>
          <p:nvPr/>
        </p:nvPicPr>
        <p:blipFill>
          <a:blip r:embed="rId16"/>
          <a:stretch>
            <a:fillRect/>
          </a:stretch>
        </p:blipFill>
        <p:spPr>
          <a:xfrm>
            <a:off x="609600" y="5495734"/>
            <a:ext cx="10972800" cy="762000"/>
          </a:xfrm>
          <a:prstGeom prst="rect">
            <a:avLst/>
          </a:prstGeom>
        </p:spPr>
      </p:pic>
      <p:sp>
        <p:nvSpPr>
          <p:cNvPr id="27" name="Text 0"/>
          <p:cNvSpPr/>
          <p:nvPr/>
        </p:nvSpPr>
        <p:spPr>
          <a:xfrm>
            <a:off x="609600" y="54428"/>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006D77"/>
                </a:solidFill>
                <a:latin typeface="ui-sans-serif" pitchFamily="34" charset="0"/>
                <a:ea typeface="ui-sans-serif" pitchFamily="34" charset="-122"/>
                <a:cs typeface="ui-sans-serif" pitchFamily="34" charset="-120"/>
              </a:rPr>
              <a:t>Core Components of ECS</a:t>
            </a:r>
            <a:endParaRPr lang="en-US" sz="2700" dirty="0"/>
          </a:p>
        </p:txBody>
      </p:sp>
      <p:sp>
        <p:nvSpPr>
          <p:cNvPr id="28" name="Text 1"/>
          <p:cNvSpPr/>
          <p:nvPr/>
        </p:nvSpPr>
        <p:spPr>
          <a:xfrm>
            <a:off x="609600" y="618934"/>
            <a:ext cx="109728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Amazon ECS is built upon several interconnected components that work together to define, run, and manage your containerized applications.</a:t>
            </a:r>
            <a:endParaRPr lang="en-US" sz="1350" dirty="0"/>
          </a:p>
        </p:txBody>
      </p:sp>
      <p:sp>
        <p:nvSpPr>
          <p:cNvPr id="29" name="Text 2"/>
          <p:cNvSpPr/>
          <p:nvPr/>
        </p:nvSpPr>
        <p:spPr>
          <a:xfrm>
            <a:off x="1428750" y="1495234"/>
            <a:ext cx="4362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Task Definition</a:t>
            </a:r>
            <a:endParaRPr lang="en-US" sz="1500" dirty="0"/>
          </a:p>
        </p:txBody>
      </p:sp>
      <p:sp>
        <p:nvSpPr>
          <p:cNvPr id="30" name="Text 3"/>
          <p:cNvSpPr/>
          <p:nvPr/>
        </p:nvSpPr>
        <p:spPr>
          <a:xfrm>
            <a:off x="1428750" y="1838134"/>
            <a:ext cx="43624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blueprint for your application that specifies Docker images, CPU and memory allocations, networking configurations, and container dependencies. Task definitions are version-controlled, enabling easy updates and rollbacks.</a:t>
            </a:r>
            <a:endParaRPr lang="en-US" sz="1200" dirty="0"/>
          </a:p>
        </p:txBody>
      </p:sp>
      <p:sp>
        <p:nvSpPr>
          <p:cNvPr id="31" name="Text 4"/>
          <p:cNvSpPr/>
          <p:nvPr/>
        </p:nvSpPr>
        <p:spPr>
          <a:xfrm>
            <a:off x="7029450" y="1495234"/>
            <a:ext cx="4362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Task</a:t>
            </a:r>
            <a:endParaRPr lang="en-US" sz="1500" dirty="0"/>
          </a:p>
        </p:txBody>
      </p:sp>
      <p:sp>
        <p:nvSpPr>
          <p:cNvPr id="32" name="Text 5"/>
          <p:cNvSpPr/>
          <p:nvPr/>
        </p:nvSpPr>
        <p:spPr>
          <a:xfrm>
            <a:off x="7029450" y="1838134"/>
            <a:ext cx="43624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An instantiation of a Task Definition representing running container(s). Tasks can be short-lived (batch jobs) or long-running (forming part of a continuous service).</a:t>
            </a:r>
            <a:endParaRPr lang="en-US" sz="1200" dirty="0"/>
          </a:p>
        </p:txBody>
      </p:sp>
      <p:sp>
        <p:nvSpPr>
          <p:cNvPr id="33" name="Text 6"/>
          <p:cNvSpPr/>
          <p:nvPr/>
        </p:nvSpPr>
        <p:spPr>
          <a:xfrm>
            <a:off x="1428750" y="3590734"/>
            <a:ext cx="4362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Service</a:t>
            </a:r>
            <a:endParaRPr lang="en-US" sz="1500" dirty="0"/>
          </a:p>
        </p:txBody>
      </p:sp>
      <p:sp>
        <p:nvSpPr>
          <p:cNvPr id="34" name="Text 7"/>
          <p:cNvSpPr/>
          <p:nvPr/>
        </p:nvSpPr>
        <p:spPr>
          <a:xfrm>
            <a:off x="1428750" y="3933634"/>
            <a:ext cx="43624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Designed for long-running, stateless applications. Maintains a specified number of tasks running simultaneously, ensuring high availability and resilience. Services automatically restart failed tasks and can integrate with load balancers.</a:t>
            </a:r>
            <a:endParaRPr lang="en-US" sz="1200" dirty="0"/>
          </a:p>
        </p:txBody>
      </p:sp>
      <p:sp>
        <p:nvSpPr>
          <p:cNvPr id="35" name="Text 8"/>
          <p:cNvSpPr/>
          <p:nvPr/>
        </p:nvSpPr>
        <p:spPr>
          <a:xfrm>
            <a:off x="7029450" y="3590734"/>
            <a:ext cx="4362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Cluster</a:t>
            </a:r>
            <a:endParaRPr lang="en-US" sz="1500" dirty="0"/>
          </a:p>
        </p:txBody>
      </p:sp>
      <p:sp>
        <p:nvSpPr>
          <p:cNvPr id="36" name="Text 9"/>
          <p:cNvSpPr/>
          <p:nvPr/>
        </p:nvSpPr>
        <p:spPr>
          <a:xfrm>
            <a:off x="7029450" y="3933634"/>
            <a:ext cx="436245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 logical grouping of compute resources where your containerized applications run. Compute resources can be Amazon EC2 instances or AWS Fargate, providing the environment for tasks and services.</a:t>
            </a:r>
            <a:endParaRPr lang="en-US" sz="1200" dirty="0"/>
          </a:p>
        </p:txBody>
      </p:sp>
      <p:sp>
        <p:nvSpPr>
          <p:cNvPr id="37" name="Text 10"/>
          <p:cNvSpPr/>
          <p:nvPr/>
        </p:nvSpPr>
        <p:spPr>
          <a:xfrm>
            <a:off x="819150" y="6486334"/>
            <a:ext cx="299733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Amazon Elastic Container Service</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876300"/>
            <a:ext cx="1219200" cy="38100"/>
          </a:xfrm>
          <a:prstGeom prst="rect">
            <a:avLst/>
          </a:prstGeom>
        </p:spPr>
      </p:pic>
      <p:pic>
        <p:nvPicPr>
          <p:cNvPr id="5" name="Image 3" descr="preencoded.png"/>
          <p:cNvPicPr>
            <a:picLocks noChangeAspect="1"/>
          </p:cNvPicPr>
          <p:nvPr/>
        </p:nvPicPr>
        <p:blipFill>
          <a:blip r:embed="rId6"/>
          <a:stretch>
            <a:fillRect/>
          </a:stretch>
        </p:blipFill>
        <p:spPr>
          <a:xfrm>
            <a:off x="609600" y="1143000"/>
            <a:ext cx="5372100" cy="2095500"/>
          </a:xfrm>
          <a:prstGeom prst="rect">
            <a:avLst/>
          </a:prstGeom>
        </p:spPr>
      </p:pic>
      <p:pic>
        <p:nvPicPr>
          <p:cNvPr id="6" name="Image 4" descr="preencoded.png"/>
          <p:cNvPicPr>
            <a:picLocks noChangeAspect="1"/>
          </p:cNvPicPr>
          <p:nvPr/>
        </p:nvPicPr>
        <p:blipFill>
          <a:blip r:embed="rId7"/>
          <a:stretch>
            <a:fillRect/>
          </a:stretch>
        </p:blipFill>
        <p:spPr>
          <a:xfrm>
            <a:off x="800100" y="1333500"/>
            <a:ext cx="666750" cy="666750"/>
          </a:xfrm>
          <a:prstGeom prst="rect">
            <a:avLst/>
          </a:prstGeom>
        </p:spPr>
      </p:pic>
      <p:pic>
        <p:nvPicPr>
          <p:cNvPr id="7" name="Image 5" descr="preencoded.png"/>
          <p:cNvPicPr>
            <a:picLocks noChangeAspect="1"/>
          </p:cNvPicPr>
          <p:nvPr/>
        </p:nvPicPr>
        <p:blipFill>
          <a:blip r:embed="rId8"/>
          <a:stretch>
            <a:fillRect/>
          </a:stretch>
        </p:blipFill>
        <p:spPr>
          <a:xfrm>
            <a:off x="952500" y="1495425"/>
            <a:ext cx="361950" cy="342900"/>
          </a:xfrm>
          <a:prstGeom prst="rect">
            <a:avLst/>
          </a:prstGeom>
        </p:spPr>
      </p:pic>
      <p:pic>
        <p:nvPicPr>
          <p:cNvPr id="8" name="Image 6" descr="preencoded.png"/>
          <p:cNvPicPr>
            <a:picLocks noChangeAspect="1"/>
          </p:cNvPicPr>
          <p:nvPr/>
        </p:nvPicPr>
        <p:blipFill>
          <a:blip r:embed="rId9"/>
          <a:stretch>
            <a:fillRect/>
          </a:stretch>
        </p:blipFill>
        <p:spPr>
          <a:xfrm>
            <a:off x="1619250" y="2324100"/>
            <a:ext cx="152400" cy="152400"/>
          </a:xfrm>
          <a:prstGeom prst="rect">
            <a:avLst/>
          </a:prstGeom>
        </p:spPr>
      </p:pic>
      <p:pic>
        <p:nvPicPr>
          <p:cNvPr id="9" name="Image 7" descr="preencoded.png"/>
          <p:cNvPicPr>
            <a:picLocks noChangeAspect="1"/>
          </p:cNvPicPr>
          <p:nvPr/>
        </p:nvPicPr>
        <p:blipFill>
          <a:blip r:embed="rId9"/>
          <a:stretch>
            <a:fillRect/>
          </a:stretch>
        </p:blipFill>
        <p:spPr>
          <a:xfrm>
            <a:off x="1619250" y="2590800"/>
            <a:ext cx="152400" cy="152400"/>
          </a:xfrm>
          <a:prstGeom prst="rect">
            <a:avLst/>
          </a:prstGeom>
        </p:spPr>
      </p:pic>
      <p:pic>
        <p:nvPicPr>
          <p:cNvPr id="10" name="Image 8" descr="preencoded.png"/>
          <p:cNvPicPr>
            <a:picLocks noChangeAspect="1"/>
          </p:cNvPicPr>
          <p:nvPr/>
        </p:nvPicPr>
        <p:blipFill>
          <a:blip r:embed="rId9"/>
          <a:stretch>
            <a:fillRect/>
          </a:stretch>
        </p:blipFill>
        <p:spPr>
          <a:xfrm>
            <a:off x="1619250" y="2857500"/>
            <a:ext cx="152400" cy="152400"/>
          </a:xfrm>
          <a:prstGeom prst="rect">
            <a:avLst/>
          </a:prstGeom>
        </p:spPr>
      </p:pic>
      <p:pic>
        <p:nvPicPr>
          <p:cNvPr id="11" name="Image 9" descr="preencoded.png"/>
          <p:cNvPicPr>
            <a:picLocks noChangeAspect="1"/>
          </p:cNvPicPr>
          <p:nvPr/>
        </p:nvPicPr>
        <p:blipFill>
          <a:blip r:embed="rId6"/>
          <a:stretch>
            <a:fillRect/>
          </a:stretch>
        </p:blipFill>
        <p:spPr>
          <a:xfrm>
            <a:off x="6210300" y="1143000"/>
            <a:ext cx="5372100" cy="2095500"/>
          </a:xfrm>
          <a:prstGeom prst="rect">
            <a:avLst/>
          </a:prstGeom>
        </p:spPr>
      </p:pic>
      <p:pic>
        <p:nvPicPr>
          <p:cNvPr id="12" name="Image 10" descr="preencoded.png"/>
          <p:cNvPicPr>
            <a:picLocks noChangeAspect="1"/>
          </p:cNvPicPr>
          <p:nvPr/>
        </p:nvPicPr>
        <p:blipFill>
          <a:blip r:embed="rId10"/>
          <a:stretch>
            <a:fillRect/>
          </a:stretch>
        </p:blipFill>
        <p:spPr>
          <a:xfrm>
            <a:off x="6400800" y="1333500"/>
            <a:ext cx="666750" cy="666750"/>
          </a:xfrm>
          <a:prstGeom prst="rect">
            <a:avLst/>
          </a:prstGeom>
        </p:spPr>
      </p:pic>
      <p:pic>
        <p:nvPicPr>
          <p:cNvPr id="13" name="Image 11" descr="preencoded.png"/>
          <p:cNvPicPr>
            <a:picLocks noChangeAspect="1"/>
          </p:cNvPicPr>
          <p:nvPr/>
        </p:nvPicPr>
        <p:blipFill>
          <a:blip r:embed="rId11"/>
          <a:stretch>
            <a:fillRect/>
          </a:stretch>
        </p:blipFill>
        <p:spPr>
          <a:xfrm>
            <a:off x="6591300" y="1495425"/>
            <a:ext cx="285750" cy="342900"/>
          </a:xfrm>
          <a:prstGeom prst="rect">
            <a:avLst/>
          </a:prstGeom>
        </p:spPr>
      </p:pic>
      <p:pic>
        <p:nvPicPr>
          <p:cNvPr id="14" name="Image 12" descr="preencoded.png"/>
          <p:cNvPicPr>
            <a:picLocks noChangeAspect="1"/>
          </p:cNvPicPr>
          <p:nvPr/>
        </p:nvPicPr>
        <p:blipFill>
          <a:blip r:embed="rId9"/>
          <a:stretch>
            <a:fillRect/>
          </a:stretch>
        </p:blipFill>
        <p:spPr>
          <a:xfrm>
            <a:off x="7219950" y="2324100"/>
            <a:ext cx="152400" cy="152400"/>
          </a:xfrm>
          <a:prstGeom prst="rect">
            <a:avLst/>
          </a:prstGeom>
        </p:spPr>
      </p:pic>
      <p:pic>
        <p:nvPicPr>
          <p:cNvPr id="15" name="Image 13" descr="preencoded.png"/>
          <p:cNvPicPr>
            <a:picLocks noChangeAspect="1"/>
          </p:cNvPicPr>
          <p:nvPr/>
        </p:nvPicPr>
        <p:blipFill>
          <a:blip r:embed="rId9"/>
          <a:stretch>
            <a:fillRect/>
          </a:stretch>
        </p:blipFill>
        <p:spPr>
          <a:xfrm>
            <a:off x="7219950" y="2590800"/>
            <a:ext cx="152400" cy="152400"/>
          </a:xfrm>
          <a:prstGeom prst="rect">
            <a:avLst/>
          </a:prstGeom>
        </p:spPr>
      </p:pic>
      <p:pic>
        <p:nvPicPr>
          <p:cNvPr id="16" name="Image 14" descr="preencoded.png"/>
          <p:cNvPicPr>
            <a:picLocks noChangeAspect="1"/>
          </p:cNvPicPr>
          <p:nvPr/>
        </p:nvPicPr>
        <p:blipFill>
          <a:blip r:embed="rId9"/>
          <a:stretch>
            <a:fillRect/>
          </a:stretch>
        </p:blipFill>
        <p:spPr>
          <a:xfrm>
            <a:off x="7219950" y="2857500"/>
            <a:ext cx="152400" cy="152400"/>
          </a:xfrm>
          <a:prstGeom prst="rect">
            <a:avLst/>
          </a:prstGeom>
        </p:spPr>
      </p:pic>
      <p:pic>
        <p:nvPicPr>
          <p:cNvPr id="17" name="Image 15" descr="preencoded.png"/>
          <p:cNvPicPr>
            <a:picLocks noChangeAspect="1"/>
          </p:cNvPicPr>
          <p:nvPr/>
        </p:nvPicPr>
        <p:blipFill>
          <a:blip r:embed="rId12"/>
          <a:stretch>
            <a:fillRect/>
          </a:stretch>
        </p:blipFill>
        <p:spPr>
          <a:xfrm>
            <a:off x="609600" y="3467100"/>
            <a:ext cx="5372100" cy="2095500"/>
          </a:xfrm>
          <a:prstGeom prst="rect">
            <a:avLst/>
          </a:prstGeom>
        </p:spPr>
      </p:pic>
      <p:pic>
        <p:nvPicPr>
          <p:cNvPr id="18" name="Image 16" descr="preencoded.png"/>
          <p:cNvPicPr>
            <a:picLocks noChangeAspect="1"/>
          </p:cNvPicPr>
          <p:nvPr/>
        </p:nvPicPr>
        <p:blipFill>
          <a:blip r:embed="rId13"/>
          <a:stretch>
            <a:fillRect/>
          </a:stretch>
        </p:blipFill>
        <p:spPr>
          <a:xfrm>
            <a:off x="800100" y="3657600"/>
            <a:ext cx="666750" cy="666750"/>
          </a:xfrm>
          <a:prstGeom prst="rect">
            <a:avLst/>
          </a:prstGeom>
        </p:spPr>
      </p:pic>
      <p:pic>
        <p:nvPicPr>
          <p:cNvPr id="19" name="Image 17" descr="preencoded.png"/>
          <p:cNvPicPr>
            <a:picLocks noChangeAspect="1"/>
          </p:cNvPicPr>
          <p:nvPr/>
        </p:nvPicPr>
        <p:blipFill>
          <a:blip r:embed="rId14"/>
          <a:stretch>
            <a:fillRect/>
          </a:stretch>
        </p:blipFill>
        <p:spPr>
          <a:xfrm>
            <a:off x="1023938" y="3819525"/>
            <a:ext cx="219075" cy="342900"/>
          </a:xfrm>
          <a:prstGeom prst="rect">
            <a:avLst/>
          </a:prstGeom>
        </p:spPr>
      </p:pic>
      <p:pic>
        <p:nvPicPr>
          <p:cNvPr id="20" name="Image 18" descr="preencoded.png"/>
          <p:cNvPicPr>
            <a:picLocks noChangeAspect="1"/>
          </p:cNvPicPr>
          <p:nvPr/>
        </p:nvPicPr>
        <p:blipFill>
          <a:blip r:embed="rId9"/>
          <a:stretch>
            <a:fillRect/>
          </a:stretch>
        </p:blipFill>
        <p:spPr>
          <a:xfrm>
            <a:off x="1619250" y="4648200"/>
            <a:ext cx="152400" cy="152400"/>
          </a:xfrm>
          <a:prstGeom prst="rect">
            <a:avLst/>
          </a:prstGeom>
        </p:spPr>
      </p:pic>
      <p:pic>
        <p:nvPicPr>
          <p:cNvPr id="21" name="Image 19" descr="preencoded.png"/>
          <p:cNvPicPr>
            <a:picLocks noChangeAspect="1"/>
          </p:cNvPicPr>
          <p:nvPr/>
        </p:nvPicPr>
        <p:blipFill>
          <a:blip r:embed="rId9"/>
          <a:stretch>
            <a:fillRect/>
          </a:stretch>
        </p:blipFill>
        <p:spPr>
          <a:xfrm>
            <a:off x="1619250" y="4914900"/>
            <a:ext cx="152400" cy="152400"/>
          </a:xfrm>
          <a:prstGeom prst="rect">
            <a:avLst/>
          </a:prstGeom>
        </p:spPr>
      </p:pic>
      <p:pic>
        <p:nvPicPr>
          <p:cNvPr id="22" name="Image 20" descr="preencoded.png"/>
          <p:cNvPicPr>
            <a:picLocks noChangeAspect="1"/>
          </p:cNvPicPr>
          <p:nvPr/>
        </p:nvPicPr>
        <p:blipFill>
          <a:blip r:embed="rId9"/>
          <a:stretch>
            <a:fillRect/>
          </a:stretch>
        </p:blipFill>
        <p:spPr>
          <a:xfrm>
            <a:off x="1619250" y="5181600"/>
            <a:ext cx="152400" cy="152400"/>
          </a:xfrm>
          <a:prstGeom prst="rect">
            <a:avLst/>
          </a:prstGeom>
        </p:spPr>
      </p:pic>
      <p:pic>
        <p:nvPicPr>
          <p:cNvPr id="23" name="Image 21" descr="preencoded.png"/>
          <p:cNvPicPr>
            <a:picLocks noChangeAspect="1"/>
          </p:cNvPicPr>
          <p:nvPr/>
        </p:nvPicPr>
        <p:blipFill>
          <a:blip r:embed="rId12"/>
          <a:stretch>
            <a:fillRect/>
          </a:stretch>
        </p:blipFill>
        <p:spPr>
          <a:xfrm>
            <a:off x="6210300" y="3467100"/>
            <a:ext cx="5372100" cy="2095500"/>
          </a:xfrm>
          <a:prstGeom prst="rect">
            <a:avLst/>
          </a:prstGeom>
        </p:spPr>
      </p:pic>
      <p:pic>
        <p:nvPicPr>
          <p:cNvPr id="24" name="Image 22" descr="preencoded.png"/>
          <p:cNvPicPr>
            <a:picLocks noChangeAspect="1"/>
          </p:cNvPicPr>
          <p:nvPr/>
        </p:nvPicPr>
        <p:blipFill>
          <a:blip r:embed="rId15"/>
          <a:stretch>
            <a:fillRect/>
          </a:stretch>
        </p:blipFill>
        <p:spPr>
          <a:xfrm>
            <a:off x="6400800" y="3657600"/>
            <a:ext cx="666750" cy="666750"/>
          </a:xfrm>
          <a:prstGeom prst="rect">
            <a:avLst/>
          </a:prstGeom>
        </p:spPr>
      </p:pic>
      <p:pic>
        <p:nvPicPr>
          <p:cNvPr id="25" name="Image 23" descr="preencoded.png"/>
          <p:cNvPicPr>
            <a:picLocks noChangeAspect="1"/>
          </p:cNvPicPr>
          <p:nvPr/>
        </p:nvPicPr>
        <p:blipFill>
          <a:blip r:embed="rId16"/>
          <a:stretch>
            <a:fillRect/>
          </a:stretch>
        </p:blipFill>
        <p:spPr>
          <a:xfrm>
            <a:off x="6610350" y="3819525"/>
            <a:ext cx="247650" cy="342900"/>
          </a:xfrm>
          <a:prstGeom prst="rect">
            <a:avLst/>
          </a:prstGeom>
        </p:spPr>
      </p:pic>
      <p:pic>
        <p:nvPicPr>
          <p:cNvPr id="26" name="Image 24" descr="preencoded.png"/>
          <p:cNvPicPr>
            <a:picLocks noChangeAspect="1"/>
          </p:cNvPicPr>
          <p:nvPr/>
        </p:nvPicPr>
        <p:blipFill>
          <a:blip r:embed="rId9"/>
          <a:stretch>
            <a:fillRect/>
          </a:stretch>
        </p:blipFill>
        <p:spPr>
          <a:xfrm>
            <a:off x="7219950" y="4648200"/>
            <a:ext cx="152400" cy="152400"/>
          </a:xfrm>
          <a:prstGeom prst="rect">
            <a:avLst/>
          </a:prstGeom>
        </p:spPr>
      </p:pic>
      <p:pic>
        <p:nvPicPr>
          <p:cNvPr id="27" name="Image 25" descr="preencoded.png"/>
          <p:cNvPicPr>
            <a:picLocks noChangeAspect="1"/>
          </p:cNvPicPr>
          <p:nvPr/>
        </p:nvPicPr>
        <p:blipFill>
          <a:blip r:embed="rId9"/>
          <a:stretch>
            <a:fillRect/>
          </a:stretch>
        </p:blipFill>
        <p:spPr>
          <a:xfrm>
            <a:off x="7219950" y="4914900"/>
            <a:ext cx="152400" cy="152400"/>
          </a:xfrm>
          <a:prstGeom prst="rect">
            <a:avLst/>
          </a:prstGeom>
        </p:spPr>
      </p:pic>
      <p:pic>
        <p:nvPicPr>
          <p:cNvPr id="28" name="Image 26" descr="preencoded.png"/>
          <p:cNvPicPr>
            <a:picLocks noChangeAspect="1"/>
          </p:cNvPicPr>
          <p:nvPr/>
        </p:nvPicPr>
        <p:blipFill>
          <a:blip r:embed="rId9"/>
          <a:stretch>
            <a:fillRect/>
          </a:stretch>
        </p:blipFill>
        <p:spPr>
          <a:xfrm>
            <a:off x="7219950" y="5181600"/>
            <a:ext cx="152400" cy="152400"/>
          </a:xfrm>
          <a:prstGeom prst="rect">
            <a:avLst/>
          </a:prstGeom>
        </p:spPr>
      </p:pic>
      <p:sp>
        <p:nvSpPr>
          <p:cNvPr id="38" name="Text 0"/>
          <p:cNvSpPr/>
          <p:nvPr/>
        </p:nvSpPr>
        <p:spPr>
          <a:xfrm>
            <a:off x="609600" y="3810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006D77"/>
                </a:solidFill>
                <a:latin typeface="ui-sans-serif" pitchFamily="34" charset="0"/>
                <a:ea typeface="ui-sans-serif" pitchFamily="34" charset="-122"/>
                <a:cs typeface="ui-sans-serif" pitchFamily="34" charset="-120"/>
              </a:rPr>
              <a:t>Compute Options</a:t>
            </a:r>
            <a:endParaRPr lang="en-US" sz="2700" dirty="0"/>
          </a:p>
        </p:txBody>
      </p:sp>
      <p:sp>
        <p:nvSpPr>
          <p:cNvPr id="39" name="Text 1"/>
          <p:cNvSpPr/>
          <p:nvPr/>
        </p:nvSpPr>
        <p:spPr>
          <a:xfrm>
            <a:off x="1619250" y="1333500"/>
            <a:ext cx="417195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AWS Fargate</a:t>
            </a:r>
            <a:endParaRPr lang="en-US" sz="1800" dirty="0"/>
          </a:p>
        </p:txBody>
      </p:sp>
      <p:sp>
        <p:nvSpPr>
          <p:cNvPr id="40" name="Text 2"/>
          <p:cNvSpPr/>
          <p:nvPr/>
        </p:nvSpPr>
        <p:spPr>
          <a:xfrm>
            <a:off x="1619250" y="1714500"/>
            <a:ext cx="41719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Serverless compute engine that removes the need to manage infrastructure.</a:t>
            </a:r>
            <a:endParaRPr lang="en-US" sz="1200" dirty="0"/>
          </a:p>
        </p:txBody>
      </p:sp>
      <p:sp>
        <p:nvSpPr>
          <p:cNvPr id="41" name="Text 3"/>
          <p:cNvSpPr/>
          <p:nvPr/>
        </p:nvSpPr>
        <p:spPr>
          <a:xfrm>
            <a:off x="1847850" y="2286000"/>
            <a:ext cx="302573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Pay only for resources consumed</a:t>
            </a:r>
            <a:endParaRPr lang="en-US" sz="1200" dirty="0"/>
          </a:p>
        </p:txBody>
      </p:sp>
      <p:sp>
        <p:nvSpPr>
          <p:cNvPr id="42" name="Text 4"/>
          <p:cNvSpPr/>
          <p:nvPr/>
        </p:nvSpPr>
        <p:spPr>
          <a:xfrm>
            <a:off x="1847850" y="2552700"/>
            <a:ext cx="321272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Automatic provisioning and scaling</a:t>
            </a:r>
            <a:endParaRPr lang="en-US" sz="1200" dirty="0"/>
          </a:p>
        </p:txBody>
      </p:sp>
      <p:sp>
        <p:nvSpPr>
          <p:cNvPr id="43" name="Text 5"/>
          <p:cNvSpPr/>
          <p:nvPr/>
        </p:nvSpPr>
        <p:spPr>
          <a:xfrm>
            <a:off x="1847850" y="2819400"/>
            <a:ext cx="363063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Ideal for reducing operational overhead</a:t>
            </a:r>
            <a:endParaRPr lang="en-US" sz="1200" dirty="0"/>
          </a:p>
        </p:txBody>
      </p:sp>
      <p:sp>
        <p:nvSpPr>
          <p:cNvPr id="44" name="Text 6"/>
          <p:cNvSpPr/>
          <p:nvPr/>
        </p:nvSpPr>
        <p:spPr>
          <a:xfrm>
            <a:off x="7219950" y="1333500"/>
            <a:ext cx="50063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Amazon EC2 Instances</a:t>
            </a:r>
            <a:endParaRPr lang="en-US" sz="1800" dirty="0"/>
          </a:p>
        </p:txBody>
      </p:sp>
      <p:sp>
        <p:nvSpPr>
          <p:cNvPr id="45" name="Text 7"/>
          <p:cNvSpPr/>
          <p:nvPr/>
        </p:nvSpPr>
        <p:spPr>
          <a:xfrm>
            <a:off x="7219950" y="1714500"/>
            <a:ext cx="41719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User-provisioned and managed instances within an ECS cluster.</a:t>
            </a:r>
            <a:endParaRPr lang="en-US" sz="1200" dirty="0"/>
          </a:p>
        </p:txBody>
      </p:sp>
      <p:sp>
        <p:nvSpPr>
          <p:cNvPr id="46" name="Text 8"/>
          <p:cNvSpPr/>
          <p:nvPr/>
        </p:nvSpPr>
        <p:spPr>
          <a:xfrm>
            <a:off x="7448550" y="2286000"/>
            <a:ext cx="286553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Full control over instance types</a:t>
            </a:r>
            <a:endParaRPr lang="en-US" sz="1200" dirty="0"/>
          </a:p>
        </p:txBody>
      </p:sp>
      <p:sp>
        <p:nvSpPr>
          <p:cNvPr id="47" name="Text 9"/>
          <p:cNvSpPr/>
          <p:nvPr/>
        </p:nvSpPr>
        <p:spPr>
          <a:xfrm>
            <a:off x="7448550" y="2552700"/>
            <a:ext cx="278749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Custom configurations and OS</a:t>
            </a:r>
            <a:endParaRPr lang="en-US" sz="1200" dirty="0"/>
          </a:p>
        </p:txBody>
      </p:sp>
      <p:sp>
        <p:nvSpPr>
          <p:cNvPr id="48" name="Text 10"/>
          <p:cNvSpPr/>
          <p:nvPr/>
        </p:nvSpPr>
        <p:spPr>
          <a:xfrm>
            <a:off x="7448550" y="2819400"/>
            <a:ext cx="302377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Support for specialized hardware</a:t>
            </a:r>
            <a:endParaRPr lang="en-US" sz="1200" dirty="0"/>
          </a:p>
        </p:txBody>
      </p:sp>
      <p:sp>
        <p:nvSpPr>
          <p:cNvPr id="49" name="Text 11"/>
          <p:cNvSpPr/>
          <p:nvPr/>
        </p:nvSpPr>
        <p:spPr>
          <a:xfrm>
            <a:off x="1619250" y="3657600"/>
            <a:ext cx="50063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Amazon ECS Anywhere</a:t>
            </a:r>
            <a:endParaRPr lang="en-US" sz="1800" dirty="0"/>
          </a:p>
        </p:txBody>
      </p:sp>
      <p:sp>
        <p:nvSpPr>
          <p:cNvPr id="50" name="Text 12"/>
          <p:cNvSpPr/>
          <p:nvPr/>
        </p:nvSpPr>
        <p:spPr>
          <a:xfrm>
            <a:off x="1619250" y="4038600"/>
            <a:ext cx="41719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Extends ECS to on-premises VMs or servers for hybrid environments.</a:t>
            </a:r>
            <a:endParaRPr lang="en-US" sz="1200" dirty="0"/>
          </a:p>
        </p:txBody>
      </p:sp>
      <p:sp>
        <p:nvSpPr>
          <p:cNvPr id="51" name="Text 13"/>
          <p:cNvSpPr/>
          <p:nvPr/>
        </p:nvSpPr>
        <p:spPr>
          <a:xfrm>
            <a:off x="1847850" y="4610100"/>
            <a:ext cx="332363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Consistent management experience</a:t>
            </a:r>
            <a:endParaRPr lang="en-US" sz="1200" dirty="0"/>
          </a:p>
        </p:txBody>
      </p:sp>
      <p:sp>
        <p:nvSpPr>
          <p:cNvPr id="52" name="Text 14"/>
          <p:cNvSpPr/>
          <p:nvPr/>
        </p:nvSpPr>
        <p:spPr>
          <a:xfrm>
            <a:off x="1847850" y="4876800"/>
            <a:ext cx="422785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Same console and tools for cloud/on-premises</a:t>
            </a:r>
            <a:endParaRPr lang="en-US" sz="1200" dirty="0"/>
          </a:p>
        </p:txBody>
      </p:sp>
      <p:sp>
        <p:nvSpPr>
          <p:cNvPr id="53" name="Text 15"/>
          <p:cNvSpPr/>
          <p:nvPr/>
        </p:nvSpPr>
        <p:spPr>
          <a:xfrm>
            <a:off x="1847850" y="5143500"/>
            <a:ext cx="264747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Hybrid workload deployment</a:t>
            </a:r>
            <a:endParaRPr lang="en-US" sz="1200" dirty="0"/>
          </a:p>
        </p:txBody>
      </p:sp>
      <p:sp>
        <p:nvSpPr>
          <p:cNvPr id="54" name="Text 16"/>
          <p:cNvSpPr/>
          <p:nvPr/>
        </p:nvSpPr>
        <p:spPr>
          <a:xfrm>
            <a:off x="7219950" y="3657600"/>
            <a:ext cx="50063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ECS on AWS OutPosts</a:t>
            </a:r>
            <a:endParaRPr lang="en-US" sz="1800" dirty="0"/>
          </a:p>
        </p:txBody>
      </p:sp>
      <p:sp>
        <p:nvSpPr>
          <p:cNvPr id="55" name="Text 17"/>
          <p:cNvSpPr/>
          <p:nvPr/>
        </p:nvSpPr>
        <p:spPr>
          <a:xfrm>
            <a:off x="7219950" y="4038600"/>
            <a:ext cx="41719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Run ECS tasks on-premises using AWS OutPosts hardware.</a:t>
            </a:r>
            <a:endParaRPr lang="en-US" sz="1200" dirty="0"/>
          </a:p>
        </p:txBody>
      </p:sp>
      <p:sp>
        <p:nvSpPr>
          <p:cNvPr id="56" name="Text 18"/>
          <p:cNvSpPr/>
          <p:nvPr/>
        </p:nvSpPr>
        <p:spPr>
          <a:xfrm>
            <a:off x="7448550" y="4610100"/>
            <a:ext cx="401228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Low-latency access to on-premises systems</a:t>
            </a:r>
            <a:endParaRPr lang="en-US" sz="1200" dirty="0"/>
          </a:p>
        </p:txBody>
      </p:sp>
      <p:sp>
        <p:nvSpPr>
          <p:cNvPr id="57" name="Text 19"/>
          <p:cNvSpPr/>
          <p:nvPr/>
        </p:nvSpPr>
        <p:spPr>
          <a:xfrm>
            <a:off x="7448550" y="4876800"/>
            <a:ext cx="272069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Familiar AWS APIs and tooling</a:t>
            </a:r>
            <a:endParaRPr lang="en-US" sz="1200" dirty="0"/>
          </a:p>
        </p:txBody>
      </p:sp>
      <p:sp>
        <p:nvSpPr>
          <p:cNvPr id="58" name="Text 20"/>
          <p:cNvSpPr/>
          <p:nvPr/>
        </p:nvSpPr>
        <p:spPr>
          <a:xfrm>
            <a:off x="7448550" y="5143500"/>
            <a:ext cx="309288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On-premises workload processing</a:t>
            </a:r>
            <a:endParaRPr lang="en-US" sz="1200" dirty="0"/>
          </a:p>
        </p:txBody>
      </p:sp>
      <p:sp>
        <p:nvSpPr>
          <p:cNvPr id="59" name="Text 21"/>
          <p:cNvSpPr/>
          <p:nvPr/>
        </p:nvSpPr>
        <p:spPr>
          <a:xfrm>
            <a:off x="819150" y="6438900"/>
            <a:ext cx="299733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Amazon Elastic Container Service</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609600" y="876300"/>
            <a:ext cx="1219200" cy="38100"/>
          </a:xfrm>
          <a:prstGeom prst="rect">
            <a:avLst/>
          </a:prstGeom>
        </p:spPr>
      </p:pic>
      <p:pic>
        <p:nvPicPr>
          <p:cNvPr id="5" name="Image 3" descr="preencoded.png"/>
          <p:cNvPicPr>
            <a:picLocks noChangeAspect="1"/>
          </p:cNvPicPr>
          <p:nvPr/>
        </p:nvPicPr>
        <p:blipFill>
          <a:blip r:embed="rId4"/>
          <a:stretch>
            <a:fillRect/>
          </a:stretch>
        </p:blipFill>
        <p:spPr>
          <a:xfrm>
            <a:off x="609600" y="1143000"/>
            <a:ext cx="5372100" cy="1714500"/>
          </a:xfrm>
          <a:prstGeom prst="rect">
            <a:avLst/>
          </a:prstGeom>
        </p:spPr>
      </p:pic>
      <p:pic>
        <p:nvPicPr>
          <p:cNvPr id="6" name="Image 4" descr="preencoded.png"/>
          <p:cNvPicPr>
            <a:picLocks noChangeAspect="1"/>
          </p:cNvPicPr>
          <p:nvPr/>
        </p:nvPicPr>
        <p:blipFill>
          <a:blip r:embed="rId5"/>
          <a:stretch>
            <a:fillRect/>
          </a:stretch>
        </p:blipFill>
        <p:spPr>
          <a:xfrm>
            <a:off x="800100" y="1333500"/>
            <a:ext cx="476250" cy="476250"/>
          </a:xfrm>
          <a:prstGeom prst="rect">
            <a:avLst/>
          </a:prstGeom>
        </p:spPr>
      </p:pic>
      <p:pic>
        <p:nvPicPr>
          <p:cNvPr id="7" name="Image 5" descr="preencoded.png"/>
          <p:cNvPicPr>
            <a:picLocks noChangeAspect="1"/>
          </p:cNvPicPr>
          <p:nvPr/>
        </p:nvPicPr>
        <p:blipFill>
          <a:blip r:embed="rId6"/>
          <a:stretch>
            <a:fillRect/>
          </a:stretch>
        </p:blipFill>
        <p:spPr>
          <a:xfrm>
            <a:off x="942975" y="1438275"/>
            <a:ext cx="190500" cy="266700"/>
          </a:xfrm>
          <a:prstGeom prst="rect">
            <a:avLst/>
          </a:prstGeom>
        </p:spPr>
      </p:pic>
      <p:pic>
        <p:nvPicPr>
          <p:cNvPr id="8" name="Image 6" descr="preencoded.png"/>
          <p:cNvPicPr>
            <a:picLocks noChangeAspect="1"/>
          </p:cNvPicPr>
          <p:nvPr/>
        </p:nvPicPr>
        <p:blipFill>
          <a:blip r:embed="rId7"/>
          <a:stretch>
            <a:fillRect/>
          </a:stretch>
        </p:blipFill>
        <p:spPr>
          <a:xfrm>
            <a:off x="1428750" y="2495550"/>
            <a:ext cx="152400" cy="152400"/>
          </a:xfrm>
          <a:prstGeom prst="rect">
            <a:avLst/>
          </a:prstGeom>
        </p:spPr>
      </p:pic>
      <p:pic>
        <p:nvPicPr>
          <p:cNvPr id="9" name="Image 7" descr="preencoded.png"/>
          <p:cNvPicPr>
            <a:picLocks noChangeAspect="1"/>
          </p:cNvPicPr>
          <p:nvPr/>
        </p:nvPicPr>
        <p:blipFill>
          <a:blip r:embed="rId8"/>
          <a:stretch>
            <a:fillRect/>
          </a:stretch>
        </p:blipFill>
        <p:spPr>
          <a:xfrm>
            <a:off x="6210300" y="1143000"/>
            <a:ext cx="5372100" cy="1714500"/>
          </a:xfrm>
          <a:prstGeom prst="rect">
            <a:avLst/>
          </a:prstGeom>
        </p:spPr>
      </p:pic>
      <p:pic>
        <p:nvPicPr>
          <p:cNvPr id="10" name="Image 8" descr="preencoded.png"/>
          <p:cNvPicPr>
            <a:picLocks noChangeAspect="1"/>
          </p:cNvPicPr>
          <p:nvPr/>
        </p:nvPicPr>
        <p:blipFill>
          <a:blip r:embed="rId9"/>
          <a:stretch>
            <a:fillRect/>
          </a:stretch>
        </p:blipFill>
        <p:spPr>
          <a:xfrm>
            <a:off x="6400800" y="1333500"/>
            <a:ext cx="476250" cy="476250"/>
          </a:xfrm>
          <a:prstGeom prst="rect">
            <a:avLst/>
          </a:prstGeom>
        </p:spPr>
      </p:pic>
      <p:pic>
        <p:nvPicPr>
          <p:cNvPr id="11" name="Image 9" descr="preencoded.png"/>
          <p:cNvPicPr>
            <a:picLocks noChangeAspect="1"/>
          </p:cNvPicPr>
          <p:nvPr/>
        </p:nvPicPr>
        <p:blipFill>
          <a:blip r:embed="rId10"/>
          <a:stretch>
            <a:fillRect/>
          </a:stretch>
        </p:blipFill>
        <p:spPr>
          <a:xfrm>
            <a:off x="6543675" y="1438275"/>
            <a:ext cx="190500" cy="266700"/>
          </a:xfrm>
          <a:prstGeom prst="rect">
            <a:avLst/>
          </a:prstGeom>
        </p:spPr>
      </p:pic>
      <p:pic>
        <p:nvPicPr>
          <p:cNvPr id="12" name="Image 10" descr="preencoded.png"/>
          <p:cNvPicPr>
            <a:picLocks noChangeAspect="1"/>
          </p:cNvPicPr>
          <p:nvPr/>
        </p:nvPicPr>
        <p:blipFill>
          <a:blip r:embed="rId7"/>
          <a:stretch>
            <a:fillRect/>
          </a:stretch>
        </p:blipFill>
        <p:spPr>
          <a:xfrm>
            <a:off x="7029450" y="2495550"/>
            <a:ext cx="152400" cy="152400"/>
          </a:xfrm>
          <a:prstGeom prst="rect">
            <a:avLst/>
          </a:prstGeom>
        </p:spPr>
      </p:pic>
      <p:pic>
        <p:nvPicPr>
          <p:cNvPr id="13" name="Image 11" descr="preencoded.png"/>
          <p:cNvPicPr>
            <a:picLocks noChangeAspect="1"/>
          </p:cNvPicPr>
          <p:nvPr/>
        </p:nvPicPr>
        <p:blipFill>
          <a:blip r:embed="rId11"/>
          <a:stretch>
            <a:fillRect/>
          </a:stretch>
        </p:blipFill>
        <p:spPr>
          <a:xfrm>
            <a:off x="609600" y="3086100"/>
            <a:ext cx="5372100" cy="1714500"/>
          </a:xfrm>
          <a:prstGeom prst="rect">
            <a:avLst/>
          </a:prstGeom>
        </p:spPr>
      </p:pic>
      <p:pic>
        <p:nvPicPr>
          <p:cNvPr id="14" name="Image 12" descr="preencoded.png"/>
          <p:cNvPicPr>
            <a:picLocks noChangeAspect="1"/>
          </p:cNvPicPr>
          <p:nvPr/>
        </p:nvPicPr>
        <p:blipFill>
          <a:blip r:embed="rId12"/>
          <a:stretch>
            <a:fillRect/>
          </a:stretch>
        </p:blipFill>
        <p:spPr>
          <a:xfrm>
            <a:off x="800100" y="3276600"/>
            <a:ext cx="476250" cy="476250"/>
          </a:xfrm>
          <a:prstGeom prst="rect">
            <a:avLst/>
          </a:prstGeom>
        </p:spPr>
      </p:pic>
      <p:pic>
        <p:nvPicPr>
          <p:cNvPr id="15" name="Image 13" descr="preencoded.png"/>
          <p:cNvPicPr>
            <a:picLocks noChangeAspect="1"/>
          </p:cNvPicPr>
          <p:nvPr/>
        </p:nvPicPr>
        <p:blipFill>
          <a:blip r:embed="rId13"/>
          <a:stretch>
            <a:fillRect/>
          </a:stretch>
        </p:blipFill>
        <p:spPr>
          <a:xfrm>
            <a:off x="942975" y="3381375"/>
            <a:ext cx="190500" cy="266700"/>
          </a:xfrm>
          <a:prstGeom prst="rect">
            <a:avLst/>
          </a:prstGeom>
        </p:spPr>
      </p:pic>
      <p:pic>
        <p:nvPicPr>
          <p:cNvPr id="16" name="Image 14" descr="preencoded.png"/>
          <p:cNvPicPr>
            <a:picLocks noChangeAspect="1"/>
          </p:cNvPicPr>
          <p:nvPr/>
        </p:nvPicPr>
        <p:blipFill>
          <a:blip r:embed="rId7"/>
          <a:stretch>
            <a:fillRect/>
          </a:stretch>
        </p:blipFill>
        <p:spPr>
          <a:xfrm>
            <a:off x="1428750" y="4438650"/>
            <a:ext cx="152400" cy="152400"/>
          </a:xfrm>
          <a:prstGeom prst="rect">
            <a:avLst/>
          </a:prstGeom>
        </p:spPr>
      </p:pic>
      <p:pic>
        <p:nvPicPr>
          <p:cNvPr id="17" name="Image 15" descr="preencoded.png"/>
          <p:cNvPicPr>
            <a:picLocks noChangeAspect="1"/>
          </p:cNvPicPr>
          <p:nvPr/>
        </p:nvPicPr>
        <p:blipFill>
          <a:blip r:embed="rId14"/>
          <a:stretch>
            <a:fillRect/>
          </a:stretch>
        </p:blipFill>
        <p:spPr>
          <a:xfrm>
            <a:off x="6210300" y="3086100"/>
            <a:ext cx="5372100" cy="1714500"/>
          </a:xfrm>
          <a:prstGeom prst="rect">
            <a:avLst/>
          </a:prstGeom>
        </p:spPr>
      </p:pic>
      <p:pic>
        <p:nvPicPr>
          <p:cNvPr id="18" name="Image 16" descr="preencoded.png"/>
          <p:cNvPicPr>
            <a:picLocks noChangeAspect="1"/>
          </p:cNvPicPr>
          <p:nvPr/>
        </p:nvPicPr>
        <p:blipFill>
          <a:blip r:embed="rId15"/>
          <a:stretch>
            <a:fillRect/>
          </a:stretch>
        </p:blipFill>
        <p:spPr>
          <a:xfrm>
            <a:off x="6400800" y="3276600"/>
            <a:ext cx="476250" cy="476250"/>
          </a:xfrm>
          <a:prstGeom prst="rect">
            <a:avLst/>
          </a:prstGeom>
        </p:spPr>
      </p:pic>
      <p:pic>
        <p:nvPicPr>
          <p:cNvPr id="19" name="Image 17" descr="preencoded.png"/>
          <p:cNvPicPr>
            <a:picLocks noChangeAspect="1"/>
          </p:cNvPicPr>
          <p:nvPr/>
        </p:nvPicPr>
        <p:blipFill>
          <a:blip r:embed="rId16"/>
          <a:stretch>
            <a:fillRect/>
          </a:stretch>
        </p:blipFill>
        <p:spPr>
          <a:xfrm>
            <a:off x="6553200" y="3381375"/>
            <a:ext cx="171450" cy="266700"/>
          </a:xfrm>
          <a:prstGeom prst="rect">
            <a:avLst/>
          </a:prstGeom>
        </p:spPr>
      </p:pic>
      <p:pic>
        <p:nvPicPr>
          <p:cNvPr id="20" name="Image 18" descr="preencoded.png"/>
          <p:cNvPicPr>
            <a:picLocks noChangeAspect="1"/>
          </p:cNvPicPr>
          <p:nvPr/>
        </p:nvPicPr>
        <p:blipFill>
          <a:blip r:embed="rId7"/>
          <a:stretch>
            <a:fillRect/>
          </a:stretch>
        </p:blipFill>
        <p:spPr>
          <a:xfrm>
            <a:off x="7029450" y="4438650"/>
            <a:ext cx="152400" cy="152400"/>
          </a:xfrm>
          <a:prstGeom prst="rect">
            <a:avLst/>
          </a:prstGeom>
        </p:spPr>
      </p:pic>
      <p:pic>
        <p:nvPicPr>
          <p:cNvPr id="21" name="Image 19" descr="preencoded.png"/>
          <p:cNvPicPr>
            <a:picLocks noChangeAspect="1"/>
          </p:cNvPicPr>
          <p:nvPr/>
        </p:nvPicPr>
        <p:blipFill>
          <a:blip r:embed="rId17"/>
          <a:stretch>
            <a:fillRect/>
          </a:stretch>
        </p:blipFill>
        <p:spPr>
          <a:xfrm>
            <a:off x="609600" y="5029200"/>
            <a:ext cx="10972800" cy="1485900"/>
          </a:xfrm>
          <a:prstGeom prst="rect">
            <a:avLst/>
          </a:prstGeom>
        </p:spPr>
      </p:pic>
      <p:pic>
        <p:nvPicPr>
          <p:cNvPr id="22" name="Image 20" descr="preencoded.png"/>
          <p:cNvPicPr>
            <a:picLocks noChangeAspect="1"/>
          </p:cNvPicPr>
          <p:nvPr/>
        </p:nvPicPr>
        <p:blipFill>
          <a:blip r:embed="rId18"/>
          <a:stretch>
            <a:fillRect/>
          </a:stretch>
        </p:blipFill>
        <p:spPr>
          <a:xfrm>
            <a:off x="800100" y="5219700"/>
            <a:ext cx="476250" cy="476250"/>
          </a:xfrm>
          <a:prstGeom prst="rect">
            <a:avLst/>
          </a:prstGeom>
        </p:spPr>
      </p:pic>
      <p:pic>
        <p:nvPicPr>
          <p:cNvPr id="23" name="Image 21" descr="preencoded.png"/>
          <p:cNvPicPr>
            <a:picLocks noChangeAspect="1"/>
          </p:cNvPicPr>
          <p:nvPr/>
        </p:nvPicPr>
        <p:blipFill>
          <a:blip r:embed="rId19"/>
          <a:stretch>
            <a:fillRect/>
          </a:stretch>
        </p:blipFill>
        <p:spPr>
          <a:xfrm>
            <a:off x="942975" y="5324475"/>
            <a:ext cx="190500" cy="266700"/>
          </a:xfrm>
          <a:prstGeom prst="rect">
            <a:avLst/>
          </a:prstGeom>
        </p:spPr>
      </p:pic>
      <p:pic>
        <p:nvPicPr>
          <p:cNvPr id="24" name="Image 22" descr="preencoded.png"/>
          <p:cNvPicPr>
            <a:picLocks noChangeAspect="1"/>
          </p:cNvPicPr>
          <p:nvPr/>
        </p:nvPicPr>
        <p:blipFill>
          <a:blip r:embed="rId7"/>
          <a:stretch>
            <a:fillRect/>
          </a:stretch>
        </p:blipFill>
        <p:spPr>
          <a:xfrm>
            <a:off x="1428750" y="6153150"/>
            <a:ext cx="152400" cy="152400"/>
          </a:xfrm>
          <a:prstGeom prst="rect">
            <a:avLst/>
          </a:prstGeom>
        </p:spPr>
      </p:pic>
      <p:sp>
        <p:nvSpPr>
          <p:cNvPr id="35" name="Text 0"/>
          <p:cNvSpPr/>
          <p:nvPr/>
        </p:nvSpPr>
        <p:spPr>
          <a:xfrm>
            <a:off x="609600" y="381000"/>
            <a:ext cx="13167360" cy="381000"/>
          </a:xfrm>
          <a:prstGeom prst="rect">
            <a:avLst/>
          </a:prstGeom>
          <a:noFill/>
          <a:ln/>
        </p:spPr>
        <p:txBody>
          <a:bodyPr vert="horz" wrap="square" lIns="0" tIns="0" rIns="0" bIns="0" rtlCol="0" anchor="t"/>
          <a:lstStyle/>
          <a:p>
            <a:pPr marL="0" indent="0">
              <a:lnSpc>
                <a:spcPts val="3000"/>
              </a:lnSpc>
              <a:buNone/>
            </a:pPr>
            <a:r>
              <a:rPr lang="en-US" sz="2700" b="1" dirty="0">
                <a:solidFill>
                  <a:srgbClr val="006D77"/>
                </a:solidFill>
                <a:latin typeface="ui-sans-serif" pitchFamily="34" charset="0"/>
                <a:ea typeface="ui-sans-serif" pitchFamily="34" charset="-122"/>
                <a:cs typeface="ui-sans-serif" pitchFamily="34" charset="-120"/>
              </a:rPr>
              <a:t>Scaling and Deployment Features</a:t>
            </a:r>
            <a:endParaRPr lang="en-US" sz="2700" dirty="0"/>
          </a:p>
        </p:txBody>
      </p:sp>
      <p:sp>
        <p:nvSpPr>
          <p:cNvPr id="36" name="Text 1"/>
          <p:cNvSpPr/>
          <p:nvPr/>
        </p:nvSpPr>
        <p:spPr>
          <a:xfrm>
            <a:off x="1428750" y="1333500"/>
            <a:ext cx="52349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Service Auto Scaling</a:t>
            </a:r>
            <a:endParaRPr lang="en-US" sz="1500" dirty="0"/>
          </a:p>
        </p:txBody>
      </p:sp>
      <p:sp>
        <p:nvSpPr>
          <p:cNvPr id="37" name="Text 2"/>
          <p:cNvSpPr/>
          <p:nvPr/>
        </p:nvSpPr>
        <p:spPr>
          <a:xfrm>
            <a:off x="1428750" y="1676400"/>
            <a:ext cx="43624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Automatically adjusts the desired number of tasks in a service based on predefined metrics, such as CPU utilization or request rates.</a:t>
            </a:r>
            <a:endParaRPr lang="en-US" sz="1200" dirty="0"/>
          </a:p>
        </p:txBody>
      </p:sp>
      <p:sp>
        <p:nvSpPr>
          <p:cNvPr id="38" name="Text 3"/>
          <p:cNvSpPr/>
          <p:nvPr/>
        </p:nvSpPr>
        <p:spPr>
          <a:xfrm>
            <a:off x="1657350" y="2476500"/>
            <a:ext cx="3902273"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Ensures efficient handling of fluctuating demand</a:t>
            </a:r>
            <a:endParaRPr lang="en-US" sz="1050" dirty="0"/>
          </a:p>
        </p:txBody>
      </p:sp>
      <p:sp>
        <p:nvSpPr>
          <p:cNvPr id="39" name="Text 4"/>
          <p:cNvSpPr/>
          <p:nvPr/>
        </p:nvSpPr>
        <p:spPr>
          <a:xfrm>
            <a:off x="7029450" y="1333500"/>
            <a:ext cx="52349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Cluster Auto Scaling</a:t>
            </a:r>
            <a:endParaRPr lang="en-US" sz="1500" dirty="0"/>
          </a:p>
        </p:txBody>
      </p:sp>
      <p:sp>
        <p:nvSpPr>
          <p:cNvPr id="40" name="Text 5"/>
          <p:cNvSpPr/>
          <p:nvPr/>
        </p:nvSpPr>
        <p:spPr>
          <a:xfrm>
            <a:off x="7029450" y="1676400"/>
            <a:ext cx="43624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Manages the scaling of Amazon EC2 instances registered to an ECS cluster, ensuring sufficient capacity is available for tasks.</a:t>
            </a:r>
            <a:endParaRPr lang="en-US" sz="1200" dirty="0"/>
          </a:p>
        </p:txBody>
      </p:sp>
      <p:sp>
        <p:nvSpPr>
          <p:cNvPr id="41" name="Text 6"/>
          <p:cNvSpPr/>
          <p:nvPr/>
        </p:nvSpPr>
        <p:spPr>
          <a:xfrm>
            <a:off x="7258050" y="2476500"/>
            <a:ext cx="3125569"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Adapts to changing workload demands</a:t>
            </a:r>
            <a:endParaRPr lang="en-US" sz="1050" dirty="0"/>
          </a:p>
        </p:txBody>
      </p:sp>
      <p:sp>
        <p:nvSpPr>
          <p:cNvPr id="42" name="Text 7"/>
          <p:cNvSpPr/>
          <p:nvPr/>
        </p:nvSpPr>
        <p:spPr>
          <a:xfrm>
            <a:off x="1428750" y="3276600"/>
            <a:ext cx="4362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Capacity Providers</a:t>
            </a:r>
            <a:endParaRPr lang="en-US" sz="1500" dirty="0"/>
          </a:p>
        </p:txBody>
      </p:sp>
      <p:sp>
        <p:nvSpPr>
          <p:cNvPr id="43" name="Text 8"/>
          <p:cNvSpPr/>
          <p:nvPr/>
        </p:nvSpPr>
        <p:spPr>
          <a:xfrm>
            <a:off x="1428750" y="3619500"/>
            <a:ext cx="43624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Allow defining flexible rules for how containerized workloads run on different compute capacity types (EC2, Fargate) and manage their scaling.</a:t>
            </a:r>
            <a:endParaRPr lang="en-US" sz="1200" dirty="0"/>
          </a:p>
        </p:txBody>
      </p:sp>
      <p:sp>
        <p:nvSpPr>
          <p:cNvPr id="44" name="Text 9"/>
          <p:cNvSpPr/>
          <p:nvPr/>
        </p:nvSpPr>
        <p:spPr>
          <a:xfrm>
            <a:off x="1657350" y="4419600"/>
            <a:ext cx="398014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Provides flexibility in compute resource allocation</a:t>
            </a:r>
            <a:endParaRPr lang="en-US" sz="1050" dirty="0"/>
          </a:p>
        </p:txBody>
      </p:sp>
      <p:sp>
        <p:nvSpPr>
          <p:cNvPr id="45" name="Text 10"/>
          <p:cNvSpPr/>
          <p:nvPr/>
        </p:nvSpPr>
        <p:spPr>
          <a:xfrm>
            <a:off x="7029450" y="3276600"/>
            <a:ext cx="52349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Blue/Green Deployments</a:t>
            </a:r>
            <a:endParaRPr lang="en-US" sz="1500" dirty="0"/>
          </a:p>
        </p:txBody>
      </p:sp>
      <p:sp>
        <p:nvSpPr>
          <p:cNvPr id="46" name="Text 11"/>
          <p:cNvSpPr/>
          <p:nvPr/>
        </p:nvSpPr>
        <p:spPr>
          <a:xfrm>
            <a:off x="7029450" y="3619500"/>
            <a:ext cx="43624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Facilitates safe and reliable deployments by running old and new application versions in parallel, allowing thorough validation before shifting traffic.</a:t>
            </a:r>
            <a:endParaRPr lang="en-US" sz="1200" dirty="0"/>
          </a:p>
        </p:txBody>
      </p:sp>
      <p:sp>
        <p:nvSpPr>
          <p:cNvPr id="47" name="Text 12"/>
          <p:cNvSpPr/>
          <p:nvPr/>
        </p:nvSpPr>
        <p:spPr>
          <a:xfrm>
            <a:off x="7258050" y="4419600"/>
            <a:ext cx="3802618"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Provides quick rollback capability if issues arise</a:t>
            </a:r>
            <a:endParaRPr lang="en-US" sz="1050" dirty="0"/>
          </a:p>
        </p:txBody>
      </p:sp>
      <p:sp>
        <p:nvSpPr>
          <p:cNvPr id="48" name="Text 13"/>
          <p:cNvSpPr/>
          <p:nvPr/>
        </p:nvSpPr>
        <p:spPr>
          <a:xfrm>
            <a:off x="1428750" y="5219700"/>
            <a:ext cx="99631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Container Auto-Recovery</a:t>
            </a:r>
            <a:endParaRPr lang="en-US" sz="1500" dirty="0"/>
          </a:p>
        </p:txBody>
      </p:sp>
      <p:sp>
        <p:nvSpPr>
          <p:cNvPr id="49" name="Text 14"/>
          <p:cNvSpPr/>
          <p:nvPr/>
        </p:nvSpPr>
        <p:spPr>
          <a:xfrm>
            <a:off x="1428750" y="5562600"/>
            <a:ext cx="99631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Automatically recovers unhealthy containers to maintain the desired task count, contributing to the overall resilience of applications.</a:t>
            </a:r>
            <a:endParaRPr lang="en-US" sz="1200" dirty="0"/>
          </a:p>
        </p:txBody>
      </p:sp>
      <p:sp>
        <p:nvSpPr>
          <p:cNvPr id="50" name="Text 15"/>
          <p:cNvSpPr/>
          <p:nvPr/>
        </p:nvSpPr>
        <p:spPr>
          <a:xfrm>
            <a:off x="1657350" y="6134100"/>
            <a:ext cx="352419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Ensures high availability and fault tolerance</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876300"/>
            <a:ext cx="1219200" cy="38100"/>
          </a:xfrm>
          <a:prstGeom prst="rect">
            <a:avLst/>
          </a:prstGeom>
        </p:spPr>
      </p:pic>
      <p:pic>
        <p:nvPicPr>
          <p:cNvPr id="5" name="Image 3" descr="preencoded.png"/>
          <p:cNvPicPr>
            <a:picLocks noChangeAspect="1"/>
          </p:cNvPicPr>
          <p:nvPr/>
        </p:nvPicPr>
        <p:blipFill>
          <a:blip r:embed="rId6"/>
          <a:stretch>
            <a:fillRect/>
          </a:stretch>
        </p:blipFill>
        <p:spPr>
          <a:xfrm>
            <a:off x="609600" y="1143000"/>
            <a:ext cx="5372100" cy="1562100"/>
          </a:xfrm>
          <a:prstGeom prst="rect">
            <a:avLst/>
          </a:prstGeom>
        </p:spPr>
      </p:pic>
      <p:pic>
        <p:nvPicPr>
          <p:cNvPr id="6" name="Image 4" descr="preencoded.png"/>
          <p:cNvPicPr>
            <a:picLocks noChangeAspect="1"/>
          </p:cNvPicPr>
          <p:nvPr/>
        </p:nvPicPr>
        <p:blipFill>
          <a:blip r:embed="rId7"/>
          <a:stretch>
            <a:fillRect/>
          </a:stretch>
        </p:blipFill>
        <p:spPr>
          <a:xfrm>
            <a:off x="762000" y="1295400"/>
            <a:ext cx="476250" cy="476250"/>
          </a:xfrm>
          <a:prstGeom prst="rect">
            <a:avLst/>
          </a:prstGeom>
        </p:spPr>
      </p:pic>
      <p:pic>
        <p:nvPicPr>
          <p:cNvPr id="7" name="Image 5" descr="preencoded.png"/>
          <p:cNvPicPr>
            <a:picLocks noChangeAspect="1"/>
          </p:cNvPicPr>
          <p:nvPr/>
        </p:nvPicPr>
        <p:blipFill>
          <a:blip r:embed="rId8"/>
          <a:stretch>
            <a:fillRect/>
          </a:stretch>
        </p:blipFill>
        <p:spPr>
          <a:xfrm>
            <a:off x="885825" y="1381125"/>
            <a:ext cx="228600" cy="304800"/>
          </a:xfrm>
          <a:prstGeom prst="rect">
            <a:avLst/>
          </a:prstGeom>
        </p:spPr>
      </p:pic>
      <p:pic>
        <p:nvPicPr>
          <p:cNvPr id="8" name="Image 6" descr="preencoded.png"/>
          <p:cNvPicPr>
            <a:picLocks noChangeAspect="1"/>
          </p:cNvPicPr>
          <p:nvPr/>
        </p:nvPicPr>
        <p:blipFill>
          <a:blip r:embed="rId9"/>
          <a:stretch>
            <a:fillRect/>
          </a:stretch>
        </p:blipFill>
        <p:spPr>
          <a:xfrm>
            <a:off x="6210300" y="1143000"/>
            <a:ext cx="5372100" cy="1562100"/>
          </a:xfrm>
          <a:prstGeom prst="rect">
            <a:avLst/>
          </a:prstGeom>
        </p:spPr>
      </p:pic>
      <p:pic>
        <p:nvPicPr>
          <p:cNvPr id="9" name="Image 7" descr="preencoded.png"/>
          <p:cNvPicPr>
            <a:picLocks noChangeAspect="1"/>
          </p:cNvPicPr>
          <p:nvPr/>
        </p:nvPicPr>
        <p:blipFill>
          <a:blip r:embed="rId10"/>
          <a:stretch>
            <a:fillRect/>
          </a:stretch>
        </p:blipFill>
        <p:spPr>
          <a:xfrm>
            <a:off x="6362700" y="1295400"/>
            <a:ext cx="476250" cy="476250"/>
          </a:xfrm>
          <a:prstGeom prst="rect">
            <a:avLst/>
          </a:prstGeom>
        </p:spPr>
      </p:pic>
      <p:pic>
        <p:nvPicPr>
          <p:cNvPr id="10" name="Image 8" descr="preencoded.png"/>
          <p:cNvPicPr>
            <a:picLocks noChangeAspect="1"/>
          </p:cNvPicPr>
          <p:nvPr/>
        </p:nvPicPr>
        <p:blipFill>
          <a:blip r:embed="rId11"/>
          <a:stretch>
            <a:fillRect/>
          </a:stretch>
        </p:blipFill>
        <p:spPr>
          <a:xfrm>
            <a:off x="6500813" y="1381125"/>
            <a:ext cx="200025" cy="304800"/>
          </a:xfrm>
          <a:prstGeom prst="rect">
            <a:avLst/>
          </a:prstGeom>
        </p:spPr>
      </p:pic>
      <p:pic>
        <p:nvPicPr>
          <p:cNvPr id="11" name="Image 9" descr="preencoded.png"/>
          <p:cNvPicPr>
            <a:picLocks noChangeAspect="1"/>
          </p:cNvPicPr>
          <p:nvPr/>
        </p:nvPicPr>
        <p:blipFill>
          <a:blip r:embed="rId12"/>
          <a:stretch>
            <a:fillRect/>
          </a:stretch>
        </p:blipFill>
        <p:spPr>
          <a:xfrm>
            <a:off x="609600" y="2933700"/>
            <a:ext cx="5372100" cy="1562100"/>
          </a:xfrm>
          <a:prstGeom prst="rect">
            <a:avLst/>
          </a:prstGeom>
        </p:spPr>
      </p:pic>
      <p:pic>
        <p:nvPicPr>
          <p:cNvPr id="12" name="Image 10" descr="preencoded.png"/>
          <p:cNvPicPr>
            <a:picLocks noChangeAspect="1"/>
          </p:cNvPicPr>
          <p:nvPr/>
        </p:nvPicPr>
        <p:blipFill>
          <a:blip r:embed="rId13"/>
          <a:stretch>
            <a:fillRect/>
          </a:stretch>
        </p:blipFill>
        <p:spPr>
          <a:xfrm>
            <a:off x="762000" y="3086100"/>
            <a:ext cx="476250" cy="476250"/>
          </a:xfrm>
          <a:prstGeom prst="rect">
            <a:avLst/>
          </a:prstGeom>
        </p:spPr>
      </p:pic>
      <p:pic>
        <p:nvPicPr>
          <p:cNvPr id="13" name="Image 11" descr="preencoded.png"/>
          <p:cNvPicPr>
            <a:picLocks noChangeAspect="1"/>
          </p:cNvPicPr>
          <p:nvPr/>
        </p:nvPicPr>
        <p:blipFill>
          <a:blip r:embed="rId14"/>
          <a:stretch>
            <a:fillRect/>
          </a:stretch>
        </p:blipFill>
        <p:spPr>
          <a:xfrm>
            <a:off x="885825" y="3171825"/>
            <a:ext cx="228600" cy="304800"/>
          </a:xfrm>
          <a:prstGeom prst="rect">
            <a:avLst/>
          </a:prstGeom>
        </p:spPr>
      </p:pic>
      <p:pic>
        <p:nvPicPr>
          <p:cNvPr id="14" name="Image 12" descr="preencoded.png"/>
          <p:cNvPicPr>
            <a:picLocks noChangeAspect="1"/>
          </p:cNvPicPr>
          <p:nvPr/>
        </p:nvPicPr>
        <p:blipFill>
          <a:blip r:embed="rId15"/>
          <a:stretch>
            <a:fillRect/>
          </a:stretch>
        </p:blipFill>
        <p:spPr>
          <a:xfrm>
            <a:off x="6210300" y="2933700"/>
            <a:ext cx="5372100" cy="1562100"/>
          </a:xfrm>
          <a:prstGeom prst="rect">
            <a:avLst/>
          </a:prstGeom>
        </p:spPr>
      </p:pic>
      <p:pic>
        <p:nvPicPr>
          <p:cNvPr id="15" name="Image 13" descr="preencoded.png"/>
          <p:cNvPicPr>
            <a:picLocks noChangeAspect="1"/>
          </p:cNvPicPr>
          <p:nvPr/>
        </p:nvPicPr>
        <p:blipFill>
          <a:blip r:embed="rId16"/>
          <a:stretch>
            <a:fillRect/>
          </a:stretch>
        </p:blipFill>
        <p:spPr>
          <a:xfrm>
            <a:off x="6362700" y="3086100"/>
            <a:ext cx="476250" cy="476250"/>
          </a:xfrm>
          <a:prstGeom prst="rect">
            <a:avLst/>
          </a:prstGeom>
        </p:spPr>
      </p:pic>
      <p:pic>
        <p:nvPicPr>
          <p:cNvPr id="16" name="Image 14" descr="preencoded.png"/>
          <p:cNvPicPr>
            <a:picLocks noChangeAspect="1"/>
          </p:cNvPicPr>
          <p:nvPr/>
        </p:nvPicPr>
        <p:blipFill>
          <a:blip r:embed="rId17"/>
          <a:stretch>
            <a:fillRect/>
          </a:stretch>
        </p:blipFill>
        <p:spPr>
          <a:xfrm>
            <a:off x="6515100" y="3171825"/>
            <a:ext cx="171450" cy="304800"/>
          </a:xfrm>
          <a:prstGeom prst="rect">
            <a:avLst/>
          </a:prstGeom>
        </p:spPr>
      </p:pic>
      <p:pic>
        <p:nvPicPr>
          <p:cNvPr id="17" name="Image 15" descr="preencoded.png"/>
          <p:cNvPicPr>
            <a:picLocks noChangeAspect="1"/>
          </p:cNvPicPr>
          <p:nvPr/>
        </p:nvPicPr>
        <p:blipFill>
          <a:blip r:embed="rId18"/>
          <a:stretch>
            <a:fillRect/>
          </a:stretch>
        </p:blipFill>
        <p:spPr>
          <a:xfrm>
            <a:off x="609600" y="4724400"/>
            <a:ext cx="5372100" cy="1562100"/>
          </a:xfrm>
          <a:prstGeom prst="rect">
            <a:avLst/>
          </a:prstGeom>
        </p:spPr>
      </p:pic>
      <p:pic>
        <p:nvPicPr>
          <p:cNvPr id="18" name="Image 16" descr="preencoded.png"/>
          <p:cNvPicPr>
            <a:picLocks noChangeAspect="1"/>
          </p:cNvPicPr>
          <p:nvPr/>
        </p:nvPicPr>
        <p:blipFill>
          <a:blip r:embed="rId19"/>
          <a:stretch>
            <a:fillRect/>
          </a:stretch>
        </p:blipFill>
        <p:spPr>
          <a:xfrm>
            <a:off x="762000" y="4876800"/>
            <a:ext cx="476250" cy="476250"/>
          </a:xfrm>
          <a:prstGeom prst="rect">
            <a:avLst/>
          </a:prstGeom>
        </p:spPr>
      </p:pic>
      <p:pic>
        <p:nvPicPr>
          <p:cNvPr id="19" name="Image 17" descr="preencoded.png"/>
          <p:cNvPicPr>
            <a:picLocks noChangeAspect="1"/>
          </p:cNvPicPr>
          <p:nvPr/>
        </p:nvPicPr>
        <p:blipFill>
          <a:blip r:embed="rId20"/>
          <a:stretch>
            <a:fillRect/>
          </a:stretch>
        </p:blipFill>
        <p:spPr>
          <a:xfrm>
            <a:off x="885825" y="4962525"/>
            <a:ext cx="228600" cy="304800"/>
          </a:xfrm>
          <a:prstGeom prst="rect">
            <a:avLst/>
          </a:prstGeom>
        </p:spPr>
      </p:pic>
      <p:pic>
        <p:nvPicPr>
          <p:cNvPr id="20" name="Image 18" descr="preencoded.png"/>
          <p:cNvPicPr>
            <a:picLocks noChangeAspect="1"/>
          </p:cNvPicPr>
          <p:nvPr/>
        </p:nvPicPr>
        <p:blipFill>
          <a:blip r:embed="rId21"/>
          <a:stretch>
            <a:fillRect/>
          </a:stretch>
        </p:blipFill>
        <p:spPr>
          <a:xfrm>
            <a:off x="6210300" y="4724400"/>
            <a:ext cx="5372100" cy="1562100"/>
          </a:xfrm>
          <a:prstGeom prst="rect">
            <a:avLst/>
          </a:prstGeom>
        </p:spPr>
      </p:pic>
      <p:pic>
        <p:nvPicPr>
          <p:cNvPr id="21" name="Image 19" descr="preencoded.png"/>
          <p:cNvPicPr>
            <a:picLocks noChangeAspect="1"/>
          </p:cNvPicPr>
          <p:nvPr/>
        </p:nvPicPr>
        <p:blipFill>
          <a:blip r:embed="rId22"/>
          <a:stretch>
            <a:fillRect/>
          </a:stretch>
        </p:blipFill>
        <p:spPr>
          <a:xfrm>
            <a:off x="6362700" y="4876800"/>
            <a:ext cx="476250" cy="476250"/>
          </a:xfrm>
          <a:prstGeom prst="rect">
            <a:avLst/>
          </a:prstGeom>
        </p:spPr>
      </p:pic>
      <p:pic>
        <p:nvPicPr>
          <p:cNvPr id="22" name="Image 20" descr="preencoded.png"/>
          <p:cNvPicPr>
            <a:picLocks noChangeAspect="1"/>
          </p:cNvPicPr>
          <p:nvPr/>
        </p:nvPicPr>
        <p:blipFill>
          <a:blip r:embed="rId23"/>
          <a:stretch>
            <a:fillRect/>
          </a:stretch>
        </p:blipFill>
        <p:spPr>
          <a:xfrm>
            <a:off x="6472238" y="4962525"/>
            <a:ext cx="257175" cy="304800"/>
          </a:xfrm>
          <a:prstGeom prst="rect">
            <a:avLst/>
          </a:prstGeom>
        </p:spPr>
      </p:pic>
      <p:sp>
        <p:nvSpPr>
          <p:cNvPr id="24" name="Text 0"/>
          <p:cNvSpPr/>
          <p:nvPr/>
        </p:nvSpPr>
        <p:spPr>
          <a:xfrm>
            <a:off x="609600" y="3810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006D77"/>
                </a:solidFill>
                <a:latin typeface="ui-sans-serif" pitchFamily="34" charset="0"/>
                <a:ea typeface="ui-sans-serif" pitchFamily="34" charset="-122"/>
                <a:cs typeface="ui-sans-serif" pitchFamily="34" charset="-120"/>
              </a:rPr>
              <a:t>Key Benefits of Using ECS</a:t>
            </a:r>
            <a:endParaRPr lang="en-US" sz="2700" dirty="0"/>
          </a:p>
        </p:txBody>
      </p:sp>
      <p:sp>
        <p:nvSpPr>
          <p:cNvPr id="25" name="Text 1"/>
          <p:cNvSpPr/>
          <p:nvPr/>
        </p:nvSpPr>
        <p:spPr>
          <a:xfrm>
            <a:off x="1390650" y="1295400"/>
            <a:ext cx="53263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6D77"/>
                </a:solidFill>
                <a:latin typeface="ui-sans-serif" pitchFamily="34" charset="0"/>
                <a:ea typeface="ui-sans-serif" pitchFamily="34" charset="-122"/>
                <a:cs typeface="ui-sans-serif" pitchFamily="34" charset="-120"/>
              </a:rPr>
              <a:t>Simplified Management</a:t>
            </a:r>
            <a:endParaRPr lang="en-US" sz="1500" dirty="0"/>
          </a:p>
        </p:txBody>
      </p:sp>
      <p:sp>
        <p:nvSpPr>
          <p:cNvPr id="26" name="Text 2"/>
          <p:cNvSpPr/>
          <p:nvPr/>
        </p:nvSpPr>
        <p:spPr>
          <a:xfrm>
            <a:off x="1390650" y="1638300"/>
            <a:ext cx="443865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As a fully managed service, ECS significantly reduces the operational burden of setting up, operating, and scaling container management infrastructure, allowing teams to focus on application development.</a:t>
            </a:r>
            <a:endParaRPr lang="en-US" sz="1200" dirty="0"/>
          </a:p>
        </p:txBody>
      </p:sp>
      <p:sp>
        <p:nvSpPr>
          <p:cNvPr id="27" name="Text 3"/>
          <p:cNvSpPr/>
          <p:nvPr/>
        </p:nvSpPr>
        <p:spPr>
          <a:xfrm>
            <a:off x="6991350" y="1295400"/>
            <a:ext cx="53263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6D77"/>
                </a:solidFill>
                <a:latin typeface="ui-sans-serif" pitchFamily="34" charset="0"/>
                <a:ea typeface="ui-sans-serif" pitchFamily="34" charset="-122"/>
                <a:cs typeface="ui-sans-serif" pitchFamily="34" charset="-120"/>
              </a:rPr>
              <a:t>Scalability and Flexibility</a:t>
            </a:r>
            <a:endParaRPr lang="en-US" sz="1500" dirty="0"/>
          </a:p>
        </p:txBody>
      </p:sp>
      <p:sp>
        <p:nvSpPr>
          <p:cNvPr id="28" name="Text 4"/>
          <p:cNvSpPr/>
          <p:nvPr/>
        </p:nvSpPr>
        <p:spPr>
          <a:xfrm>
            <a:off x="6991350" y="1638300"/>
            <a:ext cx="443865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ECS provides robust auto-scaling capabilities and supports various compute options, including AWS Fargate (serverless), Amazon EC2 instances, and Amazon ECS Anywhere for hybrid environments.</a:t>
            </a:r>
            <a:endParaRPr lang="en-US" sz="1200" dirty="0"/>
          </a:p>
        </p:txBody>
      </p:sp>
      <p:sp>
        <p:nvSpPr>
          <p:cNvPr id="29" name="Text 5"/>
          <p:cNvSpPr/>
          <p:nvPr/>
        </p:nvSpPr>
        <p:spPr>
          <a:xfrm>
            <a:off x="1390650" y="3086100"/>
            <a:ext cx="53263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6D77"/>
                </a:solidFill>
                <a:latin typeface="ui-sans-serif" pitchFamily="34" charset="0"/>
                <a:ea typeface="ui-sans-serif" pitchFamily="34" charset="-122"/>
                <a:cs typeface="ui-sans-serif" pitchFamily="34" charset="-120"/>
              </a:rPr>
              <a:t>Strengthened Security</a:t>
            </a:r>
            <a:endParaRPr lang="en-US" sz="1500" dirty="0"/>
          </a:p>
        </p:txBody>
      </p:sp>
      <p:sp>
        <p:nvSpPr>
          <p:cNvPr id="30" name="Text 6"/>
          <p:cNvSpPr/>
          <p:nvPr/>
        </p:nvSpPr>
        <p:spPr>
          <a:xfrm>
            <a:off x="1390650" y="3429000"/>
            <a:ext cx="443865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ECS integrates natively with AWS security services, providing features such as granular access control via IAM roles, network isolation within Amazon VPC, automated patching, and encryption.</a:t>
            </a:r>
            <a:endParaRPr lang="en-US" sz="1200" dirty="0"/>
          </a:p>
        </p:txBody>
      </p:sp>
      <p:sp>
        <p:nvSpPr>
          <p:cNvPr id="31" name="Text 7"/>
          <p:cNvSpPr/>
          <p:nvPr/>
        </p:nvSpPr>
        <p:spPr>
          <a:xfrm>
            <a:off x="6991350" y="3086100"/>
            <a:ext cx="53263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6D77"/>
                </a:solidFill>
                <a:latin typeface="ui-sans-serif" pitchFamily="34" charset="0"/>
                <a:ea typeface="ui-sans-serif" pitchFamily="34" charset="-122"/>
                <a:cs typeface="ui-sans-serif" pitchFamily="34" charset="-120"/>
              </a:rPr>
              <a:t>Seamless AWS Integration</a:t>
            </a:r>
            <a:endParaRPr lang="en-US" sz="1500" dirty="0"/>
          </a:p>
        </p:txBody>
      </p:sp>
      <p:sp>
        <p:nvSpPr>
          <p:cNvPr id="32" name="Text 8"/>
          <p:cNvSpPr/>
          <p:nvPr/>
        </p:nvSpPr>
        <p:spPr>
          <a:xfrm>
            <a:off x="6991350" y="3429000"/>
            <a:ext cx="443865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ECS offers deep integration with a broad ecosystem of AWS services, including Amazon ECR, CloudWatch, Elastic Load Balancing, IAM, VPC, and Cloud Map for comprehensive application architectures.</a:t>
            </a:r>
            <a:endParaRPr lang="en-US" sz="1200" dirty="0"/>
          </a:p>
        </p:txBody>
      </p:sp>
      <p:sp>
        <p:nvSpPr>
          <p:cNvPr id="33" name="Text 9"/>
          <p:cNvSpPr/>
          <p:nvPr/>
        </p:nvSpPr>
        <p:spPr>
          <a:xfrm>
            <a:off x="1390650" y="4876800"/>
            <a:ext cx="53263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6D77"/>
                </a:solidFill>
                <a:latin typeface="ui-sans-serif" pitchFamily="34" charset="0"/>
                <a:ea typeface="ui-sans-serif" pitchFamily="34" charset="-122"/>
                <a:cs typeface="ui-sans-serif" pitchFamily="34" charset="-120"/>
              </a:rPr>
              <a:t>Reduced Total Cost of Ownership</a:t>
            </a:r>
            <a:endParaRPr lang="en-US" sz="1500" dirty="0"/>
          </a:p>
        </p:txBody>
      </p:sp>
      <p:sp>
        <p:nvSpPr>
          <p:cNvPr id="34" name="Text 10"/>
          <p:cNvSpPr/>
          <p:nvPr/>
        </p:nvSpPr>
        <p:spPr>
          <a:xfrm>
            <a:off x="1390650" y="5219700"/>
            <a:ext cx="443865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With a pay-as-you-go pricing model, efficient resource utilization strategies, and support for Spot Instances, ECS helps optimize costs by ensuring users only pay for the resources consumed.</a:t>
            </a:r>
            <a:endParaRPr lang="en-US" sz="1200" dirty="0"/>
          </a:p>
        </p:txBody>
      </p:sp>
      <p:sp>
        <p:nvSpPr>
          <p:cNvPr id="35" name="Text 11"/>
          <p:cNvSpPr/>
          <p:nvPr/>
        </p:nvSpPr>
        <p:spPr>
          <a:xfrm>
            <a:off x="6991350" y="4876800"/>
            <a:ext cx="53263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6D77"/>
                </a:solidFill>
                <a:latin typeface="ui-sans-serif" pitchFamily="34" charset="0"/>
                <a:ea typeface="ui-sans-serif" pitchFamily="34" charset="-122"/>
                <a:cs typeface="ui-sans-serif" pitchFamily="34" charset="-120"/>
              </a:rPr>
              <a:t>High Performance &amp; Reliability</a:t>
            </a:r>
            <a:endParaRPr lang="en-US" sz="1500" dirty="0"/>
          </a:p>
        </p:txBody>
      </p:sp>
      <p:sp>
        <p:nvSpPr>
          <p:cNvPr id="36" name="Text 12"/>
          <p:cNvSpPr/>
          <p:nvPr/>
        </p:nvSpPr>
        <p:spPr>
          <a:xfrm>
            <a:off x="6991350" y="5219700"/>
            <a:ext cx="443865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Designed for resilient applications, ECS includes built-in fault tolerance, automatic container restarts, and integration with ELB to ensure continuous availability and high performance.</a:t>
            </a:r>
            <a:endParaRPr lang="en-US" sz="1200" dirty="0"/>
          </a:p>
        </p:txBody>
      </p:sp>
      <p:sp>
        <p:nvSpPr>
          <p:cNvPr id="37" name="Text 13"/>
          <p:cNvSpPr/>
          <p:nvPr/>
        </p:nvSpPr>
        <p:spPr>
          <a:xfrm>
            <a:off x="819150" y="6438900"/>
            <a:ext cx="299733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Amazon Elastic Container Service</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876300"/>
            <a:ext cx="1219200" cy="38100"/>
          </a:xfrm>
          <a:prstGeom prst="rect">
            <a:avLst/>
          </a:prstGeom>
        </p:spPr>
      </p:pic>
      <p:pic>
        <p:nvPicPr>
          <p:cNvPr id="5" name="Image 3" descr="preencoded.png"/>
          <p:cNvPicPr>
            <a:picLocks noChangeAspect="1"/>
          </p:cNvPicPr>
          <p:nvPr/>
        </p:nvPicPr>
        <p:blipFill>
          <a:blip r:embed="rId6"/>
          <a:stretch>
            <a:fillRect/>
          </a:stretch>
        </p:blipFill>
        <p:spPr>
          <a:xfrm>
            <a:off x="609600" y="1485900"/>
            <a:ext cx="2628900" cy="1676400"/>
          </a:xfrm>
          <a:prstGeom prst="rect">
            <a:avLst/>
          </a:prstGeom>
        </p:spPr>
      </p:pic>
      <p:pic>
        <p:nvPicPr>
          <p:cNvPr id="6" name="Image 4" descr="preencoded.png"/>
          <p:cNvPicPr>
            <a:picLocks noChangeAspect="1"/>
          </p:cNvPicPr>
          <p:nvPr/>
        </p:nvPicPr>
        <p:blipFill>
          <a:blip r:embed="rId7"/>
          <a:stretch>
            <a:fillRect/>
          </a:stretch>
        </p:blipFill>
        <p:spPr>
          <a:xfrm>
            <a:off x="762000" y="1638300"/>
            <a:ext cx="476250" cy="476250"/>
          </a:xfrm>
          <a:prstGeom prst="rect">
            <a:avLst/>
          </a:prstGeom>
        </p:spPr>
      </p:pic>
      <p:pic>
        <p:nvPicPr>
          <p:cNvPr id="7" name="Image 5" descr="preencoded.png"/>
          <p:cNvPicPr>
            <a:picLocks noChangeAspect="1"/>
          </p:cNvPicPr>
          <p:nvPr/>
        </p:nvPicPr>
        <p:blipFill>
          <a:blip r:embed="rId8"/>
          <a:stretch>
            <a:fillRect/>
          </a:stretch>
        </p:blipFill>
        <p:spPr>
          <a:xfrm>
            <a:off x="904875" y="1743075"/>
            <a:ext cx="190500" cy="266700"/>
          </a:xfrm>
          <a:prstGeom prst="rect">
            <a:avLst/>
          </a:prstGeom>
        </p:spPr>
      </p:pic>
      <p:pic>
        <p:nvPicPr>
          <p:cNvPr id="8" name="Image 6" descr="preencoded.png"/>
          <p:cNvPicPr>
            <a:picLocks noChangeAspect="1"/>
          </p:cNvPicPr>
          <p:nvPr/>
        </p:nvPicPr>
        <p:blipFill>
          <a:blip r:embed="rId9"/>
          <a:stretch>
            <a:fillRect/>
          </a:stretch>
        </p:blipFill>
        <p:spPr>
          <a:xfrm>
            <a:off x="3390900" y="1485900"/>
            <a:ext cx="2628900" cy="1676400"/>
          </a:xfrm>
          <a:prstGeom prst="rect">
            <a:avLst/>
          </a:prstGeom>
        </p:spPr>
      </p:pic>
      <p:pic>
        <p:nvPicPr>
          <p:cNvPr id="9" name="Image 7" descr="preencoded.png"/>
          <p:cNvPicPr>
            <a:picLocks noChangeAspect="1"/>
          </p:cNvPicPr>
          <p:nvPr/>
        </p:nvPicPr>
        <p:blipFill>
          <a:blip r:embed="rId10"/>
          <a:stretch>
            <a:fillRect/>
          </a:stretch>
        </p:blipFill>
        <p:spPr>
          <a:xfrm>
            <a:off x="3543300" y="1638300"/>
            <a:ext cx="476250" cy="476250"/>
          </a:xfrm>
          <a:prstGeom prst="rect">
            <a:avLst/>
          </a:prstGeom>
        </p:spPr>
      </p:pic>
      <p:pic>
        <p:nvPicPr>
          <p:cNvPr id="10" name="Image 8" descr="preencoded.png"/>
          <p:cNvPicPr>
            <a:picLocks noChangeAspect="1"/>
          </p:cNvPicPr>
          <p:nvPr/>
        </p:nvPicPr>
        <p:blipFill>
          <a:blip r:embed="rId11"/>
          <a:stretch>
            <a:fillRect/>
          </a:stretch>
        </p:blipFill>
        <p:spPr>
          <a:xfrm>
            <a:off x="3671888" y="1743075"/>
            <a:ext cx="219075" cy="266700"/>
          </a:xfrm>
          <a:prstGeom prst="rect">
            <a:avLst/>
          </a:prstGeom>
        </p:spPr>
      </p:pic>
      <p:pic>
        <p:nvPicPr>
          <p:cNvPr id="11" name="Image 9" descr="preencoded.png"/>
          <p:cNvPicPr>
            <a:picLocks noChangeAspect="1"/>
          </p:cNvPicPr>
          <p:nvPr/>
        </p:nvPicPr>
        <p:blipFill>
          <a:blip r:embed="rId12"/>
          <a:stretch>
            <a:fillRect/>
          </a:stretch>
        </p:blipFill>
        <p:spPr>
          <a:xfrm>
            <a:off x="6172200" y="1485900"/>
            <a:ext cx="2628900" cy="1676400"/>
          </a:xfrm>
          <a:prstGeom prst="rect">
            <a:avLst/>
          </a:prstGeom>
        </p:spPr>
      </p:pic>
      <p:pic>
        <p:nvPicPr>
          <p:cNvPr id="12" name="Image 10" descr="preencoded.png"/>
          <p:cNvPicPr>
            <a:picLocks noChangeAspect="1"/>
          </p:cNvPicPr>
          <p:nvPr/>
        </p:nvPicPr>
        <p:blipFill>
          <a:blip r:embed="rId13"/>
          <a:stretch>
            <a:fillRect/>
          </a:stretch>
        </p:blipFill>
        <p:spPr>
          <a:xfrm>
            <a:off x="6324600" y="1638300"/>
            <a:ext cx="476250" cy="476250"/>
          </a:xfrm>
          <a:prstGeom prst="rect">
            <a:avLst/>
          </a:prstGeom>
        </p:spPr>
      </p:pic>
      <p:pic>
        <p:nvPicPr>
          <p:cNvPr id="13" name="Image 11" descr="preencoded.png"/>
          <p:cNvPicPr>
            <a:picLocks noChangeAspect="1"/>
          </p:cNvPicPr>
          <p:nvPr/>
        </p:nvPicPr>
        <p:blipFill>
          <a:blip r:embed="rId14"/>
          <a:stretch>
            <a:fillRect/>
          </a:stretch>
        </p:blipFill>
        <p:spPr>
          <a:xfrm>
            <a:off x="6467475" y="1743075"/>
            <a:ext cx="190500" cy="266700"/>
          </a:xfrm>
          <a:prstGeom prst="rect">
            <a:avLst/>
          </a:prstGeom>
        </p:spPr>
      </p:pic>
      <p:pic>
        <p:nvPicPr>
          <p:cNvPr id="14" name="Image 12" descr="preencoded.png"/>
          <p:cNvPicPr>
            <a:picLocks noChangeAspect="1"/>
          </p:cNvPicPr>
          <p:nvPr/>
        </p:nvPicPr>
        <p:blipFill>
          <a:blip r:embed="rId15"/>
          <a:stretch>
            <a:fillRect/>
          </a:stretch>
        </p:blipFill>
        <p:spPr>
          <a:xfrm>
            <a:off x="8953500" y="1485900"/>
            <a:ext cx="2628900" cy="1676400"/>
          </a:xfrm>
          <a:prstGeom prst="rect">
            <a:avLst/>
          </a:prstGeom>
        </p:spPr>
      </p:pic>
      <p:pic>
        <p:nvPicPr>
          <p:cNvPr id="15" name="Image 13" descr="preencoded.png"/>
          <p:cNvPicPr>
            <a:picLocks noChangeAspect="1"/>
          </p:cNvPicPr>
          <p:nvPr/>
        </p:nvPicPr>
        <p:blipFill>
          <a:blip r:embed="rId16"/>
          <a:stretch>
            <a:fillRect/>
          </a:stretch>
        </p:blipFill>
        <p:spPr>
          <a:xfrm>
            <a:off x="9105900" y="1638300"/>
            <a:ext cx="476250" cy="476250"/>
          </a:xfrm>
          <a:prstGeom prst="rect">
            <a:avLst/>
          </a:prstGeom>
        </p:spPr>
      </p:pic>
      <p:pic>
        <p:nvPicPr>
          <p:cNvPr id="16" name="Image 14" descr="preencoded.png"/>
          <p:cNvPicPr>
            <a:picLocks noChangeAspect="1"/>
          </p:cNvPicPr>
          <p:nvPr/>
        </p:nvPicPr>
        <p:blipFill>
          <a:blip r:embed="rId17"/>
          <a:stretch>
            <a:fillRect/>
          </a:stretch>
        </p:blipFill>
        <p:spPr>
          <a:xfrm>
            <a:off x="9248775" y="1743075"/>
            <a:ext cx="190500" cy="266700"/>
          </a:xfrm>
          <a:prstGeom prst="rect">
            <a:avLst/>
          </a:prstGeom>
        </p:spPr>
      </p:pic>
      <p:pic>
        <p:nvPicPr>
          <p:cNvPr id="17" name="Image 15" descr="preencoded.png"/>
          <p:cNvPicPr>
            <a:picLocks noChangeAspect="1"/>
          </p:cNvPicPr>
          <p:nvPr/>
        </p:nvPicPr>
        <p:blipFill>
          <a:blip r:embed="rId18"/>
          <a:stretch>
            <a:fillRect/>
          </a:stretch>
        </p:blipFill>
        <p:spPr>
          <a:xfrm>
            <a:off x="609600" y="3314700"/>
            <a:ext cx="2628900" cy="1676400"/>
          </a:xfrm>
          <a:prstGeom prst="rect">
            <a:avLst/>
          </a:prstGeom>
        </p:spPr>
      </p:pic>
      <p:pic>
        <p:nvPicPr>
          <p:cNvPr id="18" name="Image 16" descr="preencoded.png"/>
          <p:cNvPicPr>
            <a:picLocks noChangeAspect="1"/>
          </p:cNvPicPr>
          <p:nvPr/>
        </p:nvPicPr>
        <p:blipFill>
          <a:blip r:embed="rId19"/>
          <a:stretch>
            <a:fillRect/>
          </a:stretch>
        </p:blipFill>
        <p:spPr>
          <a:xfrm>
            <a:off x="762000" y="3467100"/>
            <a:ext cx="476250" cy="476250"/>
          </a:xfrm>
          <a:prstGeom prst="rect">
            <a:avLst/>
          </a:prstGeom>
        </p:spPr>
      </p:pic>
      <p:pic>
        <p:nvPicPr>
          <p:cNvPr id="19" name="Image 17" descr="preencoded.png"/>
          <p:cNvPicPr>
            <a:picLocks noChangeAspect="1"/>
          </p:cNvPicPr>
          <p:nvPr/>
        </p:nvPicPr>
        <p:blipFill>
          <a:blip r:embed="rId20"/>
          <a:stretch>
            <a:fillRect/>
          </a:stretch>
        </p:blipFill>
        <p:spPr>
          <a:xfrm>
            <a:off x="914400" y="3571875"/>
            <a:ext cx="171450" cy="266700"/>
          </a:xfrm>
          <a:prstGeom prst="rect">
            <a:avLst/>
          </a:prstGeom>
        </p:spPr>
      </p:pic>
      <p:pic>
        <p:nvPicPr>
          <p:cNvPr id="20" name="Image 18" descr="preencoded.png"/>
          <p:cNvPicPr>
            <a:picLocks noChangeAspect="1"/>
          </p:cNvPicPr>
          <p:nvPr/>
        </p:nvPicPr>
        <p:blipFill>
          <a:blip r:embed="rId21"/>
          <a:stretch>
            <a:fillRect/>
          </a:stretch>
        </p:blipFill>
        <p:spPr>
          <a:xfrm>
            <a:off x="3390900" y="3314700"/>
            <a:ext cx="2628900" cy="1676400"/>
          </a:xfrm>
          <a:prstGeom prst="rect">
            <a:avLst/>
          </a:prstGeom>
        </p:spPr>
      </p:pic>
      <p:pic>
        <p:nvPicPr>
          <p:cNvPr id="21" name="Image 19" descr="preencoded.png"/>
          <p:cNvPicPr>
            <a:picLocks noChangeAspect="1"/>
          </p:cNvPicPr>
          <p:nvPr/>
        </p:nvPicPr>
        <p:blipFill>
          <a:blip r:embed="rId22"/>
          <a:stretch>
            <a:fillRect/>
          </a:stretch>
        </p:blipFill>
        <p:spPr>
          <a:xfrm>
            <a:off x="3543300" y="3467100"/>
            <a:ext cx="476250" cy="476250"/>
          </a:xfrm>
          <a:prstGeom prst="rect">
            <a:avLst/>
          </a:prstGeom>
        </p:spPr>
      </p:pic>
      <p:pic>
        <p:nvPicPr>
          <p:cNvPr id="22" name="Image 20" descr="preencoded.png"/>
          <p:cNvPicPr>
            <a:picLocks noChangeAspect="1"/>
          </p:cNvPicPr>
          <p:nvPr/>
        </p:nvPicPr>
        <p:blipFill>
          <a:blip r:embed="rId23"/>
          <a:stretch>
            <a:fillRect/>
          </a:stretch>
        </p:blipFill>
        <p:spPr>
          <a:xfrm>
            <a:off x="3686175" y="3571875"/>
            <a:ext cx="190500" cy="266700"/>
          </a:xfrm>
          <a:prstGeom prst="rect">
            <a:avLst/>
          </a:prstGeom>
        </p:spPr>
      </p:pic>
      <p:pic>
        <p:nvPicPr>
          <p:cNvPr id="23" name="Image 21" descr="preencoded.png"/>
          <p:cNvPicPr>
            <a:picLocks noChangeAspect="1"/>
          </p:cNvPicPr>
          <p:nvPr/>
        </p:nvPicPr>
        <p:blipFill>
          <a:blip r:embed="rId24"/>
          <a:stretch>
            <a:fillRect/>
          </a:stretch>
        </p:blipFill>
        <p:spPr>
          <a:xfrm>
            <a:off x="6172200" y="3314700"/>
            <a:ext cx="2628900" cy="1676400"/>
          </a:xfrm>
          <a:prstGeom prst="rect">
            <a:avLst/>
          </a:prstGeom>
        </p:spPr>
      </p:pic>
      <p:pic>
        <p:nvPicPr>
          <p:cNvPr id="24" name="Image 22" descr="preencoded.png"/>
          <p:cNvPicPr>
            <a:picLocks noChangeAspect="1"/>
          </p:cNvPicPr>
          <p:nvPr/>
        </p:nvPicPr>
        <p:blipFill>
          <a:blip r:embed="rId25"/>
          <a:stretch>
            <a:fillRect/>
          </a:stretch>
        </p:blipFill>
        <p:spPr>
          <a:xfrm>
            <a:off x="6324600" y="3467100"/>
            <a:ext cx="476250" cy="476250"/>
          </a:xfrm>
          <a:prstGeom prst="rect">
            <a:avLst/>
          </a:prstGeom>
        </p:spPr>
      </p:pic>
      <p:pic>
        <p:nvPicPr>
          <p:cNvPr id="25" name="Image 23" descr="preencoded.png"/>
          <p:cNvPicPr>
            <a:picLocks noChangeAspect="1"/>
          </p:cNvPicPr>
          <p:nvPr/>
        </p:nvPicPr>
        <p:blipFill>
          <a:blip r:embed="rId26"/>
          <a:stretch>
            <a:fillRect/>
          </a:stretch>
        </p:blipFill>
        <p:spPr>
          <a:xfrm>
            <a:off x="6477000" y="3571875"/>
            <a:ext cx="171450" cy="266700"/>
          </a:xfrm>
          <a:prstGeom prst="rect">
            <a:avLst/>
          </a:prstGeom>
        </p:spPr>
      </p:pic>
      <p:pic>
        <p:nvPicPr>
          <p:cNvPr id="26" name="Image 24" descr="preencoded.png"/>
          <p:cNvPicPr>
            <a:picLocks noChangeAspect="1"/>
          </p:cNvPicPr>
          <p:nvPr/>
        </p:nvPicPr>
        <p:blipFill>
          <a:blip r:embed="rId27"/>
          <a:stretch>
            <a:fillRect/>
          </a:stretch>
        </p:blipFill>
        <p:spPr>
          <a:xfrm>
            <a:off x="8953500" y="3314700"/>
            <a:ext cx="2628900" cy="1676400"/>
          </a:xfrm>
          <a:prstGeom prst="rect">
            <a:avLst/>
          </a:prstGeom>
        </p:spPr>
      </p:pic>
      <p:pic>
        <p:nvPicPr>
          <p:cNvPr id="27" name="Image 25" descr="preencoded.png"/>
          <p:cNvPicPr>
            <a:picLocks noChangeAspect="1"/>
          </p:cNvPicPr>
          <p:nvPr/>
        </p:nvPicPr>
        <p:blipFill>
          <a:blip r:embed="rId28"/>
          <a:stretch>
            <a:fillRect/>
          </a:stretch>
        </p:blipFill>
        <p:spPr>
          <a:xfrm>
            <a:off x="9105900" y="3467100"/>
            <a:ext cx="476250" cy="476250"/>
          </a:xfrm>
          <a:prstGeom prst="rect">
            <a:avLst/>
          </a:prstGeom>
        </p:spPr>
      </p:pic>
      <p:pic>
        <p:nvPicPr>
          <p:cNvPr id="28" name="Image 26" descr="preencoded.png"/>
          <p:cNvPicPr>
            <a:picLocks noChangeAspect="1"/>
          </p:cNvPicPr>
          <p:nvPr/>
        </p:nvPicPr>
        <p:blipFill>
          <a:blip r:embed="rId29"/>
          <a:stretch>
            <a:fillRect/>
          </a:stretch>
        </p:blipFill>
        <p:spPr>
          <a:xfrm>
            <a:off x="9224963" y="3571875"/>
            <a:ext cx="238125" cy="266700"/>
          </a:xfrm>
          <a:prstGeom prst="rect">
            <a:avLst/>
          </a:prstGeom>
        </p:spPr>
      </p:pic>
      <p:sp>
        <p:nvSpPr>
          <p:cNvPr id="30" name="Text 0"/>
          <p:cNvSpPr/>
          <p:nvPr/>
        </p:nvSpPr>
        <p:spPr>
          <a:xfrm>
            <a:off x="609600" y="3810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006D77"/>
                </a:solidFill>
                <a:latin typeface="ui-sans-serif" pitchFamily="34" charset="0"/>
                <a:ea typeface="ui-sans-serif" pitchFamily="34" charset="-122"/>
                <a:cs typeface="ui-sans-serif" pitchFamily="34" charset="-120"/>
              </a:rPr>
              <a:t>Common Use Cases</a:t>
            </a:r>
            <a:endParaRPr lang="en-US" sz="2700" dirty="0"/>
          </a:p>
        </p:txBody>
      </p:sp>
      <p:sp>
        <p:nvSpPr>
          <p:cNvPr id="31" name="Text 1"/>
          <p:cNvSpPr/>
          <p:nvPr/>
        </p:nvSpPr>
        <p:spPr>
          <a:xfrm>
            <a:off x="609600" y="1066800"/>
            <a:ext cx="1316736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Amazon ECS is a versatile service that supports a wide array of containerized workloads across various industries.</a:t>
            </a:r>
            <a:endParaRPr lang="en-US" sz="1350" dirty="0"/>
          </a:p>
        </p:txBody>
      </p:sp>
      <p:sp>
        <p:nvSpPr>
          <p:cNvPr id="32" name="Text 2"/>
          <p:cNvSpPr/>
          <p:nvPr/>
        </p:nvSpPr>
        <p:spPr>
          <a:xfrm>
            <a:off x="1352550" y="1638300"/>
            <a:ext cx="173355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Application Modernization</a:t>
            </a:r>
            <a:endParaRPr lang="en-US" sz="1350" dirty="0"/>
          </a:p>
        </p:txBody>
      </p:sp>
      <p:sp>
        <p:nvSpPr>
          <p:cNvPr id="33" name="Text 3"/>
          <p:cNvSpPr/>
          <p:nvPr/>
        </p:nvSpPr>
        <p:spPr>
          <a:xfrm>
            <a:off x="762000" y="2247900"/>
            <a:ext cx="2324100" cy="571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Facilitates migration of existing applications by containerizing them with minimal code changes.</a:t>
            </a:r>
            <a:endParaRPr lang="en-US" sz="1050" dirty="0"/>
          </a:p>
        </p:txBody>
      </p:sp>
      <p:sp>
        <p:nvSpPr>
          <p:cNvPr id="34" name="Text 4"/>
          <p:cNvSpPr/>
          <p:nvPr/>
        </p:nvSpPr>
        <p:spPr>
          <a:xfrm>
            <a:off x="4133850" y="1638300"/>
            <a:ext cx="173355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Microservices Architecture</a:t>
            </a:r>
            <a:endParaRPr lang="en-US" sz="1350" dirty="0"/>
          </a:p>
        </p:txBody>
      </p:sp>
      <p:sp>
        <p:nvSpPr>
          <p:cNvPr id="35" name="Text 5"/>
          <p:cNvSpPr/>
          <p:nvPr/>
        </p:nvSpPr>
        <p:spPr>
          <a:xfrm>
            <a:off x="3543300" y="2247900"/>
            <a:ext cx="23241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Ideal platform for building and managing microservices with independent deployment and scaling.</a:t>
            </a:r>
            <a:endParaRPr lang="en-US" sz="1050" dirty="0"/>
          </a:p>
        </p:txBody>
      </p:sp>
      <p:sp>
        <p:nvSpPr>
          <p:cNvPr id="36" name="Text 6"/>
          <p:cNvSpPr/>
          <p:nvPr/>
        </p:nvSpPr>
        <p:spPr>
          <a:xfrm>
            <a:off x="6915150" y="1638300"/>
            <a:ext cx="1998464"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Batch Processing</a:t>
            </a:r>
            <a:endParaRPr lang="en-US" sz="1350" dirty="0"/>
          </a:p>
        </p:txBody>
      </p:sp>
      <p:sp>
        <p:nvSpPr>
          <p:cNvPr id="37" name="Text 7"/>
          <p:cNvSpPr/>
          <p:nvPr/>
        </p:nvSpPr>
        <p:spPr>
          <a:xfrm>
            <a:off x="6324600" y="2190750"/>
            <a:ext cx="23241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Handles batch computing workloads like financial modeling, scientific simulations, and ETL processes.</a:t>
            </a:r>
            <a:endParaRPr lang="en-US" sz="1050" dirty="0"/>
          </a:p>
        </p:txBody>
      </p:sp>
      <p:sp>
        <p:nvSpPr>
          <p:cNvPr id="38" name="Text 8"/>
          <p:cNvSpPr/>
          <p:nvPr/>
        </p:nvSpPr>
        <p:spPr>
          <a:xfrm>
            <a:off x="9696450" y="1638300"/>
            <a:ext cx="173355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Generative AI Workloads</a:t>
            </a:r>
            <a:endParaRPr lang="en-US" sz="1350" dirty="0"/>
          </a:p>
        </p:txBody>
      </p:sp>
      <p:sp>
        <p:nvSpPr>
          <p:cNvPr id="39" name="Text 9"/>
          <p:cNvSpPr/>
          <p:nvPr/>
        </p:nvSpPr>
        <p:spPr>
          <a:xfrm>
            <a:off x="9105900" y="2247900"/>
            <a:ext cx="23241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Supports deployment and scaling of generative AI applications across cloud, on-premises, or edge environments.</a:t>
            </a:r>
            <a:endParaRPr lang="en-US" sz="1050" dirty="0"/>
          </a:p>
        </p:txBody>
      </p:sp>
      <p:sp>
        <p:nvSpPr>
          <p:cNvPr id="40" name="Text 10"/>
          <p:cNvSpPr/>
          <p:nvPr/>
        </p:nvSpPr>
        <p:spPr>
          <a:xfrm>
            <a:off x="1352550" y="3467100"/>
            <a:ext cx="1882735"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Data Processing</a:t>
            </a:r>
            <a:endParaRPr lang="en-US" sz="1350" dirty="0"/>
          </a:p>
        </p:txBody>
      </p:sp>
      <p:sp>
        <p:nvSpPr>
          <p:cNvPr id="41" name="Text 11"/>
          <p:cNvSpPr/>
          <p:nvPr/>
        </p:nvSpPr>
        <p:spPr>
          <a:xfrm>
            <a:off x="762000" y="4019550"/>
            <a:ext cx="23241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Enables ingestion and transformation of continuous data flows for responsive analytics pipelines.</a:t>
            </a:r>
            <a:endParaRPr lang="en-US" sz="1050" dirty="0"/>
          </a:p>
        </p:txBody>
      </p:sp>
      <p:sp>
        <p:nvSpPr>
          <p:cNvPr id="42" name="Text 12"/>
          <p:cNvSpPr/>
          <p:nvPr/>
        </p:nvSpPr>
        <p:spPr>
          <a:xfrm>
            <a:off x="4133850" y="3467100"/>
            <a:ext cx="2012930"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Web Applications</a:t>
            </a:r>
            <a:endParaRPr lang="en-US" sz="1350" dirty="0"/>
          </a:p>
        </p:txBody>
      </p:sp>
      <p:sp>
        <p:nvSpPr>
          <p:cNvPr id="43" name="Text 13"/>
          <p:cNvSpPr/>
          <p:nvPr/>
        </p:nvSpPr>
        <p:spPr>
          <a:xfrm>
            <a:off x="3543300" y="4019550"/>
            <a:ext cx="23241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Hosts scalable and highly available web applications using Application Load Balancers for traffic distribution.</a:t>
            </a:r>
            <a:endParaRPr lang="en-US" sz="1050" dirty="0"/>
          </a:p>
        </p:txBody>
      </p:sp>
      <p:sp>
        <p:nvSpPr>
          <p:cNvPr id="44" name="Text 14"/>
          <p:cNvSpPr/>
          <p:nvPr/>
        </p:nvSpPr>
        <p:spPr>
          <a:xfrm>
            <a:off x="6915150" y="3467100"/>
            <a:ext cx="1753791"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CI/CD Pipelines</a:t>
            </a:r>
            <a:endParaRPr lang="en-US" sz="1350" dirty="0"/>
          </a:p>
        </p:txBody>
      </p:sp>
      <p:sp>
        <p:nvSpPr>
          <p:cNvPr id="45" name="Text 15"/>
          <p:cNvSpPr/>
          <p:nvPr/>
        </p:nvSpPr>
        <p:spPr>
          <a:xfrm>
            <a:off x="6324600" y="4019550"/>
            <a:ext cx="23241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Used to run build, test, and deployment jobs as containerized tasks for consistent software delivery.</a:t>
            </a:r>
            <a:endParaRPr lang="en-US" sz="1050" dirty="0"/>
          </a:p>
        </p:txBody>
      </p:sp>
      <p:sp>
        <p:nvSpPr>
          <p:cNvPr id="46" name="Text 16"/>
          <p:cNvSpPr/>
          <p:nvPr/>
        </p:nvSpPr>
        <p:spPr>
          <a:xfrm>
            <a:off x="9696450" y="3467100"/>
            <a:ext cx="1733550" cy="5334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Hybrid Deployments</a:t>
            </a:r>
            <a:endParaRPr lang="en-US" sz="1350" dirty="0"/>
          </a:p>
        </p:txBody>
      </p:sp>
      <p:sp>
        <p:nvSpPr>
          <p:cNvPr id="47" name="Text 17"/>
          <p:cNvSpPr/>
          <p:nvPr/>
        </p:nvSpPr>
        <p:spPr>
          <a:xfrm>
            <a:off x="9105900" y="4076700"/>
            <a:ext cx="2324100" cy="762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Enables consistent operation of containerized applications across cloud, on-premises, and edge environments.</a:t>
            </a:r>
            <a:endParaRPr lang="en-US" sz="1050" dirty="0"/>
          </a:p>
        </p:txBody>
      </p:sp>
      <p:sp>
        <p:nvSpPr>
          <p:cNvPr id="48" name="Text 18"/>
          <p:cNvSpPr/>
          <p:nvPr/>
        </p:nvSpPr>
        <p:spPr>
          <a:xfrm>
            <a:off x="819150" y="6438900"/>
            <a:ext cx="299733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Amazon Elastic Container Service</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609600" y="876300"/>
            <a:ext cx="1219200" cy="38100"/>
          </a:xfrm>
          <a:prstGeom prst="rect">
            <a:avLst/>
          </a:prstGeom>
        </p:spPr>
      </p:pic>
      <p:pic>
        <p:nvPicPr>
          <p:cNvPr id="5" name="Image 3" descr="preencoded.png"/>
          <p:cNvPicPr>
            <a:picLocks noChangeAspect="1"/>
          </p:cNvPicPr>
          <p:nvPr/>
        </p:nvPicPr>
        <p:blipFill>
          <a:blip r:embed="rId6"/>
          <a:stretch>
            <a:fillRect/>
          </a:stretch>
        </p:blipFill>
        <p:spPr>
          <a:xfrm>
            <a:off x="609600" y="1143000"/>
            <a:ext cx="5372100" cy="1752600"/>
          </a:xfrm>
          <a:prstGeom prst="rect">
            <a:avLst/>
          </a:prstGeom>
        </p:spPr>
      </p:pic>
      <p:pic>
        <p:nvPicPr>
          <p:cNvPr id="6" name="Image 4" descr="preencoded.png"/>
          <p:cNvPicPr>
            <a:picLocks noChangeAspect="1"/>
          </p:cNvPicPr>
          <p:nvPr/>
        </p:nvPicPr>
        <p:blipFill>
          <a:blip r:embed="rId7"/>
          <a:stretch>
            <a:fillRect/>
          </a:stretch>
        </p:blipFill>
        <p:spPr>
          <a:xfrm>
            <a:off x="800100" y="1333500"/>
            <a:ext cx="476250" cy="476250"/>
          </a:xfrm>
          <a:prstGeom prst="rect">
            <a:avLst/>
          </a:prstGeom>
        </p:spPr>
      </p:pic>
      <p:pic>
        <p:nvPicPr>
          <p:cNvPr id="7" name="Image 5" descr="preencoded.png"/>
          <p:cNvPicPr>
            <a:picLocks noChangeAspect="1"/>
          </p:cNvPicPr>
          <p:nvPr/>
        </p:nvPicPr>
        <p:blipFill>
          <a:blip r:embed="rId8"/>
          <a:stretch>
            <a:fillRect/>
          </a:stretch>
        </p:blipFill>
        <p:spPr>
          <a:xfrm>
            <a:off x="923925" y="1419225"/>
            <a:ext cx="228600" cy="304800"/>
          </a:xfrm>
          <a:prstGeom prst="rect">
            <a:avLst/>
          </a:prstGeom>
        </p:spPr>
      </p:pic>
      <p:pic>
        <p:nvPicPr>
          <p:cNvPr id="8" name="Image 6" descr="preencoded.png"/>
          <p:cNvPicPr>
            <a:picLocks noChangeAspect="1"/>
          </p:cNvPicPr>
          <p:nvPr/>
        </p:nvPicPr>
        <p:blipFill>
          <a:blip r:embed="rId9"/>
          <a:stretch>
            <a:fillRect/>
          </a:stretch>
        </p:blipFill>
        <p:spPr>
          <a:xfrm>
            <a:off x="1428750" y="2171700"/>
            <a:ext cx="3070027" cy="304800"/>
          </a:xfrm>
          <a:prstGeom prst="rect">
            <a:avLst/>
          </a:prstGeom>
        </p:spPr>
      </p:pic>
      <p:pic>
        <p:nvPicPr>
          <p:cNvPr id="9" name="Image 7" descr="preencoded.png"/>
          <p:cNvPicPr>
            <a:picLocks noChangeAspect="1"/>
          </p:cNvPicPr>
          <p:nvPr/>
        </p:nvPicPr>
        <p:blipFill>
          <a:blip r:embed="rId10"/>
          <a:stretch>
            <a:fillRect/>
          </a:stretch>
        </p:blipFill>
        <p:spPr>
          <a:xfrm>
            <a:off x="1543050" y="2247900"/>
            <a:ext cx="152400" cy="152400"/>
          </a:xfrm>
          <a:prstGeom prst="rect">
            <a:avLst/>
          </a:prstGeom>
        </p:spPr>
      </p:pic>
      <p:pic>
        <p:nvPicPr>
          <p:cNvPr id="10" name="Image 8" descr="preencoded.png"/>
          <p:cNvPicPr>
            <a:picLocks noChangeAspect="1"/>
          </p:cNvPicPr>
          <p:nvPr/>
        </p:nvPicPr>
        <p:blipFill>
          <a:blip r:embed="rId11"/>
          <a:stretch>
            <a:fillRect/>
          </a:stretch>
        </p:blipFill>
        <p:spPr>
          <a:xfrm>
            <a:off x="6210300" y="1143000"/>
            <a:ext cx="5372100" cy="1752600"/>
          </a:xfrm>
          <a:prstGeom prst="rect">
            <a:avLst/>
          </a:prstGeom>
        </p:spPr>
      </p:pic>
      <p:pic>
        <p:nvPicPr>
          <p:cNvPr id="11" name="Image 9" descr="preencoded.png"/>
          <p:cNvPicPr>
            <a:picLocks noChangeAspect="1"/>
          </p:cNvPicPr>
          <p:nvPr/>
        </p:nvPicPr>
        <p:blipFill>
          <a:blip r:embed="rId12"/>
          <a:stretch>
            <a:fillRect/>
          </a:stretch>
        </p:blipFill>
        <p:spPr>
          <a:xfrm>
            <a:off x="6400800" y="1333500"/>
            <a:ext cx="476250" cy="476250"/>
          </a:xfrm>
          <a:prstGeom prst="rect">
            <a:avLst/>
          </a:prstGeom>
        </p:spPr>
      </p:pic>
      <p:pic>
        <p:nvPicPr>
          <p:cNvPr id="12" name="Image 10" descr="preencoded.png"/>
          <p:cNvPicPr>
            <a:picLocks noChangeAspect="1"/>
          </p:cNvPicPr>
          <p:nvPr/>
        </p:nvPicPr>
        <p:blipFill>
          <a:blip r:embed="rId13"/>
          <a:stretch>
            <a:fillRect/>
          </a:stretch>
        </p:blipFill>
        <p:spPr>
          <a:xfrm>
            <a:off x="6496050" y="1419225"/>
            <a:ext cx="285750" cy="304800"/>
          </a:xfrm>
          <a:prstGeom prst="rect">
            <a:avLst/>
          </a:prstGeom>
        </p:spPr>
      </p:pic>
      <p:pic>
        <p:nvPicPr>
          <p:cNvPr id="13" name="Image 11" descr="preencoded.png"/>
          <p:cNvPicPr>
            <a:picLocks noChangeAspect="1"/>
          </p:cNvPicPr>
          <p:nvPr/>
        </p:nvPicPr>
        <p:blipFill>
          <a:blip r:embed="rId14"/>
          <a:stretch>
            <a:fillRect/>
          </a:stretch>
        </p:blipFill>
        <p:spPr>
          <a:xfrm>
            <a:off x="7029450" y="2171700"/>
            <a:ext cx="4362450" cy="533400"/>
          </a:xfrm>
          <a:prstGeom prst="rect">
            <a:avLst/>
          </a:prstGeom>
        </p:spPr>
      </p:pic>
      <p:pic>
        <p:nvPicPr>
          <p:cNvPr id="14" name="Image 12" descr="preencoded.png"/>
          <p:cNvPicPr>
            <a:picLocks noChangeAspect="1"/>
          </p:cNvPicPr>
          <p:nvPr/>
        </p:nvPicPr>
        <p:blipFill>
          <a:blip r:embed="rId15"/>
          <a:stretch>
            <a:fillRect/>
          </a:stretch>
        </p:blipFill>
        <p:spPr>
          <a:xfrm>
            <a:off x="7143750" y="2362200"/>
            <a:ext cx="152400" cy="152400"/>
          </a:xfrm>
          <a:prstGeom prst="rect">
            <a:avLst/>
          </a:prstGeom>
        </p:spPr>
      </p:pic>
      <p:pic>
        <p:nvPicPr>
          <p:cNvPr id="15" name="Image 13" descr="preencoded.png"/>
          <p:cNvPicPr>
            <a:picLocks noChangeAspect="1"/>
          </p:cNvPicPr>
          <p:nvPr/>
        </p:nvPicPr>
        <p:blipFill>
          <a:blip r:embed="rId16"/>
          <a:stretch>
            <a:fillRect/>
          </a:stretch>
        </p:blipFill>
        <p:spPr>
          <a:xfrm>
            <a:off x="609600" y="3124200"/>
            <a:ext cx="5372100" cy="1524000"/>
          </a:xfrm>
          <a:prstGeom prst="rect">
            <a:avLst/>
          </a:prstGeom>
        </p:spPr>
      </p:pic>
      <p:pic>
        <p:nvPicPr>
          <p:cNvPr id="16" name="Image 14" descr="preencoded.png"/>
          <p:cNvPicPr>
            <a:picLocks noChangeAspect="1"/>
          </p:cNvPicPr>
          <p:nvPr/>
        </p:nvPicPr>
        <p:blipFill>
          <a:blip r:embed="rId17"/>
          <a:stretch>
            <a:fillRect/>
          </a:stretch>
        </p:blipFill>
        <p:spPr>
          <a:xfrm>
            <a:off x="800100" y="3314700"/>
            <a:ext cx="476250" cy="476250"/>
          </a:xfrm>
          <a:prstGeom prst="rect">
            <a:avLst/>
          </a:prstGeom>
        </p:spPr>
      </p:pic>
      <p:pic>
        <p:nvPicPr>
          <p:cNvPr id="17" name="Image 15" descr="preencoded.png"/>
          <p:cNvPicPr>
            <a:picLocks noChangeAspect="1"/>
          </p:cNvPicPr>
          <p:nvPr/>
        </p:nvPicPr>
        <p:blipFill>
          <a:blip r:embed="rId18"/>
          <a:stretch>
            <a:fillRect/>
          </a:stretch>
        </p:blipFill>
        <p:spPr>
          <a:xfrm>
            <a:off x="923925" y="3400425"/>
            <a:ext cx="228600" cy="304800"/>
          </a:xfrm>
          <a:prstGeom prst="rect">
            <a:avLst/>
          </a:prstGeom>
        </p:spPr>
      </p:pic>
      <p:pic>
        <p:nvPicPr>
          <p:cNvPr id="18" name="Image 16" descr="preencoded.png"/>
          <p:cNvPicPr>
            <a:picLocks noChangeAspect="1"/>
          </p:cNvPicPr>
          <p:nvPr/>
        </p:nvPicPr>
        <p:blipFill>
          <a:blip r:embed="rId19"/>
          <a:stretch>
            <a:fillRect/>
          </a:stretch>
        </p:blipFill>
        <p:spPr>
          <a:xfrm>
            <a:off x="1428750" y="4152900"/>
            <a:ext cx="2695575" cy="304800"/>
          </a:xfrm>
          <a:prstGeom prst="rect">
            <a:avLst/>
          </a:prstGeom>
        </p:spPr>
      </p:pic>
      <p:pic>
        <p:nvPicPr>
          <p:cNvPr id="19" name="Image 17" descr="preencoded.png"/>
          <p:cNvPicPr>
            <a:picLocks noChangeAspect="1"/>
          </p:cNvPicPr>
          <p:nvPr/>
        </p:nvPicPr>
        <p:blipFill>
          <a:blip r:embed="rId20"/>
          <a:stretch>
            <a:fillRect/>
          </a:stretch>
        </p:blipFill>
        <p:spPr>
          <a:xfrm>
            <a:off x="1543050" y="4229100"/>
            <a:ext cx="133350" cy="152400"/>
          </a:xfrm>
          <a:prstGeom prst="rect">
            <a:avLst/>
          </a:prstGeom>
        </p:spPr>
      </p:pic>
      <p:pic>
        <p:nvPicPr>
          <p:cNvPr id="20" name="Image 18" descr="preencoded.png"/>
          <p:cNvPicPr>
            <a:picLocks noChangeAspect="1"/>
          </p:cNvPicPr>
          <p:nvPr/>
        </p:nvPicPr>
        <p:blipFill>
          <a:blip r:embed="rId21"/>
          <a:stretch>
            <a:fillRect/>
          </a:stretch>
        </p:blipFill>
        <p:spPr>
          <a:xfrm>
            <a:off x="6210300" y="3124200"/>
            <a:ext cx="5372100" cy="1524000"/>
          </a:xfrm>
          <a:prstGeom prst="rect">
            <a:avLst/>
          </a:prstGeom>
        </p:spPr>
      </p:pic>
      <p:pic>
        <p:nvPicPr>
          <p:cNvPr id="21" name="Image 19" descr="preencoded.png"/>
          <p:cNvPicPr>
            <a:picLocks noChangeAspect="1"/>
          </p:cNvPicPr>
          <p:nvPr/>
        </p:nvPicPr>
        <p:blipFill>
          <a:blip r:embed="rId22"/>
          <a:stretch>
            <a:fillRect/>
          </a:stretch>
        </p:blipFill>
        <p:spPr>
          <a:xfrm>
            <a:off x="6400800" y="3314700"/>
            <a:ext cx="476250" cy="476250"/>
          </a:xfrm>
          <a:prstGeom prst="rect">
            <a:avLst/>
          </a:prstGeom>
        </p:spPr>
      </p:pic>
      <p:pic>
        <p:nvPicPr>
          <p:cNvPr id="22" name="Image 20" descr="preencoded.png"/>
          <p:cNvPicPr>
            <a:picLocks noChangeAspect="1"/>
          </p:cNvPicPr>
          <p:nvPr/>
        </p:nvPicPr>
        <p:blipFill>
          <a:blip r:embed="rId23"/>
          <a:stretch>
            <a:fillRect/>
          </a:stretch>
        </p:blipFill>
        <p:spPr>
          <a:xfrm>
            <a:off x="6524625" y="3400425"/>
            <a:ext cx="228600" cy="304800"/>
          </a:xfrm>
          <a:prstGeom prst="rect">
            <a:avLst/>
          </a:prstGeom>
        </p:spPr>
      </p:pic>
      <p:pic>
        <p:nvPicPr>
          <p:cNvPr id="23" name="Image 21" descr="preencoded.png"/>
          <p:cNvPicPr>
            <a:picLocks noChangeAspect="1"/>
          </p:cNvPicPr>
          <p:nvPr/>
        </p:nvPicPr>
        <p:blipFill>
          <a:blip r:embed="rId24"/>
          <a:stretch>
            <a:fillRect/>
          </a:stretch>
        </p:blipFill>
        <p:spPr>
          <a:xfrm>
            <a:off x="7029450" y="4152900"/>
            <a:ext cx="3328095" cy="304800"/>
          </a:xfrm>
          <a:prstGeom prst="rect">
            <a:avLst/>
          </a:prstGeom>
        </p:spPr>
      </p:pic>
      <p:pic>
        <p:nvPicPr>
          <p:cNvPr id="24" name="Image 22" descr="preencoded.png"/>
          <p:cNvPicPr>
            <a:picLocks noChangeAspect="1"/>
          </p:cNvPicPr>
          <p:nvPr/>
        </p:nvPicPr>
        <p:blipFill>
          <a:blip r:embed="rId25"/>
          <a:stretch>
            <a:fillRect/>
          </a:stretch>
        </p:blipFill>
        <p:spPr>
          <a:xfrm>
            <a:off x="7143750" y="4229100"/>
            <a:ext cx="114300" cy="152400"/>
          </a:xfrm>
          <a:prstGeom prst="rect">
            <a:avLst/>
          </a:prstGeom>
        </p:spPr>
      </p:pic>
      <p:pic>
        <p:nvPicPr>
          <p:cNvPr id="25" name="Image 23" descr="preencoded.png"/>
          <p:cNvPicPr>
            <a:picLocks noChangeAspect="1"/>
          </p:cNvPicPr>
          <p:nvPr/>
        </p:nvPicPr>
        <p:blipFill>
          <a:blip r:embed="rId26"/>
          <a:stretch>
            <a:fillRect/>
          </a:stretch>
        </p:blipFill>
        <p:spPr>
          <a:xfrm>
            <a:off x="609600" y="4876800"/>
            <a:ext cx="10972800" cy="762000"/>
          </a:xfrm>
          <a:prstGeom prst="rect">
            <a:avLst/>
          </a:prstGeom>
        </p:spPr>
      </p:pic>
      <p:pic>
        <p:nvPicPr>
          <p:cNvPr id="26" name="Image 24" descr="preencoded.png"/>
          <p:cNvPicPr>
            <a:picLocks noChangeAspect="1"/>
          </p:cNvPicPr>
          <p:nvPr/>
        </p:nvPicPr>
        <p:blipFill>
          <a:blip r:embed="rId27"/>
          <a:stretch>
            <a:fillRect/>
          </a:stretch>
        </p:blipFill>
        <p:spPr>
          <a:xfrm>
            <a:off x="762000" y="5105400"/>
            <a:ext cx="171450" cy="304800"/>
          </a:xfrm>
          <a:prstGeom prst="rect">
            <a:avLst/>
          </a:prstGeom>
        </p:spPr>
      </p:pic>
      <p:sp>
        <p:nvSpPr>
          <p:cNvPr id="28" name="Text 0"/>
          <p:cNvSpPr/>
          <p:nvPr/>
        </p:nvSpPr>
        <p:spPr>
          <a:xfrm>
            <a:off x="609600" y="381000"/>
            <a:ext cx="109728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006D77"/>
                </a:solidFill>
                <a:latin typeface="ui-sans-serif" pitchFamily="34" charset="0"/>
                <a:ea typeface="ui-sans-serif" pitchFamily="34" charset="-122"/>
                <a:cs typeface="ui-sans-serif" pitchFamily="34" charset="-120"/>
              </a:rPr>
              <a:t>Real-World Success Stories</a:t>
            </a:r>
            <a:endParaRPr lang="en-US" sz="2700" dirty="0"/>
          </a:p>
        </p:txBody>
      </p:sp>
      <p:sp>
        <p:nvSpPr>
          <p:cNvPr id="29" name="Text 1"/>
          <p:cNvSpPr/>
          <p:nvPr/>
        </p:nvSpPr>
        <p:spPr>
          <a:xfrm>
            <a:off x="1428750" y="1333500"/>
            <a:ext cx="4362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GoPro</a:t>
            </a:r>
            <a:endParaRPr lang="en-US" sz="1500" dirty="0"/>
          </a:p>
        </p:txBody>
      </p:sp>
      <p:sp>
        <p:nvSpPr>
          <p:cNvPr id="30" name="Text 2"/>
          <p:cNvSpPr/>
          <p:nvPr/>
        </p:nvSpPr>
        <p:spPr>
          <a:xfrm>
            <a:off x="1428750" y="1638300"/>
            <a:ext cx="43624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Enhanced resource utilization with ECS for containerized applications.</a:t>
            </a:r>
            <a:endParaRPr lang="en-US" sz="1200" dirty="0"/>
          </a:p>
        </p:txBody>
      </p:sp>
      <p:sp>
        <p:nvSpPr>
          <p:cNvPr id="31" name="Text 3"/>
          <p:cNvSpPr/>
          <p:nvPr/>
        </p:nvSpPr>
        <p:spPr>
          <a:xfrm>
            <a:off x="1733550" y="2171700"/>
            <a:ext cx="3684032" cy="304800"/>
          </a:xfrm>
          <a:prstGeom prst="rect">
            <a:avLst/>
          </a:prstGeom>
          <a:noFill/>
          <a:ln/>
        </p:spPr>
        <p:txBody>
          <a:bodyPr vert="horz" wrap="square" lIns="0" tIns="0" rIns="0" bIns="0" rtlCol="0" anchor="t"/>
          <a:lstStyle/>
          <a:p>
            <a:pPr marL="0" indent="0">
              <a:lnSpc>
                <a:spcPts val="1800"/>
              </a:lnSpc>
              <a:buNone/>
            </a:pPr>
            <a:r>
              <a:rPr lang="en-US" sz="1200" b="1" dirty="0">
                <a:solidFill>
                  <a:srgbClr val="0F766E"/>
                </a:solidFill>
                <a:latin typeface="ui-sans-serif" pitchFamily="34" charset="0"/>
                <a:ea typeface="ui-sans-serif" pitchFamily="34" charset="-122"/>
                <a:cs typeface="ui-sans-serif" pitchFamily="34" charset="-120"/>
              </a:rPr>
              <a:t>70% reduction in EC2 footprint</a:t>
            </a:r>
            <a:endParaRPr lang="en-US" sz="1200" dirty="0"/>
          </a:p>
        </p:txBody>
      </p:sp>
      <p:sp>
        <p:nvSpPr>
          <p:cNvPr id="32" name="Text 4"/>
          <p:cNvSpPr/>
          <p:nvPr/>
        </p:nvSpPr>
        <p:spPr>
          <a:xfrm>
            <a:off x="7029450" y="1333500"/>
            <a:ext cx="4362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Ubisoft</a:t>
            </a:r>
            <a:endParaRPr lang="en-US" sz="1500" dirty="0"/>
          </a:p>
        </p:txBody>
      </p:sp>
      <p:sp>
        <p:nvSpPr>
          <p:cNvPr id="33" name="Text 5"/>
          <p:cNvSpPr/>
          <p:nvPr/>
        </p:nvSpPr>
        <p:spPr>
          <a:xfrm>
            <a:off x="7029450" y="1638300"/>
            <a:ext cx="43624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Orchestrated game services with automatic scaling for traffic spikes.</a:t>
            </a:r>
            <a:endParaRPr lang="en-US" sz="1200" dirty="0"/>
          </a:p>
        </p:txBody>
      </p:sp>
      <p:sp>
        <p:nvSpPr>
          <p:cNvPr id="34" name="Text 6"/>
          <p:cNvSpPr/>
          <p:nvPr/>
        </p:nvSpPr>
        <p:spPr>
          <a:xfrm>
            <a:off x="7334250" y="2171700"/>
            <a:ext cx="4362450" cy="533400"/>
          </a:xfrm>
          <a:prstGeom prst="rect">
            <a:avLst/>
          </a:prstGeom>
          <a:noFill/>
          <a:ln/>
        </p:spPr>
        <p:txBody>
          <a:bodyPr vert="horz" wrap="square" lIns="0" tIns="0" rIns="0" bIns="0" rtlCol="0" anchor="t"/>
          <a:lstStyle/>
          <a:p>
            <a:pPr marL="0" indent="0">
              <a:lnSpc>
                <a:spcPts val="1800"/>
              </a:lnSpc>
              <a:buNone/>
            </a:pPr>
            <a:r>
              <a:rPr lang="en-US" sz="1200" b="1" dirty="0">
                <a:solidFill>
                  <a:srgbClr val="B45309"/>
                </a:solidFill>
                <a:latin typeface="ui-sans-serif" pitchFamily="34" charset="0"/>
                <a:ea typeface="ui-sans-serif" pitchFamily="34" charset="-122"/>
                <a:cs typeface="ui-sans-serif" pitchFamily="34" charset="-120"/>
              </a:rPr>
              <a:t>70TB data across 120 servers for Watch Dogs 2</a:t>
            </a:r>
            <a:endParaRPr lang="en-US" sz="1200" dirty="0"/>
          </a:p>
        </p:txBody>
      </p:sp>
      <p:sp>
        <p:nvSpPr>
          <p:cNvPr id="35" name="Text 7"/>
          <p:cNvSpPr/>
          <p:nvPr/>
        </p:nvSpPr>
        <p:spPr>
          <a:xfrm>
            <a:off x="1428750" y="3314700"/>
            <a:ext cx="52349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The Washington Post's Arc Publishing</a:t>
            </a:r>
            <a:endParaRPr lang="en-US" sz="1500" dirty="0"/>
          </a:p>
        </p:txBody>
      </p:sp>
      <p:sp>
        <p:nvSpPr>
          <p:cNvPr id="36" name="Text 8"/>
          <p:cNvSpPr/>
          <p:nvPr/>
        </p:nvSpPr>
        <p:spPr>
          <a:xfrm>
            <a:off x="1428750" y="3619500"/>
            <a:ext cx="43624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Manages 100+ microservices and 3000+ containers across 150+ instances.</a:t>
            </a:r>
            <a:endParaRPr lang="en-US" sz="1200" dirty="0"/>
          </a:p>
        </p:txBody>
      </p:sp>
      <p:sp>
        <p:nvSpPr>
          <p:cNvPr id="37" name="Text 9"/>
          <p:cNvSpPr/>
          <p:nvPr/>
        </p:nvSpPr>
        <p:spPr>
          <a:xfrm>
            <a:off x="1714500" y="4152900"/>
            <a:ext cx="3234690" cy="304800"/>
          </a:xfrm>
          <a:prstGeom prst="rect">
            <a:avLst/>
          </a:prstGeom>
          <a:noFill/>
          <a:ln/>
        </p:spPr>
        <p:txBody>
          <a:bodyPr vert="horz" wrap="square" lIns="0" tIns="0" rIns="0" bIns="0" rtlCol="0" anchor="t"/>
          <a:lstStyle/>
          <a:p>
            <a:pPr marL="0" indent="0">
              <a:lnSpc>
                <a:spcPts val="1800"/>
              </a:lnSpc>
              <a:buNone/>
            </a:pPr>
            <a:r>
              <a:rPr lang="en-US" sz="1200" b="1" dirty="0">
                <a:solidFill>
                  <a:srgbClr val="1D4ED8"/>
                </a:solidFill>
                <a:latin typeface="ui-sans-serif" pitchFamily="34" charset="0"/>
                <a:ea typeface="ui-sans-serif" pitchFamily="34" charset="-122"/>
                <a:cs typeface="ui-sans-serif" pitchFamily="34" charset="-120"/>
              </a:rPr>
              <a:t>50+ deployments per hour</a:t>
            </a:r>
            <a:endParaRPr lang="en-US" sz="1200" dirty="0"/>
          </a:p>
        </p:txBody>
      </p:sp>
      <p:sp>
        <p:nvSpPr>
          <p:cNvPr id="38" name="Text 10"/>
          <p:cNvSpPr/>
          <p:nvPr/>
        </p:nvSpPr>
        <p:spPr>
          <a:xfrm>
            <a:off x="7029450" y="3314700"/>
            <a:ext cx="4362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McDonald's</a:t>
            </a:r>
            <a:endParaRPr lang="en-US" sz="1500" dirty="0"/>
          </a:p>
        </p:txBody>
      </p:sp>
      <p:sp>
        <p:nvSpPr>
          <p:cNvPr id="39" name="Text 11"/>
          <p:cNvSpPr/>
          <p:nvPr/>
        </p:nvSpPr>
        <p:spPr>
          <a:xfrm>
            <a:off x="7029450" y="3619500"/>
            <a:ext cx="43624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Home Delivery app uses ECS for microservices architecture.</a:t>
            </a:r>
            <a:endParaRPr lang="en-US" sz="1200" dirty="0"/>
          </a:p>
        </p:txBody>
      </p:sp>
      <p:sp>
        <p:nvSpPr>
          <p:cNvPr id="40" name="Text 12"/>
          <p:cNvSpPr/>
          <p:nvPr/>
        </p:nvSpPr>
        <p:spPr>
          <a:xfrm>
            <a:off x="7296150" y="4152900"/>
            <a:ext cx="3993713" cy="304800"/>
          </a:xfrm>
          <a:prstGeom prst="rect">
            <a:avLst/>
          </a:prstGeom>
          <a:noFill/>
          <a:ln/>
        </p:spPr>
        <p:txBody>
          <a:bodyPr vert="horz" wrap="square" lIns="0" tIns="0" rIns="0" bIns="0" rtlCol="0" anchor="t"/>
          <a:lstStyle/>
          <a:p>
            <a:pPr marL="0" indent="0">
              <a:lnSpc>
                <a:spcPts val="1800"/>
              </a:lnSpc>
              <a:buNone/>
            </a:pPr>
            <a:r>
              <a:rPr lang="en-US" sz="1200" b="1" dirty="0">
                <a:solidFill>
                  <a:srgbClr val="B91C1C"/>
                </a:solidFill>
                <a:latin typeface="ui-sans-serif" pitchFamily="34" charset="0"/>
                <a:ea typeface="ui-sans-serif" pitchFamily="34" charset="-122"/>
                <a:cs typeface="ui-sans-serif" pitchFamily="34" charset="-120"/>
              </a:rPr>
              <a:t>Handles 20,000 orders per second</a:t>
            </a:r>
            <a:endParaRPr lang="en-US" sz="1200" dirty="0"/>
          </a:p>
        </p:txBody>
      </p:sp>
      <p:sp>
        <p:nvSpPr>
          <p:cNvPr id="41" name="Text 13"/>
          <p:cNvSpPr/>
          <p:nvPr/>
        </p:nvSpPr>
        <p:spPr>
          <a:xfrm>
            <a:off x="1047750" y="5029200"/>
            <a:ext cx="10382250" cy="4572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Key Insight:</a:t>
            </a:r>
            <a:r>
              <a:rPr lang="en-US" sz="1200" dirty="0">
                <a:solidFill>
                  <a:srgbClr val="374151"/>
                </a:solidFill>
                <a:latin typeface="ui-sans-serif" pitchFamily="34" charset="0"/>
                <a:ea typeface="ui-sans-serif" pitchFamily="34" charset="-122"/>
                <a:cs typeface="ui-sans-serif" pitchFamily="34" charset="-120"/>
              </a:rPr>
              <a:t> Organizations use ECS for scalability, reliability, and to focus on application development rather than infrastructure management.</a:t>
            </a:r>
            <a:endParaRPr lang="en-US" sz="1200" dirty="0"/>
          </a:p>
        </p:txBody>
      </p:sp>
      <p:sp>
        <p:nvSpPr>
          <p:cNvPr id="42" name="Text 14"/>
          <p:cNvSpPr/>
          <p:nvPr/>
        </p:nvSpPr>
        <p:spPr>
          <a:xfrm>
            <a:off x="819150" y="6438900"/>
            <a:ext cx="299733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 Amazon Elastic Container Service</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657350"/>
            <a:ext cx="3848100" cy="838200"/>
          </a:xfrm>
          <a:prstGeom prst="rect">
            <a:avLst/>
          </a:prstGeom>
        </p:spPr>
      </p:pic>
      <p:pic>
        <p:nvPicPr>
          <p:cNvPr id="7" name="Image 5" descr="preencoded.png"/>
          <p:cNvPicPr>
            <a:picLocks noChangeAspect="1"/>
          </p:cNvPicPr>
          <p:nvPr/>
        </p:nvPicPr>
        <p:blipFill>
          <a:blip r:embed="rId6"/>
          <a:stretch>
            <a:fillRect/>
          </a:stretch>
        </p:blipFill>
        <p:spPr>
          <a:xfrm>
            <a:off x="4686300" y="1657350"/>
            <a:ext cx="3848100" cy="838200"/>
          </a:xfrm>
          <a:prstGeom prst="rect">
            <a:avLst/>
          </a:prstGeom>
        </p:spPr>
      </p:pic>
      <p:pic>
        <p:nvPicPr>
          <p:cNvPr id="8" name="Image 6" descr="preencoded.png"/>
          <p:cNvPicPr>
            <a:picLocks noChangeAspect="1"/>
          </p:cNvPicPr>
          <p:nvPr/>
        </p:nvPicPr>
        <p:blipFill>
          <a:blip r:embed="rId7"/>
          <a:stretch>
            <a:fillRect/>
          </a:stretch>
        </p:blipFill>
        <p:spPr>
          <a:xfrm>
            <a:off x="609600" y="2724150"/>
            <a:ext cx="3848100" cy="1104900"/>
          </a:xfrm>
          <a:prstGeom prst="rect">
            <a:avLst/>
          </a:prstGeom>
        </p:spPr>
      </p:pic>
      <p:pic>
        <p:nvPicPr>
          <p:cNvPr id="9" name="Image 7" descr="preencoded.png"/>
          <p:cNvPicPr>
            <a:picLocks noChangeAspect="1"/>
          </p:cNvPicPr>
          <p:nvPr/>
        </p:nvPicPr>
        <p:blipFill>
          <a:blip r:embed="rId8"/>
          <a:stretch>
            <a:fillRect/>
          </a:stretch>
        </p:blipFill>
        <p:spPr>
          <a:xfrm>
            <a:off x="4686300" y="2724150"/>
            <a:ext cx="3848100" cy="1104900"/>
          </a:xfrm>
          <a:prstGeom prst="rect">
            <a:avLst/>
          </a:prstGeom>
        </p:spPr>
      </p:pic>
      <p:pic>
        <p:nvPicPr>
          <p:cNvPr id="10" name="Image 8" descr="preencoded.png"/>
          <p:cNvPicPr>
            <a:picLocks noChangeAspect="1"/>
          </p:cNvPicPr>
          <p:nvPr/>
        </p:nvPicPr>
        <p:blipFill>
          <a:blip r:embed="rId9"/>
          <a:stretch>
            <a:fillRect/>
          </a:stretch>
        </p:blipFill>
        <p:spPr>
          <a:xfrm>
            <a:off x="9334054" y="2466975"/>
            <a:ext cx="857250" cy="685800"/>
          </a:xfrm>
          <a:prstGeom prst="rect">
            <a:avLst/>
          </a:prstGeom>
        </p:spPr>
      </p:pic>
      <p:pic>
        <p:nvPicPr>
          <p:cNvPr id="11" name="Image 9" descr="preencoded.png"/>
          <p:cNvPicPr>
            <a:picLocks noChangeAspect="1"/>
          </p:cNvPicPr>
          <p:nvPr/>
        </p:nvPicPr>
        <p:blipFill>
          <a:blip r:embed="rId10"/>
          <a:stretch>
            <a:fillRect/>
          </a:stretch>
        </p:blipFill>
        <p:spPr>
          <a:xfrm>
            <a:off x="10316021" y="2466975"/>
            <a:ext cx="771525" cy="685800"/>
          </a:xfrm>
          <a:prstGeom prst="rect">
            <a:avLst/>
          </a:prstGeom>
        </p:spPr>
      </p:pic>
      <p:pic>
        <p:nvPicPr>
          <p:cNvPr id="12" name="Image 10" descr="preencoded.png"/>
          <p:cNvPicPr>
            <a:picLocks noChangeAspect="1"/>
          </p:cNvPicPr>
          <p:nvPr/>
        </p:nvPicPr>
        <p:blipFill>
          <a:blip r:embed="rId11"/>
          <a:stretch>
            <a:fillRect/>
          </a:stretch>
        </p:blipFill>
        <p:spPr>
          <a:xfrm>
            <a:off x="609600" y="6515100"/>
            <a:ext cx="152400" cy="152400"/>
          </a:xfrm>
          <a:prstGeom prst="rect">
            <a:avLst/>
          </a:prstGeom>
        </p:spPr>
      </p:pic>
      <p:sp>
        <p:nvSpPr>
          <p:cNvPr id="13"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20</a:t>
            </a:r>
            <a:endParaRPr lang="en-US" sz="1200" dirty="0"/>
          </a:p>
        </p:txBody>
      </p:sp>
      <p:sp>
        <p:nvSpPr>
          <p:cNvPr id="14" name="Text 1"/>
          <p:cNvSpPr/>
          <p:nvPr/>
        </p:nvSpPr>
        <p:spPr>
          <a:xfrm>
            <a:off x="1143000" y="304800"/>
            <a:ext cx="440555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Amazon ECS Definition</a:t>
            </a:r>
            <a:endParaRPr lang="en-US" sz="2250" dirty="0"/>
          </a:p>
        </p:txBody>
      </p:sp>
      <p:sp>
        <p:nvSpPr>
          <p:cNvPr id="15" name="Text 2"/>
          <p:cNvSpPr/>
          <p:nvPr/>
        </p:nvSpPr>
        <p:spPr>
          <a:xfrm>
            <a:off x="609600" y="1047750"/>
            <a:ext cx="95097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Amazon Elastic Container Service (ECS)?</a:t>
            </a:r>
            <a:endParaRPr lang="en-US" sz="1800" dirty="0"/>
          </a:p>
        </p:txBody>
      </p:sp>
      <p:sp>
        <p:nvSpPr>
          <p:cNvPr id="16" name="Text 3"/>
          <p:cNvSpPr/>
          <p:nvPr/>
        </p:nvSpPr>
        <p:spPr>
          <a:xfrm>
            <a:off x="762000" y="18097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7" name="Text 4"/>
          <p:cNvSpPr/>
          <p:nvPr/>
        </p:nvSpPr>
        <p:spPr>
          <a:xfrm>
            <a:off x="1099691" y="1809750"/>
            <a:ext cx="3737967"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service for storing Docker images.</a:t>
            </a:r>
            <a:endParaRPr lang="en-US" sz="1350" dirty="0"/>
          </a:p>
        </p:txBody>
      </p:sp>
      <p:sp>
        <p:nvSpPr>
          <p:cNvPr id="18" name="Text 5"/>
          <p:cNvSpPr/>
          <p:nvPr/>
        </p:nvSpPr>
        <p:spPr>
          <a:xfrm>
            <a:off x="4838700" y="18097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19" name="Text 6"/>
          <p:cNvSpPr/>
          <p:nvPr/>
        </p:nvSpPr>
        <p:spPr>
          <a:xfrm>
            <a:off x="5170587" y="1809750"/>
            <a:ext cx="3211413"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serverless compute engine for containers.</a:t>
            </a:r>
            <a:endParaRPr lang="en-US" sz="1350" dirty="0"/>
          </a:p>
        </p:txBody>
      </p:sp>
      <p:sp>
        <p:nvSpPr>
          <p:cNvPr id="20" name="Text 7"/>
          <p:cNvSpPr/>
          <p:nvPr/>
        </p:nvSpPr>
        <p:spPr>
          <a:xfrm>
            <a:off x="762000" y="28765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1" name="Text 8"/>
          <p:cNvSpPr/>
          <p:nvPr/>
        </p:nvSpPr>
        <p:spPr>
          <a:xfrm>
            <a:off x="1088529" y="2876550"/>
            <a:ext cx="3216771"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highly scalable, fast, container management service that supports Docker containers.</a:t>
            </a:r>
            <a:endParaRPr lang="en-US" sz="1350" dirty="0"/>
          </a:p>
        </p:txBody>
      </p:sp>
      <p:sp>
        <p:nvSpPr>
          <p:cNvPr id="22" name="Text 9"/>
          <p:cNvSpPr/>
          <p:nvPr/>
        </p:nvSpPr>
        <p:spPr>
          <a:xfrm>
            <a:off x="4838700" y="28765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3" name="Text 10"/>
          <p:cNvSpPr/>
          <p:nvPr/>
        </p:nvSpPr>
        <p:spPr>
          <a:xfrm>
            <a:off x="5183535" y="2876550"/>
            <a:ext cx="3198465"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tool for building and deploying CI/CD pipelines.</a:t>
            </a:r>
            <a:endParaRPr lang="en-US" sz="1350" dirty="0"/>
          </a:p>
        </p:txBody>
      </p:sp>
      <p:sp>
        <p:nvSpPr>
          <p:cNvPr id="24" name="Text 11"/>
          <p:cNvSpPr/>
          <p:nvPr/>
        </p:nvSpPr>
        <p:spPr>
          <a:xfrm>
            <a:off x="8839200" y="3381375"/>
            <a:ext cx="2743200" cy="1371600"/>
          </a:xfrm>
          <a:prstGeom prst="rect">
            <a:avLst/>
          </a:prstGeom>
          <a:noFill/>
          <a:ln/>
        </p:spPr>
        <p:txBody>
          <a:bodyPr vert="horz" wrap="square" lIns="0" tIns="0" rIns="0" bIns="0" rtlCol="0" anchor="t"/>
          <a:lstStyle/>
          <a:p>
            <a:pPr marL="0" indent="0" algn="ctr">
              <a:lnSpc>
                <a:spcPts val="1800"/>
              </a:lnSpc>
              <a:buNone/>
            </a:pPr>
            <a:r>
              <a:rPr lang="en-US" sz="1200" i="1" dirty="0">
                <a:solidFill>
                  <a:srgbClr val="4B5563"/>
                </a:solidFill>
                <a:latin typeface="ui-sans-serif" pitchFamily="34" charset="0"/>
                <a:ea typeface="ui-sans-serif" pitchFamily="34" charset="-122"/>
                <a:cs typeface="ui-sans-serif" pitchFamily="34" charset="-120"/>
              </a:rPr>
              <a:t>"Amazon ECS is a highly scalable, fast, container management service that supports Docker containers and allows you to easily run applications in a managed cluster."</a:t>
            </a:r>
            <a:endParaRPr lang="en-US" sz="1200" dirty="0"/>
          </a:p>
        </p:txBody>
      </p:sp>
      <p:sp>
        <p:nvSpPr>
          <p:cNvPr id="25" name="Text 12"/>
          <p:cNvSpPr/>
          <p:nvPr/>
        </p:nvSpPr>
        <p:spPr>
          <a:xfrm>
            <a:off x="838200" y="6477000"/>
            <a:ext cx="82956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ECS</a:t>
            </a:r>
            <a:endParaRPr lang="en-US" sz="1200" dirty="0"/>
          </a:p>
        </p:txBody>
      </p:sp>
      <p:sp>
        <p:nvSpPr>
          <p:cNvPr id="26" name="Text 13"/>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40/61</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924800" cy="1143000"/>
          </a:xfrm>
          <a:prstGeom prst="rect">
            <a:avLst/>
          </a:prstGeom>
        </p:spPr>
      </p:pic>
      <p:pic>
        <p:nvPicPr>
          <p:cNvPr id="7" name="Image 5" descr="preencoded.png"/>
          <p:cNvPicPr>
            <a:picLocks noChangeAspect="1"/>
          </p:cNvPicPr>
          <p:nvPr/>
        </p:nvPicPr>
        <p:blipFill>
          <a:blip r:embed="rId7"/>
          <a:stretch>
            <a:fillRect/>
          </a:stretch>
        </p:blipFill>
        <p:spPr>
          <a:xfrm>
            <a:off x="609600" y="2981325"/>
            <a:ext cx="171450" cy="171450"/>
          </a:xfrm>
          <a:prstGeom prst="rect">
            <a:avLst/>
          </a:prstGeom>
        </p:spPr>
      </p:pic>
      <p:pic>
        <p:nvPicPr>
          <p:cNvPr id="8" name="Image 6" descr="preencoded.png"/>
          <p:cNvPicPr>
            <a:picLocks noChangeAspect="1"/>
          </p:cNvPicPr>
          <p:nvPr/>
        </p:nvPicPr>
        <p:blipFill>
          <a:blip r:embed="rId7"/>
          <a:stretch>
            <a:fillRect/>
          </a:stretch>
        </p:blipFill>
        <p:spPr>
          <a:xfrm>
            <a:off x="609600" y="3667125"/>
            <a:ext cx="171450" cy="171450"/>
          </a:xfrm>
          <a:prstGeom prst="rect">
            <a:avLst/>
          </a:prstGeom>
        </p:spPr>
      </p:pic>
      <p:pic>
        <p:nvPicPr>
          <p:cNvPr id="9" name="Image 7" descr="preencoded.png"/>
          <p:cNvPicPr>
            <a:picLocks noChangeAspect="1"/>
          </p:cNvPicPr>
          <p:nvPr/>
        </p:nvPicPr>
        <p:blipFill>
          <a:blip r:embed="rId7"/>
          <a:stretch>
            <a:fillRect/>
          </a:stretch>
        </p:blipFill>
        <p:spPr>
          <a:xfrm>
            <a:off x="609600" y="4352925"/>
            <a:ext cx="171450" cy="171450"/>
          </a:xfrm>
          <a:prstGeom prst="rect">
            <a:avLst/>
          </a:prstGeom>
        </p:spPr>
      </p:pic>
      <p:pic>
        <p:nvPicPr>
          <p:cNvPr id="10" name="Image 8" descr="preencoded.png"/>
          <p:cNvPicPr>
            <a:picLocks noChangeAspect="1"/>
          </p:cNvPicPr>
          <p:nvPr/>
        </p:nvPicPr>
        <p:blipFill>
          <a:blip r:embed="rId8"/>
          <a:stretch>
            <a:fillRect/>
          </a:stretch>
        </p:blipFill>
        <p:spPr>
          <a:xfrm>
            <a:off x="9867900" y="2409825"/>
            <a:ext cx="685800" cy="685800"/>
          </a:xfrm>
          <a:prstGeom prst="rect">
            <a:avLst/>
          </a:prstGeom>
        </p:spPr>
      </p:pic>
      <p:pic>
        <p:nvPicPr>
          <p:cNvPr id="11" name="Image 9" descr="preencoded.png"/>
          <p:cNvPicPr>
            <a:picLocks noChangeAspect="1"/>
          </p:cNvPicPr>
          <p:nvPr/>
        </p:nvPicPr>
        <p:blipFill>
          <a:blip r:embed="rId9"/>
          <a:stretch>
            <a:fillRect/>
          </a:stretch>
        </p:blipFill>
        <p:spPr>
          <a:xfrm>
            <a:off x="8877598" y="3324225"/>
            <a:ext cx="2666405" cy="1485900"/>
          </a:xfrm>
          <a:prstGeom prst="rect">
            <a:avLst/>
          </a:prstGeom>
        </p:spPr>
      </p:pic>
      <p:pic>
        <p:nvPicPr>
          <p:cNvPr id="12" name="Image 10" descr="preencoded.png"/>
          <p:cNvPicPr>
            <a:picLocks noChangeAspect="1"/>
          </p:cNvPicPr>
          <p:nvPr/>
        </p:nvPicPr>
        <p:blipFill>
          <a:blip r:embed="rId10"/>
          <a:stretch>
            <a:fillRect/>
          </a:stretch>
        </p:blipFill>
        <p:spPr>
          <a:xfrm>
            <a:off x="9029998" y="3857625"/>
            <a:ext cx="171450" cy="152400"/>
          </a:xfrm>
          <a:prstGeom prst="rect">
            <a:avLst/>
          </a:prstGeom>
        </p:spPr>
      </p:pic>
      <p:pic>
        <p:nvPicPr>
          <p:cNvPr id="13" name="Image 11" descr="preencoded.png"/>
          <p:cNvPicPr>
            <a:picLocks noChangeAspect="1"/>
          </p:cNvPicPr>
          <p:nvPr/>
        </p:nvPicPr>
        <p:blipFill>
          <a:blip r:embed="rId10"/>
          <a:stretch>
            <a:fillRect/>
          </a:stretch>
        </p:blipFill>
        <p:spPr>
          <a:xfrm>
            <a:off x="9029998" y="4162425"/>
            <a:ext cx="171450" cy="152400"/>
          </a:xfrm>
          <a:prstGeom prst="rect">
            <a:avLst/>
          </a:prstGeom>
        </p:spPr>
      </p:pic>
      <p:pic>
        <p:nvPicPr>
          <p:cNvPr id="14" name="Image 12" descr="preencoded.png"/>
          <p:cNvPicPr>
            <a:picLocks noChangeAspect="1"/>
          </p:cNvPicPr>
          <p:nvPr/>
        </p:nvPicPr>
        <p:blipFill>
          <a:blip r:embed="rId10"/>
          <a:stretch>
            <a:fillRect/>
          </a:stretch>
        </p:blipFill>
        <p:spPr>
          <a:xfrm>
            <a:off x="9029998" y="4467225"/>
            <a:ext cx="171450" cy="152400"/>
          </a:xfrm>
          <a:prstGeom prst="rect">
            <a:avLst/>
          </a:prstGeom>
        </p:spPr>
      </p:pic>
      <p:pic>
        <p:nvPicPr>
          <p:cNvPr id="15" name="Image 13" descr="preencoded.png"/>
          <p:cNvPicPr>
            <a:picLocks noChangeAspect="1"/>
          </p:cNvPicPr>
          <p:nvPr/>
        </p:nvPicPr>
        <p:blipFill>
          <a:blip r:embed="rId11"/>
          <a:stretch>
            <a:fillRect/>
          </a:stretch>
        </p:blipFill>
        <p:spPr>
          <a:xfrm>
            <a:off x="609600" y="6515100"/>
            <a:ext cx="190500" cy="152400"/>
          </a:xfrm>
          <a:prstGeom prst="rect">
            <a:avLst/>
          </a:prstGeom>
        </p:spPr>
      </p:pic>
      <p:sp>
        <p:nvSpPr>
          <p:cNvPr id="16"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20</a:t>
            </a:r>
            <a:endParaRPr lang="en-US" sz="1200" dirty="0"/>
          </a:p>
        </p:txBody>
      </p:sp>
      <p:sp>
        <p:nvSpPr>
          <p:cNvPr id="17" name="Text 1"/>
          <p:cNvSpPr/>
          <p:nvPr/>
        </p:nvSpPr>
        <p:spPr>
          <a:xfrm>
            <a:off x="1143000" y="304800"/>
            <a:ext cx="440555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Amazon ECS Definition</a:t>
            </a:r>
            <a:endParaRPr lang="en-US" sz="2250" dirty="0"/>
          </a:p>
        </p:txBody>
      </p:sp>
      <p:sp>
        <p:nvSpPr>
          <p:cNvPr id="18" name="Text 2"/>
          <p:cNvSpPr/>
          <p:nvPr/>
        </p:nvSpPr>
        <p:spPr>
          <a:xfrm>
            <a:off x="838200" y="1276350"/>
            <a:ext cx="1226790" cy="5334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Correct Answer:</a:t>
            </a:r>
            <a:endParaRPr lang="en-US" sz="1500" dirty="0"/>
          </a:p>
        </p:txBody>
      </p:sp>
      <p:sp>
        <p:nvSpPr>
          <p:cNvPr id="19" name="Text 3"/>
          <p:cNvSpPr/>
          <p:nvPr/>
        </p:nvSpPr>
        <p:spPr>
          <a:xfrm>
            <a:off x="2179290" y="1276350"/>
            <a:ext cx="6126510" cy="5334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C. A highly scalable, fast, container management service that supports Docker containers.</a:t>
            </a:r>
            <a:endParaRPr lang="en-US" sz="1500" dirty="0"/>
          </a:p>
        </p:txBody>
      </p:sp>
      <p:sp>
        <p:nvSpPr>
          <p:cNvPr id="20" name="Text 4"/>
          <p:cNvSpPr/>
          <p:nvPr/>
        </p:nvSpPr>
        <p:spPr>
          <a:xfrm>
            <a:off x="609600" y="2495550"/>
            <a:ext cx="7924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1" name="Text 5"/>
          <p:cNvSpPr/>
          <p:nvPr/>
        </p:nvSpPr>
        <p:spPr>
          <a:xfrm>
            <a:off x="857250" y="2952750"/>
            <a:ext cx="79248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 Amazon ECS is a </a:t>
            </a:r>
            <a:r>
              <a:rPr lang="en-US" sz="1350" b="1" dirty="0">
                <a:solidFill>
                  <a:srgbClr val="FF6B6B"/>
                </a:solidFill>
                <a:latin typeface="ui-sans-serif" pitchFamily="34" charset="0"/>
                <a:ea typeface="ui-sans-serif" pitchFamily="34" charset="-122"/>
                <a:cs typeface="ui-sans-serif" pitchFamily="34" charset="-120"/>
              </a:rPr>
              <a:t>highly scalable</a:t>
            </a:r>
            <a:r>
              <a:rPr lang="en-US" sz="1350" dirty="0">
                <a:solidFill>
                  <a:srgbClr val="374151"/>
                </a:solidFill>
                <a:latin typeface="ui-sans-serif" pitchFamily="34" charset="0"/>
                <a:ea typeface="ui-sans-serif" pitchFamily="34" charset="-122"/>
                <a:cs typeface="ui-sans-serif" pitchFamily="34" charset="-120"/>
              </a:rPr>
              <a:t>, fast, container management service that supports Docker containers and allows you to easily run applications in a managed cluster.</a:t>
            </a:r>
            <a:endParaRPr lang="en-US" sz="1350" dirty="0"/>
          </a:p>
        </p:txBody>
      </p:sp>
      <p:sp>
        <p:nvSpPr>
          <p:cNvPr id="22" name="Text 6"/>
          <p:cNvSpPr/>
          <p:nvPr/>
        </p:nvSpPr>
        <p:spPr>
          <a:xfrm>
            <a:off x="857250" y="3638550"/>
            <a:ext cx="79248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 It handles the complexity of setting up and managing container orchestration platforms, making it easier to deploy and scale containerized applications.</a:t>
            </a:r>
            <a:endParaRPr lang="en-US" sz="1350" dirty="0"/>
          </a:p>
        </p:txBody>
      </p:sp>
      <p:sp>
        <p:nvSpPr>
          <p:cNvPr id="23" name="Text 7"/>
          <p:cNvSpPr/>
          <p:nvPr/>
        </p:nvSpPr>
        <p:spPr>
          <a:xfrm>
            <a:off x="857250" y="4324350"/>
            <a:ext cx="7924800"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 As a fully managed service, ECS abstracts away the underlying infrastructure, allowing developers to focus on building and running applications instead of managing the container infrastructure.</a:t>
            </a:r>
            <a:endParaRPr lang="en-US" sz="1350" dirty="0"/>
          </a:p>
        </p:txBody>
      </p:sp>
      <p:sp>
        <p:nvSpPr>
          <p:cNvPr id="24" name="Text 8"/>
          <p:cNvSpPr/>
          <p:nvPr/>
        </p:nvSpPr>
        <p:spPr>
          <a:xfrm>
            <a:off x="9029998" y="3476625"/>
            <a:ext cx="2361605"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Key Points:</a:t>
            </a:r>
            <a:endParaRPr lang="en-US" sz="1350" dirty="0"/>
          </a:p>
        </p:txBody>
      </p:sp>
      <p:sp>
        <p:nvSpPr>
          <p:cNvPr id="25" name="Text 9"/>
          <p:cNvSpPr/>
          <p:nvPr/>
        </p:nvSpPr>
        <p:spPr>
          <a:xfrm>
            <a:off x="9277648" y="3819525"/>
            <a:ext cx="248048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Managed container service</a:t>
            </a:r>
            <a:endParaRPr lang="en-US" sz="1200" dirty="0"/>
          </a:p>
        </p:txBody>
      </p:sp>
      <p:sp>
        <p:nvSpPr>
          <p:cNvPr id="26" name="Text 10"/>
          <p:cNvSpPr/>
          <p:nvPr/>
        </p:nvSpPr>
        <p:spPr>
          <a:xfrm>
            <a:off x="9277648" y="4124325"/>
            <a:ext cx="253674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Supports Docker containers</a:t>
            </a:r>
            <a:endParaRPr lang="en-US" sz="1200" dirty="0"/>
          </a:p>
        </p:txBody>
      </p:sp>
      <p:sp>
        <p:nvSpPr>
          <p:cNvPr id="27" name="Text 11"/>
          <p:cNvSpPr/>
          <p:nvPr/>
        </p:nvSpPr>
        <p:spPr>
          <a:xfrm>
            <a:off x="9277648" y="4429125"/>
            <a:ext cx="193238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Cluster management</a:t>
            </a:r>
            <a:endParaRPr lang="en-US" sz="1200" dirty="0"/>
          </a:p>
        </p:txBody>
      </p:sp>
      <p:sp>
        <p:nvSpPr>
          <p:cNvPr id="28" name="Text 12"/>
          <p:cNvSpPr/>
          <p:nvPr/>
        </p:nvSpPr>
        <p:spPr>
          <a:xfrm>
            <a:off x="876300" y="6477000"/>
            <a:ext cx="82956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ECS</a:t>
            </a:r>
            <a:endParaRPr lang="en-US" sz="1200" dirty="0"/>
          </a:p>
        </p:txBody>
      </p:sp>
      <p:sp>
        <p:nvSpPr>
          <p:cNvPr id="29" name="Text 13"/>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41/61</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13716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1371600"/>
          </a:xfrm>
          <a:prstGeom prst="rect">
            <a:avLst/>
          </a:prstGeom>
        </p:spPr>
      </p:pic>
      <p:pic>
        <p:nvPicPr>
          <p:cNvPr id="8" name="Image 6" descr="preencoded.png"/>
          <p:cNvPicPr>
            <a:picLocks noChangeAspect="1"/>
          </p:cNvPicPr>
          <p:nvPr/>
        </p:nvPicPr>
        <p:blipFill>
          <a:blip r:embed="rId6"/>
          <a:stretch>
            <a:fillRect/>
          </a:stretch>
        </p:blipFill>
        <p:spPr>
          <a:xfrm>
            <a:off x="609600" y="3562350"/>
            <a:ext cx="3848100" cy="1371600"/>
          </a:xfrm>
          <a:prstGeom prst="rect">
            <a:avLst/>
          </a:prstGeom>
        </p:spPr>
      </p:pic>
      <p:pic>
        <p:nvPicPr>
          <p:cNvPr id="9" name="Image 7" descr="preencoded.png"/>
          <p:cNvPicPr>
            <a:picLocks noChangeAspect="1"/>
          </p:cNvPicPr>
          <p:nvPr/>
        </p:nvPicPr>
        <p:blipFill>
          <a:blip r:embed="rId7"/>
          <a:stretch>
            <a:fillRect/>
          </a:stretch>
        </p:blipFill>
        <p:spPr>
          <a:xfrm>
            <a:off x="4686300" y="3562350"/>
            <a:ext cx="3848100" cy="1371600"/>
          </a:xfrm>
          <a:prstGeom prst="rect">
            <a:avLst/>
          </a:prstGeom>
        </p:spPr>
      </p:pic>
      <p:pic>
        <p:nvPicPr>
          <p:cNvPr id="10" name="Image 8" descr="preencoded.png"/>
          <p:cNvPicPr>
            <a:picLocks noChangeAspect="1"/>
          </p:cNvPicPr>
          <p:nvPr/>
        </p:nvPicPr>
        <p:blipFill>
          <a:blip r:embed="rId8"/>
          <a:stretch>
            <a:fillRect/>
          </a:stretch>
        </p:blipFill>
        <p:spPr>
          <a:xfrm>
            <a:off x="8839200" y="1876425"/>
            <a:ext cx="2743200" cy="1524000"/>
          </a:xfrm>
          <a:prstGeom prst="rect">
            <a:avLst/>
          </a:prstGeom>
        </p:spPr>
      </p:pic>
      <p:pic>
        <p:nvPicPr>
          <p:cNvPr id="11" name="Image 9" descr="preencoded.png"/>
          <p:cNvPicPr>
            <a:picLocks noChangeAspect="1"/>
          </p:cNvPicPr>
          <p:nvPr/>
        </p:nvPicPr>
        <p:blipFill>
          <a:blip r:embed="rId9"/>
          <a:stretch>
            <a:fillRect/>
          </a:stretch>
        </p:blipFill>
        <p:spPr>
          <a:xfrm>
            <a:off x="8991600" y="2028825"/>
            <a:ext cx="285750" cy="342900"/>
          </a:xfrm>
          <a:prstGeom prst="rect">
            <a:avLst/>
          </a:prstGeom>
        </p:spPr>
      </p:pic>
      <p:pic>
        <p:nvPicPr>
          <p:cNvPr id="12" name="Image 10" descr="preencoded.png"/>
          <p:cNvPicPr>
            <a:picLocks noChangeAspect="1"/>
          </p:cNvPicPr>
          <p:nvPr/>
        </p:nvPicPr>
        <p:blipFill>
          <a:blip r:embed="rId10"/>
          <a:stretch>
            <a:fillRect/>
          </a:stretch>
        </p:blipFill>
        <p:spPr>
          <a:xfrm>
            <a:off x="9067800" y="2524125"/>
            <a:ext cx="152400" cy="152400"/>
          </a:xfrm>
          <a:prstGeom prst="rect">
            <a:avLst/>
          </a:prstGeom>
        </p:spPr>
      </p:pic>
      <p:pic>
        <p:nvPicPr>
          <p:cNvPr id="13" name="Image 11" descr="preencoded.png"/>
          <p:cNvPicPr>
            <a:picLocks noChangeAspect="1"/>
          </p:cNvPicPr>
          <p:nvPr/>
        </p:nvPicPr>
        <p:blipFill>
          <a:blip r:embed="rId10"/>
          <a:stretch>
            <a:fillRect/>
          </a:stretch>
        </p:blipFill>
        <p:spPr>
          <a:xfrm>
            <a:off x="9067800" y="3057525"/>
            <a:ext cx="152400" cy="152400"/>
          </a:xfrm>
          <a:prstGeom prst="rect">
            <a:avLst/>
          </a:prstGeom>
        </p:spPr>
      </p:pic>
      <p:pic>
        <p:nvPicPr>
          <p:cNvPr id="14" name="Image 12" descr="preencoded.png"/>
          <p:cNvPicPr>
            <a:picLocks noChangeAspect="1"/>
          </p:cNvPicPr>
          <p:nvPr/>
        </p:nvPicPr>
        <p:blipFill>
          <a:blip r:embed="rId11"/>
          <a:stretch>
            <a:fillRect/>
          </a:stretch>
        </p:blipFill>
        <p:spPr>
          <a:xfrm>
            <a:off x="8839200" y="3629025"/>
            <a:ext cx="2743200" cy="1714500"/>
          </a:xfrm>
          <a:prstGeom prst="rect">
            <a:avLst/>
          </a:prstGeom>
        </p:spPr>
      </p:pic>
      <p:pic>
        <p:nvPicPr>
          <p:cNvPr id="15" name="Image 13" descr="preencoded.png"/>
          <p:cNvPicPr>
            <a:picLocks noChangeAspect="1"/>
          </p:cNvPicPr>
          <p:nvPr/>
        </p:nvPicPr>
        <p:blipFill>
          <a:blip r:embed="rId12"/>
          <a:stretch>
            <a:fillRect/>
          </a:stretch>
        </p:blipFill>
        <p:spPr>
          <a:xfrm>
            <a:off x="8991600" y="3876675"/>
            <a:ext cx="361950" cy="342900"/>
          </a:xfrm>
          <a:prstGeom prst="rect">
            <a:avLst/>
          </a:prstGeom>
        </p:spPr>
      </p:pic>
      <p:pic>
        <p:nvPicPr>
          <p:cNvPr id="16" name="Image 14" descr="preencoded.png"/>
          <p:cNvPicPr>
            <a:picLocks noChangeAspect="1"/>
          </p:cNvPicPr>
          <p:nvPr/>
        </p:nvPicPr>
        <p:blipFill>
          <a:blip r:embed="rId13"/>
          <a:stretch>
            <a:fillRect/>
          </a:stretch>
        </p:blipFill>
        <p:spPr>
          <a:xfrm>
            <a:off x="9067800" y="4467225"/>
            <a:ext cx="152400" cy="152400"/>
          </a:xfrm>
          <a:prstGeom prst="rect">
            <a:avLst/>
          </a:prstGeom>
        </p:spPr>
      </p:pic>
      <p:pic>
        <p:nvPicPr>
          <p:cNvPr id="17" name="Image 15" descr="preencoded.png"/>
          <p:cNvPicPr>
            <a:picLocks noChangeAspect="1"/>
          </p:cNvPicPr>
          <p:nvPr/>
        </p:nvPicPr>
        <p:blipFill>
          <a:blip r:embed="rId13"/>
          <a:stretch>
            <a:fillRect/>
          </a:stretch>
        </p:blipFill>
        <p:spPr>
          <a:xfrm>
            <a:off x="9067800" y="5000625"/>
            <a:ext cx="152400" cy="152400"/>
          </a:xfrm>
          <a:prstGeom prst="rect">
            <a:avLst/>
          </a:prstGeom>
        </p:spPr>
      </p:pic>
      <p:pic>
        <p:nvPicPr>
          <p:cNvPr id="18" name="Image 16" descr="preencoded.png"/>
          <p:cNvPicPr>
            <a:picLocks noChangeAspect="1"/>
          </p:cNvPicPr>
          <p:nvPr/>
        </p:nvPicPr>
        <p:blipFill>
          <a:blip r:embed="rId14"/>
          <a:stretch>
            <a:fillRect/>
          </a:stretch>
        </p:blipFill>
        <p:spPr>
          <a:xfrm>
            <a:off x="609600" y="6515100"/>
            <a:ext cx="152400" cy="152400"/>
          </a:xfrm>
          <a:prstGeom prst="rect">
            <a:avLst/>
          </a:prstGeom>
        </p:spPr>
      </p:pic>
      <p:sp>
        <p:nvSpPr>
          <p:cNvPr id="19"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21</a:t>
            </a:r>
            <a:endParaRPr lang="en-US" sz="1200" dirty="0"/>
          </a:p>
        </p:txBody>
      </p:sp>
      <p:sp>
        <p:nvSpPr>
          <p:cNvPr id="20" name="Text 1"/>
          <p:cNvSpPr/>
          <p:nvPr/>
        </p:nvSpPr>
        <p:spPr>
          <a:xfrm>
            <a:off x="1143000" y="304800"/>
            <a:ext cx="557587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Launch Types Difference</a:t>
            </a:r>
            <a:endParaRPr lang="en-US" sz="2250" dirty="0"/>
          </a:p>
        </p:txBody>
      </p:sp>
      <p:sp>
        <p:nvSpPr>
          <p:cNvPr id="21"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a key difference between the EC2 and Fargate launch types in AWS ECS?</a:t>
            </a:r>
            <a:endParaRPr lang="en-US" sz="1800" dirty="0"/>
          </a:p>
        </p:txBody>
      </p:sp>
      <p:sp>
        <p:nvSpPr>
          <p:cNvPr id="22"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3" name="Text 4"/>
          <p:cNvSpPr/>
          <p:nvPr/>
        </p:nvSpPr>
        <p:spPr>
          <a:xfrm>
            <a:off x="1099691" y="2114550"/>
            <a:ext cx="3205609"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EC2 launch type is serverless, while Fargate requires managing EC2 instances.</a:t>
            </a:r>
            <a:endParaRPr lang="en-US" sz="1350" dirty="0"/>
          </a:p>
        </p:txBody>
      </p:sp>
      <p:sp>
        <p:nvSpPr>
          <p:cNvPr id="24"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5" name="Text 6"/>
          <p:cNvSpPr/>
          <p:nvPr/>
        </p:nvSpPr>
        <p:spPr>
          <a:xfrm>
            <a:off x="5170587" y="2114550"/>
            <a:ext cx="3211413" cy="10668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Fargate allows users to manage the underlying EC2 instances, while EC2 launch type is fully managed by AWS.</a:t>
            </a:r>
            <a:endParaRPr lang="en-US" sz="1350" dirty="0"/>
          </a:p>
        </p:txBody>
      </p:sp>
      <p:sp>
        <p:nvSpPr>
          <p:cNvPr id="26" name="Text 7"/>
          <p:cNvSpPr/>
          <p:nvPr/>
        </p:nvSpPr>
        <p:spPr>
          <a:xfrm>
            <a:off x="762000" y="37147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7" name="Text 8"/>
          <p:cNvSpPr/>
          <p:nvPr/>
        </p:nvSpPr>
        <p:spPr>
          <a:xfrm>
            <a:off x="1088529" y="3714750"/>
            <a:ext cx="3216771" cy="10668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EC2 launch type requires users to provision and administer the instances, while Fargate manages the infrastructure for the user.</a:t>
            </a:r>
            <a:endParaRPr lang="en-US" sz="1350" dirty="0"/>
          </a:p>
        </p:txBody>
      </p:sp>
      <p:sp>
        <p:nvSpPr>
          <p:cNvPr id="28" name="Text 9"/>
          <p:cNvSpPr/>
          <p:nvPr/>
        </p:nvSpPr>
        <p:spPr>
          <a:xfrm>
            <a:off x="4838700" y="37147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9" name="Text 10"/>
          <p:cNvSpPr/>
          <p:nvPr/>
        </p:nvSpPr>
        <p:spPr>
          <a:xfrm>
            <a:off x="5183535" y="3714750"/>
            <a:ext cx="3198465"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Fargate is only for Windows containers, while EC2 supports Linux containers.</a:t>
            </a:r>
            <a:endParaRPr lang="en-US" sz="1350" dirty="0"/>
          </a:p>
        </p:txBody>
      </p:sp>
      <p:sp>
        <p:nvSpPr>
          <p:cNvPr id="30" name="Text 11"/>
          <p:cNvSpPr/>
          <p:nvPr/>
        </p:nvSpPr>
        <p:spPr>
          <a:xfrm>
            <a:off x="9391650" y="2066925"/>
            <a:ext cx="2162413"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EC2 Launch Type</a:t>
            </a:r>
            <a:endParaRPr lang="en-US" sz="1500" dirty="0"/>
          </a:p>
        </p:txBody>
      </p:sp>
      <p:sp>
        <p:nvSpPr>
          <p:cNvPr id="31" name="Text 12"/>
          <p:cNvSpPr/>
          <p:nvPr/>
        </p:nvSpPr>
        <p:spPr>
          <a:xfrm>
            <a:off x="9296400" y="2486025"/>
            <a:ext cx="21336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Users manage EC2 instances</a:t>
            </a:r>
            <a:endParaRPr lang="en-US" sz="1200" dirty="0"/>
          </a:p>
        </p:txBody>
      </p:sp>
      <p:sp>
        <p:nvSpPr>
          <p:cNvPr id="32" name="Text 13"/>
          <p:cNvSpPr/>
          <p:nvPr/>
        </p:nvSpPr>
        <p:spPr>
          <a:xfrm>
            <a:off x="9296400" y="3019425"/>
            <a:ext cx="178897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Full control over OS</a:t>
            </a:r>
            <a:endParaRPr lang="en-US" sz="1200" dirty="0"/>
          </a:p>
        </p:txBody>
      </p:sp>
      <p:sp>
        <p:nvSpPr>
          <p:cNvPr id="33" name="Text 14"/>
          <p:cNvSpPr/>
          <p:nvPr/>
        </p:nvSpPr>
        <p:spPr>
          <a:xfrm>
            <a:off x="9467850" y="3781425"/>
            <a:ext cx="1962150" cy="5334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Fargate Launch Type</a:t>
            </a:r>
            <a:endParaRPr lang="en-US" sz="1500" dirty="0"/>
          </a:p>
        </p:txBody>
      </p:sp>
      <p:sp>
        <p:nvSpPr>
          <p:cNvPr id="34" name="Text 15"/>
          <p:cNvSpPr/>
          <p:nvPr/>
        </p:nvSpPr>
        <p:spPr>
          <a:xfrm>
            <a:off x="9296400" y="4429125"/>
            <a:ext cx="21336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AWS manages infrastructure</a:t>
            </a:r>
            <a:endParaRPr lang="en-US" sz="1200" dirty="0"/>
          </a:p>
        </p:txBody>
      </p:sp>
      <p:sp>
        <p:nvSpPr>
          <p:cNvPr id="35" name="Text 16"/>
          <p:cNvSpPr/>
          <p:nvPr/>
        </p:nvSpPr>
        <p:spPr>
          <a:xfrm>
            <a:off x="9296400" y="4962525"/>
            <a:ext cx="190291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Serverless execution</a:t>
            </a:r>
            <a:endParaRPr lang="en-US" sz="1200" dirty="0"/>
          </a:p>
        </p:txBody>
      </p:sp>
      <p:sp>
        <p:nvSpPr>
          <p:cNvPr id="36" name="Text 17"/>
          <p:cNvSpPr/>
          <p:nvPr/>
        </p:nvSpPr>
        <p:spPr>
          <a:xfrm>
            <a:off x="838200" y="6477000"/>
            <a:ext cx="359331"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ECS</a:t>
            </a:r>
            <a:endParaRPr lang="en-US" sz="1200" dirty="0"/>
          </a:p>
        </p:txBody>
      </p:sp>
      <p:sp>
        <p:nvSpPr>
          <p:cNvPr id="37" name="Text 18"/>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42/61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971550"/>
            <a:ext cx="10972800" cy="685800"/>
          </a:xfrm>
          <a:prstGeom prst="rect">
            <a:avLst/>
          </a:prstGeom>
        </p:spPr>
      </p:pic>
      <p:pic>
        <p:nvPicPr>
          <p:cNvPr id="7" name="Image 5" descr="preencoded.png"/>
          <p:cNvPicPr>
            <a:picLocks noChangeAspect="1"/>
          </p:cNvPicPr>
          <p:nvPr/>
        </p:nvPicPr>
        <p:blipFill>
          <a:blip r:embed="rId7"/>
          <a:stretch>
            <a:fillRect/>
          </a:stretch>
        </p:blipFill>
        <p:spPr>
          <a:xfrm>
            <a:off x="762000" y="1181100"/>
            <a:ext cx="782836" cy="266700"/>
          </a:xfrm>
          <a:prstGeom prst="rect">
            <a:avLst/>
          </a:prstGeom>
        </p:spPr>
      </p:pic>
      <p:pic>
        <p:nvPicPr>
          <p:cNvPr id="8" name="Image 6" descr="preencoded.png"/>
          <p:cNvPicPr>
            <a:picLocks noChangeAspect="1"/>
          </p:cNvPicPr>
          <p:nvPr/>
        </p:nvPicPr>
        <p:blipFill>
          <a:blip r:embed="rId8"/>
          <a:stretch>
            <a:fillRect/>
          </a:stretch>
        </p:blipFill>
        <p:spPr>
          <a:xfrm>
            <a:off x="609600" y="4210050"/>
            <a:ext cx="5372100" cy="1828800"/>
          </a:xfrm>
          <a:prstGeom prst="rect">
            <a:avLst/>
          </a:prstGeom>
        </p:spPr>
      </p:pic>
      <p:pic>
        <p:nvPicPr>
          <p:cNvPr id="9" name="Image 7" descr="preencoded.png"/>
          <p:cNvPicPr>
            <a:picLocks noChangeAspect="1"/>
          </p:cNvPicPr>
          <p:nvPr/>
        </p:nvPicPr>
        <p:blipFill>
          <a:blip r:embed="rId9"/>
          <a:stretch>
            <a:fillRect/>
          </a:stretch>
        </p:blipFill>
        <p:spPr>
          <a:xfrm>
            <a:off x="800100" y="4400550"/>
            <a:ext cx="457200" cy="457200"/>
          </a:xfrm>
          <a:prstGeom prst="rect">
            <a:avLst/>
          </a:prstGeom>
        </p:spPr>
      </p:pic>
      <p:pic>
        <p:nvPicPr>
          <p:cNvPr id="10" name="Image 8" descr="preencoded.png"/>
          <p:cNvPicPr>
            <a:picLocks noChangeAspect="1"/>
          </p:cNvPicPr>
          <p:nvPr/>
        </p:nvPicPr>
        <p:blipFill>
          <a:blip r:embed="rId10"/>
          <a:stretch>
            <a:fillRect/>
          </a:stretch>
        </p:blipFill>
        <p:spPr>
          <a:xfrm>
            <a:off x="885825" y="4476750"/>
            <a:ext cx="285750" cy="304800"/>
          </a:xfrm>
          <a:prstGeom prst="rect">
            <a:avLst/>
          </a:prstGeom>
        </p:spPr>
      </p:pic>
      <p:pic>
        <p:nvPicPr>
          <p:cNvPr id="11" name="Image 9" descr="preencoded.png"/>
          <p:cNvPicPr>
            <a:picLocks noChangeAspect="1"/>
          </p:cNvPicPr>
          <p:nvPr/>
        </p:nvPicPr>
        <p:blipFill>
          <a:blip r:embed="rId11"/>
          <a:stretch>
            <a:fillRect/>
          </a:stretch>
        </p:blipFill>
        <p:spPr>
          <a:xfrm>
            <a:off x="800100" y="5048250"/>
            <a:ext cx="152400" cy="152400"/>
          </a:xfrm>
          <a:prstGeom prst="rect">
            <a:avLst/>
          </a:prstGeom>
        </p:spPr>
      </p:pic>
      <p:pic>
        <p:nvPicPr>
          <p:cNvPr id="12" name="Image 10" descr="preencoded.png"/>
          <p:cNvPicPr>
            <a:picLocks noChangeAspect="1"/>
          </p:cNvPicPr>
          <p:nvPr/>
        </p:nvPicPr>
        <p:blipFill>
          <a:blip r:embed="rId11"/>
          <a:stretch>
            <a:fillRect/>
          </a:stretch>
        </p:blipFill>
        <p:spPr>
          <a:xfrm>
            <a:off x="800100" y="5353050"/>
            <a:ext cx="152400" cy="152400"/>
          </a:xfrm>
          <a:prstGeom prst="rect">
            <a:avLst/>
          </a:prstGeom>
        </p:spPr>
      </p:pic>
      <p:pic>
        <p:nvPicPr>
          <p:cNvPr id="13" name="Image 11" descr="preencoded.png"/>
          <p:cNvPicPr>
            <a:picLocks noChangeAspect="1"/>
          </p:cNvPicPr>
          <p:nvPr/>
        </p:nvPicPr>
        <p:blipFill>
          <a:blip r:embed="rId11"/>
          <a:stretch>
            <a:fillRect/>
          </a:stretch>
        </p:blipFill>
        <p:spPr>
          <a:xfrm>
            <a:off x="800100" y="5657850"/>
            <a:ext cx="152400" cy="152400"/>
          </a:xfrm>
          <a:prstGeom prst="rect">
            <a:avLst/>
          </a:prstGeom>
        </p:spPr>
      </p:pic>
      <p:pic>
        <p:nvPicPr>
          <p:cNvPr id="14" name="Image 12" descr="preencoded.png"/>
          <p:cNvPicPr>
            <a:picLocks noChangeAspect="1"/>
          </p:cNvPicPr>
          <p:nvPr/>
        </p:nvPicPr>
        <p:blipFill>
          <a:blip r:embed="rId8"/>
          <a:stretch>
            <a:fillRect/>
          </a:stretch>
        </p:blipFill>
        <p:spPr>
          <a:xfrm>
            <a:off x="6210300" y="4210050"/>
            <a:ext cx="5372100" cy="1828800"/>
          </a:xfrm>
          <a:prstGeom prst="rect">
            <a:avLst/>
          </a:prstGeom>
        </p:spPr>
      </p:pic>
      <p:pic>
        <p:nvPicPr>
          <p:cNvPr id="15" name="Image 13" descr="preencoded.png"/>
          <p:cNvPicPr>
            <a:picLocks noChangeAspect="1"/>
          </p:cNvPicPr>
          <p:nvPr/>
        </p:nvPicPr>
        <p:blipFill>
          <a:blip r:embed="rId12"/>
          <a:stretch>
            <a:fillRect/>
          </a:stretch>
        </p:blipFill>
        <p:spPr>
          <a:xfrm>
            <a:off x="6400800" y="4400550"/>
            <a:ext cx="457200" cy="457200"/>
          </a:xfrm>
          <a:prstGeom prst="rect">
            <a:avLst/>
          </a:prstGeom>
        </p:spPr>
      </p:pic>
      <p:pic>
        <p:nvPicPr>
          <p:cNvPr id="16" name="Image 14" descr="preencoded.png"/>
          <p:cNvPicPr>
            <a:picLocks noChangeAspect="1"/>
          </p:cNvPicPr>
          <p:nvPr/>
        </p:nvPicPr>
        <p:blipFill>
          <a:blip r:embed="rId13"/>
          <a:stretch>
            <a:fillRect/>
          </a:stretch>
        </p:blipFill>
        <p:spPr>
          <a:xfrm>
            <a:off x="6486525" y="4476750"/>
            <a:ext cx="285750" cy="304800"/>
          </a:xfrm>
          <a:prstGeom prst="rect">
            <a:avLst/>
          </a:prstGeom>
        </p:spPr>
      </p:pic>
      <p:pic>
        <p:nvPicPr>
          <p:cNvPr id="17" name="Image 15" descr="preencoded.png"/>
          <p:cNvPicPr>
            <a:picLocks noChangeAspect="1"/>
          </p:cNvPicPr>
          <p:nvPr/>
        </p:nvPicPr>
        <p:blipFill>
          <a:blip r:embed="rId14"/>
          <a:stretch>
            <a:fillRect/>
          </a:stretch>
        </p:blipFill>
        <p:spPr>
          <a:xfrm>
            <a:off x="6400800" y="5048250"/>
            <a:ext cx="152400" cy="152400"/>
          </a:xfrm>
          <a:prstGeom prst="rect">
            <a:avLst/>
          </a:prstGeom>
        </p:spPr>
      </p:pic>
      <p:pic>
        <p:nvPicPr>
          <p:cNvPr id="18" name="Image 16" descr="preencoded.png"/>
          <p:cNvPicPr>
            <a:picLocks noChangeAspect="1"/>
          </p:cNvPicPr>
          <p:nvPr/>
        </p:nvPicPr>
        <p:blipFill>
          <a:blip r:embed="rId14"/>
          <a:stretch>
            <a:fillRect/>
          </a:stretch>
        </p:blipFill>
        <p:spPr>
          <a:xfrm>
            <a:off x="6400800" y="5353050"/>
            <a:ext cx="152400" cy="152400"/>
          </a:xfrm>
          <a:prstGeom prst="rect">
            <a:avLst/>
          </a:prstGeom>
        </p:spPr>
      </p:pic>
      <p:pic>
        <p:nvPicPr>
          <p:cNvPr id="19" name="Image 17" descr="preencoded.png"/>
          <p:cNvPicPr>
            <a:picLocks noChangeAspect="1"/>
          </p:cNvPicPr>
          <p:nvPr/>
        </p:nvPicPr>
        <p:blipFill>
          <a:blip r:embed="rId14"/>
          <a:stretch>
            <a:fillRect/>
          </a:stretch>
        </p:blipFill>
        <p:spPr>
          <a:xfrm>
            <a:off x="6400800" y="5657850"/>
            <a:ext cx="152400" cy="152400"/>
          </a:xfrm>
          <a:prstGeom prst="rect">
            <a:avLst/>
          </a:prstGeom>
        </p:spPr>
      </p:pic>
      <p:pic>
        <p:nvPicPr>
          <p:cNvPr id="20" name="Image 18" descr="preencoded.png"/>
          <p:cNvPicPr>
            <a:picLocks noChangeAspect="1"/>
          </p:cNvPicPr>
          <p:nvPr/>
        </p:nvPicPr>
        <p:blipFill>
          <a:blip r:embed="rId15"/>
          <a:stretch>
            <a:fillRect/>
          </a:stretch>
        </p:blipFill>
        <p:spPr>
          <a:xfrm>
            <a:off x="609600" y="6515100"/>
            <a:ext cx="152400" cy="152400"/>
          </a:xfrm>
          <a:prstGeom prst="rect">
            <a:avLst/>
          </a:prstGeom>
        </p:spPr>
      </p:pic>
      <p:sp>
        <p:nvSpPr>
          <p:cNvPr id="21"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21</a:t>
            </a:r>
            <a:endParaRPr lang="en-US" sz="1200" dirty="0"/>
          </a:p>
        </p:txBody>
      </p:sp>
      <p:sp>
        <p:nvSpPr>
          <p:cNvPr id="22" name="Text 1"/>
          <p:cNvSpPr/>
          <p:nvPr/>
        </p:nvSpPr>
        <p:spPr>
          <a:xfrm>
            <a:off x="1143000" y="304800"/>
            <a:ext cx="5575875"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Launch Types Difference</a:t>
            </a:r>
            <a:endParaRPr lang="en-US" sz="2250" dirty="0"/>
          </a:p>
        </p:txBody>
      </p:sp>
      <p:sp>
        <p:nvSpPr>
          <p:cNvPr id="23" name="Text 2"/>
          <p:cNvSpPr/>
          <p:nvPr/>
        </p:nvSpPr>
        <p:spPr>
          <a:xfrm>
            <a:off x="876300" y="1181100"/>
            <a:ext cx="939403" cy="266700"/>
          </a:xfrm>
          <a:prstGeom prst="rect">
            <a:avLst/>
          </a:prstGeom>
          <a:noFill/>
          <a:ln/>
        </p:spPr>
        <p:txBody>
          <a:bodyPr vert="horz" wrap="square" lIns="0" tIns="0" rIns="0" bIns="0" rtlCol="0" anchor="t"/>
          <a:lstStyle/>
          <a:p>
            <a:pPr marL="0" indent="0">
              <a:lnSpc>
                <a:spcPts val="1500"/>
              </a:lnSpc>
              <a:buNone/>
            </a:pPr>
            <a:r>
              <a:rPr lang="en-US" sz="1050" b="1" dirty="0">
                <a:solidFill>
                  <a:srgbClr val="FFFFFF"/>
                </a:solidFill>
                <a:latin typeface="ui-sans-serif" pitchFamily="34" charset="0"/>
                <a:ea typeface="ui-sans-serif" pitchFamily="34" charset="-122"/>
                <a:cs typeface="ui-sans-serif" pitchFamily="34" charset="-120"/>
              </a:rPr>
              <a:t>Correct</a:t>
            </a:r>
            <a:endParaRPr lang="en-US" sz="1050" dirty="0"/>
          </a:p>
        </p:txBody>
      </p:sp>
      <p:sp>
        <p:nvSpPr>
          <p:cNvPr id="24" name="Text 3"/>
          <p:cNvSpPr/>
          <p:nvPr/>
        </p:nvSpPr>
        <p:spPr>
          <a:xfrm>
            <a:off x="1659136" y="1047750"/>
            <a:ext cx="9923264" cy="5334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EC2 launch type requires users to provision and administer the instances, while Fargate manages the infrastructure for the user.</a:t>
            </a:r>
            <a:endParaRPr lang="en-US" sz="1500" dirty="0"/>
          </a:p>
        </p:txBody>
      </p:sp>
      <p:sp>
        <p:nvSpPr>
          <p:cNvPr id="25" name="Text 4"/>
          <p:cNvSpPr/>
          <p:nvPr/>
        </p:nvSpPr>
        <p:spPr>
          <a:xfrm>
            <a:off x="609600" y="1885950"/>
            <a:ext cx="1316736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With the EC2 launch type, users must provision and administer the EC2 instances themselves. This includes:</a:t>
            </a:r>
            <a:endParaRPr lang="en-US" sz="1350" dirty="0"/>
          </a:p>
        </p:txBody>
      </p:sp>
      <p:sp>
        <p:nvSpPr>
          <p:cNvPr id="26" name="Text 5"/>
          <p:cNvSpPr/>
          <p:nvPr/>
        </p:nvSpPr>
        <p:spPr>
          <a:xfrm>
            <a:off x="647700" y="2305050"/>
            <a:ext cx="109347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Managing the underlying EC2 instances</a:t>
            </a:r>
            <a:endParaRPr lang="en-US" sz="1200" dirty="0"/>
          </a:p>
        </p:txBody>
      </p:sp>
      <p:sp>
        <p:nvSpPr>
          <p:cNvPr id="27" name="Text 6"/>
          <p:cNvSpPr/>
          <p:nvPr/>
        </p:nvSpPr>
        <p:spPr>
          <a:xfrm>
            <a:off x="647700" y="2533650"/>
            <a:ext cx="109347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Scaling the cluster based on demand</a:t>
            </a:r>
            <a:endParaRPr lang="en-US" sz="1200" dirty="0"/>
          </a:p>
        </p:txBody>
      </p:sp>
      <p:sp>
        <p:nvSpPr>
          <p:cNvPr id="28" name="Text 7"/>
          <p:cNvSpPr/>
          <p:nvPr/>
        </p:nvSpPr>
        <p:spPr>
          <a:xfrm>
            <a:off x="647700" y="2762250"/>
            <a:ext cx="109347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Applying OS updates and patches</a:t>
            </a:r>
            <a:endParaRPr lang="en-US" sz="1200" dirty="0"/>
          </a:p>
        </p:txBody>
      </p:sp>
      <p:sp>
        <p:nvSpPr>
          <p:cNvPr id="29" name="Text 8"/>
          <p:cNvSpPr/>
          <p:nvPr/>
        </p:nvSpPr>
        <p:spPr>
          <a:xfrm>
            <a:off x="647700" y="2990850"/>
            <a:ext cx="109347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Monitoring and maintaining infrastructure</a:t>
            </a:r>
            <a:endParaRPr lang="en-US" sz="1200" dirty="0"/>
          </a:p>
        </p:txBody>
      </p:sp>
      <p:sp>
        <p:nvSpPr>
          <p:cNvPr id="30" name="Text 9"/>
          <p:cNvSpPr/>
          <p:nvPr/>
        </p:nvSpPr>
        <p:spPr>
          <a:xfrm>
            <a:off x="609600" y="3371850"/>
            <a:ext cx="109728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In contrast, Fargate is a serverless option where AWS manages the underlying infrastructure, allowing users to focus only on specifying the task definition and desired number of tasks.</a:t>
            </a:r>
            <a:endParaRPr lang="en-US" sz="1350" dirty="0"/>
          </a:p>
        </p:txBody>
      </p:sp>
      <p:sp>
        <p:nvSpPr>
          <p:cNvPr id="31" name="Text 10"/>
          <p:cNvSpPr/>
          <p:nvPr/>
        </p:nvSpPr>
        <p:spPr>
          <a:xfrm>
            <a:off x="1409700" y="4495800"/>
            <a:ext cx="2162413"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EC2 Launch Type</a:t>
            </a:r>
            <a:endParaRPr lang="en-US" sz="1500" dirty="0"/>
          </a:p>
        </p:txBody>
      </p:sp>
      <p:sp>
        <p:nvSpPr>
          <p:cNvPr id="32" name="Text 11"/>
          <p:cNvSpPr/>
          <p:nvPr/>
        </p:nvSpPr>
        <p:spPr>
          <a:xfrm>
            <a:off x="1028700" y="5010150"/>
            <a:ext cx="266301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Users manage EC2 instances</a:t>
            </a:r>
            <a:endParaRPr lang="en-US" sz="1200" dirty="0"/>
          </a:p>
        </p:txBody>
      </p:sp>
      <p:sp>
        <p:nvSpPr>
          <p:cNvPr id="33" name="Text 12"/>
          <p:cNvSpPr/>
          <p:nvPr/>
        </p:nvSpPr>
        <p:spPr>
          <a:xfrm>
            <a:off x="1028700" y="5314950"/>
            <a:ext cx="218866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Manual scaling required</a:t>
            </a:r>
            <a:endParaRPr lang="en-US" sz="1200" dirty="0"/>
          </a:p>
        </p:txBody>
      </p:sp>
      <p:sp>
        <p:nvSpPr>
          <p:cNvPr id="34" name="Text 13"/>
          <p:cNvSpPr/>
          <p:nvPr/>
        </p:nvSpPr>
        <p:spPr>
          <a:xfrm>
            <a:off x="1028700" y="5619750"/>
            <a:ext cx="349758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Full control over OS and infrastructure</a:t>
            </a:r>
            <a:endParaRPr lang="en-US" sz="1200" dirty="0"/>
          </a:p>
        </p:txBody>
      </p:sp>
      <p:sp>
        <p:nvSpPr>
          <p:cNvPr id="35" name="Text 14"/>
          <p:cNvSpPr/>
          <p:nvPr/>
        </p:nvSpPr>
        <p:spPr>
          <a:xfrm>
            <a:off x="7010400" y="4495800"/>
            <a:ext cx="267140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Fargate Launch Type</a:t>
            </a:r>
            <a:endParaRPr lang="en-US" sz="1500" dirty="0"/>
          </a:p>
        </p:txBody>
      </p:sp>
      <p:sp>
        <p:nvSpPr>
          <p:cNvPr id="36" name="Text 15"/>
          <p:cNvSpPr/>
          <p:nvPr/>
        </p:nvSpPr>
        <p:spPr>
          <a:xfrm>
            <a:off x="6629400" y="5010150"/>
            <a:ext cx="261872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AWS manages infrastructure</a:t>
            </a:r>
            <a:endParaRPr lang="en-US" sz="1200" dirty="0"/>
          </a:p>
        </p:txBody>
      </p:sp>
      <p:sp>
        <p:nvSpPr>
          <p:cNvPr id="37" name="Text 16"/>
          <p:cNvSpPr/>
          <p:nvPr/>
        </p:nvSpPr>
        <p:spPr>
          <a:xfrm>
            <a:off x="6629400" y="5314950"/>
            <a:ext cx="163752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Automatic scaling</a:t>
            </a:r>
            <a:endParaRPr lang="en-US" sz="1200" dirty="0"/>
          </a:p>
        </p:txBody>
      </p:sp>
      <p:sp>
        <p:nvSpPr>
          <p:cNvPr id="38" name="Text 17"/>
          <p:cNvSpPr/>
          <p:nvPr/>
        </p:nvSpPr>
        <p:spPr>
          <a:xfrm>
            <a:off x="6629400" y="5619750"/>
            <a:ext cx="237815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Pay-per-use pricing model</a:t>
            </a:r>
            <a:endParaRPr lang="en-US" sz="1200" dirty="0"/>
          </a:p>
        </p:txBody>
      </p:sp>
      <p:sp>
        <p:nvSpPr>
          <p:cNvPr id="39" name="Text 18"/>
          <p:cNvSpPr/>
          <p:nvPr/>
        </p:nvSpPr>
        <p:spPr>
          <a:xfrm>
            <a:off x="838200" y="6477000"/>
            <a:ext cx="165324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ECS Launch Types</a:t>
            </a:r>
            <a:endParaRPr lang="en-US" sz="1200" dirty="0"/>
          </a:p>
        </p:txBody>
      </p:sp>
      <p:sp>
        <p:nvSpPr>
          <p:cNvPr id="40" name="Text 19"/>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43/61</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8382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838200"/>
          </a:xfrm>
          <a:prstGeom prst="rect">
            <a:avLst/>
          </a:prstGeom>
        </p:spPr>
      </p:pic>
      <p:pic>
        <p:nvPicPr>
          <p:cNvPr id="8" name="Image 6" descr="preencoded.png"/>
          <p:cNvPicPr>
            <a:picLocks noChangeAspect="1"/>
          </p:cNvPicPr>
          <p:nvPr/>
        </p:nvPicPr>
        <p:blipFill>
          <a:blip r:embed="rId6"/>
          <a:stretch>
            <a:fillRect/>
          </a:stretch>
        </p:blipFill>
        <p:spPr>
          <a:xfrm>
            <a:off x="609600" y="3028950"/>
            <a:ext cx="3848100" cy="838200"/>
          </a:xfrm>
          <a:prstGeom prst="rect">
            <a:avLst/>
          </a:prstGeom>
        </p:spPr>
      </p:pic>
      <p:pic>
        <p:nvPicPr>
          <p:cNvPr id="9" name="Image 7" descr="preencoded.png"/>
          <p:cNvPicPr>
            <a:picLocks noChangeAspect="1"/>
          </p:cNvPicPr>
          <p:nvPr/>
        </p:nvPicPr>
        <p:blipFill>
          <a:blip r:embed="rId6"/>
          <a:stretch>
            <a:fillRect/>
          </a:stretch>
        </p:blipFill>
        <p:spPr>
          <a:xfrm>
            <a:off x="4686300" y="3028950"/>
            <a:ext cx="3848100" cy="838200"/>
          </a:xfrm>
          <a:prstGeom prst="rect">
            <a:avLst/>
          </a:prstGeom>
        </p:spPr>
      </p:pic>
      <p:pic>
        <p:nvPicPr>
          <p:cNvPr id="10" name="Image 8" descr="preencoded.png"/>
          <p:cNvPicPr>
            <a:picLocks noChangeAspect="1"/>
          </p:cNvPicPr>
          <p:nvPr/>
        </p:nvPicPr>
        <p:blipFill>
          <a:blip r:embed="rId7"/>
          <a:stretch>
            <a:fillRect/>
          </a:stretch>
        </p:blipFill>
        <p:spPr>
          <a:xfrm>
            <a:off x="9953625" y="2447925"/>
            <a:ext cx="514350" cy="685800"/>
          </a:xfrm>
          <a:prstGeom prst="rect">
            <a:avLst/>
          </a:prstGeom>
        </p:spPr>
      </p:pic>
      <p:pic>
        <p:nvPicPr>
          <p:cNvPr id="11" name="Image 9" descr="preencoded.png"/>
          <p:cNvPicPr>
            <a:picLocks noChangeAspect="1"/>
          </p:cNvPicPr>
          <p:nvPr/>
        </p:nvPicPr>
        <p:blipFill>
          <a:blip r:embed="rId8"/>
          <a:stretch>
            <a:fillRect/>
          </a:stretch>
        </p:blipFill>
        <p:spPr>
          <a:xfrm>
            <a:off x="8839200" y="3362325"/>
            <a:ext cx="2743200" cy="1409700"/>
          </a:xfrm>
          <a:prstGeom prst="rect">
            <a:avLst/>
          </a:prstGeom>
        </p:spPr>
      </p:pic>
      <p:pic>
        <p:nvPicPr>
          <p:cNvPr id="12" name="Image 10" descr="preencoded.png"/>
          <p:cNvPicPr>
            <a:picLocks noChangeAspect="1"/>
          </p:cNvPicPr>
          <p:nvPr/>
        </p:nvPicPr>
        <p:blipFill>
          <a:blip r:embed="rId9"/>
          <a:stretch>
            <a:fillRect/>
          </a:stretch>
        </p:blipFill>
        <p:spPr>
          <a:xfrm>
            <a:off x="609600" y="6515100"/>
            <a:ext cx="114300" cy="152400"/>
          </a:xfrm>
          <a:prstGeom prst="rect">
            <a:avLst/>
          </a:prstGeom>
        </p:spPr>
      </p:pic>
      <p:sp>
        <p:nvSpPr>
          <p:cNvPr id="13"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22</a:t>
            </a:r>
            <a:endParaRPr lang="en-US" sz="1200" dirty="0"/>
          </a:p>
        </p:txBody>
      </p:sp>
      <p:sp>
        <p:nvSpPr>
          <p:cNvPr id="14" name="Text 1"/>
          <p:cNvSpPr/>
          <p:nvPr/>
        </p:nvSpPr>
        <p:spPr>
          <a:xfrm>
            <a:off x="1143000" y="304800"/>
            <a:ext cx="5874306"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Task Definition Parameter</a:t>
            </a:r>
            <a:endParaRPr lang="en-US" sz="2250" dirty="0"/>
          </a:p>
        </p:txBody>
      </p:sp>
      <p:sp>
        <p:nvSpPr>
          <p:cNvPr id="15"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of the following is a key parameter defined in an Amazon ECS Task Definition?</a:t>
            </a:r>
            <a:endParaRPr lang="en-US" sz="1800" dirty="0"/>
          </a:p>
        </p:txBody>
      </p:sp>
      <p:sp>
        <p:nvSpPr>
          <p:cNvPr id="16"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7" name="Text 4"/>
          <p:cNvSpPr/>
          <p:nvPr/>
        </p:nvSpPr>
        <p:spPr>
          <a:xfrm>
            <a:off x="1099691" y="2114550"/>
            <a:ext cx="3205609"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a:t>
            </a:r>
            <a:r>
              <a:rPr lang="en-US" sz="1350" b="1" dirty="0">
                <a:solidFill>
                  <a:srgbClr val="FF6B6B"/>
                </a:solidFill>
                <a:latin typeface="ui-sans-serif" pitchFamily="34" charset="0"/>
                <a:ea typeface="ui-sans-serif" pitchFamily="34" charset="-122"/>
                <a:cs typeface="ui-sans-serif" pitchFamily="34" charset="-120"/>
              </a:rPr>
              <a:t>AWS Region</a:t>
            </a:r>
            <a:r>
              <a:rPr lang="en-US" sz="1350" dirty="0">
                <a:solidFill>
                  <a:srgbClr val="374151"/>
                </a:solidFill>
                <a:latin typeface="ui-sans-serif" pitchFamily="34" charset="0"/>
                <a:ea typeface="ui-sans-serif" pitchFamily="34" charset="-122"/>
                <a:cs typeface="ui-sans-serif" pitchFamily="34" charset="-120"/>
              </a:rPr>
              <a:t> where the task will run.</a:t>
            </a:r>
            <a:endParaRPr lang="en-US" sz="1350" dirty="0"/>
          </a:p>
        </p:txBody>
      </p:sp>
      <p:sp>
        <p:nvSpPr>
          <p:cNvPr id="18"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19" name="Text 6"/>
          <p:cNvSpPr/>
          <p:nvPr/>
        </p:nvSpPr>
        <p:spPr>
          <a:xfrm>
            <a:off x="5170587" y="2114550"/>
            <a:ext cx="3211413"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a:t>
            </a:r>
            <a:r>
              <a:rPr lang="en-US" sz="1350" b="1" dirty="0">
                <a:solidFill>
                  <a:srgbClr val="FF6B6B"/>
                </a:solidFill>
                <a:latin typeface="ui-sans-serif" pitchFamily="34" charset="0"/>
                <a:ea typeface="ui-sans-serif" pitchFamily="34" charset="-122"/>
                <a:cs typeface="ui-sans-serif" pitchFamily="34" charset="-120"/>
              </a:rPr>
              <a:t>number of EC2 instances</a:t>
            </a:r>
            <a:r>
              <a:rPr lang="en-US" sz="1350" dirty="0">
                <a:solidFill>
                  <a:srgbClr val="374151"/>
                </a:solidFill>
                <a:latin typeface="ui-sans-serif" pitchFamily="34" charset="0"/>
                <a:ea typeface="ui-sans-serif" pitchFamily="34" charset="-122"/>
                <a:cs typeface="ui-sans-serif" pitchFamily="34" charset="-120"/>
              </a:rPr>
              <a:t> in the cluster.</a:t>
            </a:r>
            <a:endParaRPr lang="en-US" sz="1350" dirty="0"/>
          </a:p>
        </p:txBody>
      </p:sp>
      <p:sp>
        <p:nvSpPr>
          <p:cNvPr id="20" name="Text 7"/>
          <p:cNvSpPr/>
          <p:nvPr/>
        </p:nvSpPr>
        <p:spPr>
          <a:xfrm>
            <a:off x="762000" y="31813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1" name="Text 8"/>
          <p:cNvSpPr/>
          <p:nvPr/>
        </p:nvSpPr>
        <p:spPr>
          <a:xfrm>
            <a:off x="1088529" y="3181350"/>
            <a:ext cx="3216771"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a:t>
            </a:r>
            <a:r>
              <a:rPr lang="en-US" sz="1350" b="1" dirty="0">
                <a:solidFill>
                  <a:srgbClr val="FF6B6B"/>
                </a:solidFill>
                <a:latin typeface="ui-sans-serif" pitchFamily="34" charset="0"/>
                <a:ea typeface="ui-sans-serif" pitchFamily="34" charset="-122"/>
                <a:cs typeface="ui-sans-serif" pitchFamily="34" charset="-120"/>
              </a:rPr>
              <a:t>Docker image</a:t>
            </a:r>
            <a:r>
              <a:rPr lang="en-US" sz="1350" dirty="0">
                <a:solidFill>
                  <a:srgbClr val="374151"/>
                </a:solidFill>
                <a:latin typeface="ui-sans-serif" pitchFamily="34" charset="0"/>
                <a:ea typeface="ui-sans-serif" pitchFamily="34" charset="-122"/>
                <a:cs typeface="ui-sans-serif" pitchFamily="34" charset="-120"/>
              </a:rPr>
              <a:t> to use with each container in your task.</a:t>
            </a:r>
            <a:endParaRPr lang="en-US" sz="1350" dirty="0"/>
          </a:p>
        </p:txBody>
      </p:sp>
      <p:sp>
        <p:nvSpPr>
          <p:cNvPr id="22" name="Text 9"/>
          <p:cNvSpPr/>
          <p:nvPr/>
        </p:nvSpPr>
        <p:spPr>
          <a:xfrm>
            <a:off x="4838700" y="31813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3" name="Text 10"/>
          <p:cNvSpPr/>
          <p:nvPr/>
        </p:nvSpPr>
        <p:spPr>
          <a:xfrm>
            <a:off x="5183535" y="3181350"/>
            <a:ext cx="3198465"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a:t>
            </a:r>
            <a:r>
              <a:rPr lang="en-US" sz="1350" b="1" dirty="0">
                <a:solidFill>
                  <a:srgbClr val="FF6B6B"/>
                </a:solidFill>
                <a:latin typeface="ui-sans-serif" pitchFamily="34" charset="0"/>
                <a:ea typeface="ui-sans-serif" pitchFamily="34" charset="-122"/>
                <a:cs typeface="ui-sans-serif" pitchFamily="34" charset="-120"/>
              </a:rPr>
              <a:t>desired number of tasks</a:t>
            </a:r>
            <a:r>
              <a:rPr lang="en-US" sz="1350" dirty="0">
                <a:solidFill>
                  <a:srgbClr val="374151"/>
                </a:solidFill>
                <a:latin typeface="ui-sans-serif" pitchFamily="34" charset="0"/>
                <a:ea typeface="ui-sans-serif" pitchFamily="34" charset="-122"/>
                <a:cs typeface="ui-sans-serif" pitchFamily="34" charset="-120"/>
              </a:rPr>
              <a:t> for a service.</a:t>
            </a:r>
            <a:endParaRPr lang="en-US" sz="1350" dirty="0"/>
          </a:p>
        </p:txBody>
      </p:sp>
      <p:sp>
        <p:nvSpPr>
          <p:cNvPr id="24" name="Text 11"/>
          <p:cNvSpPr/>
          <p:nvPr/>
        </p:nvSpPr>
        <p:spPr>
          <a:xfrm>
            <a:off x="8991600" y="3514725"/>
            <a:ext cx="2438400" cy="457200"/>
          </a:xfrm>
          <a:prstGeom prst="rect">
            <a:avLst/>
          </a:prstGeom>
          <a:noFill/>
          <a:ln/>
        </p:spPr>
        <p:txBody>
          <a:bodyPr vert="horz" wrap="square" lIns="0" tIns="0" rIns="0" bIns="0" rtlCol="0" anchor="t"/>
          <a:lstStyle/>
          <a:p>
            <a:pPr marL="0" indent="0" algn="ctr">
              <a:lnSpc>
                <a:spcPts val="1800"/>
              </a:lnSpc>
              <a:buNone/>
            </a:pPr>
            <a:r>
              <a:rPr lang="en-US" sz="1200" b="1" dirty="0">
                <a:solidFill>
                  <a:srgbClr val="374151"/>
                </a:solidFill>
                <a:latin typeface="ui-sans-serif" pitchFamily="34" charset="0"/>
                <a:ea typeface="ui-sans-serif" pitchFamily="34" charset="-122"/>
                <a:cs typeface="ui-sans-serif" pitchFamily="34" charset="-120"/>
              </a:rPr>
              <a:t>Task Definition</a:t>
            </a:r>
            <a:r>
              <a:rPr lang="en-US" sz="1200" dirty="0">
                <a:solidFill>
                  <a:srgbClr val="374151"/>
                </a:solidFill>
                <a:latin typeface="ui-sans-serif" pitchFamily="34" charset="0"/>
                <a:ea typeface="ui-sans-serif" pitchFamily="34" charset="-122"/>
                <a:cs typeface="ui-sans-serif" pitchFamily="34" charset="-120"/>
              </a:rPr>
              <a:t> is a blueprint for your application.</a:t>
            </a:r>
            <a:endParaRPr lang="en-US" sz="1200" dirty="0"/>
          </a:p>
        </p:txBody>
      </p:sp>
      <p:sp>
        <p:nvSpPr>
          <p:cNvPr id="25" name="Text 12"/>
          <p:cNvSpPr/>
          <p:nvPr/>
        </p:nvSpPr>
        <p:spPr>
          <a:xfrm>
            <a:off x="8991600" y="4048125"/>
            <a:ext cx="2438400" cy="571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It describes the parameters and one or more containers that form your application.</a:t>
            </a:r>
            <a:endParaRPr lang="en-US" sz="1050" dirty="0"/>
          </a:p>
        </p:txBody>
      </p:sp>
      <p:sp>
        <p:nvSpPr>
          <p:cNvPr id="26" name="Text 13"/>
          <p:cNvSpPr/>
          <p:nvPr/>
        </p:nvSpPr>
        <p:spPr>
          <a:xfrm>
            <a:off x="800100" y="6477000"/>
            <a:ext cx="1156573"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Amazon ECS</a:t>
            </a:r>
            <a:endParaRPr lang="en-US" sz="1200" dirty="0"/>
          </a:p>
        </p:txBody>
      </p:sp>
      <p:sp>
        <p:nvSpPr>
          <p:cNvPr id="27" name="Text 14"/>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44/61</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885950"/>
            <a:ext cx="7924800" cy="571500"/>
          </a:xfrm>
          <a:prstGeom prst="rect">
            <a:avLst/>
          </a:prstGeom>
        </p:spPr>
      </p:pic>
      <p:pic>
        <p:nvPicPr>
          <p:cNvPr id="7" name="Image 5" descr="preencoded.png"/>
          <p:cNvPicPr>
            <a:picLocks noChangeAspect="1"/>
          </p:cNvPicPr>
          <p:nvPr/>
        </p:nvPicPr>
        <p:blipFill>
          <a:blip r:embed="rId7"/>
          <a:stretch>
            <a:fillRect/>
          </a:stretch>
        </p:blipFill>
        <p:spPr>
          <a:xfrm>
            <a:off x="609600" y="2762250"/>
            <a:ext cx="7924800" cy="2095500"/>
          </a:xfrm>
          <a:prstGeom prst="rect">
            <a:avLst/>
          </a:prstGeom>
        </p:spPr>
      </p:pic>
      <p:pic>
        <p:nvPicPr>
          <p:cNvPr id="8" name="Image 6" descr="preencoded.png"/>
          <p:cNvPicPr>
            <a:picLocks noChangeAspect="1"/>
          </p:cNvPicPr>
          <p:nvPr/>
        </p:nvPicPr>
        <p:blipFill>
          <a:blip r:embed="rId8"/>
          <a:stretch>
            <a:fillRect/>
          </a:stretch>
        </p:blipFill>
        <p:spPr>
          <a:xfrm>
            <a:off x="838200" y="3028950"/>
            <a:ext cx="190500" cy="190500"/>
          </a:xfrm>
          <a:prstGeom prst="rect">
            <a:avLst/>
          </a:prstGeom>
        </p:spPr>
      </p:pic>
      <p:pic>
        <p:nvPicPr>
          <p:cNvPr id="9" name="Image 7" descr="preencoded.png"/>
          <p:cNvPicPr>
            <a:picLocks noChangeAspect="1"/>
          </p:cNvPicPr>
          <p:nvPr/>
        </p:nvPicPr>
        <p:blipFill>
          <a:blip r:embed="rId9"/>
          <a:stretch>
            <a:fillRect/>
          </a:stretch>
        </p:blipFill>
        <p:spPr>
          <a:xfrm>
            <a:off x="838200" y="3409950"/>
            <a:ext cx="152400" cy="152400"/>
          </a:xfrm>
          <a:prstGeom prst="rect">
            <a:avLst/>
          </a:prstGeom>
        </p:spPr>
      </p:pic>
      <p:pic>
        <p:nvPicPr>
          <p:cNvPr id="10" name="Image 8" descr="preencoded.png"/>
          <p:cNvPicPr>
            <a:picLocks noChangeAspect="1"/>
          </p:cNvPicPr>
          <p:nvPr/>
        </p:nvPicPr>
        <p:blipFill>
          <a:blip r:embed="rId9"/>
          <a:stretch>
            <a:fillRect/>
          </a:stretch>
        </p:blipFill>
        <p:spPr>
          <a:xfrm>
            <a:off x="838200" y="3752850"/>
            <a:ext cx="152400" cy="152400"/>
          </a:xfrm>
          <a:prstGeom prst="rect">
            <a:avLst/>
          </a:prstGeom>
        </p:spPr>
      </p:pic>
      <p:pic>
        <p:nvPicPr>
          <p:cNvPr id="11" name="Image 9" descr="preencoded.png"/>
          <p:cNvPicPr>
            <a:picLocks noChangeAspect="1"/>
          </p:cNvPicPr>
          <p:nvPr/>
        </p:nvPicPr>
        <p:blipFill>
          <a:blip r:embed="rId9"/>
          <a:stretch>
            <a:fillRect/>
          </a:stretch>
        </p:blipFill>
        <p:spPr>
          <a:xfrm>
            <a:off x="838200" y="4095750"/>
            <a:ext cx="152400" cy="152400"/>
          </a:xfrm>
          <a:prstGeom prst="rect">
            <a:avLst/>
          </a:prstGeom>
        </p:spPr>
      </p:pic>
      <p:pic>
        <p:nvPicPr>
          <p:cNvPr id="12" name="Image 10" descr="preencoded.png"/>
          <p:cNvPicPr>
            <a:picLocks noChangeAspect="1"/>
          </p:cNvPicPr>
          <p:nvPr/>
        </p:nvPicPr>
        <p:blipFill>
          <a:blip r:embed="rId9"/>
          <a:stretch>
            <a:fillRect/>
          </a:stretch>
        </p:blipFill>
        <p:spPr>
          <a:xfrm>
            <a:off x="838200" y="4438650"/>
            <a:ext cx="152400" cy="152400"/>
          </a:xfrm>
          <a:prstGeom prst="rect">
            <a:avLst/>
          </a:prstGeom>
        </p:spPr>
      </p:pic>
      <p:pic>
        <p:nvPicPr>
          <p:cNvPr id="13" name="Image 11" descr="preencoded.png"/>
          <p:cNvPicPr>
            <a:picLocks noChangeAspect="1"/>
          </p:cNvPicPr>
          <p:nvPr/>
        </p:nvPicPr>
        <p:blipFill>
          <a:blip r:embed="rId10"/>
          <a:stretch>
            <a:fillRect/>
          </a:stretch>
        </p:blipFill>
        <p:spPr>
          <a:xfrm>
            <a:off x="9953625" y="1476375"/>
            <a:ext cx="514350" cy="685800"/>
          </a:xfrm>
          <a:prstGeom prst="rect">
            <a:avLst/>
          </a:prstGeom>
        </p:spPr>
      </p:pic>
      <p:pic>
        <p:nvPicPr>
          <p:cNvPr id="14" name="Image 12" descr="preencoded.png"/>
          <p:cNvPicPr>
            <a:picLocks noChangeAspect="1"/>
          </p:cNvPicPr>
          <p:nvPr/>
        </p:nvPicPr>
        <p:blipFill>
          <a:blip r:embed="rId11"/>
          <a:stretch>
            <a:fillRect/>
          </a:stretch>
        </p:blipFill>
        <p:spPr>
          <a:xfrm>
            <a:off x="8839200" y="2390775"/>
            <a:ext cx="2743200" cy="3352800"/>
          </a:xfrm>
          <a:prstGeom prst="rect">
            <a:avLst/>
          </a:prstGeom>
        </p:spPr>
      </p:pic>
      <p:pic>
        <p:nvPicPr>
          <p:cNvPr id="15" name="Image 13" descr="preencoded.png"/>
          <p:cNvPicPr>
            <a:picLocks noChangeAspect="1"/>
          </p:cNvPicPr>
          <p:nvPr/>
        </p:nvPicPr>
        <p:blipFill>
          <a:blip r:embed="rId12"/>
          <a:stretch>
            <a:fillRect/>
          </a:stretch>
        </p:blipFill>
        <p:spPr>
          <a:xfrm>
            <a:off x="8991600" y="3152775"/>
            <a:ext cx="2438400" cy="2438400"/>
          </a:xfrm>
          <a:prstGeom prst="rect">
            <a:avLst/>
          </a:prstGeom>
        </p:spPr>
      </p:pic>
      <p:pic>
        <p:nvPicPr>
          <p:cNvPr id="16" name="Image 14" descr="preencoded.png"/>
          <p:cNvPicPr>
            <a:picLocks noChangeAspect="1"/>
          </p:cNvPicPr>
          <p:nvPr/>
        </p:nvPicPr>
        <p:blipFill>
          <a:blip r:embed="rId13"/>
          <a:stretch>
            <a:fillRect/>
          </a:stretch>
        </p:blipFill>
        <p:spPr>
          <a:xfrm>
            <a:off x="609600" y="6515100"/>
            <a:ext cx="152400" cy="152400"/>
          </a:xfrm>
          <a:prstGeom prst="rect">
            <a:avLst/>
          </a:prstGeom>
        </p:spPr>
      </p:pic>
      <p:sp>
        <p:nvSpPr>
          <p:cNvPr id="17"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22</a:t>
            </a:r>
            <a:endParaRPr lang="en-US" sz="1200" dirty="0"/>
          </a:p>
        </p:txBody>
      </p:sp>
      <p:sp>
        <p:nvSpPr>
          <p:cNvPr id="18" name="Text 1"/>
          <p:cNvSpPr/>
          <p:nvPr/>
        </p:nvSpPr>
        <p:spPr>
          <a:xfrm>
            <a:off x="1143000" y="304800"/>
            <a:ext cx="5874306"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Task Definition Parameter</a:t>
            </a:r>
            <a:endParaRPr lang="en-US" sz="2250" dirty="0"/>
          </a:p>
        </p:txBody>
      </p:sp>
      <p:sp>
        <p:nvSpPr>
          <p:cNvPr id="19"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of the following is a key parameter defined in an Amazon ECS Task Definition?</a:t>
            </a:r>
            <a:endParaRPr lang="en-US" sz="1800" dirty="0"/>
          </a:p>
        </p:txBody>
      </p:sp>
      <p:sp>
        <p:nvSpPr>
          <p:cNvPr id="20" name="Text 3"/>
          <p:cNvSpPr/>
          <p:nvPr/>
        </p:nvSpPr>
        <p:spPr>
          <a:xfrm>
            <a:off x="762000" y="20383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1" name="Text 4"/>
          <p:cNvSpPr/>
          <p:nvPr/>
        </p:nvSpPr>
        <p:spPr>
          <a:xfrm>
            <a:off x="1088529" y="2038350"/>
            <a:ext cx="6779955" cy="266700"/>
          </a:xfrm>
          <a:prstGeom prst="rect">
            <a:avLst/>
          </a:prstGeom>
          <a:noFill/>
          <a:ln/>
        </p:spPr>
        <p:txBody>
          <a:bodyPr vert="horz" wrap="square" lIns="0" tIns="0" rIns="0" bIns="0" rtlCol="0" anchor="t"/>
          <a:lstStyle/>
          <a:p>
            <a:pPr marL="0" indent="0">
              <a:lnSpc>
                <a:spcPts val="2100"/>
              </a:lnSpc>
              <a:buNone/>
            </a:pPr>
            <a:r>
              <a:rPr lang="en-US" sz="1350" b="1" dirty="0">
                <a:solidFill>
                  <a:srgbClr val="FF6B6B"/>
                </a:solidFill>
                <a:latin typeface="ui-sans-serif" pitchFamily="34" charset="0"/>
                <a:ea typeface="ui-sans-serif" pitchFamily="34" charset="-122"/>
                <a:cs typeface="ui-sans-serif" pitchFamily="34" charset="-120"/>
              </a:rPr>
              <a:t>The Docker image to use with each container in your task.</a:t>
            </a:r>
            <a:endParaRPr lang="en-US" sz="1350" dirty="0"/>
          </a:p>
        </p:txBody>
      </p:sp>
      <p:sp>
        <p:nvSpPr>
          <p:cNvPr id="22" name="Text 5"/>
          <p:cNvSpPr/>
          <p:nvPr/>
        </p:nvSpPr>
        <p:spPr>
          <a:xfrm>
            <a:off x="1104900" y="2990850"/>
            <a:ext cx="7467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 Explanation</a:t>
            </a:r>
            <a:endParaRPr lang="en-US" sz="1500" dirty="0"/>
          </a:p>
        </p:txBody>
      </p:sp>
      <p:sp>
        <p:nvSpPr>
          <p:cNvPr id="23" name="Text 6"/>
          <p:cNvSpPr/>
          <p:nvPr/>
        </p:nvSpPr>
        <p:spPr>
          <a:xfrm>
            <a:off x="1066800" y="3371850"/>
            <a:ext cx="698605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 task definition is a blueprint for your application, specified in JSON format.</a:t>
            </a:r>
            <a:endParaRPr lang="en-US" sz="1200" dirty="0"/>
          </a:p>
        </p:txBody>
      </p:sp>
      <p:sp>
        <p:nvSpPr>
          <p:cNvPr id="24" name="Text 7"/>
          <p:cNvSpPr/>
          <p:nvPr/>
        </p:nvSpPr>
        <p:spPr>
          <a:xfrm>
            <a:off x="1066800" y="3714750"/>
            <a:ext cx="764131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It describes the parameters and one or more containers that form your application.</a:t>
            </a:r>
            <a:endParaRPr lang="en-US" sz="1200" dirty="0"/>
          </a:p>
        </p:txBody>
      </p:sp>
      <p:sp>
        <p:nvSpPr>
          <p:cNvPr id="25" name="Text 8"/>
          <p:cNvSpPr/>
          <p:nvPr/>
        </p:nvSpPr>
        <p:spPr>
          <a:xfrm>
            <a:off x="1066800" y="4057650"/>
            <a:ext cx="696694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The </a:t>
            </a:r>
            <a:r>
              <a:rPr lang="en-US" sz="1200" b="1" dirty="0">
                <a:solidFill>
                  <a:srgbClr val="FF6B6B"/>
                </a:solidFill>
                <a:latin typeface="ui-sans-serif" pitchFamily="34" charset="0"/>
                <a:ea typeface="ui-sans-serif" pitchFamily="34" charset="-122"/>
                <a:cs typeface="ui-sans-serif" pitchFamily="34" charset="-120"/>
              </a:rPr>
              <a:t>Docker image</a:t>
            </a:r>
            <a:r>
              <a:rPr lang="en-US" sz="1200" dirty="0">
                <a:solidFill>
                  <a:srgbClr val="374151"/>
                </a:solidFill>
                <a:latin typeface="ui-sans-serif" pitchFamily="34" charset="0"/>
                <a:ea typeface="ui-sans-serif" pitchFamily="34" charset="-122"/>
                <a:cs typeface="ui-sans-serif" pitchFamily="34" charset="-120"/>
              </a:rPr>
              <a:t> to use with each container is a fundamental parameter.</a:t>
            </a:r>
            <a:endParaRPr lang="en-US" sz="1200" dirty="0"/>
          </a:p>
        </p:txBody>
      </p:sp>
      <p:sp>
        <p:nvSpPr>
          <p:cNvPr id="26" name="Text 9"/>
          <p:cNvSpPr/>
          <p:nvPr/>
        </p:nvSpPr>
        <p:spPr>
          <a:xfrm>
            <a:off x="1066800" y="4400550"/>
            <a:ext cx="806583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Other parameters include CPU shares, memory limits, network configuration, and more.</a:t>
            </a:r>
            <a:endParaRPr lang="en-US" sz="1200" dirty="0"/>
          </a:p>
        </p:txBody>
      </p:sp>
      <p:sp>
        <p:nvSpPr>
          <p:cNvPr id="27" name="Text 10"/>
          <p:cNvSpPr/>
          <p:nvPr/>
        </p:nvSpPr>
        <p:spPr>
          <a:xfrm>
            <a:off x="8991600" y="2543175"/>
            <a:ext cx="2438400" cy="5334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Task Definition JSON Example:</a:t>
            </a:r>
            <a:endParaRPr lang="en-US" sz="1350" dirty="0"/>
          </a:p>
        </p:txBody>
      </p:sp>
      <p:sp>
        <p:nvSpPr>
          <p:cNvPr id="28" name="Text 11"/>
          <p:cNvSpPr/>
          <p:nvPr/>
        </p:nvSpPr>
        <p:spPr>
          <a:xfrm>
            <a:off x="9067800" y="3152775"/>
            <a:ext cx="2438400" cy="24384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monospace" pitchFamily="34" charset="0"/>
                <a:ea typeface="ui-monospace" pitchFamily="34" charset="-122"/>
                <a:cs typeface="ui-monospace" pitchFamily="34" charset="-120"/>
              </a:rPr>
              <a:t>{
  "family": "my-task",
  "containerDefinitions": [
    {
      "name": "my-container",
      "image": "nginx:latest",
      "memory": 128
    }
  ]
}</a:t>
            </a:r>
            <a:endParaRPr lang="en-US" sz="1050" dirty="0"/>
          </a:p>
        </p:txBody>
      </p:sp>
      <p:sp>
        <p:nvSpPr>
          <p:cNvPr id="29" name="Text 12"/>
          <p:cNvSpPr/>
          <p:nvPr/>
        </p:nvSpPr>
        <p:spPr>
          <a:xfrm>
            <a:off x="838200" y="6477000"/>
            <a:ext cx="1755934"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ECS Task Definition</a:t>
            </a:r>
            <a:endParaRPr lang="en-US" sz="1200" dirty="0"/>
          </a:p>
        </p:txBody>
      </p:sp>
      <p:sp>
        <p:nvSpPr>
          <p:cNvPr id="30" name="Text 13"/>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45/61</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11049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1104900"/>
          </a:xfrm>
          <a:prstGeom prst="rect">
            <a:avLst/>
          </a:prstGeom>
        </p:spPr>
      </p:pic>
      <p:pic>
        <p:nvPicPr>
          <p:cNvPr id="8" name="Image 6" descr="preencoded.png"/>
          <p:cNvPicPr>
            <a:picLocks noChangeAspect="1"/>
          </p:cNvPicPr>
          <p:nvPr/>
        </p:nvPicPr>
        <p:blipFill>
          <a:blip r:embed="rId6"/>
          <a:stretch>
            <a:fillRect/>
          </a:stretch>
        </p:blipFill>
        <p:spPr>
          <a:xfrm>
            <a:off x="609600" y="3295650"/>
            <a:ext cx="3848100" cy="1104900"/>
          </a:xfrm>
          <a:prstGeom prst="rect">
            <a:avLst/>
          </a:prstGeom>
        </p:spPr>
      </p:pic>
      <p:pic>
        <p:nvPicPr>
          <p:cNvPr id="9" name="Image 7" descr="preencoded.png"/>
          <p:cNvPicPr>
            <a:picLocks noChangeAspect="1"/>
          </p:cNvPicPr>
          <p:nvPr/>
        </p:nvPicPr>
        <p:blipFill>
          <a:blip r:embed="rId7"/>
          <a:stretch>
            <a:fillRect/>
          </a:stretch>
        </p:blipFill>
        <p:spPr>
          <a:xfrm>
            <a:off x="4686300" y="3295650"/>
            <a:ext cx="3848100" cy="1104900"/>
          </a:xfrm>
          <a:prstGeom prst="rect">
            <a:avLst/>
          </a:prstGeom>
        </p:spPr>
      </p:pic>
      <p:pic>
        <p:nvPicPr>
          <p:cNvPr id="10" name="Image 8" descr="preencoded.png"/>
          <p:cNvPicPr>
            <a:picLocks noChangeAspect="1"/>
          </p:cNvPicPr>
          <p:nvPr/>
        </p:nvPicPr>
        <p:blipFill>
          <a:blip r:embed="rId8"/>
          <a:stretch>
            <a:fillRect/>
          </a:stretch>
        </p:blipFill>
        <p:spPr>
          <a:xfrm>
            <a:off x="8839200" y="1809750"/>
            <a:ext cx="2743200" cy="2000250"/>
          </a:xfrm>
          <a:prstGeom prst="rect">
            <a:avLst/>
          </a:prstGeom>
        </p:spPr>
      </p:pic>
      <p:pic>
        <p:nvPicPr>
          <p:cNvPr id="11" name="Image 9" descr="preencoded.png"/>
          <p:cNvPicPr>
            <a:picLocks noChangeAspect="1"/>
          </p:cNvPicPr>
          <p:nvPr/>
        </p:nvPicPr>
        <p:blipFill>
          <a:blip r:embed="rId9"/>
          <a:stretch>
            <a:fillRect/>
          </a:stretch>
        </p:blipFill>
        <p:spPr>
          <a:xfrm>
            <a:off x="9405193" y="2076450"/>
            <a:ext cx="342900" cy="381000"/>
          </a:xfrm>
          <a:prstGeom prst="rect">
            <a:avLst/>
          </a:prstGeom>
        </p:spPr>
      </p:pic>
      <p:pic>
        <p:nvPicPr>
          <p:cNvPr id="12" name="Image 10" descr="preencoded.png"/>
          <p:cNvPicPr>
            <a:picLocks noChangeAspect="1"/>
          </p:cNvPicPr>
          <p:nvPr/>
        </p:nvPicPr>
        <p:blipFill>
          <a:blip r:embed="rId10"/>
          <a:stretch>
            <a:fillRect/>
          </a:stretch>
        </p:blipFill>
        <p:spPr>
          <a:xfrm>
            <a:off x="9829800" y="2800350"/>
            <a:ext cx="762000" cy="19050"/>
          </a:xfrm>
          <a:prstGeom prst="rect">
            <a:avLst/>
          </a:prstGeom>
        </p:spPr>
      </p:pic>
      <p:pic>
        <p:nvPicPr>
          <p:cNvPr id="13" name="Image 11" descr="preencoded.png"/>
          <p:cNvPicPr>
            <a:picLocks noChangeAspect="1"/>
          </p:cNvPicPr>
          <p:nvPr/>
        </p:nvPicPr>
        <p:blipFill>
          <a:blip r:embed="rId11"/>
          <a:stretch>
            <a:fillRect/>
          </a:stretch>
        </p:blipFill>
        <p:spPr>
          <a:xfrm>
            <a:off x="9421267" y="3162300"/>
            <a:ext cx="428625" cy="381000"/>
          </a:xfrm>
          <a:prstGeom prst="rect">
            <a:avLst/>
          </a:prstGeom>
        </p:spPr>
      </p:pic>
      <p:pic>
        <p:nvPicPr>
          <p:cNvPr id="14" name="Image 12" descr="preencoded.png"/>
          <p:cNvPicPr>
            <a:picLocks noChangeAspect="1"/>
          </p:cNvPicPr>
          <p:nvPr/>
        </p:nvPicPr>
        <p:blipFill>
          <a:blip r:embed="rId12"/>
          <a:stretch>
            <a:fillRect/>
          </a:stretch>
        </p:blipFill>
        <p:spPr>
          <a:xfrm>
            <a:off x="609600" y="6515100"/>
            <a:ext cx="190500" cy="152400"/>
          </a:xfrm>
          <a:prstGeom prst="rect">
            <a:avLst/>
          </a:prstGeom>
        </p:spPr>
      </p:pic>
      <p:sp>
        <p:nvSpPr>
          <p:cNvPr id="15"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23</a:t>
            </a:r>
            <a:endParaRPr lang="en-US" sz="1200" dirty="0"/>
          </a:p>
        </p:txBody>
      </p:sp>
      <p:sp>
        <p:nvSpPr>
          <p:cNvPr id="16" name="Text 1"/>
          <p:cNvSpPr/>
          <p:nvPr/>
        </p:nvSpPr>
        <p:spPr>
          <a:xfrm>
            <a:off x="1143000" y="304800"/>
            <a:ext cx="663440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Service and Task Relationship</a:t>
            </a:r>
            <a:endParaRPr lang="en-US" sz="2250" dirty="0"/>
          </a:p>
        </p:txBody>
      </p:sp>
      <p:sp>
        <p:nvSpPr>
          <p:cNvPr id="17"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relationship between an Amazon ECS Service and an Amazon ECS Task?</a:t>
            </a:r>
            <a:endParaRPr lang="en-US" sz="1800" dirty="0"/>
          </a:p>
        </p:txBody>
      </p:sp>
      <p:sp>
        <p:nvSpPr>
          <p:cNvPr id="18"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9" name="Text 4"/>
          <p:cNvSpPr/>
          <p:nvPr/>
        </p:nvSpPr>
        <p:spPr>
          <a:xfrm>
            <a:off x="1099691" y="2114550"/>
            <a:ext cx="3205609"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Service is a single running instance of a container, while a Task is a collection of Services.</a:t>
            </a:r>
            <a:endParaRPr lang="en-US" sz="1350" dirty="0"/>
          </a:p>
        </p:txBody>
      </p:sp>
      <p:sp>
        <p:nvSpPr>
          <p:cNvPr id="20"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1" name="Text 6"/>
          <p:cNvSpPr/>
          <p:nvPr/>
        </p:nvSpPr>
        <p:spPr>
          <a:xfrm>
            <a:off x="5170587" y="2114550"/>
            <a:ext cx="3211413"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Task defines how to run a container, and a Service maintains the desired number of Tasks.</a:t>
            </a:r>
            <a:endParaRPr lang="en-US" sz="1350" dirty="0"/>
          </a:p>
        </p:txBody>
      </p:sp>
      <p:sp>
        <p:nvSpPr>
          <p:cNvPr id="22" name="Text 7"/>
          <p:cNvSpPr/>
          <p:nvPr/>
        </p:nvSpPr>
        <p:spPr>
          <a:xfrm>
            <a:off x="762000" y="34480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3" name="Text 8"/>
          <p:cNvSpPr/>
          <p:nvPr/>
        </p:nvSpPr>
        <p:spPr>
          <a:xfrm>
            <a:off x="1088529" y="3448050"/>
            <a:ext cx="3216771"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Service is used for short-lived jobs, while a Task is for long-running applications.</a:t>
            </a:r>
            <a:endParaRPr lang="en-US" sz="1350" dirty="0"/>
          </a:p>
        </p:txBody>
      </p:sp>
      <p:sp>
        <p:nvSpPr>
          <p:cNvPr id="24" name="Text 9"/>
          <p:cNvSpPr/>
          <p:nvPr/>
        </p:nvSpPr>
        <p:spPr>
          <a:xfrm>
            <a:off x="4838700" y="34480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5" name="Text 10"/>
          <p:cNvSpPr/>
          <p:nvPr/>
        </p:nvSpPr>
        <p:spPr>
          <a:xfrm>
            <a:off x="5183535" y="3448050"/>
            <a:ext cx="3198465"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They are interchangeable terms for the same concept in ECS.</a:t>
            </a:r>
            <a:endParaRPr lang="en-US" sz="1350" dirty="0"/>
          </a:p>
        </p:txBody>
      </p:sp>
      <p:sp>
        <p:nvSpPr>
          <p:cNvPr id="26" name="Text 11"/>
          <p:cNvSpPr/>
          <p:nvPr/>
        </p:nvSpPr>
        <p:spPr>
          <a:xfrm>
            <a:off x="9862393" y="2038350"/>
            <a:ext cx="115386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Task</a:t>
            </a:r>
            <a:endParaRPr lang="en-US" sz="1500" dirty="0"/>
          </a:p>
        </p:txBody>
      </p:sp>
      <p:sp>
        <p:nvSpPr>
          <p:cNvPr id="27" name="Text 12"/>
          <p:cNvSpPr/>
          <p:nvPr/>
        </p:nvSpPr>
        <p:spPr>
          <a:xfrm>
            <a:off x="9862393" y="2305050"/>
            <a:ext cx="1384637"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Running instance</a:t>
            </a:r>
            <a:endParaRPr lang="en-US" sz="1050" dirty="0"/>
          </a:p>
        </p:txBody>
      </p:sp>
      <p:sp>
        <p:nvSpPr>
          <p:cNvPr id="28" name="Text 13"/>
          <p:cNvSpPr/>
          <p:nvPr/>
        </p:nvSpPr>
        <p:spPr>
          <a:xfrm>
            <a:off x="9964192" y="3124200"/>
            <a:ext cx="1243191"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Service</a:t>
            </a:r>
            <a:endParaRPr lang="en-US" sz="1500" dirty="0"/>
          </a:p>
        </p:txBody>
      </p:sp>
      <p:sp>
        <p:nvSpPr>
          <p:cNvPr id="29" name="Text 14"/>
          <p:cNvSpPr/>
          <p:nvPr/>
        </p:nvSpPr>
        <p:spPr>
          <a:xfrm>
            <a:off x="9964192" y="3390900"/>
            <a:ext cx="1243191"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Maintains tasks</a:t>
            </a:r>
            <a:endParaRPr lang="en-US" sz="1050" dirty="0"/>
          </a:p>
        </p:txBody>
      </p:sp>
      <p:sp>
        <p:nvSpPr>
          <p:cNvPr id="30" name="Text 15"/>
          <p:cNvSpPr/>
          <p:nvPr/>
        </p:nvSpPr>
        <p:spPr>
          <a:xfrm>
            <a:off x="8839200" y="4038600"/>
            <a:ext cx="2743200" cy="1371600"/>
          </a:xfrm>
          <a:prstGeom prst="rect">
            <a:avLst/>
          </a:prstGeom>
          <a:noFill/>
          <a:ln/>
        </p:spPr>
        <p:txBody>
          <a:bodyPr vert="horz" wrap="square" lIns="0" tIns="0" rIns="0" bIns="0" rtlCol="0" anchor="t"/>
          <a:lstStyle/>
          <a:p>
            <a:pPr marL="0" indent="0" algn="ctr">
              <a:lnSpc>
                <a:spcPts val="1800"/>
              </a:lnSpc>
              <a:buNone/>
            </a:pPr>
            <a:r>
              <a:rPr lang="en-US" sz="1200" i="1" dirty="0">
                <a:solidFill>
                  <a:srgbClr val="4B5563"/>
                </a:solidFill>
                <a:latin typeface="ui-sans-serif" pitchFamily="34" charset="0"/>
                <a:ea typeface="ui-sans-serif" pitchFamily="34" charset="-122"/>
                <a:cs typeface="ui-sans-serif" pitchFamily="34" charset="-120"/>
              </a:rPr>
              <a:t>"A Task is a running instance of a task definition, representing one or more containers. An ECS Service ensures that a specified number of identical tasks are running and maintained."</a:t>
            </a:r>
            <a:endParaRPr lang="en-US" sz="1200" dirty="0"/>
          </a:p>
        </p:txBody>
      </p:sp>
      <p:sp>
        <p:nvSpPr>
          <p:cNvPr id="31" name="Text 16"/>
          <p:cNvSpPr/>
          <p:nvPr/>
        </p:nvSpPr>
        <p:spPr>
          <a:xfrm>
            <a:off x="876300" y="6477000"/>
            <a:ext cx="82956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ECS</a:t>
            </a:r>
            <a:endParaRPr lang="en-US" sz="1200" dirty="0"/>
          </a:p>
        </p:txBody>
      </p:sp>
      <p:sp>
        <p:nvSpPr>
          <p:cNvPr id="32" name="Text 17"/>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46/61</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6278761" cy="990600"/>
          </a:xfrm>
          <a:prstGeom prst="rect">
            <a:avLst/>
          </a:prstGeom>
        </p:spPr>
      </p:pic>
      <p:pic>
        <p:nvPicPr>
          <p:cNvPr id="7" name="Image 5" descr="preencoded.png"/>
          <p:cNvPicPr>
            <a:picLocks noChangeAspect="1"/>
          </p:cNvPicPr>
          <p:nvPr/>
        </p:nvPicPr>
        <p:blipFill>
          <a:blip r:embed="rId7"/>
          <a:stretch>
            <a:fillRect/>
          </a:stretch>
        </p:blipFill>
        <p:spPr>
          <a:xfrm>
            <a:off x="609600" y="2686050"/>
            <a:ext cx="152400" cy="152400"/>
          </a:xfrm>
          <a:prstGeom prst="rect">
            <a:avLst/>
          </a:prstGeom>
        </p:spPr>
      </p:pic>
      <p:pic>
        <p:nvPicPr>
          <p:cNvPr id="8" name="Image 6" descr="preencoded.png"/>
          <p:cNvPicPr>
            <a:picLocks noChangeAspect="1"/>
          </p:cNvPicPr>
          <p:nvPr/>
        </p:nvPicPr>
        <p:blipFill>
          <a:blip r:embed="rId7"/>
          <a:stretch>
            <a:fillRect/>
          </a:stretch>
        </p:blipFill>
        <p:spPr>
          <a:xfrm>
            <a:off x="609600" y="3257550"/>
            <a:ext cx="152400" cy="152400"/>
          </a:xfrm>
          <a:prstGeom prst="rect">
            <a:avLst/>
          </a:prstGeom>
        </p:spPr>
      </p:pic>
      <p:pic>
        <p:nvPicPr>
          <p:cNvPr id="9" name="Image 7" descr="preencoded.png"/>
          <p:cNvPicPr>
            <a:picLocks noChangeAspect="1"/>
          </p:cNvPicPr>
          <p:nvPr/>
        </p:nvPicPr>
        <p:blipFill>
          <a:blip r:embed="rId7"/>
          <a:stretch>
            <a:fillRect/>
          </a:stretch>
        </p:blipFill>
        <p:spPr>
          <a:xfrm>
            <a:off x="609600" y="3829050"/>
            <a:ext cx="152400" cy="152400"/>
          </a:xfrm>
          <a:prstGeom prst="rect">
            <a:avLst/>
          </a:prstGeom>
        </p:spPr>
      </p:pic>
      <p:pic>
        <p:nvPicPr>
          <p:cNvPr id="10" name="Image 8" descr="preencoded.png"/>
          <p:cNvPicPr>
            <a:picLocks noChangeAspect="1"/>
          </p:cNvPicPr>
          <p:nvPr/>
        </p:nvPicPr>
        <p:blipFill>
          <a:blip r:embed="rId8"/>
          <a:stretch>
            <a:fillRect/>
          </a:stretch>
        </p:blipFill>
        <p:spPr>
          <a:xfrm>
            <a:off x="7193161" y="1647825"/>
            <a:ext cx="4389090" cy="2442567"/>
          </a:xfrm>
          <a:prstGeom prst="rect">
            <a:avLst/>
          </a:prstGeom>
        </p:spPr>
      </p:pic>
      <p:pic>
        <p:nvPicPr>
          <p:cNvPr id="11" name="Image 9" descr="preencoded.png"/>
          <p:cNvPicPr>
            <a:picLocks noChangeAspect="1"/>
          </p:cNvPicPr>
          <p:nvPr/>
        </p:nvPicPr>
        <p:blipFill>
          <a:blip r:embed="rId9"/>
          <a:stretch>
            <a:fillRect/>
          </a:stretch>
        </p:blipFill>
        <p:spPr>
          <a:xfrm>
            <a:off x="7193161" y="4238625"/>
            <a:ext cx="4389090" cy="1333500"/>
          </a:xfrm>
          <a:prstGeom prst="rect">
            <a:avLst/>
          </a:prstGeom>
        </p:spPr>
      </p:pic>
      <p:pic>
        <p:nvPicPr>
          <p:cNvPr id="12" name="Image 10" descr="preencoded.png"/>
          <p:cNvPicPr>
            <a:picLocks noChangeAspect="1"/>
          </p:cNvPicPr>
          <p:nvPr/>
        </p:nvPicPr>
        <p:blipFill>
          <a:blip r:embed="rId10"/>
          <a:stretch>
            <a:fillRect/>
          </a:stretch>
        </p:blipFill>
        <p:spPr>
          <a:xfrm>
            <a:off x="7345561" y="4429125"/>
            <a:ext cx="114300" cy="152400"/>
          </a:xfrm>
          <a:prstGeom prst="rect">
            <a:avLst/>
          </a:prstGeom>
        </p:spPr>
      </p:pic>
      <p:pic>
        <p:nvPicPr>
          <p:cNvPr id="13" name="Image 11" descr="preencoded.png"/>
          <p:cNvPicPr>
            <a:picLocks noChangeAspect="1"/>
          </p:cNvPicPr>
          <p:nvPr/>
        </p:nvPicPr>
        <p:blipFill>
          <a:blip r:embed="rId11"/>
          <a:stretch>
            <a:fillRect/>
          </a:stretch>
        </p:blipFill>
        <p:spPr>
          <a:xfrm>
            <a:off x="7345561" y="4733925"/>
            <a:ext cx="66675" cy="133350"/>
          </a:xfrm>
          <a:prstGeom prst="rect">
            <a:avLst/>
          </a:prstGeom>
        </p:spPr>
      </p:pic>
      <p:pic>
        <p:nvPicPr>
          <p:cNvPr id="14" name="Image 12" descr="preencoded.png"/>
          <p:cNvPicPr>
            <a:picLocks noChangeAspect="1"/>
          </p:cNvPicPr>
          <p:nvPr/>
        </p:nvPicPr>
        <p:blipFill>
          <a:blip r:embed="rId11"/>
          <a:stretch>
            <a:fillRect/>
          </a:stretch>
        </p:blipFill>
        <p:spPr>
          <a:xfrm>
            <a:off x="7345561" y="5000625"/>
            <a:ext cx="66675" cy="133350"/>
          </a:xfrm>
          <a:prstGeom prst="rect">
            <a:avLst/>
          </a:prstGeom>
        </p:spPr>
      </p:pic>
      <p:pic>
        <p:nvPicPr>
          <p:cNvPr id="15" name="Image 13" descr="preencoded.png"/>
          <p:cNvPicPr>
            <a:picLocks noChangeAspect="1"/>
          </p:cNvPicPr>
          <p:nvPr/>
        </p:nvPicPr>
        <p:blipFill>
          <a:blip r:embed="rId11"/>
          <a:stretch>
            <a:fillRect/>
          </a:stretch>
        </p:blipFill>
        <p:spPr>
          <a:xfrm>
            <a:off x="7345561" y="5267325"/>
            <a:ext cx="66675" cy="133350"/>
          </a:xfrm>
          <a:prstGeom prst="rect">
            <a:avLst/>
          </a:prstGeom>
        </p:spPr>
      </p:pic>
      <p:pic>
        <p:nvPicPr>
          <p:cNvPr id="16" name="Image 14" descr="preencoded.png"/>
          <p:cNvPicPr>
            <a:picLocks noChangeAspect="1"/>
          </p:cNvPicPr>
          <p:nvPr/>
        </p:nvPicPr>
        <p:blipFill>
          <a:blip r:embed="rId12"/>
          <a:stretch>
            <a:fillRect/>
          </a:stretch>
        </p:blipFill>
        <p:spPr>
          <a:xfrm>
            <a:off x="609600" y="6515100"/>
            <a:ext cx="152400" cy="152400"/>
          </a:xfrm>
          <a:prstGeom prst="rect">
            <a:avLst/>
          </a:prstGeom>
        </p:spPr>
      </p:pic>
      <p:sp>
        <p:nvSpPr>
          <p:cNvPr id="17"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23</a:t>
            </a:r>
            <a:endParaRPr lang="en-US" sz="1200" dirty="0"/>
          </a:p>
        </p:txBody>
      </p:sp>
      <p:sp>
        <p:nvSpPr>
          <p:cNvPr id="18" name="Text 1"/>
          <p:cNvSpPr/>
          <p:nvPr/>
        </p:nvSpPr>
        <p:spPr>
          <a:xfrm>
            <a:off x="1143000" y="304800"/>
            <a:ext cx="6634401"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Service and Task Relationship</a:t>
            </a:r>
            <a:endParaRPr lang="en-US" sz="2250" dirty="0"/>
          </a:p>
        </p:txBody>
      </p:sp>
      <p:sp>
        <p:nvSpPr>
          <p:cNvPr id="19" name="Text 2"/>
          <p:cNvSpPr/>
          <p:nvPr/>
        </p:nvSpPr>
        <p:spPr>
          <a:xfrm>
            <a:off x="838200" y="12763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B.</a:t>
            </a:r>
            <a:endParaRPr lang="en-US" sz="1500" dirty="0"/>
          </a:p>
        </p:txBody>
      </p:sp>
      <p:sp>
        <p:nvSpPr>
          <p:cNvPr id="20" name="Text 3"/>
          <p:cNvSpPr/>
          <p:nvPr/>
        </p:nvSpPr>
        <p:spPr>
          <a:xfrm>
            <a:off x="1170087" y="1276350"/>
            <a:ext cx="5489674" cy="533400"/>
          </a:xfrm>
          <a:prstGeom prst="rect">
            <a:avLst/>
          </a:prstGeom>
          <a:noFill/>
          <a:ln/>
        </p:spPr>
        <p:txBody>
          <a:bodyPr vert="horz" wrap="square" lIns="0" tIns="0" rIns="0" bIns="0" rtlCol="0" anchor="t"/>
          <a:lstStyle/>
          <a:p>
            <a:pPr marL="0" indent="0">
              <a:lnSpc>
                <a:spcPts val="2100"/>
              </a:lnSpc>
              <a:buNone/>
            </a:pPr>
            <a:r>
              <a:rPr lang="en-US" sz="1350" dirty="0">
                <a:solidFill>
                  <a:srgbClr val="1F2937"/>
                </a:solidFill>
                <a:latin typeface="ui-sans-serif" pitchFamily="34" charset="0"/>
                <a:ea typeface="ui-sans-serif" pitchFamily="34" charset="-122"/>
                <a:cs typeface="ui-sans-serif" pitchFamily="34" charset="-120"/>
              </a:rPr>
              <a:t>A Task defines how to run a container, and a Service maintains the desired number of Tasks.</a:t>
            </a:r>
            <a:endParaRPr lang="en-US" sz="1350" dirty="0"/>
          </a:p>
        </p:txBody>
      </p:sp>
      <p:sp>
        <p:nvSpPr>
          <p:cNvPr id="21" name="Text 4"/>
          <p:cNvSpPr/>
          <p:nvPr/>
        </p:nvSpPr>
        <p:spPr>
          <a:xfrm>
            <a:off x="609600" y="2266950"/>
            <a:ext cx="6278761"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Explanation:</a:t>
            </a:r>
            <a:endParaRPr lang="en-US" sz="1500" dirty="0"/>
          </a:p>
        </p:txBody>
      </p:sp>
      <p:sp>
        <p:nvSpPr>
          <p:cNvPr id="22" name="Text 5"/>
          <p:cNvSpPr/>
          <p:nvPr/>
        </p:nvSpPr>
        <p:spPr>
          <a:xfrm>
            <a:off x="876300" y="2647950"/>
            <a:ext cx="601206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 </a:t>
            </a:r>
            <a:r>
              <a:rPr lang="en-US" sz="1200" b="1" dirty="0">
                <a:solidFill>
                  <a:srgbClr val="FF6B6B"/>
                </a:solidFill>
                <a:latin typeface="ui-sans-serif" pitchFamily="34" charset="0"/>
                <a:ea typeface="ui-sans-serif" pitchFamily="34" charset="-122"/>
                <a:cs typeface="ui-sans-serif" pitchFamily="34" charset="-120"/>
              </a:rPr>
              <a:t>Task</a:t>
            </a:r>
            <a:r>
              <a:rPr lang="en-US" sz="1200" dirty="0">
                <a:solidFill>
                  <a:srgbClr val="374151"/>
                </a:solidFill>
                <a:latin typeface="ui-sans-serif" pitchFamily="34" charset="0"/>
                <a:ea typeface="ui-sans-serif" pitchFamily="34" charset="-122"/>
                <a:cs typeface="ui-sans-serif" pitchFamily="34" charset="-120"/>
              </a:rPr>
              <a:t> is a running instance of a task definition, representing one or more containers.</a:t>
            </a:r>
            <a:endParaRPr lang="en-US" sz="1200" dirty="0"/>
          </a:p>
        </p:txBody>
      </p:sp>
      <p:sp>
        <p:nvSpPr>
          <p:cNvPr id="23" name="Text 6"/>
          <p:cNvSpPr/>
          <p:nvPr/>
        </p:nvSpPr>
        <p:spPr>
          <a:xfrm>
            <a:off x="876300" y="3219450"/>
            <a:ext cx="601206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An </a:t>
            </a:r>
            <a:r>
              <a:rPr lang="en-US" sz="1200" b="1" dirty="0">
                <a:solidFill>
                  <a:srgbClr val="FF6B6B"/>
                </a:solidFill>
                <a:latin typeface="ui-sans-serif" pitchFamily="34" charset="0"/>
                <a:ea typeface="ui-sans-serif" pitchFamily="34" charset="-122"/>
                <a:cs typeface="ui-sans-serif" pitchFamily="34" charset="-120"/>
              </a:rPr>
              <a:t>ECS Service</a:t>
            </a:r>
            <a:r>
              <a:rPr lang="en-US" sz="1200" dirty="0">
                <a:solidFill>
                  <a:srgbClr val="374151"/>
                </a:solidFill>
                <a:latin typeface="ui-sans-serif" pitchFamily="34" charset="0"/>
                <a:ea typeface="ui-sans-serif" pitchFamily="34" charset="-122"/>
                <a:cs typeface="ui-sans-serif" pitchFamily="34" charset="-120"/>
              </a:rPr>
              <a:t> ensures that a specified number of identical tasks are running and maintained, handling deployments and scaling.</a:t>
            </a:r>
            <a:endParaRPr lang="en-US" sz="1200" dirty="0"/>
          </a:p>
        </p:txBody>
      </p:sp>
      <p:sp>
        <p:nvSpPr>
          <p:cNvPr id="24" name="Text 7"/>
          <p:cNvSpPr/>
          <p:nvPr/>
        </p:nvSpPr>
        <p:spPr>
          <a:xfrm>
            <a:off x="876300" y="3790950"/>
            <a:ext cx="601206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Services maintain the desired count of tasks across the cluster, while tasks are the actual running containers.</a:t>
            </a:r>
            <a:endParaRPr lang="en-US" sz="1200" dirty="0"/>
          </a:p>
        </p:txBody>
      </p:sp>
      <p:sp>
        <p:nvSpPr>
          <p:cNvPr id="25" name="Text 8"/>
          <p:cNvSpPr/>
          <p:nvPr/>
        </p:nvSpPr>
        <p:spPr>
          <a:xfrm>
            <a:off x="7536061" y="4391025"/>
            <a:ext cx="408429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Key Points</a:t>
            </a:r>
            <a:endParaRPr lang="en-US" sz="1200" dirty="0"/>
          </a:p>
        </p:txBody>
      </p:sp>
      <p:sp>
        <p:nvSpPr>
          <p:cNvPr id="26" name="Text 9"/>
          <p:cNvSpPr/>
          <p:nvPr/>
        </p:nvSpPr>
        <p:spPr>
          <a:xfrm>
            <a:off x="7488436" y="4695825"/>
            <a:ext cx="3156287"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Tasks are the actual running containers</a:t>
            </a:r>
            <a:endParaRPr lang="en-US" sz="1050" dirty="0"/>
          </a:p>
        </p:txBody>
      </p:sp>
      <p:sp>
        <p:nvSpPr>
          <p:cNvPr id="27" name="Text 10"/>
          <p:cNvSpPr/>
          <p:nvPr/>
        </p:nvSpPr>
        <p:spPr>
          <a:xfrm>
            <a:off x="7488436" y="4962525"/>
            <a:ext cx="3076992"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Services manage the lifecycle of tasks</a:t>
            </a:r>
            <a:endParaRPr lang="en-US" sz="1050" dirty="0"/>
          </a:p>
        </p:txBody>
      </p:sp>
      <p:sp>
        <p:nvSpPr>
          <p:cNvPr id="28" name="Text 11"/>
          <p:cNvSpPr/>
          <p:nvPr/>
        </p:nvSpPr>
        <p:spPr>
          <a:xfrm>
            <a:off x="7488436" y="5229225"/>
            <a:ext cx="3565267"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Services maintain the desired count of tasks</a:t>
            </a:r>
            <a:endParaRPr lang="en-US" sz="1050" dirty="0"/>
          </a:p>
        </p:txBody>
      </p:sp>
      <p:sp>
        <p:nvSpPr>
          <p:cNvPr id="29" name="Text 12"/>
          <p:cNvSpPr/>
          <p:nvPr/>
        </p:nvSpPr>
        <p:spPr>
          <a:xfrm>
            <a:off x="838200" y="6477000"/>
            <a:ext cx="82956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ECS</a:t>
            </a:r>
            <a:endParaRPr lang="en-US" sz="1200" dirty="0"/>
          </a:p>
        </p:txBody>
      </p:sp>
      <p:sp>
        <p:nvSpPr>
          <p:cNvPr id="30" name="Text 13"/>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47/61</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11049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1104900"/>
          </a:xfrm>
          <a:prstGeom prst="rect">
            <a:avLst/>
          </a:prstGeom>
        </p:spPr>
      </p:pic>
      <p:pic>
        <p:nvPicPr>
          <p:cNvPr id="8" name="Image 6" descr="preencoded.png"/>
          <p:cNvPicPr>
            <a:picLocks noChangeAspect="1"/>
          </p:cNvPicPr>
          <p:nvPr/>
        </p:nvPicPr>
        <p:blipFill>
          <a:blip r:embed="rId7"/>
          <a:stretch>
            <a:fillRect/>
          </a:stretch>
        </p:blipFill>
        <p:spPr>
          <a:xfrm>
            <a:off x="609600" y="3295650"/>
            <a:ext cx="3848100" cy="838200"/>
          </a:xfrm>
          <a:prstGeom prst="rect">
            <a:avLst/>
          </a:prstGeom>
        </p:spPr>
      </p:pic>
      <p:pic>
        <p:nvPicPr>
          <p:cNvPr id="9" name="Image 7" descr="preencoded.png"/>
          <p:cNvPicPr>
            <a:picLocks noChangeAspect="1"/>
          </p:cNvPicPr>
          <p:nvPr/>
        </p:nvPicPr>
        <p:blipFill>
          <a:blip r:embed="rId7"/>
          <a:stretch>
            <a:fillRect/>
          </a:stretch>
        </p:blipFill>
        <p:spPr>
          <a:xfrm>
            <a:off x="4686300" y="3295650"/>
            <a:ext cx="3848100" cy="838200"/>
          </a:xfrm>
          <a:prstGeom prst="rect">
            <a:avLst/>
          </a:prstGeom>
        </p:spPr>
      </p:pic>
      <p:pic>
        <p:nvPicPr>
          <p:cNvPr id="10" name="Image 8" descr="preencoded.png"/>
          <p:cNvPicPr>
            <a:picLocks noChangeAspect="1"/>
          </p:cNvPicPr>
          <p:nvPr/>
        </p:nvPicPr>
        <p:blipFill>
          <a:blip r:embed="rId8"/>
          <a:stretch>
            <a:fillRect/>
          </a:stretch>
        </p:blipFill>
        <p:spPr>
          <a:xfrm>
            <a:off x="9844088" y="1857375"/>
            <a:ext cx="733425" cy="685800"/>
          </a:xfrm>
          <a:prstGeom prst="rect">
            <a:avLst/>
          </a:prstGeom>
        </p:spPr>
      </p:pic>
      <p:pic>
        <p:nvPicPr>
          <p:cNvPr id="11" name="Image 9" descr="preencoded.png"/>
          <p:cNvPicPr>
            <a:picLocks noChangeAspect="1"/>
          </p:cNvPicPr>
          <p:nvPr/>
        </p:nvPicPr>
        <p:blipFill>
          <a:blip r:embed="rId9"/>
          <a:stretch>
            <a:fillRect/>
          </a:stretch>
        </p:blipFill>
        <p:spPr>
          <a:xfrm>
            <a:off x="9996488" y="2009775"/>
            <a:ext cx="428625" cy="381000"/>
          </a:xfrm>
          <a:prstGeom prst="rect">
            <a:avLst/>
          </a:prstGeom>
        </p:spPr>
      </p:pic>
      <p:pic>
        <p:nvPicPr>
          <p:cNvPr id="12" name="Image 10" descr="preencoded.png"/>
          <p:cNvPicPr>
            <a:picLocks noChangeAspect="1"/>
          </p:cNvPicPr>
          <p:nvPr/>
        </p:nvPicPr>
        <p:blipFill>
          <a:blip r:embed="rId10"/>
          <a:stretch>
            <a:fillRect/>
          </a:stretch>
        </p:blipFill>
        <p:spPr>
          <a:xfrm>
            <a:off x="10201275" y="2466975"/>
            <a:ext cx="19050" cy="609600"/>
          </a:xfrm>
          <a:prstGeom prst="rect">
            <a:avLst/>
          </a:prstGeom>
        </p:spPr>
      </p:pic>
      <p:pic>
        <p:nvPicPr>
          <p:cNvPr id="13" name="Image 11" descr="preencoded.png"/>
          <p:cNvPicPr>
            <a:picLocks noChangeAspect="1"/>
          </p:cNvPicPr>
          <p:nvPr/>
        </p:nvPicPr>
        <p:blipFill>
          <a:blip r:embed="rId11"/>
          <a:stretch>
            <a:fillRect/>
          </a:stretch>
        </p:blipFill>
        <p:spPr>
          <a:xfrm>
            <a:off x="9863138" y="3609975"/>
            <a:ext cx="695325" cy="685800"/>
          </a:xfrm>
          <a:prstGeom prst="rect">
            <a:avLst/>
          </a:prstGeom>
        </p:spPr>
      </p:pic>
      <p:pic>
        <p:nvPicPr>
          <p:cNvPr id="14" name="Image 12" descr="preencoded.png"/>
          <p:cNvPicPr>
            <a:picLocks noChangeAspect="1"/>
          </p:cNvPicPr>
          <p:nvPr/>
        </p:nvPicPr>
        <p:blipFill>
          <a:blip r:embed="rId12"/>
          <a:stretch>
            <a:fillRect/>
          </a:stretch>
        </p:blipFill>
        <p:spPr>
          <a:xfrm>
            <a:off x="10015538" y="3762375"/>
            <a:ext cx="390525" cy="381000"/>
          </a:xfrm>
          <a:prstGeom prst="rect">
            <a:avLst/>
          </a:prstGeom>
        </p:spPr>
      </p:pic>
      <p:pic>
        <p:nvPicPr>
          <p:cNvPr id="15" name="Image 13" descr="preencoded.png"/>
          <p:cNvPicPr>
            <a:picLocks noChangeAspect="1"/>
          </p:cNvPicPr>
          <p:nvPr/>
        </p:nvPicPr>
        <p:blipFill>
          <a:blip r:embed="rId13"/>
          <a:stretch>
            <a:fillRect/>
          </a:stretch>
        </p:blipFill>
        <p:spPr>
          <a:xfrm>
            <a:off x="609600" y="6515100"/>
            <a:ext cx="190500" cy="152400"/>
          </a:xfrm>
          <a:prstGeom prst="rect">
            <a:avLst/>
          </a:prstGeom>
        </p:spPr>
      </p:pic>
      <p:sp>
        <p:nvSpPr>
          <p:cNvPr id="16"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24</a:t>
            </a:r>
            <a:endParaRPr lang="en-US" sz="1200" dirty="0"/>
          </a:p>
        </p:txBody>
      </p:sp>
      <p:sp>
        <p:nvSpPr>
          <p:cNvPr id="17" name="Text 1"/>
          <p:cNvSpPr/>
          <p:nvPr/>
        </p:nvSpPr>
        <p:spPr>
          <a:xfrm>
            <a:off x="1143000" y="304800"/>
            <a:ext cx="6592074"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Service Discovery Integration</a:t>
            </a:r>
            <a:endParaRPr lang="en-US" sz="2250" dirty="0"/>
          </a:p>
        </p:txBody>
      </p:sp>
      <p:sp>
        <p:nvSpPr>
          <p:cNvPr id="18"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How does Amazon ECS integrate with AWS Cloud Map to provide service discovery?</a:t>
            </a:r>
            <a:endParaRPr lang="en-US" sz="1800" dirty="0"/>
          </a:p>
        </p:txBody>
      </p:sp>
      <p:sp>
        <p:nvSpPr>
          <p:cNvPr id="19"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0" name="Text 4"/>
          <p:cNvSpPr/>
          <p:nvPr/>
        </p:nvSpPr>
        <p:spPr>
          <a:xfrm>
            <a:off x="1099691" y="2114550"/>
            <a:ext cx="3205609"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By manually updating DNS records for each task.</a:t>
            </a:r>
            <a:endParaRPr lang="en-US" sz="1350" dirty="0"/>
          </a:p>
        </p:txBody>
      </p:sp>
      <p:sp>
        <p:nvSpPr>
          <p:cNvPr id="21"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2" name="Text 6"/>
          <p:cNvSpPr/>
          <p:nvPr/>
        </p:nvSpPr>
        <p:spPr>
          <a:xfrm>
            <a:off x="5170587" y="2114550"/>
            <a:ext cx="3211413"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By using AWS Cloud Map API actions to manage HTTP and DNS namespaces for ECS services.</a:t>
            </a:r>
            <a:endParaRPr lang="en-US" sz="1350" dirty="0"/>
          </a:p>
        </p:txBody>
      </p:sp>
      <p:sp>
        <p:nvSpPr>
          <p:cNvPr id="23" name="Text 7"/>
          <p:cNvSpPr/>
          <p:nvPr/>
        </p:nvSpPr>
        <p:spPr>
          <a:xfrm>
            <a:off x="762000" y="34480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4" name="Text 8"/>
          <p:cNvSpPr/>
          <p:nvPr/>
        </p:nvSpPr>
        <p:spPr>
          <a:xfrm>
            <a:off x="1088529" y="3448050"/>
            <a:ext cx="3216771"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By requiring a dedicated load balancer for each service.</a:t>
            </a:r>
            <a:endParaRPr lang="en-US" sz="1350" dirty="0"/>
          </a:p>
        </p:txBody>
      </p:sp>
      <p:sp>
        <p:nvSpPr>
          <p:cNvPr id="25" name="Text 9"/>
          <p:cNvSpPr/>
          <p:nvPr/>
        </p:nvSpPr>
        <p:spPr>
          <a:xfrm>
            <a:off x="4838700" y="34480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6" name="Text 10"/>
          <p:cNvSpPr/>
          <p:nvPr/>
        </p:nvSpPr>
        <p:spPr>
          <a:xfrm>
            <a:off x="5183535" y="3448050"/>
            <a:ext cx="3198465"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By assigning static IP addresses to all tasks.</a:t>
            </a:r>
            <a:endParaRPr lang="en-US" sz="1350" dirty="0"/>
          </a:p>
        </p:txBody>
      </p:sp>
      <p:sp>
        <p:nvSpPr>
          <p:cNvPr id="27" name="Text 11"/>
          <p:cNvSpPr/>
          <p:nvPr/>
        </p:nvSpPr>
        <p:spPr>
          <a:xfrm>
            <a:off x="8839200" y="4448175"/>
            <a:ext cx="2743200" cy="914400"/>
          </a:xfrm>
          <a:prstGeom prst="rect">
            <a:avLst/>
          </a:prstGeom>
          <a:noFill/>
          <a:ln/>
        </p:spPr>
        <p:txBody>
          <a:bodyPr vert="horz" wrap="square" lIns="0" tIns="0" rIns="0" bIns="0" rtlCol="0" anchor="t"/>
          <a:lstStyle/>
          <a:p>
            <a:pPr marL="0" indent="0" algn="ctr">
              <a:lnSpc>
                <a:spcPts val="1800"/>
              </a:lnSpc>
              <a:buNone/>
            </a:pPr>
            <a:r>
              <a:rPr lang="en-US" sz="1200" i="1" dirty="0">
                <a:solidFill>
                  <a:srgbClr val="4B5563"/>
                </a:solidFill>
                <a:latin typeface="ui-sans-serif" pitchFamily="34" charset="0"/>
                <a:ea typeface="ui-sans-serif" pitchFamily="34" charset="-122"/>
                <a:cs typeface="ui-sans-serif" pitchFamily="34" charset="-120"/>
              </a:rPr>
              <a:t>"Amazon ECS service discovery uses AWS Cloud Map to manage DNS namespaces for your services."</a:t>
            </a:r>
            <a:endParaRPr lang="en-US" sz="1200" dirty="0"/>
          </a:p>
        </p:txBody>
      </p:sp>
      <p:sp>
        <p:nvSpPr>
          <p:cNvPr id="28" name="Text 12"/>
          <p:cNvSpPr/>
          <p:nvPr/>
        </p:nvSpPr>
        <p:spPr>
          <a:xfrm>
            <a:off x="876300" y="6477000"/>
            <a:ext cx="205507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ECS Service Discovery</a:t>
            </a:r>
            <a:endParaRPr lang="en-US" sz="1200" dirty="0"/>
          </a:p>
        </p:txBody>
      </p:sp>
      <p:sp>
        <p:nvSpPr>
          <p:cNvPr id="29" name="Text 13"/>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48/61</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6278761" cy="952500"/>
          </a:xfrm>
          <a:prstGeom prst="rect">
            <a:avLst/>
          </a:prstGeom>
        </p:spPr>
      </p:pic>
      <p:pic>
        <p:nvPicPr>
          <p:cNvPr id="7" name="Image 5" descr="preencoded.png"/>
          <p:cNvPicPr>
            <a:picLocks noChangeAspect="1"/>
          </p:cNvPicPr>
          <p:nvPr/>
        </p:nvPicPr>
        <p:blipFill>
          <a:blip r:embed="rId7"/>
          <a:stretch>
            <a:fillRect/>
          </a:stretch>
        </p:blipFill>
        <p:spPr>
          <a:xfrm>
            <a:off x="762000" y="2800350"/>
            <a:ext cx="171450" cy="171450"/>
          </a:xfrm>
          <a:prstGeom prst="rect">
            <a:avLst/>
          </a:prstGeom>
        </p:spPr>
      </p:pic>
      <p:pic>
        <p:nvPicPr>
          <p:cNvPr id="8" name="Image 6" descr="preencoded.png"/>
          <p:cNvPicPr>
            <a:picLocks noChangeAspect="1"/>
          </p:cNvPicPr>
          <p:nvPr/>
        </p:nvPicPr>
        <p:blipFill>
          <a:blip r:embed="rId7"/>
          <a:stretch>
            <a:fillRect/>
          </a:stretch>
        </p:blipFill>
        <p:spPr>
          <a:xfrm>
            <a:off x="762000" y="3486150"/>
            <a:ext cx="171450" cy="171450"/>
          </a:xfrm>
          <a:prstGeom prst="rect">
            <a:avLst/>
          </a:prstGeom>
        </p:spPr>
      </p:pic>
      <p:pic>
        <p:nvPicPr>
          <p:cNvPr id="9" name="Image 7" descr="preencoded.png"/>
          <p:cNvPicPr>
            <a:picLocks noChangeAspect="1"/>
          </p:cNvPicPr>
          <p:nvPr/>
        </p:nvPicPr>
        <p:blipFill>
          <a:blip r:embed="rId7"/>
          <a:stretch>
            <a:fillRect/>
          </a:stretch>
        </p:blipFill>
        <p:spPr>
          <a:xfrm>
            <a:off x="762000" y="4171950"/>
            <a:ext cx="171450" cy="171450"/>
          </a:xfrm>
          <a:prstGeom prst="rect">
            <a:avLst/>
          </a:prstGeom>
        </p:spPr>
      </p:pic>
      <p:pic>
        <p:nvPicPr>
          <p:cNvPr id="10" name="Image 8" descr="preencoded.png"/>
          <p:cNvPicPr>
            <a:picLocks noChangeAspect="1"/>
          </p:cNvPicPr>
          <p:nvPr/>
        </p:nvPicPr>
        <p:blipFill>
          <a:blip r:embed="rId7"/>
          <a:stretch>
            <a:fillRect/>
          </a:stretch>
        </p:blipFill>
        <p:spPr>
          <a:xfrm>
            <a:off x="762000" y="4857750"/>
            <a:ext cx="171450" cy="171450"/>
          </a:xfrm>
          <a:prstGeom prst="rect">
            <a:avLst/>
          </a:prstGeom>
        </p:spPr>
      </p:pic>
      <p:pic>
        <p:nvPicPr>
          <p:cNvPr id="11" name="Image 9" descr="preencoded.png"/>
          <p:cNvPicPr>
            <a:picLocks noChangeAspect="1"/>
          </p:cNvPicPr>
          <p:nvPr/>
        </p:nvPicPr>
        <p:blipFill>
          <a:blip r:embed="rId8"/>
          <a:stretch>
            <a:fillRect/>
          </a:stretch>
        </p:blipFill>
        <p:spPr>
          <a:xfrm>
            <a:off x="7193161" y="1666875"/>
            <a:ext cx="2080171" cy="2247900"/>
          </a:xfrm>
          <a:prstGeom prst="rect">
            <a:avLst/>
          </a:prstGeom>
        </p:spPr>
      </p:pic>
      <p:pic>
        <p:nvPicPr>
          <p:cNvPr id="12" name="Image 10" descr="preencoded.png"/>
          <p:cNvPicPr>
            <a:picLocks noChangeAspect="1"/>
          </p:cNvPicPr>
          <p:nvPr/>
        </p:nvPicPr>
        <p:blipFill>
          <a:blip r:embed="rId9"/>
          <a:stretch>
            <a:fillRect/>
          </a:stretch>
        </p:blipFill>
        <p:spPr>
          <a:xfrm>
            <a:off x="7947422" y="1857375"/>
            <a:ext cx="571500" cy="457200"/>
          </a:xfrm>
          <a:prstGeom prst="rect">
            <a:avLst/>
          </a:prstGeom>
        </p:spPr>
      </p:pic>
      <p:pic>
        <p:nvPicPr>
          <p:cNvPr id="13" name="Image 11" descr="preencoded.png"/>
          <p:cNvPicPr>
            <a:picLocks noChangeAspect="1"/>
          </p:cNvPicPr>
          <p:nvPr/>
        </p:nvPicPr>
        <p:blipFill>
          <a:blip r:embed="rId10"/>
          <a:stretch>
            <a:fillRect/>
          </a:stretch>
        </p:blipFill>
        <p:spPr>
          <a:xfrm>
            <a:off x="9501932" y="1666875"/>
            <a:ext cx="2080320" cy="2247900"/>
          </a:xfrm>
          <a:prstGeom prst="rect">
            <a:avLst/>
          </a:prstGeom>
        </p:spPr>
      </p:pic>
      <p:pic>
        <p:nvPicPr>
          <p:cNvPr id="14" name="Image 12" descr="preencoded.png"/>
          <p:cNvPicPr>
            <a:picLocks noChangeAspect="1"/>
          </p:cNvPicPr>
          <p:nvPr/>
        </p:nvPicPr>
        <p:blipFill>
          <a:blip r:embed="rId11"/>
          <a:stretch>
            <a:fillRect/>
          </a:stretch>
        </p:blipFill>
        <p:spPr>
          <a:xfrm>
            <a:off x="10313491" y="1857375"/>
            <a:ext cx="457200" cy="457200"/>
          </a:xfrm>
          <a:prstGeom prst="rect">
            <a:avLst/>
          </a:prstGeom>
        </p:spPr>
      </p:pic>
      <p:pic>
        <p:nvPicPr>
          <p:cNvPr id="15" name="Image 13" descr="preencoded.png"/>
          <p:cNvPicPr>
            <a:picLocks noChangeAspect="1"/>
          </p:cNvPicPr>
          <p:nvPr/>
        </p:nvPicPr>
        <p:blipFill>
          <a:blip r:embed="rId12"/>
          <a:stretch>
            <a:fillRect/>
          </a:stretch>
        </p:blipFill>
        <p:spPr>
          <a:xfrm>
            <a:off x="7193161" y="4219575"/>
            <a:ext cx="4389090" cy="1333500"/>
          </a:xfrm>
          <a:prstGeom prst="rect">
            <a:avLst/>
          </a:prstGeom>
        </p:spPr>
      </p:pic>
      <p:pic>
        <p:nvPicPr>
          <p:cNvPr id="16" name="Image 14" descr="preencoded.png"/>
          <p:cNvPicPr>
            <a:picLocks noChangeAspect="1"/>
          </p:cNvPicPr>
          <p:nvPr/>
        </p:nvPicPr>
        <p:blipFill>
          <a:blip r:embed="rId13"/>
          <a:stretch>
            <a:fillRect/>
          </a:stretch>
        </p:blipFill>
        <p:spPr>
          <a:xfrm>
            <a:off x="7345561" y="4429125"/>
            <a:ext cx="114300" cy="152400"/>
          </a:xfrm>
          <a:prstGeom prst="rect">
            <a:avLst/>
          </a:prstGeom>
        </p:spPr>
      </p:pic>
      <p:pic>
        <p:nvPicPr>
          <p:cNvPr id="17" name="Image 15" descr="preencoded.png"/>
          <p:cNvPicPr>
            <a:picLocks noChangeAspect="1"/>
          </p:cNvPicPr>
          <p:nvPr/>
        </p:nvPicPr>
        <p:blipFill>
          <a:blip r:embed="rId14"/>
          <a:stretch>
            <a:fillRect/>
          </a:stretch>
        </p:blipFill>
        <p:spPr>
          <a:xfrm>
            <a:off x="609600" y="6515100"/>
            <a:ext cx="190500" cy="152400"/>
          </a:xfrm>
          <a:prstGeom prst="rect">
            <a:avLst/>
          </a:prstGeom>
        </p:spPr>
      </p:pic>
      <p:sp>
        <p:nvSpPr>
          <p:cNvPr id="18"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24</a:t>
            </a:r>
            <a:endParaRPr lang="en-US" sz="1200" dirty="0"/>
          </a:p>
        </p:txBody>
      </p:sp>
      <p:sp>
        <p:nvSpPr>
          <p:cNvPr id="19" name="Text 1"/>
          <p:cNvSpPr/>
          <p:nvPr/>
        </p:nvSpPr>
        <p:spPr>
          <a:xfrm>
            <a:off x="1143000" y="304800"/>
            <a:ext cx="6592074"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Service Discovery Integration</a:t>
            </a:r>
            <a:endParaRPr lang="en-US" sz="2250" dirty="0"/>
          </a:p>
        </p:txBody>
      </p:sp>
      <p:sp>
        <p:nvSpPr>
          <p:cNvPr id="20" name="Text 2"/>
          <p:cNvSpPr/>
          <p:nvPr/>
        </p:nvSpPr>
        <p:spPr>
          <a:xfrm>
            <a:off x="762000" y="1047750"/>
            <a:ext cx="6126361" cy="3429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Correct Answer: </a:t>
            </a:r>
            <a:r>
              <a:rPr lang="en-US" sz="1800" b="1" dirty="0">
                <a:solidFill>
                  <a:srgbClr val="FF6B6B"/>
                </a:solidFill>
                <a:latin typeface="ui-sans-serif" pitchFamily="34" charset="0"/>
                <a:ea typeface="ui-sans-serif" pitchFamily="34" charset="-122"/>
                <a:cs typeface="ui-sans-serif" pitchFamily="34" charset="-120"/>
              </a:rPr>
              <a:t>B</a:t>
            </a:r>
            <a:r>
              <a:rPr lang="en-US" sz="1800" b="1" dirty="0">
                <a:solidFill>
                  <a:srgbClr val="374151"/>
                </a:solidFill>
                <a:latin typeface="ui-sans-serif" pitchFamily="34" charset="0"/>
                <a:ea typeface="ui-sans-serif" pitchFamily="34" charset="-122"/>
                <a:cs typeface="ui-sans-serif" pitchFamily="34" charset="-120"/>
              </a:rPr>
              <a:t> </a:t>
            </a:r>
            <a:r>
              <a:rPr lang="en-US" sz="1440" b="1" dirty="0">
                <a:solidFill>
                  <a:srgbClr val="FFFFFF"/>
                </a:solidFill>
                <a:highlight>
                  <a:srgbClr val="4CAF50"/>
                </a:highlight>
                <a:latin typeface="ui-sans-serif" pitchFamily="34" charset="0"/>
                <a:ea typeface="ui-sans-serif" pitchFamily="34" charset="-122"/>
                <a:cs typeface="ui-sans-serif" pitchFamily="34" charset="-120"/>
              </a:rPr>
              <a:t>Correct</a:t>
            </a:r>
            <a:endParaRPr lang="en-US" sz="1800" dirty="0"/>
          </a:p>
        </p:txBody>
      </p:sp>
      <p:sp>
        <p:nvSpPr>
          <p:cNvPr id="21" name="Text 3"/>
          <p:cNvSpPr/>
          <p:nvPr/>
        </p:nvSpPr>
        <p:spPr>
          <a:xfrm>
            <a:off x="762000" y="1466850"/>
            <a:ext cx="6126361" cy="533400"/>
          </a:xfrm>
          <a:prstGeom prst="rect">
            <a:avLst/>
          </a:prstGeom>
          <a:noFill/>
          <a:ln/>
        </p:spPr>
        <p:txBody>
          <a:bodyPr vert="horz" wrap="square" lIns="0" tIns="0" rIns="0" bIns="0" rtlCol="0" anchor="t"/>
          <a:lstStyle/>
          <a:p>
            <a:pPr marL="0" indent="0">
              <a:lnSpc>
                <a:spcPts val="2100"/>
              </a:lnSpc>
              <a:buNone/>
            </a:pPr>
            <a:r>
              <a:rPr lang="en-US" sz="1500" dirty="0">
                <a:solidFill>
                  <a:srgbClr val="4B5563"/>
                </a:solidFill>
                <a:latin typeface="ui-sans-serif" pitchFamily="34" charset="0"/>
                <a:ea typeface="ui-sans-serif" pitchFamily="34" charset="-122"/>
                <a:cs typeface="ui-sans-serif" pitchFamily="34" charset="-120"/>
              </a:rPr>
              <a:t>By using AWS Cloud Map API actions to manage HTTP and DNS namespaces for ECS services.</a:t>
            </a:r>
            <a:endParaRPr lang="en-US" sz="1500" dirty="0"/>
          </a:p>
        </p:txBody>
      </p:sp>
      <p:sp>
        <p:nvSpPr>
          <p:cNvPr id="22" name="Text 4"/>
          <p:cNvSpPr/>
          <p:nvPr/>
        </p:nvSpPr>
        <p:spPr>
          <a:xfrm>
            <a:off x="762000" y="2305050"/>
            <a:ext cx="6126361"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3" name="Text 5"/>
          <p:cNvSpPr/>
          <p:nvPr/>
        </p:nvSpPr>
        <p:spPr>
          <a:xfrm>
            <a:off x="1047750" y="2762250"/>
            <a:ext cx="5840611"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Amazon ECS service discovery uses AWS Cloud Map API actions to manage HTTP and DNS namespaces for your ECS services.</a:t>
            </a:r>
            <a:endParaRPr lang="en-US" sz="1350" dirty="0"/>
          </a:p>
        </p:txBody>
      </p:sp>
      <p:sp>
        <p:nvSpPr>
          <p:cNvPr id="24" name="Text 6"/>
          <p:cNvSpPr/>
          <p:nvPr/>
        </p:nvSpPr>
        <p:spPr>
          <a:xfrm>
            <a:off x="1047750" y="3448050"/>
            <a:ext cx="5840611"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This integration allows containers to be registered and discovered through the service discovery namespace.</a:t>
            </a:r>
            <a:endParaRPr lang="en-US" sz="1350" dirty="0"/>
          </a:p>
        </p:txBody>
      </p:sp>
      <p:sp>
        <p:nvSpPr>
          <p:cNvPr id="25" name="Text 7"/>
          <p:cNvSpPr/>
          <p:nvPr/>
        </p:nvSpPr>
        <p:spPr>
          <a:xfrm>
            <a:off x="1047750" y="4133850"/>
            <a:ext cx="5840611"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Service discovery enables tasks within the same cluster to communicate with each other using DNS hostnames.</a:t>
            </a:r>
            <a:endParaRPr lang="en-US" sz="1350" dirty="0"/>
          </a:p>
        </p:txBody>
      </p:sp>
      <p:sp>
        <p:nvSpPr>
          <p:cNvPr id="26" name="Text 8"/>
          <p:cNvSpPr/>
          <p:nvPr/>
        </p:nvSpPr>
        <p:spPr>
          <a:xfrm>
            <a:off x="1047750" y="4819650"/>
            <a:ext cx="5840611"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Cloud Map maintains the registry of available endpoints for your services, facilitating easy discovery.</a:t>
            </a:r>
            <a:endParaRPr lang="en-US" sz="1350" dirty="0"/>
          </a:p>
        </p:txBody>
      </p:sp>
      <p:sp>
        <p:nvSpPr>
          <p:cNvPr id="27" name="Text 9"/>
          <p:cNvSpPr/>
          <p:nvPr/>
        </p:nvSpPr>
        <p:spPr>
          <a:xfrm>
            <a:off x="7392591" y="2466975"/>
            <a:ext cx="2017574"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AWS Cloud Map</a:t>
            </a:r>
            <a:endParaRPr lang="en-US" sz="1500" dirty="0"/>
          </a:p>
        </p:txBody>
      </p:sp>
      <p:sp>
        <p:nvSpPr>
          <p:cNvPr id="28" name="Text 10"/>
          <p:cNvSpPr/>
          <p:nvPr/>
        </p:nvSpPr>
        <p:spPr>
          <a:xfrm>
            <a:off x="7383661" y="2809875"/>
            <a:ext cx="1699171"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Manages DNS namespaces and HTTP namespaces for service discovery</a:t>
            </a:r>
            <a:endParaRPr lang="en-US" sz="1200" dirty="0"/>
          </a:p>
        </p:txBody>
      </p:sp>
      <p:sp>
        <p:nvSpPr>
          <p:cNvPr id="29" name="Text 11"/>
          <p:cNvSpPr/>
          <p:nvPr/>
        </p:nvSpPr>
        <p:spPr>
          <a:xfrm>
            <a:off x="9850785" y="2466975"/>
            <a:ext cx="1658957"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ECS Services</a:t>
            </a:r>
            <a:endParaRPr lang="en-US" sz="1500" dirty="0"/>
          </a:p>
        </p:txBody>
      </p:sp>
      <p:sp>
        <p:nvSpPr>
          <p:cNvPr id="30" name="Text 12"/>
          <p:cNvSpPr/>
          <p:nvPr/>
        </p:nvSpPr>
        <p:spPr>
          <a:xfrm>
            <a:off x="9692432" y="2809875"/>
            <a:ext cx="169932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Containerized applications registered with Cloud Map for discovery</a:t>
            </a:r>
            <a:endParaRPr lang="en-US" sz="1200" dirty="0"/>
          </a:p>
        </p:txBody>
      </p:sp>
      <p:sp>
        <p:nvSpPr>
          <p:cNvPr id="31" name="Text 13"/>
          <p:cNvSpPr/>
          <p:nvPr/>
        </p:nvSpPr>
        <p:spPr>
          <a:xfrm>
            <a:off x="7536061" y="4371975"/>
            <a:ext cx="1706463"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Did You Know?</a:t>
            </a:r>
            <a:endParaRPr lang="en-US" sz="1350" dirty="0"/>
          </a:p>
        </p:txBody>
      </p:sp>
      <p:sp>
        <p:nvSpPr>
          <p:cNvPr id="32" name="Text 14"/>
          <p:cNvSpPr/>
          <p:nvPr/>
        </p:nvSpPr>
        <p:spPr>
          <a:xfrm>
            <a:off x="7345561" y="4714875"/>
            <a:ext cx="408429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You can configure service discovery when creating an ECS service, specifying whether to use HTTP or DNS namespace.</a:t>
            </a:r>
            <a:endParaRPr lang="en-US" sz="1200" dirty="0"/>
          </a:p>
        </p:txBody>
      </p:sp>
      <p:sp>
        <p:nvSpPr>
          <p:cNvPr id="33" name="Text 15"/>
          <p:cNvSpPr/>
          <p:nvPr/>
        </p:nvSpPr>
        <p:spPr>
          <a:xfrm>
            <a:off x="876300" y="6477000"/>
            <a:ext cx="205507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ECS Service Discovery</a:t>
            </a:r>
            <a:endParaRPr lang="en-US" sz="1200" dirty="0"/>
          </a:p>
        </p:txBody>
      </p:sp>
      <p:sp>
        <p:nvSpPr>
          <p:cNvPr id="34"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49/61</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838200"/>
          </a:xfrm>
          <a:prstGeom prst="rect">
            <a:avLst/>
          </a:prstGeom>
        </p:spPr>
      </p:pic>
      <p:pic>
        <p:nvPicPr>
          <p:cNvPr id="7" name="Image 5" descr="preencoded.png"/>
          <p:cNvPicPr>
            <a:picLocks noChangeAspect="1"/>
          </p:cNvPicPr>
          <p:nvPr/>
        </p:nvPicPr>
        <p:blipFill>
          <a:blip r:embed="rId7"/>
          <a:stretch>
            <a:fillRect/>
          </a:stretch>
        </p:blipFill>
        <p:spPr>
          <a:xfrm>
            <a:off x="4686300" y="1962150"/>
            <a:ext cx="3848100" cy="838200"/>
          </a:xfrm>
          <a:prstGeom prst="rect">
            <a:avLst/>
          </a:prstGeom>
        </p:spPr>
      </p:pic>
      <p:pic>
        <p:nvPicPr>
          <p:cNvPr id="8" name="Image 6" descr="preencoded.png"/>
          <p:cNvPicPr>
            <a:picLocks noChangeAspect="1"/>
          </p:cNvPicPr>
          <p:nvPr/>
        </p:nvPicPr>
        <p:blipFill>
          <a:blip r:embed="rId7"/>
          <a:stretch>
            <a:fillRect/>
          </a:stretch>
        </p:blipFill>
        <p:spPr>
          <a:xfrm>
            <a:off x="609600" y="3028950"/>
            <a:ext cx="3848100" cy="838200"/>
          </a:xfrm>
          <a:prstGeom prst="rect">
            <a:avLst/>
          </a:prstGeom>
        </p:spPr>
      </p:pic>
      <p:pic>
        <p:nvPicPr>
          <p:cNvPr id="9" name="Image 7" descr="preencoded.png"/>
          <p:cNvPicPr>
            <a:picLocks noChangeAspect="1"/>
          </p:cNvPicPr>
          <p:nvPr/>
        </p:nvPicPr>
        <p:blipFill>
          <a:blip r:embed="rId7"/>
          <a:stretch>
            <a:fillRect/>
          </a:stretch>
        </p:blipFill>
        <p:spPr>
          <a:xfrm>
            <a:off x="4686300" y="3028950"/>
            <a:ext cx="3848100" cy="838200"/>
          </a:xfrm>
          <a:prstGeom prst="rect">
            <a:avLst/>
          </a:prstGeom>
        </p:spPr>
      </p:pic>
      <p:pic>
        <p:nvPicPr>
          <p:cNvPr id="10" name="Image 8" descr="preencoded.png"/>
          <p:cNvPicPr>
            <a:picLocks noChangeAspect="1"/>
          </p:cNvPicPr>
          <p:nvPr/>
        </p:nvPicPr>
        <p:blipFill>
          <a:blip r:embed="rId8"/>
          <a:stretch>
            <a:fillRect/>
          </a:stretch>
        </p:blipFill>
        <p:spPr>
          <a:xfrm>
            <a:off x="9867900" y="2257425"/>
            <a:ext cx="685800" cy="685800"/>
          </a:xfrm>
          <a:prstGeom prst="rect">
            <a:avLst/>
          </a:prstGeom>
        </p:spPr>
      </p:pic>
      <p:pic>
        <p:nvPicPr>
          <p:cNvPr id="11" name="Image 9" descr="preencoded.png"/>
          <p:cNvPicPr>
            <a:picLocks noChangeAspect="1"/>
          </p:cNvPicPr>
          <p:nvPr/>
        </p:nvPicPr>
        <p:blipFill>
          <a:blip r:embed="rId9"/>
          <a:stretch>
            <a:fillRect/>
          </a:stretch>
        </p:blipFill>
        <p:spPr>
          <a:xfrm>
            <a:off x="8839200" y="3171825"/>
            <a:ext cx="2743200" cy="1790700"/>
          </a:xfrm>
          <a:prstGeom prst="rect">
            <a:avLst/>
          </a:prstGeom>
        </p:spPr>
      </p:pic>
      <p:pic>
        <p:nvPicPr>
          <p:cNvPr id="12" name="Image 10" descr="preencoded.png"/>
          <p:cNvPicPr>
            <a:picLocks noChangeAspect="1"/>
          </p:cNvPicPr>
          <p:nvPr/>
        </p:nvPicPr>
        <p:blipFill>
          <a:blip r:embed="rId10"/>
          <a:stretch>
            <a:fillRect/>
          </a:stretch>
        </p:blipFill>
        <p:spPr>
          <a:xfrm>
            <a:off x="609600" y="6515100"/>
            <a:ext cx="133350" cy="152400"/>
          </a:xfrm>
          <a:prstGeom prst="rect">
            <a:avLst/>
          </a:prstGeom>
        </p:spPr>
      </p:pic>
      <p:sp>
        <p:nvSpPr>
          <p:cNvPr id="13"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25</a:t>
            </a:r>
            <a:endParaRPr lang="en-US" sz="1200" dirty="0"/>
          </a:p>
        </p:txBody>
      </p:sp>
      <p:sp>
        <p:nvSpPr>
          <p:cNvPr id="14" name="Text 1"/>
          <p:cNvSpPr/>
          <p:nvPr/>
        </p:nvSpPr>
        <p:spPr>
          <a:xfrm>
            <a:off x="1143000" y="304800"/>
            <a:ext cx="6487597"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Container Security Best Practices</a:t>
            </a:r>
            <a:endParaRPr lang="en-US" sz="2250" dirty="0"/>
          </a:p>
        </p:txBody>
      </p:sp>
      <p:sp>
        <p:nvSpPr>
          <p:cNvPr id="15"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Which of the following is considered a best practice for securing Docker containers?</a:t>
            </a:r>
            <a:endParaRPr lang="en-US" sz="1800" dirty="0"/>
          </a:p>
        </p:txBody>
      </p:sp>
      <p:sp>
        <p:nvSpPr>
          <p:cNvPr id="16"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17" name="Text 4"/>
          <p:cNvSpPr/>
          <p:nvPr/>
        </p:nvSpPr>
        <p:spPr>
          <a:xfrm>
            <a:off x="1099691" y="2114550"/>
            <a:ext cx="3205609"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Always run containers with root privileges for maximum functionality.</a:t>
            </a:r>
            <a:endParaRPr lang="en-US" sz="1350" dirty="0"/>
          </a:p>
        </p:txBody>
      </p:sp>
      <p:sp>
        <p:nvSpPr>
          <p:cNvPr id="18"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19" name="Text 6"/>
          <p:cNvSpPr/>
          <p:nvPr/>
        </p:nvSpPr>
        <p:spPr>
          <a:xfrm>
            <a:off x="5170587" y="2114550"/>
            <a:ext cx="3211413"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Expose all container ports to the host to ensure accessibility.</a:t>
            </a:r>
            <a:endParaRPr lang="en-US" sz="1350" dirty="0"/>
          </a:p>
        </p:txBody>
      </p:sp>
      <p:sp>
        <p:nvSpPr>
          <p:cNvPr id="20" name="Text 7"/>
          <p:cNvSpPr/>
          <p:nvPr/>
        </p:nvSpPr>
        <p:spPr>
          <a:xfrm>
            <a:off x="762000" y="31813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1" name="Text 8"/>
          <p:cNvSpPr/>
          <p:nvPr/>
        </p:nvSpPr>
        <p:spPr>
          <a:xfrm>
            <a:off x="1088529" y="3181350"/>
            <a:ext cx="3216771"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Run container processes as a non-root user.</a:t>
            </a:r>
            <a:endParaRPr lang="en-US" sz="1350" dirty="0"/>
          </a:p>
        </p:txBody>
      </p:sp>
      <p:sp>
        <p:nvSpPr>
          <p:cNvPr id="22" name="Text 9"/>
          <p:cNvSpPr/>
          <p:nvPr/>
        </p:nvSpPr>
        <p:spPr>
          <a:xfrm>
            <a:off x="4838700" y="31813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3" name="Text 10"/>
          <p:cNvSpPr/>
          <p:nvPr/>
        </p:nvSpPr>
        <p:spPr>
          <a:xfrm>
            <a:off x="5183535" y="3181350"/>
            <a:ext cx="3198465"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Disable image vulnerability scanning to speed up deployments.</a:t>
            </a:r>
            <a:endParaRPr lang="en-US" sz="1350" dirty="0"/>
          </a:p>
        </p:txBody>
      </p:sp>
      <p:sp>
        <p:nvSpPr>
          <p:cNvPr id="24" name="Text 11"/>
          <p:cNvSpPr/>
          <p:nvPr/>
        </p:nvSpPr>
        <p:spPr>
          <a:xfrm>
            <a:off x="8991600" y="3324225"/>
            <a:ext cx="292608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F766E"/>
                </a:solidFill>
                <a:latin typeface="ui-sans-serif" pitchFamily="34" charset="0"/>
                <a:ea typeface="ui-sans-serif" pitchFamily="34" charset="-122"/>
                <a:cs typeface="ui-sans-serif" pitchFamily="34" charset="-120"/>
              </a:rPr>
              <a:t>Security Tip</a:t>
            </a:r>
            <a:endParaRPr lang="en-US" sz="1350" dirty="0"/>
          </a:p>
        </p:txBody>
      </p:sp>
      <p:sp>
        <p:nvSpPr>
          <p:cNvPr id="25" name="Text 12"/>
          <p:cNvSpPr/>
          <p:nvPr/>
        </p:nvSpPr>
        <p:spPr>
          <a:xfrm>
            <a:off x="8991600" y="3667125"/>
            <a:ext cx="2438400" cy="11430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Running container processes as a non-root user is a critical security best practice that minimizes the impact of potential container breakouts.</a:t>
            </a:r>
            <a:endParaRPr lang="en-US" sz="1200" dirty="0"/>
          </a:p>
        </p:txBody>
      </p:sp>
      <p:sp>
        <p:nvSpPr>
          <p:cNvPr id="26" name="Text 13"/>
          <p:cNvSpPr/>
          <p:nvPr/>
        </p:nvSpPr>
        <p:spPr>
          <a:xfrm>
            <a:off x="819150" y="6477000"/>
            <a:ext cx="163484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Security Practices</a:t>
            </a:r>
            <a:endParaRPr lang="en-US" sz="1200" dirty="0"/>
          </a:p>
        </p:txBody>
      </p:sp>
      <p:sp>
        <p:nvSpPr>
          <p:cNvPr id="27" name="Text 14"/>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50/61</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924800" cy="1143000"/>
          </a:xfrm>
          <a:prstGeom prst="rect">
            <a:avLst/>
          </a:prstGeom>
        </p:spPr>
      </p:pic>
      <p:pic>
        <p:nvPicPr>
          <p:cNvPr id="7" name="Image 5" descr="preencoded.png"/>
          <p:cNvPicPr>
            <a:picLocks noChangeAspect="1"/>
          </p:cNvPicPr>
          <p:nvPr/>
        </p:nvPicPr>
        <p:blipFill>
          <a:blip r:embed="rId7"/>
          <a:stretch>
            <a:fillRect/>
          </a:stretch>
        </p:blipFill>
        <p:spPr>
          <a:xfrm>
            <a:off x="838200" y="1276350"/>
            <a:ext cx="228600" cy="304800"/>
          </a:xfrm>
          <a:prstGeom prst="rect">
            <a:avLst/>
          </a:prstGeom>
        </p:spPr>
      </p:pic>
      <p:pic>
        <p:nvPicPr>
          <p:cNvPr id="8" name="Image 6" descr="preencoded.png"/>
          <p:cNvPicPr>
            <a:picLocks noChangeAspect="1"/>
          </p:cNvPicPr>
          <p:nvPr/>
        </p:nvPicPr>
        <p:blipFill>
          <a:blip r:embed="rId8"/>
          <a:stretch>
            <a:fillRect/>
          </a:stretch>
        </p:blipFill>
        <p:spPr>
          <a:xfrm>
            <a:off x="609600" y="2895600"/>
            <a:ext cx="190500" cy="266700"/>
          </a:xfrm>
          <a:prstGeom prst="rect">
            <a:avLst/>
          </a:prstGeom>
        </p:spPr>
      </p:pic>
      <p:pic>
        <p:nvPicPr>
          <p:cNvPr id="9" name="Image 7" descr="preencoded.png"/>
          <p:cNvPicPr>
            <a:picLocks noChangeAspect="1"/>
          </p:cNvPicPr>
          <p:nvPr/>
        </p:nvPicPr>
        <p:blipFill>
          <a:blip r:embed="rId9"/>
          <a:stretch>
            <a:fillRect/>
          </a:stretch>
        </p:blipFill>
        <p:spPr>
          <a:xfrm>
            <a:off x="609600" y="3333750"/>
            <a:ext cx="238125" cy="266700"/>
          </a:xfrm>
          <a:prstGeom prst="rect">
            <a:avLst/>
          </a:prstGeom>
        </p:spPr>
      </p:pic>
      <p:pic>
        <p:nvPicPr>
          <p:cNvPr id="10" name="Image 8" descr="preencoded.png"/>
          <p:cNvPicPr>
            <a:picLocks noChangeAspect="1"/>
          </p:cNvPicPr>
          <p:nvPr/>
        </p:nvPicPr>
        <p:blipFill>
          <a:blip r:embed="rId10"/>
          <a:stretch>
            <a:fillRect/>
          </a:stretch>
        </p:blipFill>
        <p:spPr>
          <a:xfrm>
            <a:off x="609600" y="4019550"/>
            <a:ext cx="171450" cy="266700"/>
          </a:xfrm>
          <a:prstGeom prst="rect">
            <a:avLst/>
          </a:prstGeom>
        </p:spPr>
      </p:pic>
      <p:pic>
        <p:nvPicPr>
          <p:cNvPr id="11" name="Image 9" descr="preencoded.png"/>
          <p:cNvPicPr>
            <a:picLocks noChangeAspect="1"/>
          </p:cNvPicPr>
          <p:nvPr/>
        </p:nvPicPr>
        <p:blipFill>
          <a:blip r:embed="rId11"/>
          <a:stretch>
            <a:fillRect/>
          </a:stretch>
        </p:blipFill>
        <p:spPr>
          <a:xfrm>
            <a:off x="609600" y="4705350"/>
            <a:ext cx="171450" cy="266700"/>
          </a:xfrm>
          <a:prstGeom prst="rect">
            <a:avLst/>
          </a:prstGeom>
        </p:spPr>
      </p:pic>
      <p:pic>
        <p:nvPicPr>
          <p:cNvPr id="12" name="Image 10" descr="preencoded.png"/>
          <p:cNvPicPr>
            <a:picLocks noChangeAspect="1"/>
          </p:cNvPicPr>
          <p:nvPr/>
        </p:nvPicPr>
        <p:blipFill>
          <a:blip r:embed="rId12"/>
          <a:stretch>
            <a:fillRect/>
          </a:stretch>
        </p:blipFill>
        <p:spPr>
          <a:xfrm>
            <a:off x="9782175" y="2333625"/>
            <a:ext cx="857250" cy="685800"/>
          </a:xfrm>
          <a:prstGeom prst="rect">
            <a:avLst/>
          </a:prstGeom>
        </p:spPr>
      </p:pic>
      <p:pic>
        <p:nvPicPr>
          <p:cNvPr id="13" name="Image 11" descr="preencoded.png"/>
          <p:cNvPicPr>
            <a:picLocks noChangeAspect="1"/>
          </p:cNvPicPr>
          <p:nvPr/>
        </p:nvPicPr>
        <p:blipFill>
          <a:blip r:embed="rId13"/>
          <a:stretch>
            <a:fillRect/>
          </a:stretch>
        </p:blipFill>
        <p:spPr>
          <a:xfrm>
            <a:off x="8839200" y="3324225"/>
            <a:ext cx="2743200" cy="1562100"/>
          </a:xfrm>
          <a:prstGeom prst="rect">
            <a:avLst/>
          </a:prstGeom>
        </p:spPr>
      </p:pic>
      <p:pic>
        <p:nvPicPr>
          <p:cNvPr id="14" name="Image 12" descr="preencoded.png"/>
          <p:cNvPicPr>
            <a:picLocks noChangeAspect="1"/>
          </p:cNvPicPr>
          <p:nvPr/>
        </p:nvPicPr>
        <p:blipFill>
          <a:blip r:embed="rId14"/>
          <a:stretch>
            <a:fillRect/>
          </a:stretch>
        </p:blipFill>
        <p:spPr>
          <a:xfrm>
            <a:off x="609600" y="6515100"/>
            <a:ext cx="152400" cy="152400"/>
          </a:xfrm>
          <a:prstGeom prst="rect">
            <a:avLst/>
          </a:prstGeom>
        </p:spPr>
      </p:pic>
      <p:sp>
        <p:nvSpPr>
          <p:cNvPr id="15"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25</a:t>
            </a:r>
            <a:endParaRPr lang="en-US" sz="1200" dirty="0"/>
          </a:p>
        </p:txBody>
      </p:sp>
      <p:sp>
        <p:nvSpPr>
          <p:cNvPr id="16" name="Text 1"/>
          <p:cNvSpPr/>
          <p:nvPr/>
        </p:nvSpPr>
        <p:spPr>
          <a:xfrm>
            <a:off x="1143000" y="304800"/>
            <a:ext cx="6487597"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Container Security Best Practices</a:t>
            </a:r>
            <a:endParaRPr lang="en-US" sz="2250" dirty="0"/>
          </a:p>
        </p:txBody>
      </p:sp>
      <p:sp>
        <p:nvSpPr>
          <p:cNvPr id="17" name="Text 2"/>
          <p:cNvSpPr/>
          <p:nvPr/>
        </p:nvSpPr>
        <p:spPr>
          <a:xfrm>
            <a:off x="1181100" y="1295400"/>
            <a:ext cx="2323326"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Correct Answer: </a:t>
            </a:r>
            <a:r>
              <a:rPr lang="en-US" sz="1500" b="1" dirty="0">
                <a:solidFill>
                  <a:srgbClr val="FF6B6B"/>
                </a:solidFill>
                <a:latin typeface="ui-sans-serif" pitchFamily="34" charset="0"/>
                <a:ea typeface="ui-sans-serif" pitchFamily="34" charset="-122"/>
                <a:cs typeface="ui-sans-serif" pitchFamily="34" charset="-120"/>
              </a:rPr>
              <a:t>C</a:t>
            </a:r>
            <a:endParaRPr lang="en-US" sz="1500" dirty="0"/>
          </a:p>
        </p:txBody>
      </p:sp>
      <p:sp>
        <p:nvSpPr>
          <p:cNvPr id="18" name="Text 3"/>
          <p:cNvSpPr/>
          <p:nvPr/>
        </p:nvSpPr>
        <p:spPr>
          <a:xfrm>
            <a:off x="838200" y="1695450"/>
            <a:ext cx="8961120" cy="266700"/>
          </a:xfrm>
          <a:prstGeom prst="rect">
            <a:avLst/>
          </a:prstGeom>
          <a:noFill/>
          <a:ln/>
        </p:spPr>
        <p:txBody>
          <a:bodyPr vert="horz"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Run container processes as a non-root user.</a:t>
            </a:r>
            <a:endParaRPr lang="en-US" sz="1500" dirty="0"/>
          </a:p>
        </p:txBody>
      </p:sp>
      <p:sp>
        <p:nvSpPr>
          <p:cNvPr id="19" name="Text 4"/>
          <p:cNvSpPr/>
          <p:nvPr/>
        </p:nvSpPr>
        <p:spPr>
          <a:xfrm>
            <a:off x="609600" y="2419350"/>
            <a:ext cx="7924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0" name="Text 5"/>
          <p:cNvSpPr/>
          <p:nvPr/>
        </p:nvSpPr>
        <p:spPr>
          <a:xfrm>
            <a:off x="914400" y="2876550"/>
            <a:ext cx="8859857"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Running container processes as a non-root user is a </a:t>
            </a:r>
            <a:r>
              <a:rPr lang="en-US" sz="1350" b="1" dirty="0">
                <a:solidFill>
                  <a:srgbClr val="FF6B6B"/>
                </a:solidFill>
                <a:latin typeface="ui-sans-serif" pitchFamily="34" charset="0"/>
                <a:ea typeface="ui-sans-serif" pitchFamily="34" charset="-122"/>
                <a:cs typeface="ui-sans-serif" pitchFamily="34" charset="-120"/>
              </a:rPr>
              <a:t>critical security best practice</a:t>
            </a:r>
            <a:r>
              <a:rPr lang="en-US" sz="1350" dirty="0">
                <a:solidFill>
                  <a:srgbClr val="374151"/>
                </a:solidFill>
                <a:latin typeface="ui-sans-serif" pitchFamily="34" charset="0"/>
                <a:ea typeface="ui-sans-serif" pitchFamily="34" charset="-122"/>
                <a:cs typeface="ui-sans-serif" pitchFamily="34" charset="-120"/>
              </a:rPr>
              <a:t>.</a:t>
            </a:r>
            <a:endParaRPr lang="en-US" sz="1350" dirty="0"/>
          </a:p>
        </p:txBody>
      </p:sp>
      <p:sp>
        <p:nvSpPr>
          <p:cNvPr id="21" name="Text 6"/>
          <p:cNvSpPr/>
          <p:nvPr/>
        </p:nvSpPr>
        <p:spPr>
          <a:xfrm>
            <a:off x="962025" y="3314700"/>
            <a:ext cx="7572375"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This minimizes the impact of a potential container breakout, as a non-root user inside the container would have limited privileges on the host system.</a:t>
            </a:r>
            <a:endParaRPr lang="en-US" sz="1350" dirty="0"/>
          </a:p>
        </p:txBody>
      </p:sp>
      <p:sp>
        <p:nvSpPr>
          <p:cNvPr id="22" name="Text 7"/>
          <p:cNvSpPr/>
          <p:nvPr/>
        </p:nvSpPr>
        <p:spPr>
          <a:xfrm>
            <a:off x="895350" y="4000500"/>
            <a:ext cx="763905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Reducing privileges limits the potential damage if an attacker exploits a vulnerability in the application running inside the container.</a:t>
            </a:r>
            <a:endParaRPr lang="en-US" sz="1350" dirty="0"/>
          </a:p>
        </p:txBody>
      </p:sp>
      <p:sp>
        <p:nvSpPr>
          <p:cNvPr id="23" name="Text 8"/>
          <p:cNvSpPr/>
          <p:nvPr/>
        </p:nvSpPr>
        <p:spPr>
          <a:xfrm>
            <a:off x="895350" y="4686300"/>
            <a:ext cx="763905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It follows the principle of least privilege, granting only the permissions necessary for the application to function correctly.</a:t>
            </a:r>
            <a:endParaRPr lang="en-US" sz="1350" dirty="0"/>
          </a:p>
        </p:txBody>
      </p:sp>
      <p:sp>
        <p:nvSpPr>
          <p:cNvPr id="24" name="Text 9"/>
          <p:cNvSpPr/>
          <p:nvPr/>
        </p:nvSpPr>
        <p:spPr>
          <a:xfrm>
            <a:off x="8991600" y="3476625"/>
            <a:ext cx="2926080"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Did You Know?</a:t>
            </a:r>
            <a:endParaRPr lang="en-US" sz="1350" dirty="0"/>
          </a:p>
        </p:txBody>
      </p:sp>
      <p:sp>
        <p:nvSpPr>
          <p:cNvPr id="25" name="Text 10"/>
          <p:cNvSpPr/>
          <p:nvPr/>
        </p:nvSpPr>
        <p:spPr>
          <a:xfrm>
            <a:off x="8991600" y="3819525"/>
            <a:ext cx="2438400" cy="914400"/>
          </a:xfrm>
          <a:prstGeom prst="rect">
            <a:avLst/>
          </a:prstGeom>
          <a:noFill/>
          <a:ln/>
        </p:spPr>
        <p:txBody>
          <a:bodyPr vert="horz" wrap="square" lIns="0" tIns="0" rIns="0" bIns="0" rtlCol="0" anchor="t"/>
          <a:lstStyle/>
          <a:p>
            <a:pPr marL="0" indent="0">
              <a:lnSpc>
                <a:spcPts val="1800"/>
              </a:lnSpc>
              <a:buNone/>
            </a:pPr>
            <a:r>
              <a:rPr lang="en-US" sz="1200" i="1" dirty="0">
                <a:solidFill>
                  <a:srgbClr val="4B5563"/>
                </a:solidFill>
                <a:latin typeface="ui-sans-serif" pitchFamily="34" charset="0"/>
                <a:ea typeface="ui-sans-serif" pitchFamily="34" charset="-122"/>
                <a:cs typeface="ui-sans-serif" pitchFamily="34" charset="-120"/>
              </a:rPr>
              <a:t>Many container security vulnerabilities could be mitigated by simply running as a non-root user.</a:t>
            </a:r>
            <a:endParaRPr lang="en-US" sz="1200" dirty="0"/>
          </a:p>
        </p:txBody>
      </p:sp>
      <p:sp>
        <p:nvSpPr>
          <p:cNvPr id="26" name="Text 11"/>
          <p:cNvSpPr/>
          <p:nvPr/>
        </p:nvSpPr>
        <p:spPr>
          <a:xfrm>
            <a:off x="838200" y="6477000"/>
            <a:ext cx="1702891"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Container Security</a:t>
            </a:r>
            <a:endParaRPr lang="en-US" sz="1200" dirty="0"/>
          </a:p>
        </p:txBody>
      </p:sp>
      <p:sp>
        <p:nvSpPr>
          <p:cNvPr id="27" name="Text 12"/>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51/61</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962150"/>
            <a:ext cx="3848100" cy="1638300"/>
          </a:xfrm>
          <a:prstGeom prst="rect">
            <a:avLst/>
          </a:prstGeom>
        </p:spPr>
      </p:pic>
      <p:pic>
        <p:nvPicPr>
          <p:cNvPr id="7" name="Image 5" descr="preencoded.png"/>
          <p:cNvPicPr>
            <a:picLocks noChangeAspect="1"/>
          </p:cNvPicPr>
          <p:nvPr/>
        </p:nvPicPr>
        <p:blipFill>
          <a:blip r:embed="rId6"/>
          <a:stretch>
            <a:fillRect/>
          </a:stretch>
        </p:blipFill>
        <p:spPr>
          <a:xfrm>
            <a:off x="4686300" y="1962150"/>
            <a:ext cx="3848100" cy="1638300"/>
          </a:xfrm>
          <a:prstGeom prst="rect">
            <a:avLst/>
          </a:prstGeom>
        </p:spPr>
      </p:pic>
      <p:pic>
        <p:nvPicPr>
          <p:cNvPr id="8" name="Image 6" descr="preencoded.png"/>
          <p:cNvPicPr>
            <a:picLocks noChangeAspect="1"/>
          </p:cNvPicPr>
          <p:nvPr/>
        </p:nvPicPr>
        <p:blipFill>
          <a:blip r:embed="rId7"/>
          <a:stretch>
            <a:fillRect/>
          </a:stretch>
        </p:blipFill>
        <p:spPr>
          <a:xfrm>
            <a:off x="609600" y="3829050"/>
            <a:ext cx="3848100" cy="1104900"/>
          </a:xfrm>
          <a:prstGeom prst="rect">
            <a:avLst/>
          </a:prstGeom>
        </p:spPr>
      </p:pic>
      <p:pic>
        <p:nvPicPr>
          <p:cNvPr id="9" name="Image 7" descr="preencoded.png"/>
          <p:cNvPicPr>
            <a:picLocks noChangeAspect="1"/>
          </p:cNvPicPr>
          <p:nvPr/>
        </p:nvPicPr>
        <p:blipFill>
          <a:blip r:embed="rId7"/>
          <a:stretch>
            <a:fillRect/>
          </a:stretch>
        </p:blipFill>
        <p:spPr>
          <a:xfrm>
            <a:off x="4686300" y="3829050"/>
            <a:ext cx="3848100" cy="1104900"/>
          </a:xfrm>
          <a:prstGeom prst="rect">
            <a:avLst/>
          </a:prstGeom>
        </p:spPr>
      </p:pic>
      <p:pic>
        <p:nvPicPr>
          <p:cNvPr id="10" name="Image 8" descr="preencoded.png"/>
          <p:cNvPicPr>
            <a:picLocks noChangeAspect="1"/>
          </p:cNvPicPr>
          <p:nvPr/>
        </p:nvPicPr>
        <p:blipFill>
          <a:blip r:embed="rId8"/>
          <a:stretch>
            <a:fillRect/>
          </a:stretch>
        </p:blipFill>
        <p:spPr>
          <a:xfrm>
            <a:off x="9395520" y="2162175"/>
            <a:ext cx="714375" cy="571500"/>
          </a:xfrm>
          <a:prstGeom prst="rect">
            <a:avLst/>
          </a:prstGeom>
        </p:spPr>
      </p:pic>
      <p:pic>
        <p:nvPicPr>
          <p:cNvPr id="11" name="Image 9" descr="preencoded.png"/>
          <p:cNvPicPr>
            <a:picLocks noChangeAspect="1"/>
          </p:cNvPicPr>
          <p:nvPr/>
        </p:nvPicPr>
        <p:blipFill>
          <a:blip r:embed="rId9"/>
          <a:stretch>
            <a:fillRect/>
          </a:stretch>
        </p:blipFill>
        <p:spPr>
          <a:xfrm>
            <a:off x="10158413" y="2381250"/>
            <a:ext cx="247650" cy="342900"/>
          </a:xfrm>
          <a:prstGeom prst="rect">
            <a:avLst/>
          </a:prstGeom>
        </p:spPr>
      </p:pic>
      <p:pic>
        <p:nvPicPr>
          <p:cNvPr id="12" name="Image 10" descr="preencoded.png"/>
          <p:cNvPicPr>
            <a:picLocks noChangeAspect="1"/>
          </p:cNvPicPr>
          <p:nvPr/>
        </p:nvPicPr>
        <p:blipFill>
          <a:blip r:embed="rId10"/>
          <a:stretch>
            <a:fillRect/>
          </a:stretch>
        </p:blipFill>
        <p:spPr>
          <a:xfrm>
            <a:off x="10454580" y="2162175"/>
            <a:ext cx="571500" cy="571500"/>
          </a:xfrm>
          <a:prstGeom prst="rect">
            <a:avLst/>
          </a:prstGeom>
        </p:spPr>
      </p:pic>
      <p:pic>
        <p:nvPicPr>
          <p:cNvPr id="13" name="Image 11" descr="preencoded.png"/>
          <p:cNvPicPr>
            <a:picLocks noChangeAspect="1"/>
          </p:cNvPicPr>
          <p:nvPr/>
        </p:nvPicPr>
        <p:blipFill>
          <a:blip r:embed="rId11"/>
          <a:stretch>
            <a:fillRect/>
          </a:stretch>
        </p:blipFill>
        <p:spPr>
          <a:xfrm>
            <a:off x="8839200" y="3114675"/>
            <a:ext cx="2743200" cy="1943100"/>
          </a:xfrm>
          <a:prstGeom prst="rect">
            <a:avLst/>
          </a:prstGeom>
        </p:spPr>
      </p:pic>
      <p:pic>
        <p:nvPicPr>
          <p:cNvPr id="14" name="Image 12" descr="preencoded.png"/>
          <p:cNvPicPr>
            <a:picLocks noChangeAspect="1"/>
          </p:cNvPicPr>
          <p:nvPr/>
        </p:nvPicPr>
        <p:blipFill>
          <a:blip r:embed="rId12"/>
          <a:stretch>
            <a:fillRect/>
          </a:stretch>
        </p:blipFill>
        <p:spPr>
          <a:xfrm>
            <a:off x="8991600" y="3648075"/>
            <a:ext cx="133350" cy="133350"/>
          </a:xfrm>
          <a:prstGeom prst="rect">
            <a:avLst/>
          </a:prstGeom>
        </p:spPr>
      </p:pic>
      <p:pic>
        <p:nvPicPr>
          <p:cNvPr id="15" name="Image 13" descr="preencoded.png"/>
          <p:cNvPicPr>
            <a:picLocks noChangeAspect="1"/>
          </p:cNvPicPr>
          <p:nvPr/>
        </p:nvPicPr>
        <p:blipFill>
          <a:blip r:embed="rId12"/>
          <a:stretch>
            <a:fillRect/>
          </a:stretch>
        </p:blipFill>
        <p:spPr>
          <a:xfrm>
            <a:off x="8991600" y="4105275"/>
            <a:ext cx="133350" cy="133350"/>
          </a:xfrm>
          <a:prstGeom prst="rect">
            <a:avLst/>
          </a:prstGeom>
        </p:spPr>
      </p:pic>
      <p:pic>
        <p:nvPicPr>
          <p:cNvPr id="16" name="Image 14" descr="preencoded.png"/>
          <p:cNvPicPr>
            <a:picLocks noChangeAspect="1"/>
          </p:cNvPicPr>
          <p:nvPr/>
        </p:nvPicPr>
        <p:blipFill>
          <a:blip r:embed="rId12"/>
          <a:stretch>
            <a:fillRect/>
          </a:stretch>
        </p:blipFill>
        <p:spPr>
          <a:xfrm>
            <a:off x="8991600" y="4562475"/>
            <a:ext cx="133350" cy="133350"/>
          </a:xfrm>
          <a:prstGeom prst="rect">
            <a:avLst/>
          </a:prstGeom>
        </p:spPr>
      </p:pic>
      <p:pic>
        <p:nvPicPr>
          <p:cNvPr id="17" name="Image 15" descr="preencoded.png"/>
          <p:cNvPicPr>
            <a:picLocks noChangeAspect="1"/>
          </p:cNvPicPr>
          <p:nvPr/>
        </p:nvPicPr>
        <p:blipFill>
          <a:blip r:embed="rId13"/>
          <a:stretch>
            <a:fillRect/>
          </a:stretch>
        </p:blipFill>
        <p:spPr>
          <a:xfrm>
            <a:off x="609600" y="6515100"/>
            <a:ext cx="190500" cy="152400"/>
          </a:xfrm>
          <a:prstGeom prst="rect">
            <a:avLst/>
          </a:prstGeom>
        </p:spPr>
      </p:pic>
      <p:sp>
        <p:nvSpPr>
          <p:cNvPr id="18"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26</a:t>
            </a:r>
            <a:endParaRPr lang="en-US" sz="1200" dirty="0"/>
          </a:p>
        </p:txBody>
      </p:sp>
      <p:sp>
        <p:nvSpPr>
          <p:cNvPr id="19" name="Text 1"/>
          <p:cNvSpPr/>
          <p:nvPr/>
        </p:nvSpPr>
        <p:spPr>
          <a:xfrm>
            <a:off x="1143000" y="304800"/>
            <a:ext cx="4738628"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ECR and IAM Integration</a:t>
            </a:r>
            <a:endParaRPr lang="en-US" sz="2250" dirty="0"/>
          </a:p>
        </p:txBody>
      </p:sp>
      <p:sp>
        <p:nvSpPr>
          <p:cNvPr id="20" name="Text 2"/>
          <p:cNvSpPr/>
          <p:nvPr/>
        </p:nvSpPr>
        <p:spPr>
          <a:xfrm>
            <a:off x="609600" y="1047750"/>
            <a:ext cx="79248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How can AWS IAM policies be used to control access to Amazon ECR repositories?</a:t>
            </a:r>
            <a:endParaRPr lang="en-US" sz="1800" dirty="0"/>
          </a:p>
        </p:txBody>
      </p:sp>
      <p:sp>
        <p:nvSpPr>
          <p:cNvPr id="21" name="Text 3"/>
          <p:cNvSpPr/>
          <p:nvPr/>
        </p:nvSpPr>
        <p:spPr>
          <a:xfrm>
            <a:off x="762000" y="21145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2" name="Text 4"/>
          <p:cNvSpPr/>
          <p:nvPr/>
        </p:nvSpPr>
        <p:spPr>
          <a:xfrm>
            <a:off x="1099691" y="2114550"/>
            <a:ext cx="3205609"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IAM policies can only grant full access or no access to ECR repositories.</a:t>
            </a:r>
            <a:endParaRPr lang="en-US" sz="1350" dirty="0"/>
          </a:p>
        </p:txBody>
      </p:sp>
      <p:sp>
        <p:nvSpPr>
          <p:cNvPr id="23" name="Text 5"/>
          <p:cNvSpPr/>
          <p:nvPr/>
        </p:nvSpPr>
        <p:spPr>
          <a:xfrm>
            <a:off x="4838700" y="21145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4" name="Text 6"/>
          <p:cNvSpPr/>
          <p:nvPr/>
        </p:nvSpPr>
        <p:spPr>
          <a:xfrm>
            <a:off x="5170587" y="2114550"/>
            <a:ext cx="3211413" cy="13335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IAM policies allow for granular, resource-based permissions to specify which users or EC2 instances can push or pull images from specific repositories.</a:t>
            </a:r>
            <a:endParaRPr lang="en-US" sz="1350" dirty="0"/>
          </a:p>
        </p:txBody>
      </p:sp>
      <p:sp>
        <p:nvSpPr>
          <p:cNvPr id="25" name="Text 7"/>
          <p:cNvSpPr/>
          <p:nvPr/>
        </p:nvSpPr>
        <p:spPr>
          <a:xfrm>
            <a:off x="762000" y="39814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6" name="Text 8"/>
          <p:cNvSpPr/>
          <p:nvPr/>
        </p:nvSpPr>
        <p:spPr>
          <a:xfrm>
            <a:off x="1088529" y="3981450"/>
            <a:ext cx="3216771"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ECR access is managed solely through repository-level passwords, not IAM.</a:t>
            </a:r>
            <a:endParaRPr lang="en-US" sz="1350" dirty="0"/>
          </a:p>
        </p:txBody>
      </p:sp>
      <p:sp>
        <p:nvSpPr>
          <p:cNvPr id="27" name="Text 9"/>
          <p:cNvSpPr/>
          <p:nvPr/>
        </p:nvSpPr>
        <p:spPr>
          <a:xfrm>
            <a:off x="4838700" y="39814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8" name="Text 10"/>
          <p:cNvSpPr/>
          <p:nvPr/>
        </p:nvSpPr>
        <p:spPr>
          <a:xfrm>
            <a:off x="5183535" y="3981450"/>
            <a:ext cx="3198465"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IAM policies are only used for authenticating with Docker Hub, not ECR.</a:t>
            </a:r>
            <a:endParaRPr lang="en-US" sz="1350" dirty="0"/>
          </a:p>
        </p:txBody>
      </p:sp>
      <p:sp>
        <p:nvSpPr>
          <p:cNvPr id="29" name="Text 11"/>
          <p:cNvSpPr/>
          <p:nvPr/>
        </p:nvSpPr>
        <p:spPr>
          <a:xfrm>
            <a:off x="8991600" y="3267075"/>
            <a:ext cx="24384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Key Points:</a:t>
            </a:r>
            <a:endParaRPr lang="en-US" sz="1350" dirty="0"/>
          </a:p>
        </p:txBody>
      </p:sp>
      <p:sp>
        <p:nvSpPr>
          <p:cNvPr id="30" name="Text 12"/>
          <p:cNvSpPr/>
          <p:nvPr/>
        </p:nvSpPr>
        <p:spPr>
          <a:xfrm>
            <a:off x="9201150" y="3609975"/>
            <a:ext cx="2228850" cy="3810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ECR integrates with AWS IAM for resource-based permissions</a:t>
            </a:r>
            <a:endParaRPr lang="en-US" sz="1050" dirty="0"/>
          </a:p>
        </p:txBody>
      </p:sp>
      <p:sp>
        <p:nvSpPr>
          <p:cNvPr id="31" name="Text 13"/>
          <p:cNvSpPr/>
          <p:nvPr/>
        </p:nvSpPr>
        <p:spPr>
          <a:xfrm>
            <a:off x="9201150" y="4067175"/>
            <a:ext cx="2228850" cy="3810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Allows fine-grained access controls to repositories</a:t>
            </a:r>
            <a:endParaRPr lang="en-US" sz="1050" dirty="0"/>
          </a:p>
        </p:txBody>
      </p:sp>
      <p:sp>
        <p:nvSpPr>
          <p:cNvPr id="32" name="Text 14"/>
          <p:cNvSpPr/>
          <p:nvPr/>
        </p:nvSpPr>
        <p:spPr>
          <a:xfrm>
            <a:off x="9201150" y="4524375"/>
            <a:ext cx="2228850" cy="381000"/>
          </a:xfrm>
          <a:prstGeom prst="rect">
            <a:avLst/>
          </a:prstGeom>
          <a:noFill/>
          <a:ln/>
        </p:spPr>
        <p:txBody>
          <a:bodyPr vert="horz" wrap="square" lIns="0" tIns="0" rIns="0" bIns="0" rtlCol="0" anchor="t"/>
          <a:lstStyle/>
          <a:p>
            <a:pPr marL="0" indent="0" algn="l">
              <a:lnSpc>
                <a:spcPts val="1500"/>
              </a:lnSpc>
              <a:buNone/>
            </a:pPr>
            <a:r>
              <a:rPr lang="en-US" sz="1050" dirty="0">
                <a:solidFill>
                  <a:srgbClr val="4B5563"/>
                </a:solidFill>
                <a:latin typeface="ui-sans-serif" pitchFamily="34" charset="0"/>
                <a:ea typeface="ui-sans-serif" pitchFamily="34" charset="-122"/>
                <a:cs typeface="ui-sans-serif" pitchFamily="34" charset="-120"/>
              </a:rPr>
              <a:t>Specifically defines which users/roles can push/pull images</a:t>
            </a:r>
            <a:endParaRPr lang="en-US" sz="1050" dirty="0"/>
          </a:p>
        </p:txBody>
      </p:sp>
      <p:sp>
        <p:nvSpPr>
          <p:cNvPr id="33" name="Text 15"/>
          <p:cNvSpPr/>
          <p:nvPr/>
        </p:nvSpPr>
        <p:spPr>
          <a:xfrm>
            <a:off x="876300" y="6477000"/>
            <a:ext cx="84046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ECR</a:t>
            </a:r>
            <a:endParaRPr lang="en-US" sz="1200" dirty="0"/>
          </a:p>
        </p:txBody>
      </p:sp>
      <p:sp>
        <p:nvSpPr>
          <p:cNvPr id="34"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52/61</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448550"/>
          </a:xfrm>
          <a:prstGeom prst="rect">
            <a:avLst/>
          </a:prstGeom>
        </p:spPr>
      </p:pic>
      <p:pic>
        <p:nvPicPr>
          <p:cNvPr id="3" name="Image 1" descr="preencoded.png"/>
          <p:cNvPicPr>
            <a:picLocks noChangeAspect="1"/>
          </p:cNvPicPr>
          <p:nvPr/>
        </p:nvPicPr>
        <p:blipFill>
          <a:blip r:embed="rId3"/>
          <a:stretch>
            <a:fillRect/>
          </a:stretch>
        </p:blipFill>
        <p:spPr>
          <a:xfrm>
            <a:off x="0" y="0"/>
            <a:ext cx="12192000" cy="744855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924800" cy="1104900"/>
          </a:xfrm>
          <a:prstGeom prst="rect">
            <a:avLst/>
          </a:prstGeom>
        </p:spPr>
      </p:pic>
      <p:pic>
        <p:nvPicPr>
          <p:cNvPr id="7" name="Image 5" descr="preencoded.png"/>
          <p:cNvPicPr>
            <a:picLocks noChangeAspect="1"/>
          </p:cNvPicPr>
          <p:nvPr/>
        </p:nvPicPr>
        <p:blipFill>
          <a:blip r:embed="rId7"/>
          <a:stretch>
            <a:fillRect/>
          </a:stretch>
        </p:blipFill>
        <p:spPr>
          <a:xfrm>
            <a:off x="609600" y="5657850"/>
            <a:ext cx="7924800" cy="1104900"/>
          </a:xfrm>
          <a:prstGeom prst="rect">
            <a:avLst/>
          </a:prstGeom>
        </p:spPr>
      </p:pic>
      <p:pic>
        <p:nvPicPr>
          <p:cNvPr id="8" name="Image 6" descr="preencoded.png"/>
          <p:cNvPicPr>
            <a:picLocks noChangeAspect="1"/>
          </p:cNvPicPr>
          <p:nvPr/>
        </p:nvPicPr>
        <p:blipFill>
          <a:blip r:embed="rId8"/>
          <a:stretch>
            <a:fillRect/>
          </a:stretch>
        </p:blipFill>
        <p:spPr>
          <a:xfrm>
            <a:off x="762000" y="5810250"/>
            <a:ext cx="142875" cy="266700"/>
          </a:xfrm>
          <a:prstGeom prst="rect">
            <a:avLst/>
          </a:prstGeom>
        </p:spPr>
      </p:pic>
      <p:pic>
        <p:nvPicPr>
          <p:cNvPr id="9" name="Image 7" descr="preencoded.png"/>
          <p:cNvPicPr>
            <a:picLocks noChangeAspect="1"/>
          </p:cNvPicPr>
          <p:nvPr/>
        </p:nvPicPr>
        <p:blipFill>
          <a:blip r:embed="rId9"/>
          <a:stretch>
            <a:fillRect/>
          </a:stretch>
        </p:blipFill>
        <p:spPr>
          <a:xfrm>
            <a:off x="9363075" y="2876550"/>
            <a:ext cx="714375" cy="571500"/>
          </a:xfrm>
          <a:prstGeom prst="rect">
            <a:avLst/>
          </a:prstGeom>
        </p:spPr>
      </p:pic>
      <p:pic>
        <p:nvPicPr>
          <p:cNvPr id="10" name="Image 8" descr="preencoded.png"/>
          <p:cNvPicPr>
            <a:picLocks noChangeAspect="1"/>
          </p:cNvPicPr>
          <p:nvPr/>
        </p:nvPicPr>
        <p:blipFill>
          <a:blip r:embed="rId10"/>
          <a:stretch>
            <a:fillRect/>
          </a:stretch>
        </p:blipFill>
        <p:spPr>
          <a:xfrm>
            <a:off x="10229850" y="2990850"/>
            <a:ext cx="247650" cy="342900"/>
          </a:xfrm>
          <a:prstGeom prst="rect">
            <a:avLst/>
          </a:prstGeom>
        </p:spPr>
      </p:pic>
      <p:pic>
        <p:nvPicPr>
          <p:cNvPr id="11" name="Image 9" descr="preencoded.png"/>
          <p:cNvPicPr>
            <a:picLocks noChangeAspect="1"/>
          </p:cNvPicPr>
          <p:nvPr/>
        </p:nvPicPr>
        <p:blipFill>
          <a:blip r:embed="rId11"/>
          <a:stretch>
            <a:fillRect/>
          </a:stretch>
        </p:blipFill>
        <p:spPr>
          <a:xfrm>
            <a:off x="10629900" y="2876550"/>
            <a:ext cx="428625" cy="571500"/>
          </a:xfrm>
          <a:prstGeom prst="rect">
            <a:avLst/>
          </a:prstGeom>
        </p:spPr>
      </p:pic>
      <p:pic>
        <p:nvPicPr>
          <p:cNvPr id="12" name="Image 10" descr="preencoded.png"/>
          <p:cNvPicPr>
            <a:picLocks noChangeAspect="1"/>
          </p:cNvPicPr>
          <p:nvPr/>
        </p:nvPicPr>
        <p:blipFill>
          <a:blip r:embed="rId12"/>
          <a:stretch>
            <a:fillRect/>
          </a:stretch>
        </p:blipFill>
        <p:spPr>
          <a:xfrm>
            <a:off x="8839200" y="3676650"/>
            <a:ext cx="2743200" cy="342900"/>
          </a:xfrm>
          <a:prstGeom prst="rect">
            <a:avLst/>
          </a:prstGeom>
        </p:spPr>
      </p:pic>
      <p:pic>
        <p:nvPicPr>
          <p:cNvPr id="13" name="Image 11" descr="preencoded.png"/>
          <p:cNvPicPr>
            <a:picLocks noChangeAspect="1"/>
          </p:cNvPicPr>
          <p:nvPr/>
        </p:nvPicPr>
        <p:blipFill>
          <a:blip r:embed="rId13"/>
          <a:stretch>
            <a:fillRect/>
          </a:stretch>
        </p:blipFill>
        <p:spPr>
          <a:xfrm>
            <a:off x="8915400" y="3771900"/>
            <a:ext cx="190500" cy="152400"/>
          </a:xfrm>
          <a:prstGeom prst="rect">
            <a:avLst/>
          </a:prstGeom>
        </p:spPr>
      </p:pic>
      <p:pic>
        <p:nvPicPr>
          <p:cNvPr id="14" name="Image 12" descr="preencoded.png"/>
          <p:cNvPicPr>
            <a:picLocks noChangeAspect="1"/>
          </p:cNvPicPr>
          <p:nvPr/>
        </p:nvPicPr>
        <p:blipFill>
          <a:blip r:embed="rId12"/>
          <a:stretch>
            <a:fillRect/>
          </a:stretch>
        </p:blipFill>
        <p:spPr>
          <a:xfrm>
            <a:off x="8839200" y="4133850"/>
            <a:ext cx="2743200" cy="342900"/>
          </a:xfrm>
          <a:prstGeom prst="rect">
            <a:avLst/>
          </a:prstGeom>
        </p:spPr>
      </p:pic>
      <p:pic>
        <p:nvPicPr>
          <p:cNvPr id="15" name="Image 13" descr="preencoded.png"/>
          <p:cNvPicPr>
            <a:picLocks noChangeAspect="1"/>
          </p:cNvPicPr>
          <p:nvPr/>
        </p:nvPicPr>
        <p:blipFill>
          <a:blip r:embed="rId14"/>
          <a:stretch>
            <a:fillRect/>
          </a:stretch>
        </p:blipFill>
        <p:spPr>
          <a:xfrm>
            <a:off x="8915400" y="4229100"/>
            <a:ext cx="152400" cy="152400"/>
          </a:xfrm>
          <a:prstGeom prst="rect">
            <a:avLst/>
          </a:prstGeom>
        </p:spPr>
      </p:pic>
      <p:pic>
        <p:nvPicPr>
          <p:cNvPr id="16" name="Image 14" descr="preencoded.png"/>
          <p:cNvPicPr>
            <a:picLocks noChangeAspect="1"/>
          </p:cNvPicPr>
          <p:nvPr/>
        </p:nvPicPr>
        <p:blipFill>
          <a:blip r:embed="rId12"/>
          <a:stretch>
            <a:fillRect/>
          </a:stretch>
        </p:blipFill>
        <p:spPr>
          <a:xfrm>
            <a:off x="8839200" y="4591050"/>
            <a:ext cx="2743200" cy="342900"/>
          </a:xfrm>
          <a:prstGeom prst="rect">
            <a:avLst/>
          </a:prstGeom>
        </p:spPr>
      </p:pic>
      <p:pic>
        <p:nvPicPr>
          <p:cNvPr id="17" name="Image 15" descr="preencoded.png"/>
          <p:cNvPicPr>
            <a:picLocks noChangeAspect="1"/>
          </p:cNvPicPr>
          <p:nvPr/>
        </p:nvPicPr>
        <p:blipFill>
          <a:blip r:embed="rId15"/>
          <a:stretch>
            <a:fillRect/>
          </a:stretch>
        </p:blipFill>
        <p:spPr>
          <a:xfrm>
            <a:off x="8915400" y="4686300"/>
            <a:ext cx="152400" cy="152400"/>
          </a:xfrm>
          <a:prstGeom prst="rect">
            <a:avLst/>
          </a:prstGeom>
        </p:spPr>
      </p:pic>
      <p:pic>
        <p:nvPicPr>
          <p:cNvPr id="18" name="Image 16" descr="preencoded.png"/>
          <p:cNvPicPr>
            <a:picLocks noChangeAspect="1"/>
          </p:cNvPicPr>
          <p:nvPr/>
        </p:nvPicPr>
        <p:blipFill>
          <a:blip r:embed="rId16"/>
          <a:stretch>
            <a:fillRect/>
          </a:stretch>
        </p:blipFill>
        <p:spPr>
          <a:xfrm>
            <a:off x="609600" y="7105650"/>
            <a:ext cx="133350" cy="152400"/>
          </a:xfrm>
          <a:prstGeom prst="rect">
            <a:avLst/>
          </a:prstGeom>
        </p:spPr>
      </p:pic>
      <p:sp>
        <p:nvSpPr>
          <p:cNvPr id="19"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26</a:t>
            </a:r>
            <a:endParaRPr lang="en-US" sz="1200" dirty="0"/>
          </a:p>
        </p:txBody>
      </p:sp>
      <p:sp>
        <p:nvSpPr>
          <p:cNvPr id="20" name="Text 1"/>
          <p:cNvSpPr/>
          <p:nvPr/>
        </p:nvSpPr>
        <p:spPr>
          <a:xfrm>
            <a:off x="1143000" y="304800"/>
            <a:ext cx="4738628"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ECR and IAM Integration</a:t>
            </a:r>
            <a:endParaRPr lang="en-US" sz="2250" dirty="0"/>
          </a:p>
        </p:txBody>
      </p:sp>
      <p:sp>
        <p:nvSpPr>
          <p:cNvPr id="21" name="Text 2"/>
          <p:cNvSpPr/>
          <p:nvPr/>
        </p:nvSpPr>
        <p:spPr>
          <a:xfrm>
            <a:off x="762000" y="1200150"/>
            <a:ext cx="872579" cy="533400"/>
          </a:xfrm>
          <a:prstGeom prst="rect">
            <a:avLst/>
          </a:prstGeom>
          <a:noFill/>
          <a:ln/>
        </p:spPr>
        <p:txBody>
          <a:bodyPr vert="horz" wrap="square" lIns="0" tIns="0" rIns="0" bIns="0" rtlCol="0" anchor="t"/>
          <a:lstStyle/>
          <a:p>
            <a:pPr marL="0" indent="0">
              <a:lnSpc>
                <a:spcPts val="2100"/>
              </a:lnSpc>
              <a:buNone/>
            </a:pPr>
            <a:r>
              <a:rPr lang="en-US" sz="1500" b="1" dirty="0">
                <a:solidFill>
                  <a:srgbClr val="16A34A"/>
                </a:solidFill>
                <a:latin typeface="ui-sans-serif" pitchFamily="34" charset="0"/>
                <a:ea typeface="ui-sans-serif" pitchFamily="34" charset="-122"/>
                <a:cs typeface="ui-sans-serif" pitchFamily="34" charset="-120"/>
              </a:rPr>
              <a:t>Correct Answer:</a:t>
            </a:r>
            <a:endParaRPr lang="en-US" sz="1500" dirty="0"/>
          </a:p>
        </p:txBody>
      </p:sp>
      <p:sp>
        <p:nvSpPr>
          <p:cNvPr id="22" name="Text 3"/>
          <p:cNvSpPr/>
          <p:nvPr/>
        </p:nvSpPr>
        <p:spPr>
          <a:xfrm>
            <a:off x="1748879" y="1200150"/>
            <a:ext cx="6633121"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B. IAM policies allow for granular, resource-based permissions to specify which users or EC2 instances can push or pull images from specific repositories.</a:t>
            </a:r>
            <a:endParaRPr lang="en-US" sz="1350" dirty="0"/>
          </a:p>
        </p:txBody>
      </p:sp>
      <p:sp>
        <p:nvSpPr>
          <p:cNvPr id="23" name="Text 4"/>
          <p:cNvSpPr/>
          <p:nvPr/>
        </p:nvSpPr>
        <p:spPr>
          <a:xfrm>
            <a:off x="609600" y="2381250"/>
            <a:ext cx="7924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4" name="Text 5"/>
          <p:cNvSpPr/>
          <p:nvPr/>
        </p:nvSpPr>
        <p:spPr>
          <a:xfrm>
            <a:off x="876300" y="2838450"/>
            <a:ext cx="76581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Amazon ECR integrates with AWS Identity and Access Management (IAM) to provide resource-based permissions.</a:t>
            </a:r>
            <a:endParaRPr lang="en-US" sz="1350" dirty="0"/>
          </a:p>
        </p:txBody>
      </p:sp>
      <p:sp>
        <p:nvSpPr>
          <p:cNvPr id="25" name="Text 6"/>
          <p:cNvSpPr/>
          <p:nvPr/>
        </p:nvSpPr>
        <p:spPr>
          <a:xfrm>
            <a:off x="876300" y="3524250"/>
            <a:ext cx="76581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This allows administrators to define fine-grained access controls for specific ECR repositories.</a:t>
            </a:r>
            <a:endParaRPr lang="en-US" sz="1350" dirty="0"/>
          </a:p>
        </p:txBody>
      </p:sp>
      <p:sp>
        <p:nvSpPr>
          <p:cNvPr id="26" name="Text 7"/>
          <p:cNvSpPr/>
          <p:nvPr/>
        </p:nvSpPr>
        <p:spPr>
          <a:xfrm>
            <a:off x="876300" y="4210050"/>
            <a:ext cx="76581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IAM policies can specify which IAM users or roles have permissions to perform actions like pushing, pulling, or managing images.</a:t>
            </a:r>
            <a:endParaRPr lang="en-US" sz="1350" dirty="0"/>
          </a:p>
        </p:txBody>
      </p:sp>
      <p:sp>
        <p:nvSpPr>
          <p:cNvPr id="27" name="Text 8"/>
          <p:cNvSpPr/>
          <p:nvPr/>
        </p:nvSpPr>
        <p:spPr>
          <a:xfrm>
            <a:off x="876300" y="4895850"/>
            <a:ext cx="76581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This approach provides more flexibility and security compared to repository-level passwords.</a:t>
            </a:r>
            <a:endParaRPr lang="en-US" sz="1350" dirty="0"/>
          </a:p>
        </p:txBody>
      </p:sp>
      <p:sp>
        <p:nvSpPr>
          <p:cNvPr id="28" name="Text 9"/>
          <p:cNvSpPr/>
          <p:nvPr/>
        </p:nvSpPr>
        <p:spPr>
          <a:xfrm>
            <a:off x="1019175" y="5810250"/>
            <a:ext cx="1416606"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Key Benefit:</a:t>
            </a:r>
            <a:endParaRPr lang="en-US" sz="1350" dirty="0"/>
          </a:p>
        </p:txBody>
      </p:sp>
      <p:sp>
        <p:nvSpPr>
          <p:cNvPr id="29" name="Text 10"/>
          <p:cNvSpPr/>
          <p:nvPr/>
        </p:nvSpPr>
        <p:spPr>
          <a:xfrm>
            <a:off x="762000" y="6153150"/>
            <a:ext cx="76200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Using IAM policies for ECR access control enables centralized identity management and fine-grained permissions across your AWS environment.</a:t>
            </a:r>
            <a:endParaRPr lang="en-US" sz="1200" dirty="0"/>
          </a:p>
        </p:txBody>
      </p:sp>
      <p:sp>
        <p:nvSpPr>
          <p:cNvPr id="30" name="Text 11"/>
          <p:cNvSpPr/>
          <p:nvPr/>
        </p:nvSpPr>
        <p:spPr>
          <a:xfrm>
            <a:off x="9220200" y="3752850"/>
            <a:ext cx="793849"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IAM Users</a:t>
            </a:r>
            <a:endParaRPr lang="en-US" sz="1050" dirty="0"/>
          </a:p>
        </p:txBody>
      </p:sp>
      <p:sp>
        <p:nvSpPr>
          <p:cNvPr id="31" name="Text 12"/>
          <p:cNvSpPr/>
          <p:nvPr/>
        </p:nvSpPr>
        <p:spPr>
          <a:xfrm>
            <a:off x="9182100" y="4210050"/>
            <a:ext cx="1129605"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EC2 Instances</a:t>
            </a:r>
            <a:endParaRPr lang="en-US" sz="1050" dirty="0"/>
          </a:p>
        </p:txBody>
      </p:sp>
      <p:sp>
        <p:nvSpPr>
          <p:cNvPr id="32" name="Text 13"/>
          <p:cNvSpPr/>
          <p:nvPr/>
        </p:nvSpPr>
        <p:spPr>
          <a:xfrm>
            <a:off x="9182100" y="4667250"/>
            <a:ext cx="773847"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IAM Roles</a:t>
            </a:r>
            <a:endParaRPr lang="en-US" sz="1050" dirty="0"/>
          </a:p>
        </p:txBody>
      </p:sp>
      <p:sp>
        <p:nvSpPr>
          <p:cNvPr id="33" name="Text 14"/>
          <p:cNvSpPr/>
          <p:nvPr/>
        </p:nvSpPr>
        <p:spPr>
          <a:xfrm>
            <a:off x="819150" y="7067550"/>
            <a:ext cx="2233315"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ECR and IAM Integration</a:t>
            </a:r>
            <a:endParaRPr lang="en-US" sz="1200" dirty="0"/>
          </a:p>
        </p:txBody>
      </p:sp>
      <p:sp>
        <p:nvSpPr>
          <p:cNvPr id="34" name="Text 15"/>
          <p:cNvSpPr/>
          <p:nvPr/>
        </p:nvSpPr>
        <p:spPr>
          <a:xfrm>
            <a:off x="11143208" y="706755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53/61</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657350"/>
            <a:ext cx="3848100" cy="1104900"/>
          </a:xfrm>
          <a:prstGeom prst="rect">
            <a:avLst/>
          </a:prstGeom>
        </p:spPr>
      </p:pic>
      <p:pic>
        <p:nvPicPr>
          <p:cNvPr id="7" name="Image 5" descr="preencoded.png"/>
          <p:cNvPicPr>
            <a:picLocks noChangeAspect="1"/>
          </p:cNvPicPr>
          <p:nvPr/>
        </p:nvPicPr>
        <p:blipFill>
          <a:blip r:embed="rId6"/>
          <a:stretch>
            <a:fillRect/>
          </a:stretch>
        </p:blipFill>
        <p:spPr>
          <a:xfrm>
            <a:off x="4686300" y="1657350"/>
            <a:ext cx="3848100" cy="1104900"/>
          </a:xfrm>
          <a:prstGeom prst="rect">
            <a:avLst/>
          </a:prstGeom>
        </p:spPr>
      </p:pic>
      <p:pic>
        <p:nvPicPr>
          <p:cNvPr id="8" name="Image 6" descr="preencoded.png"/>
          <p:cNvPicPr>
            <a:picLocks noChangeAspect="1"/>
          </p:cNvPicPr>
          <p:nvPr/>
        </p:nvPicPr>
        <p:blipFill>
          <a:blip r:embed="rId7"/>
          <a:stretch>
            <a:fillRect/>
          </a:stretch>
        </p:blipFill>
        <p:spPr>
          <a:xfrm>
            <a:off x="609600" y="2990850"/>
            <a:ext cx="3848100" cy="838200"/>
          </a:xfrm>
          <a:prstGeom prst="rect">
            <a:avLst/>
          </a:prstGeom>
        </p:spPr>
      </p:pic>
      <p:pic>
        <p:nvPicPr>
          <p:cNvPr id="9" name="Image 7" descr="preencoded.png"/>
          <p:cNvPicPr>
            <a:picLocks noChangeAspect="1"/>
          </p:cNvPicPr>
          <p:nvPr/>
        </p:nvPicPr>
        <p:blipFill>
          <a:blip r:embed="rId7"/>
          <a:stretch>
            <a:fillRect/>
          </a:stretch>
        </p:blipFill>
        <p:spPr>
          <a:xfrm>
            <a:off x="4686300" y="2990850"/>
            <a:ext cx="3848100" cy="838200"/>
          </a:xfrm>
          <a:prstGeom prst="rect">
            <a:avLst/>
          </a:prstGeom>
        </p:spPr>
      </p:pic>
      <p:pic>
        <p:nvPicPr>
          <p:cNvPr id="10" name="Image 8" descr="preencoded.png"/>
          <p:cNvPicPr>
            <a:picLocks noChangeAspect="1"/>
          </p:cNvPicPr>
          <p:nvPr/>
        </p:nvPicPr>
        <p:blipFill>
          <a:blip r:embed="rId8"/>
          <a:stretch>
            <a:fillRect/>
          </a:stretch>
        </p:blipFill>
        <p:spPr>
          <a:xfrm>
            <a:off x="9243120" y="2276475"/>
            <a:ext cx="857250" cy="685800"/>
          </a:xfrm>
          <a:prstGeom prst="rect">
            <a:avLst/>
          </a:prstGeom>
        </p:spPr>
      </p:pic>
      <p:pic>
        <p:nvPicPr>
          <p:cNvPr id="11" name="Image 9" descr="preencoded.png"/>
          <p:cNvPicPr>
            <a:picLocks noChangeAspect="1"/>
          </p:cNvPicPr>
          <p:nvPr/>
        </p:nvPicPr>
        <p:blipFill>
          <a:blip r:embed="rId9"/>
          <a:stretch>
            <a:fillRect/>
          </a:stretch>
        </p:blipFill>
        <p:spPr>
          <a:xfrm>
            <a:off x="10301288" y="2600325"/>
            <a:ext cx="219075" cy="342900"/>
          </a:xfrm>
          <a:prstGeom prst="rect">
            <a:avLst/>
          </a:prstGeom>
        </p:spPr>
      </p:pic>
      <p:pic>
        <p:nvPicPr>
          <p:cNvPr id="12" name="Image 10" descr="preencoded.png"/>
          <p:cNvPicPr>
            <a:picLocks noChangeAspect="1"/>
          </p:cNvPicPr>
          <p:nvPr/>
        </p:nvPicPr>
        <p:blipFill>
          <a:blip r:embed="rId10"/>
          <a:stretch>
            <a:fillRect/>
          </a:stretch>
        </p:blipFill>
        <p:spPr>
          <a:xfrm>
            <a:off x="10721280" y="2476500"/>
            <a:ext cx="457200" cy="457200"/>
          </a:xfrm>
          <a:prstGeom prst="rect">
            <a:avLst/>
          </a:prstGeom>
        </p:spPr>
      </p:pic>
      <p:pic>
        <p:nvPicPr>
          <p:cNvPr id="13" name="Image 11" descr="preencoded.png"/>
          <p:cNvPicPr>
            <a:picLocks noChangeAspect="1"/>
          </p:cNvPicPr>
          <p:nvPr/>
        </p:nvPicPr>
        <p:blipFill>
          <a:blip r:embed="rId11"/>
          <a:stretch>
            <a:fillRect/>
          </a:stretch>
        </p:blipFill>
        <p:spPr>
          <a:xfrm>
            <a:off x="8839200" y="3190875"/>
            <a:ext cx="2743200" cy="1752600"/>
          </a:xfrm>
          <a:prstGeom prst="rect">
            <a:avLst/>
          </a:prstGeom>
        </p:spPr>
      </p:pic>
      <p:pic>
        <p:nvPicPr>
          <p:cNvPr id="14" name="Image 12" descr="preencoded.png"/>
          <p:cNvPicPr>
            <a:picLocks noChangeAspect="1"/>
          </p:cNvPicPr>
          <p:nvPr/>
        </p:nvPicPr>
        <p:blipFill>
          <a:blip r:embed="rId12"/>
          <a:stretch>
            <a:fillRect/>
          </a:stretch>
        </p:blipFill>
        <p:spPr>
          <a:xfrm>
            <a:off x="8991600" y="3381375"/>
            <a:ext cx="152400" cy="152400"/>
          </a:xfrm>
          <a:prstGeom prst="rect">
            <a:avLst/>
          </a:prstGeom>
        </p:spPr>
      </p:pic>
      <p:pic>
        <p:nvPicPr>
          <p:cNvPr id="15" name="Image 13" descr="preencoded.png"/>
          <p:cNvPicPr>
            <a:picLocks noChangeAspect="1"/>
          </p:cNvPicPr>
          <p:nvPr/>
        </p:nvPicPr>
        <p:blipFill>
          <a:blip r:embed="rId13"/>
          <a:stretch>
            <a:fillRect/>
          </a:stretch>
        </p:blipFill>
        <p:spPr>
          <a:xfrm>
            <a:off x="609600" y="6515100"/>
            <a:ext cx="152400" cy="152400"/>
          </a:xfrm>
          <a:prstGeom prst="rect">
            <a:avLst/>
          </a:prstGeom>
        </p:spPr>
      </p:pic>
      <p:sp>
        <p:nvSpPr>
          <p:cNvPr id="16"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27</a:t>
            </a:r>
            <a:endParaRPr lang="en-US" sz="1200" dirty="0"/>
          </a:p>
        </p:txBody>
      </p:sp>
      <p:sp>
        <p:nvSpPr>
          <p:cNvPr id="17" name="Text 1"/>
          <p:cNvSpPr/>
          <p:nvPr/>
        </p:nvSpPr>
        <p:spPr>
          <a:xfrm>
            <a:off x="1143000" y="304800"/>
            <a:ext cx="5236190"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Task IAM Role Purpose</a:t>
            </a:r>
            <a:endParaRPr lang="en-US" sz="2250" dirty="0"/>
          </a:p>
        </p:txBody>
      </p:sp>
      <p:sp>
        <p:nvSpPr>
          <p:cNvPr id="18" name="Text 2"/>
          <p:cNvSpPr/>
          <p:nvPr/>
        </p:nvSpPr>
        <p:spPr>
          <a:xfrm>
            <a:off x="609600" y="1047750"/>
            <a:ext cx="95097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What is the primary purpose of an ECS Task IAM role?</a:t>
            </a:r>
            <a:endParaRPr lang="en-US" sz="1800" dirty="0"/>
          </a:p>
        </p:txBody>
      </p:sp>
      <p:sp>
        <p:nvSpPr>
          <p:cNvPr id="19" name="Text 3"/>
          <p:cNvSpPr/>
          <p:nvPr/>
        </p:nvSpPr>
        <p:spPr>
          <a:xfrm>
            <a:off x="762000" y="1809750"/>
            <a:ext cx="2680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A.</a:t>
            </a:r>
            <a:endParaRPr lang="en-US" sz="1500" dirty="0"/>
          </a:p>
        </p:txBody>
      </p:sp>
      <p:sp>
        <p:nvSpPr>
          <p:cNvPr id="20" name="Text 4"/>
          <p:cNvSpPr/>
          <p:nvPr/>
        </p:nvSpPr>
        <p:spPr>
          <a:xfrm>
            <a:off x="1099691" y="1809750"/>
            <a:ext cx="3205609"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grant the ECS service permission to manage EC2 instances.</a:t>
            </a:r>
            <a:endParaRPr lang="en-US" sz="1350" dirty="0"/>
          </a:p>
        </p:txBody>
      </p:sp>
      <p:sp>
        <p:nvSpPr>
          <p:cNvPr id="21" name="Text 5"/>
          <p:cNvSpPr/>
          <p:nvPr/>
        </p:nvSpPr>
        <p:spPr>
          <a:xfrm>
            <a:off x="4838700" y="1809750"/>
            <a:ext cx="2611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B.</a:t>
            </a:r>
            <a:endParaRPr lang="en-US" sz="1500" dirty="0"/>
          </a:p>
        </p:txBody>
      </p:sp>
      <p:sp>
        <p:nvSpPr>
          <p:cNvPr id="22" name="Text 6"/>
          <p:cNvSpPr/>
          <p:nvPr/>
        </p:nvSpPr>
        <p:spPr>
          <a:xfrm>
            <a:off x="5170587" y="1809750"/>
            <a:ext cx="3211413" cy="8001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provide the containerized application with credentials to access other AWS services securely.</a:t>
            </a:r>
            <a:endParaRPr lang="en-US" sz="1350" dirty="0"/>
          </a:p>
        </p:txBody>
      </p:sp>
      <p:sp>
        <p:nvSpPr>
          <p:cNvPr id="23" name="Text 7"/>
          <p:cNvSpPr/>
          <p:nvPr/>
        </p:nvSpPr>
        <p:spPr>
          <a:xfrm>
            <a:off x="762000" y="3143250"/>
            <a:ext cx="2546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C.</a:t>
            </a:r>
            <a:endParaRPr lang="en-US" sz="1500" dirty="0"/>
          </a:p>
        </p:txBody>
      </p:sp>
      <p:sp>
        <p:nvSpPr>
          <p:cNvPr id="24" name="Text 8"/>
          <p:cNvSpPr/>
          <p:nvPr/>
        </p:nvSpPr>
        <p:spPr>
          <a:xfrm>
            <a:off x="1088529" y="3143250"/>
            <a:ext cx="3216771"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define the network configuration for the ECS task.</a:t>
            </a:r>
            <a:endParaRPr lang="en-US" sz="1350" dirty="0"/>
          </a:p>
        </p:txBody>
      </p:sp>
      <p:sp>
        <p:nvSpPr>
          <p:cNvPr id="25" name="Text 9"/>
          <p:cNvSpPr/>
          <p:nvPr/>
        </p:nvSpPr>
        <p:spPr>
          <a:xfrm>
            <a:off x="4838700" y="3143250"/>
            <a:ext cx="276642"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0000"/>
                </a:solidFill>
                <a:latin typeface="ui-sans-serif" pitchFamily="34" charset="0"/>
                <a:ea typeface="ui-sans-serif" pitchFamily="34" charset="-122"/>
                <a:cs typeface="ui-sans-serif" pitchFamily="34" charset="-120"/>
              </a:rPr>
              <a:t>D.</a:t>
            </a:r>
            <a:endParaRPr lang="en-US" sz="1500" dirty="0"/>
          </a:p>
        </p:txBody>
      </p:sp>
      <p:sp>
        <p:nvSpPr>
          <p:cNvPr id="26" name="Text 10"/>
          <p:cNvSpPr/>
          <p:nvPr/>
        </p:nvSpPr>
        <p:spPr>
          <a:xfrm>
            <a:off x="5183535" y="3143250"/>
            <a:ext cx="3198465"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specify the Docker image used by the task.</a:t>
            </a:r>
            <a:endParaRPr lang="en-US" sz="1350" dirty="0"/>
          </a:p>
        </p:txBody>
      </p:sp>
      <p:sp>
        <p:nvSpPr>
          <p:cNvPr id="27" name="Text 11"/>
          <p:cNvSpPr/>
          <p:nvPr/>
        </p:nvSpPr>
        <p:spPr>
          <a:xfrm>
            <a:off x="9220200" y="3343275"/>
            <a:ext cx="1885057"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ECS Task IAM Role</a:t>
            </a:r>
            <a:endParaRPr lang="en-US" sz="1200" dirty="0"/>
          </a:p>
        </p:txBody>
      </p:sp>
      <p:sp>
        <p:nvSpPr>
          <p:cNvPr id="28" name="Text 12"/>
          <p:cNvSpPr/>
          <p:nvPr/>
        </p:nvSpPr>
        <p:spPr>
          <a:xfrm>
            <a:off x="8991600" y="3648075"/>
            <a:ext cx="2438400" cy="3810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Provides temporary credentials to containers</a:t>
            </a:r>
            <a:endParaRPr lang="en-US" sz="1050" dirty="0"/>
          </a:p>
        </p:txBody>
      </p:sp>
      <p:sp>
        <p:nvSpPr>
          <p:cNvPr id="29" name="Text 13"/>
          <p:cNvSpPr/>
          <p:nvPr/>
        </p:nvSpPr>
        <p:spPr>
          <a:xfrm>
            <a:off x="8991600" y="4029075"/>
            <a:ext cx="2438400" cy="3810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Enables secure API requests to AWS services</a:t>
            </a:r>
            <a:endParaRPr lang="en-US" sz="1050" dirty="0"/>
          </a:p>
        </p:txBody>
      </p:sp>
      <p:sp>
        <p:nvSpPr>
          <p:cNvPr id="30" name="Text 14"/>
          <p:cNvSpPr/>
          <p:nvPr/>
        </p:nvSpPr>
        <p:spPr>
          <a:xfrm>
            <a:off x="8991600" y="4410075"/>
            <a:ext cx="2438400" cy="3810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4B5563"/>
                </a:solidFill>
                <a:latin typeface="ui-sans-serif" pitchFamily="34" charset="0"/>
                <a:ea typeface="ui-sans-serif" pitchFamily="34" charset="-122"/>
                <a:cs typeface="ui-sans-serif" pitchFamily="34" charset="-120"/>
              </a:rPr>
              <a:t>Improves security by avoiding hard-coded keys</a:t>
            </a:r>
            <a:endParaRPr lang="en-US" sz="1050" dirty="0"/>
          </a:p>
        </p:txBody>
      </p:sp>
      <p:sp>
        <p:nvSpPr>
          <p:cNvPr id="31" name="Text 15"/>
          <p:cNvSpPr/>
          <p:nvPr/>
        </p:nvSpPr>
        <p:spPr>
          <a:xfrm>
            <a:off x="838200" y="6477000"/>
            <a:ext cx="1221224"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Security</a:t>
            </a:r>
            <a:endParaRPr lang="en-US" sz="1200" dirty="0"/>
          </a:p>
        </p:txBody>
      </p:sp>
      <p:sp>
        <p:nvSpPr>
          <p:cNvPr id="32" name="Text 16"/>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54/61</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0" y="0"/>
            <a:ext cx="12192000" cy="57150"/>
          </a:xfrm>
          <a:prstGeom prst="rect">
            <a:avLst/>
          </a:prstGeom>
        </p:spPr>
      </p:pic>
      <p:pic>
        <p:nvPicPr>
          <p:cNvPr id="5" name="Image 3" descr="preencoded.png"/>
          <p:cNvPicPr>
            <a:picLocks noChangeAspect="1"/>
          </p:cNvPicPr>
          <p:nvPr/>
        </p:nvPicPr>
        <p:blipFill>
          <a:blip r:embed="rId5"/>
          <a:stretch>
            <a:fillRect/>
          </a:stretch>
        </p:blipFill>
        <p:spPr>
          <a:xfrm>
            <a:off x="609600" y="285750"/>
            <a:ext cx="381000" cy="381000"/>
          </a:xfrm>
          <a:prstGeom prst="rect">
            <a:avLst/>
          </a:prstGeom>
        </p:spPr>
      </p:pic>
      <p:pic>
        <p:nvPicPr>
          <p:cNvPr id="6" name="Image 4" descr="preencoded.png"/>
          <p:cNvPicPr>
            <a:picLocks noChangeAspect="1"/>
          </p:cNvPicPr>
          <p:nvPr/>
        </p:nvPicPr>
        <p:blipFill>
          <a:blip r:embed="rId6"/>
          <a:stretch>
            <a:fillRect/>
          </a:stretch>
        </p:blipFill>
        <p:spPr>
          <a:xfrm>
            <a:off x="609600" y="1047750"/>
            <a:ext cx="7010400" cy="914400"/>
          </a:xfrm>
          <a:prstGeom prst="rect">
            <a:avLst/>
          </a:prstGeom>
        </p:spPr>
      </p:pic>
      <p:pic>
        <p:nvPicPr>
          <p:cNvPr id="7" name="Image 5" descr="preencoded.png"/>
          <p:cNvPicPr>
            <a:picLocks noChangeAspect="1"/>
          </p:cNvPicPr>
          <p:nvPr/>
        </p:nvPicPr>
        <p:blipFill>
          <a:blip r:embed="rId7"/>
          <a:stretch>
            <a:fillRect/>
          </a:stretch>
        </p:blipFill>
        <p:spPr>
          <a:xfrm>
            <a:off x="609600" y="2686050"/>
            <a:ext cx="171450" cy="171450"/>
          </a:xfrm>
          <a:prstGeom prst="rect">
            <a:avLst/>
          </a:prstGeom>
        </p:spPr>
      </p:pic>
      <p:pic>
        <p:nvPicPr>
          <p:cNvPr id="8" name="Image 6" descr="preencoded.png"/>
          <p:cNvPicPr>
            <a:picLocks noChangeAspect="1"/>
          </p:cNvPicPr>
          <p:nvPr/>
        </p:nvPicPr>
        <p:blipFill>
          <a:blip r:embed="rId7"/>
          <a:stretch>
            <a:fillRect/>
          </a:stretch>
        </p:blipFill>
        <p:spPr>
          <a:xfrm>
            <a:off x="609600" y="3371850"/>
            <a:ext cx="171450" cy="171450"/>
          </a:xfrm>
          <a:prstGeom prst="rect">
            <a:avLst/>
          </a:prstGeom>
        </p:spPr>
      </p:pic>
      <p:pic>
        <p:nvPicPr>
          <p:cNvPr id="9" name="Image 7" descr="preencoded.png"/>
          <p:cNvPicPr>
            <a:picLocks noChangeAspect="1"/>
          </p:cNvPicPr>
          <p:nvPr/>
        </p:nvPicPr>
        <p:blipFill>
          <a:blip r:embed="rId7"/>
          <a:stretch>
            <a:fillRect/>
          </a:stretch>
        </p:blipFill>
        <p:spPr>
          <a:xfrm>
            <a:off x="609600" y="4057650"/>
            <a:ext cx="171450" cy="171450"/>
          </a:xfrm>
          <a:prstGeom prst="rect">
            <a:avLst/>
          </a:prstGeom>
        </p:spPr>
      </p:pic>
      <p:pic>
        <p:nvPicPr>
          <p:cNvPr id="10" name="Image 8" descr="preencoded.png"/>
          <p:cNvPicPr>
            <a:picLocks noChangeAspect="1"/>
          </p:cNvPicPr>
          <p:nvPr/>
        </p:nvPicPr>
        <p:blipFill>
          <a:blip r:embed="rId8"/>
          <a:stretch>
            <a:fillRect/>
          </a:stretch>
        </p:blipFill>
        <p:spPr>
          <a:xfrm>
            <a:off x="7924800" y="1047750"/>
            <a:ext cx="3657600" cy="2667000"/>
          </a:xfrm>
          <a:prstGeom prst="rect">
            <a:avLst/>
          </a:prstGeom>
        </p:spPr>
      </p:pic>
      <p:pic>
        <p:nvPicPr>
          <p:cNvPr id="11" name="Image 9" descr="preencoded.png"/>
          <p:cNvPicPr>
            <a:picLocks noChangeAspect="1"/>
          </p:cNvPicPr>
          <p:nvPr/>
        </p:nvPicPr>
        <p:blipFill>
          <a:blip r:embed="rId9"/>
          <a:stretch>
            <a:fillRect/>
          </a:stretch>
        </p:blipFill>
        <p:spPr>
          <a:xfrm>
            <a:off x="9525000" y="1238250"/>
            <a:ext cx="457200" cy="457200"/>
          </a:xfrm>
          <a:prstGeom prst="rect">
            <a:avLst/>
          </a:prstGeom>
        </p:spPr>
      </p:pic>
      <p:pic>
        <p:nvPicPr>
          <p:cNvPr id="12" name="Image 10" descr="preencoded.png"/>
          <p:cNvPicPr>
            <a:picLocks noChangeAspect="1"/>
          </p:cNvPicPr>
          <p:nvPr/>
        </p:nvPicPr>
        <p:blipFill>
          <a:blip r:embed="rId10"/>
          <a:stretch>
            <a:fillRect/>
          </a:stretch>
        </p:blipFill>
        <p:spPr>
          <a:xfrm>
            <a:off x="8115300" y="2266950"/>
            <a:ext cx="152400" cy="152400"/>
          </a:xfrm>
          <a:prstGeom prst="rect">
            <a:avLst/>
          </a:prstGeom>
        </p:spPr>
      </p:pic>
      <p:pic>
        <p:nvPicPr>
          <p:cNvPr id="13" name="Image 11" descr="preencoded.png"/>
          <p:cNvPicPr>
            <a:picLocks noChangeAspect="1"/>
          </p:cNvPicPr>
          <p:nvPr/>
        </p:nvPicPr>
        <p:blipFill>
          <a:blip r:embed="rId11"/>
          <a:stretch>
            <a:fillRect/>
          </a:stretch>
        </p:blipFill>
        <p:spPr>
          <a:xfrm>
            <a:off x="8115300" y="2800350"/>
            <a:ext cx="190500" cy="152400"/>
          </a:xfrm>
          <a:prstGeom prst="rect">
            <a:avLst/>
          </a:prstGeom>
        </p:spPr>
      </p:pic>
      <p:pic>
        <p:nvPicPr>
          <p:cNvPr id="14" name="Image 12" descr="preencoded.png"/>
          <p:cNvPicPr>
            <a:picLocks noChangeAspect="1"/>
          </p:cNvPicPr>
          <p:nvPr/>
        </p:nvPicPr>
        <p:blipFill>
          <a:blip r:embed="rId12"/>
          <a:stretch>
            <a:fillRect/>
          </a:stretch>
        </p:blipFill>
        <p:spPr>
          <a:xfrm>
            <a:off x="8115300" y="3105150"/>
            <a:ext cx="190500" cy="152400"/>
          </a:xfrm>
          <a:prstGeom prst="rect">
            <a:avLst/>
          </a:prstGeom>
        </p:spPr>
      </p:pic>
      <p:pic>
        <p:nvPicPr>
          <p:cNvPr id="15" name="Image 13" descr="preencoded.png"/>
          <p:cNvPicPr>
            <a:picLocks noChangeAspect="1"/>
          </p:cNvPicPr>
          <p:nvPr/>
        </p:nvPicPr>
        <p:blipFill>
          <a:blip r:embed="rId13"/>
          <a:stretch>
            <a:fillRect/>
          </a:stretch>
        </p:blipFill>
        <p:spPr>
          <a:xfrm>
            <a:off x="7924800" y="3943350"/>
            <a:ext cx="3657600" cy="1562100"/>
          </a:xfrm>
          <a:prstGeom prst="rect">
            <a:avLst/>
          </a:prstGeom>
        </p:spPr>
      </p:pic>
      <p:pic>
        <p:nvPicPr>
          <p:cNvPr id="16" name="Image 14" descr="preencoded.png"/>
          <p:cNvPicPr>
            <a:picLocks noChangeAspect="1"/>
          </p:cNvPicPr>
          <p:nvPr/>
        </p:nvPicPr>
        <p:blipFill>
          <a:blip r:embed="rId14"/>
          <a:stretch>
            <a:fillRect/>
          </a:stretch>
        </p:blipFill>
        <p:spPr>
          <a:xfrm>
            <a:off x="8077200" y="4133850"/>
            <a:ext cx="114300" cy="152400"/>
          </a:xfrm>
          <a:prstGeom prst="rect">
            <a:avLst/>
          </a:prstGeom>
        </p:spPr>
      </p:pic>
      <p:pic>
        <p:nvPicPr>
          <p:cNvPr id="17" name="Image 15" descr="preencoded.png"/>
          <p:cNvPicPr>
            <a:picLocks noChangeAspect="1"/>
          </p:cNvPicPr>
          <p:nvPr/>
        </p:nvPicPr>
        <p:blipFill>
          <a:blip r:embed="rId15"/>
          <a:stretch>
            <a:fillRect/>
          </a:stretch>
        </p:blipFill>
        <p:spPr>
          <a:xfrm>
            <a:off x="609600" y="6515100"/>
            <a:ext cx="114300" cy="152400"/>
          </a:xfrm>
          <a:prstGeom prst="rect">
            <a:avLst/>
          </a:prstGeom>
        </p:spPr>
      </p:pic>
      <p:sp>
        <p:nvSpPr>
          <p:cNvPr id="18" name="Text 0"/>
          <p:cNvSpPr/>
          <p:nvPr/>
        </p:nvSpPr>
        <p:spPr>
          <a:xfrm>
            <a:off x="693986" y="285750"/>
            <a:ext cx="457200" cy="3810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ui-sans-serif" pitchFamily="34" charset="0"/>
                <a:ea typeface="ui-sans-serif" pitchFamily="34" charset="-122"/>
                <a:cs typeface="ui-sans-serif" pitchFamily="34" charset="-120"/>
              </a:rPr>
              <a:t>27</a:t>
            </a:r>
            <a:endParaRPr lang="en-US" sz="1200" dirty="0"/>
          </a:p>
        </p:txBody>
      </p:sp>
      <p:sp>
        <p:nvSpPr>
          <p:cNvPr id="19" name="Text 1"/>
          <p:cNvSpPr/>
          <p:nvPr/>
        </p:nvSpPr>
        <p:spPr>
          <a:xfrm>
            <a:off x="1143000" y="304800"/>
            <a:ext cx="5236190" cy="342900"/>
          </a:xfrm>
          <a:prstGeom prst="rect">
            <a:avLst/>
          </a:prstGeom>
          <a:noFill/>
          <a:ln/>
        </p:spPr>
        <p:txBody>
          <a:bodyPr vert="horz" wrap="square" lIns="0" tIns="0" rIns="0" bIns="0" rtlCol="0" anchor="t"/>
          <a:lstStyle/>
          <a:p>
            <a:pPr marL="0" indent="0">
              <a:lnSpc>
                <a:spcPts val="2700"/>
              </a:lnSpc>
              <a:buNone/>
            </a:pPr>
            <a:r>
              <a:rPr lang="en-US" sz="2250" b="1" dirty="0">
                <a:solidFill>
                  <a:srgbClr val="1F2937"/>
                </a:solidFill>
                <a:latin typeface="ui-sans-serif" pitchFamily="34" charset="0"/>
                <a:ea typeface="ui-sans-serif" pitchFamily="34" charset="-122"/>
                <a:cs typeface="ui-sans-serif" pitchFamily="34" charset="-120"/>
              </a:rPr>
              <a:t>ECS Task IAM Role Purpose</a:t>
            </a:r>
            <a:endParaRPr lang="en-US" sz="2250" dirty="0"/>
          </a:p>
        </p:txBody>
      </p:sp>
      <p:sp>
        <p:nvSpPr>
          <p:cNvPr id="20" name="Text 2"/>
          <p:cNvSpPr/>
          <p:nvPr/>
        </p:nvSpPr>
        <p:spPr>
          <a:xfrm>
            <a:off x="800100" y="1238250"/>
            <a:ext cx="1132136" cy="533400"/>
          </a:xfrm>
          <a:prstGeom prst="rect">
            <a:avLst/>
          </a:prstGeom>
          <a:noFill/>
          <a:ln/>
        </p:spPr>
        <p:txBody>
          <a:bodyPr vert="horz" wrap="square" lIns="0" tIns="0" rIns="0" bIns="0" rtlCol="0" anchor="t"/>
          <a:lstStyle/>
          <a:p>
            <a:pPr marL="0" indent="0">
              <a:lnSpc>
                <a:spcPts val="2100"/>
              </a:lnSpc>
              <a:buNone/>
            </a:pPr>
            <a:r>
              <a:rPr lang="en-US" sz="1500" b="1" dirty="0">
                <a:solidFill>
                  <a:srgbClr val="16A34A"/>
                </a:solidFill>
                <a:latin typeface="ui-sans-serif" pitchFamily="34" charset="0"/>
                <a:ea typeface="ui-sans-serif" pitchFamily="34" charset="-122"/>
                <a:cs typeface="ui-sans-serif" pitchFamily="34" charset="-120"/>
              </a:rPr>
              <a:t>Correct Answer:</a:t>
            </a:r>
            <a:endParaRPr lang="en-US" sz="1500" dirty="0"/>
          </a:p>
        </p:txBody>
      </p:sp>
      <p:sp>
        <p:nvSpPr>
          <p:cNvPr id="21" name="Text 3"/>
          <p:cNvSpPr/>
          <p:nvPr/>
        </p:nvSpPr>
        <p:spPr>
          <a:xfrm>
            <a:off x="2046536" y="1238250"/>
            <a:ext cx="5382964"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To provide the containerized application with credentials to access other AWS services securely.</a:t>
            </a:r>
            <a:endParaRPr lang="en-US" sz="1350" dirty="0"/>
          </a:p>
        </p:txBody>
      </p:sp>
      <p:sp>
        <p:nvSpPr>
          <p:cNvPr id="22" name="Text 4"/>
          <p:cNvSpPr/>
          <p:nvPr/>
        </p:nvSpPr>
        <p:spPr>
          <a:xfrm>
            <a:off x="609600" y="2190750"/>
            <a:ext cx="7010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Explanation:</a:t>
            </a:r>
            <a:endParaRPr lang="en-US" sz="1800" dirty="0"/>
          </a:p>
        </p:txBody>
      </p:sp>
      <p:sp>
        <p:nvSpPr>
          <p:cNvPr id="23" name="Text 5"/>
          <p:cNvSpPr/>
          <p:nvPr/>
        </p:nvSpPr>
        <p:spPr>
          <a:xfrm>
            <a:off x="895350" y="2647950"/>
            <a:ext cx="67246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An ECS Task IAM role provides temporary credentials to the containers within an ECS task.</a:t>
            </a:r>
            <a:endParaRPr lang="en-US" sz="1350" dirty="0"/>
          </a:p>
        </p:txBody>
      </p:sp>
      <p:sp>
        <p:nvSpPr>
          <p:cNvPr id="24" name="Text 6"/>
          <p:cNvSpPr/>
          <p:nvPr/>
        </p:nvSpPr>
        <p:spPr>
          <a:xfrm>
            <a:off x="895350" y="3333750"/>
            <a:ext cx="67246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This allows applications running inside containers to securely make API requests to other AWS services like S3, DynamoDB, and RDS.</a:t>
            </a:r>
            <a:endParaRPr lang="en-US" sz="1350" dirty="0"/>
          </a:p>
        </p:txBody>
      </p:sp>
      <p:sp>
        <p:nvSpPr>
          <p:cNvPr id="25" name="Text 7"/>
          <p:cNvSpPr/>
          <p:nvPr/>
        </p:nvSpPr>
        <p:spPr>
          <a:xfrm>
            <a:off x="895350" y="4019550"/>
            <a:ext cx="67246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374151"/>
                </a:solidFill>
                <a:latin typeface="ui-sans-serif" pitchFamily="34" charset="0"/>
                <a:ea typeface="ui-sans-serif" pitchFamily="34" charset="-122"/>
                <a:cs typeface="ui-sans-serif" pitchFamily="34" charset="-120"/>
              </a:rPr>
              <a:t>Using IAM roles eliminates the need to embed AWS access keys directly into application code or container images, enhancing security.</a:t>
            </a:r>
            <a:endParaRPr lang="en-US" sz="1350" dirty="0"/>
          </a:p>
        </p:txBody>
      </p:sp>
      <p:sp>
        <p:nvSpPr>
          <p:cNvPr id="26" name="Text 8"/>
          <p:cNvSpPr/>
          <p:nvPr/>
        </p:nvSpPr>
        <p:spPr>
          <a:xfrm>
            <a:off x="7787640" y="1847850"/>
            <a:ext cx="393192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374151"/>
                </a:solidFill>
                <a:latin typeface="ui-sans-serif" pitchFamily="34" charset="0"/>
                <a:ea typeface="ui-sans-serif" pitchFamily="34" charset="-122"/>
                <a:cs typeface="ui-sans-serif" pitchFamily="34" charset="-120"/>
              </a:rPr>
              <a:t>Security Benefits</a:t>
            </a:r>
            <a:endParaRPr lang="en-US" sz="1500" dirty="0"/>
          </a:p>
        </p:txBody>
      </p:sp>
      <p:sp>
        <p:nvSpPr>
          <p:cNvPr id="27" name="Text 9"/>
          <p:cNvSpPr/>
          <p:nvPr/>
        </p:nvSpPr>
        <p:spPr>
          <a:xfrm>
            <a:off x="8343900" y="2228850"/>
            <a:ext cx="30480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Temporary credentials with limited lifespan</a:t>
            </a:r>
            <a:endParaRPr lang="en-US" sz="1200" dirty="0"/>
          </a:p>
        </p:txBody>
      </p:sp>
      <p:sp>
        <p:nvSpPr>
          <p:cNvPr id="28" name="Text 10"/>
          <p:cNvSpPr/>
          <p:nvPr/>
        </p:nvSpPr>
        <p:spPr>
          <a:xfrm>
            <a:off x="8382000" y="2762250"/>
            <a:ext cx="264336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Least privilege access model</a:t>
            </a:r>
            <a:endParaRPr lang="en-US" sz="1200" dirty="0"/>
          </a:p>
        </p:txBody>
      </p:sp>
      <p:sp>
        <p:nvSpPr>
          <p:cNvPr id="29" name="Text 11"/>
          <p:cNvSpPr/>
          <p:nvPr/>
        </p:nvSpPr>
        <p:spPr>
          <a:xfrm>
            <a:off x="8382000" y="3067050"/>
            <a:ext cx="30099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No need to hardcode credentials in code</a:t>
            </a:r>
            <a:endParaRPr lang="en-US" sz="1200" dirty="0"/>
          </a:p>
        </p:txBody>
      </p:sp>
      <p:sp>
        <p:nvSpPr>
          <p:cNvPr id="30" name="Text 12"/>
          <p:cNvSpPr/>
          <p:nvPr/>
        </p:nvSpPr>
        <p:spPr>
          <a:xfrm>
            <a:off x="8267700" y="4095750"/>
            <a:ext cx="1516797"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Did You Know?</a:t>
            </a:r>
            <a:endParaRPr lang="en-US" sz="1200" dirty="0"/>
          </a:p>
        </p:txBody>
      </p:sp>
      <p:sp>
        <p:nvSpPr>
          <p:cNvPr id="31" name="Text 13"/>
          <p:cNvSpPr/>
          <p:nvPr/>
        </p:nvSpPr>
        <p:spPr>
          <a:xfrm>
            <a:off x="8077200" y="4400550"/>
            <a:ext cx="3352800" cy="952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ECS Task IAM roles are optional but highly recommended for security best practices. They provide a secure way to manage permissions for containerized applications without exposing long-term credentials.</a:t>
            </a:r>
            <a:endParaRPr lang="en-US" sz="1050" dirty="0"/>
          </a:p>
        </p:txBody>
      </p:sp>
      <p:sp>
        <p:nvSpPr>
          <p:cNvPr id="32" name="Text 14"/>
          <p:cNvSpPr/>
          <p:nvPr/>
        </p:nvSpPr>
        <p:spPr>
          <a:xfrm>
            <a:off x="800100" y="6477000"/>
            <a:ext cx="82956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AWS ECS</a:t>
            </a:r>
            <a:endParaRPr lang="en-US" sz="1200" dirty="0"/>
          </a:p>
        </p:txBody>
      </p:sp>
      <p:sp>
        <p:nvSpPr>
          <p:cNvPr id="33" name="Text 15"/>
          <p:cNvSpPr/>
          <p:nvPr/>
        </p:nvSpPr>
        <p:spPr>
          <a:xfrm>
            <a:off x="11143208" y="64770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6B7280"/>
                </a:solidFill>
                <a:latin typeface="ui-sans-serif" pitchFamily="34" charset="0"/>
                <a:ea typeface="ui-sans-serif" pitchFamily="34" charset="-122"/>
                <a:cs typeface="ui-sans-serif" pitchFamily="34" charset="-120"/>
              </a:rPr>
              <a:t>55/61</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72698-0FD6-43C9-2CDA-E946CC4A91E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F8190ED-51EE-6C3E-651B-360FE213C499}"/>
              </a:ext>
            </a:extLst>
          </p:cNvPr>
          <p:cNvPicPr>
            <a:picLocks noChangeAspect="1"/>
          </p:cNvPicPr>
          <p:nvPr/>
        </p:nvPicPr>
        <p:blipFill>
          <a:blip r:embed="rId3"/>
          <a:stretch>
            <a:fillRect/>
          </a:stretch>
        </p:blipFill>
        <p:spPr>
          <a:xfrm>
            <a:off x="0" y="0"/>
            <a:ext cx="12192000" cy="7082287"/>
          </a:xfrm>
          <a:prstGeom prst="rect">
            <a:avLst/>
          </a:prstGeom>
        </p:spPr>
      </p:pic>
      <p:pic>
        <p:nvPicPr>
          <p:cNvPr id="3" name="Image 1" descr="preencoded.png">
            <a:extLst>
              <a:ext uri="{FF2B5EF4-FFF2-40B4-BE49-F238E27FC236}">
                <a16:creationId xmlns:a16="http://schemas.microsoft.com/office/drawing/2014/main" id="{2838F375-FD30-AEBF-ADFE-3A03DE802F11}"/>
              </a:ext>
            </a:extLst>
          </p:cNvPr>
          <p:cNvPicPr>
            <a:picLocks noChangeAspect="1"/>
          </p:cNvPicPr>
          <p:nvPr/>
        </p:nvPicPr>
        <p:blipFill>
          <a:blip r:embed="rId4"/>
          <a:stretch>
            <a:fillRect/>
          </a:stretch>
        </p:blipFill>
        <p:spPr>
          <a:xfrm>
            <a:off x="4310063" y="1762125"/>
            <a:ext cx="3571875" cy="4286250"/>
          </a:xfrm>
          <a:prstGeom prst="rect">
            <a:avLst/>
          </a:prstGeom>
        </p:spPr>
      </p:pic>
      <p:pic>
        <p:nvPicPr>
          <p:cNvPr id="4" name="Image 2" descr="preencoded.png">
            <a:extLst>
              <a:ext uri="{FF2B5EF4-FFF2-40B4-BE49-F238E27FC236}">
                <a16:creationId xmlns:a16="http://schemas.microsoft.com/office/drawing/2014/main" id="{E3EBF942-B458-B72E-4A5D-A8A6BE2054E9}"/>
              </a:ext>
            </a:extLst>
          </p:cNvPr>
          <p:cNvPicPr>
            <a:picLocks noChangeAspect="1"/>
          </p:cNvPicPr>
          <p:nvPr/>
        </p:nvPicPr>
        <p:blipFill>
          <a:blip r:embed="rId5"/>
          <a:stretch>
            <a:fillRect/>
          </a:stretch>
        </p:blipFill>
        <p:spPr>
          <a:xfrm>
            <a:off x="5486400" y="1524000"/>
            <a:ext cx="1219200" cy="38100"/>
          </a:xfrm>
          <a:prstGeom prst="rect">
            <a:avLst/>
          </a:prstGeom>
        </p:spPr>
      </p:pic>
      <p:pic>
        <p:nvPicPr>
          <p:cNvPr id="5" name="Image 3" descr="preencoded.png">
            <a:extLst>
              <a:ext uri="{FF2B5EF4-FFF2-40B4-BE49-F238E27FC236}">
                <a16:creationId xmlns:a16="http://schemas.microsoft.com/office/drawing/2014/main" id="{CC7725B6-4240-EFA5-AA4D-385A91A1F05D}"/>
              </a:ext>
            </a:extLst>
          </p:cNvPr>
          <p:cNvPicPr>
            <a:picLocks noChangeAspect="1"/>
          </p:cNvPicPr>
          <p:nvPr/>
        </p:nvPicPr>
        <p:blipFill>
          <a:blip r:embed="rId6"/>
          <a:stretch>
            <a:fillRect/>
          </a:stretch>
        </p:blipFill>
        <p:spPr>
          <a:xfrm>
            <a:off x="2267694" y="2171700"/>
            <a:ext cx="3494633" cy="1028700"/>
          </a:xfrm>
          <a:prstGeom prst="rect">
            <a:avLst/>
          </a:prstGeom>
        </p:spPr>
      </p:pic>
      <p:pic>
        <p:nvPicPr>
          <p:cNvPr id="6" name="Image 4" descr="preencoded.png">
            <a:extLst>
              <a:ext uri="{FF2B5EF4-FFF2-40B4-BE49-F238E27FC236}">
                <a16:creationId xmlns:a16="http://schemas.microsoft.com/office/drawing/2014/main" id="{0F71DE07-D392-D73A-2E7D-8E2B8C76BEE3}"/>
              </a:ext>
            </a:extLst>
          </p:cNvPr>
          <p:cNvPicPr>
            <a:picLocks noChangeAspect="1"/>
          </p:cNvPicPr>
          <p:nvPr/>
        </p:nvPicPr>
        <p:blipFill>
          <a:blip r:embed="rId7"/>
          <a:stretch>
            <a:fillRect/>
          </a:stretch>
        </p:blipFill>
        <p:spPr>
          <a:xfrm>
            <a:off x="3843486" y="2324100"/>
            <a:ext cx="342900" cy="381000"/>
          </a:xfrm>
          <a:prstGeom prst="rect">
            <a:avLst/>
          </a:prstGeom>
        </p:spPr>
      </p:pic>
      <p:pic>
        <p:nvPicPr>
          <p:cNvPr id="7" name="Image 5" descr="preencoded.png">
            <a:extLst>
              <a:ext uri="{FF2B5EF4-FFF2-40B4-BE49-F238E27FC236}">
                <a16:creationId xmlns:a16="http://schemas.microsoft.com/office/drawing/2014/main" id="{59AF095B-7379-EAC2-9F35-8FD3A2C88DA7}"/>
              </a:ext>
            </a:extLst>
          </p:cNvPr>
          <p:cNvPicPr>
            <a:picLocks noChangeAspect="1"/>
          </p:cNvPicPr>
          <p:nvPr/>
        </p:nvPicPr>
        <p:blipFill>
          <a:blip r:embed="rId8"/>
          <a:stretch>
            <a:fillRect/>
          </a:stretch>
        </p:blipFill>
        <p:spPr>
          <a:xfrm>
            <a:off x="6067127" y="2171700"/>
            <a:ext cx="3857030" cy="1028700"/>
          </a:xfrm>
          <a:prstGeom prst="rect">
            <a:avLst/>
          </a:prstGeom>
        </p:spPr>
      </p:pic>
      <p:pic>
        <p:nvPicPr>
          <p:cNvPr id="8" name="Image 6" descr="preencoded.png">
            <a:extLst>
              <a:ext uri="{FF2B5EF4-FFF2-40B4-BE49-F238E27FC236}">
                <a16:creationId xmlns:a16="http://schemas.microsoft.com/office/drawing/2014/main" id="{BAB50AAE-FCC3-ED0C-6DA2-3DD4284AABA7}"/>
              </a:ext>
            </a:extLst>
          </p:cNvPr>
          <p:cNvPicPr>
            <a:picLocks noChangeAspect="1"/>
          </p:cNvPicPr>
          <p:nvPr/>
        </p:nvPicPr>
        <p:blipFill>
          <a:blip r:embed="rId9"/>
          <a:stretch>
            <a:fillRect/>
          </a:stretch>
        </p:blipFill>
        <p:spPr>
          <a:xfrm>
            <a:off x="7843242" y="2324100"/>
            <a:ext cx="304800" cy="381000"/>
          </a:xfrm>
          <a:prstGeom prst="rect">
            <a:avLst/>
          </a:prstGeom>
        </p:spPr>
      </p:pic>
      <p:pic>
        <p:nvPicPr>
          <p:cNvPr id="9" name="Image 7" descr="preencoded.png">
            <a:extLst>
              <a:ext uri="{FF2B5EF4-FFF2-40B4-BE49-F238E27FC236}">
                <a16:creationId xmlns:a16="http://schemas.microsoft.com/office/drawing/2014/main" id="{9445B57B-744F-FDC0-DC5A-19F2FBFC482D}"/>
              </a:ext>
            </a:extLst>
          </p:cNvPr>
          <p:cNvPicPr>
            <a:picLocks noChangeAspect="1"/>
          </p:cNvPicPr>
          <p:nvPr/>
        </p:nvPicPr>
        <p:blipFill>
          <a:blip r:embed="rId10"/>
          <a:stretch>
            <a:fillRect/>
          </a:stretch>
        </p:blipFill>
        <p:spPr>
          <a:xfrm>
            <a:off x="1585020" y="3657600"/>
            <a:ext cx="9021961" cy="2705100"/>
          </a:xfrm>
          <a:prstGeom prst="rect">
            <a:avLst/>
          </a:prstGeom>
        </p:spPr>
      </p:pic>
      <p:pic>
        <p:nvPicPr>
          <p:cNvPr id="10" name="Image 8" descr="preencoded.png">
            <a:extLst>
              <a:ext uri="{FF2B5EF4-FFF2-40B4-BE49-F238E27FC236}">
                <a16:creationId xmlns:a16="http://schemas.microsoft.com/office/drawing/2014/main" id="{A7C01F8E-0C98-855B-00BB-9D4E2DAA6951}"/>
              </a:ext>
            </a:extLst>
          </p:cNvPr>
          <p:cNvPicPr>
            <a:picLocks noChangeAspect="1"/>
          </p:cNvPicPr>
          <p:nvPr/>
        </p:nvPicPr>
        <p:blipFill>
          <a:blip r:embed="rId11"/>
          <a:stretch>
            <a:fillRect/>
          </a:stretch>
        </p:blipFill>
        <p:spPr>
          <a:xfrm>
            <a:off x="1813620" y="3924300"/>
            <a:ext cx="228600" cy="228600"/>
          </a:xfrm>
          <a:prstGeom prst="rect">
            <a:avLst/>
          </a:prstGeom>
        </p:spPr>
      </p:pic>
      <p:pic>
        <p:nvPicPr>
          <p:cNvPr id="11" name="Image 9" descr="preencoded.png">
            <a:extLst>
              <a:ext uri="{FF2B5EF4-FFF2-40B4-BE49-F238E27FC236}">
                <a16:creationId xmlns:a16="http://schemas.microsoft.com/office/drawing/2014/main" id="{40473DB2-4AD9-5575-D094-88E112323BEA}"/>
              </a:ext>
            </a:extLst>
          </p:cNvPr>
          <p:cNvPicPr>
            <a:picLocks noChangeAspect="1"/>
          </p:cNvPicPr>
          <p:nvPr/>
        </p:nvPicPr>
        <p:blipFill>
          <a:blip r:embed="rId12"/>
          <a:stretch>
            <a:fillRect/>
          </a:stretch>
        </p:blipFill>
        <p:spPr>
          <a:xfrm>
            <a:off x="1813620" y="4343400"/>
            <a:ext cx="4206180" cy="495300"/>
          </a:xfrm>
          <a:prstGeom prst="rect">
            <a:avLst/>
          </a:prstGeom>
        </p:spPr>
      </p:pic>
      <p:pic>
        <p:nvPicPr>
          <p:cNvPr id="12" name="Image 10" descr="preencoded.png">
            <a:extLst>
              <a:ext uri="{FF2B5EF4-FFF2-40B4-BE49-F238E27FC236}">
                <a16:creationId xmlns:a16="http://schemas.microsoft.com/office/drawing/2014/main" id="{28048D66-75A6-F693-CD49-DF48376CF568}"/>
              </a:ext>
            </a:extLst>
          </p:cNvPr>
          <p:cNvPicPr>
            <a:picLocks noChangeAspect="1"/>
          </p:cNvPicPr>
          <p:nvPr/>
        </p:nvPicPr>
        <p:blipFill>
          <a:blip r:embed="rId13"/>
          <a:stretch>
            <a:fillRect/>
          </a:stretch>
        </p:blipFill>
        <p:spPr>
          <a:xfrm>
            <a:off x="1927920" y="4457700"/>
            <a:ext cx="190500" cy="266700"/>
          </a:xfrm>
          <a:prstGeom prst="rect">
            <a:avLst/>
          </a:prstGeom>
        </p:spPr>
      </p:pic>
      <p:pic>
        <p:nvPicPr>
          <p:cNvPr id="13" name="Image 11" descr="preencoded.png">
            <a:extLst>
              <a:ext uri="{FF2B5EF4-FFF2-40B4-BE49-F238E27FC236}">
                <a16:creationId xmlns:a16="http://schemas.microsoft.com/office/drawing/2014/main" id="{9E5A92C6-B25D-BC4B-9D75-F3C383291ED2}"/>
              </a:ext>
            </a:extLst>
          </p:cNvPr>
          <p:cNvPicPr>
            <a:picLocks noChangeAspect="1"/>
          </p:cNvPicPr>
          <p:nvPr/>
        </p:nvPicPr>
        <p:blipFill>
          <a:blip r:embed="rId14"/>
          <a:stretch>
            <a:fillRect/>
          </a:stretch>
        </p:blipFill>
        <p:spPr>
          <a:xfrm>
            <a:off x="6172200" y="4343400"/>
            <a:ext cx="4206180" cy="495300"/>
          </a:xfrm>
          <a:prstGeom prst="rect">
            <a:avLst/>
          </a:prstGeom>
        </p:spPr>
      </p:pic>
      <p:pic>
        <p:nvPicPr>
          <p:cNvPr id="14" name="Image 12" descr="preencoded.png">
            <a:extLst>
              <a:ext uri="{FF2B5EF4-FFF2-40B4-BE49-F238E27FC236}">
                <a16:creationId xmlns:a16="http://schemas.microsoft.com/office/drawing/2014/main" id="{B573A5EC-DF7A-16DD-CE58-37EDB5F24910}"/>
              </a:ext>
            </a:extLst>
          </p:cNvPr>
          <p:cNvPicPr>
            <a:picLocks noChangeAspect="1"/>
          </p:cNvPicPr>
          <p:nvPr/>
        </p:nvPicPr>
        <p:blipFill>
          <a:blip r:embed="rId15"/>
          <a:stretch>
            <a:fillRect/>
          </a:stretch>
        </p:blipFill>
        <p:spPr>
          <a:xfrm>
            <a:off x="6286500" y="4457700"/>
            <a:ext cx="190500" cy="266700"/>
          </a:xfrm>
          <a:prstGeom prst="rect">
            <a:avLst/>
          </a:prstGeom>
        </p:spPr>
      </p:pic>
      <p:pic>
        <p:nvPicPr>
          <p:cNvPr id="15" name="Image 13" descr="preencoded.png">
            <a:extLst>
              <a:ext uri="{FF2B5EF4-FFF2-40B4-BE49-F238E27FC236}">
                <a16:creationId xmlns:a16="http://schemas.microsoft.com/office/drawing/2014/main" id="{7598AE05-38D4-E8CA-2AD2-EB1D2AFC8AC1}"/>
              </a:ext>
            </a:extLst>
          </p:cNvPr>
          <p:cNvPicPr>
            <a:picLocks noChangeAspect="1"/>
          </p:cNvPicPr>
          <p:nvPr/>
        </p:nvPicPr>
        <p:blipFill>
          <a:blip r:embed="rId16"/>
          <a:stretch>
            <a:fillRect/>
          </a:stretch>
        </p:blipFill>
        <p:spPr>
          <a:xfrm>
            <a:off x="1813620" y="4991100"/>
            <a:ext cx="4206180" cy="495300"/>
          </a:xfrm>
          <a:prstGeom prst="rect">
            <a:avLst/>
          </a:prstGeom>
        </p:spPr>
      </p:pic>
      <p:pic>
        <p:nvPicPr>
          <p:cNvPr id="16" name="Image 14" descr="preencoded.png">
            <a:extLst>
              <a:ext uri="{FF2B5EF4-FFF2-40B4-BE49-F238E27FC236}">
                <a16:creationId xmlns:a16="http://schemas.microsoft.com/office/drawing/2014/main" id="{D2668D40-10F5-50EC-341C-4F6B1361CB19}"/>
              </a:ext>
            </a:extLst>
          </p:cNvPr>
          <p:cNvPicPr>
            <a:picLocks noChangeAspect="1"/>
          </p:cNvPicPr>
          <p:nvPr/>
        </p:nvPicPr>
        <p:blipFill>
          <a:blip r:embed="rId17"/>
          <a:stretch>
            <a:fillRect/>
          </a:stretch>
        </p:blipFill>
        <p:spPr>
          <a:xfrm>
            <a:off x="1927920" y="5105400"/>
            <a:ext cx="238125" cy="266700"/>
          </a:xfrm>
          <a:prstGeom prst="rect">
            <a:avLst/>
          </a:prstGeom>
        </p:spPr>
      </p:pic>
      <p:pic>
        <p:nvPicPr>
          <p:cNvPr id="17" name="Image 15" descr="preencoded.png">
            <a:extLst>
              <a:ext uri="{FF2B5EF4-FFF2-40B4-BE49-F238E27FC236}">
                <a16:creationId xmlns:a16="http://schemas.microsoft.com/office/drawing/2014/main" id="{DB650DF2-76FB-C2ED-5A72-785ACC3DF19F}"/>
              </a:ext>
            </a:extLst>
          </p:cNvPr>
          <p:cNvPicPr>
            <a:picLocks noChangeAspect="1"/>
          </p:cNvPicPr>
          <p:nvPr/>
        </p:nvPicPr>
        <p:blipFill>
          <a:blip r:embed="rId18"/>
          <a:stretch>
            <a:fillRect/>
          </a:stretch>
        </p:blipFill>
        <p:spPr>
          <a:xfrm>
            <a:off x="6172200" y="4991100"/>
            <a:ext cx="4206180" cy="495300"/>
          </a:xfrm>
          <a:prstGeom prst="rect">
            <a:avLst/>
          </a:prstGeom>
        </p:spPr>
      </p:pic>
      <p:pic>
        <p:nvPicPr>
          <p:cNvPr id="18" name="Image 16" descr="preencoded.png">
            <a:extLst>
              <a:ext uri="{FF2B5EF4-FFF2-40B4-BE49-F238E27FC236}">
                <a16:creationId xmlns:a16="http://schemas.microsoft.com/office/drawing/2014/main" id="{C867582E-98C6-7E59-66BB-EA98432410F6}"/>
              </a:ext>
            </a:extLst>
          </p:cNvPr>
          <p:cNvPicPr>
            <a:picLocks noChangeAspect="1"/>
          </p:cNvPicPr>
          <p:nvPr/>
        </p:nvPicPr>
        <p:blipFill>
          <a:blip r:embed="rId19"/>
          <a:stretch>
            <a:fillRect/>
          </a:stretch>
        </p:blipFill>
        <p:spPr>
          <a:xfrm>
            <a:off x="6286500" y="5105400"/>
            <a:ext cx="190500" cy="266700"/>
          </a:xfrm>
          <a:prstGeom prst="rect">
            <a:avLst/>
          </a:prstGeom>
        </p:spPr>
      </p:pic>
      <p:pic>
        <p:nvPicPr>
          <p:cNvPr id="19" name="Image 17" descr="preencoded.png">
            <a:extLst>
              <a:ext uri="{FF2B5EF4-FFF2-40B4-BE49-F238E27FC236}">
                <a16:creationId xmlns:a16="http://schemas.microsoft.com/office/drawing/2014/main" id="{73C96384-4161-46FE-104F-DC15317A7DC9}"/>
              </a:ext>
            </a:extLst>
          </p:cNvPr>
          <p:cNvPicPr>
            <a:picLocks noChangeAspect="1"/>
          </p:cNvPicPr>
          <p:nvPr/>
        </p:nvPicPr>
        <p:blipFill>
          <a:blip r:embed="rId20"/>
          <a:stretch>
            <a:fillRect/>
          </a:stretch>
        </p:blipFill>
        <p:spPr>
          <a:xfrm>
            <a:off x="1813620" y="5638800"/>
            <a:ext cx="8564761" cy="495300"/>
          </a:xfrm>
          <a:prstGeom prst="rect">
            <a:avLst/>
          </a:prstGeom>
        </p:spPr>
      </p:pic>
      <p:pic>
        <p:nvPicPr>
          <p:cNvPr id="20" name="Image 18" descr="preencoded.png">
            <a:extLst>
              <a:ext uri="{FF2B5EF4-FFF2-40B4-BE49-F238E27FC236}">
                <a16:creationId xmlns:a16="http://schemas.microsoft.com/office/drawing/2014/main" id="{5F9F836B-112F-8451-7554-A86E0F08A9BD}"/>
              </a:ext>
            </a:extLst>
          </p:cNvPr>
          <p:cNvPicPr>
            <a:picLocks noChangeAspect="1"/>
          </p:cNvPicPr>
          <p:nvPr/>
        </p:nvPicPr>
        <p:blipFill>
          <a:blip r:embed="rId21"/>
          <a:stretch>
            <a:fillRect/>
          </a:stretch>
        </p:blipFill>
        <p:spPr>
          <a:xfrm>
            <a:off x="1927920" y="5753100"/>
            <a:ext cx="190500" cy="266700"/>
          </a:xfrm>
          <a:prstGeom prst="rect">
            <a:avLst/>
          </a:prstGeom>
        </p:spPr>
      </p:pic>
      <p:sp>
        <p:nvSpPr>
          <p:cNvPr id="24" name="Text 0">
            <a:extLst>
              <a:ext uri="{FF2B5EF4-FFF2-40B4-BE49-F238E27FC236}">
                <a16:creationId xmlns:a16="http://schemas.microsoft.com/office/drawing/2014/main" id="{CA9F1DB7-615B-B2FE-6C02-F0339E7658DE}"/>
              </a:ext>
            </a:extLst>
          </p:cNvPr>
          <p:cNvSpPr/>
          <p:nvPr/>
        </p:nvSpPr>
        <p:spPr>
          <a:xfrm>
            <a:off x="457200" y="457200"/>
            <a:ext cx="11277600" cy="914400"/>
          </a:xfrm>
          <a:prstGeom prst="rect">
            <a:avLst/>
          </a:prstGeom>
          <a:noFill/>
          <a:ln/>
        </p:spPr>
        <p:txBody>
          <a:bodyPr vert="horz" wrap="square" lIns="0" tIns="0" rIns="0" bIns="0" rtlCol="0" anchor="t"/>
          <a:lstStyle/>
          <a:p>
            <a:pPr marL="0" indent="0" algn="ctr">
              <a:lnSpc>
                <a:spcPts val="3600"/>
              </a:lnSpc>
              <a:buNone/>
            </a:pPr>
            <a:r>
              <a:rPr lang="en-US" sz="3600" b="1" dirty="0">
                <a:solidFill>
                  <a:srgbClr val="2563EB"/>
                </a:solidFill>
                <a:latin typeface="ui-sans-serif" pitchFamily="34" charset="0"/>
                <a:ea typeface="ui-sans-serif" pitchFamily="34" charset="-122"/>
                <a:cs typeface="ui-sans-serif" pitchFamily="34" charset="-120"/>
              </a:rPr>
              <a:t>Stay Connected with Our Cloud Computing Journey!</a:t>
            </a:r>
            <a:endParaRPr lang="en-US" sz="3600" dirty="0"/>
          </a:p>
        </p:txBody>
      </p:sp>
      <p:sp>
        <p:nvSpPr>
          <p:cNvPr id="25" name="Text 1">
            <a:extLst>
              <a:ext uri="{FF2B5EF4-FFF2-40B4-BE49-F238E27FC236}">
                <a16:creationId xmlns:a16="http://schemas.microsoft.com/office/drawing/2014/main" id="{AB4B4B22-84E8-CD12-7E99-6ADE0F304271}"/>
              </a:ext>
            </a:extLst>
          </p:cNvPr>
          <p:cNvSpPr/>
          <p:nvPr/>
        </p:nvSpPr>
        <p:spPr>
          <a:xfrm>
            <a:off x="2420094" y="2781300"/>
            <a:ext cx="382780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Like this video if you found it helpful!</a:t>
            </a:r>
            <a:endParaRPr lang="en-US" sz="1350" dirty="0"/>
          </a:p>
        </p:txBody>
      </p:sp>
      <p:sp>
        <p:nvSpPr>
          <p:cNvPr id="26" name="Text 2">
            <a:extLst>
              <a:ext uri="{FF2B5EF4-FFF2-40B4-BE49-F238E27FC236}">
                <a16:creationId xmlns:a16="http://schemas.microsoft.com/office/drawing/2014/main" id="{047EADD7-9B80-4E05-E9EA-8E325389AA47}"/>
              </a:ext>
            </a:extLst>
          </p:cNvPr>
          <p:cNvSpPr/>
          <p:nvPr/>
        </p:nvSpPr>
        <p:spPr>
          <a:xfrm>
            <a:off x="6219527" y="2781300"/>
            <a:ext cx="4262676"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Subscribe for cloud tech updates!</a:t>
            </a:r>
            <a:endParaRPr lang="en-US" sz="1350" dirty="0"/>
          </a:p>
        </p:txBody>
      </p:sp>
      <p:sp>
        <p:nvSpPr>
          <p:cNvPr id="27" name="Text 3">
            <a:extLst>
              <a:ext uri="{FF2B5EF4-FFF2-40B4-BE49-F238E27FC236}">
                <a16:creationId xmlns:a16="http://schemas.microsoft.com/office/drawing/2014/main" id="{83848CC2-EEAD-5B3D-D5DA-55FD4EF7CB37}"/>
              </a:ext>
            </a:extLst>
          </p:cNvPr>
          <p:cNvSpPr/>
          <p:nvPr/>
        </p:nvSpPr>
        <p:spPr>
          <a:xfrm>
            <a:off x="2156520" y="3886200"/>
            <a:ext cx="10277713"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Comment below which cloud topic you want to see next like:</a:t>
            </a:r>
            <a:endParaRPr lang="en-US" sz="1800" dirty="0"/>
          </a:p>
        </p:txBody>
      </p:sp>
      <p:sp>
        <p:nvSpPr>
          <p:cNvPr id="28" name="Text 4">
            <a:extLst>
              <a:ext uri="{FF2B5EF4-FFF2-40B4-BE49-F238E27FC236}">
                <a16:creationId xmlns:a16="http://schemas.microsoft.com/office/drawing/2014/main" id="{EEFD8330-2CB8-A1FE-BFC3-A8776473A04A}"/>
              </a:ext>
            </a:extLst>
          </p:cNvPr>
          <p:cNvSpPr/>
          <p:nvPr/>
        </p:nvSpPr>
        <p:spPr>
          <a:xfrm>
            <a:off x="2232720" y="4457700"/>
            <a:ext cx="1977747"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Cloud Security Tips</a:t>
            </a:r>
            <a:endParaRPr lang="en-US" sz="1350" dirty="0"/>
          </a:p>
        </p:txBody>
      </p:sp>
      <p:sp>
        <p:nvSpPr>
          <p:cNvPr id="29" name="Text 5">
            <a:extLst>
              <a:ext uri="{FF2B5EF4-FFF2-40B4-BE49-F238E27FC236}">
                <a16:creationId xmlns:a16="http://schemas.microsoft.com/office/drawing/2014/main" id="{E9A143C4-1117-C41E-C69D-1DF0CCDF332B}"/>
              </a:ext>
            </a:extLst>
          </p:cNvPr>
          <p:cNvSpPr/>
          <p:nvPr/>
        </p:nvSpPr>
        <p:spPr>
          <a:xfrm>
            <a:off x="6591300" y="4457700"/>
            <a:ext cx="295501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Cost Optimization Strategies</a:t>
            </a:r>
            <a:endParaRPr lang="en-US" sz="1350" dirty="0"/>
          </a:p>
        </p:txBody>
      </p:sp>
      <p:sp>
        <p:nvSpPr>
          <p:cNvPr id="30" name="Text 6">
            <a:extLst>
              <a:ext uri="{FF2B5EF4-FFF2-40B4-BE49-F238E27FC236}">
                <a16:creationId xmlns:a16="http://schemas.microsoft.com/office/drawing/2014/main" id="{110A3E62-4060-DBC2-8284-A9D9E33400DF}"/>
              </a:ext>
            </a:extLst>
          </p:cNvPr>
          <p:cNvSpPr/>
          <p:nvPr/>
        </p:nvSpPr>
        <p:spPr>
          <a:xfrm>
            <a:off x="2280345" y="5105400"/>
            <a:ext cx="2585680"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Multi-Cloud Management</a:t>
            </a:r>
            <a:endParaRPr lang="en-US" sz="1350" dirty="0"/>
          </a:p>
        </p:txBody>
      </p:sp>
      <p:sp>
        <p:nvSpPr>
          <p:cNvPr id="31" name="Text 7">
            <a:extLst>
              <a:ext uri="{FF2B5EF4-FFF2-40B4-BE49-F238E27FC236}">
                <a16:creationId xmlns:a16="http://schemas.microsoft.com/office/drawing/2014/main" id="{CBB0E39E-5CE4-1EF6-FE42-71DC92803A96}"/>
              </a:ext>
            </a:extLst>
          </p:cNvPr>
          <p:cNvSpPr/>
          <p:nvPr/>
        </p:nvSpPr>
        <p:spPr>
          <a:xfrm>
            <a:off x="6591300" y="5105400"/>
            <a:ext cx="226796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Serverless Computing</a:t>
            </a:r>
            <a:endParaRPr lang="en-US" sz="1350" dirty="0"/>
          </a:p>
        </p:txBody>
      </p:sp>
      <p:sp>
        <p:nvSpPr>
          <p:cNvPr id="32" name="Text 8">
            <a:extLst>
              <a:ext uri="{FF2B5EF4-FFF2-40B4-BE49-F238E27FC236}">
                <a16:creationId xmlns:a16="http://schemas.microsoft.com/office/drawing/2014/main" id="{69C04820-40A3-4DB5-A755-20DD94E582F2}"/>
              </a:ext>
            </a:extLst>
          </p:cNvPr>
          <p:cNvSpPr/>
          <p:nvPr/>
        </p:nvSpPr>
        <p:spPr>
          <a:xfrm>
            <a:off x="2232720" y="5753100"/>
            <a:ext cx="2264212" cy="2667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Cloud Migration Steps</a:t>
            </a:r>
            <a:endParaRPr lang="en-US" sz="1350" dirty="0"/>
          </a:p>
        </p:txBody>
      </p:sp>
      <p:sp>
        <p:nvSpPr>
          <p:cNvPr id="36" name="TextBox 35">
            <a:extLst>
              <a:ext uri="{FF2B5EF4-FFF2-40B4-BE49-F238E27FC236}">
                <a16:creationId xmlns:a16="http://schemas.microsoft.com/office/drawing/2014/main" id="{B0447D37-7860-ED6D-CF91-682A57CF0A25}"/>
              </a:ext>
            </a:extLst>
          </p:cNvPr>
          <p:cNvSpPr txBox="1"/>
          <p:nvPr/>
        </p:nvSpPr>
        <p:spPr>
          <a:xfrm>
            <a:off x="198156" y="969242"/>
            <a:ext cx="11948088" cy="384080"/>
          </a:xfrm>
          <a:prstGeom prst="rect">
            <a:avLst/>
          </a:prstGeom>
          <a:noFill/>
        </p:spPr>
        <p:txBody>
          <a:bodyPr wrap="square">
            <a:spAutoFit/>
          </a:bodyPr>
          <a:lstStyle/>
          <a:p>
            <a:pPr marL="0" indent="0" algn="ctr">
              <a:lnSpc>
                <a:spcPts val="2400"/>
              </a:lnSpc>
              <a:buNone/>
            </a:pPr>
            <a:r>
              <a:rPr lang="en-US" sz="1800" dirty="0">
                <a:solidFill>
                  <a:srgbClr val="374151"/>
                </a:solidFill>
                <a:latin typeface="ui-sans-serif" pitchFamily="34" charset="0"/>
                <a:ea typeface="ui-sans-serif" pitchFamily="34" charset="-122"/>
                <a:cs typeface="ui-sans-serif" pitchFamily="34" charset="-120"/>
              </a:rPr>
              <a:t> Dive deeper into the cloud world! Check out our specialized playlists for your continuous learning journey!</a:t>
            </a:r>
            <a:endParaRPr lang="en-US" sz="1800" dirty="0"/>
          </a:p>
        </p:txBody>
      </p:sp>
      <p:sp>
        <p:nvSpPr>
          <p:cNvPr id="33" name="Text 8">
            <a:extLst>
              <a:ext uri="{FF2B5EF4-FFF2-40B4-BE49-F238E27FC236}">
                <a16:creationId xmlns:a16="http://schemas.microsoft.com/office/drawing/2014/main" id="{96E5597D-5C0B-98DF-F880-F4806369ADC1}"/>
              </a:ext>
            </a:extLst>
          </p:cNvPr>
          <p:cNvSpPr/>
          <p:nvPr/>
        </p:nvSpPr>
        <p:spPr>
          <a:xfrm>
            <a:off x="6591300" y="5773833"/>
            <a:ext cx="2264212" cy="266700"/>
          </a:xfrm>
          <a:prstGeom prst="rect">
            <a:avLst/>
          </a:prstGeom>
          <a:noFill/>
          <a:ln/>
        </p:spPr>
        <p:txBody>
          <a:bodyPr vert="horz" wrap="square" lIns="0" tIns="0" rIns="0" bIns="0" rtlCol="0" anchor="t"/>
          <a:lstStyle/>
          <a:p>
            <a:pPr>
              <a:lnSpc>
                <a:spcPts val="2100"/>
              </a:lnSpc>
            </a:pPr>
            <a:r>
              <a:rPr lang="en-IN" sz="1400" dirty="0"/>
              <a:t>Anything you'd like 🙂</a:t>
            </a:r>
            <a:endParaRPr lang="en-US" sz="1350" dirty="0"/>
          </a:p>
        </p:txBody>
      </p:sp>
      <p:pic>
        <p:nvPicPr>
          <p:cNvPr id="34" name="Image 14" descr="preencoded.png">
            <a:extLst>
              <a:ext uri="{FF2B5EF4-FFF2-40B4-BE49-F238E27FC236}">
                <a16:creationId xmlns:a16="http://schemas.microsoft.com/office/drawing/2014/main" id="{D80F4E71-BAE1-0263-2469-5A64F6610EA9}"/>
              </a:ext>
            </a:extLst>
          </p:cNvPr>
          <p:cNvPicPr>
            <a:picLocks noChangeAspect="1"/>
          </p:cNvPicPr>
          <p:nvPr/>
        </p:nvPicPr>
        <p:blipFill>
          <a:blip r:embed="rId17"/>
          <a:stretch>
            <a:fillRect/>
          </a:stretch>
        </p:blipFill>
        <p:spPr>
          <a:xfrm>
            <a:off x="6307217" y="5806440"/>
            <a:ext cx="238125" cy="266700"/>
          </a:xfrm>
          <a:prstGeom prst="rect">
            <a:avLst/>
          </a:prstGeom>
        </p:spPr>
      </p:pic>
      <p:cxnSp>
        <p:nvCxnSpPr>
          <p:cNvPr id="37" name="Straight Connector 36">
            <a:extLst>
              <a:ext uri="{FF2B5EF4-FFF2-40B4-BE49-F238E27FC236}">
                <a16:creationId xmlns:a16="http://schemas.microsoft.com/office/drawing/2014/main" id="{7A759C44-1A4D-A61A-5C4D-9B4A170C721B}"/>
              </a:ext>
            </a:extLst>
          </p:cNvPr>
          <p:cNvCxnSpPr>
            <a:cxnSpLocks/>
          </p:cNvCxnSpPr>
          <p:nvPr/>
        </p:nvCxnSpPr>
        <p:spPr>
          <a:xfrm>
            <a:off x="6206490" y="5787390"/>
            <a:ext cx="0" cy="2667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4840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9397</Words>
  <Application>Microsoft Office PowerPoint</Application>
  <PresentationFormat>Widescreen</PresentationFormat>
  <Paragraphs>1433</Paragraphs>
  <Slides>85</Slides>
  <Notes>85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85</vt:i4>
      </vt:variant>
    </vt:vector>
  </HeadingPairs>
  <TitlesOfParts>
    <vt:vector size="90" baseType="lpstr">
      <vt:lpstr>Arial</vt:lpstr>
      <vt:lpstr>Consolas</vt:lpstr>
      <vt:lpstr>ui-monospace</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Ritesh Behal</cp:lastModifiedBy>
  <cp:revision>14</cp:revision>
  <dcterms:created xsi:type="dcterms:W3CDTF">2025-11-04T04:36:02Z</dcterms:created>
  <dcterms:modified xsi:type="dcterms:W3CDTF">2025-11-07T03:14:29Z</dcterms:modified>
</cp:coreProperties>
</file>