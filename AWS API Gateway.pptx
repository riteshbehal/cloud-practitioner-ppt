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60" r:id="rId4"/>
    <p:sldId id="268" r:id="rId5"/>
    <p:sldId id="259" r:id="rId6"/>
    <p:sldId id="269" r:id="rId7"/>
    <p:sldId id="270" r:id="rId8"/>
    <p:sldId id="271" r:id="rId9"/>
    <p:sldId id="272" r:id="rId10"/>
    <p:sldId id="273" r:id="rId11"/>
    <p:sldId id="263" r:id="rId12"/>
    <p:sldId id="265" r:id="rId13"/>
    <p:sldId id="274" r:id="rId14"/>
    <p:sldId id="275" r:id="rId15"/>
    <p:sldId id="261" r:id="rId16"/>
    <p:sldId id="262" r:id="rId17"/>
    <p:sldId id="276" r:id="rId18"/>
    <p:sldId id="264" r:id="rId19"/>
    <p:sldId id="277" r:id="rId20"/>
    <p:sldId id="266" r:id="rId21"/>
    <p:sldId id="279" r:id="rId22"/>
    <p:sldId id="280"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0678" autoAdjust="0"/>
  </p:normalViewPr>
  <p:slideViewPr>
    <p:cSldViewPr snapToGrid="0" snapToObjects="1">
      <p:cViewPr varScale="1">
        <p:scale>
          <a:sx n="100" d="100"/>
          <a:sy n="100" d="100"/>
        </p:scale>
        <p:origin x="9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7753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26" Type="http://schemas.openxmlformats.org/officeDocument/2006/relationships/image" Target="../media/image42.png"/><Relationship Id="rId3" Type="http://schemas.openxmlformats.org/officeDocument/2006/relationships/image" Target="../media/image1.png"/><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5" Type="http://schemas.openxmlformats.org/officeDocument/2006/relationships/image" Target="../media/image41.png"/><Relationship Id="rId2" Type="http://schemas.openxmlformats.org/officeDocument/2006/relationships/notesSlide" Target="../notesSlides/notesSlide3.xml"/><Relationship Id="rId16" Type="http://schemas.openxmlformats.org/officeDocument/2006/relationships/image" Target="../media/image32.png"/><Relationship Id="rId20" Type="http://schemas.openxmlformats.org/officeDocument/2006/relationships/image" Target="../media/image36.png"/><Relationship Id="rId29"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24" Type="http://schemas.openxmlformats.org/officeDocument/2006/relationships/image" Target="../media/image40.png"/><Relationship Id="rId5" Type="http://schemas.openxmlformats.org/officeDocument/2006/relationships/image" Target="../media/image3.png"/><Relationship Id="rId15" Type="http://schemas.openxmlformats.org/officeDocument/2006/relationships/image" Target="../media/image31.png"/><Relationship Id="rId23" Type="http://schemas.openxmlformats.org/officeDocument/2006/relationships/image" Target="../media/image39.png"/><Relationship Id="rId28" Type="http://schemas.openxmlformats.org/officeDocument/2006/relationships/image" Target="../media/image44.png"/><Relationship Id="rId10" Type="http://schemas.openxmlformats.org/officeDocument/2006/relationships/image" Target="../media/image26.png"/><Relationship Id="rId19" Type="http://schemas.openxmlformats.org/officeDocument/2006/relationships/image" Target="../media/image35.png"/><Relationship Id="rId31"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25.png"/><Relationship Id="rId14" Type="http://schemas.openxmlformats.org/officeDocument/2006/relationships/image" Target="../media/image30.png"/><Relationship Id="rId22" Type="http://schemas.openxmlformats.org/officeDocument/2006/relationships/image" Target="../media/image38.png"/><Relationship Id="rId27" Type="http://schemas.openxmlformats.org/officeDocument/2006/relationships/image" Target="../media/image43.png"/><Relationship Id="rId30"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1.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14.png"/><Relationship Id="rId15" Type="http://schemas.openxmlformats.org/officeDocument/2006/relationships/image" Target="../media/image55.png"/><Relationship Id="rId10" Type="http://schemas.openxmlformats.org/officeDocument/2006/relationships/image" Target="../media/image50.png"/><Relationship Id="rId4" Type="http://schemas.openxmlformats.org/officeDocument/2006/relationships/image" Target="../media/image13.png"/><Relationship Id="rId9" Type="http://schemas.openxmlformats.org/officeDocument/2006/relationships/image" Target="../media/image49.png"/><Relationship Id="rId14" Type="http://schemas.openxmlformats.org/officeDocument/2006/relationships/image" Target="../media/image54.png"/></Relationships>
</file>

<file path=ppt/slides/_rels/slide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1.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12.png"/><Relationship Id="rId2" Type="http://schemas.openxmlformats.org/officeDocument/2006/relationships/notesSlide" Target="../notesSlides/notesSlide5.xml"/><Relationship Id="rId16"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3.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2.png"/><Relationship Id="rId9" Type="http://schemas.openxmlformats.org/officeDocument/2006/relationships/image" Target="../media/image62.png"/><Relationship Id="rId14" Type="http://schemas.openxmlformats.org/officeDocument/2006/relationships/image" Target="../media/image67.png"/></Relationships>
</file>

<file path=ppt/slides/_rels/slide6.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9.png"/><Relationship Id="rId3" Type="http://schemas.openxmlformats.org/officeDocument/2006/relationships/image" Target="../media/image1.png"/><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2" Type="http://schemas.openxmlformats.org/officeDocument/2006/relationships/notesSlide" Target="../notesSlides/notesSlide6.xml"/><Relationship Id="rId16" Type="http://schemas.openxmlformats.org/officeDocument/2006/relationships/image" Target="../media/image79.png"/><Relationship Id="rId20" Type="http://schemas.openxmlformats.org/officeDocument/2006/relationships/image" Target="../media/image83.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5" Type="http://schemas.openxmlformats.org/officeDocument/2006/relationships/image" Target="../media/image14.png"/><Relationship Id="rId15" Type="http://schemas.openxmlformats.org/officeDocument/2006/relationships/image" Target="../media/image78.png"/><Relationship Id="rId23" Type="http://schemas.openxmlformats.org/officeDocument/2006/relationships/image" Target="../media/image86.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13.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s>
</file>

<file path=ppt/slides/_rels/slide7.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3" Type="http://schemas.openxmlformats.org/officeDocument/2006/relationships/image" Target="../media/image1.png"/><Relationship Id="rId7" Type="http://schemas.openxmlformats.org/officeDocument/2006/relationships/image" Target="../media/image91.png"/><Relationship Id="rId12" Type="http://schemas.openxmlformats.org/officeDocument/2006/relationships/image" Target="../media/image96.png"/><Relationship Id="rId2" Type="http://schemas.openxmlformats.org/officeDocument/2006/relationships/notesSlide" Target="../notesSlides/notesSlide7.xml"/><Relationship Id="rId16" Type="http://schemas.openxmlformats.org/officeDocument/2006/relationships/image" Target="../media/image100.png"/><Relationship Id="rId1" Type="http://schemas.openxmlformats.org/officeDocument/2006/relationships/slideLayout" Target="../slideLayouts/slideLayout1.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14.png"/><Relationship Id="rId15" Type="http://schemas.openxmlformats.org/officeDocument/2006/relationships/image" Target="../media/image99.png"/><Relationship Id="rId10" Type="http://schemas.openxmlformats.org/officeDocument/2006/relationships/image" Target="../media/image94.png"/><Relationship Id="rId4" Type="http://schemas.openxmlformats.org/officeDocument/2006/relationships/image" Target="../media/image13.png"/><Relationship Id="rId9" Type="http://schemas.openxmlformats.org/officeDocument/2006/relationships/image" Target="../media/image93.png"/><Relationship Id="rId14" Type="http://schemas.openxmlformats.org/officeDocument/2006/relationships/image" Target="../media/image98.png"/></Relationships>
</file>

<file path=ppt/slides/_rels/slide8.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1.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4.png"/><Relationship Id="rId10" Type="http://schemas.openxmlformats.org/officeDocument/2006/relationships/image" Target="../media/image107.png"/><Relationship Id="rId4" Type="http://schemas.openxmlformats.org/officeDocument/2006/relationships/image" Target="../media/image102.png"/><Relationship Id="rId9" Type="http://schemas.openxmlformats.org/officeDocument/2006/relationships/image" Target="../media/image106.png"/></Relationships>
</file>

<file path=ppt/slides/_rels/slide9.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18" Type="http://schemas.openxmlformats.org/officeDocument/2006/relationships/image" Target="../media/image123.png"/><Relationship Id="rId26" Type="http://schemas.openxmlformats.org/officeDocument/2006/relationships/image" Target="../media/image131.png"/><Relationship Id="rId3" Type="http://schemas.openxmlformats.org/officeDocument/2006/relationships/image" Target="../media/image1.png"/><Relationship Id="rId21" Type="http://schemas.openxmlformats.org/officeDocument/2006/relationships/image" Target="../media/image126.png"/><Relationship Id="rId7" Type="http://schemas.openxmlformats.org/officeDocument/2006/relationships/image" Target="../media/image112.png"/><Relationship Id="rId12" Type="http://schemas.openxmlformats.org/officeDocument/2006/relationships/image" Target="../media/image117.png"/><Relationship Id="rId17" Type="http://schemas.openxmlformats.org/officeDocument/2006/relationships/image" Target="../media/image122.png"/><Relationship Id="rId25" Type="http://schemas.openxmlformats.org/officeDocument/2006/relationships/image" Target="../media/image130.png"/><Relationship Id="rId2" Type="http://schemas.openxmlformats.org/officeDocument/2006/relationships/notesSlide" Target="../notesSlides/notesSlide9.xml"/><Relationship Id="rId16" Type="http://schemas.openxmlformats.org/officeDocument/2006/relationships/image" Target="../media/image121.png"/><Relationship Id="rId20" Type="http://schemas.openxmlformats.org/officeDocument/2006/relationships/image" Target="../media/image125.png"/><Relationship Id="rId1" Type="http://schemas.openxmlformats.org/officeDocument/2006/relationships/slideLayout" Target="../slideLayouts/slideLayout1.xml"/><Relationship Id="rId6" Type="http://schemas.openxmlformats.org/officeDocument/2006/relationships/image" Target="../media/image111.png"/><Relationship Id="rId11" Type="http://schemas.openxmlformats.org/officeDocument/2006/relationships/image" Target="../media/image116.png"/><Relationship Id="rId24" Type="http://schemas.openxmlformats.org/officeDocument/2006/relationships/image" Target="../media/image129.png"/><Relationship Id="rId5" Type="http://schemas.openxmlformats.org/officeDocument/2006/relationships/image" Target="../media/image110.png"/><Relationship Id="rId15" Type="http://schemas.openxmlformats.org/officeDocument/2006/relationships/image" Target="../media/image120.png"/><Relationship Id="rId23" Type="http://schemas.openxmlformats.org/officeDocument/2006/relationships/image" Target="../media/image128.png"/><Relationship Id="rId28" Type="http://schemas.openxmlformats.org/officeDocument/2006/relationships/image" Target="../media/image133.png"/><Relationship Id="rId10" Type="http://schemas.openxmlformats.org/officeDocument/2006/relationships/image" Target="../media/image115.png"/><Relationship Id="rId19" Type="http://schemas.openxmlformats.org/officeDocument/2006/relationships/image" Target="../media/image124.png"/><Relationship Id="rId4" Type="http://schemas.openxmlformats.org/officeDocument/2006/relationships/image" Target="../media/image13.png"/><Relationship Id="rId9" Type="http://schemas.openxmlformats.org/officeDocument/2006/relationships/image" Target="../media/image114.png"/><Relationship Id="rId14" Type="http://schemas.openxmlformats.org/officeDocument/2006/relationships/image" Target="../media/image119.png"/><Relationship Id="rId22" Type="http://schemas.openxmlformats.org/officeDocument/2006/relationships/image" Target="../media/image127.png"/><Relationship Id="rId27" Type="http://schemas.openxmlformats.org/officeDocument/2006/relationships/image" Target="../media/image132.png"/></Relationships>
</file>

<file path=ppt/slides/_rels/slide10.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3" Type="http://schemas.openxmlformats.org/officeDocument/2006/relationships/image" Target="../media/image1.png"/><Relationship Id="rId7" Type="http://schemas.openxmlformats.org/officeDocument/2006/relationships/image" Target="../media/image135.png"/><Relationship Id="rId12" Type="http://schemas.openxmlformats.org/officeDocument/2006/relationships/image" Target="../media/image140.png"/><Relationship Id="rId2" Type="http://schemas.openxmlformats.org/officeDocument/2006/relationships/notesSlide" Target="../notesSlides/notesSlide10.xml"/><Relationship Id="rId16" Type="http://schemas.openxmlformats.org/officeDocument/2006/relationships/image" Target="../media/image144.png"/><Relationship Id="rId1" Type="http://schemas.openxmlformats.org/officeDocument/2006/relationships/slideLayout" Target="../slideLayouts/slideLayout1.xml"/><Relationship Id="rId6" Type="http://schemas.openxmlformats.org/officeDocument/2006/relationships/image" Target="../media/image134.png"/><Relationship Id="rId11" Type="http://schemas.openxmlformats.org/officeDocument/2006/relationships/image" Target="../media/image139.png"/><Relationship Id="rId5" Type="http://schemas.openxmlformats.org/officeDocument/2006/relationships/image" Target="../media/image14.png"/><Relationship Id="rId15" Type="http://schemas.openxmlformats.org/officeDocument/2006/relationships/image" Target="../media/image143.png"/><Relationship Id="rId10" Type="http://schemas.openxmlformats.org/officeDocument/2006/relationships/image" Target="../media/image138.png"/><Relationship Id="rId4" Type="http://schemas.openxmlformats.org/officeDocument/2006/relationships/image" Target="../media/image13.png"/><Relationship Id="rId9" Type="http://schemas.openxmlformats.org/officeDocument/2006/relationships/image" Target="../media/image137.png"/><Relationship Id="rId14" Type="http://schemas.openxmlformats.org/officeDocument/2006/relationships/image" Target="../media/image142.png"/></Relationships>
</file>

<file path=ppt/slides/_rels/slide11.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3" Type="http://schemas.openxmlformats.org/officeDocument/2006/relationships/image" Target="../media/image1.png"/><Relationship Id="rId7" Type="http://schemas.openxmlformats.org/officeDocument/2006/relationships/image" Target="../media/image146.png"/><Relationship Id="rId12" Type="http://schemas.openxmlformats.org/officeDocument/2006/relationships/image" Target="../media/image15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5.png"/><Relationship Id="rId11" Type="http://schemas.openxmlformats.org/officeDocument/2006/relationships/image" Target="../media/image150.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149.png"/><Relationship Id="rId4" Type="http://schemas.openxmlformats.org/officeDocument/2006/relationships/image" Target="../media/image2.png"/><Relationship Id="rId9" Type="http://schemas.openxmlformats.org/officeDocument/2006/relationships/image" Target="../media/image148.png"/><Relationship Id="rId1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3" Type="http://schemas.openxmlformats.org/officeDocument/2006/relationships/image" Target="../media/image1.png"/><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notesSlide" Target="../notesSlides/notesSlide12.xml"/><Relationship Id="rId16"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3.png"/><Relationship Id="rId15" Type="http://schemas.openxmlformats.org/officeDocument/2006/relationships/image" Target="../media/image11.png"/><Relationship Id="rId10" Type="http://schemas.openxmlformats.org/officeDocument/2006/relationships/image" Target="../media/image157.png"/><Relationship Id="rId4" Type="http://schemas.openxmlformats.org/officeDocument/2006/relationships/image" Target="../media/image2.png"/><Relationship Id="rId9" Type="http://schemas.openxmlformats.org/officeDocument/2006/relationships/image" Target="../media/image156.png"/><Relationship Id="rId14" Type="http://schemas.openxmlformats.org/officeDocument/2006/relationships/image" Target="../media/image161.png"/></Relationships>
</file>

<file path=ppt/slides/_rels/slide13.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s>
</file>

<file path=ppt/slides/_rels/slide14.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18" Type="http://schemas.openxmlformats.org/officeDocument/2006/relationships/image" Target="../media/image186.png"/><Relationship Id="rId3" Type="http://schemas.openxmlformats.org/officeDocument/2006/relationships/image" Target="../media/image172.png"/><Relationship Id="rId21" Type="http://schemas.openxmlformats.org/officeDocument/2006/relationships/image" Target="../media/image189.png"/><Relationship Id="rId7" Type="http://schemas.openxmlformats.org/officeDocument/2006/relationships/image" Target="../media/image175.png"/><Relationship Id="rId12" Type="http://schemas.openxmlformats.org/officeDocument/2006/relationships/image" Target="../media/image180.png"/><Relationship Id="rId17" Type="http://schemas.openxmlformats.org/officeDocument/2006/relationships/image" Target="../media/image185.png"/><Relationship Id="rId2" Type="http://schemas.openxmlformats.org/officeDocument/2006/relationships/notesSlide" Target="../notesSlides/notesSlide14.xml"/><Relationship Id="rId16" Type="http://schemas.openxmlformats.org/officeDocument/2006/relationships/image" Target="../media/image184.png"/><Relationship Id="rId20" Type="http://schemas.openxmlformats.org/officeDocument/2006/relationships/image" Target="../media/image188.png"/><Relationship Id="rId1" Type="http://schemas.openxmlformats.org/officeDocument/2006/relationships/slideLayout" Target="../slideLayouts/slideLayout1.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19" Type="http://schemas.openxmlformats.org/officeDocument/2006/relationships/image" Target="../media/image187.png"/><Relationship Id="rId4" Type="http://schemas.openxmlformats.org/officeDocument/2006/relationships/image" Target="../media/image163.png"/><Relationship Id="rId9" Type="http://schemas.openxmlformats.org/officeDocument/2006/relationships/image" Target="../media/image177.png"/><Relationship Id="rId14" Type="http://schemas.openxmlformats.org/officeDocument/2006/relationships/image" Target="../media/image182.png"/></Relationships>
</file>

<file path=ppt/slides/_rels/slide15.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7.png"/><Relationship Id="rId3" Type="http://schemas.openxmlformats.org/officeDocument/2006/relationships/image" Target="../media/image162.png"/><Relationship Id="rId7" Type="http://schemas.openxmlformats.org/officeDocument/2006/relationships/image" Target="../media/image192.png"/><Relationship Id="rId12" Type="http://schemas.openxmlformats.org/officeDocument/2006/relationships/image" Target="../media/image19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1.png"/><Relationship Id="rId11" Type="http://schemas.openxmlformats.org/officeDocument/2006/relationships/image" Target="../media/image195.png"/><Relationship Id="rId5" Type="http://schemas.openxmlformats.org/officeDocument/2006/relationships/image" Target="../media/image190.png"/><Relationship Id="rId15" Type="http://schemas.openxmlformats.org/officeDocument/2006/relationships/image" Target="../media/image171.png"/><Relationship Id="rId10" Type="http://schemas.openxmlformats.org/officeDocument/2006/relationships/image" Target="../media/image165.png"/><Relationship Id="rId4" Type="http://schemas.openxmlformats.org/officeDocument/2006/relationships/image" Target="../media/image163.png"/><Relationship Id="rId9" Type="http://schemas.openxmlformats.org/officeDocument/2006/relationships/image" Target="../media/image194.png"/><Relationship Id="rId14" Type="http://schemas.openxmlformats.org/officeDocument/2006/relationships/image" Target="../media/image198.png"/></Relationships>
</file>

<file path=ppt/slides/_rels/slide16.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199.png"/><Relationship Id="rId7" Type="http://schemas.openxmlformats.org/officeDocument/2006/relationships/image" Target="../media/image202.png"/><Relationship Id="rId12" Type="http://schemas.openxmlformats.org/officeDocument/2006/relationships/image" Target="../media/image20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1.png"/><Relationship Id="rId11" Type="http://schemas.openxmlformats.org/officeDocument/2006/relationships/image" Target="../media/image206.png"/><Relationship Id="rId5" Type="http://schemas.openxmlformats.org/officeDocument/2006/relationships/image" Target="../media/image200.png"/><Relationship Id="rId10" Type="http://schemas.openxmlformats.org/officeDocument/2006/relationships/image" Target="../media/image205.png"/><Relationship Id="rId4" Type="http://schemas.openxmlformats.org/officeDocument/2006/relationships/image" Target="../media/image163.png"/><Relationship Id="rId9" Type="http://schemas.openxmlformats.org/officeDocument/2006/relationships/image" Target="../media/image204.png"/></Relationships>
</file>

<file path=ppt/slides/_rels/slide17.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12.png"/><Relationship Id="rId3" Type="http://schemas.openxmlformats.org/officeDocument/2006/relationships/image" Target="../media/image162.png"/><Relationship Id="rId7" Type="http://schemas.openxmlformats.org/officeDocument/2006/relationships/image" Target="../media/image169.png"/><Relationship Id="rId12" Type="http://schemas.openxmlformats.org/officeDocument/2006/relationships/image" Target="../media/image16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09.png"/><Relationship Id="rId11" Type="http://schemas.openxmlformats.org/officeDocument/2006/relationships/image" Target="../media/image194.png"/><Relationship Id="rId5" Type="http://schemas.openxmlformats.org/officeDocument/2006/relationships/image" Target="../media/image208.png"/><Relationship Id="rId10" Type="http://schemas.openxmlformats.org/officeDocument/2006/relationships/image" Target="../media/image165.png"/><Relationship Id="rId4" Type="http://schemas.openxmlformats.org/officeDocument/2006/relationships/image" Target="../media/image163.png"/><Relationship Id="rId9" Type="http://schemas.openxmlformats.org/officeDocument/2006/relationships/image" Target="../media/image211.png"/><Relationship Id="rId14" Type="http://schemas.openxmlformats.org/officeDocument/2006/relationships/image" Target="../media/image171.png"/></Relationships>
</file>

<file path=ppt/slides/_rels/slide18.xml.rels><?xml version="1.0" encoding="UTF-8" standalone="yes"?>
<Relationships xmlns="http://schemas.openxmlformats.org/package/2006/relationships"><Relationship Id="rId8" Type="http://schemas.openxmlformats.org/officeDocument/2006/relationships/image" Target="../media/image217.png"/><Relationship Id="rId13" Type="http://schemas.openxmlformats.org/officeDocument/2006/relationships/image" Target="../media/image222.png"/><Relationship Id="rId3" Type="http://schemas.openxmlformats.org/officeDocument/2006/relationships/image" Target="../media/image213.png"/><Relationship Id="rId7" Type="http://schemas.openxmlformats.org/officeDocument/2006/relationships/image" Target="../media/image216.png"/><Relationship Id="rId12" Type="http://schemas.openxmlformats.org/officeDocument/2006/relationships/image" Target="../media/image22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5.png"/><Relationship Id="rId11" Type="http://schemas.openxmlformats.org/officeDocument/2006/relationships/image" Target="../media/image220.png"/><Relationship Id="rId5" Type="http://schemas.openxmlformats.org/officeDocument/2006/relationships/image" Target="../media/image214.png"/><Relationship Id="rId15" Type="http://schemas.openxmlformats.org/officeDocument/2006/relationships/image" Target="../media/image224.png"/><Relationship Id="rId10" Type="http://schemas.openxmlformats.org/officeDocument/2006/relationships/image" Target="../media/image219.png"/><Relationship Id="rId4" Type="http://schemas.openxmlformats.org/officeDocument/2006/relationships/image" Target="../media/image163.png"/><Relationship Id="rId9" Type="http://schemas.openxmlformats.org/officeDocument/2006/relationships/image" Target="../media/image218.png"/><Relationship Id="rId14" Type="http://schemas.openxmlformats.org/officeDocument/2006/relationships/image" Target="../media/image223.png"/></Relationships>
</file>

<file path=ppt/slides/_rels/slide19.xml.rels><?xml version="1.0" encoding="UTF-8" standalone="yes"?>
<Relationships xmlns="http://schemas.openxmlformats.org/package/2006/relationships"><Relationship Id="rId8" Type="http://schemas.openxmlformats.org/officeDocument/2006/relationships/image" Target="../media/image226.png"/><Relationship Id="rId13" Type="http://schemas.openxmlformats.org/officeDocument/2006/relationships/image" Target="../media/image230.png"/><Relationship Id="rId18" Type="http://schemas.openxmlformats.org/officeDocument/2006/relationships/image" Target="../media/image234.png"/><Relationship Id="rId3" Type="http://schemas.openxmlformats.org/officeDocument/2006/relationships/image" Target="../media/image162.png"/><Relationship Id="rId21" Type="http://schemas.openxmlformats.org/officeDocument/2006/relationships/image" Target="../media/image237.png"/><Relationship Id="rId7" Type="http://schemas.openxmlformats.org/officeDocument/2006/relationships/image" Target="../media/image225.png"/><Relationship Id="rId12" Type="http://schemas.openxmlformats.org/officeDocument/2006/relationships/image" Target="../media/image229.png"/><Relationship Id="rId17" Type="http://schemas.openxmlformats.org/officeDocument/2006/relationships/image" Target="../media/image233.png"/><Relationship Id="rId2" Type="http://schemas.openxmlformats.org/officeDocument/2006/relationships/notesSlide" Target="../notesSlides/notesSlide19.xml"/><Relationship Id="rId16" Type="http://schemas.openxmlformats.org/officeDocument/2006/relationships/image" Target="../media/image232.png"/><Relationship Id="rId20" Type="http://schemas.openxmlformats.org/officeDocument/2006/relationships/image" Target="../media/image236.png"/><Relationship Id="rId1" Type="http://schemas.openxmlformats.org/officeDocument/2006/relationships/slideLayout" Target="../slideLayouts/slideLayout1.xml"/><Relationship Id="rId6" Type="http://schemas.openxmlformats.org/officeDocument/2006/relationships/image" Target="../media/image191.png"/><Relationship Id="rId11" Type="http://schemas.openxmlformats.org/officeDocument/2006/relationships/image" Target="../media/image165.png"/><Relationship Id="rId5" Type="http://schemas.openxmlformats.org/officeDocument/2006/relationships/image" Target="../media/image164.png"/><Relationship Id="rId15" Type="http://schemas.openxmlformats.org/officeDocument/2006/relationships/image" Target="../media/image231.png"/><Relationship Id="rId23" Type="http://schemas.openxmlformats.org/officeDocument/2006/relationships/image" Target="../media/image171.png"/><Relationship Id="rId10" Type="http://schemas.openxmlformats.org/officeDocument/2006/relationships/image" Target="../media/image228.png"/><Relationship Id="rId19" Type="http://schemas.openxmlformats.org/officeDocument/2006/relationships/image" Target="../media/image235.png"/><Relationship Id="rId4" Type="http://schemas.openxmlformats.org/officeDocument/2006/relationships/image" Target="../media/image163.png"/><Relationship Id="rId9" Type="http://schemas.openxmlformats.org/officeDocument/2006/relationships/image" Target="../media/image227.png"/><Relationship Id="rId14" Type="http://schemas.openxmlformats.org/officeDocument/2006/relationships/image" Target="../media/image167.png"/><Relationship Id="rId22" Type="http://schemas.openxmlformats.org/officeDocument/2006/relationships/image" Target="../media/image238.png"/></Relationships>
</file>

<file path=ppt/slides/_rels/slide20.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239.png"/><Relationship Id="rId7" Type="http://schemas.openxmlformats.org/officeDocument/2006/relationships/image" Target="../media/image24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4.png"/><Relationship Id="rId5" Type="http://schemas.openxmlformats.org/officeDocument/2006/relationships/image" Target="../media/image240.png"/><Relationship Id="rId10" Type="http://schemas.openxmlformats.org/officeDocument/2006/relationships/image" Target="../media/image243.png"/><Relationship Id="rId4" Type="http://schemas.openxmlformats.org/officeDocument/2006/relationships/image" Target="../media/image163.png"/><Relationship Id="rId9" Type="http://schemas.openxmlformats.org/officeDocument/2006/relationships/image" Target="../media/image242.png"/></Relationships>
</file>

<file path=ppt/slides/_rels/slide21.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image" Target="../media/image162.png"/><Relationship Id="rId7" Type="http://schemas.openxmlformats.org/officeDocument/2006/relationships/image" Target="../media/image244.png"/><Relationship Id="rId12" Type="http://schemas.openxmlformats.org/officeDocument/2006/relationships/image" Target="../media/image17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65.png"/><Relationship Id="rId11" Type="http://schemas.openxmlformats.org/officeDocument/2006/relationships/image" Target="../media/image246.png"/><Relationship Id="rId5" Type="http://schemas.openxmlformats.org/officeDocument/2006/relationships/image" Target="../media/image164.png"/><Relationship Id="rId10" Type="http://schemas.openxmlformats.org/officeDocument/2006/relationships/image" Target="../media/image245.png"/><Relationship Id="rId4" Type="http://schemas.openxmlformats.org/officeDocument/2006/relationships/image" Target="../media/image163.png"/><Relationship Id="rId9" Type="http://schemas.openxmlformats.org/officeDocument/2006/relationships/image" Target="../media/image242.png"/></Relationships>
</file>

<file path=ppt/slides/_rels/slide22.xml.rels><?xml version="1.0" encoding="UTF-8" standalone="yes"?>
<Relationships xmlns="http://schemas.openxmlformats.org/package/2006/relationships"><Relationship Id="rId8" Type="http://schemas.openxmlformats.org/officeDocument/2006/relationships/image" Target="../media/image251.png"/><Relationship Id="rId13" Type="http://schemas.openxmlformats.org/officeDocument/2006/relationships/image" Target="../media/image256.png"/><Relationship Id="rId18" Type="http://schemas.openxmlformats.org/officeDocument/2006/relationships/image" Target="../media/image261.png"/><Relationship Id="rId3" Type="http://schemas.openxmlformats.org/officeDocument/2006/relationships/image" Target="../media/image247.png"/><Relationship Id="rId7" Type="http://schemas.openxmlformats.org/officeDocument/2006/relationships/image" Target="../media/image250.png"/><Relationship Id="rId12" Type="http://schemas.openxmlformats.org/officeDocument/2006/relationships/image" Target="../media/image255.png"/><Relationship Id="rId17" Type="http://schemas.openxmlformats.org/officeDocument/2006/relationships/image" Target="../media/image260.png"/><Relationship Id="rId2" Type="http://schemas.openxmlformats.org/officeDocument/2006/relationships/notesSlide" Target="../notesSlides/notesSlide22.xml"/><Relationship Id="rId16" Type="http://schemas.openxmlformats.org/officeDocument/2006/relationships/image" Target="../media/image259.png"/><Relationship Id="rId20" Type="http://schemas.openxmlformats.org/officeDocument/2006/relationships/image" Target="../media/image243.png"/><Relationship Id="rId1" Type="http://schemas.openxmlformats.org/officeDocument/2006/relationships/slideLayout" Target="../slideLayouts/slideLayout1.xml"/><Relationship Id="rId6" Type="http://schemas.openxmlformats.org/officeDocument/2006/relationships/image" Target="../media/image249.png"/><Relationship Id="rId11" Type="http://schemas.openxmlformats.org/officeDocument/2006/relationships/image" Target="../media/image254.png"/><Relationship Id="rId5" Type="http://schemas.openxmlformats.org/officeDocument/2006/relationships/image" Target="../media/image248.png"/><Relationship Id="rId15" Type="http://schemas.openxmlformats.org/officeDocument/2006/relationships/image" Target="../media/image258.png"/><Relationship Id="rId10" Type="http://schemas.openxmlformats.org/officeDocument/2006/relationships/image" Target="../media/image253.png"/><Relationship Id="rId19" Type="http://schemas.openxmlformats.org/officeDocument/2006/relationships/image" Target="../media/image262.png"/><Relationship Id="rId4" Type="http://schemas.openxmlformats.org/officeDocument/2006/relationships/image" Target="../media/image163.png"/><Relationship Id="rId9" Type="http://schemas.openxmlformats.org/officeDocument/2006/relationships/image" Target="../media/image252.png"/><Relationship Id="rId14" Type="http://schemas.openxmlformats.org/officeDocument/2006/relationships/image" Target="../media/image25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3048000" cy="609600"/>
          </a:xfrm>
          <a:prstGeom prst="rect">
            <a:avLst/>
          </a:prstGeom>
        </p:spPr>
      </p:pic>
      <p:pic>
        <p:nvPicPr>
          <p:cNvPr id="4" name="Image 2" descr="preencoded.png"/>
          <p:cNvPicPr>
            <a:picLocks noChangeAspect="1"/>
          </p:cNvPicPr>
          <p:nvPr/>
        </p:nvPicPr>
        <p:blipFill>
          <a:blip r:embed="rId5"/>
          <a:stretch>
            <a:fillRect/>
          </a:stretch>
        </p:blipFill>
        <p:spPr>
          <a:xfrm>
            <a:off x="0" y="0"/>
            <a:ext cx="2031950" cy="609600"/>
          </a:xfrm>
          <a:prstGeom prst="rect">
            <a:avLst/>
          </a:prstGeom>
        </p:spPr>
      </p:pic>
      <p:pic>
        <p:nvPicPr>
          <p:cNvPr id="5" name="Image 3" descr="preencoded.png"/>
          <p:cNvPicPr>
            <a:picLocks noChangeAspect="1"/>
          </p:cNvPicPr>
          <p:nvPr/>
        </p:nvPicPr>
        <p:blipFill>
          <a:blip r:embed="rId6"/>
          <a:stretch>
            <a:fillRect/>
          </a:stretch>
        </p:blipFill>
        <p:spPr>
          <a:xfrm>
            <a:off x="0" y="762000"/>
            <a:ext cx="609600" cy="609600"/>
          </a:xfrm>
          <a:prstGeom prst="rect">
            <a:avLst/>
          </a:prstGeom>
        </p:spPr>
      </p:pic>
      <p:pic>
        <p:nvPicPr>
          <p:cNvPr id="6" name="Image 4" descr="preencoded.png"/>
          <p:cNvPicPr>
            <a:picLocks noChangeAspect="1"/>
          </p:cNvPicPr>
          <p:nvPr/>
        </p:nvPicPr>
        <p:blipFill>
          <a:blip r:embed="rId7"/>
          <a:stretch>
            <a:fillRect/>
          </a:stretch>
        </p:blipFill>
        <p:spPr>
          <a:xfrm>
            <a:off x="11277600" y="4572000"/>
            <a:ext cx="914400" cy="914400"/>
          </a:xfrm>
          <a:prstGeom prst="rect">
            <a:avLst/>
          </a:prstGeom>
        </p:spPr>
      </p:pic>
      <p:pic>
        <p:nvPicPr>
          <p:cNvPr id="7" name="Image 5" descr="preencoded.png"/>
          <p:cNvPicPr>
            <a:picLocks noChangeAspect="1"/>
          </p:cNvPicPr>
          <p:nvPr/>
        </p:nvPicPr>
        <p:blipFill>
          <a:blip r:embed="rId8"/>
          <a:stretch>
            <a:fillRect/>
          </a:stretch>
        </p:blipFill>
        <p:spPr>
          <a:xfrm>
            <a:off x="5715000" y="723900"/>
            <a:ext cx="762000" cy="762000"/>
          </a:xfrm>
          <a:prstGeom prst="rect">
            <a:avLst/>
          </a:prstGeom>
        </p:spPr>
      </p:pic>
      <p:pic>
        <p:nvPicPr>
          <p:cNvPr id="8" name="Image 6" descr="preencoded.png"/>
          <p:cNvPicPr>
            <a:picLocks noChangeAspect="1"/>
          </p:cNvPicPr>
          <p:nvPr/>
        </p:nvPicPr>
        <p:blipFill>
          <a:blip r:embed="rId9"/>
          <a:stretch>
            <a:fillRect/>
          </a:stretch>
        </p:blipFill>
        <p:spPr>
          <a:xfrm>
            <a:off x="5600700" y="609600"/>
            <a:ext cx="152400" cy="152400"/>
          </a:xfrm>
          <a:prstGeom prst="rect">
            <a:avLst/>
          </a:prstGeom>
        </p:spPr>
      </p:pic>
      <p:pic>
        <p:nvPicPr>
          <p:cNvPr id="9" name="Image 7" descr="preencoded.png"/>
          <p:cNvPicPr>
            <a:picLocks noChangeAspect="1"/>
          </p:cNvPicPr>
          <p:nvPr/>
        </p:nvPicPr>
        <p:blipFill>
          <a:blip r:embed="rId10"/>
          <a:stretch>
            <a:fillRect/>
          </a:stretch>
        </p:blipFill>
        <p:spPr>
          <a:xfrm>
            <a:off x="6438900" y="609600"/>
            <a:ext cx="152400" cy="152400"/>
          </a:xfrm>
          <a:prstGeom prst="rect">
            <a:avLst/>
          </a:prstGeom>
        </p:spPr>
      </p:pic>
      <p:pic>
        <p:nvPicPr>
          <p:cNvPr id="10" name="Image 8" descr="preencoded.png"/>
          <p:cNvPicPr>
            <a:picLocks noChangeAspect="1"/>
          </p:cNvPicPr>
          <p:nvPr/>
        </p:nvPicPr>
        <p:blipFill>
          <a:blip r:embed="rId9"/>
          <a:stretch>
            <a:fillRect/>
          </a:stretch>
        </p:blipFill>
        <p:spPr>
          <a:xfrm>
            <a:off x="5600700" y="1447800"/>
            <a:ext cx="152400" cy="152400"/>
          </a:xfrm>
          <a:prstGeom prst="rect">
            <a:avLst/>
          </a:prstGeom>
        </p:spPr>
      </p:pic>
      <p:pic>
        <p:nvPicPr>
          <p:cNvPr id="11" name="Image 9" descr="preencoded.png"/>
          <p:cNvPicPr>
            <a:picLocks noChangeAspect="1"/>
          </p:cNvPicPr>
          <p:nvPr/>
        </p:nvPicPr>
        <p:blipFill>
          <a:blip r:embed="rId10"/>
          <a:stretch>
            <a:fillRect/>
          </a:stretch>
        </p:blipFill>
        <p:spPr>
          <a:xfrm>
            <a:off x="6438900" y="1447800"/>
            <a:ext cx="152400" cy="152400"/>
          </a:xfrm>
          <a:prstGeom prst="rect">
            <a:avLst/>
          </a:prstGeom>
        </p:spPr>
      </p:pic>
      <p:pic>
        <p:nvPicPr>
          <p:cNvPr id="12" name="Image 10" descr="preencoded.png"/>
          <p:cNvPicPr>
            <a:picLocks noChangeAspect="1"/>
          </p:cNvPicPr>
          <p:nvPr/>
        </p:nvPicPr>
        <p:blipFill>
          <a:blip r:embed="rId11"/>
          <a:stretch>
            <a:fillRect/>
          </a:stretch>
        </p:blipFill>
        <p:spPr>
          <a:xfrm>
            <a:off x="5881688" y="914400"/>
            <a:ext cx="428625" cy="381000"/>
          </a:xfrm>
          <a:prstGeom prst="rect">
            <a:avLst/>
          </a:prstGeom>
        </p:spPr>
      </p:pic>
      <p:pic>
        <p:nvPicPr>
          <p:cNvPr id="13" name="Image 11" descr="preencoded.png"/>
          <p:cNvPicPr>
            <a:picLocks noChangeAspect="1"/>
          </p:cNvPicPr>
          <p:nvPr/>
        </p:nvPicPr>
        <p:blipFill>
          <a:blip r:embed="rId12"/>
          <a:stretch>
            <a:fillRect/>
          </a:stretch>
        </p:blipFill>
        <p:spPr>
          <a:xfrm>
            <a:off x="5638800" y="3771900"/>
            <a:ext cx="914400" cy="38100"/>
          </a:xfrm>
          <a:prstGeom prst="rect">
            <a:avLst/>
          </a:prstGeom>
        </p:spPr>
      </p:pic>
      <p:pic>
        <p:nvPicPr>
          <p:cNvPr id="23" name="Image 21" descr="preencoded.png"/>
          <p:cNvPicPr>
            <a:picLocks noChangeAspect="1"/>
          </p:cNvPicPr>
          <p:nvPr/>
        </p:nvPicPr>
        <p:blipFill>
          <a:blip r:embed="rId13"/>
          <a:stretch>
            <a:fillRect/>
          </a:stretch>
        </p:blipFill>
        <p:spPr>
          <a:xfrm>
            <a:off x="0" y="6096000"/>
            <a:ext cx="2031950" cy="152400"/>
          </a:xfrm>
          <a:prstGeom prst="rect">
            <a:avLst/>
          </a:prstGeom>
        </p:spPr>
      </p:pic>
      <p:pic>
        <p:nvPicPr>
          <p:cNvPr id="24" name="Image 22" descr="preencoded.png"/>
          <p:cNvPicPr>
            <a:picLocks noChangeAspect="1"/>
          </p:cNvPicPr>
          <p:nvPr/>
        </p:nvPicPr>
        <p:blipFill>
          <a:blip r:embed="rId14"/>
          <a:stretch>
            <a:fillRect/>
          </a:stretch>
        </p:blipFill>
        <p:spPr>
          <a:xfrm>
            <a:off x="0" y="6096000"/>
            <a:ext cx="3048000" cy="152400"/>
          </a:xfrm>
          <a:prstGeom prst="rect">
            <a:avLst/>
          </a:prstGeom>
        </p:spPr>
      </p:pic>
      <p:sp>
        <p:nvSpPr>
          <p:cNvPr id="25" name="Text 0"/>
          <p:cNvSpPr/>
          <p:nvPr/>
        </p:nvSpPr>
        <p:spPr>
          <a:xfrm>
            <a:off x="3352993" y="1790700"/>
            <a:ext cx="5485864" cy="457200"/>
          </a:xfrm>
          <a:prstGeom prst="rect">
            <a:avLst/>
          </a:prstGeom>
          <a:noFill/>
          <a:ln/>
        </p:spPr>
        <p:txBody>
          <a:bodyPr vert="horz" wrap="square" lIns="0" tIns="0" rIns="0" bIns="0" rtlCol="0" anchor="t"/>
          <a:lstStyle/>
          <a:p>
            <a:pPr marL="0" indent="0" algn="ctr">
              <a:lnSpc>
                <a:spcPts val="3600"/>
              </a:lnSpc>
              <a:buNone/>
            </a:pPr>
            <a:r>
              <a:rPr lang="en-US" sz="3600" b="1" dirty="0">
                <a:solidFill>
                  <a:srgbClr val="1F2937"/>
                </a:solidFill>
                <a:latin typeface="ui-sans-serif" pitchFamily="34" charset="0"/>
                <a:ea typeface="ui-sans-serif" pitchFamily="34" charset="-122"/>
                <a:cs typeface="ui-sans-serif" pitchFamily="34" charset="-120"/>
              </a:rPr>
              <a:t>AWS API Gateway</a:t>
            </a:r>
            <a:endParaRPr lang="en-US" sz="3600" dirty="0"/>
          </a:p>
        </p:txBody>
      </p:sp>
      <p:sp>
        <p:nvSpPr>
          <p:cNvPr id="26" name="Text 1"/>
          <p:cNvSpPr/>
          <p:nvPr/>
        </p:nvSpPr>
        <p:spPr>
          <a:xfrm>
            <a:off x="2561823" y="2476500"/>
            <a:ext cx="7068205" cy="342900"/>
          </a:xfrm>
          <a:prstGeom prst="rect">
            <a:avLst/>
          </a:prstGeom>
          <a:noFill/>
          <a:ln/>
        </p:spPr>
        <p:txBody>
          <a:bodyPr vert="horz" wrap="square" lIns="0" tIns="0" rIns="0" bIns="0" rtlCol="0" anchor="t"/>
          <a:lstStyle/>
          <a:p>
            <a:pPr marL="0" indent="0" algn="ctr">
              <a:lnSpc>
                <a:spcPts val="2700"/>
              </a:lnSpc>
              <a:buNone/>
            </a:pPr>
            <a:r>
              <a:rPr lang="en-US" sz="2250" b="1" dirty="0">
                <a:solidFill>
                  <a:srgbClr val="F97316"/>
                </a:solidFill>
                <a:latin typeface="ui-sans-serif" pitchFamily="34" charset="0"/>
                <a:ea typeface="ui-sans-serif" pitchFamily="34" charset="-122"/>
                <a:cs typeface="ui-sans-serif" pitchFamily="34" charset="-120"/>
              </a:rPr>
              <a:t>The Front Door for Your Applications</a:t>
            </a:r>
            <a:endParaRPr lang="en-US" sz="2250" dirty="0"/>
          </a:p>
        </p:txBody>
      </p:sp>
      <p:sp>
        <p:nvSpPr>
          <p:cNvPr id="27" name="Text 2"/>
          <p:cNvSpPr/>
          <p:nvPr/>
        </p:nvSpPr>
        <p:spPr>
          <a:xfrm>
            <a:off x="2424113" y="3124200"/>
            <a:ext cx="7343775" cy="266700"/>
          </a:xfrm>
          <a:prstGeom prst="rect">
            <a:avLst/>
          </a:prstGeom>
          <a:noFill/>
          <a:ln/>
        </p:spPr>
        <p:txBody>
          <a:bodyPr vert="horz" wrap="square" lIns="0" tIns="0" rIns="0" bIns="0" rtlCol="0" anchor="t"/>
          <a:lstStyle/>
          <a:p>
            <a:pPr marL="0" indent="0" algn="ctr">
              <a:lnSpc>
                <a:spcPts val="2100"/>
              </a:lnSpc>
              <a:buNone/>
            </a:pPr>
            <a:r>
              <a:rPr lang="en-US" sz="1500" dirty="0">
                <a:solidFill>
                  <a:srgbClr val="4B5563"/>
                </a:solidFill>
                <a:latin typeface="ui-sans-serif" pitchFamily="34" charset="0"/>
                <a:ea typeface="ui-sans-serif" pitchFamily="34" charset="-122"/>
                <a:cs typeface="ui-sans-serif" pitchFamily="34" charset="-120"/>
              </a:rPr>
              <a:t>Create, publish, maintain, monitor, and secure APIs at any scale</a:t>
            </a:r>
            <a:endParaRPr lang="en-US" sz="1500" dirty="0"/>
          </a:p>
        </p:txBody>
      </p:sp>
      <p:sp>
        <p:nvSpPr>
          <p:cNvPr id="33" name="Text 8"/>
          <p:cNvSpPr/>
          <p:nvPr/>
        </p:nvSpPr>
        <p:spPr>
          <a:xfrm>
            <a:off x="10473928" y="6438900"/>
            <a:ext cx="1604486"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952500"/>
            <a:ext cx="3657600" cy="38100"/>
          </a:xfrm>
          <a:prstGeom prst="rect">
            <a:avLst/>
          </a:prstGeom>
        </p:spPr>
      </p:pic>
      <p:pic>
        <p:nvPicPr>
          <p:cNvPr id="5" name="Image 3" descr="preencoded.png"/>
          <p:cNvPicPr>
            <a:picLocks noChangeAspect="1"/>
          </p:cNvPicPr>
          <p:nvPr/>
        </p:nvPicPr>
        <p:blipFill>
          <a:blip r:embed="rId6"/>
          <a:stretch>
            <a:fillRect/>
          </a:stretch>
        </p:blipFill>
        <p:spPr>
          <a:xfrm>
            <a:off x="609600" y="2266950"/>
            <a:ext cx="3505200" cy="2095500"/>
          </a:xfrm>
          <a:prstGeom prst="rect">
            <a:avLst/>
          </a:prstGeom>
        </p:spPr>
      </p:pic>
      <p:pic>
        <p:nvPicPr>
          <p:cNvPr id="6" name="Image 4" descr="preencoded.png"/>
          <p:cNvPicPr>
            <a:picLocks noChangeAspect="1"/>
          </p:cNvPicPr>
          <p:nvPr/>
        </p:nvPicPr>
        <p:blipFill>
          <a:blip r:embed="rId7"/>
          <a:stretch>
            <a:fillRect/>
          </a:stretch>
        </p:blipFill>
        <p:spPr>
          <a:xfrm>
            <a:off x="838200" y="2590800"/>
            <a:ext cx="323850" cy="342900"/>
          </a:xfrm>
          <a:prstGeom prst="rect">
            <a:avLst/>
          </a:prstGeom>
        </p:spPr>
      </p:pic>
      <p:pic>
        <p:nvPicPr>
          <p:cNvPr id="7" name="Image 5" descr="preencoded.png"/>
          <p:cNvPicPr>
            <a:picLocks noChangeAspect="1"/>
          </p:cNvPicPr>
          <p:nvPr/>
        </p:nvPicPr>
        <p:blipFill>
          <a:blip r:embed="rId8"/>
          <a:stretch>
            <a:fillRect/>
          </a:stretch>
        </p:blipFill>
        <p:spPr>
          <a:xfrm>
            <a:off x="4343400" y="2266950"/>
            <a:ext cx="3505200" cy="2095500"/>
          </a:xfrm>
          <a:prstGeom prst="rect">
            <a:avLst/>
          </a:prstGeom>
        </p:spPr>
      </p:pic>
      <p:pic>
        <p:nvPicPr>
          <p:cNvPr id="8" name="Image 6" descr="preencoded.png"/>
          <p:cNvPicPr>
            <a:picLocks noChangeAspect="1"/>
          </p:cNvPicPr>
          <p:nvPr/>
        </p:nvPicPr>
        <p:blipFill>
          <a:blip r:embed="rId9"/>
          <a:stretch>
            <a:fillRect/>
          </a:stretch>
        </p:blipFill>
        <p:spPr>
          <a:xfrm>
            <a:off x="4572000" y="2495550"/>
            <a:ext cx="285750" cy="342900"/>
          </a:xfrm>
          <a:prstGeom prst="rect">
            <a:avLst/>
          </a:prstGeom>
        </p:spPr>
      </p:pic>
      <p:pic>
        <p:nvPicPr>
          <p:cNvPr id="9" name="Image 7" descr="preencoded.png"/>
          <p:cNvPicPr>
            <a:picLocks noChangeAspect="1"/>
          </p:cNvPicPr>
          <p:nvPr/>
        </p:nvPicPr>
        <p:blipFill>
          <a:blip r:embed="rId8"/>
          <a:stretch>
            <a:fillRect/>
          </a:stretch>
        </p:blipFill>
        <p:spPr>
          <a:xfrm>
            <a:off x="8077200" y="2266950"/>
            <a:ext cx="3505200" cy="2095500"/>
          </a:xfrm>
          <a:prstGeom prst="rect">
            <a:avLst/>
          </a:prstGeom>
        </p:spPr>
      </p:pic>
      <p:pic>
        <p:nvPicPr>
          <p:cNvPr id="10" name="Image 8" descr="preencoded.png"/>
          <p:cNvPicPr>
            <a:picLocks noChangeAspect="1"/>
          </p:cNvPicPr>
          <p:nvPr/>
        </p:nvPicPr>
        <p:blipFill>
          <a:blip r:embed="rId10"/>
          <a:stretch>
            <a:fillRect/>
          </a:stretch>
        </p:blipFill>
        <p:spPr>
          <a:xfrm>
            <a:off x="8305800" y="2495550"/>
            <a:ext cx="285750" cy="342900"/>
          </a:xfrm>
          <a:prstGeom prst="rect">
            <a:avLst/>
          </a:prstGeom>
        </p:spPr>
      </p:pic>
      <p:pic>
        <p:nvPicPr>
          <p:cNvPr id="11" name="Image 9" descr="preencoded.png"/>
          <p:cNvPicPr>
            <a:picLocks noChangeAspect="1"/>
          </p:cNvPicPr>
          <p:nvPr/>
        </p:nvPicPr>
        <p:blipFill>
          <a:blip r:embed="rId11"/>
          <a:stretch>
            <a:fillRect/>
          </a:stretch>
        </p:blipFill>
        <p:spPr>
          <a:xfrm>
            <a:off x="609600" y="4667250"/>
            <a:ext cx="10972800" cy="1333500"/>
          </a:xfrm>
          <a:prstGeom prst="rect">
            <a:avLst/>
          </a:prstGeom>
        </p:spPr>
      </p:pic>
      <p:pic>
        <p:nvPicPr>
          <p:cNvPr id="12" name="Image 10" descr="preencoded.png"/>
          <p:cNvPicPr>
            <a:picLocks noChangeAspect="1"/>
          </p:cNvPicPr>
          <p:nvPr/>
        </p:nvPicPr>
        <p:blipFill>
          <a:blip r:embed="rId12"/>
          <a:stretch>
            <a:fillRect/>
          </a:stretch>
        </p:blipFill>
        <p:spPr>
          <a:xfrm>
            <a:off x="838200" y="4933950"/>
            <a:ext cx="171450" cy="304800"/>
          </a:xfrm>
          <a:prstGeom prst="rect">
            <a:avLst/>
          </a:prstGeom>
        </p:spPr>
      </p:pic>
      <p:sp>
        <p:nvSpPr>
          <p:cNvPr id="13" name="Text 0"/>
          <p:cNvSpPr/>
          <p:nvPr/>
        </p:nvSpPr>
        <p:spPr>
          <a:xfrm>
            <a:off x="609600" y="4572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What is API Gateway?</a:t>
            </a:r>
            <a:endParaRPr lang="en-US" sz="2700" dirty="0"/>
          </a:p>
        </p:txBody>
      </p:sp>
      <p:sp>
        <p:nvSpPr>
          <p:cNvPr id="14" name="Text 1"/>
          <p:cNvSpPr/>
          <p:nvPr/>
        </p:nvSpPr>
        <p:spPr>
          <a:xfrm>
            <a:off x="609600" y="1219200"/>
            <a:ext cx="10972800" cy="742950"/>
          </a:xfrm>
          <a:prstGeom prst="rect">
            <a:avLst/>
          </a:prstGeom>
          <a:noFill/>
          <a:ln/>
        </p:spPr>
        <p:txBody>
          <a:bodyPr vert="horz" wrap="square" lIns="0" tIns="0" rIns="0" bIns="0" rtlCol="0" anchor="t"/>
          <a:lstStyle/>
          <a:p>
            <a:pPr marL="0" indent="0">
              <a:lnSpc>
                <a:spcPts val="2925"/>
              </a:lnSpc>
              <a:buNone/>
            </a:pPr>
            <a:r>
              <a:rPr lang="en-US" sz="1800" dirty="0">
                <a:solidFill>
                  <a:srgbClr val="374151"/>
                </a:solidFill>
                <a:latin typeface="ui-sans-serif" pitchFamily="34" charset="0"/>
                <a:ea typeface="ui-sans-serif" pitchFamily="34" charset="-122"/>
                <a:cs typeface="ui-sans-serif" pitchFamily="34" charset="-120"/>
              </a:rPr>
              <a:t>Amazon API Gateway is a fully managed service that empowers developers to create, publish, maintain, monitor, and secure APIs at any scale.</a:t>
            </a:r>
            <a:endParaRPr lang="en-US" sz="1800" dirty="0"/>
          </a:p>
        </p:txBody>
      </p:sp>
      <p:sp>
        <p:nvSpPr>
          <p:cNvPr id="15" name="Text 2"/>
          <p:cNvSpPr/>
          <p:nvPr/>
        </p:nvSpPr>
        <p:spPr>
          <a:xfrm>
            <a:off x="1314450" y="2495550"/>
            <a:ext cx="2571750"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Front Door for Applications</a:t>
            </a:r>
            <a:endParaRPr lang="en-US" sz="1500" dirty="0"/>
          </a:p>
        </p:txBody>
      </p:sp>
      <p:sp>
        <p:nvSpPr>
          <p:cNvPr id="16" name="Text 3"/>
          <p:cNvSpPr/>
          <p:nvPr/>
        </p:nvSpPr>
        <p:spPr>
          <a:xfrm>
            <a:off x="838200" y="3181350"/>
            <a:ext cx="30480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Serves as the "front door" for applications to access data, business logic, or functionality from various backend services.</a:t>
            </a:r>
            <a:endParaRPr lang="en-US" sz="1200" dirty="0"/>
          </a:p>
        </p:txBody>
      </p:sp>
      <p:sp>
        <p:nvSpPr>
          <p:cNvPr id="17" name="Text 4"/>
          <p:cNvSpPr/>
          <p:nvPr/>
        </p:nvSpPr>
        <p:spPr>
          <a:xfrm>
            <a:off x="5010150" y="2533650"/>
            <a:ext cx="266086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Serverless Approach</a:t>
            </a:r>
            <a:endParaRPr lang="en-US" sz="1500" dirty="0"/>
          </a:p>
        </p:txBody>
      </p:sp>
      <p:sp>
        <p:nvSpPr>
          <p:cNvPr id="18" name="Text 5"/>
          <p:cNvSpPr/>
          <p:nvPr/>
        </p:nvSpPr>
        <p:spPr>
          <a:xfrm>
            <a:off x="4572000" y="2990850"/>
            <a:ext cx="30480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Abstracts away much of the complexity involved in managing API infrastructure, allowing developers to focus on core application logic.</a:t>
            </a:r>
            <a:endParaRPr lang="en-US" sz="1200" dirty="0"/>
          </a:p>
        </p:txBody>
      </p:sp>
      <p:sp>
        <p:nvSpPr>
          <p:cNvPr id="19" name="Text 6"/>
          <p:cNvSpPr/>
          <p:nvPr/>
        </p:nvSpPr>
        <p:spPr>
          <a:xfrm>
            <a:off x="8743950" y="2533650"/>
            <a:ext cx="20859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Built-in Security</a:t>
            </a:r>
            <a:endParaRPr lang="en-US" sz="1500" dirty="0"/>
          </a:p>
        </p:txBody>
      </p:sp>
      <p:sp>
        <p:nvSpPr>
          <p:cNvPr id="20" name="Text 7"/>
          <p:cNvSpPr/>
          <p:nvPr/>
        </p:nvSpPr>
        <p:spPr>
          <a:xfrm>
            <a:off x="8305800" y="2990850"/>
            <a:ext cx="30480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integrated security features such as IAM authentication, Lambda authorizers, and integration with AWS WAF for protection against common web exploits.</a:t>
            </a:r>
            <a:endParaRPr lang="en-US" sz="1200" dirty="0"/>
          </a:p>
        </p:txBody>
      </p:sp>
      <p:sp>
        <p:nvSpPr>
          <p:cNvPr id="21" name="Text 8"/>
          <p:cNvSpPr/>
          <p:nvPr/>
        </p:nvSpPr>
        <p:spPr>
          <a:xfrm>
            <a:off x="1162050" y="4895850"/>
            <a:ext cx="392072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Key Benefits</a:t>
            </a:r>
            <a:endParaRPr lang="en-US" sz="1500" dirty="0"/>
          </a:p>
        </p:txBody>
      </p:sp>
      <p:sp>
        <p:nvSpPr>
          <p:cNvPr id="22" name="Text 9"/>
          <p:cNvSpPr/>
          <p:nvPr/>
        </p:nvSpPr>
        <p:spPr>
          <a:xfrm>
            <a:off x="1162050" y="5238750"/>
            <a:ext cx="2283857"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Fully managed service</a:t>
            </a:r>
            <a:endParaRPr lang="en-US" sz="1200" dirty="0"/>
          </a:p>
        </p:txBody>
      </p:sp>
      <p:sp>
        <p:nvSpPr>
          <p:cNvPr id="23" name="Text 10"/>
          <p:cNvSpPr/>
          <p:nvPr/>
        </p:nvSpPr>
        <p:spPr>
          <a:xfrm>
            <a:off x="3179564" y="5238750"/>
            <a:ext cx="2283857"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Automatic scaling</a:t>
            </a:r>
            <a:endParaRPr lang="en-US" sz="1200" dirty="0"/>
          </a:p>
        </p:txBody>
      </p:sp>
      <p:sp>
        <p:nvSpPr>
          <p:cNvPr id="24" name="Text 11"/>
          <p:cNvSpPr/>
          <p:nvPr/>
        </p:nvSpPr>
        <p:spPr>
          <a:xfrm>
            <a:off x="1162050" y="5543550"/>
            <a:ext cx="2283857"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Integrated monitoring</a:t>
            </a:r>
            <a:endParaRPr lang="en-US" sz="1200" dirty="0"/>
          </a:p>
        </p:txBody>
      </p:sp>
      <p:sp>
        <p:nvSpPr>
          <p:cNvPr id="25" name="Text 12"/>
          <p:cNvSpPr/>
          <p:nvPr/>
        </p:nvSpPr>
        <p:spPr>
          <a:xfrm>
            <a:off x="3179564" y="5543550"/>
            <a:ext cx="2283857"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Simple deployment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248400"/>
          </a:xfrm>
          <a:prstGeom prst="rect">
            <a:avLst/>
          </a:prstGeom>
        </p:spPr>
      </p:pic>
      <p:pic>
        <p:nvPicPr>
          <p:cNvPr id="3" name="Image 1" descr="preencoded.png"/>
          <p:cNvPicPr>
            <a:picLocks noChangeAspect="1"/>
          </p:cNvPicPr>
          <p:nvPr/>
        </p:nvPicPr>
        <p:blipFill>
          <a:blip r:embed="rId4"/>
          <a:stretch>
            <a:fillRect/>
          </a:stretch>
        </p:blipFill>
        <p:spPr>
          <a:xfrm>
            <a:off x="0" y="0"/>
            <a:ext cx="3048000" cy="609600"/>
          </a:xfrm>
          <a:prstGeom prst="rect">
            <a:avLst/>
          </a:prstGeom>
        </p:spPr>
      </p:pic>
      <p:pic>
        <p:nvPicPr>
          <p:cNvPr id="4" name="Image 2" descr="preencoded.png"/>
          <p:cNvPicPr>
            <a:picLocks noChangeAspect="1"/>
          </p:cNvPicPr>
          <p:nvPr/>
        </p:nvPicPr>
        <p:blipFill>
          <a:blip r:embed="rId5"/>
          <a:stretch>
            <a:fillRect/>
          </a:stretch>
        </p:blipFill>
        <p:spPr>
          <a:xfrm>
            <a:off x="0" y="0"/>
            <a:ext cx="2031950" cy="609600"/>
          </a:xfrm>
          <a:prstGeom prst="rect">
            <a:avLst/>
          </a:prstGeom>
        </p:spPr>
      </p:pic>
      <p:pic>
        <p:nvPicPr>
          <p:cNvPr id="5" name="Image 3" descr="preencoded.png"/>
          <p:cNvPicPr>
            <a:picLocks noChangeAspect="1"/>
          </p:cNvPicPr>
          <p:nvPr/>
        </p:nvPicPr>
        <p:blipFill>
          <a:blip r:embed="rId6"/>
          <a:stretch>
            <a:fillRect/>
          </a:stretch>
        </p:blipFill>
        <p:spPr>
          <a:xfrm>
            <a:off x="1219200" y="1828800"/>
            <a:ext cx="2438400" cy="1485900"/>
          </a:xfrm>
          <a:prstGeom prst="rect">
            <a:avLst/>
          </a:prstGeom>
        </p:spPr>
      </p:pic>
      <p:pic>
        <p:nvPicPr>
          <p:cNvPr id="6" name="Image 4" descr="preencoded.png"/>
          <p:cNvPicPr>
            <a:picLocks noChangeAspect="1"/>
          </p:cNvPicPr>
          <p:nvPr/>
        </p:nvPicPr>
        <p:blipFill>
          <a:blip r:embed="rId7"/>
          <a:stretch>
            <a:fillRect/>
          </a:stretch>
        </p:blipFill>
        <p:spPr>
          <a:xfrm>
            <a:off x="1371600" y="2057400"/>
            <a:ext cx="349746" cy="381000"/>
          </a:xfrm>
          <a:prstGeom prst="rect">
            <a:avLst/>
          </a:prstGeom>
        </p:spPr>
      </p:pic>
      <p:pic>
        <p:nvPicPr>
          <p:cNvPr id="7" name="Image 5" descr="preencoded.png"/>
          <p:cNvPicPr>
            <a:picLocks noChangeAspect="1"/>
          </p:cNvPicPr>
          <p:nvPr/>
        </p:nvPicPr>
        <p:blipFill>
          <a:blip r:embed="rId8"/>
          <a:stretch>
            <a:fillRect/>
          </a:stretch>
        </p:blipFill>
        <p:spPr>
          <a:xfrm>
            <a:off x="1451223" y="2171700"/>
            <a:ext cx="190500" cy="152400"/>
          </a:xfrm>
          <a:prstGeom prst="rect">
            <a:avLst/>
          </a:prstGeom>
        </p:spPr>
      </p:pic>
      <p:pic>
        <p:nvPicPr>
          <p:cNvPr id="8" name="Image 6" descr="preencoded.png"/>
          <p:cNvPicPr>
            <a:picLocks noChangeAspect="1"/>
          </p:cNvPicPr>
          <p:nvPr/>
        </p:nvPicPr>
        <p:blipFill>
          <a:blip r:embed="rId9"/>
          <a:stretch>
            <a:fillRect/>
          </a:stretch>
        </p:blipFill>
        <p:spPr>
          <a:xfrm>
            <a:off x="4876800" y="1828800"/>
            <a:ext cx="2438400" cy="1143000"/>
          </a:xfrm>
          <a:prstGeom prst="rect">
            <a:avLst/>
          </a:prstGeom>
        </p:spPr>
      </p:pic>
      <p:pic>
        <p:nvPicPr>
          <p:cNvPr id="9" name="Image 7" descr="preencoded.png"/>
          <p:cNvPicPr>
            <a:picLocks noChangeAspect="1"/>
          </p:cNvPicPr>
          <p:nvPr/>
        </p:nvPicPr>
        <p:blipFill>
          <a:blip r:embed="rId10"/>
          <a:stretch>
            <a:fillRect/>
          </a:stretch>
        </p:blipFill>
        <p:spPr>
          <a:xfrm>
            <a:off x="5029200" y="1981200"/>
            <a:ext cx="381000" cy="381000"/>
          </a:xfrm>
          <a:prstGeom prst="rect">
            <a:avLst/>
          </a:prstGeom>
        </p:spPr>
      </p:pic>
      <p:pic>
        <p:nvPicPr>
          <p:cNvPr id="10" name="Image 8" descr="preencoded.png"/>
          <p:cNvPicPr>
            <a:picLocks noChangeAspect="1"/>
          </p:cNvPicPr>
          <p:nvPr/>
        </p:nvPicPr>
        <p:blipFill>
          <a:blip r:embed="rId11"/>
          <a:stretch>
            <a:fillRect/>
          </a:stretch>
        </p:blipFill>
        <p:spPr>
          <a:xfrm>
            <a:off x="5133975" y="2095500"/>
            <a:ext cx="171450" cy="152400"/>
          </a:xfrm>
          <a:prstGeom prst="rect">
            <a:avLst/>
          </a:prstGeom>
        </p:spPr>
      </p:pic>
      <p:pic>
        <p:nvPicPr>
          <p:cNvPr id="11" name="Image 9" descr="preencoded.png"/>
          <p:cNvPicPr>
            <a:picLocks noChangeAspect="1"/>
          </p:cNvPicPr>
          <p:nvPr/>
        </p:nvPicPr>
        <p:blipFill>
          <a:blip r:embed="rId12"/>
          <a:stretch>
            <a:fillRect/>
          </a:stretch>
        </p:blipFill>
        <p:spPr>
          <a:xfrm>
            <a:off x="8534400" y="1828800"/>
            <a:ext cx="2438400" cy="1295400"/>
          </a:xfrm>
          <a:prstGeom prst="rect">
            <a:avLst/>
          </a:prstGeom>
        </p:spPr>
      </p:pic>
      <p:pic>
        <p:nvPicPr>
          <p:cNvPr id="12" name="Image 10" descr="preencoded.png"/>
          <p:cNvPicPr>
            <a:picLocks noChangeAspect="1"/>
          </p:cNvPicPr>
          <p:nvPr/>
        </p:nvPicPr>
        <p:blipFill>
          <a:blip r:embed="rId13"/>
          <a:stretch>
            <a:fillRect/>
          </a:stretch>
        </p:blipFill>
        <p:spPr>
          <a:xfrm>
            <a:off x="8686800" y="2057400"/>
            <a:ext cx="370880" cy="381000"/>
          </a:xfrm>
          <a:prstGeom prst="rect">
            <a:avLst/>
          </a:prstGeom>
        </p:spPr>
      </p:pic>
      <p:pic>
        <p:nvPicPr>
          <p:cNvPr id="13" name="Image 11" descr="preencoded.png"/>
          <p:cNvPicPr>
            <a:picLocks noChangeAspect="1"/>
          </p:cNvPicPr>
          <p:nvPr/>
        </p:nvPicPr>
        <p:blipFill>
          <a:blip r:embed="rId14"/>
          <a:stretch>
            <a:fillRect/>
          </a:stretch>
        </p:blipFill>
        <p:spPr>
          <a:xfrm>
            <a:off x="8796040" y="2171700"/>
            <a:ext cx="152400" cy="152400"/>
          </a:xfrm>
          <a:prstGeom prst="rect">
            <a:avLst/>
          </a:prstGeom>
        </p:spPr>
      </p:pic>
      <p:pic>
        <p:nvPicPr>
          <p:cNvPr id="14" name="Image 12" descr="preencoded.png"/>
          <p:cNvPicPr>
            <a:picLocks noChangeAspect="1"/>
          </p:cNvPicPr>
          <p:nvPr/>
        </p:nvPicPr>
        <p:blipFill>
          <a:blip r:embed="rId15"/>
          <a:stretch>
            <a:fillRect/>
          </a:stretch>
        </p:blipFill>
        <p:spPr>
          <a:xfrm>
            <a:off x="3124200" y="3048000"/>
            <a:ext cx="1828800" cy="723900"/>
          </a:xfrm>
          <a:prstGeom prst="rect">
            <a:avLst/>
          </a:prstGeom>
        </p:spPr>
      </p:pic>
      <p:pic>
        <p:nvPicPr>
          <p:cNvPr id="15" name="Image 13" descr="preencoded.png"/>
          <p:cNvPicPr>
            <a:picLocks noChangeAspect="1"/>
          </p:cNvPicPr>
          <p:nvPr/>
        </p:nvPicPr>
        <p:blipFill>
          <a:blip r:embed="rId16"/>
          <a:stretch>
            <a:fillRect/>
          </a:stretch>
        </p:blipFill>
        <p:spPr>
          <a:xfrm>
            <a:off x="3238500" y="3162300"/>
            <a:ext cx="304800" cy="304800"/>
          </a:xfrm>
          <a:prstGeom prst="rect">
            <a:avLst/>
          </a:prstGeom>
        </p:spPr>
      </p:pic>
      <p:pic>
        <p:nvPicPr>
          <p:cNvPr id="16" name="Image 14" descr="preencoded.png"/>
          <p:cNvPicPr>
            <a:picLocks noChangeAspect="1"/>
          </p:cNvPicPr>
          <p:nvPr/>
        </p:nvPicPr>
        <p:blipFill>
          <a:blip r:embed="rId17"/>
          <a:stretch>
            <a:fillRect/>
          </a:stretch>
        </p:blipFill>
        <p:spPr>
          <a:xfrm>
            <a:off x="3295650" y="3238500"/>
            <a:ext cx="190500" cy="152400"/>
          </a:xfrm>
          <a:prstGeom prst="rect">
            <a:avLst/>
          </a:prstGeom>
        </p:spPr>
      </p:pic>
      <p:pic>
        <p:nvPicPr>
          <p:cNvPr id="17" name="Image 15" descr="preencoded.png"/>
          <p:cNvPicPr>
            <a:picLocks noChangeAspect="1"/>
          </p:cNvPicPr>
          <p:nvPr/>
        </p:nvPicPr>
        <p:blipFill>
          <a:blip r:embed="rId15"/>
          <a:stretch>
            <a:fillRect/>
          </a:stretch>
        </p:blipFill>
        <p:spPr>
          <a:xfrm>
            <a:off x="5181600" y="3048000"/>
            <a:ext cx="1828800" cy="723900"/>
          </a:xfrm>
          <a:prstGeom prst="rect">
            <a:avLst/>
          </a:prstGeom>
        </p:spPr>
      </p:pic>
      <p:pic>
        <p:nvPicPr>
          <p:cNvPr id="18" name="Image 16" descr="preencoded.png"/>
          <p:cNvPicPr>
            <a:picLocks noChangeAspect="1"/>
          </p:cNvPicPr>
          <p:nvPr/>
        </p:nvPicPr>
        <p:blipFill>
          <a:blip r:embed="rId16"/>
          <a:stretch>
            <a:fillRect/>
          </a:stretch>
        </p:blipFill>
        <p:spPr>
          <a:xfrm>
            <a:off x="5295900" y="3162300"/>
            <a:ext cx="304800" cy="304800"/>
          </a:xfrm>
          <a:prstGeom prst="rect">
            <a:avLst/>
          </a:prstGeom>
        </p:spPr>
      </p:pic>
      <p:pic>
        <p:nvPicPr>
          <p:cNvPr id="19" name="Image 17" descr="preencoded.png"/>
          <p:cNvPicPr>
            <a:picLocks noChangeAspect="1"/>
          </p:cNvPicPr>
          <p:nvPr/>
        </p:nvPicPr>
        <p:blipFill>
          <a:blip r:embed="rId18"/>
          <a:stretch>
            <a:fillRect/>
          </a:stretch>
        </p:blipFill>
        <p:spPr>
          <a:xfrm>
            <a:off x="5362575" y="3238500"/>
            <a:ext cx="171450" cy="152400"/>
          </a:xfrm>
          <a:prstGeom prst="rect">
            <a:avLst/>
          </a:prstGeom>
        </p:spPr>
      </p:pic>
      <p:pic>
        <p:nvPicPr>
          <p:cNvPr id="20" name="Image 18" descr="preencoded.png"/>
          <p:cNvPicPr>
            <a:picLocks noChangeAspect="1"/>
          </p:cNvPicPr>
          <p:nvPr/>
        </p:nvPicPr>
        <p:blipFill>
          <a:blip r:embed="rId19"/>
          <a:stretch>
            <a:fillRect/>
          </a:stretch>
        </p:blipFill>
        <p:spPr>
          <a:xfrm>
            <a:off x="7239000" y="3048000"/>
            <a:ext cx="1828800" cy="723900"/>
          </a:xfrm>
          <a:prstGeom prst="rect">
            <a:avLst/>
          </a:prstGeom>
        </p:spPr>
      </p:pic>
      <p:pic>
        <p:nvPicPr>
          <p:cNvPr id="21" name="Image 19" descr="preencoded.png"/>
          <p:cNvPicPr>
            <a:picLocks noChangeAspect="1"/>
          </p:cNvPicPr>
          <p:nvPr/>
        </p:nvPicPr>
        <p:blipFill>
          <a:blip r:embed="rId20"/>
          <a:stretch>
            <a:fillRect/>
          </a:stretch>
        </p:blipFill>
        <p:spPr>
          <a:xfrm>
            <a:off x="7353300" y="3238500"/>
            <a:ext cx="298400" cy="304800"/>
          </a:xfrm>
          <a:prstGeom prst="rect">
            <a:avLst/>
          </a:prstGeom>
        </p:spPr>
      </p:pic>
      <p:pic>
        <p:nvPicPr>
          <p:cNvPr id="22" name="Image 20" descr="preencoded.png"/>
          <p:cNvPicPr>
            <a:picLocks noChangeAspect="1"/>
          </p:cNvPicPr>
          <p:nvPr/>
        </p:nvPicPr>
        <p:blipFill>
          <a:blip r:embed="rId21"/>
          <a:stretch>
            <a:fillRect/>
          </a:stretch>
        </p:blipFill>
        <p:spPr>
          <a:xfrm>
            <a:off x="7426226" y="3314700"/>
            <a:ext cx="152400" cy="152400"/>
          </a:xfrm>
          <a:prstGeom prst="rect">
            <a:avLst/>
          </a:prstGeom>
        </p:spPr>
      </p:pic>
      <p:pic>
        <p:nvPicPr>
          <p:cNvPr id="23" name="Image 21" descr="preencoded.png"/>
          <p:cNvPicPr>
            <a:picLocks noChangeAspect="1"/>
          </p:cNvPicPr>
          <p:nvPr/>
        </p:nvPicPr>
        <p:blipFill>
          <a:blip r:embed="rId22"/>
          <a:stretch>
            <a:fillRect/>
          </a:stretch>
        </p:blipFill>
        <p:spPr>
          <a:xfrm>
            <a:off x="3657600" y="2438400"/>
            <a:ext cx="2438400" cy="19050"/>
          </a:xfrm>
          <a:prstGeom prst="rect">
            <a:avLst/>
          </a:prstGeom>
        </p:spPr>
      </p:pic>
      <p:pic>
        <p:nvPicPr>
          <p:cNvPr id="24" name="Image 22" descr="preencoded.png"/>
          <p:cNvPicPr>
            <a:picLocks noChangeAspect="1"/>
          </p:cNvPicPr>
          <p:nvPr/>
        </p:nvPicPr>
        <p:blipFill>
          <a:blip r:embed="rId23"/>
          <a:stretch>
            <a:fillRect/>
          </a:stretch>
        </p:blipFill>
        <p:spPr>
          <a:xfrm>
            <a:off x="6057900" y="3048000"/>
            <a:ext cx="76200" cy="19050"/>
          </a:xfrm>
          <a:prstGeom prst="rect">
            <a:avLst/>
          </a:prstGeom>
        </p:spPr>
      </p:pic>
      <p:pic>
        <p:nvPicPr>
          <p:cNvPr id="25" name="Image 23" descr="preencoded.png"/>
          <p:cNvPicPr>
            <a:picLocks noChangeAspect="1"/>
          </p:cNvPicPr>
          <p:nvPr/>
        </p:nvPicPr>
        <p:blipFill>
          <a:blip r:embed="rId23"/>
          <a:stretch>
            <a:fillRect/>
          </a:stretch>
        </p:blipFill>
        <p:spPr>
          <a:xfrm>
            <a:off x="6057900" y="4267200"/>
            <a:ext cx="76200" cy="19050"/>
          </a:xfrm>
          <a:prstGeom prst="rect">
            <a:avLst/>
          </a:prstGeom>
        </p:spPr>
      </p:pic>
      <p:pic>
        <p:nvPicPr>
          <p:cNvPr id="26" name="Image 24" descr="preencoded.png"/>
          <p:cNvPicPr>
            <a:picLocks noChangeAspect="1"/>
          </p:cNvPicPr>
          <p:nvPr/>
        </p:nvPicPr>
        <p:blipFill>
          <a:blip r:embed="rId22"/>
          <a:stretch>
            <a:fillRect/>
          </a:stretch>
        </p:blipFill>
        <p:spPr>
          <a:xfrm>
            <a:off x="3657600" y="3657600"/>
            <a:ext cx="2438400" cy="19050"/>
          </a:xfrm>
          <a:prstGeom prst="rect">
            <a:avLst/>
          </a:prstGeom>
        </p:spPr>
      </p:pic>
      <p:pic>
        <p:nvPicPr>
          <p:cNvPr id="27" name="Image 25" descr="preencoded.png"/>
          <p:cNvPicPr>
            <a:picLocks noChangeAspect="1"/>
          </p:cNvPicPr>
          <p:nvPr/>
        </p:nvPicPr>
        <p:blipFill>
          <a:blip r:embed="rId24"/>
          <a:stretch>
            <a:fillRect/>
          </a:stretch>
        </p:blipFill>
        <p:spPr>
          <a:xfrm>
            <a:off x="609600" y="5219700"/>
            <a:ext cx="3555950" cy="876300"/>
          </a:xfrm>
          <a:prstGeom prst="rect">
            <a:avLst/>
          </a:prstGeom>
        </p:spPr>
      </p:pic>
      <p:pic>
        <p:nvPicPr>
          <p:cNvPr id="28" name="Image 26" descr="preencoded.png"/>
          <p:cNvPicPr>
            <a:picLocks noChangeAspect="1"/>
          </p:cNvPicPr>
          <p:nvPr/>
        </p:nvPicPr>
        <p:blipFill>
          <a:blip r:embed="rId25"/>
          <a:stretch>
            <a:fillRect/>
          </a:stretch>
        </p:blipFill>
        <p:spPr>
          <a:xfrm>
            <a:off x="723900" y="5372100"/>
            <a:ext cx="152400" cy="152400"/>
          </a:xfrm>
          <a:prstGeom prst="rect">
            <a:avLst/>
          </a:prstGeom>
        </p:spPr>
      </p:pic>
      <p:pic>
        <p:nvPicPr>
          <p:cNvPr id="29" name="Image 27" descr="preencoded.png"/>
          <p:cNvPicPr>
            <a:picLocks noChangeAspect="1"/>
          </p:cNvPicPr>
          <p:nvPr/>
        </p:nvPicPr>
        <p:blipFill>
          <a:blip r:embed="rId26"/>
          <a:stretch>
            <a:fillRect/>
          </a:stretch>
        </p:blipFill>
        <p:spPr>
          <a:xfrm>
            <a:off x="4317950" y="5219700"/>
            <a:ext cx="3555950" cy="876300"/>
          </a:xfrm>
          <a:prstGeom prst="rect">
            <a:avLst/>
          </a:prstGeom>
        </p:spPr>
      </p:pic>
      <p:pic>
        <p:nvPicPr>
          <p:cNvPr id="30" name="Image 28" descr="preencoded.png"/>
          <p:cNvPicPr>
            <a:picLocks noChangeAspect="1"/>
          </p:cNvPicPr>
          <p:nvPr/>
        </p:nvPicPr>
        <p:blipFill>
          <a:blip r:embed="rId27"/>
          <a:stretch>
            <a:fillRect/>
          </a:stretch>
        </p:blipFill>
        <p:spPr>
          <a:xfrm>
            <a:off x="4432250" y="5372100"/>
            <a:ext cx="95250" cy="152400"/>
          </a:xfrm>
          <a:prstGeom prst="rect">
            <a:avLst/>
          </a:prstGeom>
        </p:spPr>
      </p:pic>
      <p:pic>
        <p:nvPicPr>
          <p:cNvPr id="31" name="Image 29" descr="preencoded.png"/>
          <p:cNvPicPr>
            <a:picLocks noChangeAspect="1"/>
          </p:cNvPicPr>
          <p:nvPr/>
        </p:nvPicPr>
        <p:blipFill>
          <a:blip r:embed="rId28"/>
          <a:stretch>
            <a:fillRect/>
          </a:stretch>
        </p:blipFill>
        <p:spPr>
          <a:xfrm>
            <a:off x="8026301" y="5219700"/>
            <a:ext cx="3555950" cy="876300"/>
          </a:xfrm>
          <a:prstGeom prst="rect">
            <a:avLst/>
          </a:prstGeom>
        </p:spPr>
      </p:pic>
      <p:pic>
        <p:nvPicPr>
          <p:cNvPr id="32" name="Image 30" descr="preencoded.png"/>
          <p:cNvPicPr>
            <a:picLocks noChangeAspect="1"/>
          </p:cNvPicPr>
          <p:nvPr/>
        </p:nvPicPr>
        <p:blipFill>
          <a:blip r:embed="rId29"/>
          <a:stretch>
            <a:fillRect/>
          </a:stretch>
        </p:blipFill>
        <p:spPr>
          <a:xfrm>
            <a:off x="8140601" y="5372100"/>
            <a:ext cx="152400" cy="152400"/>
          </a:xfrm>
          <a:prstGeom prst="rect">
            <a:avLst/>
          </a:prstGeom>
        </p:spPr>
      </p:pic>
      <p:pic>
        <p:nvPicPr>
          <p:cNvPr id="34" name="Image 32" descr="preencoded.png"/>
          <p:cNvPicPr>
            <a:picLocks noChangeAspect="1"/>
          </p:cNvPicPr>
          <p:nvPr/>
        </p:nvPicPr>
        <p:blipFill>
          <a:blip r:embed="rId30"/>
          <a:stretch>
            <a:fillRect/>
          </a:stretch>
        </p:blipFill>
        <p:spPr>
          <a:xfrm>
            <a:off x="0" y="6096000"/>
            <a:ext cx="2031950" cy="152400"/>
          </a:xfrm>
          <a:prstGeom prst="rect">
            <a:avLst/>
          </a:prstGeom>
        </p:spPr>
      </p:pic>
      <p:pic>
        <p:nvPicPr>
          <p:cNvPr id="35" name="Image 33" descr="preencoded.png"/>
          <p:cNvPicPr>
            <a:picLocks noChangeAspect="1"/>
          </p:cNvPicPr>
          <p:nvPr/>
        </p:nvPicPr>
        <p:blipFill>
          <a:blip r:embed="rId31"/>
          <a:stretch>
            <a:fillRect/>
          </a:stretch>
        </p:blipFill>
        <p:spPr>
          <a:xfrm>
            <a:off x="0" y="6096000"/>
            <a:ext cx="3048000" cy="152400"/>
          </a:xfrm>
          <a:prstGeom prst="rect">
            <a:avLst/>
          </a:prstGeom>
        </p:spPr>
      </p:pic>
      <p:sp>
        <p:nvSpPr>
          <p:cNvPr id="36" name="Text 0"/>
          <p:cNvSpPr/>
          <p:nvPr/>
        </p:nvSpPr>
        <p:spPr>
          <a:xfrm>
            <a:off x="609600" y="457200"/>
            <a:ext cx="6068794"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Fundamental Architecture</a:t>
            </a:r>
            <a:endParaRPr lang="en-US" sz="2700" dirty="0"/>
          </a:p>
        </p:txBody>
      </p:sp>
      <p:sp>
        <p:nvSpPr>
          <p:cNvPr id="37" name="Text 1"/>
          <p:cNvSpPr/>
          <p:nvPr/>
        </p:nvSpPr>
        <p:spPr>
          <a:xfrm>
            <a:off x="609600" y="1066800"/>
            <a:ext cx="10972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AWS API Gateway acts as a crucial intermediary layer between client applications and backend services, managing the flow of requests.</a:t>
            </a:r>
            <a:endParaRPr lang="en-US" sz="1350" dirty="0"/>
          </a:p>
        </p:txBody>
      </p:sp>
      <p:sp>
        <p:nvSpPr>
          <p:cNvPr id="38" name="Text 2"/>
          <p:cNvSpPr/>
          <p:nvPr/>
        </p:nvSpPr>
        <p:spPr>
          <a:xfrm>
            <a:off x="1835646" y="1981200"/>
            <a:ext cx="1669554" cy="5334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Client Applications</a:t>
            </a:r>
            <a:endParaRPr lang="en-US" sz="1350" dirty="0"/>
          </a:p>
        </p:txBody>
      </p:sp>
      <p:sp>
        <p:nvSpPr>
          <p:cNvPr id="39" name="Text 3"/>
          <p:cNvSpPr/>
          <p:nvPr/>
        </p:nvSpPr>
        <p:spPr>
          <a:xfrm>
            <a:off x="1371600" y="2590800"/>
            <a:ext cx="213360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Mobile, web, and desktop applications making API requests</a:t>
            </a:r>
            <a:endParaRPr lang="en-US" sz="1050" dirty="0"/>
          </a:p>
        </p:txBody>
      </p:sp>
      <p:sp>
        <p:nvSpPr>
          <p:cNvPr id="40" name="Text 4"/>
          <p:cNvSpPr/>
          <p:nvPr/>
        </p:nvSpPr>
        <p:spPr>
          <a:xfrm>
            <a:off x="5524500" y="2038350"/>
            <a:ext cx="146054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API Gateway</a:t>
            </a:r>
            <a:endParaRPr lang="en-US" sz="1350" dirty="0"/>
          </a:p>
        </p:txBody>
      </p:sp>
      <p:sp>
        <p:nvSpPr>
          <p:cNvPr id="41" name="Text 5"/>
          <p:cNvSpPr/>
          <p:nvPr/>
        </p:nvSpPr>
        <p:spPr>
          <a:xfrm>
            <a:off x="5029200" y="2438400"/>
            <a:ext cx="2133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The "front door" for your applications</a:t>
            </a:r>
            <a:endParaRPr lang="en-US" sz="1050" dirty="0"/>
          </a:p>
        </p:txBody>
      </p:sp>
      <p:sp>
        <p:nvSpPr>
          <p:cNvPr id="42" name="Text 6"/>
          <p:cNvSpPr/>
          <p:nvPr/>
        </p:nvSpPr>
        <p:spPr>
          <a:xfrm>
            <a:off x="9171980" y="1981200"/>
            <a:ext cx="1648420" cy="5334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Backend Services</a:t>
            </a:r>
            <a:endParaRPr lang="en-US" sz="1350" dirty="0"/>
          </a:p>
        </p:txBody>
      </p:sp>
      <p:sp>
        <p:nvSpPr>
          <p:cNvPr id="43" name="Text 7"/>
          <p:cNvSpPr/>
          <p:nvPr/>
        </p:nvSpPr>
        <p:spPr>
          <a:xfrm>
            <a:off x="8686800" y="2590800"/>
            <a:ext cx="2133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AWS Lambda, HTTP endpoints, other AWS services</a:t>
            </a:r>
            <a:endParaRPr lang="en-US" sz="1050" dirty="0"/>
          </a:p>
        </p:txBody>
      </p:sp>
      <p:sp>
        <p:nvSpPr>
          <p:cNvPr id="44" name="Text 8"/>
          <p:cNvSpPr/>
          <p:nvPr/>
        </p:nvSpPr>
        <p:spPr>
          <a:xfrm>
            <a:off x="3619500" y="3200400"/>
            <a:ext cx="1342489" cy="2286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Authentication</a:t>
            </a:r>
            <a:endParaRPr lang="en-US" sz="1200" dirty="0"/>
          </a:p>
        </p:txBody>
      </p:sp>
      <p:sp>
        <p:nvSpPr>
          <p:cNvPr id="45" name="Text 9"/>
          <p:cNvSpPr/>
          <p:nvPr/>
        </p:nvSpPr>
        <p:spPr>
          <a:xfrm>
            <a:off x="5676900" y="3200400"/>
            <a:ext cx="887790" cy="2286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Throttling</a:t>
            </a:r>
            <a:endParaRPr lang="en-US" sz="1200" dirty="0"/>
          </a:p>
        </p:txBody>
      </p:sp>
      <p:sp>
        <p:nvSpPr>
          <p:cNvPr id="46" name="Text 10"/>
          <p:cNvSpPr/>
          <p:nvPr/>
        </p:nvSpPr>
        <p:spPr>
          <a:xfrm>
            <a:off x="7727900" y="3162300"/>
            <a:ext cx="1225600" cy="4572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Request Routing</a:t>
            </a:r>
            <a:endParaRPr lang="en-US" sz="1200" dirty="0"/>
          </a:p>
        </p:txBody>
      </p:sp>
      <p:sp>
        <p:nvSpPr>
          <p:cNvPr id="47" name="Text 11"/>
          <p:cNvSpPr/>
          <p:nvPr/>
        </p:nvSpPr>
        <p:spPr>
          <a:xfrm>
            <a:off x="952500" y="5334000"/>
            <a:ext cx="1502152" cy="2286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Request Routing</a:t>
            </a:r>
            <a:endParaRPr lang="en-US" sz="1200" dirty="0"/>
          </a:p>
        </p:txBody>
      </p:sp>
      <p:sp>
        <p:nvSpPr>
          <p:cNvPr id="48" name="Text 12"/>
          <p:cNvSpPr/>
          <p:nvPr/>
        </p:nvSpPr>
        <p:spPr>
          <a:xfrm>
            <a:off x="723900" y="5600700"/>
            <a:ext cx="399282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Directs requests to appropriate backend services</a:t>
            </a:r>
            <a:endParaRPr lang="en-US" sz="1050" dirty="0"/>
          </a:p>
        </p:txBody>
      </p:sp>
      <p:sp>
        <p:nvSpPr>
          <p:cNvPr id="49" name="Text 13"/>
          <p:cNvSpPr/>
          <p:nvPr/>
        </p:nvSpPr>
        <p:spPr>
          <a:xfrm>
            <a:off x="4603700" y="5334000"/>
            <a:ext cx="1812369" cy="2286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Traffic Management</a:t>
            </a:r>
            <a:endParaRPr lang="en-US" sz="1200" dirty="0"/>
          </a:p>
        </p:txBody>
      </p:sp>
      <p:sp>
        <p:nvSpPr>
          <p:cNvPr id="50" name="Text 14"/>
          <p:cNvSpPr/>
          <p:nvPr/>
        </p:nvSpPr>
        <p:spPr>
          <a:xfrm>
            <a:off x="4432250" y="5600700"/>
            <a:ext cx="332735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Controls request flow through throttling and caching</a:t>
            </a:r>
            <a:endParaRPr lang="en-US" sz="1050" dirty="0"/>
          </a:p>
        </p:txBody>
      </p:sp>
      <p:sp>
        <p:nvSpPr>
          <p:cNvPr id="51" name="Text 15"/>
          <p:cNvSpPr/>
          <p:nvPr/>
        </p:nvSpPr>
        <p:spPr>
          <a:xfrm>
            <a:off x="8369201" y="5334000"/>
            <a:ext cx="1979355" cy="2286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Security Enforcement</a:t>
            </a:r>
            <a:endParaRPr lang="en-US" sz="1200" dirty="0"/>
          </a:p>
        </p:txBody>
      </p:sp>
      <p:sp>
        <p:nvSpPr>
          <p:cNvPr id="52" name="Text 16"/>
          <p:cNvSpPr/>
          <p:nvPr/>
        </p:nvSpPr>
        <p:spPr>
          <a:xfrm>
            <a:off x="8140601" y="5600700"/>
            <a:ext cx="399282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Implements auth and authorization mechanisms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952500"/>
            <a:ext cx="3657600" cy="38100"/>
          </a:xfrm>
          <a:prstGeom prst="rect">
            <a:avLst/>
          </a:prstGeom>
        </p:spPr>
      </p:pic>
      <p:pic>
        <p:nvPicPr>
          <p:cNvPr id="5" name="Image 3" descr="preencoded.png"/>
          <p:cNvPicPr>
            <a:picLocks noChangeAspect="1"/>
          </p:cNvPicPr>
          <p:nvPr/>
        </p:nvPicPr>
        <p:blipFill>
          <a:blip r:embed="rId6"/>
          <a:stretch>
            <a:fillRect/>
          </a:stretch>
        </p:blipFill>
        <p:spPr>
          <a:xfrm>
            <a:off x="609600" y="1219200"/>
            <a:ext cx="228600" cy="304800"/>
          </a:xfrm>
          <a:prstGeom prst="rect">
            <a:avLst/>
          </a:prstGeom>
        </p:spPr>
      </p:pic>
      <p:pic>
        <p:nvPicPr>
          <p:cNvPr id="6" name="Image 4" descr="preencoded.png"/>
          <p:cNvPicPr>
            <a:picLocks noChangeAspect="1"/>
          </p:cNvPicPr>
          <p:nvPr/>
        </p:nvPicPr>
        <p:blipFill>
          <a:blip r:embed="rId7"/>
          <a:stretch>
            <a:fillRect/>
          </a:stretch>
        </p:blipFill>
        <p:spPr>
          <a:xfrm>
            <a:off x="6248400" y="1219200"/>
            <a:ext cx="285750" cy="304800"/>
          </a:xfrm>
          <a:prstGeom prst="rect">
            <a:avLst/>
          </a:prstGeom>
        </p:spPr>
      </p:pic>
      <p:pic>
        <p:nvPicPr>
          <p:cNvPr id="7" name="Image 5" descr="preencoded.png"/>
          <p:cNvPicPr>
            <a:picLocks noChangeAspect="1"/>
          </p:cNvPicPr>
          <p:nvPr/>
        </p:nvPicPr>
        <p:blipFill>
          <a:blip r:embed="rId8"/>
          <a:stretch>
            <a:fillRect/>
          </a:stretch>
        </p:blipFill>
        <p:spPr>
          <a:xfrm>
            <a:off x="609600" y="1905000"/>
            <a:ext cx="5410200" cy="914400"/>
          </a:xfrm>
          <a:prstGeom prst="rect">
            <a:avLst/>
          </a:prstGeom>
        </p:spPr>
      </p:pic>
      <p:pic>
        <p:nvPicPr>
          <p:cNvPr id="8" name="Image 6" descr="preencoded.png"/>
          <p:cNvPicPr>
            <a:picLocks noChangeAspect="1"/>
          </p:cNvPicPr>
          <p:nvPr/>
        </p:nvPicPr>
        <p:blipFill>
          <a:blip r:embed="rId9"/>
          <a:stretch>
            <a:fillRect/>
          </a:stretch>
        </p:blipFill>
        <p:spPr>
          <a:xfrm>
            <a:off x="762000" y="2095500"/>
            <a:ext cx="238125" cy="266700"/>
          </a:xfrm>
          <a:prstGeom prst="rect">
            <a:avLst/>
          </a:prstGeom>
        </p:spPr>
      </p:pic>
      <p:pic>
        <p:nvPicPr>
          <p:cNvPr id="9" name="Image 7" descr="preencoded.png"/>
          <p:cNvPicPr>
            <a:picLocks noChangeAspect="1"/>
          </p:cNvPicPr>
          <p:nvPr/>
        </p:nvPicPr>
        <p:blipFill>
          <a:blip r:embed="rId8"/>
          <a:stretch>
            <a:fillRect/>
          </a:stretch>
        </p:blipFill>
        <p:spPr>
          <a:xfrm>
            <a:off x="6172200" y="1905000"/>
            <a:ext cx="5410200" cy="914400"/>
          </a:xfrm>
          <a:prstGeom prst="rect">
            <a:avLst/>
          </a:prstGeom>
        </p:spPr>
      </p:pic>
      <p:pic>
        <p:nvPicPr>
          <p:cNvPr id="10" name="Image 8" descr="preencoded.png"/>
          <p:cNvPicPr>
            <a:picLocks noChangeAspect="1"/>
          </p:cNvPicPr>
          <p:nvPr/>
        </p:nvPicPr>
        <p:blipFill>
          <a:blip r:embed="rId10"/>
          <a:stretch>
            <a:fillRect/>
          </a:stretch>
        </p:blipFill>
        <p:spPr>
          <a:xfrm>
            <a:off x="6324600" y="2095500"/>
            <a:ext cx="238125" cy="266700"/>
          </a:xfrm>
          <a:prstGeom prst="rect">
            <a:avLst/>
          </a:prstGeom>
        </p:spPr>
      </p:pic>
      <p:pic>
        <p:nvPicPr>
          <p:cNvPr id="11" name="Image 9" descr="preencoded.png"/>
          <p:cNvPicPr>
            <a:picLocks noChangeAspect="1"/>
          </p:cNvPicPr>
          <p:nvPr/>
        </p:nvPicPr>
        <p:blipFill>
          <a:blip r:embed="rId8"/>
          <a:stretch>
            <a:fillRect/>
          </a:stretch>
        </p:blipFill>
        <p:spPr>
          <a:xfrm>
            <a:off x="609600" y="2971800"/>
            <a:ext cx="5410200" cy="914400"/>
          </a:xfrm>
          <a:prstGeom prst="rect">
            <a:avLst/>
          </a:prstGeom>
        </p:spPr>
      </p:pic>
      <p:pic>
        <p:nvPicPr>
          <p:cNvPr id="12" name="Image 10" descr="preencoded.png"/>
          <p:cNvPicPr>
            <a:picLocks noChangeAspect="1"/>
          </p:cNvPicPr>
          <p:nvPr/>
        </p:nvPicPr>
        <p:blipFill>
          <a:blip r:embed="rId11"/>
          <a:stretch>
            <a:fillRect/>
          </a:stretch>
        </p:blipFill>
        <p:spPr>
          <a:xfrm>
            <a:off x="762000" y="3162300"/>
            <a:ext cx="190500" cy="266700"/>
          </a:xfrm>
          <a:prstGeom prst="rect">
            <a:avLst/>
          </a:prstGeom>
        </p:spPr>
      </p:pic>
      <p:pic>
        <p:nvPicPr>
          <p:cNvPr id="13" name="Image 11" descr="preencoded.png"/>
          <p:cNvPicPr>
            <a:picLocks noChangeAspect="1"/>
          </p:cNvPicPr>
          <p:nvPr/>
        </p:nvPicPr>
        <p:blipFill>
          <a:blip r:embed="rId12"/>
          <a:stretch>
            <a:fillRect/>
          </a:stretch>
        </p:blipFill>
        <p:spPr>
          <a:xfrm>
            <a:off x="6172200" y="2971800"/>
            <a:ext cx="5410200" cy="914400"/>
          </a:xfrm>
          <a:prstGeom prst="rect">
            <a:avLst/>
          </a:prstGeom>
        </p:spPr>
      </p:pic>
      <p:pic>
        <p:nvPicPr>
          <p:cNvPr id="14" name="Image 12" descr="preencoded.png"/>
          <p:cNvPicPr>
            <a:picLocks noChangeAspect="1"/>
          </p:cNvPicPr>
          <p:nvPr/>
        </p:nvPicPr>
        <p:blipFill>
          <a:blip r:embed="rId13"/>
          <a:stretch>
            <a:fillRect/>
          </a:stretch>
        </p:blipFill>
        <p:spPr>
          <a:xfrm>
            <a:off x="6324600" y="3162300"/>
            <a:ext cx="238125" cy="266700"/>
          </a:xfrm>
          <a:prstGeom prst="rect">
            <a:avLst/>
          </a:prstGeom>
        </p:spPr>
      </p:pic>
      <p:pic>
        <p:nvPicPr>
          <p:cNvPr id="15" name="Image 13" descr="preencoded.png"/>
          <p:cNvPicPr>
            <a:picLocks noChangeAspect="1"/>
          </p:cNvPicPr>
          <p:nvPr/>
        </p:nvPicPr>
        <p:blipFill>
          <a:blip r:embed="rId8"/>
          <a:stretch>
            <a:fillRect/>
          </a:stretch>
        </p:blipFill>
        <p:spPr>
          <a:xfrm>
            <a:off x="609600" y="4038600"/>
            <a:ext cx="5410200" cy="914400"/>
          </a:xfrm>
          <a:prstGeom prst="rect">
            <a:avLst/>
          </a:prstGeom>
        </p:spPr>
      </p:pic>
      <p:pic>
        <p:nvPicPr>
          <p:cNvPr id="16" name="Image 14" descr="preencoded.png"/>
          <p:cNvPicPr>
            <a:picLocks noChangeAspect="1"/>
          </p:cNvPicPr>
          <p:nvPr/>
        </p:nvPicPr>
        <p:blipFill>
          <a:blip r:embed="rId14"/>
          <a:stretch>
            <a:fillRect/>
          </a:stretch>
        </p:blipFill>
        <p:spPr>
          <a:xfrm>
            <a:off x="762000" y="4229100"/>
            <a:ext cx="238125" cy="266700"/>
          </a:xfrm>
          <a:prstGeom prst="rect">
            <a:avLst/>
          </a:prstGeom>
        </p:spPr>
      </p:pic>
      <p:pic>
        <p:nvPicPr>
          <p:cNvPr id="17" name="Image 15" descr="preencoded.png"/>
          <p:cNvPicPr>
            <a:picLocks noChangeAspect="1"/>
          </p:cNvPicPr>
          <p:nvPr/>
        </p:nvPicPr>
        <p:blipFill>
          <a:blip r:embed="rId8"/>
          <a:stretch>
            <a:fillRect/>
          </a:stretch>
        </p:blipFill>
        <p:spPr>
          <a:xfrm>
            <a:off x="6172200" y="4038600"/>
            <a:ext cx="5410200" cy="914400"/>
          </a:xfrm>
          <a:prstGeom prst="rect">
            <a:avLst/>
          </a:prstGeom>
        </p:spPr>
      </p:pic>
      <p:pic>
        <p:nvPicPr>
          <p:cNvPr id="18" name="Image 16" descr="preencoded.png"/>
          <p:cNvPicPr>
            <a:picLocks noChangeAspect="1"/>
          </p:cNvPicPr>
          <p:nvPr/>
        </p:nvPicPr>
        <p:blipFill>
          <a:blip r:embed="rId15"/>
          <a:stretch>
            <a:fillRect/>
          </a:stretch>
        </p:blipFill>
        <p:spPr>
          <a:xfrm>
            <a:off x="6324600" y="4229100"/>
            <a:ext cx="190500" cy="266700"/>
          </a:xfrm>
          <a:prstGeom prst="rect">
            <a:avLst/>
          </a:prstGeom>
        </p:spPr>
      </p:pic>
      <p:pic>
        <p:nvPicPr>
          <p:cNvPr id="19" name="Image 17" descr="preencoded.png"/>
          <p:cNvPicPr>
            <a:picLocks noChangeAspect="1"/>
          </p:cNvPicPr>
          <p:nvPr/>
        </p:nvPicPr>
        <p:blipFill>
          <a:blip r:embed="rId16"/>
          <a:stretch>
            <a:fillRect/>
          </a:stretch>
        </p:blipFill>
        <p:spPr>
          <a:xfrm>
            <a:off x="609600" y="5105400"/>
            <a:ext cx="5410200" cy="914400"/>
          </a:xfrm>
          <a:prstGeom prst="rect">
            <a:avLst/>
          </a:prstGeom>
        </p:spPr>
      </p:pic>
      <p:pic>
        <p:nvPicPr>
          <p:cNvPr id="20" name="Image 18" descr="preencoded.png"/>
          <p:cNvPicPr>
            <a:picLocks noChangeAspect="1"/>
          </p:cNvPicPr>
          <p:nvPr/>
        </p:nvPicPr>
        <p:blipFill>
          <a:blip r:embed="rId17"/>
          <a:stretch>
            <a:fillRect/>
          </a:stretch>
        </p:blipFill>
        <p:spPr>
          <a:xfrm>
            <a:off x="762000" y="5295900"/>
            <a:ext cx="190500" cy="266700"/>
          </a:xfrm>
          <a:prstGeom prst="rect">
            <a:avLst/>
          </a:prstGeom>
        </p:spPr>
      </p:pic>
      <p:pic>
        <p:nvPicPr>
          <p:cNvPr id="21" name="Image 19" descr="preencoded.png"/>
          <p:cNvPicPr>
            <a:picLocks noChangeAspect="1"/>
          </p:cNvPicPr>
          <p:nvPr/>
        </p:nvPicPr>
        <p:blipFill>
          <a:blip r:embed="rId16"/>
          <a:stretch>
            <a:fillRect/>
          </a:stretch>
        </p:blipFill>
        <p:spPr>
          <a:xfrm>
            <a:off x="6172200" y="5105400"/>
            <a:ext cx="5410200" cy="914400"/>
          </a:xfrm>
          <a:prstGeom prst="rect">
            <a:avLst/>
          </a:prstGeom>
        </p:spPr>
      </p:pic>
      <p:pic>
        <p:nvPicPr>
          <p:cNvPr id="22" name="Image 20" descr="preencoded.png"/>
          <p:cNvPicPr>
            <a:picLocks noChangeAspect="1"/>
          </p:cNvPicPr>
          <p:nvPr/>
        </p:nvPicPr>
        <p:blipFill>
          <a:blip r:embed="rId18"/>
          <a:stretch>
            <a:fillRect/>
          </a:stretch>
        </p:blipFill>
        <p:spPr>
          <a:xfrm>
            <a:off x="6324600" y="5295900"/>
            <a:ext cx="190500" cy="266700"/>
          </a:xfrm>
          <a:prstGeom prst="rect">
            <a:avLst/>
          </a:prstGeom>
        </p:spPr>
      </p:pic>
      <p:sp>
        <p:nvSpPr>
          <p:cNvPr id="23" name="Text 0"/>
          <p:cNvSpPr/>
          <p:nvPr/>
        </p:nvSpPr>
        <p:spPr>
          <a:xfrm>
            <a:off x="609600" y="457200"/>
            <a:ext cx="1316736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EC2-Hosted API vs AWS API Gateway</a:t>
            </a:r>
            <a:endParaRPr lang="en-US" sz="2700" dirty="0"/>
          </a:p>
        </p:txBody>
      </p:sp>
      <p:sp>
        <p:nvSpPr>
          <p:cNvPr id="24" name="Text 1"/>
          <p:cNvSpPr/>
          <p:nvPr/>
        </p:nvSpPr>
        <p:spPr>
          <a:xfrm>
            <a:off x="952500" y="1219200"/>
            <a:ext cx="2399228"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EC2-Hosted API</a:t>
            </a:r>
            <a:endParaRPr lang="en-US" sz="1800" dirty="0"/>
          </a:p>
        </p:txBody>
      </p:sp>
      <p:sp>
        <p:nvSpPr>
          <p:cNvPr id="25" name="Text 2"/>
          <p:cNvSpPr/>
          <p:nvPr/>
        </p:nvSpPr>
        <p:spPr>
          <a:xfrm>
            <a:off x="952500" y="1524000"/>
            <a:ext cx="49911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Manual Approach</a:t>
            </a:r>
            <a:endParaRPr lang="en-US" sz="1200" dirty="0"/>
          </a:p>
        </p:txBody>
      </p:sp>
      <p:sp>
        <p:nvSpPr>
          <p:cNvPr id="26" name="Text 3"/>
          <p:cNvSpPr/>
          <p:nvPr/>
        </p:nvSpPr>
        <p:spPr>
          <a:xfrm>
            <a:off x="6648450" y="1219200"/>
            <a:ext cx="2743021"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AWS API Gateway</a:t>
            </a:r>
            <a:endParaRPr lang="en-US" sz="1800" dirty="0"/>
          </a:p>
        </p:txBody>
      </p:sp>
      <p:sp>
        <p:nvSpPr>
          <p:cNvPr id="27" name="Text 4"/>
          <p:cNvSpPr/>
          <p:nvPr/>
        </p:nvSpPr>
        <p:spPr>
          <a:xfrm>
            <a:off x="6591300" y="1524000"/>
            <a:ext cx="49911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Managed Approach</a:t>
            </a:r>
            <a:endParaRPr lang="en-US" sz="1200" dirty="0"/>
          </a:p>
        </p:txBody>
      </p:sp>
      <p:sp>
        <p:nvSpPr>
          <p:cNvPr id="28" name="Text 5"/>
          <p:cNvSpPr/>
          <p:nvPr/>
        </p:nvSpPr>
        <p:spPr>
          <a:xfrm>
            <a:off x="1114425" y="2057400"/>
            <a:ext cx="57035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Infrastructure Provisioning</a:t>
            </a:r>
            <a:endParaRPr lang="en-US" sz="1200" dirty="0"/>
          </a:p>
        </p:txBody>
      </p:sp>
      <p:sp>
        <p:nvSpPr>
          <p:cNvPr id="29" name="Text 6"/>
          <p:cNvSpPr/>
          <p:nvPr/>
        </p:nvSpPr>
        <p:spPr>
          <a:xfrm>
            <a:off x="1114425" y="2286000"/>
            <a:ext cx="4752975"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Manually launching and configuring EC2 servers, including selecting instance types, operating systems, and network settings.</a:t>
            </a:r>
            <a:endParaRPr lang="en-US" sz="1050" dirty="0"/>
          </a:p>
        </p:txBody>
      </p:sp>
      <p:sp>
        <p:nvSpPr>
          <p:cNvPr id="30" name="Text 7"/>
          <p:cNvSpPr/>
          <p:nvPr/>
        </p:nvSpPr>
        <p:spPr>
          <a:xfrm>
            <a:off x="6677025" y="2057400"/>
            <a:ext cx="4752975"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Infrastructure Management</a:t>
            </a:r>
            <a:endParaRPr lang="en-US" sz="1200" dirty="0"/>
          </a:p>
        </p:txBody>
      </p:sp>
      <p:sp>
        <p:nvSpPr>
          <p:cNvPr id="31" name="Text 8"/>
          <p:cNvSpPr/>
          <p:nvPr/>
        </p:nvSpPr>
        <p:spPr>
          <a:xfrm>
            <a:off x="6677025" y="2286000"/>
            <a:ext cx="4752975"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AWS fully manages the underlying infrastructure, eliminating the need to provision, patch, or maintain servers.</a:t>
            </a:r>
            <a:endParaRPr lang="en-US" sz="1050" dirty="0"/>
          </a:p>
        </p:txBody>
      </p:sp>
      <p:sp>
        <p:nvSpPr>
          <p:cNvPr id="32" name="Text 9"/>
          <p:cNvSpPr/>
          <p:nvPr/>
        </p:nvSpPr>
        <p:spPr>
          <a:xfrm>
            <a:off x="1066800" y="31242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Web Server Installation</a:t>
            </a:r>
            <a:endParaRPr lang="en-US" sz="1200" dirty="0"/>
          </a:p>
        </p:txBody>
      </p:sp>
      <p:sp>
        <p:nvSpPr>
          <p:cNvPr id="33" name="Text 10"/>
          <p:cNvSpPr/>
          <p:nvPr/>
        </p:nvSpPr>
        <p:spPr>
          <a:xfrm>
            <a:off x="1066800" y="3352800"/>
            <a:ext cx="4800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Installing and configuring web server software (e.g., Nginx, Apache HTTP Server) to handle HTTP requests.</a:t>
            </a:r>
            <a:endParaRPr lang="en-US" sz="1050" dirty="0"/>
          </a:p>
        </p:txBody>
      </p:sp>
      <p:sp>
        <p:nvSpPr>
          <p:cNvPr id="34" name="Text 11"/>
          <p:cNvSpPr/>
          <p:nvPr/>
        </p:nvSpPr>
        <p:spPr>
          <a:xfrm>
            <a:off x="6677025" y="3124200"/>
            <a:ext cx="3939332"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No Server Management</a:t>
            </a:r>
            <a:endParaRPr lang="en-US" sz="1200" dirty="0"/>
          </a:p>
        </p:txBody>
      </p:sp>
      <p:sp>
        <p:nvSpPr>
          <p:cNvPr id="35" name="Text 12"/>
          <p:cNvSpPr/>
          <p:nvPr/>
        </p:nvSpPr>
        <p:spPr>
          <a:xfrm>
            <a:off x="6677025" y="3352800"/>
            <a:ext cx="4727198"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Serverless approach with no server management required.</a:t>
            </a:r>
            <a:endParaRPr lang="en-US" sz="1050" dirty="0"/>
          </a:p>
        </p:txBody>
      </p:sp>
      <p:sp>
        <p:nvSpPr>
          <p:cNvPr id="36" name="Text 13"/>
          <p:cNvSpPr/>
          <p:nvPr/>
        </p:nvSpPr>
        <p:spPr>
          <a:xfrm>
            <a:off x="1114425" y="4191000"/>
            <a:ext cx="4752975"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API Deployment</a:t>
            </a:r>
            <a:endParaRPr lang="en-US" sz="1200" dirty="0"/>
          </a:p>
        </p:txBody>
      </p:sp>
      <p:sp>
        <p:nvSpPr>
          <p:cNvPr id="37" name="Text 14"/>
          <p:cNvSpPr/>
          <p:nvPr/>
        </p:nvSpPr>
        <p:spPr>
          <a:xfrm>
            <a:off x="1114425" y="4419600"/>
            <a:ext cx="4752975"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Manually deploying the API code onto the EC2 instance, often requiring SSH access and file transfer protocols.</a:t>
            </a:r>
            <a:endParaRPr lang="en-US" sz="1050" dirty="0"/>
          </a:p>
        </p:txBody>
      </p:sp>
      <p:sp>
        <p:nvSpPr>
          <p:cNvPr id="38" name="Text 15"/>
          <p:cNvSpPr/>
          <p:nvPr/>
        </p:nvSpPr>
        <p:spPr>
          <a:xfrm>
            <a:off x="6629400" y="41910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Simplified Deployment</a:t>
            </a:r>
            <a:endParaRPr lang="en-US" sz="1200" dirty="0"/>
          </a:p>
        </p:txBody>
      </p:sp>
      <p:sp>
        <p:nvSpPr>
          <p:cNvPr id="39" name="Text 16"/>
          <p:cNvSpPr/>
          <p:nvPr/>
        </p:nvSpPr>
        <p:spPr>
          <a:xfrm>
            <a:off x="6629400" y="4419600"/>
            <a:ext cx="4800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Facilitates easy deployment and versioning of APIs through stages, allowing for controlled rollouts and quick rollbacks.</a:t>
            </a:r>
            <a:endParaRPr lang="en-US" sz="1050" dirty="0"/>
          </a:p>
        </p:txBody>
      </p:sp>
      <p:sp>
        <p:nvSpPr>
          <p:cNvPr id="40" name="Text 17"/>
          <p:cNvSpPr/>
          <p:nvPr/>
        </p:nvSpPr>
        <p:spPr>
          <a:xfrm>
            <a:off x="1066800" y="52578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Security Management</a:t>
            </a:r>
            <a:endParaRPr lang="en-US" sz="1200" dirty="0"/>
          </a:p>
        </p:txBody>
      </p:sp>
      <p:sp>
        <p:nvSpPr>
          <p:cNvPr id="41" name="Text 18"/>
          <p:cNvSpPr/>
          <p:nvPr/>
        </p:nvSpPr>
        <p:spPr>
          <a:xfrm>
            <a:off x="1066800" y="5486400"/>
            <a:ext cx="4800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Regularly applying security patches and updates to the operating system, web server, and API dependencies.</a:t>
            </a:r>
            <a:endParaRPr lang="en-US" sz="1050" dirty="0"/>
          </a:p>
        </p:txBody>
      </p:sp>
      <p:sp>
        <p:nvSpPr>
          <p:cNvPr id="42" name="Text 19"/>
          <p:cNvSpPr/>
          <p:nvPr/>
        </p:nvSpPr>
        <p:spPr>
          <a:xfrm>
            <a:off x="6629400" y="52578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Built-in Security</a:t>
            </a:r>
            <a:endParaRPr lang="en-US" sz="1200" dirty="0"/>
          </a:p>
        </p:txBody>
      </p:sp>
      <p:sp>
        <p:nvSpPr>
          <p:cNvPr id="43" name="Text 20"/>
          <p:cNvSpPr/>
          <p:nvPr/>
        </p:nvSpPr>
        <p:spPr>
          <a:xfrm>
            <a:off x="6629400" y="5486400"/>
            <a:ext cx="4800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Provides integrated security features such as IAM authentication, Lambda authorizers, Cognito user pools, and integration with AWS WAF.</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400800"/>
          </a:xfrm>
          <a:prstGeom prst="rect">
            <a:avLst/>
          </a:prstGeom>
        </p:spPr>
      </p:pic>
      <p:pic>
        <p:nvPicPr>
          <p:cNvPr id="3" name="Image 1" descr="preencoded.png"/>
          <p:cNvPicPr>
            <a:picLocks noChangeAspect="1"/>
          </p:cNvPicPr>
          <p:nvPr/>
        </p:nvPicPr>
        <p:blipFill>
          <a:blip r:embed="rId4"/>
          <a:stretch>
            <a:fillRect/>
          </a:stretch>
        </p:blipFill>
        <p:spPr>
          <a:xfrm>
            <a:off x="0" y="0"/>
            <a:ext cx="3048000" cy="609600"/>
          </a:xfrm>
          <a:prstGeom prst="rect">
            <a:avLst/>
          </a:prstGeom>
        </p:spPr>
      </p:pic>
      <p:pic>
        <p:nvPicPr>
          <p:cNvPr id="4" name="Image 2" descr="preencoded.png"/>
          <p:cNvPicPr>
            <a:picLocks noChangeAspect="1"/>
          </p:cNvPicPr>
          <p:nvPr/>
        </p:nvPicPr>
        <p:blipFill>
          <a:blip r:embed="rId5"/>
          <a:stretch>
            <a:fillRect/>
          </a:stretch>
        </p:blipFill>
        <p:spPr>
          <a:xfrm>
            <a:off x="0" y="0"/>
            <a:ext cx="2031950" cy="609600"/>
          </a:xfrm>
          <a:prstGeom prst="rect">
            <a:avLst/>
          </a:prstGeom>
        </p:spPr>
      </p:pic>
      <p:pic>
        <p:nvPicPr>
          <p:cNvPr id="5" name="Image 3" descr="preencoded.png"/>
          <p:cNvPicPr>
            <a:picLocks noChangeAspect="1"/>
          </p:cNvPicPr>
          <p:nvPr/>
        </p:nvPicPr>
        <p:blipFill>
          <a:blip r:embed="rId6"/>
          <a:stretch>
            <a:fillRect/>
          </a:stretch>
        </p:blipFill>
        <p:spPr>
          <a:xfrm>
            <a:off x="609600" y="1066800"/>
            <a:ext cx="3505200" cy="4914900"/>
          </a:xfrm>
          <a:prstGeom prst="rect">
            <a:avLst/>
          </a:prstGeom>
        </p:spPr>
      </p:pic>
      <p:pic>
        <p:nvPicPr>
          <p:cNvPr id="6" name="Image 4" descr="preencoded.png"/>
          <p:cNvPicPr>
            <a:picLocks noChangeAspect="1"/>
          </p:cNvPicPr>
          <p:nvPr/>
        </p:nvPicPr>
        <p:blipFill>
          <a:blip r:embed="rId7"/>
          <a:stretch>
            <a:fillRect/>
          </a:stretch>
        </p:blipFill>
        <p:spPr>
          <a:xfrm>
            <a:off x="838200" y="1295400"/>
            <a:ext cx="457200" cy="457200"/>
          </a:xfrm>
          <a:prstGeom prst="rect">
            <a:avLst/>
          </a:prstGeom>
        </p:spPr>
      </p:pic>
      <p:pic>
        <p:nvPicPr>
          <p:cNvPr id="7" name="Image 5" descr="preencoded.png"/>
          <p:cNvPicPr>
            <a:picLocks noChangeAspect="1"/>
          </p:cNvPicPr>
          <p:nvPr/>
        </p:nvPicPr>
        <p:blipFill>
          <a:blip r:embed="rId8"/>
          <a:stretch>
            <a:fillRect/>
          </a:stretch>
        </p:blipFill>
        <p:spPr>
          <a:xfrm>
            <a:off x="947737" y="1390650"/>
            <a:ext cx="238125" cy="266700"/>
          </a:xfrm>
          <a:prstGeom prst="rect">
            <a:avLst/>
          </a:prstGeom>
        </p:spPr>
      </p:pic>
      <p:pic>
        <p:nvPicPr>
          <p:cNvPr id="8" name="Image 6" descr="preencoded.png"/>
          <p:cNvPicPr>
            <a:picLocks noChangeAspect="1"/>
          </p:cNvPicPr>
          <p:nvPr/>
        </p:nvPicPr>
        <p:blipFill>
          <a:blip r:embed="rId9"/>
          <a:stretch>
            <a:fillRect/>
          </a:stretch>
        </p:blipFill>
        <p:spPr>
          <a:xfrm>
            <a:off x="838200" y="1943100"/>
            <a:ext cx="152400" cy="152400"/>
          </a:xfrm>
          <a:prstGeom prst="rect">
            <a:avLst/>
          </a:prstGeom>
        </p:spPr>
      </p:pic>
      <p:pic>
        <p:nvPicPr>
          <p:cNvPr id="9" name="Image 7" descr="preencoded.png"/>
          <p:cNvPicPr>
            <a:picLocks noChangeAspect="1"/>
          </p:cNvPicPr>
          <p:nvPr/>
        </p:nvPicPr>
        <p:blipFill>
          <a:blip r:embed="rId10"/>
          <a:stretch>
            <a:fillRect/>
          </a:stretch>
        </p:blipFill>
        <p:spPr>
          <a:xfrm>
            <a:off x="838200" y="2590800"/>
            <a:ext cx="152400" cy="152400"/>
          </a:xfrm>
          <a:prstGeom prst="rect">
            <a:avLst/>
          </a:prstGeom>
        </p:spPr>
      </p:pic>
      <p:pic>
        <p:nvPicPr>
          <p:cNvPr id="10" name="Image 8" descr="preencoded.png"/>
          <p:cNvPicPr>
            <a:picLocks noChangeAspect="1"/>
          </p:cNvPicPr>
          <p:nvPr/>
        </p:nvPicPr>
        <p:blipFill>
          <a:blip r:embed="rId11"/>
          <a:stretch>
            <a:fillRect/>
          </a:stretch>
        </p:blipFill>
        <p:spPr>
          <a:xfrm>
            <a:off x="838200" y="4152900"/>
            <a:ext cx="152400" cy="152400"/>
          </a:xfrm>
          <a:prstGeom prst="rect">
            <a:avLst/>
          </a:prstGeom>
        </p:spPr>
      </p:pic>
      <p:pic>
        <p:nvPicPr>
          <p:cNvPr id="11" name="Image 9" descr="preencoded.png"/>
          <p:cNvPicPr>
            <a:picLocks noChangeAspect="1"/>
          </p:cNvPicPr>
          <p:nvPr/>
        </p:nvPicPr>
        <p:blipFill>
          <a:blip r:embed="rId12"/>
          <a:stretch>
            <a:fillRect/>
          </a:stretch>
        </p:blipFill>
        <p:spPr>
          <a:xfrm>
            <a:off x="4343400" y="1066800"/>
            <a:ext cx="3505200" cy="4914900"/>
          </a:xfrm>
          <a:prstGeom prst="rect">
            <a:avLst/>
          </a:prstGeom>
        </p:spPr>
      </p:pic>
      <p:pic>
        <p:nvPicPr>
          <p:cNvPr id="12" name="Image 10" descr="preencoded.png"/>
          <p:cNvPicPr>
            <a:picLocks noChangeAspect="1"/>
          </p:cNvPicPr>
          <p:nvPr/>
        </p:nvPicPr>
        <p:blipFill>
          <a:blip r:embed="rId13"/>
          <a:stretch>
            <a:fillRect/>
          </a:stretch>
        </p:blipFill>
        <p:spPr>
          <a:xfrm>
            <a:off x="4572000" y="1295400"/>
            <a:ext cx="457200" cy="457200"/>
          </a:xfrm>
          <a:prstGeom prst="rect">
            <a:avLst/>
          </a:prstGeom>
        </p:spPr>
      </p:pic>
      <p:pic>
        <p:nvPicPr>
          <p:cNvPr id="13" name="Image 11" descr="preencoded.png"/>
          <p:cNvPicPr>
            <a:picLocks noChangeAspect="1"/>
          </p:cNvPicPr>
          <p:nvPr/>
        </p:nvPicPr>
        <p:blipFill>
          <a:blip r:embed="rId14"/>
          <a:stretch>
            <a:fillRect/>
          </a:stretch>
        </p:blipFill>
        <p:spPr>
          <a:xfrm>
            <a:off x="4681538" y="1390650"/>
            <a:ext cx="238125" cy="266700"/>
          </a:xfrm>
          <a:prstGeom prst="rect">
            <a:avLst/>
          </a:prstGeom>
        </p:spPr>
      </p:pic>
      <p:pic>
        <p:nvPicPr>
          <p:cNvPr id="14" name="Image 12" descr="preencoded.png"/>
          <p:cNvPicPr>
            <a:picLocks noChangeAspect="1"/>
          </p:cNvPicPr>
          <p:nvPr/>
        </p:nvPicPr>
        <p:blipFill>
          <a:blip r:embed="rId9"/>
          <a:stretch>
            <a:fillRect/>
          </a:stretch>
        </p:blipFill>
        <p:spPr>
          <a:xfrm>
            <a:off x="4572000" y="1943100"/>
            <a:ext cx="152400" cy="152400"/>
          </a:xfrm>
          <a:prstGeom prst="rect">
            <a:avLst/>
          </a:prstGeom>
        </p:spPr>
      </p:pic>
      <p:pic>
        <p:nvPicPr>
          <p:cNvPr id="15" name="Image 13" descr="preencoded.png"/>
          <p:cNvPicPr>
            <a:picLocks noChangeAspect="1"/>
          </p:cNvPicPr>
          <p:nvPr/>
        </p:nvPicPr>
        <p:blipFill>
          <a:blip r:embed="rId10"/>
          <a:stretch>
            <a:fillRect/>
          </a:stretch>
        </p:blipFill>
        <p:spPr>
          <a:xfrm>
            <a:off x="4572000" y="2590800"/>
            <a:ext cx="152400" cy="152400"/>
          </a:xfrm>
          <a:prstGeom prst="rect">
            <a:avLst/>
          </a:prstGeom>
        </p:spPr>
      </p:pic>
      <p:pic>
        <p:nvPicPr>
          <p:cNvPr id="16" name="Image 14" descr="preencoded.png"/>
          <p:cNvPicPr>
            <a:picLocks noChangeAspect="1"/>
          </p:cNvPicPr>
          <p:nvPr/>
        </p:nvPicPr>
        <p:blipFill>
          <a:blip r:embed="rId11"/>
          <a:stretch>
            <a:fillRect/>
          </a:stretch>
        </p:blipFill>
        <p:spPr>
          <a:xfrm>
            <a:off x="4572000" y="4381500"/>
            <a:ext cx="152400" cy="152400"/>
          </a:xfrm>
          <a:prstGeom prst="rect">
            <a:avLst/>
          </a:prstGeom>
        </p:spPr>
      </p:pic>
      <p:pic>
        <p:nvPicPr>
          <p:cNvPr id="17" name="Image 15" descr="preencoded.png"/>
          <p:cNvPicPr>
            <a:picLocks noChangeAspect="1"/>
          </p:cNvPicPr>
          <p:nvPr/>
        </p:nvPicPr>
        <p:blipFill>
          <a:blip r:embed="rId12"/>
          <a:stretch>
            <a:fillRect/>
          </a:stretch>
        </p:blipFill>
        <p:spPr>
          <a:xfrm>
            <a:off x="8077200" y="1066800"/>
            <a:ext cx="3505200" cy="4914900"/>
          </a:xfrm>
          <a:prstGeom prst="rect">
            <a:avLst/>
          </a:prstGeom>
        </p:spPr>
      </p:pic>
      <p:pic>
        <p:nvPicPr>
          <p:cNvPr id="18" name="Image 16" descr="preencoded.png"/>
          <p:cNvPicPr>
            <a:picLocks noChangeAspect="1"/>
          </p:cNvPicPr>
          <p:nvPr/>
        </p:nvPicPr>
        <p:blipFill>
          <a:blip r:embed="rId7"/>
          <a:stretch>
            <a:fillRect/>
          </a:stretch>
        </p:blipFill>
        <p:spPr>
          <a:xfrm>
            <a:off x="8305800" y="1295400"/>
            <a:ext cx="457200" cy="457200"/>
          </a:xfrm>
          <a:prstGeom prst="rect">
            <a:avLst/>
          </a:prstGeom>
        </p:spPr>
      </p:pic>
      <p:pic>
        <p:nvPicPr>
          <p:cNvPr id="19" name="Image 17" descr="preencoded.png"/>
          <p:cNvPicPr>
            <a:picLocks noChangeAspect="1"/>
          </p:cNvPicPr>
          <p:nvPr/>
        </p:nvPicPr>
        <p:blipFill>
          <a:blip r:embed="rId15"/>
          <a:stretch>
            <a:fillRect/>
          </a:stretch>
        </p:blipFill>
        <p:spPr>
          <a:xfrm>
            <a:off x="8415338" y="1390650"/>
            <a:ext cx="238125" cy="266700"/>
          </a:xfrm>
          <a:prstGeom prst="rect">
            <a:avLst/>
          </a:prstGeom>
        </p:spPr>
      </p:pic>
      <p:pic>
        <p:nvPicPr>
          <p:cNvPr id="20" name="Image 18" descr="preencoded.png"/>
          <p:cNvPicPr>
            <a:picLocks noChangeAspect="1"/>
          </p:cNvPicPr>
          <p:nvPr/>
        </p:nvPicPr>
        <p:blipFill>
          <a:blip r:embed="rId9"/>
          <a:stretch>
            <a:fillRect/>
          </a:stretch>
        </p:blipFill>
        <p:spPr>
          <a:xfrm>
            <a:off x="8305800" y="1943100"/>
            <a:ext cx="152400" cy="152400"/>
          </a:xfrm>
          <a:prstGeom prst="rect">
            <a:avLst/>
          </a:prstGeom>
        </p:spPr>
      </p:pic>
      <p:pic>
        <p:nvPicPr>
          <p:cNvPr id="21" name="Image 19" descr="preencoded.png"/>
          <p:cNvPicPr>
            <a:picLocks noChangeAspect="1"/>
          </p:cNvPicPr>
          <p:nvPr/>
        </p:nvPicPr>
        <p:blipFill>
          <a:blip r:embed="rId10"/>
          <a:stretch>
            <a:fillRect/>
          </a:stretch>
        </p:blipFill>
        <p:spPr>
          <a:xfrm>
            <a:off x="8305800" y="2590800"/>
            <a:ext cx="152400" cy="152400"/>
          </a:xfrm>
          <a:prstGeom prst="rect">
            <a:avLst/>
          </a:prstGeom>
        </p:spPr>
      </p:pic>
      <p:pic>
        <p:nvPicPr>
          <p:cNvPr id="22" name="Image 20" descr="preencoded.png"/>
          <p:cNvPicPr>
            <a:picLocks noChangeAspect="1"/>
          </p:cNvPicPr>
          <p:nvPr/>
        </p:nvPicPr>
        <p:blipFill>
          <a:blip r:embed="rId11"/>
          <a:stretch>
            <a:fillRect/>
          </a:stretch>
        </p:blipFill>
        <p:spPr>
          <a:xfrm>
            <a:off x="8305800" y="4381500"/>
            <a:ext cx="152400" cy="152400"/>
          </a:xfrm>
          <a:prstGeom prst="rect">
            <a:avLst/>
          </a:prstGeom>
        </p:spPr>
      </p:pic>
      <p:pic>
        <p:nvPicPr>
          <p:cNvPr id="24" name="Image 22" descr="preencoded.png"/>
          <p:cNvPicPr>
            <a:picLocks noChangeAspect="1"/>
          </p:cNvPicPr>
          <p:nvPr/>
        </p:nvPicPr>
        <p:blipFill>
          <a:blip r:embed="rId16"/>
          <a:stretch>
            <a:fillRect/>
          </a:stretch>
        </p:blipFill>
        <p:spPr>
          <a:xfrm>
            <a:off x="0" y="6096000"/>
            <a:ext cx="2031950" cy="152400"/>
          </a:xfrm>
          <a:prstGeom prst="rect">
            <a:avLst/>
          </a:prstGeom>
        </p:spPr>
      </p:pic>
      <p:pic>
        <p:nvPicPr>
          <p:cNvPr id="25" name="Image 23" descr="preencoded.png"/>
          <p:cNvPicPr>
            <a:picLocks noChangeAspect="1"/>
          </p:cNvPicPr>
          <p:nvPr/>
        </p:nvPicPr>
        <p:blipFill>
          <a:blip r:embed="rId17"/>
          <a:stretch>
            <a:fillRect/>
          </a:stretch>
        </p:blipFill>
        <p:spPr>
          <a:xfrm>
            <a:off x="0" y="6096000"/>
            <a:ext cx="3048000" cy="152400"/>
          </a:xfrm>
          <a:prstGeom prst="rect">
            <a:avLst/>
          </a:prstGeom>
        </p:spPr>
      </p:pic>
      <p:sp>
        <p:nvSpPr>
          <p:cNvPr id="26" name="Text 0"/>
          <p:cNvSpPr/>
          <p:nvPr/>
        </p:nvSpPr>
        <p:spPr>
          <a:xfrm>
            <a:off x="609600" y="457200"/>
            <a:ext cx="4812744"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Supported API Types</a:t>
            </a:r>
            <a:endParaRPr lang="en-US" sz="2700" dirty="0"/>
          </a:p>
        </p:txBody>
      </p:sp>
      <p:sp>
        <p:nvSpPr>
          <p:cNvPr id="27" name="Text 1"/>
          <p:cNvSpPr/>
          <p:nvPr/>
        </p:nvSpPr>
        <p:spPr>
          <a:xfrm>
            <a:off x="1447800" y="1371600"/>
            <a:ext cx="1557516"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REST APIs</a:t>
            </a:r>
            <a:endParaRPr lang="en-US" sz="1800" dirty="0"/>
          </a:p>
        </p:txBody>
      </p:sp>
      <p:sp>
        <p:nvSpPr>
          <p:cNvPr id="28" name="Text 2"/>
          <p:cNvSpPr/>
          <p:nvPr/>
        </p:nvSpPr>
        <p:spPr>
          <a:xfrm>
            <a:off x="1066800" y="1905000"/>
            <a:ext cx="798671"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Protocol:</a:t>
            </a:r>
            <a:endParaRPr lang="en-US" sz="1200" dirty="0"/>
          </a:p>
        </p:txBody>
      </p:sp>
      <p:sp>
        <p:nvSpPr>
          <p:cNvPr id="29" name="Text 3"/>
          <p:cNvSpPr/>
          <p:nvPr/>
        </p:nvSpPr>
        <p:spPr>
          <a:xfrm>
            <a:off x="1066800" y="2171700"/>
            <a:ext cx="28194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HTTP/HTTPS</a:t>
            </a:r>
            <a:endParaRPr lang="en-US" sz="1200" dirty="0"/>
          </a:p>
        </p:txBody>
      </p:sp>
      <p:sp>
        <p:nvSpPr>
          <p:cNvPr id="30" name="Text 4"/>
          <p:cNvSpPr/>
          <p:nvPr/>
        </p:nvSpPr>
        <p:spPr>
          <a:xfrm>
            <a:off x="1066800" y="2552700"/>
            <a:ext cx="181862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Key Characteristics:</a:t>
            </a:r>
            <a:endParaRPr lang="en-US" sz="1200" dirty="0"/>
          </a:p>
        </p:txBody>
      </p:sp>
      <p:sp>
        <p:nvSpPr>
          <p:cNvPr id="31" name="Text 5"/>
          <p:cNvSpPr/>
          <p:nvPr/>
        </p:nvSpPr>
        <p:spPr>
          <a:xfrm>
            <a:off x="1066800" y="28194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Feature-rich control</a:t>
            </a:r>
            <a:endParaRPr lang="en-US" sz="1200" dirty="0"/>
          </a:p>
        </p:txBody>
      </p:sp>
      <p:sp>
        <p:nvSpPr>
          <p:cNvPr id="32" name="Text 6"/>
          <p:cNvSpPr/>
          <p:nvPr/>
        </p:nvSpPr>
        <p:spPr>
          <a:xfrm>
            <a:off x="1066800" y="30480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Integration with AWS services</a:t>
            </a:r>
            <a:endParaRPr lang="en-US" sz="1200" dirty="0"/>
          </a:p>
        </p:txBody>
      </p:sp>
      <p:sp>
        <p:nvSpPr>
          <p:cNvPr id="33" name="Text 7"/>
          <p:cNvSpPr/>
          <p:nvPr/>
        </p:nvSpPr>
        <p:spPr>
          <a:xfrm>
            <a:off x="1066800" y="32766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IAM, Lambda authorizers</a:t>
            </a:r>
            <a:endParaRPr lang="en-US" sz="1200" dirty="0"/>
          </a:p>
        </p:txBody>
      </p:sp>
      <p:sp>
        <p:nvSpPr>
          <p:cNvPr id="34" name="Text 8"/>
          <p:cNvSpPr/>
          <p:nvPr/>
        </p:nvSpPr>
        <p:spPr>
          <a:xfrm>
            <a:off x="1066800" y="35052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Cognito User Pools</a:t>
            </a:r>
            <a:endParaRPr lang="en-US" sz="1200" dirty="0"/>
          </a:p>
        </p:txBody>
      </p:sp>
      <p:sp>
        <p:nvSpPr>
          <p:cNvPr id="35" name="Text 9"/>
          <p:cNvSpPr/>
          <p:nvPr/>
        </p:nvSpPr>
        <p:spPr>
          <a:xfrm>
            <a:off x="1066800" y="37338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API keys, WAF integration</a:t>
            </a:r>
            <a:endParaRPr lang="en-US" sz="1200" dirty="0"/>
          </a:p>
        </p:txBody>
      </p:sp>
      <p:sp>
        <p:nvSpPr>
          <p:cNvPr id="36" name="Text 10"/>
          <p:cNvSpPr/>
          <p:nvPr/>
        </p:nvSpPr>
        <p:spPr>
          <a:xfrm>
            <a:off x="1066800" y="4114800"/>
            <a:ext cx="176915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Primary Use Cases:</a:t>
            </a:r>
            <a:endParaRPr lang="en-US" sz="1200" dirty="0"/>
          </a:p>
        </p:txBody>
      </p:sp>
      <p:sp>
        <p:nvSpPr>
          <p:cNvPr id="37" name="Text 11"/>
          <p:cNvSpPr/>
          <p:nvPr/>
        </p:nvSpPr>
        <p:spPr>
          <a:xfrm>
            <a:off x="1066800" y="43815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Traditional web &amp; mobile apps</a:t>
            </a:r>
            <a:endParaRPr lang="en-US" sz="1200" dirty="0"/>
          </a:p>
        </p:txBody>
      </p:sp>
      <p:sp>
        <p:nvSpPr>
          <p:cNvPr id="38" name="Text 12"/>
          <p:cNvSpPr/>
          <p:nvPr/>
        </p:nvSpPr>
        <p:spPr>
          <a:xfrm>
            <a:off x="1066800" y="46101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Complex business logic</a:t>
            </a:r>
            <a:endParaRPr lang="en-US" sz="1200" dirty="0"/>
          </a:p>
        </p:txBody>
      </p:sp>
      <p:sp>
        <p:nvSpPr>
          <p:cNvPr id="39" name="Text 13"/>
          <p:cNvSpPr/>
          <p:nvPr/>
        </p:nvSpPr>
        <p:spPr>
          <a:xfrm>
            <a:off x="1066800" y="4838700"/>
            <a:ext cx="28194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Integration with various AWS services</a:t>
            </a:r>
            <a:endParaRPr lang="en-US" sz="1200" dirty="0"/>
          </a:p>
        </p:txBody>
      </p:sp>
      <p:sp>
        <p:nvSpPr>
          <p:cNvPr id="40" name="Text 14"/>
          <p:cNvSpPr/>
          <p:nvPr/>
        </p:nvSpPr>
        <p:spPr>
          <a:xfrm>
            <a:off x="5181600" y="1371600"/>
            <a:ext cx="1585377"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HTTP APIs</a:t>
            </a:r>
            <a:endParaRPr lang="en-US" sz="1800" dirty="0"/>
          </a:p>
        </p:txBody>
      </p:sp>
      <p:sp>
        <p:nvSpPr>
          <p:cNvPr id="41" name="Text 15"/>
          <p:cNvSpPr/>
          <p:nvPr/>
        </p:nvSpPr>
        <p:spPr>
          <a:xfrm>
            <a:off x="4800600" y="1905000"/>
            <a:ext cx="798671"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Protocol:</a:t>
            </a:r>
            <a:endParaRPr lang="en-US" sz="1200" dirty="0"/>
          </a:p>
        </p:txBody>
      </p:sp>
      <p:sp>
        <p:nvSpPr>
          <p:cNvPr id="42" name="Text 16"/>
          <p:cNvSpPr/>
          <p:nvPr/>
        </p:nvSpPr>
        <p:spPr>
          <a:xfrm>
            <a:off x="4800600" y="2171700"/>
            <a:ext cx="28194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HTTP/HTTPS</a:t>
            </a:r>
            <a:endParaRPr lang="en-US" sz="1200" dirty="0"/>
          </a:p>
        </p:txBody>
      </p:sp>
      <p:sp>
        <p:nvSpPr>
          <p:cNvPr id="43" name="Text 17"/>
          <p:cNvSpPr/>
          <p:nvPr/>
        </p:nvSpPr>
        <p:spPr>
          <a:xfrm>
            <a:off x="4800600" y="2552700"/>
            <a:ext cx="181862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Key Characteristics:</a:t>
            </a:r>
            <a:endParaRPr lang="en-US" sz="1200" dirty="0"/>
          </a:p>
        </p:txBody>
      </p:sp>
      <p:sp>
        <p:nvSpPr>
          <p:cNvPr id="44" name="Text 18"/>
          <p:cNvSpPr/>
          <p:nvPr/>
        </p:nvSpPr>
        <p:spPr>
          <a:xfrm>
            <a:off x="4800600" y="28194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Lightweight, cost-efficient</a:t>
            </a:r>
            <a:endParaRPr lang="en-US" sz="1200" dirty="0"/>
          </a:p>
        </p:txBody>
      </p:sp>
      <p:sp>
        <p:nvSpPr>
          <p:cNvPr id="45" name="Text 19"/>
          <p:cNvSpPr/>
          <p:nvPr/>
        </p:nvSpPr>
        <p:spPr>
          <a:xfrm>
            <a:off x="4800600" y="30480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Simple to create &amp; maintain</a:t>
            </a:r>
            <a:endParaRPr lang="en-US" sz="1200" dirty="0"/>
          </a:p>
        </p:txBody>
      </p:sp>
      <p:sp>
        <p:nvSpPr>
          <p:cNvPr id="46" name="Text 20"/>
          <p:cNvSpPr/>
          <p:nvPr/>
        </p:nvSpPr>
        <p:spPr>
          <a:xfrm>
            <a:off x="4800600" y="32766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IAM, Lambda authorizers</a:t>
            </a:r>
            <a:endParaRPr lang="en-US" sz="1200" dirty="0"/>
          </a:p>
        </p:txBody>
      </p:sp>
      <p:sp>
        <p:nvSpPr>
          <p:cNvPr id="47" name="Text 21"/>
          <p:cNvSpPr/>
          <p:nvPr/>
        </p:nvSpPr>
        <p:spPr>
          <a:xfrm>
            <a:off x="4800600" y="35052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Cognito User Pools</a:t>
            </a:r>
            <a:endParaRPr lang="en-US" sz="1200" dirty="0"/>
          </a:p>
        </p:txBody>
      </p:sp>
      <p:sp>
        <p:nvSpPr>
          <p:cNvPr id="48" name="Text 22"/>
          <p:cNvSpPr/>
          <p:nvPr/>
        </p:nvSpPr>
        <p:spPr>
          <a:xfrm>
            <a:off x="4800600" y="37338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API keys, WAF integration</a:t>
            </a:r>
            <a:endParaRPr lang="en-US" sz="1200" dirty="0"/>
          </a:p>
        </p:txBody>
      </p:sp>
      <p:sp>
        <p:nvSpPr>
          <p:cNvPr id="49" name="Text 23"/>
          <p:cNvSpPr/>
          <p:nvPr/>
        </p:nvSpPr>
        <p:spPr>
          <a:xfrm>
            <a:off x="4800600" y="39624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OAuth 2.0 and OIDC</a:t>
            </a:r>
            <a:endParaRPr lang="en-US" sz="1200" dirty="0"/>
          </a:p>
        </p:txBody>
      </p:sp>
      <p:sp>
        <p:nvSpPr>
          <p:cNvPr id="50" name="Text 24"/>
          <p:cNvSpPr/>
          <p:nvPr/>
        </p:nvSpPr>
        <p:spPr>
          <a:xfrm>
            <a:off x="4800600" y="4343400"/>
            <a:ext cx="176915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Primary Use Cases:</a:t>
            </a:r>
            <a:endParaRPr lang="en-US" sz="1200" dirty="0"/>
          </a:p>
        </p:txBody>
      </p:sp>
      <p:sp>
        <p:nvSpPr>
          <p:cNvPr id="51" name="Text 25"/>
          <p:cNvSpPr/>
          <p:nvPr/>
        </p:nvSpPr>
        <p:spPr>
          <a:xfrm>
            <a:off x="4800600" y="46101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Simple web &amp; mobile apps</a:t>
            </a:r>
            <a:endParaRPr lang="en-US" sz="1200" dirty="0"/>
          </a:p>
        </p:txBody>
      </p:sp>
      <p:sp>
        <p:nvSpPr>
          <p:cNvPr id="52" name="Text 26"/>
          <p:cNvSpPr/>
          <p:nvPr/>
        </p:nvSpPr>
        <p:spPr>
          <a:xfrm>
            <a:off x="4800600" y="4838700"/>
            <a:ext cx="28194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Microservices</a:t>
            </a:r>
            <a:endParaRPr lang="en-US" sz="1200" dirty="0"/>
          </a:p>
        </p:txBody>
      </p:sp>
      <p:sp>
        <p:nvSpPr>
          <p:cNvPr id="53" name="Text 27"/>
          <p:cNvSpPr/>
          <p:nvPr/>
        </p:nvSpPr>
        <p:spPr>
          <a:xfrm>
            <a:off x="4800600" y="50673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Serverless applications</a:t>
            </a:r>
            <a:endParaRPr lang="en-US" sz="1200" dirty="0"/>
          </a:p>
        </p:txBody>
      </p:sp>
      <p:sp>
        <p:nvSpPr>
          <p:cNvPr id="54" name="Text 28"/>
          <p:cNvSpPr/>
          <p:nvPr/>
        </p:nvSpPr>
        <p:spPr>
          <a:xfrm>
            <a:off x="8915400" y="1371600"/>
            <a:ext cx="2490311"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WebSocket APIs</a:t>
            </a:r>
            <a:endParaRPr lang="en-US" sz="1800" dirty="0"/>
          </a:p>
        </p:txBody>
      </p:sp>
      <p:sp>
        <p:nvSpPr>
          <p:cNvPr id="55" name="Text 29"/>
          <p:cNvSpPr/>
          <p:nvPr/>
        </p:nvSpPr>
        <p:spPr>
          <a:xfrm>
            <a:off x="8534400" y="1905000"/>
            <a:ext cx="798671"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Protocol:</a:t>
            </a:r>
            <a:endParaRPr lang="en-US" sz="1200" dirty="0"/>
          </a:p>
        </p:txBody>
      </p:sp>
      <p:sp>
        <p:nvSpPr>
          <p:cNvPr id="56" name="Text 30"/>
          <p:cNvSpPr/>
          <p:nvPr/>
        </p:nvSpPr>
        <p:spPr>
          <a:xfrm>
            <a:off x="8534400" y="2171700"/>
            <a:ext cx="28194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WebSocket</a:t>
            </a:r>
            <a:endParaRPr lang="en-US" sz="1200" dirty="0"/>
          </a:p>
        </p:txBody>
      </p:sp>
      <p:sp>
        <p:nvSpPr>
          <p:cNvPr id="57" name="Text 31"/>
          <p:cNvSpPr/>
          <p:nvPr/>
        </p:nvSpPr>
        <p:spPr>
          <a:xfrm>
            <a:off x="8534400" y="2552700"/>
            <a:ext cx="181862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Key Characteristics:</a:t>
            </a:r>
            <a:endParaRPr lang="en-US" sz="1200" dirty="0"/>
          </a:p>
        </p:txBody>
      </p:sp>
      <p:sp>
        <p:nvSpPr>
          <p:cNvPr id="58" name="Text 32"/>
          <p:cNvSpPr/>
          <p:nvPr/>
        </p:nvSpPr>
        <p:spPr>
          <a:xfrm>
            <a:off x="8534400" y="2819400"/>
            <a:ext cx="28194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Real-time, bidirectional communication</a:t>
            </a:r>
            <a:endParaRPr lang="en-US" sz="1200" dirty="0"/>
          </a:p>
        </p:txBody>
      </p:sp>
      <p:sp>
        <p:nvSpPr>
          <p:cNvPr id="59" name="Text 33"/>
          <p:cNvSpPr/>
          <p:nvPr/>
        </p:nvSpPr>
        <p:spPr>
          <a:xfrm>
            <a:off x="8534400" y="30861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Stateful connections</a:t>
            </a:r>
            <a:endParaRPr lang="en-US" sz="1200" dirty="0"/>
          </a:p>
        </p:txBody>
      </p:sp>
      <p:sp>
        <p:nvSpPr>
          <p:cNvPr id="60" name="Text 34"/>
          <p:cNvSpPr/>
          <p:nvPr/>
        </p:nvSpPr>
        <p:spPr>
          <a:xfrm>
            <a:off x="8534400" y="3339853"/>
            <a:ext cx="28194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Efficient for persistent connections</a:t>
            </a:r>
            <a:endParaRPr lang="en-US" sz="1200" dirty="0"/>
          </a:p>
        </p:txBody>
      </p:sp>
      <p:sp>
        <p:nvSpPr>
          <p:cNvPr id="61" name="Text 35"/>
          <p:cNvSpPr/>
          <p:nvPr/>
        </p:nvSpPr>
        <p:spPr>
          <a:xfrm>
            <a:off x="8534400" y="3598045"/>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Full-duplex communication</a:t>
            </a:r>
            <a:endParaRPr lang="en-US" sz="1200" dirty="0"/>
          </a:p>
        </p:txBody>
      </p:sp>
      <p:sp>
        <p:nvSpPr>
          <p:cNvPr id="62" name="Text 36"/>
          <p:cNvSpPr/>
          <p:nvPr/>
        </p:nvSpPr>
        <p:spPr>
          <a:xfrm>
            <a:off x="8534400" y="4343400"/>
            <a:ext cx="176915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Primary Use Cases:</a:t>
            </a:r>
            <a:endParaRPr lang="en-US" sz="1200" dirty="0"/>
          </a:p>
        </p:txBody>
      </p:sp>
      <p:sp>
        <p:nvSpPr>
          <p:cNvPr id="63" name="Text 37"/>
          <p:cNvSpPr/>
          <p:nvPr/>
        </p:nvSpPr>
        <p:spPr>
          <a:xfrm>
            <a:off x="8534400" y="46101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Live chat applications</a:t>
            </a:r>
            <a:endParaRPr lang="en-US" sz="1200" dirty="0"/>
          </a:p>
        </p:txBody>
      </p:sp>
      <p:sp>
        <p:nvSpPr>
          <p:cNvPr id="64" name="Text 38"/>
          <p:cNvSpPr/>
          <p:nvPr/>
        </p:nvSpPr>
        <p:spPr>
          <a:xfrm>
            <a:off x="8534400" y="48387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Real-time dashboards</a:t>
            </a:r>
            <a:endParaRPr lang="en-US" sz="1200" dirty="0"/>
          </a:p>
        </p:txBody>
      </p:sp>
      <p:sp>
        <p:nvSpPr>
          <p:cNvPr id="65" name="Text 39"/>
          <p:cNvSpPr/>
          <p:nvPr/>
        </p:nvSpPr>
        <p:spPr>
          <a:xfrm>
            <a:off x="8534400" y="5067300"/>
            <a:ext cx="3383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Notification systems</a:t>
            </a:r>
            <a:endParaRPr lang="en-US" sz="1200" dirty="0"/>
          </a:p>
        </p:txBody>
      </p:sp>
      <p:sp>
        <p:nvSpPr>
          <p:cNvPr id="66" name="Text 40"/>
          <p:cNvSpPr/>
          <p:nvPr/>
        </p:nvSpPr>
        <p:spPr>
          <a:xfrm>
            <a:off x="8534400" y="5295900"/>
            <a:ext cx="28194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Gaming, collaborative applications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952500"/>
            <a:ext cx="3657600" cy="38100"/>
          </a:xfrm>
          <a:prstGeom prst="rect">
            <a:avLst/>
          </a:prstGeom>
        </p:spPr>
      </p:pic>
      <p:pic>
        <p:nvPicPr>
          <p:cNvPr id="5" name="Image 3" descr="preencoded.png"/>
          <p:cNvPicPr>
            <a:picLocks noChangeAspect="1"/>
          </p:cNvPicPr>
          <p:nvPr/>
        </p:nvPicPr>
        <p:blipFill>
          <a:blip r:embed="rId6"/>
          <a:stretch>
            <a:fillRect/>
          </a:stretch>
        </p:blipFill>
        <p:spPr>
          <a:xfrm>
            <a:off x="609600" y="1981200"/>
            <a:ext cx="2628900" cy="1181100"/>
          </a:xfrm>
          <a:prstGeom prst="rect">
            <a:avLst/>
          </a:prstGeom>
        </p:spPr>
      </p:pic>
      <p:pic>
        <p:nvPicPr>
          <p:cNvPr id="6" name="Image 4" descr="preencoded.png"/>
          <p:cNvPicPr>
            <a:picLocks noChangeAspect="1"/>
          </p:cNvPicPr>
          <p:nvPr/>
        </p:nvPicPr>
        <p:blipFill>
          <a:blip r:embed="rId7"/>
          <a:stretch>
            <a:fillRect/>
          </a:stretch>
        </p:blipFill>
        <p:spPr>
          <a:xfrm>
            <a:off x="762000" y="2133600"/>
            <a:ext cx="381000" cy="381000"/>
          </a:xfrm>
          <a:prstGeom prst="rect">
            <a:avLst/>
          </a:prstGeom>
        </p:spPr>
      </p:pic>
      <p:pic>
        <p:nvPicPr>
          <p:cNvPr id="7" name="Image 5" descr="preencoded.png"/>
          <p:cNvPicPr>
            <a:picLocks noChangeAspect="1"/>
          </p:cNvPicPr>
          <p:nvPr/>
        </p:nvPicPr>
        <p:blipFill>
          <a:blip r:embed="rId8"/>
          <a:stretch>
            <a:fillRect/>
          </a:stretch>
        </p:blipFill>
        <p:spPr>
          <a:xfrm>
            <a:off x="876300" y="2247900"/>
            <a:ext cx="152400" cy="152400"/>
          </a:xfrm>
          <a:prstGeom prst="rect">
            <a:avLst/>
          </a:prstGeom>
        </p:spPr>
      </p:pic>
      <p:pic>
        <p:nvPicPr>
          <p:cNvPr id="8" name="Image 6" descr="preencoded.png"/>
          <p:cNvPicPr>
            <a:picLocks noChangeAspect="1"/>
          </p:cNvPicPr>
          <p:nvPr/>
        </p:nvPicPr>
        <p:blipFill>
          <a:blip r:embed="rId9"/>
          <a:stretch>
            <a:fillRect/>
          </a:stretch>
        </p:blipFill>
        <p:spPr>
          <a:xfrm>
            <a:off x="3390900" y="1981200"/>
            <a:ext cx="2628900" cy="1181100"/>
          </a:xfrm>
          <a:prstGeom prst="rect">
            <a:avLst/>
          </a:prstGeom>
        </p:spPr>
      </p:pic>
      <p:pic>
        <p:nvPicPr>
          <p:cNvPr id="9" name="Image 7" descr="preencoded.png"/>
          <p:cNvPicPr>
            <a:picLocks noChangeAspect="1"/>
          </p:cNvPicPr>
          <p:nvPr/>
        </p:nvPicPr>
        <p:blipFill>
          <a:blip r:embed="rId10"/>
          <a:stretch>
            <a:fillRect/>
          </a:stretch>
        </p:blipFill>
        <p:spPr>
          <a:xfrm>
            <a:off x="3543300" y="2133600"/>
            <a:ext cx="381000" cy="381000"/>
          </a:xfrm>
          <a:prstGeom prst="rect">
            <a:avLst/>
          </a:prstGeom>
        </p:spPr>
      </p:pic>
      <p:pic>
        <p:nvPicPr>
          <p:cNvPr id="10" name="Image 8" descr="preencoded.png"/>
          <p:cNvPicPr>
            <a:picLocks noChangeAspect="1"/>
          </p:cNvPicPr>
          <p:nvPr/>
        </p:nvPicPr>
        <p:blipFill>
          <a:blip r:embed="rId11"/>
          <a:stretch>
            <a:fillRect/>
          </a:stretch>
        </p:blipFill>
        <p:spPr>
          <a:xfrm>
            <a:off x="3662362" y="2247900"/>
            <a:ext cx="142875" cy="152400"/>
          </a:xfrm>
          <a:prstGeom prst="rect">
            <a:avLst/>
          </a:prstGeom>
        </p:spPr>
      </p:pic>
      <p:pic>
        <p:nvPicPr>
          <p:cNvPr id="11" name="Image 9" descr="preencoded.png"/>
          <p:cNvPicPr>
            <a:picLocks noChangeAspect="1"/>
          </p:cNvPicPr>
          <p:nvPr/>
        </p:nvPicPr>
        <p:blipFill>
          <a:blip r:embed="rId9"/>
          <a:stretch>
            <a:fillRect/>
          </a:stretch>
        </p:blipFill>
        <p:spPr>
          <a:xfrm>
            <a:off x="6172200" y="1981200"/>
            <a:ext cx="2628900" cy="1181100"/>
          </a:xfrm>
          <a:prstGeom prst="rect">
            <a:avLst/>
          </a:prstGeom>
        </p:spPr>
      </p:pic>
      <p:pic>
        <p:nvPicPr>
          <p:cNvPr id="12" name="Image 10" descr="preencoded.png"/>
          <p:cNvPicPr>
            <a:picLocks noChangeAspect="1"/>
          </p:cNvPicPr>
          <p:nvPr/>
        </p:nvPicPr>
        <p:blipFill>
          <a:blip r:embed="rId12"/>
          <a:stretch>
            <a:fillRect/>
          </a:stretch>
        </p:blipFill>
        <p:spPr>
          <a:xfrm>
            <a:off x="6324600" y="2133600"/>
            <a:ext cx="381000" cy="381000"/>
          </a:xfrm>
          <a:prstGeom prst="rect">
            <a:avLst/>
          </a:prstGeom>
        </p:spPr>
      </p:pic>
      <p:pic>
        <p:nvPicPr>
          <p:cNvPr id="13" name="Image 11" descr="preencoded.png"/>
          <p:cNvPicPr>
            <a:picLocks noChangeAspect="1"/>
          </p:cNvPicPr>
          <p:nvPr/>
        </p:nvPicPr>
        <p:blipFill>
          <a:blip r:embed="rId13"/>
          <a:stretch>
            <a:fillRect/>
          </a:stretch>
        </p:blipFill>
        <p:spPr>
          <a:xfrm>
            <a:off x="6438900" y="2247900"/>
            <a:ext cx="152400" cy="152400"/>
          </a:xfrm>
          <a:prstGeom prst="rect">
            <a:avLst/>
          </a:prstGeom>
        </p:spPr>
      </p:pic>
      <p:pic>
        <p:nvPicPr>
          <p:cNvPr id="14" name="Image 12" descr="preencoded.png"/>
          <p:cNvPicPr>
            <a:picLocks noChangeAspect="1"/>
          </p:cNvPicPr>
          <p:nvPr/>
        </p:nvPicPr>
        <p:blipFill>
          <a:blip r:embed="rId9"/>
          <a:stretch>
            <a:fillRect/>
          </a:stretch>
        </p:blipFill>
        <p:spPr>
          <a:xfrm>
            <a:off x="8953500" y="1981200"/>
            <a:ext cx="2628900" cy="1181100"/>
          </a:xfrm>
          <a:prstGeom prst="rect">
            <a:avLst/>
          </a:prstGeom>
        </p:spPr>
      </p:pic>
      <p:pic>
        <p:nvPicPr>
          <p:cNvPr id="15" name="Image 13" descr="preencoded.png"/>
          <p:cNvPicPr>
            <a:picLocks noChangeAspect="1"/>
          </p:cNvPicPr>
          <p:nvPr/>
        </p:nvPicPr>
        <p:blipFill>
          <a:blip r:embed="rId14"/>
          <a:stretch>
            <a:fillRect/>
          </a:stretch>
        </p:blipFill>
        <p:spPr>
          <a:xfrm>
            <a:off x="9105900" y="2133600"/>
            <a:ext cx="381000" cy="381000"/>
          </a:xfrm>
          <a:prstGeom prst="rect">
            <a:avLst/>
          </a:prstGeom>
        </p:spPr>
      </p:pic>
      <p:pic>
        <p:nvPicPr>
          <p:cNvPr id="16" name="Image 14" descr="preencoded.png"/>
          <p:cNvPicPr>
            <a:picLocks noChangeAspect="1"/>
          </p:cNvPicPr>
          <p:nvPr/>
        </p:nvPicPr>
        <p:blipFill>
          <a:blip r:embed="rId15"/>
          <a:stretch>
            <a:fillRect/>
          </a:stretch>
        </p:blipFill>
        <p:spPr>
          <a:xfrm>
            <a:off x="9220200" y="2247900"/>
            <a:ext cx="152400" cy="152400"/>
          </a:xfrm>
          <a:prstGeom prst="rect">
            <a:avLst/>
          </a:prstGeom>
        </p:spPr>
      </p:pic>
      <p:pic>
        <p:nvPicPr>
          <p:cNvPr id="17" name="Image 15" descr="preencoded.png"/>
          <p:cNvPicPr>
            <a:picLocks noChangeAspect="1"/>
          </p:cNvPicPr>
          <p:nvPr/>
        </p:nvPicPr>
        <p:blipFill>
          <a:blip r:embed="rId16"/>
          <a:stretch>
            <a:fillRect/>
          </a:stretch>
        </p:blipFill>
        <p:spPr>
          <a:xfrm>
            <a:off x="609600" y="3314700"/>
            <a:ext cx="2628900" cy="1371600"/>
          </a:xfrm>
          <a:prstGeom prst="rect">
            <a:avLst/>
          </a:prstGeom>
        </p:spPr>
      </p:pic>
      <p:pic>
        <p:nvPicPr>
          <p:cNvPr id="18" name="Image 16" descr="preencoded.png"/>
          <p:cNvPicPr>
            <a:picLocks noChangeAspect="1"/>
          </p:cNvPicPr>
          <p:nvPr/>
        </p:nvPicPr>
        <p:blipFill>
          <a:blip r:embed="rId17"/>
          <a:stretch>
            <a:fillRect/>
          </a:stretch>
        </p:blipFill>
        <p:spPr>
          <a:xfrm>
            <a:off x="762000" y="3467100"/>
            <a:ext cx="381000" cy="381000"/>
          </a:xfrm>
          <a:prstGeom prst="rect">
            <a:avLst/>
          </a:prstGeom>
        </p:spPr>
      </p:pic>
      <p:pic>
        <p:nvPicPr>
          <p:cNvPr id="19" name="Image 17" descr="preencoded.png"/>
          <p:cNvPicPr>
            <a:picLocks noChangeAspect="1"/>
          </p:cNvPicPr>
          <p:nvPr/>
        </p:nvPicPr>
        <p:blipFill>
          <a:blip r:embed="rId18"/>
          <a:stretch>
            <a:fillRect/>
          </a:stretch>
        </p:blipFill>
        <p:spPr>
          <a:xfrm>
            <a:off x="885825" y="3581400"/>
            <a:ext cx="133350" cy="152400"/>
          </a:xfrm>
          <a:prstGeom prst="rect">
            <a:avLst/>
          </a:prstGeom>
        </p:spPr>
      </p:pic>
      <p:pic>
        <p:nvPicPr>
          <p:cNvPr id="20" name="Image 18" descr="preencoded.png"/>
          <p:cNvPicPr>
            <a:picLocks noChangeAspect="1"/>
          </p:cNvPicPr>
          <p:nvPr/>
        </p:nvPicPr>
        <p:blipFill>
          <a:blip r:embed="rId19"/>
          <a:stretch>
            <a:fillRect/>
          </a:stretch>
        </p:blipFill>
        <p:spPr>
          <a:xfrm>
            <a:off x="3390900" y="3314700"/>
            <a:ext cx="2628900" cy="1371600"/>
          </a:xfrm>
          <a:prstGeom prst="rect">
            <a:avLst/>
          </a:prstGeom>
        </p:spPr>
      </p:pic>
      <p:pic>
        <p:nvPicPr>
          <p:cNvPr id="21" name="Image 19" descr="preencoded.png"/>
          <p:cNvPicPr>
            <a:picLocks noChangeAspect="1"/>
          </p:cNvPicPr>
          <p:nvPr/>
        </p:nvPicPr>
        <p:blipFill>
          <a:blip r:embed="rId20"/>
          <a:stretch>
            <a:fillRect/>
          </a:stretch>
        </p:blipFill>
        <p:spPr>
          <a:xfrm>
            <a:off x="3543300" y="3467100"/>
            <a:ext cx="381000" cy="381000"/>
          </a:xfrm>
          <a:prstGeom prst="rect">
            <a:avLst/>
          </a:prstGeom>
        </p:spPr>
      </p:pic>
      <p:pic>
        <p:nvPicPr>
          <p:cNvPr id="22" name="Image 20" descr="preencoded.png"/>
          <p:cNvPicPr>
            <a:picLocks noChangeAspect="1"/>
          </p:cNvPicPr>
          <p:nvPr/>
        </p:nvPicPr>
        <p:blipFill>
          <a:blip r:embed="rId21"/>
          <a:stretch>
            <a:fillRect/>
          </a:stretch>
        </p:blipFill>
        <p:spPr>
          <a:xfrm>
            <a:off x="3667125" y="3581400"/>
            <a:ext cx="133350" cy="152400"/>
          </a:xfrm>
          <a:prstGeom prst="rect">
            <a:avLst/>
          </a:prstGeom>
        </p:spPr>
      </p:pic>
      <p:pic>
        <p:nvPicPr>
          <p:cNvPr id="23" name="Image 21" descr="preencoded.png"/>
          <p:cNvPicPr>
            <a:picLocks noChangeAspect="1"/>
          </p:cNvPicPr>
          <p:nvPr/>
        </p:nvPicPr>
        <p:blipFill>
          <a:blip r:embed="rId22"/>
          <a:stretch>
            <a:fillRect/>
          </a:stretch>
        </p:blipFill>
        <p:spPr>
          <a:xfrm>
            <a:off x="6172200" y="3314700"/>
            <a:ext cx="2628900" cy="1371600"/>
          </a:xfrm>
          <a:prstGeom prst="rect">
            <a:avLst/>
          </a:prstGeom>
        </p:spPr>
      </p:pic>
      <p:pic>
        <p:nvPicPr>
          <p:cNvPr id="24" name="Image 22" descr="preencoded.png"/>
          <p:cNvPicPr>
            <a:picLocks noChangeAspect="1"/>
          </p:cNvPicPr>
          <p:nvPr/>
        </p:nvPicPr>
        <p:blipFill>
          <a:blip r:embed="rId23"/>
          <a:stretch>
            <a:fillRect/>
          </a:stretch>
        </p:blipFill>
        <p:spPr>
          <a:xfrm>
            <a:off x="6324600" y="3467100"/>
            <a:ext cx="381000" cy="381000"/>
          </a:xfrm>
          <a:prstGeom prst="rect">
            <a:avLst/>
          </a:prstGeom>
        </p:spPr>
      </p:pic>
      <p:pic>
        <p:nvPicPr>
          <p:cNvPr id="25" name="Image 23" descr="preencoded.png"/>
          <p:cNvPicPr>
            <a:picLocks noChangeAspect="1"/>
          </p:cNvPicPr>
          <p:nvPr/>
        </p:nvPicPr>
        <p:blipFill>
          <a:blip r:embed="rId24"/>
          <a:stretch>
            <a:fillRect/>
          </a:stretch>
        </p:blipFill>
        <p:spPr>
          <a:xfrm>
            <a:off x="6438900" y="3581400"/>
            <a:ext cx="152400" cy="152400"/>
          </a:xfrm>
          <a:prstGeom prst="rect">
            <a:avLst/>
          </a:prstGeom>
        </p:spPr>
      </p:pic>
      <p:pic>
        <p:nvPicPr>
          <p:cNvPr id="26" name="Image 24" descr="preencoded.png"/>
          <p:cNvPicPr>
            <a:picLocks noChangeAspect="1"/>
          </p:cNvPicPr>
          <p:nvPr/>
        </p:nvPicPr>
        <p:blipFill>
          <a:blip r:embed="rId22"/>
          <a:stretch>
            <a:fillRect/>
          </a:stretch>
        </p:blipFill>
        <p:spPr>
          <a:xfrm>
            <a:off x="8953500" y="3314700"/>
            <a:ext cx="2628900" cy="1371600"/>
          </a:xfrm>
          <a:prstGeom prst="rect">
            <a:avLst/>
          </a:prstGeom>
        </p:spPr>
      </p:pic>
      <p:pic>
        <p:nvPicPr>
          <p:cNvPr id="27" name="Image 25" descr="preencoded.png"/>
          <p:cNvPicPr>
            <a:picLocks noChangeAspect="1"/>
          </p:cNvPicPr>
          <p:nvPr/>
        </p:nvPicPr>
        <p:blipFill>
          <a:blip r:embed="rId25"/>
          <a:stretch>
            <a:fillRect/>
          </a:stretch>
        </p:blipFill>
        <p:spPr>
          <a:xfrm>
            <a:off x="9105900" y="3467100"/>
            <a:ext cx="381000" cy="381000"/>
          </a:xfrm>
          <a:prstGeom prst="rect">
            <a:avLst/>
          </a:prstGeom>
        </p:spPr>
      </p:pic>
      <p:pic>
        <p:nvPicPr>
          <p:cNvPr id="28" name="Image 26" descr="preencoded.png"/>
          <p:cNvPicPr>
            <a:picLocks noChangeAspect="1"/>
          </p:cNvPicPr>
          <p:nvPr/>
        </p:nvPicPr>
        <p:blipFill>
          <a:blip r:embed="rId26"/>
          <a:stretch>
            <a:fillRect/>
          </a:stretch>
        </p:blipFill>
        <p:spPr>
          <a:xfrm>
            <a:off x="9220200" y="3581400"/>
            <a:ext cx="152400" cy="152400"/>
          </a:xfrm>
          <a:prstGeom prst="rect">
            <a:avLst/>
          </a:prstGeom>
        </p:spPr>
      </p:pic>
      <p:sp>
        <p:nvSpPr>
          <p:cNvPr id="29" name="Text 0"/>
          <p:cNvSpPr/>
          <p:nvPr/>
        </p:nvSpPr>
        <p:spPr>
          <a:xfrm>
            <a:off x="609600" y="4572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HTTP Verbs</a:t>
            </a:r>
            <a:endParaRPr lang="en-US" sz="2700" dirty="0"/>
          </a:p>
        </p:txBody>
      </p:sp>
      <p:sp>
        <p:nvSpPr>
          <p:cNvPr id="30" name="Text 1"/>
          <p:cNvSpPr/>
          <p:nvPr/>
        </p:nvSpPr>
        <p:spPr>
          <a:xfrm>
            <a:off x="609600" y="1219200"/>
            <a:ext cx="109728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HTTP verbs define the type of action to be performed on a resource. API Gateway supports standard HTTP methods for defining these actions.</a:t>
            </a:r>
            <a:endParaRPr lang="en-US" sz="1500" dirty="0"/>
          </a:p>
        </p:txBody>
      </p:sp>
      <p:sp>
        <p:nvSpPr>
          <p:cNvPr id="31" name="Text 2"/>
          <p:cNvSpPr/>
          <p:nvPr/>
        </p:nvSpPr>
        <p:spPr>
          <a:xfrm>
            <a:off x="1257300" y="2190750"/>
            <a:ext cx="49988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GET</a:t>
            </a:r>
            <a:endParaRPr lang="en-US" sz="1500" dirty="0"/>
          </a:p>
        </p:txBody>
      </p:sp>
      <p:sp>
        <p:nvSpPr>
          <p:cNvPr id="32" name="Text 3"/>
          <p:cNvSpPr/>
          <p:nvPr/>
        </p:nvSpPr>
        <p:spPr>
          <a:xfrm>
            <a:off x="762000" y="26289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Retrieves a resource or data from the server.</a:t>
            </a:r>
            <a:endParaRPr lang="en-US" sz="1050" dirty="0"/>
          </a:p>
        </p:txBody>
      </p:sp>
      <p:sp>
        <p:nvSpPr>
          <p:cNvPr id="33" name="Text 4"/>
          <p:cNvSpPr/>
          <p:nvPr/>
        </p:nvSpPr>
        <p:spPr>
          <a:xfrm>
            <a:off x="4038600" y="2190750"/>
            <a:ext cx="68258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POST</a:t>
            </a:r>
            <a:endParaRPr lang="en-US" sz="1500" dirty="0"/>
          </a:p>
        </p:txBody>
      </p:sp>
      <p:sp>
        <p:nvSpPr>
          <p:cNvPr id="34" name="Text 5"/>
          <p:cNvSpPr/>
          <p:nvPr/>
        </p:nvSpPr>
        <p:spPr>
          <a:xfrm>
            <a:off x="3543300" y="26289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Creates a new resource or submits data to the server.</a:t>
            </a:r>
            <a:endParaRPr lang="en-US" sz="1050" dirty="0"/>
          </a:p>
        </p:txBody>
      </p:sp>
      <p:sp>
        <p:nvSpPr>
          <p:cNvPr id="35" name="Text 6"/>
          <p:cNvSpPr/>
          <p:nvPr/>
        </p:nvSpPr>
        <p:spPr>
          <a:xfrm>
            <a:off x="6819900" y="2190750"/>
            <a:ext cx="50917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PUT</a:t>
            </a:r>
            <a:endParaRPr lang="en-US" sz="1500" dirty="0"/>
          </a:p>
        </p:txBody>
      </p:sp>
      <p:sp>
        <p:nvSpPr>
          <p:cNvPr id="36" name="Text 7"/>
          <p:cNvSpPr/>
          <p:nvPr/>
        </p:nvSpPr>
        <p:spPr>
          <a:xfrm>
            <a:off x="6324600" y="26289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Replaces an existing resource entirely with new data.</a:t>
            </a:r>
            <a:endParaRPr lang="en-US" sz="1050" dirty="0"/>
          </a:p>
        </p:txBody>
      </p:sp>
      <p:sp>
        <p:nvSpPr>
          <p:cNvPr id="37" name="Text 8"/>
          <p:cNvSpPr/>
          <p:nvPr/>
        </p:nvSpPr>
        <p:spPr>
          <a:xfrm>
            <a:off x="9601200" y="2190750"/>
            <a:ext cx="82081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PATCH</a:t>
            </a:r>
            <a:endParaRPr lang="en-US" sz="1500" dirty="0"/>
          </a:p>
        </p:txBody>
      </p:sp>
      <p:sp>
        <p:nvSpPr>
          <p:cNvPr id="38" name="Text 9"/>
          <p:cNvSpPr/>
          <p:nvPr/>
        </p:nvSpPr>
        <p:spPr>
          <a:xfrm>
            <a:off x="9105900" y="26289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Partially updates an existing resource.</a:t>
            </a:r>
            <a:endParaRPr lang="en-US" sz="1050" dirty="0"/>
          </a:p>
        </p:txBody>
      </p:sp>
      <p:sp>
        <p:nvSpPr>
          <p:cNvPr id="39" name="Text 10"/>
          <p:cNvSpPr/>
          <p:nvPr/>
        </p:nvSpPr>
        <p:spPr>
          <a:xfrm>
            <a:off x="1257300" y="3524250"/>
            <a:ext cx="9599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DELETE</a:t>
            </a:r>
            <a:endParaRPr lang="en-US" sz="1500" dirty="0"/>
          </a:p>
        </p:txBody>
      </p:sp>
      <p:sp>
        <p:nvSpPr>
          <p:cNvPr id="40" name="Text 11"/>
          <p:cNvSpPr/>
          <p:nvPr/>
        </p:nvSpPr>
        <p:spPr>
          <a:xfrm>
            <a:off x="762000" y="39624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Removes a specified resource from the server.</a:t>
            </a:r>
            <a:endParaRPr lang="en-US" sz="1050" dirty="0"/>
          </a:p>
        </p:txBody>
      </p:sp>
      <p:sp>
        <p:nvSpPr>
          <p:cNvPr id="41" name="Text 12"/>
          <p:cNvSpPr/>
          <p:nvPr/>
        </p:nvSpPr>
        <p:spPr>
          <a:xfrm>
            <a:off x="4038600" y="3524250"/>
            <a:ext cx="714196"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HEAD</a:t>
            </a:r>
            <a:endParaRPr lang="en-US" sz="1500" dirty="0"/>
          </a:p>
        </p:txBody>
      </p:sp>
      <p:sp>
        <p:nvSpPr>
          <p:cNvPr id="42" name="Text 13"/>
          <p:cNvSpPr/>
          <p:nvPr/>
        </p:nvSpPr>
        <p:spPr>
          <a:xfrm>
            <a:off x="3543300" y="3962400"/>
            <a:ext cx="232410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Retrieves only the headers of a resource, without the response body.</a:t>
            </a:r>
            <a:endParaRPr lang="en-US" sz="1050" dirty="0"/>
          </a:p>
        </p:txBody>
      </p:sp>
      <p:sp>
        <p:nvSpPr>
          <p:cNvPr id="43" name="Text 14"/>
          <p:cNvSpPr/>
          <p:nvPr/>
        </p:nvSpPr>
        <p:spPr>
          <a:xfrm>
            <a:off x="6819900" y="3524250"/>
            <a:ext cx="11531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OPTIONS</a:t>
            </a:r>
            <a:endParaRPr lang="en-US" sz="1500" dirty="0"/>
          </a:p>
        </p:txBody>
      </p:sp>
      <p:sp>
        <p:nvSpPr>
          <p:cNvPr id="44" name="Text 15"/>
          <p:cNvSpPr/>
          <p:nvPr/>
        </p:nvSpPr>
        <p:spPr>
          <a:xfrm>
            <a:off x="6324600" y="39624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Describes the communication options for the target resource.</a:t>
            </a:r>
            <a:endParaRPr lang="en-US" sz="1050" dirty="0"/>
          </a:p>
        </p:txBody>
      </p:sp>
      <p:sp>
        <p:nvSpPr>
          <p:cNvPr id="45" name="Text 16"/>
          <p:cNvSpPr/>
          <p:nvPr/>
        </p:nvSpPr>
        <p:spPr>
          <a:xfrm>
            <a:off x="9601200" y="3524250"/>
            <a:ext cx="53381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ANY</a:t>
            </a:r>
            <a:endParaRPr lang="en-US" sz="1500" dirty="0"/>
          </a:p>
        </p:txBody>
      </p:sp>
      <p:sp>
        <p:nvSpPr>
          <p:cNvPr id="46" name="Text 17"/>
          <p:cNvSpPr/>
          <p:nvPr/>
        </p:nvSpPr>
        <p:spPr>
          <a:xfrm>
            <a:off x="9105900" y="39624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 catch-all method for any HTTP verb.</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952500"/>
            <a:ext cx="3657600" cy="38100"/>
          </a:xfrm>
          <a:prstGeom prst="rect">
            <a:avLst/>
          </a:prstGeom>
        </p:spPr>
      </p:pic>
      <p:pic>
        <p:nvPicPr>
          <p:cNvPr id="5" name="Image 3" descr="preencoded.png"/>
          <p:cNvPicPr>
            <a:picLocks noChangeAspect="1"/>
          </p:cNvPicPr>
          <p:nvPr/>
        </p:nvPicPr>
        <p:blipFill>
          <a:blip r:embed="rId6"/>
          <a:stretch>
            <a:fillRect/>
          </a:stretch>
        </p:blipFill>
        <p:spPr>
          <a:xfrm>
            <a:off x="609600" y="2209800"/>
            <a:ext cx="3454450" cy="1981200"/>
          </a:xfrm>
          <a:prstGeom prst="rect">
            <a:avLst/>
          </a:prstGeom>
        </p:spPr>
      </p:pic>
      <p:pic>
        <p:nvPicPr>
          <p:cNvPr id="6" name="Image 4" descr="preencoded.png"/>
          <p:cNvPicPr>
            <a:picLocks noChangeAspect="1"/>
          </p:cNvPicPr>
          <p:nvPr/>
        </p:nvPicPr>
        <p:blipFill>
          <a:blip r:embed="rId7"/>
          <a:stretch>
            <a:fillRect/>
          </a:stretch>
        </p:blipFill>
        <p:spPr>
          <a:xfrm>
            <a:off x="838200" y="2438400"/>
            <a:ext cx="457200" cy="457200"/>
          </a:xfrm>
          <a:prstGeom prst="rect">
            <a:avLst/>
          </a:prstGeom>
        </p:spPr>
      </p:pic>
      <p:pic>
        <p:nvPicPr>
          <p:cNvPr id="7" name="Image 5" descr="preencoded.png"/>
          <p:cNvPicPr>
            <a:picLocks noChangeAspect="1"/>
          </p:cNvPicPr>
          <p:nvPr/>
        </p:nvPicPr>
        <p:blipFill>
          <a:blip r:embed="rId8"/>
          <a:stretch>
            <a:fillRect/>
          </a:stretch>
        </p:blipFill>
        <p:spPr>
          <a:xfrm>
            <a:off x="938213" y="2514600"/>
            <a:ext cx="257175" cy="304800"/>
          </a:xfrm>
          <a:prstGeom prst="rect">
            <a:avLst/>
          </a:prstGeom>
        </p:spPr>
      </p:pic>
      <p:pic>
        <p:nvPicPr>
          <p:cNvPr id="8" name="Image 6" descr="preencoded.png"/>
          <p:cNvPicPr>
            <a:picLocks noChangeAspect="1"/>
          </p:cNvPicPr>
          <p:nvPr/>
        </p:nvPicPr>
        <p:blipFill>
          <a:blip r:embed="rId9"/>
          <a:stretch>
            <a:fillRect/>
          </a:stretch>
        </p:blipFill>
        <p:spPr>
          <a:xfrm>
            <a:off x="4368850" y="2095500"/>
            <a:ext cx="3454450" cy="2209800"/>
          </a:xfrm>
          <a:prstGeom prst="rect">
            <a:avLst/>
          </a:prstGeom>
        </p:spPr>
      </p:pic>
      <p:pic>
        <p:nvPicPr>
          <p:cNvPr id="9" name="Image 7" descr="preencoded.png"/>
          <p:cNvPicPr>
            <a:picLocks noChangeAspect="1"/>
          </p:cNvPicPr>
          <p:nvPr/>
        </p:nvPicPr>
        <p:blipFill>
          <a:blip r:embed="rId10"/>
          <a:stretch>
            <a:fillRect/>
          </a:stretch>
        </p:blipFill>
        <p:spPr>
          <a:xfrm>
            <a:off x="4597450" y="2324100"/>
            <a:ext cx="457200" cy="457200"/>
          </a:xfrm>
          <a:prstGeom prst="rect">
            <a:avLst/>
          </a:prstGeom>
        </p:spPr>
      </p:pic>
      <p:pic>
        <p:nvPicPr>
          <p:cNvPr id="10" name="Image 8" descr="preencoded.png"/>
          <p:cNvPicPr>
            <a:picLocks noChangeAspect="1"/>
          </p:cNvPicPr>
          <p:nvPr/>
        </p:nvPicPr>
        <p:blipFill>
          <a:blip r:embed="rId11"/>
          <a:stretch>
            <a:fillRect/>
          </a:stretch>
        </p:blipFill>
        <p:spPr>
          <a:xfrm>
            <a:off x="4711750" y="2400300"/>
            <a:ext cx="228600" cy="304800"/>
          </a:xfrm>
          <a:prstGeom prst="rect">
            <a:avLst/>
          </a:prstGeom>
        </p:spPr>
      </p:pic>
      <p:pic>
        <p:nvPicPr>
          <p:cNvPr id="11" name="Image 9" descr="preencoded.png"/>
          <p:cNvPicPr>
            <a:picLocks noChangeAspect="1"/>
          </p:cNvPicPr>
          <p:nvPr/>
        </p:nvPicPr>
        <p:blipFill>
          <a:blip r:embed="rId12"/>
          <a:stretch>
            <a:fillRect/>
          </a:stretch>
        </p:blipFill>
        <p:spPr>
          <a:xfrm>
            <a:off x="8128099" y="2095500"/>
            <a:ext cx="3454450" cy="2209800"/>
          </a:xfrm>
          <a:prstGeom prst="rect">
            <a:avLst/>
          </a:prstGeom>
        </p:spPr>
      </p:pic>
      <p:pic>
        <p:nvPicPr>
          <p:cNvPr id="12" name="Image 10" descr="preencoded.png"/>
          <p:cNvPicPr>
            <a:picLocks noChangeAspect="1"/>
          </p:cNvPicPr>
          <p:nvPr/>
        </p:nvPicPr>
        <p:blipFill>
          <a:blip r:embed="rId13"/>
          <a:stretch>
            <a:fillRect/>
          </a:stretch>
        </p:blipFill>
        <p:spPr>
          <a:xfrm>
            <a:off x="8356699" y="2324100"/>
            <a:ext cx="457200" cy="457200"/>
          </a:xfrm>
          <a:prstGeom prst="rect">
            <a:avLst/>
          </a:prstGeom>
        </p:spPr>
      </p:pic>
      <p:pic>
        <p:nvPicPr>
          <p:cNvPr id="13" name="Image 11" descr="preencoded.png"/>
          <p:cNvPicPr>
            <a:picLocks noChangeAspect="1"/>
          </p:cNvPicPr>
          <p:nvPr/>
        </p:nvPicPr>
        <p:blipFill>
          <a:blip r:embed="rId14"/>
          <a:stretch>
            <a:fillRect/>
          </a:stretch>
        </p:blipFill>
        <p:spPr>
          <a:xfrm>
            <a:off x="8470999" y="2400300"/>
            <a:ext cx="228600" cy="304800"/>
          </a:xfrm>
          <a:prstGeom prst="rect">
            <a:avLst/>
          </a:prstGeom>
        </p:spPr>
      </p:pic>
      <p:pic>
        <p:nvPicPr>
          <p:cNvPr id="14" name="Image 12" descr="preencoded.png"/>
          <p:cNvPicPr>
            <a:picLocks noChangeAspect="1"/>
          </p:cNvPicPr>
          <p:nvPr/>
        </p:nvPicPr>
        <p:blipFill>
          <a:blip r:embed="rId15"/>
          <a:stretch>
            <a:fillRect/>
          </a:stretch>
        </p:blipFill>
        <p:spPr>
          <a:xfrm>
            <a:off x="609600" y="4648200"/>
            <a:ext cx="10972800" cy="1714500"/>
          </a:xfrm>
          <a:prstGeom prst="rect">
            <a:avLst/>
          </a:prstGeom>
        </p:spPr>
      </p:pic>
      <p:pic>
        <p:nvPicPr>
          <p:cNvPr id="15" name="Image 13" descr="preencoded.png"/>
          <p:cNvPicPr>
            <a:picLocks noChangeAspect="1"/>
          </p:cNvPicPr>
          <p:nvPr/>
        </p:nvPicPr>
        <p:blipFill>
          <a:blip r:embed="rId16"/>
          <a:stretch>
            <a:fillRect/>
          </a:stretch>
        </p:blipFill>
        <p:spPr>
          <a:xfrm>
            <a:off x="838200" y="4876800"/>
            <a:ext cx="10515600" cy="1838325"/>
          </a:xfrm>
          <a:prstGeom prst="rect">
            <a:avLst/>
          </a:prstGeom>
        </p:spPr>
      </p:pic>
      <p:sp>
        <p:nvSpPr>
          <p:cNvPr id="16" name="Text 0"/>
          <p:cNvSpPr/>
          <p:nvPr/>
        </p:nvSpPr>
        <p:spPr>
          <a:xfrm>
            <a:off x="609600" y="4572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Core Components</a:t>
            </a:r>
            <a:endParaRPr lang="en-US" sz="2700" dirty="0"/>
          </a:p>
        </p:txBody>
      </p:sp>
      <p:sp>
        <p:nvSpPr>
          <p:cNvPr id="17" name="Text 1"/>
          <p:cNvSpPr/>
          <p:nvPr/>
        </p:nvSpPr>
        <p:spPr>
          <a:xfrm>
            <a:off x="609600" y="1219200"/>
            <a:ext cx="109728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API Gateway consists of three fundamental components that work together to define and manage your API's functionality and deployment.</a:t>
            </a:r>
            <a:endParaRPr lang="en-US" sz="1500" dirty="0"/>
          </a:p>
        </p:txBody>
      </p:sp>
      <p:sp>
        <p:nvSpPr>
          <p:cNvPr id="18" name="Text 2"/>
          <p:cNvSpPr/>
          <p:nvPr/>
        </p:nvSpPr>
        <p:spPr>
          <a:xfrm>
            <a:off x="1447800" y="2514600"/>
            <a:ext cx="1591627"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Resources</a:t>
            </a:r>
            <a:endParaRPr lang="en-US" sz="1800" dirty="0"/>
          </a:p>
        </p:txBody>
      </p:sp>
      <p:sp>
        <p:nvSpPr>
          <p:cNvPr id="19" name="Text 3"/>
          <p:cNvSpPr/>
          <p:nvPr/>
        </p:nvSpPr>
        <p:spPr>
          <a:xfrm>
            <a:off x="838200" y="3048000"/>
            <a:ext cx="299725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Logical entities identified by URL paths that clients can interact with. They form a hierarchical structure and are the building blocks of your API.</a:t>
            </a:r>
            <a:endParaRPr lang="en-US" sz="1200" dirty="0"/>
          </a:p>
        </p:txBody>
      </p:sp>
      <p:sp>
        <p:nvSpPr>
          <p:cNvPr id="20" name="Text 4"/>
          <p:cNvSpPr/>
          <p:nvPr/>
        </p:nvSpPr>
        <p:spPr>
          <a:xfrm>
            <a:off x="5207050" y="2400300"/>
            <a:ext cx="13335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Methods</a:t>
            </a:r>
            <a:endParaRPr lang="en-US" sz="1800" dirty="0"/>
          </a:p>
        </p:txBody>
      </p:sp>
      <p:sp>
        <p:nvSpPr>
          <p:cNvPr id="21" name="Text 5"/>
          <p:cNvSpPr/>
          <p:nvPr/>
        </p:nvSpPr>
        <p:spPr>
          <a:xfrm>
            <a:off x="4597450" y="2933700"/>
            <a:ext cx="29972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Operations performed on resources, corresponding to HTTP verbs (GET, POST, PUT, DELETE). Each method defines the flow for handling client requests.</a:t>
            </a:r>
            <a:endParaRPr lang="en-US" sz="1200" dirty="0"/>
          </a:p>
        </p:txBody>
      </p:sp>
      <p:sp>
        <p:nvSpPr>
          <p:cNvPr id="22" name="Text 6"/>
          <p:cNvSpPr/>
          <p:nvPr/>
        </p:nvSpPr>
        <p:spPr>
          <a:xfrm>
            <a:off x="8966299" y="2400300"/>
            <a:ext cx="1059597"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Stages</a:t>
            </a:r>
            <a:endParaRPr lang="en-US" sz="1800" dirty="0"/>
          </a:p>
        </p:txBody>
      </p:sp>
      <p:sp>
        <p:nvSpPr>
          <p:cNvPr id="23" name="Text 7"/>
          <p:cNvSpPr/>
          <p:nvPr/>
        </p:nvSpPr>
        <p:spPr>
          <a:xfrm>
            <a:off x="8356699" y="2933700"/>
            <a:ext cx="29972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Logical references to specific deployments of your API, representing lifecycle states like dev, test, beta, or prod. Each stage has its own invoke URL.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1"/>
          </a:xfrm>
          <a:prstGeom prst="rect">
            <a:avLst/>
          </a:prstGeom>
        </p:spPr>
      </p:pic>
      <p:pic>
        <p:nvPicPr>
          <p:cNvPr id="3" name="Image 1" descr="preencoded.png"/>
          <p:cNvPicPr>
            <a:picLocks noChangeAspect="1"/>
          </p:cNvPicPr>
          <p:nvPr/>
        </p:nvPicPr>
        <p:blipFill>
          <a:blip r:embed="rId4"/>
          <a:stretch>
            <a:fillRect/>
          </a:stretch>
        </p:blipFill>
        <p:spPr>
          <a:xfrm>
            <a:off x="0" y="1"/>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952500"/>
            <a:ext cx="3657600" cy="38100"/>
          </a:xfrm>
          <a:prstGeom prst="rect">
            <a:avLst/>
          </a:prstGeom>
        </p:spPr>
      </p:pic>
      <p:pic>
        <p:nvPicPr>
          <p:cNvPr id="5" name="Image 3" descr="preencoded.png"/>
          <p:cNvPicPr>
            <a:picLocks noChangeAspect="1"/>
          </p:cNvPicPr>
          <p:nvPr/>
        </p:nvPicPr>
        <p:blipFill>
          <a:blip r:embed="rId6"/>
          <a:stretch>
            <a:fillRect/>
          </a:stretch>
        </p:blipFill>
        <p:spPr>
          <a:xfrm>
            <a:off x="609600" y="1981200"/>
            <a:ext cx="5181600" cy="2609670"/>
          </a:xfrm>
          <a:prstGeom prst="rect">
            <a:avLst/>
          </a:prstGeom>
        </p:spPr>
      </p:pic>
      <p:pic>
        <p:nvPicPr>
          <p:cNvPr id="6" name="Image 4" descr="preencoded.png"/>
          <p:cNvPicPr>
            <a:picLocks noChangeAspect="1"/>
          </p:cNvPicPr>
          <p:nvPr/>
        </p:nvPicPr>
        <p:blipFill>
          <a:blip r:embed="rId7"/>
          <a:stretch>
            <a:fillRect/>
          </a:stretch>
        </p:blipFill>
        <p:spPr>
          <a:xfrm>
            <a:off x="876300" y="2562406"/>
            <a:ext cx="171450" cy="152400"/>
          </a:xfrm>
          <a:prstGeom prst="rect">
            <a:avLst/>
          </a:prstGeom>
        </p:spPr>
      </p:pic>
      <p:pic>
        <p:nvPicPr>
          <p:cNvPr id="7" name="Image 5" descr="preencoded.png"/>
          <p:cNvPicPr>
            <a:picLocks noChangeAspect="1"/>
          </p:cNvPicPr>
          <p:nvPr/>
        </p:nvPicPr>
        <p:blipFill>
          <a:blip r:embed="rId8"/>
          <a:stretch>
            <a:fillRect/>
          </a:stretch>
        </p:blipFill>
        <p:spPr>
          <a:xfrm>
            <a:off x="857250" y="3133906"/>
            <a:ext cx="152400" cy="152400"/>
          </a:xfrm>
          <a:prstGeom prst="rect">
            <a:avLst/>
          </a:prstGeom>
        </p:spPr>
      </p:pic>
      <p:pic>
        <p:nvPicPr>
          <p:cNvPr id="8" name="Image 6" descr="preencoded.png"/>
          <p:cNvPicPr>
            <a:picLocks noChangeAspect="1"/>
          </p:cNvPicPr>
          <p:nvPr/>
        </p:nvPicPr>
        <p:blipFill>
          <a:blip r:embed="rId9"/>
          <a:stretch>
            <a:fillRect/>
          </a:stretch>
        </p:blipFill>
        <p:spPr>
          <a:xfrm>
            <a:off x="876300" y="3705406"/>
            <a:ext cx="152400" cy="152400"/>
          </a:xfrm>
          <a:prstGeom prst="rect">
            <a:avLst/>
          </a:prstGeom>
        </p:spPr>
      </p:pic>
      <p:pic>
        <p:nvPicPr>
          <p:cNvPr id="9" name="Image 7" descr="preencoded.png"/>
          <p:cNvPicPr>
            <a:picLocks noChangeAspect="1"/>
          </p:cNvPicPr>
          <p:nvPr/>
        </p:nvPicPr>
        <p:blipFill>
          <a:blip r:embed="rId10"/>
          <a:stretch>
            <a:fillRect/>
          </a:stretch>
        </p:blipFill>
        <p:spPr>
          <a:xfrm>
            <a:off x="876300" y="4276906"/>
            <a:ext cx="171450" cy="152400"/>
          </a:xfrm>
          <a:prstGeom prst="rect">
            <a:avLst/>
          </a:prstGeom>
        </p:spPr>
      </p:pic>
      <p:pic>
        <p:nvPicPr>
          <p:cNvPr id="10" name="Image 8" descr="preencoded.png"/>
          <p:cNvPicPr>
            <a:picLocks noChangeAspect="1"/>
          </p:cNvPicPr>
          <p:nvPr/>
        </p:nvPicPr>
        <p:blipFill>
          <a:blip r:embed="rId11"/>
          <a:stretch>
            <a:fillRect/>
          </a:stretch>
        </p:blipFill>
        <p:spPr>
          <a:xfrm>
            <a:off x="609600" y="4718380"/>
            <a:ext cx="5181600" cy="1971675"/>
          </a:xfrm>
          <a:prstGeom prst="rect">
            <a:avLst/>
          </a:prstGeom>
        </p:spPr>
      </p:pic>
      <p:pic>
        <p:nvPicPr>
          <p:cNvPr id="12" name="Image 10" descr="preencoded.png"/>
          <p:cNvPicPr>
            <a:picLocks noChangeAspect="1"/>
          </p:cNvPicPr>
          <p:nvPr/>
        </p:nvPicPr>
        <p:blipFill>
          <a:blip r:embed="rId12"/>
          <a:stretch>
            <a:fillRect/>
          </a:stretch>
        </p:blipFill>
        <p:spPr>
          <a:xfrm>
            <a:off x="6400800" y="2520851"/>
            <a:ext cx="5181600" cy="3573512"/>
          </a:xfrm>
          <a:prstGeom prst="rect">
            <a:avLst/>
          </a:prstGeom>
        </p:spPr>
      </p:pic>
      <p:sp>
        <p:nvSpPr>
          <p:cNvPr id="13" name="Text 0"/>
          <p:cNvSpPr/>
          <p:nvPr/>
        </p:nvSpPr>
        <p:spPr>
          <a:xfrm>
            <a:off x="609600" y="4572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Resources</a:t>
            </a:r>
            <a:endParaRPr lang="en-US" sz="2700" dirty="0"/>
          </a:p>
        </p:txBody>
      </p:sp>
      <p:sp>
        <p:nvSpPr>
          <p:cNvPr id="14" name="Text 1"/>
          <p:cNvSpPr/>
          <p:nvPr/>
        </p:nvSpPr>
        <p:spPr>
          <a:xfrm>
            <a:off x="609600" y="1219200"/>
            <a:ext cx="5181600" cy="928688"/>
          </a:xfrm>
          <a:prstGeom prst="rect">
            <a:avLst/>
          </a:prstGeom>
          <a:noFill/>
          <a:ln/>
        </p:spPr>
        <p:txBody>
          <a:bodyPr vert="horz" wrap="square" lIns="0" tIns="0" rIns="0" bIns="0" rtlCol="0" anchor="t"/>
          <a:lstStyle/>
          <a:p>
            <a:pPr marL="0" indent="0">
              <a:lnSpc>
                <a:spcPts val="2438"/>
              </a:lnSpc>
              <a:buNone/>
            </a:pPr>
            <a:r>
              <a:rPr lang="en-US" sz="1500" dirty="0">
                <a:solidFill>
                  <a:srgbClr val="374151"/>
                </a:solidFill>
                <a:latin typeface="ui-sans-serif" pitchFamily="34" charset="0"/>
                <a:ea typeface="ui-sans-serif" pitchFamily="34" charset="-122"/>
                <a:cs typeface="ui-sans-serif" pitchFamily="34" charset="-120"/>
              </a:rPr>
              <a:t>Resources are the fundamental building blocks of an API, representing logical entities or paths that clients can interact with.</a:t>
            </a:r>
            <a:endParaRPr lang="en-US" sz="1500" dirty="0"/>
          </a:p>
        </p:txBody>
      </p:sp>
      <p:sp>
        <p:nvSpPr>
          <p:cNvPr id="15" name="Text 2"/>
          <p:cNvSpPr/>
          <p:nvPr/>
        </p:nvSpPr>
        <p:spPr>
          <a:xfrm>
            <a:off x="838200" y="2208279"/>
            <a:ext cx="4724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Key Characteristics</a:t>
            </a:r>
            <a:endParaRPr lang="en-US" sz="1500" dirty="0"/>
          </a:p>
        </p:txBody>
      </p:sp>
      <p:sp>
        <p:nvSpPr>
          <p:cNvPr id="16" name="Text 3"/>
          <p:cNvSpPr/>
          <p:nvPr/>
        </p:nvSpPr>
        <p:spPr>
          <a:xfrm>
            <a:off x="1162050" y="2524306"/>
            <a:ext cx="44386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Organized in a hierarchical structure, forming a resource tree</a:t>
            </a:r>
            <a:endParaRPr lang="en-US" sz="1200" dirty="0"/>
          </a:p>
        </p:txBody>
      </p:sp>
      <p:sp>
        <p:nvSpPr>
          <p:cNvPr id="17" name="Text 4"/>
          <p:cNvSpPr/>
          <p:nvPr/>
        </p:nvSpPr>
        <p:spPr>
          <a:xfrm>
            <a:off x="1143000" y="3095806"/>
            <a:ext cx="4457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Identified by URL paths (e.g., /users, /products/{productId})</a:t>
            </a:r>
            <a:endParaRPr lang="en-US" sz="1200" dirty="0"/>
          </a:p>
        </p:txBody>
      </p:sp>
      <p:sp>
        <p:nvSpPr>
          <p:cNvPr id="18" name="Text 5"/>
          <p:cNvSpPr/>
          <p:nvPr/>
        </p:nvSpPr>
        <p:spPr>
          <a:xfrm>
            <a:off x="1143000" y="3667306"/>
            <a:ext cx="4457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Each resource can expose one or more API methods (GET, POST, PUT, DELETE, etc.)</a:t>
            </a:r>
            <a:endParaRPr lang="en-US" sz="1200" dirty="0"/>
          </a:p>
        </p:txBody>
      </p:sp>
      <p:sp>
        <p:nvSpPr>
          <p:cNvPr id="19" name="Text 6"/>
          <p:cNvSpPr/>
          <p:nvPr/>
        </p:nvSpPr>
        <p:spPr>
          <a:xfrm>
            <a:off x="1162050" y="4238806"/>
            <a:ext cx="435268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Support URI templates for parameterized paths</a:t>
            </a:r>
            <a:endParaRPr lang="en-US" sz="1200" dirty="0"/>
          </a:p>
        </p:txBody>
      </p:sp>
      <p:sp>
        <p:nvSpPr>
          <p:cNvPr id="20" name="Text 7"/>
          <p:cNvSpPr/>
          <p:nvPr/>
        </p:nvSpPr>
        <p:spPr>
          <a:xfrm>
            <a:off x="914400" y="4811564"/>
            <a:ext cx="983873"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Example</a:t>
            </a:r>
            <a:endParaRPr lang="en-US" sz="1350" dirty="0"/>
          </a:p>
        </p:txBody>
      </p:sp>
      <p:sp>
        <p:nvSpPr>
          <p:cNvPr id="21" name="Text 8"/>
          <p:cNvSpPr/>
          <p:nvPr/>
        </p:nvSpPr>
        <p:spPr>
          <a:xfrm>
            <a:off x="800100" y="5051934"/>
            <a:ext cx="480060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For an e-commerce API:</a:t>
            </a:r>
            <a:endParaRPr lang="en-US" sz="1200" dirty="0"/>
          </a:p>
        </p:txBody>
      </p:sp>
      <p:sp>
        <p:nvSpPr>
          <p:cNvPr id="22" name="Text 9"/>
          <p:cNvSpPr/>
          <p:nvPr/>
        </p:nvSpPr>
        <p:spPr>
          <a:xfrm>
            <a:off x="866537" y="5343256"/>
            <a:ext cx="4648200" cy="238125"/>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highlight>
                  <a:srgbClr val="F3F4F6"/>
                </a:highlight>
                <a:latin typeface="ui-monospace" pitchFamily="34" charset="0"/>
                <a:ea typeface="ui-monospace" pitchFamily="34" charset="-122"/>
                <a:cs typeface="ui-monospace" pitchFamily="34" charset="-120"/>
              </a:rPr>
              <a:t>/users</a:t>
            </a:r>
            <a:r>
              <a:rPr lang="en-US" sz="1200" dirty="0">
                <a:solidFill>
                  <a:srgbClr val="374151"/>
                </a:solidFill>
                <a:latin typeface="ui-sans-serif" pitchFamily="34" charset="0"/>
                <a:ea typeface="ui-sans-serif" pitchFamily="34" charset="-122"/>
                <a:cs typeface="ui-sans-serif" pitchFamily="34" charset="-120"/>
              </a:rPr>
              <a:t> - Represents all users</a:t>
            </a:r>
            <a:endParaRPr lang="en-US" sz="1200" dirty="0"/>
          </a:p>
        </p:txBody>
      </p:sp>
      <p:sp>
        <p:nvSpPr>
          <p:cNvPr id="23" name="Text 10"/>
          <p:cNvSpPr/>
          <p:nvPr/>
        </p:nvSpPr>
        <p:spPr>
          <a:xfrm>
            <a:off x="838200" y="5601958"/>
            <a:ext cx="4648200" cy="238125"/>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highlight>
                  <a:srgbClr val="F3F4F6"/>
                </a:highlight>
                <a:latin typeface="ui-monospace" pitchFamily="34" charset="0"/>
                <a:ea typeface="ui-monospace" pitchFamily="34" charset="-122"/>
                <a:cs typeface="ui-monospace" pitchFamily="34" charset="-120"/>
              </a:rPr>
              <a:t>/users/{userId}</a:t>
            </a:r>
            <a:r>
              <a:rPr lang="en-US" sz="1200" dirty="0">
                <a:solidFill>
                  <a:srgbClr val="374151"/>
                </a:solidFill>
                <a:latin typeface="ui-sans-serif" pitchFamily="34" charset="0"/>
                <a:ea typeface="ui-sans-serif" pitchFamily="34" charset="-122"/>
                <a:cs typeface="ui-sans-serif" pitchFamily="34" charset="-120"/>
              </a:rPr>
              <a:t> - Represents a specific user</a:t>
            </a:r>
            <a:endParaRPr lang="en-US" sz="1200" dirty="0"/>
          </a:p>
        </p:txBody>
      </p:sp>
      <p:sp>
        <p:nvSpPr>
          <p:cNvPr id="24" name="Text 11"/>
          <p:cNvSpPr/>
          <p:nvPr/>
        </p:nvSpPr>
        <p:spPr>
          <a:xfrm>
            <a:off x="800100" y="5841791"/>
            <a:ext cx="4648200" cy="466725"/>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highlight>
                  <a:srgbClr val="F3F4F6"/>
                </a:highlight>
                <a:latin typeface="ui-monospace" pitchFamily="34" charset="0"/>
                <a:ea typeface="ui-monospace" pitchFamily="34" charset="-122"/>
                <a:cs typeface="ui-monospace" pitchFamily="34" charset="-120"/>
              </a:rPr>
              <a:t>/products/{productId}/reviews</a:t>
            </a:r>
            <a:r>
              <a:rPr lang="en-US" sz="1200" dirty="0">
                <a:solidFill>
                  <a:srgbClr val="374151"/>
                </a:solidFill>
                <a:latin typeface="ui-sans-serif" pitchFamily="34" charset="0"/>
                <a:ea typeface="ui-sans-serif" pitchFamily="34" charset="-122"/>
                <a:cs typeface="ui-sans-serif" pitchFamily="34" charset="-120"/>
              </a:rPr>
              <a:t> - Represents reviews for a specific product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952500"/>
            <a:ext cx="2743200" cy="38100"/>
          </a:xfrm>
          <a:prstGeom prst="rect">
            <a:avLst/>
          </a:prstGeom>
        </p:spPr>
      </p:pic>
      <p:pic>
        <p:nvPicPr>
          <p:cNvPr id="5" name="Image 3" descr="preencoded.png"/>
          <p:cNvPicPr>
            <a:picLocks noChangeAspect="1"/>
          </p:cNvPicPr>
          <p:nvPr/>
        </p:nvPicPr>
        <p:blipFill>
          <a:blip r:embed="rId6"/>
          <a:stretch>
            <a:fillRect/>
          </a:stretch>
        </p:blipFill>
        <p:spPr>
          <a:xfrm>
            <a:off x="609600" y="2066925"/>
            <a:ext cx="10972800" cy="1819275"/>
          </a:xfrm>
          <a:prstGeom prst="rect">
            <a:avLst/>
          </a:prstGeom>
        </p:spPr>
      </p:pic>
      <p:pic>
        <p:nvPicPr>
          <p:cNvPr id="6" name="Image 4" descr="preencoded.png"/>
          <p:cNvPicPr>
            <a:picLocks noChangeAspect="1"/>
          </p:cNvPicPr>
          <p:nvPr/>
        </p:nvPicPr>
        <p:blipFill>
          <a:blip r:embed="rId7"/>
          <a:stretch>
            <a:fillRect/>
          </a:stretch>
        </p:blipFill>
        <p:spPr>
          <a:xfrm>
            <a:off x="838200" y="2828925"/>
            <a:ext cx="1516856" cy="714375"/>
          </a:xfrm>
          <a:prstGeom prst="rect">
            <a:avLst/>
          </a:prstGeom>
        </p:spPr>
      </p:pic>
      <p:pic>
        <p:nvPicPr>
          <p:cNvPr id="7" name="Image 5" descr="preencoded.png"/>
          <p:cNvPicPr>
            <a:picLocks noChangeAspect="1"/>
          </p:cNvPicPr>
          <p:nvPr/>
        </p:nvPicPr>
        <p:blipFill>
          <a:blip r:embed="rId8"/>
          <a:stretch>
            <a:fillRect/>
          </a:stretch>
        </p:blipFill>
        <p:spPr>
          <a:xfrm>
            <a:off x="1501378" y="2971800"/>
            <a:ext cx="190500" cy="152400"/>
          </a:xfrm>
          <a:prstGeom prst="rect">
            <a:avLst/>
          </a:prstGeom>
        </p:spPr>
      </p:pic>
      <p:pic>
        <p:nvPicPr>
          <p:cNvPr id="8" name="Image 6" descr="preencoded.png"/>
          <p:cNvPicPr>
            <a:picLocks noChangeAspect="1"/>
          </p:cNvPicPr>
          <p:nvPr/>
        </p:nvPicPr>
        <p:blipFill>
          <a:blip r:embed="rId9"/>
          <a:stretch>
            <a:fillRect/>
          </a:stretch>
        </p:blipFill>
        <p:spPr>
          <a:xfrm>
            <a:off x="2450306" y="3176588"/>
            <a:ext cx="542330" cy="19050"/>
          </a:xfrm>
          <a:prstGeom prst="rect">
            <a:avLst/>
          </a:prstGeom>
        </p:spPr>
      </p:pic>
      <p:pic>
        <p:nvPicPr>
          <p:cNvPr id="9" name="Image 7" descr="preencoded.png"/>
          <p:cNvPicPr>
            <a:picLocks noChangeAspect="1"/>
          </p:cNvPicPr>
          <p:nvPr/>
        </p:nvPicPr>
        <p:blipFill>
          <a:blip r:embed="rId10"/>
          <a:stretch>
            <a:fillRect/>
          </a:stretch>
        </p:blipFill>
        <p:spPr>
          <a:xfrm>
            <a:off x="3087886" y="2828925"/>
            <a:ext cx="1516856" cy="714375"/>
          </a:xfrm>
          <a:prstGeom prst="rect">
            <a:avLst/>
          </a:prstGeom>
        </p:spPr>
      </p:pic>
      <p:pic>
        <p:nvPicPr>
          <p:cNvPr id="10" name="Image 8" descr="preencoded.png"/>
          <p:cNvPicPr>
            <a:picLocks noChangeAspect="1"/>
          </p:cNvPicPr>
          <p:nvPr/>
        </p:nvPicPr>
        <p:blipFill>
          <a:blip r:embed="rId11"/>
          <a:stretch>
            <a:fillRect/>
          </a:stretch>
        </p:blipFill>
        <p:spPr>
          <a:xfrm>
            <a:off x="3770114" y="2971800"/>
            <a:ext cx="152400" cy="152400"/>
          </a:xfrm>
          <a:prstGeom prst="rect">
            <a:avLst/>
          </a:prstGeom>
        </p:spPr>
      </p:pic>
      <p:pic>
        <p:nvPicPr>
          <p:cNvPr id="11" name="Image 9" descr="preencoded.png"/>
          <p:cNvPicPr>
            <a:picLocks noChangeAspect="1"/>
          </p:cNvPicPr>
          <p:nvPr/>
        </p:nvPicPr>
        <p:blipFill>
          <a:blip r:embed="rId9"/>
          <a:stretch>
            <a:fillRect/>
          </a:stretch>
        </p:blipFill>
        <p:spPr>
          <a:xfrm>
            <a:off x="4699992" y="3176588"/>
            <a:ext cx="542330" cy="19050"/>
          </a:xfrm>
          <a:prstGeom prst="rect">
            <a:avLst/>
          </a:prstGeom>
        </p:spPr>
      </p:pic>
      <p:pic>
        <p:nvPicPr>
          <p:cNvPr id="12" name="Image 10" descr="preencoded.png"/>
          <p:cNvPicPr>
            <a:picLocks noChangeAspect="1"/>
          </p:cNvPicPr>
          <p:nvPr/>
        </p:nvPicPr>
        <p:blipFill>
          <a:blip r:embed="rId12"/>
          <a:stretch>
            <a:fillRect/>
          </a:stretch>
        </p:blipFill>
        <p:spPr>
          <a:xfrm>
            <a:off x="5337572" y="2714625"/>
            <a:ext cx="1516856" cy="942975"/>
          </a:xfrm>
          <a:prstGeom prst="rect">
            <a:avLst/>
          </a:prstGeom>
        </p:spPr>
      </p:pic>
      <p:pic>
        <p:nvPicPr>
          <p:cNvPr id="13" name="Image 11" descr="preencoded.png"/>
          <p:cNvPicPr>
            <a:picLocks noChangeAspect="1"/>
          </p:cNvPicPr>
          <p:nvPr/>
        </p:nvPicPr>
        <p:blipFill>
          <a:blip r:embed="rId13"/>
          <a:stretch>
            <a:fillRect/>
          </a:stretch>
        </p:blipFill>
        <p:spPr>
          <a:xfrm>
            <a:off x="6019800" y="2857500"/>
            <a:ext cx="152400" cy="152400"/>
          </a:xfrm>
          <a:prstGeom prst="rect">
            <a:avLst/>
          </a:prstGeom>
        </p:spPr>
      </p:pic>
      <p:pic>
        <p:nvPicPr>
          <p:cNvPr id="14" name="Image 12" descr="preencoded.png"/>
          <p:cNvPicPr>
            <a:picLocks noChangeAspect="1"/>
          </p:cNvPicPr>
          <p:nvPr/>
        </p:nvPicPr>
        <p:blipFill>
          <a:blip r:embed="rId9"/>
          <a:stretch>
            <a:fillRect/>
          </a:stretch>
        </p:blipFill>
        <p:spPr>
          <a:xfrm>
            <a:off x="6949678" y="3176588"/>
            <a:ext cx="542330" cy="19050"/>
          </a:xfrm>
          <a:prstGeom prst="rect">
            <a:avLst/>
          </a:prstGeom>
        </p:spPr>
      </p:pic>
      <p:pic>
        <p:nvPicPr>
          <p:cNvPr id="15" name="Image 13" descr="preencoded.png"/>
          <p:cNvPicPr>
            <a:picLocks noChangeAspect="1"/>
          </p:cNvPicPr>
          <p:nvPr/>
        </p:nvPicPr>
        <p:blipFill>
          <a:blip r:embed="rId14"/>
          <a:stretch>
            <a:fillRect/>
          </a:stretch>
        </p:blipFill>
        <p:spPr>
          <a:xfrm>
            <a:off x="7587258" y="2714625"/>
            <a:ext cx="1516856" cy="942975"/>
          </a:xfrm>
          <a:prstGeom prst="rect">
            <a:avLst/>
          </a:prstGeom>
        </p:spPr>
      </p:pic>
      <p:pic>
        <p:nvPicPr>
          <p:cNvPr id="16" name="Image 14" descr="preencoded.png"/>
          <p:cNvPicPr>
            <a:picLocks noChangeAspect="1"/>
          </p:cNvPicPr>
          <p:nvPr/>
        </p:nvPicPr>
        <p:blipFill>
          <a:blip r:embed="rId15"/>
          <a:stretch>
            <a:fillRect/>
          </a:stretch>
        </p:blipFill>
        <p:spPr>
          <a:xfrm>
            <a:off x="8269486" y="2857500"/>
            <a:ext cx="152400" cy="152400"/>
          </a:xfrm>
          <a:prstGeom prst="rect">
            <a:avLst/>
          </a:prstGeom>
        </p:spPr>
      </p:pic>
      <p:pic>
        <p:nvPicPr>
          <p:cNvPr id="17" name="Image 15" descr="preencoded.png"/>
          <p:cNvPicPr>
            <a:picLocks noChangeAspect="1"/>
          </p:cNvPicPr>
          <p:nvPr/>
        </p:nvPicPr>
        <p:blipFill>
          <a:blip r:embed="rId16"/>
          <a:stretch>
            <a:fillRect/>
          </a:stretch>
        </p:blipFill>
        <p:spPr>
          <a:xfrm>
            <a:off x="9199364" y="3176588"/>
            <a:ext cx="542330" cy="19050"/>
          </a:xfrm>
          <a:prstGeom prst="rect">
            <a:avLst/>
          </a:prstGeom>
        </p:spPr>
      </p:pic>
      <p:pic>
        <p:nvPicPr>
          <p:cNvPr id="18" name="Image 16" descr="preencoded.png"/>
          <p:cNvPicPr>
            <a:picLocks noChangeAspect="1"/>
          </p:cNvPicPr>
          <p:nvPr/>
        </p:nvPicPr>
        <p:blipFill>
          <a:blip r:embed="rId17"/>
          <a:stretch>
            <a:fillRect/>
          </a:stretch>
        </p:blipFill>
        <p:spPr>
          <a:xfrm>
            <a:off x="9836944" y="2714625"/>
            <a:ext cx="1516856" cy="942975"/>
          </a:xfrm>
          <a:prstGeom prst="rect">
            <a:avLst/>
          </a:prstGeom>
        </p:spPr>
      </p:pic>
      <p:pic>
        <p:nvPicPr>
          <p:cNvPr id="19" name="Image 17" descr="preencoded.png"/>
          <p:cNvPicPr>
            <a:picLocks noChangeAspect="1"/>
          </p:cNvPicPr>
          <p:nvPr/>
        </p:nvPicPr>
        <p:blipFill>
          <a:blip r:embed="rId18"/>
          <a:stretch>
            <a:fillRect/>
          </a:stretch>
        </p:blipFill>
        <p:spPr>
          <a:xfrm>
            <a:off x="10519172" y="2857500"/>
            <a:ext cx="152400" cy="152400"/>
          </a:xfrm>
          <a:prstGeom prst="rect">
            <a:avLst/>
          </a:prstGeom>
        </p:spPr>
      </p:pic>
      <p:pic>
        <p:nvPicPr>
          <p:cNvPr id="20" name="Image 18" descr="preencoded.png"/>
          <p:cNvPicPr>
            <a:picLocks noChangeAspect="1"/>
          </p:cNvPicPr>
          <p:nvPr/>
        </p:nvPicPr>
        <p:blipFill>
          <a:blip r:embed="rId19"/>
          <a:stretch>
            <a:fillRect/>
          </a:stretch>
        </p:blipFill>
        <p:spPr>
          <a:xfrm>
            <a:off x="609600" y="4114800"/>
            <a:ext cx="2628900" cy="1143000"/>
          </a:xfrm>
          <a:prstGeom prst="rect">
            <a:avLst/>
          </a:prstGeom>
        </p:spPr>
      </p:pic>
      <p:pic>
        <p:nvPicPr>
          <p:cNvPr id="21" name="Image 19" descr="preencoded.png"/>
          <p:cNvPicPr>
            <a:picLocks noChangeAspect="1"/>
          </p:cNvPicPr>
          <p:nvPr/>
        </p:nvPicPr>
        <p:blipFill>
          <a:blip r:embed="rId20"/>
          <a:stretch>
            <a:fillRect/>
          </a:stretch>
        </p:blipFill>
        <p:spPr>
          <a:xfrm>
            <a:off x="762000" y="4267200"/>
            <a:ext cx="381000" cy="381000"/>
          </a:xfrm>
          <a:prstGeom prst="rect">
            <a:avLst/>
          </a:prstGeom>
        </p:spPr>
      </p:pic>
      <p:pic>
        <p:nvPicPr>
          <p:cNvPr id="22" name="Image 20" descr="preencoded.png"/>
          <p:cNvPicPr>
            <a:picLocks noChangeAspect="1"/>
          </p:cNvPicPr>
          <p:nvPr/>
        </p:nvPicPr>
        <p:blipFill>
          <a:blip r:embed="rId21"/>
          <a:stretch>
            <a:fillRect/>
          </a:stretch>
        </p:blipFill>
        <p:spPr>
          <a:xfrm>
            <a:off x="876300" y="4381500"/>
            <a:ext cx="152400" cy="152400"/>
          </a:xfrm>
          <a:prstGeom prst="rect">
            <a:avLst/>
          </a:prstGeom>
        </p:spPr>
      </p:pic>
      <p:pic>
        <p:nvPicPr>
          <p:cNvPr id="23" name="Image 21" descr="preencoded.png"/>
          <p:cNvPicPr>
            <a:picLocks noChangeAspect="1"/>
          </p:cNvPicPr>
          <p:nvPr/>
        </p:nvPicPr>
        <p:blipFill>
          <a:blip r:embed="rId22"/>
          <a:stretch>
            <a:fillRect/>
          </a:stretch>
        </p:blipFill>
        <p:spPr>
          <a:xfrm>
            <a:off x="3390900" y="4114800"/>
            <a:ext cx="2628900" cy="1143000"/>
          </a:xfrm>
          <a:prstGeom prst="rect">
            <a:avLst/>
          </a:prstGeom>
        </p:spPr>
      </p:pic>
      <p:pic>
        <p:nvPicPr>
          <p:cNvPr id="24" name="Image 22" descr="preencoded.png"/>
          <p:cNvPicPr>
            <a:picLocks noChangeAspect="1"/>
          </p:cNvPicPr>
          <p:nvPr/>
        </p:nvPicPr>
        <p:blipFill>
          <a:blip r:embed="rId23"/>
          <a:stretch>
            <a:fillRect/>
          </a:stretch>
        </p:blipFill>
        <p:spPr>
          <a:xfrm>
            <a:off x="3543300" y="4267200"/>
            <a:ext cx="381000" cy="381000"/>
          </a:xfrm>
          <a:prstGeom prst="rect">
            <a:avLst/>
          </a:prstGeom>
        </p:spPr>
      </p:pic>
      <p:pic>
        <p:nvPicPr>
          <p:cNvPr id="25" name="Image 23" descr="preencoded.png"/>
          <p:cNvPicPr>
            <a:picLocks noChangeAspect="1"/>
          </p:cNvPicPr>
          <p:nvPr/>
        </p:nvPicPr>
        <p:blipFill>
          <a:blip r:embed="rId24"/>
          <a:stretch>
            <a:fillRect/>
          </a:stretch>
        </p:blipFill>
        <p:spPr>
          <a:xfrm>
            <a:off x="3662362" y="4381500"/>
            <a:ext cx="142875" cy="152400"/>
          </a:xfrm>
          <a:prstGeom prst="rect">
            <a:avLst/>
          </a:prstGeom>
        </p:spPr>
      </p:pic>
      <p:pic>
        <p:nvPicPr>
          <p:cNvPr id="26" name="Image 24" descr="preencoded.png"/>
          <p:cNvPicPr>
            <a:picLocks noChangeAspect="1"/>
          </p:cNvPicPr>
          <p:nvPr/>
        </p:nvPicPr>
        <p:blipFill>
          <a:blip r:embed="rId22"/>
          <a:stretch>
            <a:fillRect/>
          </a:stretch>
        </p:blipFill>
        <p:spPr>
          <a:xfrm>
            <a:off x="6172200" y="4114800"/>
            <a:ext cx="2628900" cy="1143000"/>
          </a:xfrm>
          <a:prstGeom prst="rect">
            <a:avLst/>
          </a:prstGeom>
        </p:spPr>
      </p:pic>
      <p:pic>
        <p:nvPicPr>
          <p:cNvPr id="27" name="Image 25" descr="preencoded.png"/>
          <p:cNvPicPr>
            <a:picLocks noChangeAspect="1"/>
          </p:cNvPicPr>
          <p:nvPr/>
        </p:nvPicPr>
        <p:blipFill>
          <a:blip r:embed="rId25"/>
          <a:stretch>
            <a:fillRect/>
          </a:stretch>
        </p:blipFill>
        <p:spPr>
          <a:xfrm>
            <a:off x="6324600" y="4267200"/>
            <a:ext cx="381000" cy="381000"/>
          </a:xfrm>
          <a:prstGeom prst="rect">
            <a:avLst/>
          </a:prstGeom>
        </p:spPr>
      </p:pic>
      <p:pic>
        <p:nvPicPr>
          <p:cNvPr id="28" name="Image 26" descr="preencoded.png"/>
          <p:cNvPicPr>
            <a:picLocks noChangeAspect="1"/>
          </p:cNvPicPr>
          <p:nvPr/>
        </p:nvPicPr>
        <p:blipFill>
          <a:blip r:embed="rId26"/>
          <a:stretch>
            <a:fillRect/>
          </a:stretch>
        </p:blipFill>
        <p:spPr>
          <a:xfrm>
            <a:off x="6438900" y="4381500"/>
            <a:ext cx="152400" cy="152400"/>
          </a:xfrm>
          <a:prstGeom prst="rect">
            <a:avLst/>
          </a:prstGeom>
        </p:spPr>
      </p:pic>
      <p:pic>
        <p:nvPicPr>
          <p:cNvPr id="29" name="Image 27" descr="preencoded.png"/>
          <p:cNvPicPr>
            <a:picLocks noChangeAspect="1"/>
          </p:cNvPicPr>
          <p:nvPr/>
        </p:nvPicPr>
        <p:blipFill>
          <a:blip r:embed="rId22"/>
          <a:stretch>
            <a:fillRect/>
          </a:stretch>
        </p:blipFill>
        <p:spPr>
          <a:xfrm>
            <a:off x="8953500" y="4114800"/>
            <a:ext cx="2628900" cy="1143000"/>
          </a:xfrm>
          <a:prstGeom prst="rect">
            <a:avLst/>
          </a:prstGeom>
        </p:spPr>
      </p:pic>
      <p:pic>
        <p:nvPicPr>
          <p:cNvPr id="30" name="Image 28" descr="preencoded.png"/>
          <p:cNvPicPr>
            <a:picLocks noChangeAspect="1"/>
          </p:cNvPicPr>
          <p:nvPr/>
        </p:nvPicPr>
        <p:blipFill>
          <a:blip r:embed="rId27"/>
          <a:stretch>
            <a:fillRect/>
          </a:stretch>
        </p:blipFill>
        <p:spPr>
          <a:xfrm>
            <a:off x="9105900" y="4267200"/>
            <a:ext cx="381000" cy="381000"/>
          </a:xfrm>
          <a:prstGeom prst="rect">
            <a:avLst/>
          </a:prstGeom>
        </p:spPr>
      </p:pic>
      <p:pic>
        <p:nvPicPr>
          <p:cNvPr id="31" name="Image 29" descr="preencoded.png"/>
          <p:cNvPicPr>
            <a:picLocks noChangeAspect="1"/>
          </p:cNvPicPr>
          <p:nvPr/>
        </p:nvPicPr>
        <p:blipFill>
          <a:blip r:embed="rId28"/>
          <a:stretch>
            <a:fillRect/>
          </a:stretch>
        </p:blipFill>
        <p:spPr>
          <a:xfrm>
            <a:off x="9229725" y="4381500"/>
            <a:ext cx="133350" cy="152400"/>
          </a:xfrm>
          <a:prstGeom prst="rect">
            <a:avLst/>
          </a:prstGeom>
        </p:spPr>
      </p:pic>
      <p:sp>
        <p:nvSpPr>
          <p:cNvPr id="32" name="Text 0"/>
          <p:cNvSpPr/>
          <p:nvPr/>
        </p:nvSpPr>
        <p:spPr>
          <a:xfrm>
            <a:off x="609600" y="4572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Methods</a:t>
            </a:r>
            <a:endParaRPr lang="en-US" sz="2700" dirty="0"/>
          </a:p>
        </p:txBody>
      </p:sp>
      <p:sp>
        <p:nvSpPr>
          <p:cNvPr id="33" name="Text 1"/>
          <p:cNvSpPr/>
          <p:nvPr/>
        </p:nvSpPr>
        <p:spPr>
          <a:xfrm>
            <a:off x="609600" y="1219200"/>
            <a:ext cx="10972800" cy="619125"/>
          </a:xfrm>
          <a:prstGeom prst="rect">
            <a:avLst/>
          </a:prstGeom>
          <a:noFill/>
          <a:ln/>
        </p:spPr>
        <p:txBody>
          <a:bodyPr vert="horz" wrap="square" lIns="0" tIns="0" rIns="0" bIns="0" rtlCol="0" anchor="t"/>
          <a:lstStyle/>
          <a:p>
            <a:pPr marL="0" indent="0">
              <a:lnSpc>
                <a:spcPts val="2438"/>
              </a:lnSpc>
              <a:buNone/>
            </a:pPr>
            <a:r>
              <a:rPr lang="en-US" sz="1500" dirty="0">
                <a:solidFill>
                  <a:srgbClr val="374151"/>
                </a:solidFill>
                <a:latin typeface="ui-sans-serif" pitchFamily="34" charset="0"/>
                <a:ea typeface="ui-sans-serif" pitchFamily="34" charset="-122"/>
                <a:cs typeface="ui-sans-serif" pitchFamily="34" charset="-120"/>
              </a:rPr>
              <a:t>Methods are specific operations that can be performed on a resource, corresponding to HTTP verbs and defining the complete flow for handling a client request.</a:t>
            </a:r>
            <a:endParaRPr lang="en-US" sz="1500" dirty="0"/>
          </a:p>
        </p:txBody>
      </p:sp>
      <p:sp>
        <p:nvSpPr>
          <p:cNvPr id="34" name="Text 2"/>
          <p:cNvSpPr/>
          <p:nvPr/>
        </p:nvSpPr>
        <p:spPr>
          <a:xfrm>
            <a:off x="838200" y="2295525"/>
            <a:ext cx="10515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Method Request Handling Flow</a:t>
            </a:r>
            <a:endParaRPr lang="en-US" sz="1350" dirty="0"/>
          </a:p>
        </p:txBody>
      </p:sp>
      <p:sp>
        <p:nvSpPr>
          <p:cNvPr id="35" name="Text 3"/>
          <p:cNvSpPr/>
          <p:nvPr/>
        </p:nvSpPr>
        <p:spPr>
          <a:xfrm>
            <a:off x="823674" y="3200400"/>
            <a:ext cx="1545908"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1E40AF"/>
                </a:solidFill>
                <a:latin typeface="ui-sans-serif" pitchFamily="34" charset="0"/>
                <a:ea typeface="ui-sans-serif" pitchFamily="34" charset="-122"/>
                <a:cs typeface="ui-sans-serif" pitchFamily="34" charset="-120"/>
              </a:rPr>
              <a:t>Client Request</a:t>
            </a:r>
            <a:endParaRPr lang="en-US" sz="1200" dirty="0"/>
          </a:p>
        </p:txBody>
      </p:sp>
      <p:sp>
        <p:nvSpPr>
          <p:cNvPr id="36" name="Text 4"/>
          <p:cNvSpPr/>
          <p:nvPr/>
        </p:nvSpPr>
        <p:spPr>
          <a:xfrm>
            <a:off x="3073360" y="3200400"/>
            <a:ext cx="1545908"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166534"/>
                </a:solidFill>
                <a:latin typeface="ui-sans-serif" pitchFamily="34" charset="0"/>
                <a:ea typeface="ui-sans-serif" pitchFamily="34" charset="-122"/>
                <a:cs typeface="ui-sans-serif" pitchFamily="34" charset="-120"/>
              </a:rPr>
              <a:t>Authorization</a:t>
            </a:r>
            <a:endParaRPr lang="en-US" sz="1200" dirty="0"/>
          </a:p>
        </p:txBody>
      </p:sp>
      <p:sp>
        <p:nvSpPr>
          <p:cNvPr id="37" name="Text 5"/>
          <p:cNvSpPr/>
          <p:nvPr/>
        </p:nvSpPr>
        <p:spPr>
          <a:xfrm>
            <a:off x="5451872" y="3086100"/>
            <a:ext cx="1288256"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854D0E"/>
                </a:solidFill>
                <a:latin typeface="ui-sans-serif" pitchFamily="34" charset="0"/>
                <a:ea typeface="ui-sans-serif" pitchFamily="34" charset="-122"/>
                <a:cs typeface="ui-sans-serif" pitchFamily="34" charset="-120"/>
              </a:rPr>
              <a:t>Request Validation</a:t>
            </a:r>
            <a:endParaRPr lang="en-US" sz="1200" dirty="0"/>
          </a:p>
        </p:txBody>
      </p:sp>
      <p:sp>
        <p:nvSpPr>
          <p:cNvPr id="38" name="Text 6"/>
          <p:cNvSpPr/>
          <p:nvPr/>
        </p:nvSpPr>
        <p:spPr>
          <a:xfrm>
            <a:off x="7701558" y="3086100"/>
            <a:ext cx="1288256"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6B21A8"/>
                </a:solidFill>
                <a:latin typeface="ui-sans-serif" pitchFamily="34" charset="0"/>
                <a:ea typeface="ui-sans-serif" pitchFamily="34" charset="-122"/>
                <a:cs typeface="ui-sans-serif" pitchFamily="34" charset="-120"/>
              </a:rPr>
              <a:t>Backend Integration</a:t>
            </a:r>
            <a:endParaRPr lang="en-US" sz="1200" dirty="0"/>
          </a:p>
        </p:txBody>
      </p:sp>
      <p:sp>
        <p:nvSpPr>
          <p:cNvPr id="39" name="Text 7"/>
          <p:cNvSpPr/>
          <p:nvPr/>
        </p:nvSpPr>
        <p:spPr>
          <a:xfrm>
            <a:off x="9951244" y="3086100"/>
            <a:ext cx="1288256"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991B1B"/>
                </a:solidFill>
                <a:latin typeface="ui-sans-serif" pitchFamily="34" charset="0"/>
                <a:ea typeface="ui-sans-serif" pitchFamily="34" charset="-122"/>
                <a:cs typeface="ui-sans-serif" pitchFamily="34" charset="-120"/>
              </a:rPr>
              <a:t>Response Transformation</a:t>
            </a:r>
            <a:endParaRPr lang="en-US" sz="1200" dirty="0"/>
          </a:p>
        </p:txBody>
      </p:sp>
      <p:sp>
        <p:nvSpPr>
          <p:cNvPr id="40" name="Text 8"/>
          <p:cNvSpPr/>
          <p:nvPr/>
        </p:nvSpPr>
        <p:spPr>
          <a:xfrm>
            <a:off x="1257300" y="4324350"/>
            <a:ext cx="449878"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GET</a:t>
            </a:r>
            <a:endParaRPr lang="en-US" sz="1350" dirty="0"/>
          </a:p>
        </p:txBody>
      </p:sp>
      <p:sp>
        <p:nvSpPr>
          <p:cNvPr id="41" name="Text 9"/>
          <p:cNvSpPr/>
          <p:nvPr/>
        </p:nvSpPr>
        <p:spPr>
          <a:xfrm>
            <a:off x="762000" y="47244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Retrieves a resource or data from the server.</a:t>
            </a:r>
            <a:endParaRPr lang="en-US" sz="1050" dirty="0"/>
          </a:p>
        </p:txBody>
      </p:sp>
      <p:sp>
        <p:nvSpPr>
          <p:cNvPr id="42" name="Text 10"/>
          <p:cNvSpPr/>
          <p:nvPr/>
        </p:nvSpPr>
        <p:spPr>
          <a:xfrm>
            <a:off x="4038600" y="4324350"/>
            <a:ext cx="614363"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POST</a:t>
            </a:r>
            <a:endParaRPr lang="en-US" sz="1350" dirty="0"/>
          </a:p>
        </p:txBody>
      </p:sp>
      <p:sp>
        <p:nvSpPr>
          <p:cNvPr id="43" name="Text 11"/>
          <p:cNvSpPr/>
          <p:nvPr/>
        </p:nvSpPr>
        <p:spPr>
          <a:xfrm>
            <a:off x="3543300" y="47244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Creates a new resource or submits data to the server.</a:t>
            </a:r>
            <a:endParaRPr lang="en-US" sz="1050" dirty="0"/>
          </a:p>
        </p:txBody>
      </p:sp>
      <p:sp>
        <p:nvSpPr>
          <p:cNvPr id="44" name="Text 12"/>
          <p:cNvSpPr/>
          <p:nvPr/>
        </p:nvSpPr>
        <p:spPr>
          <a:xfrm>
            <a:off x="6819900" y="4324350"/>
            <a:ext cx="458272"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PUT</a:t>
            </a:r>
            <a:endParaRPr lang="en-US" sz="1350" dirty="0"/>
          </a:p>
        </p:txBody>
      </p:sp>
      <p:sp>
        <p:nvSpPr>
          <p:cNvPr id="45" name="Text 13"/>
          <p:cNvSpPr/>
          <p:nvPr/>
        </p:nvSpPr>
        <p:spPr>
          <a:xfrm>
            <a:off x="6324600" y="47244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Replaces an existing resource entirely with new data.</a:t>
            </a:r>
            <a:endParaRPr lang="en-US" sz="1050" dirty="0"/>
          </a:p>
        </p:txBody>
      </p:sp>
      <p:sp>
        <p:nvSpPr>
          <p:cNvPr id="46" name="Text 14"/>
          <p:cNvSpPr/>
          <p:nvPr/>
        </p:nvSpPr>
        <p:spPr>
          <a:xfrm>
            <a:off x="9601200" y="4324350"/>
            <a:ext cx="863858"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DELETE</a:t>
            </a:r>
            <a:endParaRPr lang="en-US" sz="1350" dirty="0"/>
          </a:p>
        </p:txBody>
      </p:sp>
      <p:sp>
        <p:nvSpPr>
          <p:cNvPr id="47" name="Text 15"/>
          <p:cNvSpPr/>
          <p:nvPr/>
        </p:nvSpPr>
        <p:spPr>
          <a:xfrm>
            <a:off x="9105900" y="47244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Removes a specified resource from the server.</a:t>
            </a:r>
            <a:endParaRPr lang="en-US" sz="1050" dirty="0"/>
          </a:p>
        </p:txBody>
      </p:sp>
      <p:sp>
        <p:nvSpPr>
          <p:cNvPr id="49" name="Text 17"/>
          <p:cNvSpPr/>
          <p:nvPr/>
        </p:nvSpPr>
        <p:spPr>
          <a:xfrm>
            <a:off x="11367790" y="6515100"/>
            <a:ext cx="257532" cy="190500"/>
          </a:xfrm>
          <a:prstGeom prst="rect">
            <a:avLst/>
          </a:prstGeom>
          <a:noFill/>
          <a:ln/>
        </p:spPr>
        <p:txBody>
          <a:bodyPr vert="horz" wrap="square" lIns="0" tIns="0" rIns="0" bIns="0" rtlCol="0" anchor="t"/>
          <a:lstStyle/>
          <a:p>
            <a:pPr marL="0" indent="0">
              <a:lnSpc>
                <a:spcPts val="1500"/>
              </a:lnSpc>
              <a:buNone/>
            </a:pP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607834"/>
          </a:xfrm>
          <a:prstGeom prst="rect">
            <a:avLst/>
          </a:prstGeom>
        </p:spPr>
      </p:pic>
      <p:pic>
        <p:nvPicPr>
          <p:cNvPr id="3" name="Image 1" descr="preencoded.png"/>
          <p:cNvPicPr>
            <a:picLocks noChangeAspect="1"/>
          </p:cNvPicPr>
          <p:nvPr/>
        </p:nvPicPr>
        <p:blipFill>
          <a:blip r:embed="rId4"/>
          <a:stretch>
            <a:fillRect/>
          </a:stretch>
        </p:blipFill>
        <p:spPr>
          <a:xfrm>
            <a:off x="0" y="0"/>
            <a:ext cx="12192000" cy="6271404"/>
          </a:xfrm>
          <a:prstGeom prst="rect">
            <a:avLst/>
          </a:prstGeom>
        </p:spPr>
      </p:pic>
      <p:pic>
        <p:nvPicPr>
          <p:cNvPr id="4" name="Image 2" descr="preencoded.png"/>
          <p:cNvPicPr>
            <a:picLocks noChangeAspect="1"/>
          </p:cNvPicPr>
          <p:nvPr/>
        </p:nvPicPr>
        <p:blipFill>
          <a:blip r:embed="rId5"/>
          <a:stretch>
            <a:fillRect/>
          </a:stretch>
        </p:blipFill>
        <p:spPr>
          <a:xfrm>
            <a:off x="609600" y="952500"/>
            <a:ext cx="3657600" cy="38100"/>
          </a:xfrm>
          <a:prstGeom prst="rect">
            <a:avLst/>
          </a:prstGeom>
        </p:spPr>
      </p:pic>
      <p:pic>
        <p:nvPicPr>
          <p:cNvPr id="5" name="Image 3" descr="preencoded.png"/>
          <p:cNvPicPr>
            <a:picLocks noChangeAspect="1"/>
          </p:cNvPicPr>
          <p:nvPr/>
        </p:nvPicPr>
        <p:blipFill>
          <a:blip r:embed="rId6"/>
          <a:stretch>
            <a:fillRect/>
          </a:stretch>
        </p:blipFill>
        <p:spPr>
          <a:xfrm>
            <a:off x="609600" y="2190750"/>
            <a:ext cx="5372100" cy="1257300"/>
          </a:xfrm>
          <a:prstGeom prst="rect">
            <a:avLst/>
          </a:prstGeom>
        </p:spPr>
      </p:pic>
      <p:pic>
        <p:nvPicPr>
          <p:cNvPr id="6" name="Image 4" descr="preencoded.png"/>
          <p:cNvPicPr>
            <a:picLocks noChangeAspect="1"/>
          </p:cNvPicPr>
          <p:nvPr/>
        </p:nvPicPr>
        <p:blipFill>
          <a:blip r:embed="rId7"/>
          <a:stretch>
            <a:fillRect/>
          </a:stretch>
        </p:blipFill>
        <p:spPr>
          <a:xfrm>
            <a:off x="800100" y="2381250"/>
            <a:ext cx="200025" cy="304800"/>
          </a:xfrm>
          <a:prstGeom prst="rect">
            <a:avLst/>
          </a:prstGeom>
        </p:spPr>
      </p:pic>
      <p:pic>
        <p:nvPicPr>
          <p:cNvPr id="7" name="Image 5" descr="preencoded.png"/>
          <p:cNvPicPr>
            <a:picLocks noChangeAspect="1"/>
          </p:cNvPicPr>
          <p:nvPr/>
        </p:nvPicPr>
        <p:blipFill>
          <a:blip r:embed="rId6"/>
          <a:stretch>
            <a:fillRect/>
          </a:stretch>
        </p:blipFill>
        <p:spPr>
          <a:xfrm>
            <a:off x="6210300" y="2190750"/>
            <a:ext cx="5372100" cy="1257300"/>
          </a:xfrm>
          <a:prstGeom prst="rect">
            <a:avLst/>
          </a:prstGeom>
        </p:spPr>
      </p:pic>
      <p:pic>
        <p:nvPicPr>
          <p:cNvPr id="8" name="Image 6" descr="preencoded.png"/>
          <p:cNvPicPr>
            <a:picLocks noChangeAspect="1"/>
          </p:cNvPicPr>
          <p:nvPr/>
        </p:nvPicPr>
        <p:blipFill>
          <a:blip r:embed="rId8"/>
          <a:stretch>
            <a:fillRect/>
          </a:stretch>
        </p:blipFill>
        <p:spPr>
          <a:xfrm>
            <a:off x="6400800" y="2381250"/>
            <a:ext cx="228600" cy="304800"/>
          </a:xfrm>
          <a:prstGeom prst="rect">
            <a:avLst/>
          </a:prstGeom>
        </p:spPr>
      </p:pic>
      <p:pic>
        <p:nvPicPr>
          <p:cNvPr id="9" name="Image 7" descr="preencoded.png"/>
          <p:cNvPicPr>
            <a:picLocks noChangeAspect="1"/>
          </p:cNvPicPr>
          <p:nvPr/>
        </p:nvPicPr>
        <p:blipFill>
          <a:blip r:embed="rId6"/>
          <a:stretch>
            <a:fillRect/>
          </a:stretch>
        </p:blipFill>
        <p:spPr>
          <a:xfrm>
            <a:off x="609600" y="3676650"/>
            <a:ext cx="5372100" cy="1257300"/>
          </a:xfrm>
          <a:prstGeom prst="rect">
            <a:avLst/>
          </a:prstGeom>
        </p:spPr>
      </p:pic>
      <p:pic>
        <p:nvPicPr>
          <p:cNvPr id="10" name="Image 8" descr="preencoded.png"/>
          <p:cNvPicPr>
            <a:picLocks noChangeAspect="1"/>
          </p:cNvPicPr>
          <p:nvPr/>
        </p:nvPicPr>
        <p:blipFill>
          <a:blip r:embed="rId9"/>
          <a:stretch>
            <a:fillRect/>
          </a:stretch>
        </p:blipFill>
        <p:spPr>
          <a:xfrm>
            <a:off x="800100" y="3867150"/>
            <a:ext cx="228600" cy="304800"/>
          </a:xfrm>
          <a:prstGeom prst="rect">
            <a:avLst/>
          </a:prstGeom>
        </p:spPr>
      </p:pic>
      <p:pic>
        <p:nvPicPr>
          <p:cNvPr id="11" name="Image 9" descr="preencoded.png"/>
          <p:cNvPicPr>
            <a:picLocks noChangeAspect="1"/>
          </p:cNvPicPr>
          <p:nvPr/>
        </p:nvPicPr>
        <p:blipFill>
          <a:blip r:embed="rId6"/>
          <a:stretch>
            <a:fillRect/>
          </a:stretch>
        </p:blipFill>
        <p:spPr>
          <a:xfrm>
            <a:off x="6210300" y="3676650"/>
            <a:ext cx="5372100" cy="1257300"/>
          </a:xfrm>
          <a:prstGeom prst="rect">
            <a:avLst/>
          </a:prstGeom>
        </p:spPr>
      </p:pic>
      <p:pic>
        <p:nvPicPr>
          <p:cNvPr id="12" name="Image 10" descr="preencoded.png"/>
          <p:cNvPicPr>
            <a:picLocks noChangeAspect="1"/>
          </p:cNvPicPr>
          <p:nvPr/>
        </p:nvPicPr>
        <p:blipFill>
          <a:blip r:embed="rId10"/>
          <a:stretch>
            <a:fillRect/>
          </a:stretch>
        </p:blipFill>
        <p:spPr>
          <a:xfrm>
            <a:off x="6400800" y="3867150"/>
            <a:ext cx="228600" cy="304800"/>
          </a:xfrm>
          <a:prstGeom prst="rect">
            <a:avLst/>
          </a:prstGeom>
        </p:spPr>
      </p:pic>
      <p:pic>
        <p:nvPicPr>
          <p:cNvPr id="13" name="Image 11" descr="preencoded.png"/>
          <p:cNvPicPr>
            <a:picLocks noChangeAspect="1"/>
          </p:cNvPicPr>
          <p:nvPr/>
        </p:nvPicPr>
        <p:blipFill>
          <a:blip r:embed="rId11"/>
          <a:stretch>
            <a:fillRect/>
          </a:stretch>
        </p:blipFill>
        <p:spPr>
          <a:xfrm>
            <a:off x="609600" y="5162550"/>
            <a:ext cx="10972800" cy="685800"/>
          </a:xfrm>
          <a:prstGeom prst="rect">
            <a:avLst/>
          </a:prstGeom>
        </p:spPr>
      </p:pic>
      <p:pic>
        <p:nvPicPr>
          <p:cNvPr id="14" name="Image 12" descr="preencoded.png"/>
          <p:cNvPicPr>
            <a:picLocks noChangeAspect="1"/>
          </p:cNvPicPr>
          <p:nvPr/>
        </p:nvPicPr>
        <p:blipFill>
          <a:blip r:embed="rId12"/>
          <a:stretch>
            <a:fillRect/>
          </a:stretch>
        </p:blipFill>
        <p:spPr>
          <a:xfrm>
            <a:off x="800100" y="5353050"/>
            <a:ext cx="228600" cy="304800"/>
          </a:xfrm>
          <a:prstGeom prst="rect">
            <a:avLst/>
          </a:prstGeom>
        </p:spPr>
      </p:pic>
      <p:pic>
        <p:nvPicPr>
          <p:cNvPr id="15" name="Image 13" descr="preencoded.png"/>
          <p:cNvPicPr>
            <a:picLocks noChangeAspect="1"/>
          </p:cNvPicPr>
          <p:nvPr/>
        </p:nvPicPr>
        <p:blipFill>
          <a:blip r:embed="rId13"/>
          <a:stretch>
            <a:fillRect/>
          </a:stretch>
        </p:blipFill>
        <p:spPr>
          <a:xfrm>
            <a:off x="9311878" y="5372100"/>
            <a:ext cx="492323" cy="266700"/>
          </a:xfrm>
          <a:prstGeom prst="rect">
            <a:avLst/>
          </a:prstGeom>
        </p:spPr>
      </p:pic>
      <p:pic>
        <p:nvPicPr>
          <p:cNvPr id="16" name="Image 14" descr="preencoded.png"/>
          <p:cNvPicPr>
            <a:picLocks noChangeAspect="1"/>
          </p:cNvPicPr>
          <p:nvPr/>
        </p:nvPicPr>
        <p:blipFill>
          <a:blip r:embed="rId14"/>
          <a:stretch>
            <a:fillRect/>
          </a:stretch>
        </p:blipFill>
        <p:spPr>
          <a:xfrm>
            <a:off x="9880402" y="5429250"/>
            <a:ext cx="133350" cy="152400"/>
          </a:xfrm>
          <a:prstGeom prst="rect">
            <a:avLst/>
          </a:prstGeom>
        </p:spPr>
      </p:pic>
      <p:pic>
        <p:nvPicPr>
          <p:cNvPr id="17" name="Image 15" descr="preencoded.png"/>
          <p:cNvPicPr>
            <a:picLocks noChangeAspect="1"/>
          </p:cNvPicPr>
          <p:nvPr/>
        </p:nvPicPr>
        <p:blipFill>
          <a:blip r:embed="rId15"/>
          <a:stretch>
            <a:fillRect/>
          </a:stretch>
        </p:blipFill>
        <p:spPr>
          <a:xfrm>
            <a:off x="10089952" y="5372100"/>
            <a:ext cx="491282" cy="266700"/>
          </a:xfrm>
          <a:prstGeom prst="rect">
            <a:avLst/>
          </a:prstGeom>
        </p:spPr>
      </p:pic>
      <p:pic>
        <p:nvPicPr>
          <p:cNvPr id="18" name="Image 16" descr="preencoded.png"/>
          <p:cNvPicPr>
            <a:picLocks noChangeAspect="1"/>
          </p:cNvPicPr>
          <p:nvPr/>
        </p:nvPicPr>
        <p:blipFill>
          <a:blip r:embed="rId14"/>
          <a:stretch>
            <a:fillRect/>
          </a:stretch>
        </p:blipFill>
        <p:spPr>
          <a:xfrm>
            <a:off x="10657433" y="5429250"/>
            <a:ext cx="133350" cy="152400"/>
          </a:xfrm>
          <a:prstGeom prst="rect">
            <a:avLst/>
          </a:prstGeom>
        </p:spPr>
      </p:pic>
      <p:pic>
        <p:nvPicPr>
          <p:cNvPr id="19" name="Image 17" descr="preencoded.png"/>
          <p:cNvPicPr>
            <a:picLocks noChangeAspect="1"/>
          </p:cNvPicPr>
          <p:nvPr/>
        </p:nvPicPr>
        <p:blipFill>
          <a:blip r:embed="rId16"/>
          <a:stretch>
            <a:fillRect/>
          </a:stretch>
        </p:blipFill>
        <p:spPr>
          <a:xfrm>
            <a:off x="10866983" y="5372100"/>
            <a:ext cx="524917" cy="266700"/>
          </a:xfrm>
          <a:prstGeom prst="rect">
            <a:avLst/>
          </a:prstGeom>
        </p:spPr>
      </p:pic>
      <p:sp>
        <p:nvSpPr>
          <p:cNvPr id="20" name="Text 0"/>
          <p:cNvSpPr/>
          <p:nvPr/>
        </p:nvSpPr>
        <p:spPr>
          <a:xfrm>
            <a:off x="609600" y="4572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Stages</a:t>
            </a:r>
            <a:endParaRPr lang="en-US" sz="2700" dirty="0"/>
          </a:p>
        </p:txBody>
      </p:sp>
      <p:sp>
        <p:nvSpPr>
          <p:cNvPr id="21" name="Text 1"/>
          <p:cNvSpPr/>
          <p:nvPr/>
        </p:nvSpPr>
        <p:spPr>
          <a:xfrm>
            <a:off x="609600" y="1219200"/>
            <a:ext cx="10972800" cy="742950"/>
          </a:xfrm>
          <a:prstGeom prst="rect">
            <a:avLst/>
          </a:prstGeom>
          <a:noFill/>
          <a:ln/>
        </p:spPr>
        <p:txBody>
          <a:bodyPr vert="horz" wrap="square" lIns="0" tIns="0" rIns="0" bIns="0" rtlCol="0" anchor="t"/>
          <a:lstStyle/>
          <a:p>
            <a:pPr marL="0" indent="0">
              <a:lnSpc>
                <a:spcPts val="2925"/>
              </a:lnSpc>
              <a:buNone/>
            </a:pPr>
            <a:r>
              <a:rPr lang="en-US" sz="1800" dirty="0">
                <a:solidFill>
                  <a:srgbClr val="374151"/>
                </a:solidFill>
                <a:latin typeface="ui-sans-serif" pitchFamily="34" charset="0"/>
                <a:ea typeface="ui-sans-serif" pitchFamily="34" charset="-122"/>
                <a:cs typeface="ui-sans-serif" pitchFamily="34" charset="-120"/>
              </a:rPr>
              <a:t>A stage in API Gateway is a logical reference to a specific deployment of your API, representing a lifecycle state such as dev, test, beta, or prod.</a:t>
            </a:r>
            <a:endParaRPr lang="en-US" sz="1800" dirty="0"/>
          </a:p>
        </p:txBody>
      </p:sp>
      <p:sp>
        <p:nvSpPr>
          <p:cNvPr id="22" name="Text 2"/>
          <p:cNvSpPr/>
          <p:nvPr/>
        </p:nvSpPr>
        <p:spPr>
          <a:xfrm>
            <a:off x="1114425" y="2400300"/>
            <a:ext cx="270855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Unique Identification</a:t>
            </a:r>
            <a:endParaRPr lang="en-US" sz="1500" dirty="0"/>
          </a:p>
        </p:txBody>
      </p:sp>
      <p:sp>
        <p:nvSpPr>
          <p:cNvPr id="23" name="Text 3"/>
          <p:cNvSpPr/>
          <p:nvPr/>
        </p:nvSpPr>
        <p:spPr>
          <a:xfrm>
            <a:off x="800100" y="2800350"/>
            <a:ext cx="49911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Each stage is identified by its API ID and a unique stage name, with its own invoke URL for accessing the API.</a:t>
            </a:r>
            <a:endParaRPr lang="en-US" sz="1200" dirty="0"/>
          </a:p>
        </p:txBody>
      </p:sp>
      <p:sp>
        <p:nvSpPr>
          <p:cNvPr id="24" name="Text 4"/>
          <p:cNvSpPr/>
          <p:nvPr/>
        </p:nvSpPr>
        <p:spPr>
          <a:xfrm>
            <a:off x="6743700" y="2400300"/>
            <a:ext cx="347614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Independent Configuration</a:t>
            </a:r>
            <a:endParaRPr lang="en-US" sz="1500" dirty="0"/>
          </a:p>
        </p:txBody>
      </p:sp>
      <p:sp>
        <p:nvSpPr>
          <p:cNvPr id="25" name="Text 5"/>
          <p:cNvSpPr/>
          <p:nvPr/>
        </p:nvSpPr>
        <p:spPr>
          <a:xfrm>
            <a:off x="6400800" y="2800350"/>
            <a:ext cx="49911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Stages allow for independent configuration of settings like caching, logging, throttling, and variables.</a:t>
            </a:r>
            <a:endParaRPr lang="en-US" sz="1200" dirty="0"/>
          </a:p>
        </p:txBody>
      </p:sp>
      <p:sp>
        <p:nvSpPr>
          <p:cNvPr id="26" name="Text 6"/>
          <p:cNvSpPr/>
          <p:nvPr/>
        </p:nvSpPr>
        <p:spPr>
          <a:xfrm>
            <a:off x="1143000" y="3886200"/>
            <a:ext cx="19911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Version Control</a:t>
            </a:r>
            <a:endParaRPr lang="en-US" sz="1500" dirty="0"/>
          </a:p>
        </p:txBody>
      </p:sp>
      <p:sp>
        <p:nvSpPr>
          <p:cNvPr id="27" name="Text 7"/>
          <p:cNvSpPr/>
          <p:nvPr/>
        </p:nvSpPr>
        <p:spPr>
          <a:xfrm>
            <a:off x="800100" y="4286250"/>
            <a:ext cx="49911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Stages facilitate API version control, allowing you to maintain multiple versions of your API simultaneously.</a:t>
            </a:r>
            <a:endParaRPr lang="en-US" sz="1200" dirty="0"/>
          </a:p>
        </p:txBody>
      </p:sp>
      <p:sp>
        <p:nvSpPr>
          <p:cNvPr id="28" name="Text 8"/>
          <p:cNvSpPr/>
          <p:nvPr/>
        </p:nvSpPr>
        <p:spPr>
          <a:xfrm>
            <a:off x="6743700" y="3886200"/>
            <a:ext cx="207383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Phased Rollouts</a:t>
            </a:r>
            <a:endParaRPr lang="en-US" sz="1500" dirty="0"/>
          </a:p>
        </p:txBody>
      </p:sp>
      <p:sp>
        <p:nvSpPr>
          <p:cNvPr id="29" name="Text 9"/>
          <p:cNvSpPr/>
          <p:nvPr/>
        </p:nvSpPr>
        <p:spPr>
          <a:xfrm>
            <a:off x="6400800" y="4286250"/>
            <a:ext cx="49911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Stages enable controlled rollouts and quick rollbacks, allowing for phased deployments to gradually expose your API to users.</a:t>
            </a:r>
            <a:endParaRPr lang="en-US" sz="1200" dirty="0"/>
          </a:p>
        </p:txBody>
      </p:sp>
      <p:sp>
        <p:nvSpPr>
          <p:cNvPr id="30" name="Text 10"/>
          <p:cNvSpPr/>
          <p:nvPr/>
        </p:nvSpPr>
        <p:spPr>
          <a:xfrm>
            <a:off x="1143000" y="5372100"/>
            <a:ext cx="195845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Stage Lifecycle</a:t>
            </a:r>
            <a:endParaRPr lang="en-US" sz="1500" dirty="0"/>
          </a:p>
        </p:txBody>
      </p:sp>
      <p:sp>
        <p:nvSpPr>
          <p:cNvPr id="31" name="Text 11"/>
          <p:cNvSpPr/>
          <p:nvPr/>
        </p:nvSpPr>
        <p:spPr>
          <a:xfrm>
            <a:off x="9426178" y="5372100"/>
            <a:ext cx="492323" cy="266700"/>
          </a:xfrm>
          <a:prstGeom prst="rect">
            <a:avLst/>
          </a:prstGeom>
          <a:noFill/>
          <a:ln/>
        </p:spPr>
        <p:txBody>
          <a:bodyPr vert="horz" wrap="square" lIns="0" tIns="0" rIns="0" bIns="0" rtlCol="0" anchor="t"/>
          <a:lstStyle/>
          <a:p>
            <a:pPr marL="0" indent="0">
              <a:lnSpc>
                <a:spcPts val="1500"/>
              </a:lnSpc>
              <a:buNone/>
            </a:pPr>
            <a:r>
              <a:rPr lang="en-US" sz="1050" dirty="0">
                <a:solidFill>
                  <a:srgbClr val="166534"/>
                </a:solidFill>
                <a:latin typeface="ui-sans-serif" pitchFamily="34" charset="0"/>
                <a:ea typeface="ui-sans-serif" pitchFamily="34" charset="-122"/>
                <a:cs typeface="ui-sans-serif" pitchFamily="34" charset="-120"/>
              </a:rPr>
              <a:t>Dev</a:t>
            </a:r>
            <a:endParaRPr lang="en-US" sz="1050" dirty="0"/>
          </a:p>
        </p:txBody>
      </p:sp>
      <p:sp>
        <p:nvSpPr>
          <p:cNvPr id="32" name="Text 12"/>
          <p:cNvSpPr/>
          <p:nvPr/>
        </p:nvSpPr>
        <p:spPr>
          <a:xfrm>
            <a:off x="10204252" y="5372100"/>
            <a:ext cx="589538" cy="266700"/>
          </a:xfrm>
          <a:prstGeom prst="rect">
            <a:avLst/>
          </a:prstGeom>
          <a:noFill/>
          <a:ln/>
        </p:spPr>
        <p:txBody>
          <a:bodyPr vert="horz" wrap="square" lIns="0" tIns="0" rIns="0" bIns="0" rtlCol="0" anchor="t"/>
          <a:lstStyle/>
          <a:p>
            <a:pPr marL="0" indent="0">
              <a:lnSpc>
                <a:spcPts val="1500"/>
              </a:lnSpc>
              <a:buNone/>
            </a:pPr>
            <a:r>
              <a:rPr lang="en-US" sz="1050" dirty="0">
                <a:solidFill>
                  <a:srgbClr val="1E40AF"/>
                </a:solidFill>
                <a:latin typeface="ui-sans-serif" pitchFamily="34" charset="0"/>
                <a:ea typeface="ui-sans-serif" pitchFamily="34" charset="-122"/>
                <a:cs typeface="ui-sans-serif" pitchFamily="34" charset="-120"/>
              </a:rPr>
              <a:t>Test</a:t>
            </a:r>
            <a:endParaRPr lang="en-US" sz="1050" dirty="0"/>
          </a:p>
        </p:txBody>
      </p:sp>
      <p:sp>
        <p:nvSpPr>
          <p:cNvPr id="33" name="Text 13"/>
          <p:cNvSpPr/>
          <p:nvPr/>
        </p:nvSpPr>
        <p:spPr>
          <a:xfrm>
            <a:off x="10981283" y="5372100"/>
            <a:ext cx="629900" cy="266700"/>
          </a:xfrm>
          <a:prstGeom prst="rect">
            <a:avLst/>
          </a:prstGeom>
          <a:noFill/>
          <a:ln/>
        </p:spPr>
        <p:txBody>
          <a:bodyPr vert="horz" wrap="square" lIns="0" tIns="0" rIns="0" bIns="0" rtlCol="0" anchor="t"/>
          <a:lstStyle/>
          <a:p>
            <a:pPr marL="0" indent="0">
              <a:lnSpc>
                <a:spcPts val="1500"/>
              </a:lnSpc>
              <a:buNone/>
            </a:pPr>
            <a:r>
              <a:rPr lang="en-US" sz="1050" dirty="0">
                <a:solidFill>
                  <a:srgbClr val="991B1B"/>
                </a:solidFill>
                <a:latin typeface="ui-sans-serif" pitchFamily="34" charset="0"/>
                <a:ea typeface="ui-sans-serif" pitchFamily="34" charset="-122"/>
                <a:cs typeface="ui-sans-serif" pitchFamily="34" charset="-120"/>
              </a:rPr>
              <a:t>Prod</a:t>
            </a:r>
            <a:endParaRPr lang="en-US" sz="1050" dirty="0"/>
          </a:p>
        </p:txBody>
      </p:sp>
      <p:sp>
        <p:nvSpPr>
          <p:cNvPr id="35" name="Text 15"/>
          <p:cNvSpPr/>
          <p:nvPr/>
        </p:nvSpPr>
        <p:spPr>
          <a:xfrm>
            <a:off x="11367790" y="6515100"/>
            <a:ext cx="257532" cy="190500"/>
          </a:xfrm>
          <a:prstGeom prst="rect">
            <a:avLst/>
          </a:prstGeom>
          <a:noFill/>
          <a:ln/>
        </p:spPr>
        <p:txBody>
          <a:bodyPr vert="horz" wrap="square" lIns="0" tIns="0" rIns="0" bIns="0" rtlCol="0" anchor="t"/>
          <a:lstStyle/>
          <a:p>
            <a:pPr marL="0" indent="0">
              <a:lnSpc>
                <a:spcPts val="1500"/>
              </a:lnSpc>
              <a:buNone/>
            </a:pP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667500"/>
          </a:xfrm>
          <a:prstGeom prst="rect">
            <a:avLst/>
          </a:prstGeom>
        </p:spPr>
      </p:pic>
      <p:pic>
        <p:nvPicPr>
          <p:cNvPr id="3" name="Image 1" descr="preencoded.png"/>
          <p:cNvPicPr>
            <a:picLocks noChangeAspect="1"/>
          </p:cNvPicPr>
          <p:nvPr/>
        </p:nvPicPr>
        <p:blipFill>
          <a:blip r:embed="rId4"/>
          <a:stretch>
            <a:fillRect/>
          </a:stretch>
        </p:blipFill>
        <p:spPr>
          <a:xfrm>
            <a:off x="0" y="0"/>
            <a:ext cx="3048000" cy="609600"/>
          </a:xfrm>
          <a:prstGeom prst="rect">
            <a:avLst/>
          </a:prstGeom>
        </p:spPr>
      </p:pic>
      <p:pic>
        <p:nvPicPr>
          <p:cNvPr id="4" name="Image 2" descr="preencoded.png"/>
          <p:cNvPicPr>
            <a:picLocks noChangeAspect="1"/>
          </p:cNvPicPr>
          <p:nvPr/>
        </p:nvPicPr>
        <p:blipFill>
          <a:blip r:embed="rId5"/>
          <a:stretch>
            <a:fillRect/>
          </a:stretch>
        </p:blipFill>
        <p:spPr>
          <a:xfrm>
            <a:off x="0" y="0"/>
            <a:ext cx="2031950" cy="609600"/>
          </a:xfrm>
          <a:prstGeom prst="rect">
            <a:avLst/>
          </a:prstGeom>
        </p:spPr>
      </p:pic>
      <p:pic>
        <p:nvPicPr>
          <p:cNvPr id="5" name="Image 3" descr="preencoded.png"/>
          <p:cNvPicPr>
            <a:picLocks noChangeAspect="1"/>
          </p:cNvPicPr>
          <p:nvPr/>
        </p:nvPicPr>
        <p:blipFill>
          <a:blip r:embed="rId6"/>
          <a:stretch>
            <a:fillRect/>
          </a:stretch>
        </p:blipFill>
        <p:spPr>
          <a:xfrm>
            <a:off x="609600" y="1638300"/>
            <a:ext cx="5334000" cy="2019300"/>
          </a:xfrm>
          <a:prstGeom prst="rect">
            <a:avLst/>
          </a:prstGeom>
        </p:spPr>
      </p:pic>
      <p:pic>
        <p:nvPicPr>
          <p:cNvPr id="6" name="Image 4" descr="preencoded.png"/>
          <p:cNvPicPr>
            <a:picLocks noChangeAspect="1"/>
          </p:cNvPicPr>
          <p:nvPr/>
        </p:nvPicPr>
        <p:blipFill>
          <a:blip r:embed="rId7"/>
          <a:stretch>
            <a:fillRect/>
          </a:stretch>
        </p:blipFill>
        <p:spPr>
          <a:xfrm>
            <a:off x="838200" y="1866900"/>
            <a:ext cx="609600" cy="609600"/>
          </a:xfrm>
          <a:prstGeom prst="rect">
            <a:avLst/>
          </a:prstGeom>
        </p:spPr>
      </p:pic>
      <p:pic>
        <p:nvPicPr>
          <p:cNvPr id="7" name="Image 5" descr="preencoded.png"/>
          <p:cNvPicPr>
            <a:picLocks noChangeAspect="1"/>
          </p:cNvPicPr>
          <p:nvPr/>
        </p:nvPicPr>
        <p:blipFill>
          <a:blip r:embed="rId8"/>
          <a:stretch>
            <a:fillRect/>
          </a:stretch>
        </p:blipFill>
        <p:spPr>
          <a:xfrm>
            <a:off x="1014413" y="2019300"/>
            <a:ext cx="257175" cy="304800"/>
          </a:xfrm>
          <a:prstGeom prst="rect">
            <a:avLst/>
          </a:prstGeom>
        </p:spPr>
      </p:pic>
      <p:pic>
        <p:nvPicPr>
          <p:cNvPr id="8" name="Image 6" descr="preencoded.png"/>
          <p:cNvPicPr>
            <a:picLocks noChangeAspect="1"/>
          </p:cNvPicPr>
          <p:nvPr/>
        </p:nvPicPr>
        <p:blipFill>
          <a:blip r:embed="rId9"/>
          <a:stretch>
            <a:fillRect/>
          </a:stretch>
        </p:blipFill>
        <p:spPr>
          <a:xfrm>
            <a:off x="6248400" y="1638300"/>
            <a:ext cx="5334000" cy="2019300"/>
          </a:xfrm>
          <a:prstGeom prst="rect">
            <a:avLst/>
          </a:prstGeom>
        </p:spPr>
      </p:pic>
      <p:pic>
        <p:nvPicPr>
          <p:cNvPr id="9" name="Image 7" descr="preencoded.png"/>
          <p:cNvPicPr>
            <a:picLocks noChangeAspect="1"/>
          </p:cNvPicPr>
          <p:nvPr/>
        </p:nvPicPr>
        <p:blipFill>
          <a:blip r:embed="rId7"/>
          <a:stretch>
            <a:fillRect/>
          </a:stretch>
        </p:blipFill>
        <p:spPr>
          <a:xfrm>
            <a:off x="6477000" y="1866900"/>
            <a:ext cx="609600" cy="609600"/>
          </a:xfrm>
          <a:prstGeom prst="rect">
            <a:avLst/>
          </a:prstGeom>
        </p:spPr>
      </p:pic>
      <p:pic>
        <p:nvPicPr>
          <p:cNvPr id="10" name="Image 8" descr="preencoded.png"/>
          <p:cNvPicPr>
            <a:picLocks noChangeAspect="1"/>
          </p:cNvPicPr>
          <p:nvPr/>
        </p:nvPicPr>
        <p:blipFill>
          <a:blip r:embed="rId10"/>
          <a:stretch>
            <a:fillRect/>
          </a:stretch>
        </p:blipFill>
        <p:spPr>
          <a:xfrm>
            <a:off x="609600" y="3962400"/>
            <a:ext cx="5334000" cy="2019300"/>
          </a:xfrm>
          <a:prstGeom prst="rect">
            <a:avLst/>
          </a:prstGeom>
        </p:spPr>
      </p:pic>
      <p:pic>
        <p:nvPicPr>
          <p:cNvPr id="11" name="Image 9" descr="preencoded.png"/>
          <p:cNvPicPr>
            <a:picLocks noChangeAspect="1"/>
          </p:cNvPicPr>
          <p:nvPr/>
        </p:nvPicPr>
        <p:blipFill>
          <a:blip r:embed="rId11"/>
          <a:stretch>
            <a:fillRect/>
          </a:stretch>
        </p:blipFill>
        <p:spPr>
          <a:xfrm>
            <a:off x="838200" y="4191000"/>
            <a:ext cx="609600" cy="609600"/>
          </a:xfrm>
          <a:prstGeom prst="rect">
            <a:avLst/>
          </a:prstGeom>
        </p:spPr>
      </p:pic>
      <p:pic>
        <p:nvPicPr>
          <p:cNvPr id="12" name="Image 10" descr="preencoded.png"/>
          <p:cNvPicPr>
            <a:picLocks noChangeAspect="1"/>
          </p:cNvPicPr>
          <p:nvPr/>
        </p:nvPicPr>
        <p:blipFill>
          <a:blip r:embed="rId12"/>
          <a:stretch>
            <a:fillRect/>
          </a:stretch>
        </p:blipFill>
        <p:spPr>
          <a:xfrm>
            <a:off x="1042988" y="4343400"/>
            <a:ext cx="200025" cy="304800"/>
          </a:xfrm>
          <a:prstGeom prst="rect">
            <a:avLst/>
          </a:prstGeom>
        </p:spPr>
      </p:pic>
      <p:pic>
        <p:nvPicPr>
          <p:cNvPr id="13" name="Image 11" descr="preencoded.png"/>
          <p:cNvPicPr>
            <a:picLocks noChangeAspect="1"/>
          </p:cNvPicPr>
          <p:nvPr/>
        </p:nvPicPr>
        <p:blipFill>
          <a:blip r:embed="rId10"/>
          <a:stretch>
            <a:fillRect/>
          </a:stretch>
        </p:blipFill>
        <p:spPr>
          <a:xfrm>
            <a:off x="6248400" y="3962400"/>
            <a:ext cx="5334000" cy="2019300"/>
          </a:xfrm>
          <a:prstGeom prst="rect">
            <a:avLst/>
          </a:prstGeom>
        </p:spPr>
      </p:pic>
      <p:pic>
        <p:nvPicPr>
          <p:cNvPr id="14" name="Image 12" descr="preencoded.png"/>
          <p:cNvPicPr>
            <a:picLocks noChangeAspect="1"/>
          </p:cNvPicPr>
          <p:nvPr/>
        </p:nvPicPr>
        <p:blipFill>
          <a:blip r:embed="rId11"/>
          <a:stretch>
            <a:fillRect/>
          </a:stretch>
        </p:blipFill>
        <p:spPr>
          <a:xfrm>
            <a:off x="6477000" y="4191000"/>
            <a:ext cx="609600" cy="609600"/>
          </a:xfrm>
          <a:prstGeom prst="rect">
            <a:avLst/>
          </a:prstGeom>
        </p:spPr>
      </p:pic>
      <p:pic>
        <p:nvPicPr>
          <p:cNvPr id="15" name="Image 13" descr="preencoded.png"/>
          <p:cNvPicPr>
            <a:picLocks noChangeAspect="1"/>
          </p:cNvPicPr>
          <p:nvPr/>
        </p:nvPicPr>
        <p:blipFill>
          <a:blip r:embed="rId13"/>
          <a:stretch>
            <a:fillRect/>
          </a:stretch>
        </p:blipFill>
        <p:spPr>
          <a:xfrm>
            <a:off x="6638925" y="4343400"/>
            <a:ext cx="285750" cy="304800"/>
          </a:xfrm>
          <a:prstGeom prst="rect">
            <a:avLst/>
          </a:prstGeom>
        </p:spPr>
      </p:pic>
      <p:pic>
        <p:nvPicPr>
          <p:cNvPr id="17" name="Image 15" descr="preencoded.png"/>
          <p:cNvPicPr>
            <a:picLocks noChangeAspect="1"/>
          </p:cNvPicPr>
          <p:nvPr/>
        </p:nvPicPr>
        <p:blipFill>
          <a:blip r:embed="rId14"/>
          <a:stretch>
            <a:fillRect/>
          </a:stretch>
        </p:blipFill>
        <p:spPr>
          <a:xfrm>
            <a:off x="0" y="6096000"/>
            <a:ext cx="2031950" cy="152400"/>
          </a:xfrm>
          <a:prstGeom prst="rect">
            <a:avLst/>
          </a:prstGeom>
        </p:spPr>
      </p:pic>
      <p:pic>
        <p:nvPicPr>
          <p:cNvPr id="18" name="Image 16" descr="preencoded.png"/>
          <p:cNvPicPr>
            <a:picLocks noChangeAspect="1"/>
          </p:cNvPicPr>
          <p:nvPr/>
        </p:nvPicPr>
        <p:blipFill>
          <a:blip r:embed="rId15"/>
          <a:stretch>
            <a:fillRect/>
          </a:stretch>
        </p:blipFill>
        <p:spPr>
          <a:xfrm>
            <a:off x="0" y="6096000"/>
            <a:ext cx="3048000" cy="152400"/>
          </a:xfrm>
          <a:prstGeom prst="rect">
            <a:avLst/>
          </a:prstGeom>
        </p:spPr>
      </p:pic>
      <p:sp>
        <p:nvSpPr>
          <p:cNvPr id="19" name="Text 0"/>
          <p:cNvSpPr/>
          <p:nvPr/>
        </p:nvSpPr>
        <p:spPr>
          <a:xfrm>
            <a:off x="609600" y="457200"/>
            <a:ext cx="459111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Traffic Management</a:t>
            </a:r>
            <a:endParaRPr lang="en-US" sz="2700" dirty="0"/>
          </a:p>
        </p:txBody>
      </p:sp>
      <p:sp>
        <p:nvSpPr>
          <p:cNvPr id="20" name="Text 1"/>
          <p:cNvSpPr/>
          <p:nvPr/>
        </p:nvSpPr>
        <p:spPr>
          <a:xfrm>
            <a:off x="609600" y="1066800"/>
            <a:ext cx="13167360" cy="266700"/>
          </a:xfrm>
          <a:prstGeom prst="rect">
            <a:avLst/>
          </a:prstGeom>
          <a:noFill/>
          <a:ln/>
        </p:spPr>
        <p:txBody>
          <a:bodyPr vert="horz" wrap="square" lIns="0" tIns="0" rIns="0" bIns="0" rtlCol="0" anchor="t"/>
          <a:lstStyle/>
          <a:p>
            <a:pPr marL="0" indent="0">
              <a:lnSpc>
                <a:spcPts val="2100"/>
              </a:lnSpc>
              <a:buNone/>
            </a:pPr>
            <a:r>
              <a:rPr lang="en-US" sz="1350" dirty="0">
                <a:solidFill>
                  <a:srgbClr val="4B5563"/>
                </a:solidFill>
                <a:latin typeface="ui-sans-serif" pitchFamily="34" charset="0"/>
                <a:ea typeface="ui-sans-serif" pitchFamily="34" charset="-122"/>
                <a:cs typeface="ui-sans-serif" pitchFamily="34" charset="-120"/>
              </a:rPr>
              <a:t>API Gateway offers advanced traffic management capabilities to ensure API stability and optimal performance.</a:t>
            </a:r>
            <a:endParaRPr lang="en-US" sz="1350" dirty="0"/>
          </a:p>
        </p:txBody>
      </p:sp>
      <p:sp>
        <p:nvSpPr>
          <p:cNvPr id="21" name="Text 2"/>
          <p:cNvSpPr/>
          <p:nvPr/>
        </p:nvSpPr>
        <p:spPr>
          <a:xfrm>
            <a:off x="1638300" y="1866900"/>
            <a:ext cx="48920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Request Throttling</a:t>
            </a:r>
            <a:endParaRPr lang="en-US" sz="1500" dirty="0"/>
          </a:p>
        </p:txBody>
      </p:sp>
      <p:sp>
        <p:nvSpPr>
          <p:cNvPr id="22" name="Text 3"/>
          <p:cNvSpPr/>
          <p:nvPr/>
        </p:nvSpPr>
        <p:spPr>
          <a:xfrm>
            <a:off x="1638300" y="2209800"/>
            <a:ext cx="40767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Limits the number of requests that clients can submit to an API within a given time frame, preventing backend overload.</a:t>
            </a:r>
            <a:endParaRPr lang="en-US" sz="1200" dirty="0"/>
          </a:p>
        </p:txBody>
      </p:sp>
      <p:sp>
        <p:nvSpPr>
          <p:cNvPr id="23" name="Text 4"/>
          <p:cNvSpPr/>
          <p:nvPr/>
        </p:nvSpPr>
        <p:spPr>
          <a:xfrm>
            <a:off x="1657350" y="2971800"/>
            <a:ext cx="51206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Protects backend services from overload</a:t>
            </a:r>
            <a:endParaRPr lang="en-US" sz="1200" dirty="0"/>
          </a:p>
        </p:txBody>
      </p:sp>
      <p:sp>
        <p:nvSpPr>
          <p:cNvPr id="24" name="Text 5"/>
          <p:cNvSpPr/>
          <p:nvPr/>
        </p:nvSpPr>
        <p:spPr>
          <a:xfrm>
            <a:off x="1657350" y="3200400"/>
            <a:ext cx="51206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Ensures consistent performance</a:t>
            </a:r>
            <a:endParaRPr lang="en-US" sz="1200" dirty="0"/>
          </a:p>
        </p:txBody>
      </p:sp>
      <p:sp>
        <p:nvSpPr>
          <p:cNvPr id="25" name="Text 6"/>
          <p:cNvSpPr/>
          <p:nvPr/>
        </p:nvSpPr>
        <p:spPr>
          <a:xfrm>
            <a:off x="7277100" y="1866900"/>
            <a:ext cx="40767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Request Quotas</a:t>
            </a:r>
            <a:endParaRPr lang="en-US" sz="1500" dirty="0"/>
          </a:p>
        </p:txBody>
      </p:sp>
      <p:sp>
        <p:nvSpPr>
          <p:cNvPr id="26" name="Text 7"/>
          <p:cNvSpPr/>
          <p:nvPr/>
        </p:nvSpPr>
        <p:spPr>
          <a:xfrm>
            <a:off x="7277100" y="2209800"/>
            <a:ext cx="40767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Defines the maximum number of requests that a given API key can make over a specified period.</a:t>
            </a:r>
            <a:endParaRPr lang="en-US" sz="1200" dirty="0"/>
          </a:p>
        </p:txBody>
      </p:sp>
      <p:sp>
        <p:nvSpPr>
          <p:cNvPr id="27" name="Text 8"/>
          <p:cNvSpPr/>
          <p:nvPr/>
        </p:nvSpPr>
        <p:spPr>
          <a:xfrm>
            <a:off x="7296150" y="2743200"/>
            <a:ext cx="51206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Usage control and enforcement</a:t>
            </a:r>
            <a:endParaRPr lang="en-US" sz="1200" dirty="0"/>
          </a:p>
        </p:txBody>
      </p:sp>
      <p:sp>
        <p:nvSpPr>
          <p:cNvPr id="28" name="Text 9"/>
          <p:cNvSpPr/>
          <p:nvPr/>
        </p:nvSpPr>
        <p:spPr>
          <a:xfrm>
            <a:off x="7296150" y="2971800"/>
            <a:ext cx="51206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API key-based limitations</a:t>
            </a:r>
            <a:endParaRPr lang="en-US" sz="1200" dirty="0"/>
          </a:p>
        </p:txBody>
      </p:sp>
      <p:sp>
        <p:nvSpPr>
          <p:cNvPr id="29" name="Text 10"/>
          <p:cNvSpPr/>
          <p:nvPr/>
        </p:nvSpPr>
        <p:spPr>
          <a:xfrm>
            <a:off x="1638300" y="4191000"/>
            <a:ext cx="40767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Response Caching</a:t>
            </a:r>
            <a:endParaRPr lang="en-US" sz="1500" dirty="0"/>
          </a:p>
        </p:txBody>
      </p:sp>
      <p:sp>
        <p:nvSpPr>
          <p:cNvPr id="30" name="Text 11"/>
          <p:cNvSpPr/>
          <p:nvPr/>
        </p:nvSpPr>
        <p:spPr>
          <a:xfrm>
            <a:off x="1638300" y="4533900"/>
            <a:ext cx="40767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Caches API responses to reduce the load on backend services and improve response times for frequently accessed data.</a:t>
            </a:r>
            <a:endParaRPr lang="en-US" sz="1200" dirty="0"/>
          </a:p>
        </p:txBody>
      </p:sp>
      <p:sp>
        <p:nvSpPr>
          <p:cNvPr id="31" name="Text 12"/>
          <p:cNvSpPr/>
          <p:nvPr/>
        </p:nvSpPr>
        <p:spPr>
          <a:xfrm>
            <a:off x="1657350" y="5295900"/>
            <a:ext cx="42672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Reduced backend load</a:t>
            </a:r>
            <a:endParaRPr lang="en-US" sz="1200" dirty="0"/>
          </a:p>
        </p:txBody>
      </p:sp>
      <p:sp>
        <p:nvSpPr>
          <p:cNvPr id="32" name="Text 13"/>
          <p:cNvSpPr/>
          <p:nvPr/>
        </p:nvSpPr>
        <p:spPr>
          <a:xfrm>
            <a:off x="1657350" y="5524500"/>
            <a:ext cx="42672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Faster response times</a:t>
            </a:r>
            <a:endParaRPr lang="en-US" sz="1200" dirty="0"/>
          </a:p>
        </p:txBody>
      </p:sp>
      <p:sp>
        <p:nvSpPr>
          <p:cNvPr id="33" name="Text 14"/>
          <p:cNvSpPr/>
          <p:nvPr/>
        </p:nvSpPr>
        <p:spPr>
          <a:xfrm>
            <a:off x="7277100" y="4191000"/>
            <a:ext cx="40767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Load Balancing</a:t>
            </a:r>
            <a:endParaRPr lang="en-US" sz="1500" dirty="0"/>
          </a:p>
        </p:txBody>
      </p:sp>
      <p:sp>
        <p:nvSpPr>
          <p:cNvPr id="34" name="Text 15"/>
          <p:cNvSpPr/>
          <p:nvPr/>
        </p:nvSpPr>
        <p:spPr>
          <a:xfrm>
            <a:off x="7277100" y="4533900"/>
            <a:ext cx="40767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Distributes incoming API traffic across multiple backend instances, enhancing availability and fault tolerance.</a:t>
            </a:r>
            <a:endParaRPr lang="en-US" sz="1200" dirty="0"/>
          </a:p>
        </p:txBody>
      </p:sp>
      <p:sp>
        <p:nvSpPr>
          <p:cNvPr id="35" name="Text 16"/>
          <p:cNvSpPr/>
          <p:nvPr/>
        </p:nvSpPr>
        <p:spPr>
          <a:xfrm>
            <a:off x="7296150" y="5295900"/>
            <a:ext cx="42672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Improved availability</a:t>
            </a:r>
            <a:endParaRPr lang="en-US" sz="1200" dirty="0"/>
          </a:p>
        </p:txBody>
      </p:sp>
      <p:sp>
        <p:nvSpPr>
          <p:cNvPr id="36" name="Text 17"/>
          <p:cNvSpPr/>
          <p:nvPr/>
        </p:nvSpPr>
        <p:spPr>
          <a:xfrm>
            <a:off x="7296150" y="5524500"/>
            <a:ext cx="42672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Better fault tolerance</a:t>
            </a:r>
            <a:endParaRPr lang="en-US" sz="1200" dirty="0"/>
          </a:p>
        </p:txBody>
      </p:sp>
      <p:sp>
        <p:nvSpPr>
          <p:cNvPr id="37" name="Text 18"/>
          <p:cNvSpPr/>
          <p:nvPr/>
        </p:nvSpPr>
        <p:spPr>
          <a:xfrm>
            <a:off x="609600" y="6438900"/>
            <a:ext cx="2832140"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3048000" cy="609600"/>
          </a:xfrm>
          <a:prstGeom prst="rect">
            <a:avLst/>
          </a:prstGeom>
        </p:spPr>
      </p:pic>
      <p:pic>
        <p:nvPicPr>
          <p:cNvPr id="4" name="Image 2" descr="preencoded.png"/>
          <p:cNvPicPr>
            <a:picLocks noChangeAspect="1"/>
          </p:cNvPicPr>
          <p:nvPr/>
        </p:nvPicPr>
        <p:blipFill>
          <a:blip r:embed="rId5"/>
          <a:stretch>
            <a:fillRect/>
          </a:stretch>
        </p:blipFill>
        <p:spPr>
          <a:xfrm>
            <a:off x="0" y="0"/>
            <a:ext cx="2031950" cy="609600"/>
          </a:xfrm>
          <a:prstGeom prst="rect">
            <a:avLst/>
          </a:prstGeom>
        </p:spPr>
      </p:pic>
      <p:pic>
        <p:nvPicPr>
          <p:cNvPr id="5" name="Image 3" descr="preencoded.png"/>
          <p:cNvPicPr>
            <a:picLocks noChangeAspect="1"/>
          </p:cNvPicPr>
          <p:nvPr/>
        </p:nvPicPr>
        <p:blipFill>
          <a:blip r:embed="rId6"/>
          <a:stretch>
            <a:fillRect/>
          </a:stretch>
        </p:blipFill>
        <p:spPr>
          <a:xfrm>
            <a:off x="609600" y="1143000"/>
            <a:ext cx="3454301" cy="4267200"/>
          </a:xfrm>
          <a:prstGeom prst="rect">
            <a:avLst/>
          </a:prstGeom>
        </p:spPr>
      </p:pic>
      <p:pic>
        <p:nvPicPr>
          <p:cNvPr id="6" name="Image 4" descr="preencoded.png"/>
          <p:cNvPicPr>
            <a:picLocks noChangeAspect="1"/>
          </p:cNvPicPr>
          <p:nvPr/>
        </p:nvPicPr>
        <p:blipFill>
          <a:blip r:embed="rId7"/>
          <a:stretch>
            <a:fillRect/>
          </a:stretch>
        </p:blipFill>
        <p:spPr>
          <a:xfrm>
            <a:off x="838200" y="1447800"/>
            <a:ext cx="373112" cy="457200"/>
          </a:xfrm>
          <a:prstGeom prst="rect">
            <a:avLst/>
          </a:prstGeom>
        </p:spPr>
      </p:pic>
      <p:pic>
        <p:nvPicPr>
          <p:cNvPr id="7" name="Image 5" descr="preencoded.png"/>
          <p:cNvPicPr>
            <a:picLocks noChangeAspect="1"/>
          </p:cNvPicPr>
          <p:nvPr/>
        </p:nvPicPr>
        <p:blipFill>
          <a:blip r:embed="rId8"/>
          <a:stretch>
            <a:fillRect/>
          </a:stretch>
        </p:blipFill>
        <p:spPr>
          <a:xfrm>
            <a:off x="838200" y="4038600"/>
            <a:ext cx="152400" cy="152400"/>
          </a:xfrm>
          <a:prstGeom prst="rect">
            <a:avLst/>
          </a:prstGeom>
        </p:spPr>
      </p:pic>
      <p:pic>
        <p:nvPicPr>
          <p:cNvPr id="8" name="Image 6" descr="preencoded.png"/>
          <p:cNvPicPr>
            <a:picLocks noChangeAspect="1"/>
          </p:cNvPicPr>
          <p:nvPr/>
        </p:nvPicPr>
        <p:blipFill>
          <a:blip r:embed="rId8"/>
          <a:stretch>
            <a:fillRect/>
          </a:stretch>
        </p:blipFill>
        <p:spPr>
          <a:xfrm>
            <a:off x="838200" y="4572000"/>
            <a:ext cx="152400" cy="152400"/>
          </a:xfrm>
          <a:prstGeom prst="rect">
            <a:avLst/>
          </a:prstGeom>
        </p:spPr>
      </p:pic>
      <p:pic>
        <p:nvPicPr>
          <p:cNvPr id="9" name="Image 7" descr="preencoded.png"/>
          <p:cNvPicPr>
            <a:picLocks noChangeAspect="1"/>
          </p:cNvPicPr>
          <p:nvPr/>
        </p:nvPicPr>
        <p:blipFill>
          <a:blip r:embed="rId8"/>
          <a:stretch>
            <a:fillRect/>
          </a:stretch>
        </p:blipFill>
        <p:spPr>
          <a:xfrm>
            <a:off x="838200" y="4991100"/>
            <a:ext cx="152400" cy="152400"/>
          </a:xfrm>
          <a:prstGeom prst="rect">
            <a:avLst/>
          </a:prstGeom>
        </p:spPr>
      </p:pic>
      <p:pic>
        <p:nvPicPr>
          <p:cNvPr id="10" name="Image 8" descr="preencoded.png"/>
          <p:cNvPicPr>
            <a:picLocks noChangeAspect="1"/>
          </p:cNvPicPr>
          <p:nvPr/>
        </p:nvPicPr>
        <p:blipFill>
          <a:blip r:embed="rId9"/>
          <a:stretch>
            <a:fillRect/>
          </a:stretch>
        </p:blipFill>
        <p:spPr>
          <a:xfrm>
            <a:off x="4368701" y="1143000"/>
            <a:ext cx="3454450" cy="4267200"/>
          </a:xfrm>
          <a:prstGeom prst="rect">
            <a:avLst/>
          </a:prstGeom>
        </p:spPr>
      </p:pic>
      <p:pic>
        <p:nvPicPr>
          <p:cNvPr id="11" name="Image 9" descr="preencoded.png"/>
          <p:cNvPicPr>
            <a:picLocks noChangeAspect="1"/>
          </p:cNvPicPr>
          <p:nvPr/>
        </p:nvPicPr>
        <p:blipFill>
          <a:blip r:embed="rId10"/>
          <a:stretch>
            <a:fillRect/>
          </a:stretch>
        </p:blipFill>
        <p:spPr>
          <a:xfrm>
            <a:off x="4597301" y="1447800"/>
            <a:ext cx="332482" cy="457200"/>
          </a:xfrm>
          <a:prstGeom prst="rect">
            <a:avLst/>
          </a:prstGeom>
        </p:spPr>
      </p:pic>
      <p:pic>
        <p:nvPicPr>
          <p:cNvPr id="12" name="Image 10" descr="preencoded.png"/>
          <p:cNvPicPr>
            <a:picLocks noChangeAspect="1"/>
          </p:cNvPicPr>
          <p:nvPr/>
        </p:nvPicPr>
        <p:blipFill>
          <a:blip r:embed="rId11"/>
          <a:stretch>
            <a:fillRect/>
          </a:stretch>
        </p:blipFill>
        <p:spPr>
          <a:xfrm>
            <a:off x="4634954" y="1524000"/>
            <a:ext cx="257175" cy="304800"/>
          </a:xfrm>
          <a:prstGeom prst="rect">
            <a:avLst/>
          </a:prstGeom>
        </p:spPr>
      </p:pic>
      <p:pic>
        <p:nvPicPr>
          <p:cNvPr id="13" name="Image 11" descr="preencoded.png"/>
          <p:cNvPicPr>
            <a:picLocks noChangeAspect="1"/>
          </p:cNvPicPr>
          <p:nvPr/>
        </p:nvPicPr>
        <p:blipFill>
          <a:blip r:embed="rId8"/>
          <a:stretch>
            <a:fillRect/>
          </a:stretch>
        </p:blipFill>
        <p:spPr>
          <a:xfrm>
            <a:off x="4597301" y="3581400"/>
            <a:ext cx="152400" cy="152400"/>
          </a:xfrm>
          <a:prstGeom prst="rect">
            <a:avLst/>
          </a:prstGeom>
        </p:spPr>
      </p:pic>
      <p:pic>
        <p:nvPicPr>
          <p:cNvPr id="14" name="Image 12" descr="preencoded.png"/>
          <p:cNvPicPr>
            <a:picLocks noChangeAspect="1"/>
          </p:cNvPicPr>
          <p:nvPr/>
        </p:nvPicPr>
        <p:blipFill>
          <a:blip r:embed="rId8"/>
          <a:stretch>
            <a:fillRect/>
          </a:stretch>
        </p:blipFill>
        <p:spPr>
          <a:xfrm>
            <a:off x="4597301" y="4229100"/>
            <a:ext cx="152400" cy="152400"/>
          </a:xfrm>
          <a:prstGeom prst="rect">
            <a:avLst/>
          </a:prstGeom>
        </p:spPr>
      </p:pic>
      <p:pic>
        <p:nvPicPr>
          <p:cNvPr id="15" name="Image 13" descr="preencoded.png"/>
          <p:cNvPicPr>
            <a:picLocks noChangeAspect="1"/>
          </p:cNvPicPr>
          <p:nvPr/>
        </p:nvPicPr>
        <p:blipFill>
          <a:blip r:embed="rId8"/>
          <a:stretch>
            <a:fillRect/>
          </a:stretch>
        </p:blipFill>
        <p:spPr>
          <a:xfrm>
            <a:off x="4597301" y="4876800"/>
            <a:ext cx="152400" cy="152400"/>
          </a:xfrm>
          <a:prstGeom prst="rect">
            <a:avLst/>
          </a:prstGeom>
        </p:spPr>
      </p:pic>
      <p:pic>
        <p:nvPicPr>
          <p:cNvPr id="16" name="Image 14" descr="preencoded.png"/>
          <p:cNvPicPr>
            <a:picLocks noChangeAspect="1"/>
          </p:cNvPicPr>
          <p:nvPr/>
        </p:nvPicPr>
        <p:blipFill>
          <a:blip r:embed="rId12"/>
          <a:stretch>
            <a:fillRect/>
          </a:stretch>
        </p:blipFill>
        <p:spPr>
          <a:xfrm>
            <a:off x="8127950" y="1143000"/>
            <a:ext cx="3454301" cy="4267200"/>
          </a:xfrm>
          <a:prstGeom prst="rect">
            <a:avLst/>
          </a:prstGeom>
        </p:spPr>
      </p:pic>
      <p:pic>
        <p:nvPicPr>
          <p:cNvPr id="17" name="Image 15" descr="preencoded.png"/>
          <p:cNvPicPr>
            <a:picLocks noChangeAspect="1"/>
          </p:cNvPicPr>
          <p:nvPr/>
        </p:nvPicPr>
        <p:blipFill>
          <a:blip r:embed="rId13"/>
          <a:stretch>
            <a:fillRect/>
          </a:stretch>
        </p:blipFill>
        <p:spPr>
          <a:xfrm>
            <a:off x="8356550" y="1447800"/>
            <a:ext cx="343049" cy="457200"/>
          </a:xfrm>
          <a:prstGeom prst="rect">
            <a:avLst/>
          </a:prstGeom>
        </p:spPr>
      </p:pic>
      <p:pic>
        <p:nvPicPr>
          <p:cNvPr id="18" name="Image 16" descr="preencoded.png"/>
          <p:cNvPicPr>
            <a:picLocks noChangeAspect="1"/>
          </p:cNvPicPr>
          <p:nvPr/>
        </p:nvPicPr>
        <p:blipFill>
          <a:blip r:embed="rId14"/>
          <a:stretch>
            <a:fillRect/>
          </a:stretch>
        </p:blipFill>
        <p:spPr>
          <a:xfrm>
            <a:off x="8385125" y="1524000"/>
            <a:ext cx="285750" cy="304800"/>
          </a:xfrm>
          <a:prstGeom prst="rect">
            <a:avLst/>
          </a:prstGeom>
        </p:spPr>
      </p:pic>
      <p:pic>
        <p:nvPicPr>
          <p:cNvPr id="19" name="Image 17" descr="preencoded.png"/>
          <p:cNvPicPr>
            <a:picLocks noChangeAspect="1"/>
          </p:cNvPicPr>
          <p:nvPr/>
        </p:nvPicPr>
        <p:blipFill>
          <a:blip r:embed="rId8"/>
          <a:stretch>
            <a:fillRect/>
          </a:stretch>
        </p:blipFill>
        <p:spPr>
          <a:xfrm>
            <a:off x="8356550" y="3924300"/>
            <a:ext cx="152400" cy="152400"/>
          </a:xfrm>
          <a:prstGeom prst="rect">
            <a:avLst/>
          </a:prstGeom>
        </p:spPr>
      </p:pic>
      <p:pic>
        <p:nvPicPr>
          <p:cNvPr id="20" name="Image 18" descr="preencoded.png"/>
          <p:cNvPicPr>
            <a:picLocks noChangeAspect="1"/>
          </p:cNvPicPr>
          <p:nvPr/>
        </p:nvPicPr>
        <p:blipFill>
          <a:blip r:embed="rId8"/>
          <a:stretch>
            <a:fillRect/>
          </a:stretch>
        </p:blipFill>
        <p:spPr>
          <a:xfrm>
            <a:off x="8356550" y="4343400"/>
            <a:ext cx="152400" cy="152400"/>
          </a:xfrm>
          <a:prstGeom prst="rect">
            <a:avLst/>
          </a:prstGeom>
        </p:spPr>
      </p:pic>
      <p:pic>
        <p:nvPicPr>
          <p:cNvPr id="21" name="Image 19" descr="preencoded.png"/>
          <p:cNvPicPr>
            <a:picLocks noChangeAspect="1"/>
          </p:cNvPicPr>
          <p:nvPr/>
        </p:nvPicPr>
        <p:blipFill>
          <a:blip r:embed="rId8"/>
          <a:stretch>
            <a:fillRect/>
          </a:stretch>
        </p:blipFill>
        <p:spPr>
          <a:xfrm>
            <a:off x="8356550" y="4876800"/>
            <a:ext cx="152400" cy="152400"/>
          </a:xfrm>
          <a:prstGeom prst="rect">
            <a:avLst/>
          </a:prstGeom>
        </p:spPr>
      </p:pic>
      <p:pic>
        <p:nvPicPr>
          <p:cNvPr id="23" name="Image 21" descr="preencoded.png"/>
          <p:cNvPicPr>
            <a:picLocks noChangeAspect="1"/>
          </p:cNvPicPr>
          <p:nvPr/>
        </p:nvPicPr>
        <p:blipFill>
          <a:blip r:embed="rId15"/>
          <a:stretch>
            <a:fillRect/>
          </a:stretch>
        </p:blipFill>
        <p:spPr>
          <a:xfrm>
            <a:off x="0" y="6096000"/>
            <a:ext cx="2031950" cy="152400"/>
          </a:xfrm>
          <a:prstGeom prst="rect">
            <a:avLst/>
          </a:prstGeom>
        </p:spPr>
      </p:pic>
      <p:pic>
        <p:nvPicPr>
          <p:cNvPr id="24" name="Image 22" descr="preencoded.png"/>
          <p:cNvPicPr>
            <a:picLocks noChangeAspect="1"/>
          </p:cNvPicPr>
          <p:nvPr/>
        </p:nvPicPr>
        <p:blipFill>
          <a:blip r:embed="rId16"/>
          <a:stretch>
            <a:fillRect/>
          </a:stretch>
        </p:blipFill>
        <p:spPr>
          <a:xfrm>
            <a:off x="0" y="6096000"/>
            <a:ext cx="3048000" cy="152400"/>
          </a:xfrm>
          <a:prstGeom prst="rect">
            <a:avLst/>
          </a:prstGeom>
        </p:spPr>
      </p:pic>
      <p:sp>
        <p:nvSpPr>
          <p:cNvPr id="25" name="Text 0"/>
          <p:cNvSpPr/>
          <p:nvPr/>
        </p:nvSpPr>
        <p:spPr>
          <a:xfrm>
            <a:off x="609600" y="457200"/>
            <a:ext cx="4519672"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Practical Use Cases</a:t>
            </a:r>
            <a:endParaRPr lang="en-US" sz="2700" dirty="0"/>
          </a:p>
        </p:txBody>
      </p:sp>
      <p:sp>
        <p:nvSpPr>
          <p:cNvPr id="26" name="Text 1"/>
          <p:cNvSpPr/>
          <p:nvPr/>
        </p:nvSpPr>
        <p:spPr>
          <a:xfrm>
            <a:off x="1363712" y="1371600"/>
            <a:ext cx="2471589" cy="6096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Serverless Applications</a:t>
            </a:r>
            <a:endParaRPr lang="en-US" sz="1800" dirty="0"/>
          </a:p>
        </p:txBody>
      </p:sp>
      <p:sp>
        <p:nvSpPr>
          <p:cNvPr id="27" name="Text 2"/>
          <p:cNvSpPr/>
          <p:nvPr/>
        </p:nvSpPr>
        <p:spPr>
          <a:xfrm>
            <a:off x="838200" y="2133600"/>
            <a:ext cx="2997101"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API Gateway acts as the crucial HTTP endpoint for AWS Lambda functions, enabling the creation of scalable, event-driven serverless backends for web and mobile applications.</a:t>
            </a:r>
            <a:endParaRPr lang="en-US" sz="1200" dirty="0"/>
          </a:p>
        </p:txBody>
      </p:sp>
      <p:sp>
        <p:nvSpPr>
          <p:cNvPr id="28" name="Text 3"/>
          <p:cNvSpPr/>
          <p:nvPr/>
        </p:nvSpPr>
        <p:spPr>
          <a:xfrm>
            <a:off x="1066800" y="3886200"/>
            <a:ext cx="27685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Exposes Lambda functions via REST or HTTP APIs</a:t>
            </a:r>
            <a:endParaRPr lang="en-US" sz="1200" dirty="0"/>
          </a:p>
        </p:txBody>
      </p:sp>
      <p:sp>
        <p:nvSpPr>
          <p:cNvPr id="29" name="Text 4"/>
          <p:cNvSpPr/>
          <p:nvPr/>
        </p:nvSpPr>
        <p:spPr>
          <a:xfrm>
            <a:off x="1066800" y="4419600"/>
            <a:ext cx="27685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Streamlines serverless architecture development</a:t>
            </a:r>
            <a:endParaRPr lang="en-US" sz="1200" dirty="0"/>
          </a:p>
        </p:txBody>
      </p:sp>
      <p:sp>
        <p:nvSpPr>
          <p:cNvPr id="30" name="Text 5"/>
          <p:cNvSpPr/>
          <p:nvPr/>
        </p:nvSpPr>
        <p:spPr>
          <a:xfrm>
            <a:off x="1066800" y="4953000"/>
            <a:ext cx="297715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Enables event-driven computing</a:t>
            </a:r>
            <a:endParaRPr lang="en-US" sz="1200" dirty="0"/>
          </a:p>
        </p:txBody>
      </p:sp>
      <p:sp>
        <p:nvSpPr>
          <p:cNvPr id="31" name="Text 6"/>
          <p:cNvSpPr/>
          <p:nvPr/>
        </p:nvSpPr>
        <p:spPr>
          <a:xfrm>
            <a:off x="5082183" y="1371600"/>
            <a:ext cx="2512368" cy="6096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Microservices Architecture</a:t>
            </a:r>
            <a:endParaRPr lang="en-US" sz="1800" dirty="0"/>
          </a:p>
        </p:txBody>
      </p:sp>
      <p:sp>
        <p:nvSpPr>
          <p:cNvPr id="32" name="Text 7"/>
          <p:cNvSpPr/>
          <p:nvPr/>
        </p:nvSpPr>
        <p:spPr>
          <a:xfrm>
            <a:off x="4597301" y="2133600"/>
            <a:ext cx="29972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 a microservices architecture, API Gateway serves as a unified entry point, simplifying client interaction by routing requests to the appropriate downstream service.</a:t>
            </a:r>
            <a:endParaRPr lang="en-US" sz="1200" dirty="0"/>
          </a:p>
        </p:txBody>
      </p:sp>
      <p:sp>
        <p:nvSpPr>
          <p:cNvPr id="33" name="Text 8"/>
          <p:cNvSpPr/>
          <p:nvPr/>
        </p:nvSpPr>
        <p:spPr>
          <a:xfrm>
            <a:off x="4825901" y="3429000"/>
            <a:ext cx="27686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Provides centralized management of multiple services</a:t>
            </a:r>
            <a:endParaRPr lang="en-US" sz="1200" dirty="0"/>
          </a:p>
        </p:txBody>
      </p:sp>
      <p:sp>
        <p:nvSpPr>
          <p:cNvPr id="34" name="Text 9"/>
          <p:cNvSpPr/>
          <p:nvPr/>
        </p:nvSpPr>
        <p:spPr>
          <a:xfrm>
            <a:off x="4825901" y="3962400"/>
            <a:ext cx="2768650" cy="6858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Offers consistent security, monitoring, and traffic management</a:t>
            </a:r>
            <a:endParaRPr lang="en-US" sz="1200" dirty="0"/>
          </a:p>
        </p:txBody>
      </p:sp>
      <p:sp>
        <p:nvSpPr>
          <p:cNvPr id="35" name="Text 10"/>
          <p:cNvSpPr/>
          <p:nvPr/>
        </p:nvSpPr>
        <p:spPr>
          <a:xfrm>
            <a:off x="4825901" y="4724400"/>
            <a:ext cx="27686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Simplifies client interaction with complex systems</a:t>
            </a:r>
            <a:endParaRPr lang="en-US" sz="1200" dirty="0"/>
          </a:p>
        </p:txBody>
      </p:sp>
      <p:sp>
        <p:nvSpPr>
          <p:cNvPr id="36" name="Text 11"/>
          <p:cNvSpPr/>
          <p:nvPr/>
        </p:nvSpPr>
        <p:spPr>
          <a:xfrm>
            <a:off x="8851999" y="1371600"/>
            <a:ext cx="2501652" cy="6096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Real-Time Communication</a:t>
            </a:r>
            <a:endParaRPr lang="en-US" sz="1800" dirty="0"/>
          </a:p>
        </p:txBody>
      </p:sp>
      <p:sp>
        <p:nvSpPr>
          <p:cNvPr id="37" name="Text 12"/>
          <p:cNvSpPr/>
          <p:nvPr/>
        </p:nvSpPr>
        <p:spPr>
          <a:xfrm>
            <a:off x="8356550" y="2133600"/>
            <a:ext cx="2997101"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API Gateway's WebSocket APIs are fundamental for enabling real-time, bidirectional communication, essential for applications requiring persistent, full-duplex connections.</a:t>
            </a:r>
            <a:endParaRPr lang="en-US" sz="1200" dirty="0"/>
          </a:p>
        </p:txBody>
      </p:sp>
      <p:sp>
        <p:nvSpPr>
          <p:cNvPr id="38" name="Text 13"/>
          <p:cNvSpPr/>
          <p:nvPr/>
        </p:nvSpPr>
        <p:spPr>
          <a:xfrm>
            <a:off x="8585150" y="3886200"/>
            <a:ext cx="271926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Enables live chat applications</a:t>
            </a:r>
            <a:endParaRPr lang="en-US" sz="1200" dirty="0"/>
          </a:p>
        </p:txBody>
      </p:sp>
      <p:sp>
        <p:nvSpPr>
          <p:cNvPr id="39" name="Text 14"/>
          <p:cNvSpPr/>
          <p:nvPr/>
        </p:nvSpPr>
        <p:spPr>
          <a:xfrm>
            <a:off x="8585150" y="4191000"/>
            <a:ext cx="27685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Supports real-time dashboards and notifications</a:t>
            </a:r>
            <a:endParaRPr lang="en-US" sz="1200" dirty="0"/>
          </a:p>
        </p:txBody>
      </p:sp>
      <p:sp>
        <p:nvSpPr>
          <p:cNvPr id="40" name="Text 15"/>
          <p:cNvSpPr/>
          <p:nvPr/>
        </p:nvSpPr>
        <p:spPr>
          <a:xfrm>
            <a:off x="8585150" y="4724400"/>
            <a:ext cx="27685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Manages persistent, full-duplex connections efficiently</a:t>
            </a:r>
            <a:endParaRPr lang="en-US" sz="1200" dirty="0"/>
          </a:p>
        </p:txBody>
      </p:sp>
      <p:sp>
        <p:nvSpPr>
          <p:cNvPr id="42" name="Text 17"/>
          <p:cNvSpPr/>
          <p:nvPr/>
        </p:nvSpPr>
        <p:spPr>
          <a:xfrm>
            <a:off x="10533311" y="6438900"/>
            <a:ext cx="1258907" cy="228600"/>
          </a:xfrm>
          <a:prstGeom prst="rect">
            <a:avLst/>
          </a:prstGeom>
          <a:noFill/>
          <a:ln/>
        </p:spPr>
        <p:txBody>
          <a:bodyPr vert="horz" wrap="square" lIns="0" tIns="0" rIns="0" bIns="0" rtlCol="0" anchor="t"/>
          <a:lstStyle/>
          <a:p>
            <a:pPr marL="0" indent="0">
              <a:lnSpc>
                <a:spcPts val="1800"/>
              </a:lnSpc>
              <a:buNone/>
            </a:pP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2286000"/>
            <a:ext cx="5334000" cy="685800"/>
          </a:xfrm>
          <a:prstGeom prst="rect">
            <a:avLst/>
          </a:prstGeom>
        </p:spPr>
      </p:pic>
      <p:pic>
        <p:nvPicPr>
          <p:cNvPr id="5" name="Image 3" descr="preencoded.png"/>
          <p:cNvPicPr>
            <a:picLocks noChangeAspect="1"/>
          </p:cNvPicPr>
          <p:nvPr/>
        </p:nvPicPr>
        <p:blipFill>
          <a:blip r:embed="rId6"/>
          <a:stretch>
            <a:fillRect/>
          </a:stretch>
        </p:blipFill>
        <p:spPr>
          <a:xfrm>
            <a:off x="762000" y="2438400"/>
            <a:ext cx="381000" cy="381000"/>
          </a:xfrm>
          <a:prstGeom prst="rect">
            <a:avLst/>
          </a:prstGeom>
        </p:spPr>
      </p:pic>
      <p:pic>
        <p:nvPicPr>
          <p:cNvPr id="6" name="Image 4" descr="preencoded.png"/>
          <p:cNvPicPr>
            <a:picLocks noChangeAspect="1"/>
          </p:cNvPicPr>
          <p:nvPr/>
        </p:nvPicPr>
        <p:blipFill>
          <a:blip r:embed="rId7"/>
          <a:stretch>
            <a:fillRect/>
          </a:stretch>
        </p:blipFill>
        <p:spPr>
          <a:xfrm>
            <a:off x="1295400" y="2438400"/>
            <a:ext cx="257175" cy="304800"/>
          </a:xfrm>
          <a:prstGeom prst="rect">
            <a:avLst/>
          </a:prstGeom>
        </p:spPr>
      </p:pic>
      <p:pic>
        <p:nvPicPr>
          <p:cNvPr id="7" name="Image 5" descr="preencoded.png"/>
          <p:cNvPicPr>
            <a:picLocks noChangeAspect="1"/>
          </p:cNvPicPr>
          <p:nvPr/>
        </p:nvPicPr>
        <p:blipFill>
          <a:blip r:embed="rId5"/>
          <a:stretch>
            <a:fillRect/>
          </a:stretch>
        </p:blipFill>
        <p:spPr>
          <a:xfrm>
            <a:off x="6248400" y="2286000"/>
            <a:ext cx="5334000" cy="685800"/>
          </a:xfrm>
          <a:prstGeom prst="rect">
            <a:avLst/>
          </a:prstGeom>
        </p:spPr>
      </p:pic>
      <p:pic>
        <p:nvPicPr>
          <p:cNvPr id="8" name="Image 6" descr="preencoded.png"/>
          <p:cNvPicPr>
            <a:picLocks noChangeAspect="1"/>
          </p:cNvPicPr>
          <p:nvPr/>
        </p:nvPicPr>
        <p:blipFill>
          <a:blip r:embed="rId8"/>
          <a:stretch>
            <a:fillRect/>
          </a:stretch>
        </p:blipFill>
        <p:spPr>
          <a:xfrm>
            <a:off x="6400800" y="2438400"/>
            <a:ext cx="381000" cy="381000"/>
          </a:xfrm>
          <a:prstGeom prst="rect">
            <a:avLst/>
          </a:prstGeom>
        </p:spPr>
      </p:pic>
      <p:pic>
        <p:nvPicPr>
          <p:cNvPr id="9" name="Image 7" descr="preencoded.png"/>
          <p:cNvPicPr>
            <a:picLocks noChangeAspect="1"/>
          </p:cNvPicPr>
          <p:nvPr/>
        </p:nvPicPr>
        <p:blipFill>
          <a:blip r:embed="rId9"/>
          <a:stretch>
            <a:fillRect/>
          </a:stretch>
        </p:blipFill>
        <p:spPr>
          <a:xfrm>
            <a:off x="6934200" y="2438400"/>
            <a:ext cx="171450" cy="304800"/>
          </a:xfrm>
          <a:prstGeom prst="rect">
            <a:avLst/>
          </a:prstGeom>
        </p:spPr>
      </p:pic>
      <p:pic>
        <p:nvPicPr>
          <p:cNvPr id="10" name="Image 8" descr="preencoded.png"/>
          <p:cNvPicPr>
            <a:picLocks noChangeAspect="1"/>
          </p:cNvPicPr>
          <p:nvPr/>
        </p:nvPicPr>
        <p:blipFill>
          <a:blip r:embed="rId5"/>
          <a:stretch>
            <a:fillRect/>
          </a:stretch>
        </p:blipFill>
        <p:spPr>
          <a:xfrm>
            <a:off x="609600" y="3276600"/>
            <a:ext cx="5334000" cy="685800"/>
          </a:xfrm>
          <a:prstGeom prst="rect">
            <a:avLst/>
          </a:prstGeom>
        </p:spPr>
      </p:pic>
      <p:pic>
        <p:nvPicPr>
          <p:cNvPr id="11" name="Image 9" descr="preencoded.png"/>
          <p:cNvPicPr>
            <a:picLocks noChangeAspect="1"/>
          </p:cNvPicPr>
          <p:nvPr/>
        </p:nvPicPr>
        <p:blipFill>
          <a:blip r:embed="rId6"/>
          <a:stretch>
            <a:fillRect/>
          </a:stretch>
        </p:blipFill>
        <p:spPr>
          <a:xfrm>
            <a:off x="762000" y="3429000"/>
            <a:ext cx="381000" cy="381000"/>
          </a:xfrm>
          <a:prstGeom prst="rect">
            <a:avLst/>
          </a:prstGeom>
        </p:spPr>
      </p:pic>
      <p:pic>
        <p:nvPicPr>
          <p:cNvPr id="12" name="Image 10" descr="preencoded.png"/>
          <p:cNvPicPr>
            <a:picLocks noChangeAspect="1"/>
          </p:cNvPicPr>
          <p:nvPr/>
        </p:nvPicPr>
        <p:blipFill>
          <a:blip r:embed="rId10"/>
          <a:stretch>
            <a:fillRect/>
          </a:stretch>
        </p:blipFill>
        <p:spPr>
          <a:xfrm>
            <a:off x="1295400" y="3429000"/>
            <a:ext cx="285750" cy="304800"/>
          </a:xfrm>
          <a:prstGeom prst="rect">
            <a:avLst/>
          </a:prstGeom>
        </p:spPr>
      </p:pic>
      <p:pic>
        <p:nvPicPr>
          <p:cNvPr id="13" name="Image 11" descr="preencoded.png"/>
          <p:cNvPicPr>
            <a:picLocks noChangeAspect="1"/>
          </p:cNvPicPr>
          <p:nvPr/>
        </p:nvPicPr>
        <p:blipFill>
          <a:blip r:embed="rId5"/>
          <a:stretch>
            <a:fillRect/>
          </a:stretch>
        </p:blipFill>
        <p:spPr>
          <a:xfrm>
            <a:off x="6248400" y="3276600"/>
            <a:ext cx="5334000" cy="685800"/>
          </a:xfrm>
          <a:prstGeom prst="rect">
            <a:avLst/>
          </a:prstGeom>
        </p:spPr>
      </p:pic>
      <p:pic>
        <p:nvPicPr>
          <p:cNvPr id="14" name="Image 12" descr="preencoded.png"/>
          <p:cNvPicPr>
            <a:picLocks noChangeAspect="1"/>
          </p:cNvPicPr>
          <p:nvPr/>
        </p:nvPicPr>
        <p:blipFill>
          <a:blip r:embed="rId8"/>
          <a:stretch>
            <a:fillRect/>
          </a:stretch>
        </p:blipFill>
        <p:spPr>
          <a:xfrm>
            <a:off x="6400800" y="3429000"/>
            <a:ext cx="381000" cy="381000"/>
          </a:xfrm>
          <a:prstGeom prst="rect">
            <a:avLst/>
          </a:prstGeom>
        </p:spPr>
      </p:pic>
      <p:pic>
        <p:nvPicPr>
          <p:cNvPr id="15" name="Image 13" descr="preencoded.png"/>
          <p:cNvPicPr>
            <a:picLocks noChangeAspect="1"/>
          </p:cNvPicPr>
          <p:nvPr/>
        </p:nvPicPr>
        <p:blipFill>
          <a:blip r:embed="rId11"/>
          <a:stretch>
            <a:fillRect/>
          </a:stretch>
        </p:blipFill>
        <p:spPr>
          <a:xfrm>
            <a:off x="6934200" y="3429000"/>
            <a:ext cx="200025" cy="304800"/>
          </a:xfrm>
          <a:prstGeom prst="rect">
            <a:avLst/>
          </a:prstGeom>
        </p:spPr>
      </p:pic>
      <p:pic>
        <p:nvPicPr>
          <p:cNvPr id="24" name="Image 22" descr="preencoded.png"/>
          <p:cNvPicPr>
            <a:picLocks noChangeAspect="1"/>
          </p:cNvPicPr>
          <p:nvPr/>
        </p:nvPicPr>
        <p:blipFill>
          <a:blip r:embed="rId12"/>
          <a:stretch>
            <a:fillRect/>
          </a:stretch>
        </p:blipFill>
        <p:spPr>
          <a:xfrm>
            <a:off x="0" y="6553200"/>
            <a:ext cx="12192000" cy="304800"/>
          </a:xfrm>
          <a:prstGeom prst="rect">
            <a:avLst/>
          </a:prstGeom>
        </p:spPr>
      </p:pic>
      <p:sp>
        <p:nvSpPr>
          <p:cNvPr id="25" name="Text 0"/>
          <p:cNvSpPr/>
          <p:nvPr/>
        </p:nvSpPr>
        <p:spPr>
          <a:xfrm>
            <a:off x="609600" y="685800"/>
            <a:ext cx="2091511"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Question 1</a:t>
            </a:r>
            <a:endParaRPr lang="en-US" sz="2250" dirty="0"/>
          </a:p>
        </p:txBody>
      </p:sp>
      <p:sp>
        <p:nvSpPr>
          <p:cNvPr id="27" name="Text 2"/>
          <p:cNvSpPr/>
          <p:nvPr/>
        </p:nvSpPr>
        <p:spPr>
          <a:xfrm>
            <a:off x="609600" y="1333500"/>
            <a:ext cx="10972800" cy="571500"/>
          </a:xfrm>
          <a:prstGeom prst="rect">
            <a:avLst/>
          </a:prstGeom>
          <a:noFill/>
          <a:ln/>
        </p:spPr>
        <p:txBody>
          <a:bodyPr vert="horz" wrap="square" lIns="0" tIns="0" rIns="0" bIns="0" rtlCol="0" anchor="t"/>
          <a:lstStyle/>
          <a:p>
            <a:pPr marL="0" indent="0">
              <a:lnSpc>
                <a:spcPts val="2250"/>
              </a:lnSpc>
              <a:buNone/>
            </a:pPr>
            <a:r>
              <a:rPr lang="en-US" sz="1800" b="1" dirty="0">
                <a:solidFill>
                  <a:srgbClr val="232F3E"/>
                </a:solidFill>
                <a:latin typeface="ui-sans-serif" pitchFamily="34" charset="0"/>
                <a:ea typeface="ui-sans-serif" pitchFamily="34" charset="-122"/>
                <a:cs typeface="ui-sans-serif" pitchFamily="34" charset="-120"/>
              </a:rPr>
              <a:t>Which API Gateway type is optimized for building real-time, two-way communication applications like chat apps and streaming dashboards?</a:t>
            </a:r>
            <a:endParaRPr lang="en-US" sz="1800" dirty="0"/>
          </a:p>
        </p:txBody>
      </p:sp>
      <p:sp>
        <p:nvSpPr>
          <p:cNvPr id="28" name="Text 3"/>
          <p:cNvSpPr/>
          <p:nvPr/>
        </p:nvSpPr>
        <p:spPr>
          <a:xfrm>
            <a:off x="893415" y="24384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A</a:t>
            </a:r>
            <a:endParaRPr lang="en-US" sz="1200" dirty="0"/>
          </a:p>
        </p:txBody>
      </p:sp>
      <p:sp>
        <p:nvSpPr>
          <p:cNvPr id="29" name="Text 4"/>
          <p:cNvSpPr/>
          <p:nvPr/>
        </p:nvSpPr>
        <p:spPr>
          <a:xfrm>
            <a:off x="1704975" y="2457450"/>
            <a:ext cx="1022449"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REST API</a:t>
            </a:r>
            <a:endParaRPr lang="en-US" sz="1500" dirty="0"/>
          </a:p>
        </p:txBody>
      </p:sp>
      <p:sp>
        <p:nvSpPr>
          <p:cNvPr id="30" name="Text 5"/>
          <p:cNvSpPr/>
          <p:nvPr/>
        </p:nvSpPr>
        <p:spPr>
          <a:xfrm>
            <a:off x="6533108" y="24384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B</a:t>
            </a:r>
            <a:endParaRPr lang="en-US" sz="1200" dirty="0"/>
          </a:p>
        </p:txBody>
      </p:sp>
      <p:sp>
        <p:nvSpPr>
          <p:cNvPr id="31" name="Text 6"/>
          <p:cNvSpPr/>
          <p:nvPr/>
        </p:nvSpPr>
        <p:spPr>
          <a:xfrm>
            <a:off x="7258050" y="2457450"/>
            <a:ext cx="1019413"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HTTP API</a:t>
            </a:r>
            <a:endParaRPr lang="en-US" sz="1500" dirty="0"/>
          </a:p>
        </p:txBody>
      </p:sp>
      <p:sp>
        <p:nvSpPr>
          <p:cNvPr id="32" name="Text 7"/>
          <p:cNvSpPr/>
          <p:nvPr/>
        </p:nvSpPr>
        <p:spPr>
          <a:xfrm>
            <a:off x="896541" y="34290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a:t>
            </a:r>
            <a:endParaRPr lang="en-US" sz="1200" dirty="0"/>
          </a:p>
        </p:txBody>
      </p:sp>
      <p:sp>
        <p:nvSpPr>
          <p:cNvPr id="33" name="Text 8"/>
          <p:cNvSpPr/>
          <p:nvPr/>
        </p:nvSpPr>
        <p:spPr>
          <a:xfrm>
            <a:off x="1733550" y="3448050"/>
            <a:ext cx="1697891"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WebSocket API</a:t>
            </a:r>
            <a:endParaRPr lang="en-US" sz="1500" dirty="0"/>
          </a:p>
        </p:txBody>
      </p:sp>
      <p:sp>
        <p:nvSpPr>
          <p:cNvPr id="34" name="Text 9"/>
          <p:cNvSpPr/>
          <p:nvPr/>
        </p:nvSpPr>
        <p:spPr>
          <a:xfrm>
            <a:off x="6528048" y="34290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a:t>
            </a:r>
            <a:endParaRPr lang="en-US" sz="1200" dirty="0"/>
          </a:p>
        </p:txBody>
      </p:sp>
      <p:sp>
        <p:nvSpPr>
          <p:cNvPr id="35" name="Text 10"/>
          <p:cNvSpPr/>
          <p:nvPr/>
        </p:nvSpPr>
        <p:spPr>
          <a:xfrm>
            <a:off x="7286625" y="3448050"/>
            <a:ext cx="1231404"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Private API</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10475"/>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1333500"/>
            <a:ext cx="10972800" cy="609600"/>
          </a:xfrm>
          <a:prstGeom prst="rect">
            <a:avLst/>
          </a:prstGeom>
        </p:spPr>
      </p:pic>
      <p:pic>
        <p:nvPicPr>
          <p:cNvPr id="5" name="Image 3" descr="preencoded.png"/>
          <p:cNvPicPr>
            <a:picLocks noChangeAspect="1"/>
          </p:cNvPicPr>
          <p:nvPr/>
        </p:nvPicPr>
        <p:blipFill>
          <a:blip r:embed="rId6"/>
          <a:stretch>
            <a:fillRect/>
          </a:stretch>
        </p:blipFill>
        <p:spPr>
          <a:xfrm>
            <a:off x="762000" y="1485900"/>
            <a:ext cx="228600" cy="304800"/>
          </a:xfrm>
          <a:prstGeom prst="rect">
            <a:avLst/>
          </a:prstGeom>
        </p:spPr>
      </p:pic>
      <p:pic>
        <p:nvPicPr>
          <p:cNvPr id="6" name="Image 4" descr="preencoded.png"/>
          <p:cNvPicPr>
            <a:picLocks noChangeAspect="1"/>
          </p:cNvPicPr>
          <p:nvPr/>
        </p:nvPicPr>
        <p:blipFill>
          <a:blip r:embed="rId7"/>
          <a:stretch>
            <a:fillRect/>
          </a:stretch>
        </p:blipFill>
        <p:spPr>
          <a:xfrm>
            <a:off x="4219575" y="3490913"/>
            <a:ext cx="428625" cy="533400"/>
          </a:xfrm>
          <a:prstGeom prst="rect">
            <a:avLst/>
          </a:prstGeom>
        </p:spPr>
      </p:pic>
      <p:pic>
        <p:nvPicPr>
          <p:cNvPr id="7" name="Image 5" descr="preencoded.png"/>
          <p:cNvPicPr>
            <a:picLocks noChangeAspect="1"/>
          </p:cNvPicPr>
          <p:nvPr/>
        </p:nvPicPr>
        <p:blipFill>
          <a:blip r:embed="rId8"/>
          <a:stretch>
            <a:fillRect/>
          </a:stretch>
        </p:blipFill>
        <p:spPr>
          <a:xfrm>
            <a:off x="4333875" y="3605213"/>
            <a:ext cx="200025" cy="304800"/>
          </a:xfrm>
          <a:prstGeom prst="rect">
            <a:avLst/>
          </a:prstGeom>
        </p:spPr>
      </p:pic>
      <p:pic>
        <p:nvPicPr>
          <p:cNvPr id="8" name="Image 6" descr="preencoded.png"/>
          <p:cNvPicPr>
            <a:picLocks noChangeAspect="1"/>
          </p:cNvPicPr>
          <p:nvPr/>
        </p:nvPicPr>
        <p:blipFill>
          <a:blip r:embed="rId9"/>
          <a:stretch>
            <a:fillRect/>
          </a:stretch>
        </p:blipFill>
        <p:spPr>
          <a:xfrm>
            <a:off x="4648200" y="3719512"/>
            <a:ext cx="1219200" cy="76200"/>
          </a:xfrm>
          <a:prstGeom prst="rect">
            <a:avLst/>
          </a:prstGeom>
        </p:spPr>
      </p:pic>
      <p:pic>
        <p:nvPicPr>
          <p:cNvPr id="9" name="Image 7" descr="preencoded.png"/>
          <p:cNvPicPr>
            <a:picLocks noChangeAspect="1"/>
          </p:cNvPicPr>
          <p:nvPr/>
        </p:nvPicPr>
        <p:blipFill>
          <a:blip r:embed="rId10"/>
          <a:stretch>
            <a:fillRect/>
          </a:stretch>
        </p:blipFill>
        <p:spPr>
          <a:xfrm>
            <a:off x="5191125" y="3662362"/>
            <a:ext cx="133350" cy="190500"/>
          </a:xfrm>
          <a:prstGeom prst="rect">
            <a:avLst/>
          </a:prstGeom>
        </p:spPr>
      </p:pic>
      <p:pic>
        <p:nvPicPr>
          <p:cNvPr id="10" name="Image 8" descr="preencoded.png"/>
          <p:cNvPicPr>
            <a:picLocks noChangeAspect="1"/>
          </p:cNvPicPr>
          <p:nvPr/>
        </p:nvPicPr>
        <p:blipFill>
          <a:blip r:embed="rId11"/>
          <a:stretch>
            <a:fillRect/>
          </a:stretch>
        </p:blipFill>
        <p:spPr>
          <a:xfrm>
            <a:off x="5867400" y="3490913"/>
            <a:ext cx="457200" cy="533400"/>
          </a:xfrm>
          <a:prstGeom prst="rect">
            <a:avLst/>
          </a:prstGeom>
        </p:spPr>
      </p:pic>
      <p:pic>
        <p:nvPicPr>
          <p:cNvPr id="11" name="Image 9" descr="preencoded.png"/>
          <p:cNvPicPr>
            <a:picLocks noChangeAspect="1"/>
          </p:cNvPicPr>
          <p:nvPr/>
        </p:nvPicPr>
        <p:blipFill>
          <a:blip r:embed="rId12"/>
          <a:stretch>
            <a:fillRect/>
          </a:stretch>
        </p:blipFill>
        <p:spPr>
          <a:xfrm>
            <a:off x="5981700" y="3605213"/>
            <a:ext cx="228600" cy="304800"/>
          </a:xfrm>
          <a:prstGeom prst="rect">
            <a:avLst/>
          </a:prstGeom>
        </p:spPr>
      </p:pic>
      <p:pic>
        <p:nvPicPr>
          <p:cNvPr id="12" name="Image 10" descr="preencoded.png"/>
          <p:cNvPicPr>
            <a:picLocks noChangeAspect="1"/>
          </p:cNvPicPr>
          <p:nvPr/>
        </p:nvPicPr>
        <p:blipFill>
          <a:blip r:embed="rId13"/>
          <a:stretch>
            <a:fillRect/>
          </a:stretch>
        </p:blipFill>
        <p:spPr>
          <a:xfrm>
            <a:off x="6324600" y="3719512"/>
            <a:ext cx="1219200" cy="76200"/>
          </a:xfrm>
          <a:prstGeom prst="rect">
            <a:avLst/>
          </a:prstGeom>
        </p:spPr>
      </p:pic>
      <p:pic>
        <p:nvPicPr>
          <p:cNvPr id="13" name="Image 11" descr="preencoded.png"/>
          <p:cNvPicPr>
            <a:picLocks noChangeAspect="1"/>
          </p:cNvPicPr>
          <p:nvPr/>
        </p:nvPicPr>
        <p:blipFill>
          <a:blip r:embed="rId10"/>
          <a:stretch>
            <a:fillRect/>
          </a:stretch>
        </p:blipFill>
        <p:spPr>
          <a:xfrm>
            <a:off x="6867525" y="3662362"/>
            <a:ext cx="133350" cy="190500"/>
          </a:xfrm>
          <a:prstGeom prst="rect">
            <a:avLst/>
          </a:prstGeom>
        </p:spPr>
      </p:pic>
      <p:pic>
        <p:nvPicPr>
          <p:cNvPr id="14" name="Image 12" descr="preencoded.png"/>
          <p:cNvPicPr>
            <a:picLocks noChangeAspect="1"/>
          </p:cNvPicPr>
          <p:nvPr/>
        </p:nvPicPr>
        <p:blipFill>
          <a:blip r:embed="rId7"/>
          <a:stretch>
            <a:fillRect/>
          </a:stretch>
        </p:blipFill>
        <p:spPr>
          <a:xfrm>
            <a:off x="7543800" y="3490913"/>
            <a:ext cx="428625" cy="533400"/>
          </a:xfrm>
          <a:prstGeom prst="rect">
            <a:avLst/>
          </a:prstGeom>
        </p:spPr>
      </p:pic>
      <p:pic>
        <p:nvPicPr>
          <p:cNvPr id="15" name="Image 13" descr="preencoded.png"/>
          <p:cNvPicPr>
            <a:picLocks noChangeAspect="1"/>
          </p:cNvPicPr>
          <p:nvPr/>
        </p:nvPicPr>
        <p:blipFill>
          <a:blip r:embed="rId14"/>
          <a:stretch>
            <a:fillRect/>
          </a:stretch>
        </p:blipFill>
        <p:spPr>
          <a:xfrm>
            <a:off x="7658100" y="3605213"/>
            <a:ext cx="200025" cy="304800"/>
          </a:xfrm>
          <a:prstGeom prst="rect">
            <a:avLst/>
          </a:prstGeom>
        </p:spPr>
      </p:pic>
      <p:pic>
        <p:nvPicPr>
          <p:cNvPr id="16" name="Image 14" descr="preencoded.png"/>
          <p:cNvPicPr>
            <a:picLocks noChangeAspect="1"/>
          </p:cNvPicPr>
          <p:nvPr/>
        </p:nvPicPr>
        <p:blipFill>
          <a:blip r:embed="rId15"/>
          <a:stretch>
            <a:fillRect/>
          </a:stretch>
        </p:blipFill>
        <p:spPr>
          <a:xfrm>
            <a:off x="609600" y="4329113"/>
            <a:ext cx="3555950" cy="1104900"/>
          </a:xfrm>
          <a:prstGeom prst="rect">
            <a:avLst/>
          </a:prstGeom>
        </p:spPr>
      </p:pic>
      <p:pic>
        <p:nvPicPr>
          <p:cNvPr id="17" name="Image 15" descr="preencoded.png"/>
          <p:cNvPicPr>
            <a:picLocks noChangeAspect="1"/>
          </p:cNvPicPr>
          <p:nvPr/>
        </p:nvPicPr>
        <p:blipFill>
          <a:blip r:embed="rId16"/>
          <a:stretch>
            <a:fillRect/>
          </a:stretch>
        </p:blipFill>
        <p:spPr>
          <a:xfrm>
            <a:off x="762000" y="4481513"/>
            <a:ext cx="190500" cy="266700"/>
          </a:xfrm>
          <a:prstGeom prst="rect">
            <a:avLst/>
          </a:prstGeom>
        </p:spPr>
      </p:pic>
      <p:pic>
        <p:nvPicPr>
          <p:cNvPr id="18" name="Image 16" descr="preencoded.png"/>
          <p:cNvPicPr>
            <a:picLocks noChangeAspect="1"/>
          </p:cNvPicPr>
          <p:nvPr/>
        </p:nvPicPr>
        <p:blipFill>
          <a:blip r:embed="rId17"/>
          <a:stretch>
            <a:fillRect/>
          </a:stretch>
        </p:blipFill>
        <p:spPr>
          <a:xfrm>
            <a:off x="4317950" y="4329113"/>
            <a:ext cx="3555950" cy="1104900"/>
          </a:xfrm>
          <a:prstGeom prst="rect">
            <a:avLst/>
          </a:prstGeom>
        </p:spPr>
      </p:pic>
      <p:pic>
        <p:nvPicPr>
          <p:cNvPr id="19" name="Image 17" descr="preencoded.png"/>
          <p:cNvPicPr>
            <a:picLocks noChangeAspect="1"/>
          </p:cNvPicPr>
          <p:nvPr/>
        </p:nvPicPr>
        <p:blipFill>
          <a:blip r:embed="rId18"/>
          <a:stretch>
            <a:fillRect/>
          </a:stretch>
        </p:blipFill>
        <p:spPr>
          <a:xfrm>
            <a:off x="4470350" y="4481513"/>
            <a:ext cx="190500" cy="266700"/>
          </a:xfrm>
          <a:prstGeom prst="rect">
            <a:avLst/>
          </a:prstGeom>
        </p:spPr>
      </p:pic>
      <p:pic>
        <p:nvPicPr>
          <p:cNvPr id="20" name="Image 18" descr="preencoded.png"/>
          <p:cNvPicPr>
            <a:picLocks noChangeAspect="1"/>
          </p:cNvPicPr>
          <p:nvPr/>
        </p:nvPicPr>
        <p:blipFill>
          <a:blip r:embed="rId19"/>
          <a:stretch>
            <a:fillRect/>
          </a:stretch>
        </p:blipFill>
        <p:spPr>
          <a:xfrm>
            <a:off x="8026301" y="4329113"/>
            <a:ext cx="3556099" cy="1104900"/>
          </a:xfrm>
          <a:prstGeom prst="rect">
            <a:avLst/>
          </a:prstGeom>
        </p:spPr>
      </p:pic>
      <p:pic>
        <p:nvPicPr>
          <p:cNvPr id="21" name="Image 19" descr="preencoded.png"/>
          <p:cNvPicPr>
            <a:picLocks noChangeAspect="1"/>
          </p:cNvPicPr>
          <p:nvPr/>
        </p:nvPicPr>
        <p:blipFill>
          <a:blip r:embed="rId20"/>
          <a:stretch>
            <a:fillRect/>
          </a:stretch>
        </p:blipFill>
        <p:spPr>
          <a:xfrm>
            <a:off x="8178701" y="4481513"/>
            <a:ext cx="190500" cy="266700"/>
          </a:xfrm>
          <a:prstGeom prst="rect">
            <a:avLst/>
          </a:prstGeom>
        </p:spPr>
      </p:pic>
      <p:pic>
        <p:nvPicPr>
          <p:cNvPr id="24" name="Image 22" descr="preencoded.png"/>
          <p:cNvPicPr>
            <a:picLocks noChangeAspect="1"/>
          </p:cNvPicPr>
          <p:nvPr/>
        </p:nvPicPr>
        <p:blipFill>
          <a:blip r:embed="rId21"/>
          <a:stretch>
            <a:fillRect/>
          </a:stretch>
        </p:blipFill>
        <p:spPr>
          <a:xfrm>
            <a:off x="0" y="7305675"/>
            <a:ext cx="12192000" cy="304800"/>
          </a:xfrm>
          <a:prstGeom prst="rect">
            <a:avLst/>
          </a:prstGeom>
        </p:spPr>
      </p:pic>
      <p:sp>
        <p:nvSpPr>
          <p:cNvPr id="25" name="Text 0"/>
          <p:cNvSpPr/>
          <p:nvPr/>
        </p:nvSpPr>
        <p:spPr>
          <a:xfrm>
            <a:off x="609600" y="685800"/>
            <a:ext cx="1790045"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Answer 1</a:t>
            </a:r>
            <a:endParaRPr lang="en-US" sz="2250" dirty="0"/>
          </a:p>
        </p:txBody>
      </p:sp>
      <p:sp>
        <p:nvSpPr>
          <p:cNvPr id="27" name="Text 2"/>
          <p:cNvSpPr/>
          <p:nvPr/>
        </p:nvSpPr>
        <p:spPr>
          <a:xfrm>
            <a:off x="1104900" y="1485900"/>
            <a:ext cx="5314771" cy="304800"/>
          </a:xfrm>
          <a:prstGeom prst="rect">
            <a:avLst/>
          </a:prstGeom>
          <a:noFill/>
          <a:ln/>
        </p:spPr>
        <p:txBody>
          <a:bodyPr vert="horz" wrap="square" lIns="0" tIns="0" rIns="0" bIns="0" rtlCol="0" anchor="t"/>
          <a:lstStyle/>
          <a:p>
            <a:pPr marL="0" indent="0">
              <a:lnSpc>
                <a:spcPts val="2400"/>
              </a:lnSpc>
              <a:buNone/>
            </a:pPr>
            <a:r>
              <a:rPr lang="en-US" sz="1800" b="1" dirty="0">
                <a:solidFill>
                  <a:srgbClr val="000000"/>
                </a:solidFill>
                <a:latin typeface="ui-sans-serif" pitchFamily="34" charset="0"/>
                <a:ea typeface="ui-sans-serif" pitchFamily="34" charset="-122"/>
                <a:cs typeface="ui-sans-serif" pitchFamily="34" charset="-120"/>
              </a:rPr>
              <a:t>Correct Answer: </a:t>
            </a:r>
            <a:r>
              <a:rPr lang="en-US" sz="1800" b="1" dirty="0">
                <a:solidFill>
                  <a:srgbClr val="FF9900"/>
                </a:solidFill>
                <a:latin typeface="ui-sans-serif" pitchFamily="34" charset="0"/>
                <a:ea typeface="ui-sans-serif" pitchFamily="34" charset="-122"/>
                <a:cs typeface="ui-sans-serif" pitchFamily="34" charset="-120"/>
              </a:rPr>
              <a:t>C. WebSocket API</a:t>
            </a:r>
            <a:endParaRPr lang="en-US" sz="1800" dirty="0"/>
          </a:p>
        </p:txBody>
      </p:sp>
      <p:sp>
        <p:nvSpPr>
          <p:cNvPr id="28" name="Text 3"/>
          <p:cNvSpPr/>
          <p:nvPr/>
        </p:nvSpPr>
        <p:spPr>
          <a:xfrm>
            <a:off x="609600" y="2247900"/>
            <a:ext cx="10972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Explanation:</a:t>
            </a:r>
            <a:endParaRPr lang="en-US" sz="1500" dirty="0"/>
          </a:p>
        </p:txBody>
      </p:sp>
      <p:sp>
        <p:nvSpPr>
          <p:cNvPr id="29" name="Text 4"/>
          <p:cNvSpPr/>
          <p:nvPr/>
        </p:nvSpPr>
        <p:spPr>
          <a:xfrm>
            <a:off x="609600" y="2628900"/>
            <a:ext cx="10972800" cy="557213"/>
          </a:xfrm>
          <a:prstGeom prst="rect">
            <a:avLst/>
          </a:prstGeom>
          <a:noFill/>
          <a:ln/>
        </p:spPr>
        <p:txBody>
          <a:bodyPr vert="horz" wrap="square" lIns="0" tIns="0" rIns="0" bIns="0" rtlCol="0" anchor="t"/>
          <a:lstStyle/>
          <a:p>
            <a:pPr marL="0" indent="0">
              <a:lnSpc>
                <a:spcPts val="2194"/>
              </a:lnSpc>
              <a:buNone/>
            </a:pPr>
            <a:r>
              <a:rPr lang="en-US" sz="1350" dirty="0">
                <a:solidFill>
                  <a:srgbClr val="374151"/>
                </a:solidFill>
                <a:latin typeface="ui-sans-serif" pitchFamily="34" charset="0"/>
                <a:ea typeface="ui-sans-serif" pitchFamily="34" charset="-122"/>
                <a:cs typeface="ui-sans-serif" pitchFamily="34" charset="-120"/>
              </a:rPr>
              <a:t>WebSocket APIs are specifically designed for real-time, two-way communication applications, such as chat applications and streaming dashboards, by maintaining persistent connections between clients and backend services.</a:t>
            </a:r>
            <a:endParaRPr lang="en-US" sz="1350" dirty="0"/>
          </a:p>
        </p:txBody>
      </p:sp>
      <p:sp>
        <p:nvSpPr>
          <p:cNvPr id="30" name="Text 5"/>
          <p:cNvSpPr/>
          <p:nvPr/>
        </p:nvSpPr>
        <p:spPr>
          <a:xfrm>
            <a:off x="1028700" y="4481513"/>
            <a:ext cx="1803083" cy="266700"/>
          </a:xfrm>
          <a:prstGeom prst="rect">
            <a:avLst/>
          </a:prstGeom>
          <a:noFill/>
          <a:ln/>
        </p:spPr>
        <p:txBody>
          <a:bodyPr vert="horz" wrap="square" lIns="0" tIns="0" rIns="0" bIns="0" rtlCol="0" anchor="t"/>
          <a:lstStyle/>
          <a:p>
            <a:pPr marL="0" indent="0">
              <a:lnSpc>
                <a:spcPts val="2100"/>
              </a:lnSpc>
              <a:buNone/>
            </a:pPr>
            <a:r>
              <a:rPr lang="en-US" sz="1350" dirty="0">
                <a:solidFill>
                  <a:srgbClr val="232F3E"/>
                </a:solidFill>
                <a:latin typeface="ui-sans-serif" pitchFamily="34" charset="0"/>
                <a:ea typeface="ui-sans-serif" pitchFamily="34" charset="-122"/>
                <a:cs typeface="ui-sans-serif" pitchFamily="34" charset="-120"/>
              </a:rPr>
              <a:t>Chat Applications</a:t>
            </a:r>
            <a:endParaRPr lang="en-US" sz="1350" dirty="0"/>
          </a:p>
        </p:txBody>
      </p:sp>
      <p:sp>
        <p:nvSpPr>
          <p:cNvPr id="31" name="Text 6"/>
          <p:cNvSpPr/>
          <p:nvPr/>
        </p:nvSpPr>
        <p:spPr>
          <a:xfrm>
            <a:off x="762000" y="4824413"/>
            <a:ext cx="390138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Real-time messaging between users</a:t>
            </a:r>
            <a:endParaRPr lang="en-US" sz="1200" dirty="0"/>
          </a:p>
        </p:txBody>
      </p:sp>
      <p:sp>
        <p:nvSpPr>
          <p:cNvPr id="32" name="Text 7"/>
          <p:cNvSpPr/>
          <p:nvPr/>
        </p:nvSpPr>
        <p:spPr>
          <a:xfrm>
            <a:off x="4737050" y="4481513"/>
            <a:ext cx="2351365" cy="266700"/>
          </a:xfrm>
          <a:prstGeom prst="rect">
            <a:avLst/>
          </a:prstGeom>
          <a:noFill/>
          <a:ln/>
        </p:spPr>
        <p:txBody>
          <a:bodyPr vert="horz" wrap="square" lIns="0" tIns="0" rIns="0" bIns="0" rtlCol="0" anchor="t"/>
          <a:lstStyle/>
          <a:p>
            <a:pPr marL="0" indent="0">
              <a:lnSpc>
                <a:spcPts val="2100"/>
              </a:lnSpc>
              <a:buNone/>
            </a:pPr>
            <a:r>
              <a:rPr lang="en-US" sz="1350" dirty="0">
                <a:solidFill>
                  <a:srgbClr val="232F3E"/>
                </a:solidFill>
                <a:latin typeface="ui-sans-serif" pitchFamily="34" charset="0"/>
                <a:ea typeface="ui-sans-serif" pitchFamily="34" charset="-122"/>
                <a:cs typeface="ui-sans-serif" pitchFamily="34" charset="-120"/>
              </a:rPr>
              <a:t>Streaming Dashboards</a:t>
            </a:r>
            <a:endParaRPr lang="en-US" sz="1350" dirty="0"/>
          </a:p>
        </p:txBody>
      </p:sp>
      <p:sp>
        <p:nvSpPr>
          <p:cNvPr id="33" name="Text 8"/>
          <p:cNvSpPr/>
          <p:nvPr/>
        </p:nvSpPr>
        <p:spPr>
          <a:xfrm>
            <a:off x="4470350" y="4824413"/>
            <a:ext cx="390138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Live data visualization and updates</a:t>
            </a:r>
            <a:endParaRPr lang="en-US" sz="1200" dirty="0"/>
          </a:p>
        </p:txBody>
      </p:sp>
      <p:sp>
        <p:nvSpPr>
          <p:cNvPr id="34" name="Text 9"/>
          <p:cNvSpPr/>
          <p:nvPr/>
        </p:nvSpPr>
        <p:spPr>
          <a:xfrm>
            <a:off x="8445401" y="4481513"/>
            <a:ext cx="2580680" cy="266700"/>
          </a:xfrm>
          <a:prstGeom prst="rect">
            <a:avLst/>
          </a:prstGeom>
          <a:noFill/>
          <a:ln/>
        </p:spPr>
        <p:txBody>
          <a:bodyPr vert="horz" wrap="square" lIns="0" tIns="0" rIns="0" bIns="0" rtlCol="0" anchor="t"/>
          <a:lstStyle/>
          <a:p>
            <a:pPr marL="0" indent="0">
              <a:lnSpc>
                <a:spcPts val="2100"/>
              </a:lnSpc>
              <a:buNone/>
            </a:pPr>
            <a:r>
              <a:rPr lang="en-US" sz="1350" dirty="0">
                <a:solidFill>
                  <a:srgbClr val="232F3E"/>
                </a:solidFill>
                <a:latin typeface="ui-sans-serif" pitchFamily="34" charset="0"/>
                <a:ea typeface="ui-sans-serif" pitchFamily="34" charset="-122"/>
                <a:cs typeface="ui-sans-serif" pitchFamily="34" charset="-120"/>
              </a:rPr>
              <a:t>Two-Way Communication</a:t>
            </a:r>
            <a:endParaRPr lang="en-US" sz="1350" dirty="0"/>
          </a:p>
        </p:txBody>
      </p:sp>
      <p:sp>
        <p:nvSpPr>
          <p:cNvPr id="35" name="Text 10"/>
          <p:cNvSpPr/>
          <p:nvPr/>
        </p:nvSpPr>
        <p:spPr>
          <a:xfrm>
            <a:off x="8178701" y="4824413"/>
            <a:ext cx="3251299"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Persistent connections for bidirectional data flow</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2209800"/>
            <a:ext cx="5372100" cy="838200"/>
          </a:xfrm>
          <a:prstGeom prst="rect">
            <a:avLst/>
          </a:prstGeom>
        </p:spPr>
      </p:pic>
      <p:pic>
        <p:nvPicPr>
          <p:cNvPr id="5" name="Image 3" descr="preencoded.png"/>
          <p:cNvPicPr>
            <a:picLocks noChangeAspect="1"/>
          </p:cNvPicPr>
          <p:nvPr/>
        </p:nvPicPr>
        <p:blipFill>
          <a:blip r:embed="rId6"/>
          <a:stretch>
            <a:fillRect/>
          </a:stretch>
        </p:blipFill>
        <p:spPr>
          <a:xfrm>
            <a:off x="762000" y="2362200"/>
            <a:ext cx="381000" cy="381000"/>
          </a:xfrm>
          <a:prstGeom prst="rect">
            <a:avLst/>
          </a:prstGeom>
        </p:spPr>
      </p:pic>
      <p:pic>
        <p:nvPicPr>
          <p:cNvPr id="6" name="Image 4" descr="preencoded.png"/>
          <p:cNvPicPr>
            <a:picLocks noChangeAspect="1"/>
          </p:cNvPicPr>
          <p:nvPr/>
        </p:nvPicPr>
        <p:blipFill>
          <a:blip r:embed="rId7"/>
          <a:stretch>
            <a:fillRect/>
          </a:stretch>
        </p:blipFill>
        <p:spPr>
          <a:xfrm>
            <a:off x="1295400" y="2476500"/>
            <a:ext cx="228600" cy="304800"/>
          </a:xfrm>
          <a:prstGeom prst="rect">
            <a:avLst/>
          </a:prstGeom>
        </p:spPr>
      </p:pic>
      <p:pic>
        <p:nvPicPr>
          <p:cNvPr id="7" name="Image 5" descr="preencoded.png"/>
          <p:cNvPicPr>
            <a:picLocks noChangeAspect="1"/>
          </p:cNvPicPr>
          <p:nvPr/>
        </p:nvPicPr>
        <p:blipFill>
          <a:blip r:embed="rId5"/>
          <a:stretch>
            <a:fillRect/>
          </a:stretch>
        </p:blipFill>
        <p:spPr>
          <a:xfrm>
            <a:off x="6210300" y="2209800"/>
            <a:ext cx="5372100" cy="838200"/>
          </a:xfrm>
          <a:prstGeom prst="rect">
            <a:avLst/>
          </a:prstGeom>
        </p:spPr>
      </p:pic>
      <p:pic>
        <p:nvPicPr>
          <p:cNvPr id="8" name="Image 6" descr="preencoded.png"/>
          <p:cNvPicPr>
            <a:picLocks noChangeAspect="1"/>
          </p:cNvPicPr>
          <p:nvPr/>
        </p:nvPicPr>
        <p:blipFill>
          <a:blip r:embed="rId8"/>
          <a:stretch>
            <a:fillRect/>
          </a:stretch>
        </p:blipFill>
        <p:spPr>
          <a:xfrm>
            <a:off x="6324600" y="2476500"/>
            <a:ext cx="381000" cy="381000"/>
          </a:xfrm>
          <a:prstGeom prst="rect">
            <a:avLst/>
          </a:prstGeom>
        </p:spPr>
      </p:pic>
      <p:pic>
        <p:nvPicPr>
          <p:cNvPr id="9" name="Image 7" descr="preencoded.png"/>
          <p:cNvPicPr>
            <a:picLocks noChangeAspect="1"/>
          </p:cNvPicPr>
          <p:nvPr/>
        </p:nvPicPr>
        <p:blipFill>
          <a:blip r:embed="rId9"/>
          <a:stretch>
            <a:fillRect/>
          </a:stretch>
        </p:blipFill>
        <p:spPr>
          <a:xfrm>
            <a:off x="6896100" y="2476500"/>
            <a:ext cx="285750" cy="304800"/>
          </a:xfrm>
          <a:prstGeom prst="rect">
            <a:avLst/>
          </a:prstGeom>
        </p:spPr>
      </p:pic>
      <p:pic>
        <p:nvPicPr>
          <p:cNvPr id="10" name="Image 8" descr="preencoded.png"/>
          <p:cNvPicPr>
            <a:picLocks noChangeAspect="1"/>
          </p:cNvPicPr>
          <p:nvPr/>
        </p:nvPicPr>
        <p:blipFill>
          <a:blip r:embed="rId5"/>
          <a:stretch>
            <a:fillRect/>
          </a:stretch>
        </p:blipFill>
        <p:spPr>
          <a:xfrm>
            <a:off x="609600" y="3276600"/>
            <a:ext cx="5372100" cy="838200"/>
          </a:xfrm>
          <a:prstGeom prst="rect">
            <a:avLst/>
          </a:prstGeom>
        </p:spPr>
      </p:pic>
      <p:pic>
        <p:nvPicPr>
          <p:cNvPr id="11" name="Image 9" descr="preencoded.png"/>
          <p:cNvPicPr>
            <a:picLocks noChangeAspect="1"/>
          </p:cNvPicPr>
          <p:nvPr/>
        </p:nvPicPr>
        <p:blipFill>
          <a:blip r:embed="rId10"/>
          <a:stretch>
            <a:fillRect/>
          </a:stretch>
        </p:blipFill>
        <p:spPr>
          <a:xfrm>
            <a:off x="762000" y="3429000"/>
            <a:ext cx="381000" cy="381000"/>
          </a:xfrm>
          <a:prstGeom prst="rect">
            <a:avLst/>
          </a:prstGeom>
        </p:spPr>
      </p:pic>
      <p:pic>
        <p:nvPicPr>
          <p:cNvPr id="12" name="Image 10" descr="preencoded.png"/>
          <p:cNvPicPr>
            <a:picLocks noChangeAspect="1"/>
          </p:cNvPicPr>
          <p:nvPr/>
        </p:nvPicPr>
        <p:blipFill>
          <a:blip r:embed="rId11"/>
          <a:stretch>
            <a:fillRect/>
          </a:stretch>
        </p:blipFill>
        <p:spPr>
          <a:xfrm>
            <a:off x="1295400" y="3543300"/>
            <a:ext cx="142875" cy="304800"/>
          </a:xfrm>
          <a:prstGeom prst="rect">
            <a:avLst/>
          </a:prstGeom>
        </p:spPr>
      </p:pic>
      <p:pic>
        <p:nvPicPr>
          <p:cNvPr id="14" name="Image 12" descr="preencoded.png"/>
          <p:cNvPicPr>
            <a:picLocks noChangeAspect="1"/>
          </p:cNvPicPr>
          <p:nvPr/>
        </p:nvPicPr>
        <p:blipFill>
          <a:blip r:embed="rId12"/>
          <a:stretch>
            <a:fillRect/>
          </a:stretch>
        </p:blipFill>
        <p:spPr>
          <a:xfrm>
            <a:off x="6210300" y="3276600"/>
            <a:ext cx="5372100" cy="838200"/>
          </a:xfrm>
          <a:prstGeom prst="rect">
            <a:avLst/>
          </a:prstGeom>
        </p:spPr>
      </p:pic>
      <p:pic>
        <p:nvPicPr>
          <p:cNvPr id="15" name="Image 13" descr="preencoded.png"/>
          <p:cNvPicPr>
            <a:picLocks noChangeAspect="1"/>
          </p:cNvPicPr>
          <p:nvPr/>
        </p:nvPicPr>
        <p:blipFill>
          <a:blip r:embed="rId13"/>
          <a:stretch>
            <a:fillRect/>
          </a:stretch>
        </p:blipFill>
        <p:spPr>
          <a:xfrm>
            <a:off x="6362700" y="3429000"/>
            <a:ext cx="381000" cy="381000"/>
          </a:xfrm>
          <a:prstGeom prst="rect">
            <a:avLst/>
          </a:prstGeom>
        </p:spPr>
      </p:pic>
      <p:pic>
        <p:nvPicPr>
          <p:cNvPr id="16" name="Image 14" descr="preencoded.png"/>
          <p:cNvPicPr>
            <a:picLocks noChangeAspect="1"/>
          </p:cNvPicPr>
          <p:nvPr/>
        </p:nvPicPr>
        <p:blipFill>
          <a:blip r:embed="rId14"/>
          <a:stretch>
            <a:fillRect/>
          </a:stretch>
        </p:blipFill>
        <p:spPr>
          <a:xfrm>
            <a:off x="6896100" y="3429000"/>
            <a:ext cx="200025" cy="304800"/>
          </a:xfrm>
          <a:prstGeom prst="rect">
            <a:avLst/>
          </a:prstGeom>
        </p:spPr>
      </p:pic>
      <p:pic>
        <p:nvPicPr>
          <p:cNvPr id="21" name="Image 19" descr="preencoded.png"/>
          <p:cNvPicPr>
            <a:picLocks noChangeAspect="1"/>
          </p:cNvPicPr>
          <p:nvPr/>
        </p:nvPicPr>
        <p:blipFill>
          <a:blip r:embed="rId15"/>
          <a:stretch>
            <a:fillRect/>
          </a:stretch>
        </p:blipFill>
        <p:spPr>
          <a:xfrm>
            <a:off x="0" y="6553200"/>
            <a:ext cx="12192000" cy="304800"/>
          </a:xfrm>
          <a:prstGeom prst="rect">
            <a:avLst/>
          </a:prstGeom>
        </p:spPr>
      </p:pic>
      <p:sp>
        <p:nvSpPr>
          <p:cNvPr id="22" name="Text 0"/>
          <p:cNvSpPr/>
          <p:nvPr/>
        </p:nvSpPr>
        <p:spPr>
          <a:xfrm>
            <a:off x="609600" y="685800"/>
            <a:ext cx="2091511"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Question 2</a:t>
            </a:r>
            <a:endParaRPr lang="en-US" sz="2250" dirty="0"/>
          </a:p>
        </p:txBody>
      </p:sp>
      <p:sp>
        <p:nvSpPr>
          <p:cNvPr id="24" name="Text 2"/>
          <p:cNvSpPr/>
          <p:nvPr/>
        </p:nvSpPr>
        <p:spPr>
          <a:xfrm>
            <a:off x="609600" y="1333500"/>
            <a:ext cx="10972800" cy="571500"/>
          </a:xfrm>
          <a:prstGeom prst="rect">
            <a:avLst/>
          </a:prstGeom>
          <a:noFill/>
          <a:ln/>
        </p:spPr>
        <p:txBody>
          <a:bodyPr vert="horz" wrap="square" lIns="0" tIns="0" rIns="0" bIns="0" rtlCol="0" anchor="t"/>
          <a:lstStyle/>
          <a:p>
            <a:pPr marL="0" indent="0">
              <a:lnSpc>
                <a:spcPts val="2250"/>
              </a:lnSpc>
              <a:buNone/>
            </a:pPr>
            <a:r>
              <a:rPr lang="en-US" sz="1800" b="1" dirty="0">
                <a:solidFill>
                  <a:srgbClr val="232F3E"/>
                </a:solidFill>
                <a:latin typeface="ui-sans-serif" pitchFamily="34" charset="0"/>
                <a:ea typeface="ui-sans-serif" pitchFamily="34" charset="-122"/>
                <a:cs typeface="ui-sans-serif" pitchFamily="34" charset="-120"/>
              </a:rPr>
              <a:t>What is a key characteristic that differentiates HTTP APIs from REST APIs in AWS API Gateway?</a:t>
            </a:r>
            <a:endParaRPr lang="en-US" sz="1800" dirty="0"/>
          </a:p>
        </p:txBody>
      </p:sp>
      <p:sp>
        <p:nvSpPr>
          <p:cNvPr id="25" name="Text 3"/>
          <p:cNvSpPr/>
          <p:nvPr/>
        </p:nvSpPr>
        <p:spPr>
          <a:xfrm>
            <a:off x="893415" y="23622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A</a:t>
            </a:r>
            <a:endParaRPr lang="en-US" sz="1200" dirty="0"/>
          </a:p>
        </p:txBody>
      </p:sp>
      <p:sp>
        <p:nvSpPr>
          <p:cNvPr id="26" name="Text 4"/>
          <p:cNvSpPr/>
          <p:nvPr/>
        </p:nvSpPr>
        <p:spPr>
          <a:xfrm>
            <a:off x="1676400" y="2362200"/>
            <a:ext cx="4152900" cy="5334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HTTP APIs support API keys and per-client throttling</a:t>
            </a:r>
            <a:endParaRPr lang="en-US" sz="1500" dirty="0"/>
          </a:p>
        </p:txBody>
      </p:sp>
      <p:sp>
        <p:nvSpPr>
          <p:cNvPr id="27" name="Text 5"/>
          <p:cNvSpPr/>
          <p:nvPr/>
        </p:nvSpPr>
        <p:spPr>
          <a:xfrm>
            <a:off x="6456908" y="24765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B</a:t>
            </a:r>
            <a:endParaRPr lang="en-US" sz="1200" dirty="0"/>
          </a:p>
        </p:txBody>
      </p:sp>
      <p:sp>
        <p:nvSpPr>
          <p:cNvPr id="28" name="Text 6"/>
          <p:cNvSpPr/>
          <p:nvPr/>
        </p:nvSpPr>
        <p:spPr>
          <a:xfrm>
            <a:off x="7334250" y="2514600"/>
            <a:ext cx="4095750" cy="5334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HTTP APIs offer more comprehensive features</a:t>
            </a:r>
            <a:endParaRPr lang="en-US" sz="1500" dirty="0"/>
          </a:p>
        </p:txBody>
      </p:sp>
      <p:sp>
        <p:nvSpPr>
          <p:cNvPr id="29" name="Text 7"/>
          <p:cNvSpPr/>
          <p:nvPr/>
        </p:nvSpPr>
        <p:spPr>
          <a:xfrm>
            <a:off x="896541" y="34290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a:t>
            </a:r>
            <a:endParaRPr lang="en-US" sz="1200" dirty="0"/>
          </a:p>
        </p:txBody>
      </p:sp>
      <p:sp>
        <p:nvSpPr>
          <p:cNvPr id="30" name="Text 8"/>
          <p:cNvSpPr/>
          <p:nvPr/>
        </p:nvSpPr>
        <p:spPr>
          <a:xfrm>
            <a:off x="1651248" y="3486150"/>
            <a:ext cx="3914775" cy="5334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HTTP APIs are generally lower cost and offer lower latency</a:t>
            </a:r>
            <a:endParaRPr lang="en-US" sz="1500" dirty="0"/>
          </a:p>
        </p:txBody>
      </p:sp>
      <p:sp>
        <p:nvSpPr>
          <p:cNvPr id="31" name="Text 9"/>
          <p:cNvSpPr/>
          <p:nvPr/>
        </p:nvSpPr>
        <p:spPr>
          <a:xfrm>
            <a:off x="6489948" y="34290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a:t>
            </a:r>
            <a:endParaRPr lang="en-US" sz="1200" dirty="0"/>
          </a:p>
        </p:txBody>
      </p:sp>
      <p:sp>
        <p:nvSpPr>
          <p:cNvPr id="32" name="Text 10"/>
          <p:cNvSpPr/>
          <p:nvPr/>
        </p:nvSpPr>
        <p:spPr>
          <a:xfrm>
            <a:off x="7248525" y="3448050"/>
            <a:ext cx="3051274"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HTTP APIs support caching</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286625"/>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1333500"/>
            <a:ext cx="10972800" cy="609600"/>
          </a:xfrm>
          <a:prstGeom prst="rect">
            <a:avLst/>
          </a:prstGeom>
        </p:spPr>
      </p:pic>
      <p:pic>
        <p:nvPicPr>
          <p:cNvPr id="5" name="Image 3" descr="preencoded.png"/>
          <p:cNvPicPr>
            <a:picLocks noChangeAspect="1"/>
          </p:cNvPicPr>
          <p:nvPr/>
        </p:nvPicPr>
        <p:blipFill>
          <a:blip r:embed="rId6"/>
          <a:stretch>
            <a:fillRect/>
          </a:stretch>
        </p:blipFill>
        <p:spPr>
          <a:xfrm>
            <a:off x="762000" y="1485900"/>
            <a:ext cx="228600" cy="304800"/>
          </a:xfrm>
          <a:prstGeom prst="rect">
            <a:avLst/>
          </a:prstGeom>
        </p:spPr>
      </p:pic>
      <p:pic>
        <p:nvPicPr>
          <p:cNvPr id="6" name="Image 4" descr="preencoded.png"/>
          <p:cNvPicPr>
            <a:picLocks noChangeAspect="1"/>
          </p:cNvPicPr>
          <p:nvPr/>
        </p:nvPicPr>
        <p:blipFill>
          <a:blip r:embed="rId7"/>
          <a:stretch>
            <a:fillRect/>
          </a:stretch>
        </p:blipFill>
        <p:spPr>
          <a:xfrm>
            <a:off x="609600" y="3414713"/>
            <a:ext cx="5334000" cy="2286000"/>
          </a:xfrm>
          <a:prstGeom prst="rect">
            <a:avLst/>
          </a:prstGeom>
        </p:spPr>
      </p:pic>
      <p:pic>
        <p:nvPicPr>
          <p:cNvPr id="7" name="Image 5" descr="preencoded.png"/>
          <p:cNvPicPr>
            <a:picLocks noChangeAspect="1"/>
          </p:cNvPicPr>
          <p:nvPr/>
        </p:nvPicPr>
        <p:blipFill>
          <a:blip r:embed="rId8"/>
          <a:stretch>
            <a:fillRect/>
          </a:stretch>
        </p:blipFill>
        <p:spPr>
          <a:xfrm>
            <a:off x="800100" y="3605213"/>
            <a:ext cx="123825" cy="266700"/>
          </a:xfrm>
          <a:prstGeom prst="rect">
            <a:avLst/>
          </a:prstGeom>
        </p:spPr>
      </p:pic>
      <p:pic>
        <p:nvPicPr>
          <p:cNvPr id="8" name="Image 6" descr="preencoded.png"/>
          <p:cNvPicPr>
            <a:picLocks noChangeAspect="1"/>
          </p:cNvPicPr>
          <p:nvPr/>
        </p:nvPicPr>
        <p:blipFill>
          <a:blip r:embed="rId9"/>
          <a:stretch>
            <a:fillRect/>
          </a:stretch>
        </p:blipFill>
        <p:spPr>
          <a:xfrm>
            <a:off x="800100" y="3986213"/>
            <a:ext cx="4953000" cy="1219200"/>
          </a:xfrm>
          <a:prstGeom prst="rect">
            <a:avLst/>
          </a:prstGeom>
        </p:spPr>
      </p:pic>
      <p:pic>
        <p:nvPicPr>
          <p:cNvPr id="9" name="Image 7" descr="preencoded.png"/>
          <p:cNvPicPr>
            <a:picLocks noChangeAspect="1"/>
          </p:cNvPicPr>
          <p:nvPr/>
        </p:nvPicPr>
        <p:blipFill>
          <a:blip r:embed="rId7"/>
          <a:stretch>
            <a:fillRect/>
          </a:stretch>
        </p:blipFill>
        <p:spPr>
          <a:xfrm>
            <a:off x="6248400" y="3414713"/>
            <a:ext cx="5334000" cy="2286000"/>
          </a:xfrm>
          <a:prstGeom prst="rect">
            <a:avLst/>
          </a:prstGeom>
        </p:spPr>
      </p:pic>
      <p:pic>
        <p:nvPicPr>
          <p:cNvPr id="10" name="Image 8" descr="preencoded.png"/>
          <p:cNvPicPr>
            <a:picLocks noChangeAspect="1"/>
          </p:cNvPicPr>
          <p:nvPr/>
        </p:nvPicPr>
        <p:blipFill>
          <a:blip r:embed="rId10"/>
          <a:stretch>
            <a:fillRect/>
          </a:stretch>
        </p:blipFill>
        <p:spPr>
          <a:xfrm>
            <a:off x="6438900" y="3605213"/>
            <a:ext cx="142875" cy="266700"/>
          </a:xfrm>
          <a:prstGeom prst="rect">
            <a:avLst/>
          </a:prstGeom>
        </p:spPr>
      </p:pic>
      <p:pic>
        <p:nvPicPr>
          <p:cNvPr id="11" name="Image 9" descr="preencoded.png"/>
          <p:cNvPicPr>
            <a:picLocks noChangeAspect="1"/>
          </p:cNvPicPr>
          <p:nvPr/>
        </p:nvPicPr>
        <p:blipFill>
          <a:blip r:embed="rId11"/>
          <a:stretch>
            <a:fillRect/>
          </a:stretch>
        </p:blipFill>
        <p:spPr>
          <a:xfrm>
            <a:off x="6438900" y="3986213"/>
            <a:ext cx="4953000" cy="1219200"/>
          </a:xfrm>
          <a:prstGeom prst="rect">
            <a:avLst/>
          </a:prstGeom>
        </p:spPr>
      </p:pic>
      <p:pic>
        <p:nvPicPr>
          <p:cNvPr id="13" name="Image 11" descr="preencoded.png"/>
          <p:cNvPicPr>
            <a:picLocks noChangeAspect="1"/>
          </p:cNvPicPr>
          <p:nvPr/>
        </p:nvPicPr>
        <p:blipFill>
          <a:blip r:embed="rId12"/>
          <a:stretch>
            <a:fillRect/>
          </a:stretch>
        </p:blipFill>
        <p:spPr>
          <a:xfrm>
            <a:off x="0" y="6981825"/>
            <a:ext cx="12192000" cy="304800"/>
          </a:xfrm>
          <a:prstGeom prst="rect">
            <a:avLst/>
          </a:prstGeom>
        </p:spPr>
      </p:pic>
      <p:sp>
        <p:nvSpPr>
          <p:cNvPr id="14" name="Text 0"/>
          <p:cNvSpPr/>
          <p:nvPr/>
        </p:nvSpPr>
        <p:spPr>
          <a:xfrm>
            <a:off x="609600" y="685800"/>
            <a:ext cx="1790045"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Answer 2</a:t>
            </a:r>
            <a:endParaRPr lang="en-US" sz="2250" dirty="0"/>
          </a:p>
        </p:txBody>
      </p:sp>
      <p:sp>
        <p:nvSpPr>
          <p:cNvPr id="16" name="Text 2"/>
          <p:cNvSpPr/>
          <p:nvPr/>
        </p:nvSpPr>
        <p:spPr>
          <a:xfrm>
            <a:off x="1104900" y="1485900"/>
            <a:ext cx="2787848" cy="304800"/>
          </a:xfrm>
          <a:prstGeom prst="rect">
            <a:avLst/>
          </a:prstGeom>
          <a:noFill/>
          <a:ln/>
        </p:spPr>
        <p:txBody>
          <a:bodyPr vert="horz" wrap="square" lIns="0" tIns="0" rIns="0" bIns="0" rtlCol="0" anchor="t"/>
          <a:lstStyle/>
          <a:p>
            <a:pPr marL="0" indent="0">
              <a:lnSpc>
                <a:spcPts val="2400"/>
              </a:lnSpc>
              <a:buNone/>
            </a:pPr>
            <a:r>
              <a:rPr lang="en-US" sz="1800" b="1" dirty="0">
                <a:solidFill>
                  <a:srgbClr val="36B37E"/>
                </a:solidFill>
                <a:latin typeface="ui-sans-serif" pitchFamily="34" charset="0"/>
                <a:ea typeface="ui-sans-serif" pitchFamily="34" charset="-122"/>
                <a:cs typeface="ui-sans-serif" pitchFamily="34" charset="-120"/>
              </a:rPr>
              <a:t>Correct Answer: C</a:t>
            </a:r>
            <a:endParaRPr lang="en-US" sz="1800" dirty="0"/>
          </a:p>
        </p:txBody>
      </p:sp>
      <p:sp>
        <p:nvSpPr>
          <p:cNvPr id="17" name="Text 3"/>
          <p:cNvSpPr/>
          <p:nvPr/>
        </p:nvSpPr>
        <p:spPr>
          <a:xfrm>
            <a:off x="609600" y="2171700"/>
            <a:ext cx="10972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Explanation:</a:t>
            </a:r>
            <a:endParaRPr lang="en-US" sz="1500" dirty="0"/>
          </a:p>
        </p:txBody>
      </p:sp>
      <p:sp>
        <p:nvSpPr>
          <p:cNvPr id="18" name="Text 4"/>
          <p:cNvSpPr/>
          <p:nvPr/>
        </p:nvSpPr>
        <p:spPr>
          <a:xfrm>
            <a:off x="609600" y="2552700"/>
            <a:ext cx="10972800" cy="557213"/>
          </a:xfrm>
          <a:prstGeom prst="rect">
            <a:avLst/>
          </a:prstGeom>
          <a:noFill/>
          <a:ln/>
        </p:spPr>
        <p:txBody>
          <a:bodyPr vert="horz" wrap="square" lIns="0" tIns="0" rIns="0" bIns="0" rtlCol="0" anchor="t"/>
          <a:lstStyle/>
          <a:p>
            <a:pPr marL="0" indent="0">
              <a:lnSpc>
                <a:spcPts val="2194"/>
              </a:lnSpc>
              <a:buNone/>
            </a:pPr>
            <a:r>
              <a:rPr lang="en-US" sz="1350" dirty="0">
                <a:solidFill>
                  <a:srgbClr val="374151"/>
                </a:solidFill>
                <a:latin typeface="ui-sans-serif" pitchFamily="34" charset="0"/>
                <a:ea typeface="ui-sans-serif" pitchFamily="34" charset="-122"/>
                <a:cs typeface="ui-sans-serif" pitchFamily="34" charset="-120"/>
              </a:rPr>
              <a:t>HTTP APIs are highlighted as being up to 71% cheaper and offering lower latency compared to REST APIs. This makes them suitable for simpler, high-performance use cases, especially with serverless workloads.</a:t>
            </a:r>
            <a:endParaRPr lang="en-US" sz="1350" dirty="0"/>
          </a:p>
        </p:txBody>
      </p:sp>
      <p:sp>
        <p:nvSpPr>
          <p:cNvPr id="19" name="Text 5"/>
          <p:cNvSpPr/>
          <p:nvPr/>
        </p:nvSpPr>
        <p:spPr>
          <a:xfrm>
            <a:off x="1085850" y="3669507"/>
            <a:ext cx="4953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Cost Comparison</a:t>
            </a:r>
            <a:endParaRPr lang="en-US" sz="1500" dirty="0"/>
          </a:p>
        </p:txBody>
      </p:sp>
      <p:sp>
        <p:nvSpPr>
          <p:cNvPr id="20" name="Text 6"/>
          <p:cNvSpPr/>
          <p:nvPr/>
        </p:nvSpPr>
        <p:spPr>
          <a:xfrm>
            <a:off x="800100" y="5319713"/>
            <a:ext cx="5943600"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HTTP APIs are up to 71% cheaper than REST APIs</a:t>
            </a:r>
            <a:endParaRPr lang="en-US" sz="1050" dirty="0"/>
          </a:p>
        </p:txBody>
      </p:sp>
      <p:sp>
        <p:nvSpPr>
          <p:cNvPr id="21" name="Text 7"/>
          <p:cNvSpPr/>
          <p:nvPr/>
        </p:nvSpPr>
        <p:spPr>
          <a:xfrm>
            <a:off x="6657975" y="3605213"/>
            <a:ext cx="4953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Latency Comparison</a:t>
            </a:r>
            <a:endParaRPr lang="en-US" sz="1500" dirty="0"/>
          </a:p>
        </p:txBody>
      </p:sp>
      <p:sp>
        <p:nvSpPr>
          <p:cNvPr id="22" name="Text 8"/>
          <p:cNvSpPr/>
          <p:nvPr/>
        </p:nvSpPr>
        <p:spPr>
          <a:xfrm>
            <a:off x="6438900" y="5319713"/>
            <a:ext cx="5943600"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HTTP APIs offer lower latency for simple use cases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2000250"/>
            <a:ext cx="5334000" cy="838200"/>
          </a:xfrm>
          <a:prstGeom prst="rect">
            <a:avLst/>
          </a:prstGeom>
        </p:spPr>
      </p:pic>
      <p:pic>
        <p:nvPicPr>
          <p:cNvPr id="5" name="Image 3" descr="preencoded.png"/>
          <p:cNvPicPr>
            <a:picLocks noChangeAspect="1"/>
          </p:cNvPicPr>
          <p:nvPr/>
        </p:nvPicPr>
        <p:blipFill>
          <a:blip r:embed="rId6"/>
          <a:stretch>
            <a:fillRect/>
          </a:stretch>
        </p:blipFill>
        <p:spPr>
          <a:xfrm>
            <a:off x="762000" y="2152650"/>
            <a:ext cx="381000" cy="381000"/>
          </a:xfrm>
          <a:prstGeom prst="rect">
            <a:avLst/>
          </a:prstGeom>
        </p:spPr>
      </p:pic>
      <p:pic>
        <p:nvPicPr>
          <p:cNvPr id="6" name="Image 4" descr="preencoded.png"/>
          <p:cNvPicPr>
            <a:picLocks noChangeAspect="1"/>
          </p:cNvPicPr>
          <p:nvPr/>
        </p:nvPicPr>
        <p:blipFill>
          <a:blip r:embed="rId7"/>
          <a:stretch>
            <a:fillRect/>
          </a:stretch>
        </p:blipFill>
        <p:spPr>
          <a:xfrm>
            <a:off x="1295400" y="2152650"/>
            <a:ext cx="285750" cy="304800"/>
          </a:xfrm>
          <a:prstGeom prst="rect">
            <a:avLst/>
          </a:prstGeom>
        </p:spPr>
      </p:pic>
      <p:pic>
        <p:nvPicPr>
          <p:cNvPr id="7" name="Image 5" descr="preencoded.png"/>
          <p:cNvPicPr>
            <a:picLocks noChangeAspect="1"/>
          </p:cNvPicPr>
          <p:nvPr/>
        </p:nvPicPr>
        <p:blipFill>
          <a:blip r:embed="rId5"/>
          <a:stretch>
            <a:fillRect/>
          </a:stretch>
        </p:blipFill>
        <p:spPr>
          <a:xfrm>
            <a:off x="6248400" y="2000250"/>
            <a:ext cx="5334000" cy="838200"/>
          </a:xfrm>
          <a:prstGeom prst="rect">
            <a:avLst/>
          </a:prstGeom>
        </p:spPr>
      </p:pic>
      <p:pic>
        <p:nvPicPr>
          <p:cNvPr id="8" name="Image 6" descr="preencoded.png"/>
          <p:cNvPicPr>
            <a:picLocks noChangeAspect="1"/>
          </p:cNvPicPr>
          <p:nvPr/>
        </p:nvPicPr>
        <p:blipFill>
          <a:blip r:embed="rId8"/>
          <a:stretch>
            <a:fillRect/>
          </a:stretch>
        </p:blipFill>
        <p:spPr>
          <a:xfrm>
            <a:off x="6400800" y="2152650"/>
            <a:ext cx="381000" cy="381000"/>
          </a:xfrm>
          <a:prstGeom prst="rect">
            <a:avLst/>
          </a:prstGeom>
        </p:spPr>
      </p:pic>
      <p:pic>
        <p:nvPicPr>
          <p:cNvPr id="9" name="Image 7" descr="preencoded.png"/>
          <p:cNvPicPr>
            <a:picLocks noChangeAspect="1"/>
          </p:cNvPicPr>
          <p:nvPr/>
        </p:nvPicPr>
        <p:blipFill>
          <a:blip r:embed="rId9"/>
          <a:stretch>
            <a:fillRect/>
          </a:stretch>
        </p:blipFill>
        <p:spPr>
          <a:xfrm>
            <a:off x="6934200" y="2266950"/>
            <a:ext cx="228600" cy="304800"/>
          </a:xfrm>
          <a:prstGeom prst="rect">
            <a:avLst/>
          </a:prstGeom>
        </p:spPr>
      </p:pic>
      <p:pic>
        <p:nvPicPr>
          <p:cNvPr id="10" name="Image 8" descr="preencoded.png"/>
          <p:cNvPicPr>
            <a:picLocks noChangeAspect="1"/>
          </p:cNvPicPr>
          <p:nvPr/>
        </p:nvPicPr>
        <p:blipFill>
          <a:blip r:embed="rId5"/>
          <a:stretch>
            <a:fillRect/>
          </a:stretch>
        </p:blipFill>
        <p:spPr>
          <a:xfrm>
            <a:off x="609600" y="3143250"/>
            <a:ext cx="5334000" cy="838200"/>
          </a:xfrm>
          <a:prstGeom prst="rect">
            <a:avLst/>
          </a:prstGeom>
        </p:spPr>
      </p:pic>
      <p:pic>
        <p:nvPicPr>
          <p:cNvPr id="11" name="Image 9" descr="preencoded.png"/>
          <p:cNvPicPr>
            <a:picLocks noChangeAspect="1"/>
          </p:cNvPicPr>
          <p:nvPr/>
        </p:nvPicPr>
        <p:blipFill>
          <a:blip r:embed="rId10"/>
          <a:stretch>
            <a:fillRect/>
          </a:stretch>
        </p:blipFill>
        <p:spPr>
          <a:xfrm>
            <a:off x="762000" y="3295650"/>
            <a:ext cx="381000" cy="381000"/>
          </a:xfrm>
          <a:prstGeom prst="rect">
            <a:avLst/>
          </a:prstGeom>
        </p:spPr>
      </p:pic>
      <p:pic>
        <p:nvPicPr>
          <p:cNvPr id="12" name="Image 10" descr="preencoded.png"/>
          <p:cNvPicPr>
            <a:picLocks noChangeAspect="1"/>
          </p:cNvPicPr>
          <p:nvPr/>
        </p:nvPicPr>
        <p:blipFill>
          <a:blip r:embed="rId11"/>
          <a:stretch>
            <a:fillRect/>
          </a:stretch>
        </p:blipFill>
        <p:spPr>
          <a:xfrm>
            <a:off x="1295400" y="3409950"/>
            <a:ext cx="285750" cy="304800"/>
          </a:xfrm>
          <a:prstGeom prst="rect">
            <a:avLst/>
          </a:prstGeom>
        </p:spPr>
      </p:pic>
      <p:pic>
        <p:nvPicPr>
          <p:cNvPr id="13" name="Image 11" descr="preencoded.png"/>
          <p:cNvPicPr>
            <a:picLocks noChangeAspect="1"/>
          </p:cNvPicPr>
          <p:nvPr/>
        </p:nvPicPr>
        <p:blipFill>
          <a:blip r:embed="rId5"/>
          <a:stretch>
            <a:fillRect/>
          </a:stretch>
        </p:blipFill>
        <p:spPr>
          <a:xfrm>
            <a:off x="6248400" y="3143250"/>
            <a:ext cx="5334000" cy="838200"/>
          </a:xfrm>
          <a:prstGeom prst="rect">
            <a:avLst/>
          </a:prstGeom>
        </p:spPr>
      </p:pic>
      <p:pic>
        <p:nvPicPr>
          <p:cNvPr id="14" name="Image 12" descr="preencoded.png"/>
          <p:cNvPicPr>
            <a:picLocks noChangeAspect="1"/>
          </p:cNvPicPr>
          <p:nvPr/>
        </p:nvPicPr>
        <p:blipFill>
          <a:blip r:embed="rId12"/>
          <a:stretch>
            <a:fillRect/>
          </a:stretch>
        </p:blipFill>
        <p:spPr>
          <a:xfrm>
            <a:off x="6400800" y="3295650"/>
            <a:ext cx="381000" cy="381000"/>
          </a:xfrm>
          <a:prstGeom prst="rect">
            <a:avLst/>
          </a:prstGeom>
        </p:spPr>
      </p:pic>
      <p:pic>
        <p:nvPicPr>
          <p:cNvPr id="15" name="Image 13" descr="preencoded.png"/>
          <p:cNvPicPr>
            <a:picLocks noChangeAspect="1"/>
          </p:cNvPicPr>
          <p:nvPr/>
        </p:nvPicPr>
        <p:blipFill>
          <a:blip r:embed="rId13"/>
          <a:stretch>
            <a:fillRect/>
          </a:stretch>
        </p:blipFill>
        <p:spPr>
          <a:xfrm>
            <a:off x="6934200" y="3409950"/>
            <a:ext cx="228600" cy="304800"/>
          </a:xfrm>
          <a:prstGeom prst="rect">
            <a:avLst/>
          </a:prstGeom>
        </p:spPr>
      </p:pic>
      <p:pic>
        <p:nvPicPr>
          <p:cNvPr id="26" name="Image 24" descr="preencoded.png"/>
          <p:cNvPicPr>
            <a:picLocks noChangeAspect="1"/>
          </p:cNvPicPr>
          <p:nvPr/>
        </p:nvPicPr>
        <p:blipFill>
          <a:blip r:embed="rId14"/>
          <a:stretch>
            <a:fillRect/>
          </a:stretch>
        </p:blipFill>
        <p:spPr>
          <a:xfrm>
            <a:off x="0" y="6553200"/>
            <a:ext cx="12192000" cy="304800"/>
          </a:xfrm>
          <a:prstGeom prst="rect">
            <a:avLst/>
          </a:prstGeom>
        </p:spPr>
      </p:pic>
      <p:sp>
        <p:nvSpPr>
          <p:cNvPr id="27" name="Text 0"/>
          <p:cNvSpPr/>
          <p:nvPr/>
        </p:nvSpPr>
        <p:spPr>
          <a:xfrm>
            <a:off x="609600" y="685800"/>
            <a:ext cx="2091511"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Question 3</a:t>
            </a:r>
            <a:endParaRPr lang="en-US" sz="2250" dirty="0"/>
          </a:p>
        </p:txBody>
      </p:sp>
      <p:sp>
        <p:nvSpPr>
          <p:cNvPr id="29" name="Text 2"/>
          <p:cNvSpPr/>
          <p:nvPr/>
        </p:nvSpPr>
        <p:spPr>
          <a:xfrm>
            <a:off x="609600" y="1333500"/>
            <a:ext cx="13167360" cy="285750"/>
          </a:xfrm>
          <a:prstGeom prst="rect">
            <a:avLst/>
          </a:prstGeom>
          <a:noFill/>
          <a:ln/>
        </p:spPr>
        <p:txBody>
          <a:bodyPr vert="horz" wrap="square" lIns="0" tIns="0" rIns="0" bIns="0" rtlCol="0" anchor="t"/>
          <a:lstStyle/>
          <a:p>
            <a:pPr marL="0" indent="0">
              <a:lnSpc>
                <a:spcPts val="2250"/>
              </a:lnSpc>
              <a:buNone/>
            </a:pPr>
            <a:r>
              <a:rPr lang="en-US" sz="1800" b="1" dirty="0">
                <a:solidFill>
                  <a:srgbClr val="232F3E"/>
                </a:solidFill>
                <a:latin typeface="ui-sans-serif" pitchFamily="34" charset="0"/>
                <a:ea typeface="ui-sans-serif" pitchFamily="34" charset="-122"/>
                <a:cs typeface="ui-sans-serif" pitchFamily="34" charset="-120"/>
              </a:rPr>
              <a:t>Which of the following is a primary use case for AWS API Gateway's REST APIs?</a:t>
            </a:r>
            <a:endParaRPr lang="en-US" sz="1800" dirty="0"/>
          </a:p>
        </p:txBody>
      </p:sp>
      <p:sp>
        <p:nvSpPr>
          <p:cNvPr id="30" name="Text 3"/>
          <p:cNvSpPr/>
          <p:nvPr/>
        </p:nvSpPr>
        <p:spPr>
          <a:xfrm>
            <a:off x="893415" y="21526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A</a:t>
            </a:r>
            <a:endParaRPr lang="en-US" sz="1200" dirty="0"/>
          </a:p>
        </p:txBody>
      </p:sp>
      <p:sp>
        <p:nvSpPr>
          <p:cNvPr id="31" name="Text 4"/>
          <p:cNvSpPr/>
          <p:nvPr/>
        </p:nvSpPr>
        <p:spPr>
          <a:xfrm>
            <a:off x="1733550" y="2171700"/>
            <a:ext cx="4058007"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Building real-time chat applications</a:t>
            </a:r>
            <a:endParaRPr lang="en-US" sz="1500" dirty="0"/>
          </a:p>
        </p:txBody>
      </p:sp>
      <p:sp>
        <p:nvSpPr>
          <p:cNvPr id="32" name="Text 5"/>
          <p:cNvSpPr/>
          <p:nvPr/>
        </p:nvSpPr>
        <p:spPr>
          <a:xfrm>
            <a:off x="6533108" y="21526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B</a:t>
            </a:r>
            <a:endParaRPr lang="en-US" sz="1200" dirty="0"/>
          </a:p>
        </p:txBody>
      </p:sp>
      <p:sp>
        <p:nvSpPr>
          <p:cNvPr id="33" name="Text 6"/>
          <p:cNvSpPr/>
          <p:nvPr/>
        </p:nvSpPr>
        <p:spPr>
          <a:xfrm>
            <a:off x="7315200" y="2152650"/>
            <a:ext cx="4114800" cy="5334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Creating lightweight APIs for serverless workloads</a:t>
            </a:r>
            <a:endParaRPr lang="en-US" sz="1500" dirty="0"/>
          </a:p>
        </p:txBody>
      </p:sp>
      <p:sp>
        <p:nvSpPr>
          <p:cNvPr id="34" name="Text 7"/>
          <p:cNvSpPr/>
          <p:nvPr/>
        </p:nvSpPr>
        <p:spPr>
          <a:xfrm>
            <a:off x="896541" y="32956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a:t>
            </a:r>
            <a:endParaRPr lang="en-US" sz="1200" dirty="0"/>
          </a:p>
        </p:txBody>
      </p:sp>
      <p:sp>
        <p:nvSpPr>
          <p:cNvPr id="35" name="Text 8"/>
          <p:cNvSpPr/>
          <p:nvPr/>
        </p:nvSpPr>
        <p:spPr>
          <a:xfrm>
            <a:off x="1733550" y="3295650"/>
            <a:ext cx="4057650" cy="5334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Developing complex APIs requiring advanced features</a:t>
            </a:r>
            <a:endParaRPr lang="en-US" sz="1500" dirty="0"/>
          </a:p>
        </p:txBody>
      </p:sp>
      <p:sp>
        <p:nvSpPr>
          <p:cNvPr id="36" name="Text 9"/>
          <p:cNvSpPr/>
          <p:nvPr/>
        </p:nvSpPr>
        <p:spPr>
          <a:xfrm>
            <a:off x="6528048" y="32956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a:t>
            </a:r>
            <a:endParaRPr lang="en-US" sz="1200" dirty="0"/>
          </a:p>
        </p:txBody>
      </p:sp>
      <p:sp>
        <p:nvSpPr>
          <p:cNvPr id="37" name="Text 10"/>
          <p:cNvSpPr/>
          <p:nvPr/>
        </p:nvSpPr>
        <p:spPr>
          <a:xfrm>
            <a:off x="7315200" y="3295650"/>
            <a:ext cx="4114800" cy="5334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Establishing persistent connections for streaming data</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362825"/>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1333500"/>
            <a:ext cx="381000" cy="381000"/>
          </a:xfrm>
          <a:prstGeom prst="rect">
            <a:avLst/>
          </a:prstGeom>
        </p:spPr>
      </p:pic>
      <p:pic>
        <p:nvPicPr>
          <p:cNvPr id="5" name="Image 3" descr="preencoded.png"/>
          <p:cNvPicPr>
            <a:picLocks noChangeAspect="1"/>
          </p:cNvPicPr>
          <p:nvPr/>
        </p:nvPicPr>
        <p:blipFill>
          <a:blip r:embed="rId6"/>
          <a:stretch>
            <a:fillRect/>
          </a:stretch>
        </p:blipFill>
        <p:spPr>
          <a:xfrm>
            <a:off x="704850" y="1390650"/>
            <a:ext cx="190500" cy="266700"/>
          </a:xfrm>
          <a:prstGeom prst="rect">
            <a:avLst/>
          </a:prstGeom>
        </p:spPr>
      </p:pic>
      <p:pic>
        <p:nvPicPr>
          <p:cNvPr id="6" name="Image 4" descr="preencoded.png"/>
          <p:cNvPicPr>
            <a:picLocks noChangeAspect="1"/>
          </p:cNvPicPr>
          <p:nvPr/>
        </p:nvPicPr>
        <p:blipFill>
          <a:blip r:embed="rId7"/>
          <a:stretch>
            <a:fillRect/>
          </a:stretch>
        </p:blipFill>
        <p:spPr>
          <a:xfrm>
            <a:off x="609600" y="1943100"/>
            <a:ext cx="10972800" cy="381000"/>
          </a:xfrm>
          <a:prstGeom prst="rect">
            <a:avLst/>
          </a:prstGeom>
        </p:spPr>
      </p:pic>
      <p:pic>
        <p:nvPicPr>
          <p:cNvPr id="7" name="Image 5" descr="preencoded.png"/>
          <p:cNvPicPr>
            <a:picLocks noChangeAspect="1"/>
          </p:cNvPicPr>
          <p:nvPr/>
        </p:nvPicPr>
        <p:blipFill>
          <a:blip r:embed="rId8"/>
          <a:stretch>
            <a:fillRect/>
          </a:stretch>
        </p:blipFill>
        <p:spPr>
          <a:xfrm>
            <a:off x="609600" y="3552825"/>
            <a:ext cx="3505200" cy="2019300"/>
          </a:xfrm>
          <a:prstGeom prst="rect">
            <a:avLst/>
          </a:prstGeom>
        </p:spPr>
      </p:pic>
      <p:pic>
        <p:nvPicPr>
          <p:cNvPr id="8" name="Image 6" descr="preencoded.png"/>
          <p:cNvPicPr>
            <a:picLocks noChangeAspect="1"/>
          </p:cNvPicPr>
          <p:nvPr/>
        </p:nvPicPr>
        <p:blipFill>
          <a:blip r:embed="rId9"/>
          <a:stretch>
            <a:fillRect/>
          </a:stretch>
        </p:blipFill>
        <p:spPr>
          <a:xfrm>
            <a:off x="800100" y="3743325"/>
            <a:ext cx="361950" cy="342900"/>
          </a:xfrm>
          <a:prstGeom prst="rect">
            <a:avLst/>
          </a:prstGeom>
        </p:spPr>
      </p:pic>
      <p:pic>
        <p:nvPicPr>
          <p:cNvPr id="9" name="Image 7" descr="preencoded.png"/>
          <p:cNvPicPr>
            <a:picLocks noChangeAspect="1"/>
          </p:cNvPicPr>
          <p:nvPr/>
        </p:nvPicPr>
        <p:blipFill>
          <a:blip r:embed="rId10"/>
          <a:stretch>
            <a:fillRect/>
          </a:stretch>
        </p:blipFill>
        <p:spPr>
          <a:xfrm>
            <a:off x="800100" y="4276725"/>
            <a:ext cx="152400" cy="152400"/>
          </a:xfrm>
          <a:prstGeom prst="rect">
            <a:avLst/>
          </a:prstGeom>
        </p:spPr>
      </p:pic>
      <p:pic>
        <p:nvPicPr>
          <p:cNvPr id="10" name="Image 8" descr="preencoded.png"/>
          <p:cNvPicPr>
            <a:picLocks noChangeAspect="1"/>
          </p:cNvPicPr>
          <p:nvPr/>
        </p:nvPicPr>
        <p:blipFill>
          <a:blip r:embed="rId10"/>
          <a:stretch>
            <a:fillRect/>
          </a:stretch>
        </p:blipFill>
        <p:spPr>
          <a:xfrm>
            <a:off x="800100" y="4581525"/>
            <a:ext cx="152400" cy="152400"/>
          </a:xfrm>
          <a:prstGeom prst="rect">
            <a:avLst/>
          </a:prstGeom>
        </p:spPr>
      </p:pic>
      <p:pic>
        <p:nvPicPr>
          <p:cNvPr id="11" name="Image 9" descr="preencoded.png"/>
          <p:cNvPicPr>
            <a:picLocks noChangeAspect="1"/>
          </p:cNvPicPr>
          <p:nvPr/>
        </p:nvPicPr>
        <p:blipFill>
          <a:blip r:embed="rId10"/>
          <a:stretch>
            <a:fillRect/>
          </a:stretch>
        </p:blipFill>
        <p:spPr>
          <a:xfrm>
            <a:off x="800100" y="4886325"/>
            <a:ext cx="152400" cy="152400"/>
          </a:xfrm>
          <a:prstGeom prst="rect">
            <a:avLst/>
          </a:prstGeom>
        </p:spPr>
      </p:pic>
      <p:pic>
        <p:nvPicPr>
          <p:cNvPr id="12" name="Image 10" descr="preencoded.png"/>
          <p:cNvPicPr>
            <a:picLocks noChangeAspect="1"/>
          </p:cNvPicPr>
          <p:nvPr/>
        </p:nvPicPr>
        <p:blipFill>
          <a:blip r:embed="rId10"/>
          <a:stretch>
            <a:fillRect/>
          </a:stretch>
        </p:blipFill>
        <p:spPr>
          <a:xfrm>
            <a:off x="800100" y="5191125"/>
            <a:ext cx="152400" cy="152400"/>
          </a:xfrm>
          <a:prstGeom prst="rect">
            <a:avLst/>
          </a:prstGeom>
        </p:spPr>
      </p:pic>
      <p:pic>
        <p:nvPicPr>
          <p:cNvPr id="13" name="Image 11" descr="preencoded.png"/>
          <p:cNvPicPr>
            <a:picLocks noChangeAspect="1"/>
          </p:cNvPicPr>
          <p:nvPr/>
        </p:nvPicPr>
        <p:blipFill>
          <a:blip r:embed="rId11"/>
          <a:stretch>
            <a:fillRect/>
          </a:stretch>
        </p:blipFill>
        <p:spPr>
          <a:xfrm>
            <a:off x="4343400" y="3552825"/>
            <a:ext cx="3505200" cy="2019300"/>
          </a:xfrm>
          <a:prstGeom prst="rect">
            <a:avLst/>
          </a:prstGeom>
        </p:spPr>
      </p:pic>
      <p:pic>
        <p:nvPicPr>
          <p:cNvPr id="14" name="Image 12" descr="preencoded.png"/>
          <p:cNvPicPr>
            <a:picLocks noChangeAspect="1"/>
          </p:cNvPicPr>
          <p:nvPr/>
        </p:nvPicPr>
        <p:blipFill>
          <a:blip r:embed="rId12"/>
          <a:stretch>
            <a:fillRect/>
          </a:stretch>
        </p:blipFill>
        <p:spPr>
          <a:xfrm>
            <a:off x="4533900" y="3743325"/>
            <a:ext cx="219075" cy="342900"/>
          </a:xfrm>
          <a:prstGeom prst="rect">
            <a:avLst/>
          </a:prstGeom>
        </p:spPr>
      </p:pic>
      <p:pic>
        <p:nvPicPr>
          <p:cNvPr id="15" name="Image 13" descr="preencoded.png"/>
          <p:cNvPicPr>
            <a:picLocks noChangeAspect="1"/>
          </p:cNvPicPr>
          <p:nvPr/>
        </p:nvPicPr>
        <p:blipFill>
          <a:blip r:embed="rId13"/>
          <a:stretch>
            <a:fillRect/>
          </a:stretch>
        </p:blipFill>
        <p:spPr>
          <a:xfrm>
            <a:off x="4533900" y="4276725"/>
            <a:ext cx="152400" cy="152400"/>
          </a:xfrm>
          <a:prstGeom prst="rect">
            <a:avLst/>
          </a:prstGeom>
        </p:spPr>
      </p:pic>
      <p:pic>
        <p:nvPicPr>
          <p:cNvPr id="16" name="Image 14" descr="preencoded.png"/>
          <p:cNvPicPr>
            <a:picLocks noChangeAspect="1"/>
          </p:cNvPicPr>
          <p:nvPr/>
        </p:nvPicPr>
        <p:blipFill>
          <a:blip r:embed="rId13"/>
          <a:stretch>
            <a:fillRect/>
          </a:stretch>
        </p:blipFill>
        <p:spPr>
          <a:xfrm>
            <a:off x="4533900" y="4581525"/>
            <a:ext cx="152400" cy="152400"/>
          </a:xfrm>
          <a:prstGeom prst="rect">
            <a:avLst/>
          </a:prstGeom>
        </p:spPr>
      </p:pic>
      <p:pic>
        <p:nvPicPr>
          <p:cNvPr id="17" name="Image 15" descr="preencoded.png"/>
          <p:cNvPicPr>
            <a:picLocks noChangeAspect="1"/>
          </p:cNvPicPr>
          <p:nvPr/>
        </p:nvPicPr>
        <p:blipFill>
          <a:blip r:embed="rId13"/>
          <a:stretch>
            <a:fillRect/>
          </a:stretch>
        </p:blipFill>
        <p:spPr>
          <a:xfrm>
            <a:off x="4533900" y="4886325"/>
            <a:ext cx="152400" cy="152400"/>
          </a:xfrm>
          <a:prstGeom prst="rect">
            <a:avLst/>
          </a:prstGeom>
        </p:spPr>
      </p:pic>
      <p:pic>
        <p:nvPicPr>
          <p:cNvPr id="18" name="Image 16" descr="preencoded.png"/>
          <p:cNvPicPr>
            <a:picLocks noChangeAspect="1"/>
          </p:cNvPicPr>
          <p:nvPr/>
        </p:nvPicPr>
        <p:blipFill>
          <a:blip r:embed="rId13"/>
          <a:stretch>
            <a:fillRect/>
          </a:stretch>
        </p:blipFill>
        <p:spPr>
          <a:xfrm>
            <a:off x="4533900" y="5191125"/>
            <a:ext cx="152400" cy="152400"/>
          </a:xfrm>
          <a:prstGeom prst="rect">
            <a:avLst/>
          </a:prstGeom>
        </p:spPr>
      </p:pic>
      <p:pic>
        <p:nvPicPr>
          <p:cNvPr id="19" name="Image 17" descr="preencoded.png"/>
          <p:cNvPicPr>
            <a:picLocks noChangeAspect="1"/>
          </p:cNvPicPr>
          <p:nvPr/>
        </p:nvPicPr>
        <p:blipFill>
          <a:blip r:embed="rId11"/>
          <a:stretch>
            <a:fillRect/>
          </a:stretch>
        </p:blipFill>
        <p:spPr>
          <a:xfrm>
            <a:off x="8077200" y="3552825"/>
            <a:ext cx="3505200" cy="2019300"/>
          </a:xfrm>
          <a:prstGeom prst="rect">
            <a:avLst/>
          </a:prstGeom>
        </p:spPr>
      </p:pic>
      <p:pic>
        <p:nvPicPr>
          <p:cNvPr id="20" name="Image 18" descr="preencoded.png"/>
          <p:cNvPicPr>
            <a:picLocks noChangeAspect="1"/>
          </p:cNvPicPr>
          <p:nvPr/>
        </p:nvPicPr>
        <p:blipFill>
          <a:blip r:embed="rId14"/>
          <a:stretch>
            <a:fillRect/>
          </a:stretch>
        </p:blipFill>
        <p:spPr>
          <a:xfrm>
            <a:off x="8267700" y="3743325"/>
            <a:ext cx="361950" cy="342900"/>
          </a:xfrm>
          <a:prstGeom prst="rect">
            <a:avLst/>
          </a:prstGeom>
        </p:spPr>
      </p:pic>
      <p:pic>
        <p:nvPicPr>
          <p:cNvPr id="21" name="Image 19" descr="preencoded.png"/>
          <p:cNvPicPr>
            <a:picLocks noChangeAspect="1"/>
          </p:cNvPicPr>
          <p:nvPr/>
        </p:nvPicPr>
        <p:blipFill>
          <a:blip r:embed="rId13"/>
          <a:stretch>
            <a:fillRect/>
          </a:stretch>
        </p:blipFill>
        <p:spPr>
          <a:xfrm>
            <a:off x="8267700" y="4276725"/>
            <a:ext cx="152400" cy="152400"/>
          </a:xfrm>
          <a:prstGeom prst="rect">
            <a:avLst/>
          </a:prstGeom>
        </p:spPr>
      </p:pic>
      <p:pic>
        <p:nvPicPr>
          <p:cNvPr id="22" name="Image 20" descr="preencoded.png"/>
          <p:cNvPicPr>
            <a:picLocks noChangeAspect="1"/>
          </p:cNvPicPr>
          <p:nvPr/>
        </p:nvPicPr>
        <p:blipFill>
          <a:blip r:embed="rId13"/>
          <a:stretch>
            <a:fillRect/>
          </a:stretch>
        </p:blipFill>
        <p:spPr>
          <a:xfrm>
            <a:off x="8267700" y="4581525"/>
            <a:ext cx="152400" cy="152400"/>
          </a:xfrm>
          <a:prstGeom prst="rect">
            <a:avLst/>
          </a:prstGeom>
        </p:spPr>
      </p:pic>
      <p:pic>
        <p:nvPicPr>
          <p:cNvPr id="23" name="Image 21" descr="preencoded.png"/>
          <p:cNvPicPr>
            <a:picLocks noChangeAspect="1"/>
          </p:cNvPicPr>
          <p:nvPr/>
        </p:nvPicPr>
        <p:blipFill>
          <a:blip r:embed="rId13"/>
          <a:stretch>
            <a:fillRect/>
          </a:stretch>
        </p:blipFill>
        <p:spPr>
          <a:xfrm>
            <a:off x="8267700" y="4886325"/>
            <a:ext cx="152400" cy="152400"/>
          </a:xfrm>
          <a:prstGeom prst="rect">
            <a:avLst/>
          </a:prstGeom>
        </p:spPr>
      </p:pic>
      <p:pic>
        <p:nvPicPr>
          <p:cNvPr id="24" name="Image 22" descr="preencoded.png"/>
          <p:cNvPicPr>
            <a:picLocks noChangeAspect="1"/>
          </p:cNvPicPr>
          <p:nvPr/>
        </p:nvPicPr>
        <p:blipFill>
          <a:blip r:embed="rId13"/>
          <a:stretch>
            <a:fillRect/>
          </a:stretch>
        </p:blipFill>
        <p:spPr>
          <a:xfrm>
            <a:off x="8267700" y="5191125"/>
            <a:ext cx="152400" cy="152400"/>
          </a:xfrm>
          <a:prstGeom prst="rect">
            <a:avLst/>
          </a:prstGeom>
        </p:spPr>
      </p:pic>
      <p:pic>
        <p:nvPicPr>
          <p:cNvPr id="27" name="Image 25" descr="preencoded.png"/>
          <p:cNvPicPr>
            <a:picLocks noChangeAspect="1"/>
          </p:cNvPicPr>
          <p:nvPr/>
        </p:nvPicPr>
        <p:blipFill>
          <a:blip r:embed="rId15"/>
          <a:stretch>
            <a:fillRect/>
          </a:stretch>
        </p:blipFill>
        <p:spPr>
          <a:xfrm>
            <a:off x="0" y="7058025"/>
            <a:ext cx="12192000" cy="304800"/>
          </a:xfrm>
          <a:prstGeom prst="rect">
            <a:avLst/>
          </a:prstGeom>
        </p:spPr>
      </p:pic>
      <p:sp>
        <p:nvSpPr>
          <p:cNvPr id="28" name="Text 0"/>
          <p:cNvSpPr/>
          <p:nvPr/>
        </p:nvSpPr>
        <p:spPr>
          <a:xfrm>
            <a:off x="609600" y="685800"/>
            <a:ext cx="1790045"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Answer 3</a:t>
            </a:r>
            <a:endParaRPr lang="en-US" sz="2250" dirty="0"/>
          </a:p>
        </p:txBody>
      </p:sp>
      <p:sp>
        <p:nvSpPr>
          <p:cNvPr id="30" name="Text 2"/>
          <p:cNvSpPr/>
          <p:nvPr/>
        </p:nvSpPr>
        <p:spPr>
          <a:xfrm>
            <a:off x="1143000" y="1371600"/>
            <a:ext cx="2787848" cy="304800"/>
          </a:xfrm>
          <a:prstGeom prst="rect">
            <a:avLst/>
          </a:prstGeom>
          <a:noFill/>
          <a:ln/>
        </p:spPr>
        <p:txBody>
          <a:bodyPr vert="horz" wrap="square" lIns="0" tIns="0" rIns="0" bIns="0" rtlCol="0" anchor="t"/>
          <a:lstStyle/>
          <a:p>
            <a:pPr marL="0" indent="0">
              <a:lnSpc>
                <a:spcPts val="2400"/>
              </a:lnSpc>
              <a:buNone/>
            </a:pPr>
            <a:r>
              <a:rPr lang="en-US" sz="1800" b="1" dirty="0">
                <a:solidFill>
                  <a:srgbClr val="16A34A"/>
                </a:solidFill>
                <a:latin typeface="ui-sans-serif" pitchFamily="34" charset="0"/>
                <a:ea typeface="ui-sans-serif" pitchFamily="34" charset="-122"/>
                <a:cs typeface="ui-sans-serif" pitchFamily="34" charset="-120"/>
              </a:rPr>
              <a:t>Correct Answer: C</a:t>
            </a:r>
            <a:endParaRPr lang="en-US" sz="1800" dirty="0"/>
          </a:p>
        </p:txBody>
      </p:sp>
      <p:sp>
        <p:nvSpPr>
          <p:cNvPr id="31" name="Text 3"/>
          <p:cNvSpPr/>
          <p:nvPr/>
        </p:nvSpPr>
        <p:spPr>
          <a:xfrm>
            <a:off x="762000" y="1943100"/>
            <a:ext cx="12984480" cy="304800"/>
          </a:xfrm>
          <a:prstGeom prst="rect">
            <a:avLst/>
          </a:prstGeom>
          <a:noFill/>
          <a:ln/>
        </p:spPr>
        <p:txBody>
          <a:bodyPr vert="horz" wrap="square" lIns="0" tIns="0" rIns="0" bIns="0" rtlCol="0" anchor="t"/>
          <a:lstStyle/>
          <a:p>
            <a:pPr marL="0" indent="0">
              <a:lnSpc>
                <a:spcPts val="2400"/>
              </a:lnSpc>
              <a:buNone/>
            </a:pPr>
            <a:r>
              <a:rPr lang="en-US" sz="1800" dirty="0">
                <a:solidFill>
                  <a:srgbClr val="232F3E"/>
                </a:solidFill>
                <a:latin typeface="ui-sans-serif" pitchFamily="34" charset="0"/>
                <a:ea typeface="ui-sans-serif" pitchFamily="34" charset="-122"/>
                <a:cs typeface="ui-sans-serif" pitchFamily="34" charset="-120"/>
              </a:rPr>
              <a:t>Developing complex APIs requiring advanced features like API keys and request validation.</a:t>
            </a:r>
            <a:endParaRPr lang="en-US" sz="1800" dirty="0"/>
          </a:p>
        </p:txBody>
      </p:sp>
      <p:sp>
        <p:nvSpPr>
          <p:cNvPr id="32" name="Text 4"/>
          <p:cNvSpPr/>
          <p:nvPr/>
        </p:nvSpPr>
        <p:spPr>
          <a:xfrm>
            <a:off x="609600" y="2628900"/>
            <a:ext cx="10972800" cy="619125"/>
          </a:xfrm>
          <a:prstGeom prst="rect">
            <a:avLst/>
          </a:prstGeom>
          <a:noFill/>
          <a:ln/>
        </p:spPr>
        <p:txBody>
          <a:bodyPr vert="horz" wrap="square" lIns="0" tIns="0" rIns="0" bIns="0" rtlCol="0" anchor="t"/>
          <a:lstStyle/>
          <a:p>
            <a:pPr marL="0" indent="0">
              <a:lnSpc>
                <a:spcPts val="2438"/>
              </a:lnSpc>
              <a:buNone/>
            </a:pPr>
            <a:r>
              <a:rPr lang="en-US" sz="1500" dirty="0">
                <a:solidFill>
                  <a:srgbClr val="374151"/>
                </a:solidFill>
                <a:latin typeface="ui-sans-serif" pitchFamily="34" charset="0"/>
                <a:ea typeface="ui-sans-serif" pitchFamily="34" charset="-122"/>
                <a:cs typeface="ui-sans-serif" pitchFamily="34" charset="-120"/>
              </a:rPr>
              <a:t>REST APIs are described as fully-featured with comprehensive functionality, supporting advanced features such as API keys, per-client throttling, request validation, and AWS WAF integration.</a:t>
            </a:r>
            <a:endParaRPr lang="en-US" sz="1500" dirty="0"/>
          </a:p>
        </p:txBody>
      </p:sp>
      <p:sp>
        <p:nvSpPr>
          <p:cNvPr id="33" name="Text 5"/>
          <p:cNvSpPr/>
          <p:nvPr/>
        </p:nvSpPr>
        <p:spPr>
          <a:xfrm>
            <a:off x="1276350" y="3781425"/>
            <a:ext cx="1161931"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REST API</a:t>
            </a:r>
            <a:endParaRPr lang="en-US" sz="1500" dirty="0"/>
          </a:p>
        </p:txBody>
      </p:sp>
      <p:sp>
        <p:nvSpPr>
          <p:cNvPr id="34" name="Text 6"/>
          <p:cNvSpPr/>
          <p:nvPr/>
        </p:nvSpPr>
        <p:spPr>
          <a:xfrm>
            <a:off x="1028700" y="4238625"/>
            <a:ext cx="76295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API keys</a:t>
            </a:r>
            <a:endParaRPr lang="en-US" sz="1200" dirty="0"/>
          </a:p>
        </p:txBody>
      </p:sp>
      <p:sp>
        <p:nvSpPr>
          <p:cNvPr id="35" name="Text 7"/>
          <p:cNvSpPr/>
          <p:nvPr/>
        </p:nvSpPr>
        <p:spPr>
          <a:xfrm>
            <a:off x="1028700" y="4543425"/>
            <a:ext cx="175396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Per-client throttling</a:t>
            </a:r>
            <a:endParaRPr lang="en-US" sz="1200" dirty="0"/>
          </a:p>
        </p:txBody>
      </p:sp>
      <p:sp>
        <p:nvSpPr>
          <p:cNvPr id="36" name="Text 8"/>
          <p:cNvSpPr/>
          <p:nvPr/>
        </p:nvSpPr>
        <p:spPr>
          <a:xfrm>
            <a:off x="1028700" y="4848225"/>
            <a:ext cx="170146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Request validation</a:t>
            </a:r>
            <a:endParaRPr lang="en-US" sz="1200" dirty="0"/>
          </a:p>
        </p:txBody>
      </p:sp>
      <p:sp>
        <p:nvSpPr>
          <p:cNvPr id="37" name="Text 9"/>
          <p:cNvSpPr/>
          <p:nvPr/>
        </p:nvSpPr>
        <p:spPr>
          <a:xfrm>
            <a:off x="1028700" y="5153025"/>
            <a:ext cx="193399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AWS WAF integration</a:t>
            </a:r>
            <a:endParaRPr lang="en-US" sz="1200" dirty="0"/>
          </a:p>
        </p:txBody>
      </p:sp>
      <p:sp>
        <p:nvSpPr>
          <p:cNvPr id="38" name="Text 10"/>
          <p:cNvSpPr/>
          <p:nvPr/>
        </p:nvSpPr>
        <p:spPr>
          <a:xfrm>
            <a:off x="4867275" y="3781425"/>
            <a:ext cx="1185148"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HTTP API</a:t>
            </a:r>
            <a:endParaRPr lang="en-US" sz="1500" dirty="0"/>
          </a:p>
        </p:txBody>
      </p:sp>
      <p:sp>
        <p:nvSpPr>
          <p:cNvPr id="39" name="Text 11"/>
          <p:cNvSpPr/>
          <p:nvPr/>
        </p:nvSpPr>
        <p:spPr>
          <a:xfrm>
            <a:off x="4762500" y="4238625"/>
            <a:ext cx="149572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Limited features</a:t>
            </a:r>
            <a:endParaRPr lang="en-US" sz="1200" dirty="0"/>
          </a:p>
        </p:txBody>
      </p:sp>
      <p:sp>
        <p:nvSpPr>
          <p:cNvPr id="40" name="Text 12"/>
          <p:cNvSpPr/>
          <p:nvPr/>
        </p:nvSpPr>
        <p:spPr>
          <a:xfrm>
            <a:off x="4762500" y="4543425"/>
            <a:ext cx="106977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No API keys</a:t>
            </a:r>
            <a:endParaRPr lang="en-US" sz="1200" dirty="0"/>
          </a:p>
        </p:txBody>
      </p:sp>
      <p:sp>
        <p:nvSpPr>
          <p:cNvPr id="41" name="Text 13"/>
          <p:cNvSpPr/>
          <p:nvPr/>
        </p:nvSpPr>
        <p:spPr>
          <a:xfrm>
            <a:off x="4762500" y="4848225"/>
            <a:ext cx="207311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No per-client throttling</a:t>
            </a:r>
            <a:endParaRPr lang="en-US" sz="1200" dirty="0"/>
          </a:p>
        </p:txBody>
      </p:sp>
      <p:sp>
        <p:nvSpPr>
          <p:cNvPr id="42" name="Text 14"/>
          <p:cNvSpPr/>
          <p:nvPr/>
        </p:nvSpPr>
        <p:spPr>
          <a:xfrm>
            <a:off x="4762500" y="5153025"/>
            <a:ext cx="196060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No request validation</a:t>
            </a:r>
            <a:endParaRPr lang="en-US" sz="1200" dirty="0"/>
          </a:p>
        </p:txBody>
      </p:sp>
      <p:sp>
        <p:nvSpPr>
          <p:cNvPr id="43" name="Text 15"/>
          <p:cNvSpPr/>
          <p:nvPr/>
        </p:nvSpPr>
        <p:spPr>
          <a:xfrm>
            <a:off x="8743950" y="3781425"/>
            <a:ext cx="19393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WebSocket API</a:t>
            </a:r>
            <a:endParaRPr lang="en-US" sz="1500" dirty="0"/>
          </a:p>
        </p:txBody>
      </p:sp>
      <p:sp>
        <p:nvSpPr>
          <p:cNvPr id="44" name="Text 16"/>
          <p:cNvSpPr/>
          <p:nvPr/>
        </p:nvSpPr>
        <p:spPr>
          <a:xfrm>
            <a:off x="8496300" y="4238625"/>
            <a:ext cx="234582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Real-time communication</a:t>
            </a:r>
            <a:endParaRPr lang="en-US" sz="1200" dirty="0"/>
          </a:p>
        </p:txBody>
      </p:sp>
      <p:sp>
        <p:nvSpPr>
          <p:cNvPr id="45" name="Text 17"/>
          <p:cNvSpPr/>
          <p:nvPr/>
        </p:nvSpPr>
        <p:spPr>
          <a:xfrm>
            <a:off x="8496300" y="4543425"/>
            <a:ext cx="206579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Persistent connections</a:t>
            </a:r>
            <a:endParaRPr lang="en-US" sz="1200" dirty="0"/>
          </a:p>
        </p:txBody>
      </p:sp>
      <p:sp>
        <p:nvSpPr>
          <p:cNvPr id="46" name="Text 18"/>
          <p:cNvSpPr/>
          <p:nvPr/>
        </p:nvSpPr>
        <p:spPr>
          <a:xfrm>
            <a:off x="8496300" y="4848225"/>
            <a:ext cx="190595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Not for complex APIs</a:t>
            </a:r>
            <a:endParaRPr lang="en-US" sz="1200" dirty="0"/>
          </a:p>
        </p:txBody>
      </p:sp>
      <p:sp>
        <p:nvSpPr>
          <p:cNvPr id="47" name="Text 19"/>
          <p:cNvSpPr/>
          <p:nvPr/>
        </p:nvSpPr>
        <p:spPr>
          <a:xfrm>
            <a:off x="8496300" y="5153025"/>
            <a:ext cx="115460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No throttling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2209800"/>
            <a:ext cx="5334000" cy="685800"/>
          </a:xfrm>
          <a:prstGeom prst="rect">
            <a:avLst/>
          </a:prstGeom>
        </p:spPr>
      </p:pic>
      <p:pic>
        <p:nvPicPr>
          <p:cNvPr id="5" name="Image 3" descr="preencoded.png"/>
          <p:cNvPicPr>
            <a:picLocks noChangeAspect="1"/>
          </p:cNvPicPr>
          <p:nvPr/>
        </p:nvPicPr>
        <p:blipFill>
          <a:blip r:embed="rId6"/>
          <a:stretch>
            <a:fillRect/>
          </a:stretch>
        </p:blipFill>
        <p:spPr>
          <a:xfrm>
            <a:off x="762000" y="2362200"/>
            <a:ext cx="381000" cy="381000"/>
          </a:xfrm>
          <a:prstGeom prst="rect">
            <a:avLst/>
          </a:prstGeom>
        </p:spPr>
      </p:pic>
      <p:pic>
        <p:nvPicPr>
          <p:cNvPr id="6" name="Image 4" descr="preencoded.png"/>
          <p:cNvPicPr>
            <a:picLocks noChangeAspect="1"/>
          </p:cNvPicPr>
          <p:nvPr/>
        </p:nvPicPr>
        <p:blipFill>
          <a:blip r:embed="rId7"/>
          <a:stretch>
            <a:fillRect/>
          </a:stretch>
        </p:blipFill>
        <p:spPr>
          <a:xfrm>
            <a:off x="1295400" y="2362200"/>
            <a:ext cx="228600" cy="304800"/>
          </a:xfrm>
          <a:prstGeom prst="rect">
            <a:avLst/>
          </a:prstGeom>
        </p:spPr>
      </p:pic>
      <p:pic>
        <p:nvPicPr>
          <p:cNvPr id="7" name="Image 5" descr="preencoded.png"/>
          <p:cNvPicPr>
            <a:picLocks noChangeAspect="1"/>
          </p:cNvPicPr>
          <p:nvPr/>
        </p:nvPicPr>
        <p:blipFill>
          <a:blip r:embed="rId5"/>
          <a:stretch>
            <a:fillRect/>
          </a:stretch>
        </p:blipFill>
        <p:spPr>
          <a:xfrm>
            <a:off x="6248400" y="2209800"/>
            <a:ext cx="5334000" cy="685800"/>
          </a:xfrm>
          <a:prstGeom prst="rect">
            <a:avLst/>
          </a:prstGeom>
        </p:spPr>
      </p:pic>
      <p:pic>
        <p:nvPicPr>
          <p:cNvPr id="8" name="Image 6" descr="preencoded.png"/>
          <p:cNvPicPr>
            <a:picLocks noChangeAspect="1"/>
          </p:cNvPicPr>
          <p:nvPr/>
        </p:nvPicPr>
        <p:blipFill>
          <a:blip r:embed="rId8"/>
          <a:stretch>
            <a:fillRect/>
          </a:stretch>
        </p:blipFill>
        <p:spPr>
          <a:xfrm>
            <a:off x="6400800" y="2362200"/>
            <a:ext cx="381000" cy="381000"/>
          </a:xfrm>
          <a:prstGeom prst="rect">
            <a:avLst/>
          </a:prstGeom>
        </p:spPr>
      </p:pic>
      <p:pic>
        <p:nvPicPr>
          <p:cNvPr id="9" name="Image 7" descr="preencoded.png"/>
          <p:cNvPicPr>
            <a:picLocks noChangeAspect="1"/>
          </p:cNvPicPr>
          <p:nvPr/>
        </p:nvPicPr>
        <p:blipFill>
          <a:blip r:embed="rId9"/>
          <a:stretch>
            <a:fillRect/>
          </a:stretch>
        </p:blipFill>
        <p:spPr>
          <a:xfrm>
            <a:off x="6934200" y="2362200"/>
            <a:ext cx="285750" cy="304800"/>
          </a:xfrm>
          <a:prstGeom prst="rect">
            <a:avLst/>
          </a:prstGeom>
        </p:spPr>
      </p:pic>
      <p:pic>
        <p:nvPicPr>
          <p:cNvPr id="10" name="Image 8" descr="preencoded.png"/>
          <p:cNvPicPr>
            <a:picLocks noChangeAspect="1"/>
          </p:cNvPicPr>
          <p:nvPr/>
        </p:nvPicPr>
        <p:blipFill>
          <a:blip r:embed="rId10"/>
          <a:stretch>
            <a:fillRect/>
          </a:stretch>
        </p:blipFill>
        <p:spPr>
          <a:xfrm>
            <a:off x="609600" y="3200400"/>
            <a:ext cx="5334000" cy="838200"/>
          </a:xfrm>
          <a:prstGeom prst="rect">
            <a:avLst/>
          </a:prstGeom>
        </p:spPr>
      </p:pic>
      <p:pic>
        <p:nvPicPr>
          <p:cNvPr id="11" name="Image 9" descr="preencoded.png"/>
          <p:cNvPicPr>
            <a:picLocks noChangeAspect="1"/>
          </p:cNvPicPr>
          <p:nvPr/>
        </p:nvPicPr>
        <p:blipFill>
          <a:blip r:embed="rId11"/>
          <a:stretch>
            <a:fillRect/>
          </a:stretch>
        </p:blipFill>
        <p:spPr>
          <a:xfrm>
            <a:off x="762000" y="3352800"/>
            <a:ext cx="381000" cy="381000"/>
          </a:xfrm>
          <a:prstGeom prst="rect">
            <a:avLst/>
          </a:prstGeom>
        </p:spPr>
      </p:pic>
      <p:pic>
        <p:nvPicPr>
          <p:cNvPr id="12" name="Image 10" descr="preencoded.png"/>
          <p:cNvPicPr>
            <a:picLocks noChangeAspect="1"/>
          </p:cNvPicPr>
          <p:nvPr/>
        </p:nvPicPr>
        <p:blipFill>
          <a:blip r:embed="rId12"/>
          <a:stretch>
            <a:fillRect/>
          </a:stretch>
        </p:blipFill>
        <p:spPr>
          <a:xfrm>
            <a:off x="1295400" y="3467100"/>
            <a:ext cx="228600" cy="304800"/>
          </a:xfrm>
          <a:prstGeom prst="rect">
            <a:avLst/>
          </a:prstGeom>
        </p:spPr>
      </p:pic>
      <p:pic>
        <p:nvPicPr>
          <p:cNvPr id="13" name="Image 11" descr="preencoded.png"/>
          <p:cNvPicPr>
            <a:picLocks noChangeAspect="1"/>
          </p:cNvPicPr>
          <p:nvPr/>
        </p:nvPicPr>
        <p:blipFill>
          <a:blip r:embed="rId13"/>
          <a:stretch>
            <a:fillRect/>
          </a:stretch>
        </p:blipFill>
        <p:spPr>
          <a:xfrm>
            <a:off x="6248400" y="3200400"/>
            <a:ext cx="5334000" cy="838200"/>
          </a:xfrm>
          <a:prstGeom prst="rect">
            <a:avLst/>
          </a:prstGeom>
        </p:spPr>
      </p:pic>
      <p:pic>
        <p:nvPicPr>
          <p:cNvPr id="14" name="Image 12" descr="preencoded.png"/>
          <p:cNvPicPr>
            <a:picLocks noChangeAspect="1"/>
          </p:cNvPicPr>
          <p:nvPr/>
        </p:nvPicPr>
        <p:blipFill>
          <a:blip r:embed="rId14"/>
          <a:stretch>
            <a:fillRect/>
          </a:stretch>
        </p:blipFill>
        <p:spPr>
          <a:xfrm>
            <a:off x="6400800" y="3352800"/>
            <a:ext cx="381000" cy="381000"/>
          </a:xfrm>
          <a:prstGeom prst="rect">
            <a:avLst/>
          </a:prstGeom>
        </p:spPr>
      </p:pic>
      <p:pic>
        <p:nvPicPr>
          <p:cNvPr id="15" name="Image 13" descr="preencoded.png"/>
          <p:cNvPicPr>
            <a:picLocks noChangeAspect="1"/>
          </p:cNvPicPr>
          <p:nvPr/>
        </p:nvPicPr>
        <p:blipFill>
          <a:blip r:embed="rId15"/>
          <a:stretch>
            <a:fillRect/>
          </a:stretch>
        </p:blipFill>
        <p:spPr>
          <a:xfrm>
            <a:off x="6934200" y="3352800"/>
            <a:ext cx="228600" cy="304800"/>
          </a:xfrm>
          <a:prstGeom prst="rect">
            <a:avLst/>
          </a:prstGeom>
        </p:spPr>
      </p:pic>
      <p:pic>
        <p:nvPicPr>
          <p:cNvPr id="16" name="Image 14" descr="preencoded.png"/>
          <p:cNvPicPr>
            <a:picLocks noChangeAspect="1"/>
          </p:cNvPicPr>
          <p:nvPr/>
        </p:nvPicPr>
        <p:blipFill>
          <a:blip r:embed="rId16"/>
          <a:stretch>
            <a:fillRect/>
          </a:stretch>
        </p:blipFill>
        <p:spPr>
          <a:xfrm>
            <a:off x="609600" y="4343400"/>
            <a:ext cx="4572000" cy="1447800"/>
          </a:xfrm>
          <a:prstGeom prst="rect">
            <a:avLst/>
          </a:prstGeom>
        </p:spPr>
      </p:pic>
      <p:pic>
        <p:nvPicPr>
          <p:cNvPr id="17" name="Image 15" descr="preencoded.png"/>
          <p:cNvPicPr>
            <a:picLocks noChangeAspect="1"/>
          </p:cNvPicPr>
          <p:nvPr/>
        </p:nvPicPr>
        <p:blipFill>
          <a:blip r:embed="rId17"/>
          <a:stretch>
            <a:fillRect/>
          </a:stretch>
        </p:blipFill>
        <p:spPr>
          <a:xfrm>
            <a:off x="2254151" y="4495800"/>
            <a:ext cx="219075" cy="342900"/>
          </a:xfrm>
          <a:prstGeom prst="rect">
            <a:avLst/>
          </a:prstGeom>
        </p:spPr>
      </p:pic>
      <p:pic>
        <p:nvPicPr>
          <p:cNvPr id="18" name="Image 16" descr="preencoded.png"/>
          <p:cNvPicPr>
            <a:picLocks noChangeAspect="1"/>
          </p:cNvPicPr>
          <p:nvPr/>
        </p:nvPicPr>
        <p:blipFill>
          <a:blip r:embed="rId18"/>
          <a:stretch>
            <a:fillRect/>
          </a:stretch>
        </p:blipFill>
        <p:spPr>
          <a:xfrm>
            <a:off x="762000" y="4943475"/>
            <a:ext cx="133350" cy="133350"/>
          </a:xfrm>
          <a:prstGeom prst="rect">
            <a:avLst/>
          </a:prstGeom>
        </p:spPr>
      </p:pic>
      <p:pic>
        <p:nvPicPr>
          <p:cNvPr id="19" name="Image 17" descr="preencoded.png"/>
          <p:cNvPicPr>
            <a:picLocks noChangeAspect="1"/>
          </p:cNvPicPr>
          <p:nvPr/>
        </p:nvPicPr>
        <p:blipFill>
          <a:blip r:embed="rId18"/>
          <a:stretch>
            <a:fillRect/>
          </a:stretch>
        </p:blipFill>
        <p:spPr>
          <a:xfrm>
            <a:off x="762000" y="5210175"/>
            <a:ext cx="133350" cy="133350"/>
          </a:xfrm>
          <a:prstGeom prst="rect">
            <a:avLst/>
          </a:prstGeom>
        </p:spPr>
      </p:pic>
      <p:pic>
        <p:nvPicPr>
          <p:cNvPr id="20" name="Image 18" descr="preencoded.png"/>
          <p:cNvPicPr>
            <a:picLocks noChangeAspect="1"/>
          </p:cNvPicPr>
          <p:nvPr/>
        </p:nvPicPr>
        <p:blipFill>
          <a:blip r:embed="rId18"/>
          <a:stretch>
            <a:fillRect/>
          </a:stretch>
        </p:blipFill>
        <p:spPr>
          <a:xfrm>
            <a:off x="762000" y="5476875"/>
            <a:ext cx="133350" cy="133350"/>
          </a:xfrm>
          <a:prstGeom prst="rect">
            <a:avLst/>
          </a:prstGeom>
        </p:spPr>
      </p:pic>
      <p:pic>
        <p:nvPicPr>
          <p:cNvPr id="21" name="Image 19" descr="preencoded.png"/>
          <p:cNvPicPr>
            <a:picLocks noChangeAspect="1"/>
          </p:cNvPicPr>
          <p:nvPr/>
        </p:nvPicPr>
        <p:blipFill>
          <a:blip r:embed="rId19"/>
          <a:stretch>
            <a:fillRect/>
          </a:stretch>
        </p:blipFill>
        <p:spPr>
          <a:xfrm>
            <a:off x="5953125" y="4895850"/>
            <a:ext cx="285750" cy="342900"/>
          </a:xfrm>
          <a:prstGeom prst="rect">
            <a:avLst/>
          </a:prstGeom>
        </p:spPr>
      </p:pic>
      <p:pic>
        <p:nvPicPr>
          <p:cNvPr id="22" name="Image 20" descr="preencoded.png"/>
          <p:cNvPicPr>
            <a:picLocks noChangeAspect="1"/>
          </p:cNvPicPr>
          <p:nvPr/>
        </p:nvPicPr>
        <p:blipFill>
          <a:blip r:embed="rId20"/>
          <a:stretch>
            <a:fillRect/>
          </a:stretch>
        </p:blipFill>
        <p:spPr>
          <a:xfrm>
            <a:off x="7010400" y="4343400"/>
            <a:ext cx="4572000" cy="1447800"/>
          </a:xfrm>
          <a:prstGeom prst="rect">
            <a:avLst/>
          </a:prstGeom>
        </p:spPr>
      </p:pic>
      <p:pic>
        <p:nvPicPr>
          <p:cNvPr id="23" name="Image 21" descr="preencoded.png"/>
          <p:cNvPicPr>
            <a:picLocks noChangeAspect="1"/>
          </p:cNvPicPr>
          <p:nvPr/>
        </p:nvPicPr>
        <p:blipFill>
          <a:blip r:embed="rId21"/>
          <a:stretch>
            <a:fillRect/>
          </a:stretch>
        </p:blipFill>
        <p:spPr>
          <a:xfrm>
            <a:off x="8631287" y="4495800"/>
            <a:ext cx="285750" cy="342900"/>
          </a:xfrm>
          <a:prstGeom prst="rect">
            <a:avLst/>
          </a:prstGeom>
        </p:spPr>
      </p:pic>
      <p:pic>
        <p:nvPicPr>
          <p:cNvPr id="24" name="Image 22" descr="preencoded.png"/>
          <p:cNvPicPr>
            <a:picLocks noChangeAspect="1"/>
          </p:cNvPicPr>
          <p:nvPr/>
        </p:nvPicPr>
        <p:blipFill>
          <a:blip r:embed="rId22"/>
          <a:stretch>
            <a:fillRect/>
          </a:stretch>
        </p:blipFill>
        <p:spPr>
          <a:xfrm>
            <a:off x="7162800" y="4943475"/>
            <a:ext cx="133350" cy="133350"/>
          </a:xfrm>
          <a:prstGeom prst="rect">
            <a:avLst/>
          </a:prstGeom>
        </p:spPr>
      </p:pic>
      <p:pic>
        <p:nvPicPr>
          <p:cNvPr id="25" name="Image 23" descr="preencoded.png"/>
          <p:cNvPicPr>
            <a:picLocks noChangeAspect="1"/>
          </p:cNvPicPr>
          <p:nvPr/>
        </p:nvPicPr>
        <p:blipFill>
          <a:blip r:embed="rId22"/>
          <a:stretch>
            <a:fillRect/>
          </a:stretch>
        </p:blipFill>
        <p:spPr>
          <a:xfrm>
            <a:off x="7162800" y="5210175"/>
            <a:ext cx="133350" cy="133350"/>
          </a:xfrm>
          <a:prstGeom prst="rect">
            <a:avLst/>
          </a:prstGeom>
        </p:spPr>
      </p:pic>
      <p:pic>
        <p:nvPicPr>
          <p:cNvPr id="26" name="Image 24" descr="preencoded.png"/>
          <p:cNvPicPr>
            <a:picLocks noChangeAspect="1"/>
          </p:cNvPicPr>
          <p:nvPr/>
        </p:nvPicPr>
        <p:blipFill>
          <a:blip r:embed="rId22"/>
          <a:stretch>
            <a:fillRect/>
          </a:stretch>
        </p:blipFill>
        <p:spPr>
          <a:xfrm>
            <a:off x="7162800" y="5476875"/>
            <a:ext cx="133350" cy="133350"/>
          </a:xfrm>
          <a:prstGeom prst="rect">
            <a:avLst/>
          </a:prstGeom>
        </p:spPr>
      </p:pic>
      <p:pic>
        <p:nvPicPr>
          <p:cNvPr id="27" name="Image 25" descr="preencoded.png"/>
          <p:cNvPicPr>
            <a:picLocks noChangeAspect="1"/>
          </p:cNvPicPr>
          <p:nvPr/>
        </p:nvPicPr>
        <p:blipFill>
          <a:blip r:embed="rId23"/>
          <a:stretch>
            <a:fillRect/>
          </a:stretch>
        </p:blipFill>
        <p:spPr>
          <a:xfrm>
            <a:off x="0" y="6553200"/>
            <a:ext cx="12192000" cy="304800"/>
          </a:xfrm>
          <a:prstGeom prst="rect">
            <a:avLst/>
          </a:prstGeom>
        </p:spPr>
      </p:pic>
      <p:sp>
        <p:nvSpPr>
          <p:cNvPr id="28" name="Text 0"/>
          <p:cNvSpPr/>
          <p:nvPr/>
        </p:nvSpPr>
        <p:spPr>
          <a:xfrm>
            <a:off x="609600" y="685800"/>
            <a:ext cx="2091511"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Question 4</a:t>
            </a:r>
            <a:endParaRPr lang="en-US" sz="2250" dirty="0"/>
          </a:p>
        </p:txBody>
      </p:sp>
      <p:sp>
        <p:nvSpPr>
          <p:cNvPr id="30" name="Text 2"/>
          <p:cNvSpPr/>
          <p:nvPr/>
        </p:nvSpPr>
        <p:spPr>
          <a:xfrm>
            <a:off x="609600" y="1333500"/>
            <a:ext cx="10972800" cy="571500"/>
          </a:xfrm>
          <a:prstGeom prst="rect">
            <a:avLst/>
          </a:prstGeom>
          <a:noFill/>
          <a:ln/>
        </p:spPr>
        <p:txBody>
          <a:bodyPr vert="horz" wrap="square" lIns="0" tIns="0" rIns="0" bIns="0" rtlCol="0" anchor="t"/>
          <a:lstStyle/>
          <a:p>
            <a:pPr marL="0" indent="0">
              <a:lnSpc>
                <a:spcPts val="2250"/>
              </a:lnSpc>
              <a:buNone/>
            </a:pPr>
            <a:r>
              <a:rPr lang="en-US" sz="1800" b="1" dirty="0">
                <a:solidFill>
                  <a:srgbClr val="232F3E"/>
                </a:solidFill>
                <a:latin typeface="ui-sans-serif" pitchFamily="34" charset="0"/>
                <a:ea typeface="ui-sans-serif" pitchFamily="34" charset="-122"/>
                <a:cs typeface="ui-sans-serif" pitchFamily="34" charset="-120"/>
              </a:rPr>
              <a:t>When choosing between REST APIs and HTTP APIs, which scenario would strongly favor using an HTTP API?</a:t>
            </a:r>
            <a:endParaRPr lang="en-US" sz="1800" dirty="0"/>
          </a:p>
        </p:txBody>
      </p:sp>
      <p:sp>
        <p:nvSpPr>
          <p:cNvPr id="31" name="Text 3"/>
          <p:cNvSpPr/>
          <p:nvPr/>
        </p:nvSpPr>
        <p:spPr>
          <a:xfrm>
            <a:off x="893415" y="23622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A</a:t>
            </a:r>
            <a:endParaRPr lang="en-US" sz="1200" dirty="0"/>
          </a:p>
        </p:txBody>
      </p:sp>
      <p:sp>
        <p:nvSpPr>
          <p:cNvPr id="32" name="Text 4"/>
          <p:cNvSpPr/>
          <p:nvPr/>
        </p:nvSpPr>
        <p:spPr>
          <a:xfrm>
            <a:off x="1676400" y="2381250"/>
            <a:ext cx="4911864"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The API requires integration with AWS WAF</a:t>
            </a:r>
            <a:endParaRPr lang="en-US" sz="1500" dirty="0"/>
          </a:p>
        </p:txBody>
      </p:sp>
      <p:sp>
        <p:nvSpPr>
          <p:cNvPr id="33" name="Text 5"/>
          <p:cNvSpPr/>
          <p:nvPr/>
        </p:nvSpPr>
        <p:spPr>
          <a:xfrm>
            <a:off x="6533108" y="23622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B</a:t>
            </a:r>
            <a:endParaRPr lang="en-US" sz="1200" dirty="0"/>
          </a:p>
        </p:txBody>
      </p:sp>
      <p:sp>
        <p:nvSpPr>
          <p:cNvPr id="34" name="Text 6"/>
          <p:cNvSpPr/>
          <p:nvPr/>
        </p:nvSpPr>
        <p:spPr>
          <a:xfrm>
            <a:off x="7372350" y="2381250"/>
            <a:ext cx="3902988"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The API needs per-client throttling</a:t>
            </a:r>
            <a:endParaRPr lang="en-US" sz="1500" dirty="0"/>
          </a:p>
        </p:txBody>
      </p:sp>
      <p:sp>
        <p:nvSpPr>
          <p:cNvPr id="35" name="Text 7"/>
          <p:cNvSpPr/>
          <p:nvPr/>
        </p:nvSpPr>
        <p:spPr>
          <a:xfrm>
            <a:off x="896541" y="33528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a:t>
            </a:r>
            <a:endParaRPr lang="en-US" sz="1200" dirty="0"/>
          </a:p>
        </p:txBody>
      </p:sp>
      <p:sp>
        <p:nvSpPr>
          <p:cNvPr id="36" name="Text 8"/>
          <p:cNvSpPr/>
          <p:nvPr/>
        </p:nvSpPr>
        <p:spPr>
          <a:xfrm>
            <a:off x="1676400" y="3352800"/>
            <a:ext cx="4114800" cy="5334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The primary goal is to minimize cost and achieve low latency</a:t>
            </a:r>
            <a:endParaRPr lang="en-US" sz="1500" dirty="0"/>
          </a:p>
        </p:txBody>
      </p:sp>
      <p:sp>
        <p:nvSpPr>
          <p:cNvPr id="37" name="Text 9"/>
          <p:cNvSpPr/>
          <p:nvPr/>
        </p:nvSpPr>
        <p:spPr>
          <a:xfrm>
            <a:off x="6528048" y="33528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a:t>
            </a:r>
            <a:endParaRPr lang="en-US" sz="1200" dirty="0"/>
          </a:p>
        </p:txBody>
      </p:sp>
      <p:sp>
        <p:nvSpPr>
          <p:cNvPr id="38" name="Text 10"/>
          <p:cNvSpPr/>
          <p:nvPr/>
        </p:nvSpPr>
        <p:spPr>
          <a:xfrm>
            <a:off x="7315200" y="3371850"/>
            <a:ext cx="4668976"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The API requires custom transformations</a:t>
            </a:r>
            <a:endParaRPr lang="en-US" sz="1500" dirty="0"/>
          </a:p>
        </p:txBody>
      </p:sp>
      <p:sp>
        <p:nvSpPr>
          <p:cNvPr id="39" name="Text 11"/>
          <p:cNvSpPr/>
          <p:nvPr/>
        </p:nvSpPr>
        <p:spPr>
          <a:xfrm>
            <a:off x="2549426" y="4533900"/>
            <a:ext cx="1185148"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HTTP API</a:t>
            </a:r>
            <a:endParaRPr lang="en-US" sz="1500" dirty="0"/>
          </a:p>
        </p:txBody>
      </p:sp>
      <p:sp>
        <p:nvSpPr>
          <p:cNvPr id="40" name="Text 12"/>
          <p:cNvSpPr/>
          <p:nvPr/>
        </p:nvSpPr>
        <p:spPr>
          <a:xfrm>
            <a:off x="971550" y="4914900"/>
            <a:ext cx="2803743"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000000"/>
                </a:solidFill>
                <a:latin typeface="ui-sans-serif" pitchFamily="34" charset="0"/>
                <a:ea typeface="ui-sans-serif" pitchFamily="34" charset="-122"/>
                <a:cs typeface="ui-sans-serif" pitchFamily="34" charset="-120"/>
              </a:rPr>
              <a:t>Up to 71% cheaper than REST APIs</a:t>
            </a:r>
            <a:endParaRPr lang="en-US" sz="1050" dirty="0"/>
          </a:p>
        </p:txBody>
      </p:sp>
      <p:sp>
        <p:nvSpPr>
          <p:cNvPr id="41" name="Text 13"/>
          <p:cNvSpPr/>
          <p:nvPr/>
        </p:nvSpPr>
        <p:spPr>
          <a:xfrm>
            <a:off x="971550" y="5181600"/>
            <a:ext cx="2804279"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000000"/>
                </a:solidFill>
                <a:latin typeface="ui-sans-serif" pitchFamily="34" charset="0"/>
                <a:ea typeface="ui-sans-serif" pitchFamily="34" charset="-122"/>
                <a:cs typeface="ui-sans-serif" pitchFamily="34" charset="-120"/>
              </a:rPr>
              <a:t>Lower latency for simple use cases</a:t>
            </a:r>
            <a:endParaRPr lang="en-US" sz="1050" dirty="0"/>
          </a:p>
        </p:txBody>
      </p:sp>
      <p:sp>
        <p:nvSpPr>
          <p:cNvPr id="42" name="Text 14"/>
          <p:cNvSpPr/>
          <p:nvPr/>
        </p:nvSpPr>
        <p:spPr>
          <a:xfrm>
            <a:off x="971550" y="5448300"/>
            <a:ext cx="2391192"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000000"/>
                </a:solidFill>
                <a:latin typeface="ui-sans-serif" pitchFamily="34" charset="0"/>
                <a:ea typeface="ui-sans-serif" pitchFamily="34" charset="-122"/>
                <a:cs typeface="ui-sans-serif" pitchFamily="34" charset="-120"/>
              </a:rPr>
              <a:t>Ideal for serverless workloads</a:t>
            </a:r>
            <a:endParaRPr lang="en-US" sz="1050" dirty="0"/>
          </a:p>
        </p:txBody>
      </p:sp>
      <p:sp>
        <p:nvSpPr>
          <p:cNvPr id="43" name="Text 15"/>
          <p:cNvSpPr/>
          <p:nvPr/>
        </p:nvSpPr>
        <p:spPr>
          <a:xfrm>
            <a:off x="8993237" y="4533900"/>
            <a:ext cx="1161931"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REST API</a:t>
            </a:r>
            <a:endParaRPr lang="en-US" sz="1500" dirty="0"/>
          </a:p>
        </p:txBody>
      </p:sp>
      <p:sp>
        <p:nvSpPr>
          <p:cNvPr id="44" name="Text 16"/>
          <p:cNvSpPr/>
          <p:nvPr/>
        </p:nvSpPr>
        <p:spPr>
          <a:xfrm>
            <a:off x="7372350" y="4914900"/>
            <a:ext cx="2085439"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000000"/>
                </a:solidFill>
                <a:latin typeface="ui-sans-serif" pitchFamily="34" charset="0"/>
                <a:ea typeface="ui-sans-serif" pitchFamily="34" charset="-122"/>
                <a:cs typeface="ui-sans-serif" pitchFamily="34" charset="-120"/>
              </a:rPr>
              <a:t>Integration with AWS WAF</a:t>
            </a:r>
            <a:endParaRPr lang="en-US" sz="1050" dirty="0"/>
          </a:p>
        </p:txBody>
      </p:sp>
      <p:sp>
        <p:nvSpPr>
          <p:cNvPr id="45" name="Text 17"/>
          <p:cNvSpPr/>
          <p:nvPr/>
        </p:nvSpPr>
        <p:spPr>
          <a:xfrm>
            <a:off x="7372350" y="5181600"/>
            <a:ext cx="2604968"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000000"/>
                </a:solidFill>
                <a:latin typeface="ui-sans-serif" pitchFamily="34" charset="0"/>
                <a:ea typeface="ui-sans-serif" pitchFamily="34" charset="-122"/>
                <a:cs typeface="ui-sans-serif" pitchFamily="34" charset="-120"/>
              </a:rPr>
              <a:t>Per-client throttling and API keys</a:t>
            </a:r>
            <a:endParaRPr lang="en-US" sz="1050" dirty="0"/>
          </a:p>
        </p:txBody>
      </p:sp>
      <p:sp>
        <p:nvSpPr>
          <p:cNvPr id="46" name="Text 18"/>
          <p:cNvSpPr/>
          <p:nvPr/>
        </p:nvSpPr>
        <p:spPr>
          <a:xfrm>
            <a:off x="7372350" y="5448300"/>
            <a:ext cx="3376315"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000000"/>
                </a:solidFill>
                <a:latin typeface="ui-sans-serif" pitchFamily="34" charset="0"/>
                <a:ea typeface="ui-sans-serif" pitchFamily="34" charset="-122"/>
                <a:cs typeface="ui-sans-serif" pitchFamily="34" charset="-120"/>
              </a:rPr>
              <a:t>Custom request/response transformations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972425"/>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1257300"/>
            <a:ext cx="10972800" cy="838200"/>
          </a:xfrm>
          <a:prstGeom prst="rect">
            <a:avLst/>
          </a:prstGeom>
        </p:spPr>
      </p:pic>
      <p:pic>
        <p:nvPicPr>
          <p:cNvPr id="5" name="Image 3" descr="preencoded.png"/>
          <p:cNvPicPr>
            <a:picLocks noChangeAspect="1"/>
          </p:cNvPicPr>
          <p:nvPr/>
        </p:nvPicPr>
        <p:blipFill>
          <a:blip r:embed="rId6"/>
          <a:stretch>
            <a:fillRect/>
          </a:stretch>
        </p:blipFill>
        <p:spPr>
          <a:xfrm>
            <a:off x="762000" y="1524000"/>
            <a:ext cx="228600" cy="304800"/>
          </a:xfrm>
          <a:prstGeom prst="rect">
            <a:avLst/>
          </a:prstGeom>
        </p:spPr>
      </p:pic>
      <p:pic>
        <p:nvPicPr>
          <p:cNvPr id="6" name="Image 4" descr="preencoded.png"/>
          <p:cNvPicPr>
            <a:picLocks noChangeAspect="1"/>
          </p:cNvPicPr>
          <p:nvPr/>
        </p:nvPicPr>
        <p:blipFill>
          <a:blip r:embed="rId7"/>
          <a:stretch>
            <a:fillRect/>
          </a:stretch>
        </p:blipFill>
        <p:spPr>
          <a:xfrm>
            <a:off x="609600" y="4124325"/>
            <a:ext cx="5410200" cy="2019300"/>
          </a:xfrm>
          <a:prstGeom prst="rect">
            <a:avLst/>
          </a:prstGeom>
        </p:spPr>
      </p:pic>
      <p:pic>
        <p:nvPicPr>
          <p:cNvPr id="7" name="Image 5" descr="preencoded.png"/>
          <p:cNvPicPr>
            <a:picLocks noChangeAspect="1"/>
          </p:cNvPicPr>
          <p:nvPr/>
        </p:nvPicPr>
        <p:blipFill>
          <a:blip r:embed="rId8"/>
          <a:stretch>
            <a:fillRect/>
          </a:stretch>
        </p:blipFill>
        <p:spPr>
          <a:xfrm>
            <a:off x="762000" y="4276725"/>
            <a:ext cx="171450" cy="304800"/>
          </a:xfrm>
          <a:prstGeom prst="rect">
            <a:avLst/>
          </a:prstGeom>
        </p:spPr>
      </p:pic>
      <p:pic>
        <p:nvPicPr>
          <p:cNvPr id="8" name="Image 6" descr="preencoded.png"/>
          <p:cNvPicPr>
            <a:picLocks noChangeAspect="1"/>
          </p:cNvPicPr>
          <p:nvPr/>
        </p:nvPicPr>
        <p:blipFill>
          <a:blip r:embed="rId7"/>
          <a:stretch>
            <a:fillRect/>
          </a:stretch>
        </p:blipFill>
        <p:spPr>
          <a:xfrm>
            <a:off x="6172200" y="4124325"/>
            <a:ext cx="5410200" cy="2019300"/>
          </a:xfrm>
          <a:prstGeom prst="rect">
            <a:avLst/>
          </a:prstGeom>
        </p:spPr>
      </p:pic>
      <p:pic>
        <p:nvPicPr>
          <p:cNvPr id="9" name="Image 7" descr="preencoded.png"/>
          <p:cNvPicPr>
            <a:picLocks noChangeAspect="1"/>
          </p:cNvPicPr>
          <p:nvPr/>
        </p:nvPicPr>
        <p:blipFill>
          <a:blip r:embed="rId9"/>
          <a:stretch>
            <a:fillRect/>
          </a:stretch>
        </p:blipFill>
        <p:spPr>
          <a:xfrm>
            <a:off x="6324600" y="4276725"/>
            <a:ext cx="228600" cy="304800"/>
          </a:xfrm>
          <a:prstGeom prst="rect">
            <a:avLst/>
          </a:prstGeom>
        </p:spPr>
      </p:pic>
      <p:pic>
        <p:nvPicPr>
          <p:cNvPr id="12" name="Image 10" descr="preencoded.png"/>
          <p:cNvPicPr>
            <a:picLocks noChangeAspect="1"/>
          </p:cNvPicPr>
          <p:nvPr/>
        </p:nvPicPr>
        <p:blipFill>
          <a:blip r:embed="rId10"/>
          <a:stretch>
            <a:fillRect/>
          </a:stretch>
        </p:blipFill>
        <p:spPr>
          <a:xfrm>
            <a:off x="0" y="7667625"/>
            <a:ext cx="12192000" cy="304800"/>
          </a:xfrm>
          <a:prstGeom prst="rect">
            <a:avLst/>
          </a:prstGeom>
        </p:spPr>
      </p:pic>
      <p:sp>
        <p:nvSpPr>
          <p:cNvPr id="13" name="Text 0"/>
          <p:cNvSpPr/>
          <p:nvPr/>
        </p:nvSpPr>
        <p:spPr>
          <a:xfrm>
            <a:off x="609600" y="685800"/>
            <a:ext cx="1790045"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Answer 4</a:t>
            </a:r>
            <a:endParaRPr lang="en-US" sz="2250" dirty="0"/>
          </a:p>
        </p:txBody>
      </p:sp>
      <p:sp>
        <p:nvSpPr>
          <p:cNvPr id="15" name="Text 2"/>
          <p:cNvSpPr/>
          <p:nvPr/>
        </p:nvSpPr>
        <p:spPr>
          <a:xfrm>
            <a:off x="1104900" y="1528763"/>
            <a:ext cx="10325100" cy="5334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 </a:t>
            </a:r>
            <a:r>
              <a:rPr lang="en-US" sz="1500" b="1" dirty="0">
                <a:solidFill>
                  <a:srgbClr val="FF9900"/>
                </a:solidFill>
                <a:latin typeface="ui-sans-serif" pitchFamily="34" charset="0"/>
                <a:ea typeface="ui-sans-serif" pitchFamily="34" charset="-122"/>
                <a:cs typeface="ui-sans-serif" pitchFamily="34" charset="-120"/>
              </a:rPr>
              <a:t>C</a:t>
            </a:r>
            <a:r>
              <a:rPr lang="en-US" sz="1500" b="1" dirty="0">
                <a:solidFill>
                  <a:srgbClr val="000000"/>
                </a:solidFill>
                <a:latin typeface="ui-sans-serif" pitchFamily="34" charset="0"/>
                <a:ea typeface="ui-sans-serif" pitchFamily="34" charset="-122"/>
                <a:cs typeface="ui-sans-serif" pitchFamily="34" charset="-120"/>
              </a:rPr>
              <a:t>. The primary goal is to minimize cost and achieve low latency for a simple proxy to a Lambda function.</a:t>
            </a:r>
            <a:endParaRPr lang="en-US" sz="1500" dirty="0"/>
          </a:p>
        </p:txBody>
      </p:sp>
      <p:sp>
        <p:nvSpPr>
          <p:cNvPr id="16" name="Text 3"/>
          <p:cNvSpPr/>
          <p:nvPr/>
        </p:nvSpPr>
        <p:spPr>
          <a:xfrm>
            <a:off x="609600" y="2324100"/>
            <a:ext cx="10972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Explanation:</a:t>
            </a:r>
            <a:endParaRPr lang="en-US" sz="1500" dirty="0"/>
          </a:p>
        </p:txBody>
      </p:sp>
      <p:sp>
        <p:nvSpPr>
          <p:cNvPr id="17" name="Text 4"/>
          <p:cNvSpPr/>
          <p:nvPr/>
        </p:nvSpPr>
        <p:spPr>
          <a:xfrm>
            <a:off x="609600" y="2705100"/>
            <a:ext cx="10972800" cy="1114425"/>
          </a:xfrm>
          <a:prstGeom prst="rect">
            <a:avLst/>
          </a:prstGeom>
          <a:noFill/>
          <a:ln/>
        </p:spPr>
        <p:txBody>
          <a:bodyPr vert="horz" wrap="square" lIns="0" tIns="0" rIns="0" bIns="0" rtlCol="0" anchor="t"/>
          <a:lstStyle/>
          <a:p>
            <a:pPr marL="0" indent="0">
              <a:lnSpc>
                <a:spcPts val="2194"/>
              </a:lnSpc>
              <a:buNone/>
            </a:pPr>
            <a:r>
              <a:rPr lang="en-US" sz="1350" dirty="0">
                <a:solidFill>
                  <a:srgbClr val="374151"/>
                </a:solidFill>
                <a:latin typeface="ui-sans-serif" pitchFamily="34" charset="0"/>
                <a:ea typeface="ui-sans-serif" pitchFamily="34" charset="-122"/>
                <a:cs typeface="ui-sans-serif" pitchFamily="34" charset="-120"/>
              </a:rPr>
              <a:t>HTTP APIs are specifically designed for lower cost and lower latency, making them ideal for simple proxy functionalities, especially with serverless workloads like Lambda functions. Features such as AWS WAF integration, per-client throttling and API key management, and custom request/response transformations with VTL are typically available with REST APIs, which offer a richer feature set at a higher cost.</a:t>
            </a:r>
            <a:endParaRPr lang="en-US" sz="1350" dirty="0"/>
          </a:p>
        </p:txBody>
      </p:sp>
      <p:sp>
        <p:nvSpPr>
          <p:cNvPr id="18" name="Text 5"/>
          <p:cNvSpPr/>
          <p:nvPr/>
        </p:nvSpPr>
        <p:spPr>
          <a:xfrm>
            <a:off x="1047750" y="4295775"/>
            <a:ext cx="23265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HTTP API Benefits</a:t>
            </a:r>
            <a:endParaRPr lang="en-US" sz="1500" dirty="0"/>
          </a:p>
        </p:txBody>
      </p:sp>
      <p:sp>
        <p:nvSpPr>
          <p:cNvPr id="19" name="Text 6"/>
          <p:cNvSpPr/>
          <p:nvPr/>
        </p:nvSpPr>
        <p:spPr>
          <a:xfrm>
            <a:off x="876300" y="4695825"/>
            <a:ext cx="59893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Up to 71% cheaper than REST APIs</a:t>
            </a:r>
            <a:endParaRPr lang="en-US" sz="1350" dirty="0"/>
          </a:p>
        </p:txBody>
      </p:sp>
      <p:sp>
        <p:nvSpPr>
          <p:cNvPr id="20" name="Text 7"/>
          <p:cNvSpPr/>
          <p:nvPr/>
        </p:nvSpPr>
        <p:spPr>
          <a:xfrm>
            <a:off x="876300" y="5038725"/>
            <a:ext cx="59893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Lower latency for simple use cases</a:t>
            </a:r>
            <a:endParaRPr lang="en-US" sz="1350" dirty="0"/>
          </a:p>
        </p:txBody>
      </p:sp>
      <p:sp>
        <p:nvSpPr>
          <p:cNvPr id="21" name="Text 8"/>
          <p:cNvSpPr/>
          <p:nvPr/>
        </p:nvSpPr>
        <p:spPr>
          <a:xfrm>
            <a:off x="876300" y="5381625"/>
            <a:ext cx="59893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Ideal for serverless workloads</a:t>
            </a:r>
            <a:endParaRPr lang="en-US" sz="1350" dirty="0"/>
          </a:p>
        </p:txBody>
      </p:sp>
      <p:sp>
        <p:nvSpPr>
          <p:cNvPr id="22" name="Text 9"/>
          <p:cNvSpPr/>
          <p:nvPr/>
        </p:nvSpPr>
        <p:spPr>
          <a:xfrm>
            <a:off x="876300" y="5724525"/>
            <a:ext cx="59893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Simplified pricing model</a:t>
            </a:r>
            <a:endParaRPr lang="en-US" sz="1350" dirty="0"/>
          </a:p>
        </p:txBody>
      </p:sp>
      <p:sp>
        <p:nvSpPr>
          <p:cNvPr id="23" name="Text 10"/>
          <p:cNvSpPr/>
          <p:nvPr/>
        </p:nvSpPr>
        <p:spPr>
          <a:xfrm>
            <a:off x="6667500" y="4295775"/>
            <a:ext cx="2373511" cy="266700"/>
          </a:xfrm>
          <a:prstGeom prst="rect">
            <a:avLst/>
          </a:prstGeom>
          <a:noFill/>
          <a:ln/>
        </p:spPr>
        <p:txBody>
          <a:bodyPr vert="horz" wrap="square" lIns="0" tIns="0" rIns="0" bIns="0" rtlCol="0" anchor="t"/>
          <a:lstStyle/>
          <a:p>
            <a:pPr marL="0" indent="0">
              <a:lnSpc>
                <a:spcPts val="2100"/>
              </a:lnSpc>
              <a:buNone/>
            </a:pPr>
            <a:r>
              <a:rPr lang="en-US" sz="1500" b="1" dirty="0">
                <a:solidFill>
                  <a:srgbClr val="232F3E"/>
                </a:solidFill>
                <a:latin typeface="ui-sans-serif" pitchFamily="34" charset="0"/>
                <a:ea typeface="ui-sans-serif" pitchFamily="34" charset="-122"/>
                <a:cs typeface="ui-sans-serif" pitchFamily="34" charset="-120"/>
              </a:rPr>
              <a:t>REST API Features</a:t>
            </a:r>
            <a:endParaRPr lang="en-US" sz="1500" dirty="0"/>
          </a:p>
        </p:txBody>
      </p:sp>
      <p:sp>
        <p:nvSpPr>
          <p:cNvPr id="24" name="Text 11"/>
          <p:cNvSpPr/>
          <p:nvPr/>
        </p:nvSpPr>
        <p:spPr>
          <a:xfrm>
            <a:off x="6438900" y="4695825"/>
            <a:ext cx="49911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AWS WAF integration</a:t>
            </a:r>
            <a:endParaRPr lang="en-US" sz="1350" dirty="0"/>
          </a:p>
        </p:txBody>
      </p:sp>
      <p:sp>
        <p:nvSpPr>
          <p:cNvPr id="25" name="Text 12"/>
          <p:cNvSpPr/>
          <p:nvPr/>
        </p:nvSpPr>
        <p:spPr>
          <a:xfrm>
            <a:off x="6438900" y="5038725"/>
            <a:ext cx="59893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Per-client throttling and API key management</a:t>
            </a:r>
            <a:endParaRPr lang="en-US" sz="1350" dirty="0"/>
          </a:p>
        </p:txBody>
      </p:sp>
      <p:sp>
        <p:nvSpPr>
          <p:cNvPr id="26" name="Text 13"/>
          <p:cNvSpPr/>
          <p:nvPr/>
        </p:nvSpPr>
        <p:spPr>
          <a:xfrm>
            <a:off x="6438900" y="5381625"/>
            <a:ext cx="59893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Custom request/response transformations</a:t>
            </a:r>
            <a:endParaRPr lang="en-US" sz="1350" dirty="0"/>
          </a:p>
        </p:txBody>
      </p:sp>
      <p:sp>
        <p:nvSpPr>
          <p:cNvPr id="27" name="Text 14"/>
          <p:cNvSpPr/>
          <p:nvPr/>
        </p:nvSpPr>
        <p:spPr>
          <a:xfrm>
            <a:off x="6438900" y="5724525"/>
            <a:ext cx="59893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000000"/>
                </a:solidFill>
                <a:latin typeface="ui-sans-serif" pitchFamily="34" charset="0"/>
                <a:ea typeface="ui-sans-serif" pitchFamily="34" charset="-122"/>
                <a:cs typeface="ui-sans-serif" pitchFamily="34" charset="-120"/>
              </a:rPr>
              <a:t>Comprehensive feature set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2286000"/>
            <a:ext cx="5334000" cy="685800"/>
          </a:xfrm>
          <a:prstGeom prst="rect">
            <a:avLst/>
          </a:prstGeom>
        </p:spPr>
      </p:pic>
      <p:pic>
        <p:nvPicPr>
          <p:cNvPr id="5" name="Image 3" descr="preencoded.png"/>
          <p:cNvPicPr>
            <a:picLocks noChangeAspect="1"/>
          </p:cNvPicPr>
          <p:nvPr/>
        </p:nvPicPr>
        <p:blipFill>
          <a:blip r:embed="rId6"/>
          <a:stretch>
            <a:fillRect/>
          </a:stretch>
        </p:blipFill>
        <p:spPr>
          <a:xfrm>
            <a:off x="762000" y="2438400"/>
            <a:ext cx="381000" cy="381000"/>
          </a:xfrm>
          <a:prstGeom prst="rect">
            <a:avLst/>
          </a:prstGeom>
        </p:spPr>
      </p:pic>
      <p:pic>
        <p:nvPicPr>
          <p:cNvPr id="6" name="Image 4" descr="preencoded.png"/>
          <p:cNvPicPr>
            <a:picLocks noChangeAspect="1"/>
          </p:cNvPicPr>
          <p:nvPr/>
        </p:nvPicPr>
        <p:blipFill>
          <a:blip r:embed="rId7"/>
          <a:stretch>
            <a:fillRect/>
          </a:stretch>
        </p:blipFill>
        <p:spPr>
          <a:xfrm>
            <a:off x="1295400" y="2438400"/>
            <a:ext cx="200025" cy="304800"/>
          </a:xfrm>
          <a:prstGeom prst="rect">
            <a:avLst/>
          </a:prstGeom>
        </p:spPr>
      </p:pic>
      <p:pic>
        <p:nvPicPr>
          <p:cNvPr id="7" name="Image 5" descr="preencoded.png"/>
          <p:cNvPicPr>
            <a:picLocks noChangeAspect="1"/>
          </p:cNvPicPr>
          <p:nvPr/>
        </p:nvPicPr>
        <p:blipFill>
          <a:blip r:embed="rId5"/>
          <a:stretch>
            <a:fillRect/>
          </a:stretch>
        </p:blipFill>
        <p:spPr>
          <a:xfrm>
            <a:off x="6248400" y="2286000"/>
            <a:ext cx="5334000" cy="685800"/>
          </a:xfrm>
          <a:prstGeom prst="rect">
            <a:avLst/>
          </a:prstGeom>
        </p:spPr>
      </p:pic>
      <p:pic>
        <p:nvPicPr>
          <p:cNvPr id="8" name="Image 6" descr="preencoded.png"/>
          <p:cNvPicPr>
            <a:picLocks noChangeAspect="1"/>
          </p:cNvPicPr>
          <p:nvPr/>
        </p:nvPicPr>
        <p:blipFill>
          <a:blip r:embed="rId8"/>
          <a:stretch>
            <a:fillRect/>
          </a:stretch>
        </p:blipFill>
        <p:spPr>
          <a:xfrm>
            <a:off x="6400800" y="2438400"/>
            <a:ext cx="381000" cy="381000"/>
          </a:xfrm>
          <a:prstGeom prst="rect">
            <a:avLst/>
          </a:prstGeom>
        </p:spPr>
      </p:pic>
      <p:pic>
        <p:nvPicPr>
          <p:cNvPr id="9" name="Image 7" descr="preencoded.png"/>
          <p:cNvPicPr>
            <a:picLocks noChangeAspect="1"/>
          </p:cNvPicPr>
          <p:nvPr/>
        </p:nvPicPr>
        <p:blipFill>
          <a:blip r:embed="rId9"/>
          <a:stretch>
            <a:fillRect/>
          </a:stretch>
        </p:blipFill>
        <p:spPr>
          <a:xfrm>
            <a:off x="6934200" y="2438400"/>
            <a:ext cx="228600" cy="304800"/>
          </a:xfrm>
          <a:prstGeom prst="rect">
            <a:avLst/>
          </a:prstGeom>
        </p:spPr>
      </p:pic>
      <p:pic>
        <p:nvPicPr>
          <p:cNvPr id="10" name="Image 8" descr="preencoded.png"/>
          <p:cNvPicPr>
            <a:picLocks noChangeAspect="1"/>
          </p:cNvPicPr>
          <p:nvPr/>
        </p:nvPicPr>
        <p:blipFill>
          <a:blip r:embed="rId5"/>
          <a:stretch>
            <a:fillRect/>
          </a:stretch>
        </p:blipFill>
        <p:spPr>
          <a:xfrm>
            <a:off x="609600" y="3276600"/>
            <a:ext cx="5334000" cy="685800"/>
          </a:xfrm>
          <a:prstGeom prst="rect">
            <a:avLst/>
          </a:prstGeom>
        </p:spPr>
      </p:pic>
      <p:pic>
        <p:nvPicPr>
          <p:cNvPr id="11" name="Image 9" descr="preencoded.png"/>
          <p:cNvPicPr>
            <a:picLocks noChangeAspect="1"/>
          </p:cNvPicPr>
          <p:nvPr/>
        </p:nvPicPr>
        <p:blipFill>
          <a:blip r:embed="rId6"/>
          <a:stretch>
            <a:fillRect/>
          </a:stretch>
        </p:blipFill>
        <p:spPr>
          <a:xfrm>
            <a:off x="762000" y="3429000"/>
            <a:ext cx="381000" cy="381000"/>
          </a:xfrm>
          <a:prstGeom prst="rect">
            <a:avLst/>
          </a:prstGeom>
        </p:spPr>
      </p:pic>
      <p:pic>
        <p:nvPicPr>
          <p:cNvPr id="12" name="Image 10" descr="preencoded.png"/>
          <p:cNvPicPr>
            <a:picLocks noChangeAspect="1"/>
          </p:cNvPicPr>
          <p:nvPr/>
        </p:nvPicPr>
        <p:blipFill>
          <a:blip r:embed="rId10"/>
          <a:stretch>
            <a:fillRect/>
          </a:stretch>
        </p:blipFill>
        <p:spPr>
          <a:xfrm>
            <a:off x="1295400" y="3429000"/>
            <a:ext cx="257175" cy="304800"/>
          </a:xfrm>
          <a:prstGeom prst="rect">
            <a:avLst/>
          </a:prstGeom>
        </p:spPr>
      </p:pic>
      <p:pic>
        <p:nvPicPr>
          <p:cNvPr id="13" name="Image 11" descr="preencoded.png"/>
          <p:cNvPicPr>
            <a:picLocks noChangeAspect="1"/>
          </p:cNvPicPr>
          <p:nvPr/>
        </p:nvPicPr>
        <p:blipFill>
          <a:blip r:embed="rId5"/>
          <a:stretch>
            <a:fillRect/>
          </a:stretch>
        </p:blipFill>
        <p:spPr>
          <a:xfrm>
            <a:off x="6248400" y="3276600"/>
            <a:ext cx="5334000" cy="685800"/>
          </a:xfrm>
          <a:prstGeom prst="rect">
            <a:avLst/>
          </a:prstGeom>
        </p:spPr>
      </p:pic>
      <p:pic>
        <p:nvPicPr>
          <p:cNvPr id="14" name="Image 12" descr="preencoded.png"/>
          <p:cNvPicPr>
            <a:picLocks noChangeAspect="1"/>
          </p:cNvPicPr>
          <p:nvPr/>
        </p:nvPicPr>
        <p:blipFill>
          <a:blip r:embed="rId8"/>
          <a:stretch>
            <a:fillRect/>
          </a:stretch>
        </p:blipFill>
        <p:spPr>
          <a:xfrm>
            <a:off x="6400800" y="3429000"/>
            <a:ext cx="381000" cy="381000"/>
          </a:xfrm>
          <a:prstGeom prst="rect">
            <a:avLst/>
          </a:prstGeom>
        </p:spPr>
      </p:pic>
      <p:pic>
        <p:nvPicPr>
          <p:cNvPr id="15" name="Image 13" descr="preencoded.png"/>
          <p:cNvPicPr>
            <a:picLocks noChangeAspect="1"/>
          </p:cNvPicPr>
          <p:nvPr/>
        </p:nvPicPr>
        <p:blipFill>
          <a:blip r:embed="rId11"/>
          <a:stretch>
            <a:fillRect/>
          </a:stretch>
        </p:blipFill>
        <p:spPr>
          <a:xfrm>
            <a:off x="6934200" y="3429000"/>
            <a:ext cx="228600" cy="304800"/>
          </a:xfrm>
          <a:prstGeom prst="rect">
            <a:avLst/>
          </a:prstGeom>
        </p:spPr>
      </p:pic>
      <p:pic>
        <p:nvPicPr>
          <p:cNvPr id="27" name="Image 25" descr="preencoded.png"/>
          <p:cNvPicPr>
            <a:picLocks noChangeAspect="1"/>
          </p:cNvPicPr>
          <p:nvPr/>
        </p:nvPicPr>
        <p:blipFill>
          <a:blip r:embed="rId12"/>
          <a:stretch>
            <a:fillRect/>
          </a:stretch>
        </p:blipFill>
        <p:spPr>
          <a:xfrm>
            <a:off x="0" y="6553200"/>
            <a:ext cx="12192000" cy="304800"/>
          </a:xfrm>
          <a:prstGeom prst="rect">
            <a:avLst/>
          </a:prstGeom>
        </p:spPr>
      </p:pic>
      <p:sp>
        <p:nvSpPr>
          <p:cNvPr id="28" name="Text 0"/>
          <p:cNvSpPr/>
          <p:nvPr/>
        </p:nvSpPr>
        <p:spPr>
          <a:xfrm>
            <a:off x="609600" y="685800"/>
            <a:ext cx="2091511"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Question 5</a:t>
            </a:r>
            <a:endParaRPr lang="en-US" sz="2250" dirty="0"/>
          </a:p>
        </p:txBody>
      </p:sp>
      <p:sp>
        <p:nvSpPr>
          <p:cNvPr id="30" name="Text 2"/>
          <p:cNvSpPr/>
          <p:nvPr/>
        </p:nvSpPr>
        <p:spPr>
          <a:xfrm>
            <a:off x="609600" y="1333500"/>
            <a:ext cx="10972800" cy="571500"/>
          </a:xfrm>
          <a:prstGeom prst="rect">
            <a:avLst/>
          </a:prstGeom>
          <a:noFill/>
          <a:ln/>
        </p:spPr>
        <p:txBody>
          <a:bodyPr vert="horz" wrap="square" lIns="0" tIns="0" rIns="0" bIns="0" rtlCol="0" anchor="t"/>
          <a:lstStyle/>
          <a:p>
            <a:pPr marL="0" indent="0">
              <a:lnSpc>
                <a:spcPts val="2250"/>
              </a:lnSpc>
              <a:buNone/>
            </a:pPr>
            <a:r>
              <a:rPr lang="en-US" sz="1800" b="1" dirty="0">
                <a:solidFill>
                  <a:srgbClr val="232F3E"/>
                </a:solidFill>
                <a:latin typeface="ui-sans-serif" pitchFamily="34" charset="0"/>
                <a:ea typeface="ui-sans-serif" pitchFamily="34" charset="-122"/>
                <a:cs typeface="ui-sans-serif" pitchFamily="34" charset="-120"/>
              </a:rPr>
              <a:t>Which API Gateway component represents a logical entity in your API, such as `/users` or `/orders`?</a:t>
            </a:r>
            <a:endParaRPr lang="en-US" sz="1800" dirty="0"/>
          </a:p>
        </p:txBody>
      </p:sp>
      <p:sp>
        <p:nvSpPr>
          <p:cNvPr id="31" name="Text 3"/>
          <p:cNvSpPr/>
          <p:nvPr/>
        </p:nvSpPr>
        <p:spPr>
          <a:xfrm>
            <a:off x="893415" y="24384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A</a:t>
            </a:r>
            <a:endParaRPr lang="en-US" sz="1200" dirty="0"/>
          </a:p>
        </p:txBody>
      </p:sp>
      <p:sp>
        <p:nvSpPr>
          <p:cNvPr id="32" name="Text 4"/>
          <p:cNvSpPr/>
          <p:nvPr/>
        </p:nvSpPr>
        <p:spPr>
          <a:xfrm>
            <a:off x="1647825" y="2457450"/>
            <a:ext cx="857429"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Method</a:t>
            </a:r>
            <a:endParaRPr lang="en-US" sz="1500" dirty="0"/>
          </a:p>
        </p:txBody>
      </p:sp>
      <p:sp>
        <p:nvSpPr>
          <p:cNvPr id="33" name="Text 5"/>
          <p:cNvSpPr/>
          <p:nvPr/>
        </p:nvSpPr>
        <p:spPr>
          <a:xfrm>
            <a:off x="6533108" y="24384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B</a:t>
            </a:r>
            <a:endParaRPr lang="en-US" sz="1200" dirty="0"/>
          </a:p>
        </p:txBody>
      </p:sp>
      <p:sp>
        <p:nvSpPr>
          <p:cNvPr id="34" name="Text 6"/>
          <p:cNvSpPr/>
          <p:nvPr/>
        </p:nvSpPr>
        <p:spPr>
          <a:xfrm>
            <a:off x="7315200" y="2457450"/>
            <a:ext cx="660618"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Stage</a:t>
            </a:r>
            <a:endParaRPr lang="en-US" sz="1500" dirty="0"/>
          </a:p>
        </p:txBody>
      </p:sp>
      <p:sp>
        <p:nvSpPr>
          <p:cNvPr id="35" name="Text 7"/>
          <p:cNvSpPr/>
          <p:nvPr/>
        </p:nvSpPr>
        <p:spPr>
          <a:xfrm>
            <a:off x="896541" y="34290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a:t>
            </a:r>
            <a:endParaRPr lang="en-US" sz="1200" dirty="0"/>
          </a:p>
        </p:txBody>
      </p:sp>
      <p:sp>
        <p:nvSpPr>
          <p:cNvPr id="36" name="Text 8"/>
          <p:cNvSpPr/>
          <p:nvPr/>
        </p:nvSpPr>
        <p:spPr>
          <a:xfrm>
            <a:off x="1704975" y="3448050"/>
            <a:ext cx="1048345"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Resource</a:t>
            </a:r>
            <a:endParaRPr lang="en-US" sz="1500" dirty="0"/>
          </a:p>
        </p:txBody>
      </p:sp>
      <p:sp>
        <p:nvSpPr>
          <p:cNvPr id="37" name="Text 9"/>
          <p:cNvSpPr/>
          <p:nvPr/>
        </p:nvSpPr>
        <p:spPr>
          <a:xfrm>
            <a:off x="6528048" y="342900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a:t>
            </a:r>
            <a:endParaRPr lang="en-US" sz="1200" dirty="0"/>
          </a:p>
        </p:txBody>
      </p:sp>
      <p:sp>
        <p:nvSpPr>
          <p:cNvPr id="38" name="Text 10"/>
          <p:cNvSpPr/>
          <p:nvPr/>
        </p:nvSpPr>
        <p:spPr>
          <a:xfrm>
            <a:off x="7315200" y="3448050"/>
            <a:ext cx="1398389" cy="266700"/>
          </a:xfrm>
          <a:prstGeom prst="rect">
            <a:avLst/>
          </a:prstGeom>
          <a:noFill/>
          <a:ln/>
        </p:spPr>
        <p:txBody>
          <a:bodyPr vert="horz" wrap="square" lIns="0" tIns="0" rIns="0" bIns="0" rtlCol="0" anchor="t"/>
          <a:lstStyle/>
          <a:p>
            <a:pPr marL="0" indent="0">
              <a:lnSpc>
                <a:spcPts val="2100"/>
              </a:lnSpc>
              <a:buNone/>
            </a:pPr>
            <a:r>
              <a:rPr lang="en-US" sz="1500" dirty="0">
                <a:solidFill>
                  <a:srgbClr val="000000"/>
                </a:solidFill>
                <a:latin typeface="ui-sans-serif" pitchFamily="34" charset="0"/>
                <a:ea typeface="ui-sans-serif" pitchFamily="34" charset="-122"/>
                <a:cs typeface="ui-sans-serif" pitchFamily="34" charset="-120"/>
              </a:rPr>
              <a:t>Deployment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591425"/>
          </a:xfrm>
          <a:prstGeom prst="rect">
            <a:avLst/>
          </a:prstGeom>
        </p:spPr>
      </p:pic>
      <p:pic>
        <p:nvPicPr>
          <p:cNvPr id="3" name="Image 1" descr="preencoded.png"/>
          <p:cNvPicPr>
            <a:picLocks noChangeAspect="1"/>
          </p:cNvPicPr>
          <p:nvPr/>
        </p:nvPicPr>
        <p:blipFill>
          <a:blip r:embed="rId4"/>
          <a:stretch>
            <a:fillRect/>
          </a:stretch>
        </p:blipFill>
        <p:spPr>
          <a:xfrm>
            <a:off x="0" y="0"/>
            <a:ext cx="12192000" cy="304800"/>
          </a:xfrm>
          <a:prstGeom prst="rect">
            <a:avLst/>
          </a:prstGeom>
        </p:spPr>
      </p:pic>
      <p:pic>
        <p:nvPicPr>
          <p:cNvPr id="4" name="Image 2" descr="preencoded.png"/>
          <p:cNvPicPr>
            <a:picLocks noChangeAspect="1"/>
          </p:cNvPicPr>
          <p:nvPr/>
        </p:nvPicPr>
        <p:blipFill>
          <a:blip r:embed="rId5"/>
          <a:stretch>
            <a:fillRect/>
          </a:stretch>
        </p:blipFill>
        <p:spPr>
          <a:xfrm>
            <a:off x="609600" y="1333500"/>
            <a:ext cx="2986683" cy="381000"/>
          </a:xfrm>
          <a:prstGeom prst="rect">
            <a:avLst/>
          </a:prstGeom>
        </p:spPr>
      </p:pic>
      <p:pic>
        <p:nvPicPr>
          <p:cNvPr id="5" name="Image 3" descr="preencoded.png"/>
          <p:cNvPicPr>
            <a:picLocks noChangeAspect="1"/>
          </p:cNvPicPr>
          <p:nvPr/>
        </p:nvPicPr>
        <p:blipFill>
          <a:blip r:embed="rId6"/>
          <a:stretch>
            <a:fillRect/>
          </a:stretch>
        </p:blipFill>
        <p:spPr>
          <a:xfrm>
            <a:off x="762000" y="1447800"/>
            <a:ext cx="152400" cy="152400"/>
          </a:xfrm>
          <a:prstGeom prst="rect">
            <a:avLst/>
          </a:prstGeom>
        </p:spPr>
      </p:pic>
      <p:pic>
        <p:nvPicPr>
          <p:cNvPr id="6" name="Image 4" descr="preencoded.png"/>
          <p:cNvPicPr>
            <a:picLocks noChangeAspect="1"/>
          </p:cNvPicPr>
          <p:nvPr/>
        </p:nvPicPr>
        <p:blipFill>
          <a:blip r:embed="rId7"/>
          <a:stretch>
            <a:fillRect/>
          </a:stretch>
        </p:blipFill>
        <p:spPr>
          <a:xfrm>
            <a:off x="609600" y="3014663"/>
            <a:ext cx="10972800" cy="1714500"/>
          </a:xfrm>
          <a:prstGeom prst="rect">
            <a:avLst/>
          </a:prstGeom>
        </p:spPr>
      </p:pic>
      <p:pic>
        <p:nvPicPr>
          <p:cNvPr id="7" name="Image 5" descr="preencoded.png"/>
          <p:cNvPicPr>
            <a:picLocks noChangeAspect="1"/>
          </p:cNvPicPr>
          <p:nvPr/>
        </p:nvPicPr>
        <p:blipFill>
          <a:blip r:embed="rId8"/>
          <a:stretch>
            <a:fillRect/>
          </a:stretch>
        </p:blipFill>
        <p:spPr>
          <a:xfrm>
            <a:off x="838200" y="3662362"/>
            <a:ext cx="717352" cy="381000"/>
          </a:xfrm>
          <a:prstGeom prst="rect">
            <a:avLst/>
          </a:prstGeom>
        </p:spPr>
      </p:pic>
      <p:pic>
        <p:nvPicPr>
          <p:cNvPr id="8" name="Image 6" descr="preencoded.png"/>
          <p:cNvPicPr>
            <a:picLocks noChangeAspect="1"/>
          </p:cNvPicPr>
          <p:nvPr/>
        </p:nvPicPr>
        <p:blipFill>
          <a:blip r:embed="rId9"/>
          <a:stretch>
            <a:fillRect/>
          </a:stretch>
        </p:blipFill>
        <p:spPr>
          <a:xfrm>
            <a:off x="952500" y="3776662"/>
            <a:ext cx="171450" cy="152400"/>
          </a:xfrm>
          <a:prstGeom prst="rect">
            <a:avLst/>
          </a:prstGeom>
        </p:spPr>
      </p:pic>
      <p:pic>
        <p:nvPicPr>
          <p:cNvPr id="9" name="Image 7" descr="preencoded.png"/>
          <p:cNvPicPr>
            <a:picLocks noChangeAspect="1"/>
          </p:cNvPicPr>
          <p:nvPr/>
        </p:nvPicPr>
        <p:blipFill>
          <a:blip r:embed="rId10"/>
          <a:stretch>
            <a:fillRect/>
          </a:stretch>
        </p:blipFill>
        <p:spPr>
          <a:xfrm>
            <a:off x="1631752" y="3776662"/>
            <a:ext cx="95250" cy="152400"/>
          </a:xfrm>
          <a:prstGeom prst="rect">
            <a:avLst/>
          </a:prstGeom>
        </p:spPr>
      </p:pic>
      <p:pic>
        <p:nvPicPr>
          <p:cNvPr id="10" name="Image 8" descr="preencoded.png"/>
          <p:cNvPicPr>
            <a:picLocks noChangeAspect="1"/>
          </p:cNvPicPr>
          <p:nvPr/>
        </p:nvPicPr>
        <p:blipFill>
          <a:blip r:embed="rId11"/>
          <a:stretch>
            <a:fillRect/>
          </a:stretch>
        </p:blipFill>
        <p:spPr>
          <a:xfrm>
            <a:off x="1803202" y="3662362"/>
            <a:ext cx="1175147" cy="381000"/>
          </a:xfrm>
          <a:prstGeom prst="rect">
            <a:avLst/>
          </a:prstGeom>
        </p:spPr>
      </p:pic>
      <p:pic>
        <p:nvPicPr>
          <p:cNvPr id="11" name="Image 9" descr="preencoded.png"/>
          <p:cNvPicPr>
            <a:picLocks noChangeAspect="1"/>
          </p:cNvPicPr>
          <p:nvPr/>
        </p:nvPicPr>
        <p:blipFill>
          <a:blip r:embed="rId12"/>
          <a:stretch>
            <a:fillRect/>
          </a:stretch>
        </p:blipFill>
        <p:spPr>
          <a:xfrm>
            <a:off x="1917502" y="3776662"/>
            <a:ext cx="171450" cy="152400"/>
          </a:xfrm>
          <a:prstGeom prst="rect">
            <a:avLst/>
          </a:prstGeom>
        </p:spPr>
      </p:pic>
      <p:pic>
        <p:nvPicPr>
          <p:cNvPr id="12" name="Image 10" descr="preencoded.png"/>
          <p:cNvPicPr>
            <a:picLocks noChangeAspect="1"/>
          </p:cNvPicPr>
          <p:nvPr/>
        </p:nvPicPr>
        <p:blipFill>
          <a:blip r:embed="rId10"/>
          <a:stretch>
            <a:fillRect/>
          </a:stretch>
        </p:blipFill>
        <p:spPr>
          <a:xfrm>
            <a:off x="3054548" y="3776662"/>
            <a:ext cx="95250" cy="152400"/>
          </a:xfrm>
          <a:prstGeom prst="rect">
            <a:avLst/>
          </a:prstGeom>
        </p:spPr>
      </p:pic>
      <p:pic>
        <p:nvPicPr>
          <p:cNvPr id="13" name="Image 11" descr="preencoded.png"/>
          <p:cNvPicPr>
            <a:picLocks noChangeAspect="1"/>
          </p:cNvPicPr>
          <p:nvPr/>
        </p:nvPicPr>
        <p:blipFill>
          <a:blip r:embed="rId13"/>
          <a:stretch>
            <a:fillRect/>
          </a:stretch>
        </p:blipFill>
        <p:spPr>
          <a:xfrm>
            <a:off x="3225998" y="3662362"/>
            <a:ext cx="1066949" cy="381000"/>
          </a:xfrm>
          <a:prstGeom prst="rect">
            <a:avLst/>
          </a:prstGeom>
        </p:spPr>
      </p:pic>
      <p:pic>
        <p:nvPicPr>
          <p:cNvPr id="14" name="Image 12" descr="preencoded.png"/>
          <p:cNvPicPr>
            <a:picLocks noChangeAspect="1"/>
          </p:cNvPicPr>
          <p:nvPr/>
        </p:nvPicPr>
        <p:blipFill>
          <a:blip r:embed="rId14"/>
          <a:stretch>
            <a:fillRect/>
          </a:stretch>
        </p:blipFill>
        <p:spPr>
          <a:xfrm>
            <a:off x="3340298" y="3776662"/>
            <a:ext cx="190500" cy="152400"/>
          </a:xfrm>
          <a:prstGeom prst="rect">
            <a:avLst/>
          </a:prstGeom>
        </p:spPr>
      </p:pic>
      <p:pic>
        <p:nvPicPr>
          <p:cNvPr id="15" name="Image 13" descr="preencoded.png"/>
          <p:cNvPicPr>
            <a:picLocks noChangeAspect="1"/>
          </p:cNvPicPr>
          <p:nvPr/>
        </p:nvPicPr>
        <p:blipFill>
          <a:blip r:embed="rId15"/>
          <a:stretch>
            <a:fillRect/>
          </a:stretch>
        </p:blipFill>
        <p:spPr>
          <a:xfrm>
            <a:off x="1295400" y="4119562"/>
            <a:ext cx="958453" cy="381000"/>
          </a:xfrm>
          <a:prstGeom prst="rect">
            <a:avLst/>
          </a:prstGeom>
        </p:spPr>
      </p:pic>
      <p:pic>
        <p:nvPicPr>
          <p:cNvPr id="16" name="Image 14" descr="preencoded.png"/>
          <p:cNvPicPr>
            <a:picLocks noChangeAspect="1"/>
          </p:cNvPicPr>
          <p:nvPr/>
        </p:nvPicPr>
        <p:blipFill>
          <a:blip r:embed="rId16"/>
          <a:stretch>
            <a:fillRect/>
          </a:stretch>
        </p:blipFill>
        <p:spPr>
          <a:xfrm>
            <a:off x="1409700" y="4233863"/>
            <a:ext cx="190500" cy="152400"/>
          </a:xfrm>
          <a:prstGeom prst="rect">
            <a:avLst/>
          </a:prstGeom>
        </p:spPr>
      </p:pic>
      <p:pic>
        <p:nvPicPr>
          <p:cNvPr id="17" name="Image 15" descr="preencoded.png"/>
          <p:cNvPicPr>
            <a:picLocks noChangeAspect="1"/>
          </p:cNvPicPr>
          <p:nvPr/>
        </p:nvPicPr>
        <p:blipFill>
          <a:blip r:embed="rId17"/>
          <a:stretch>
            <a:fillRect/>
          </a:stretch>
        </p:blipFill>
        <p:spPr>
          <a:xfrm>
            <a:off x="2330053" y="4119562"/>
            <a:ext cx="1013371" cy="381000"/>
          </a:xfrm>
          <a:prstGeom prst="rect">
            <a:avLst/>
          </a:prstGeom>
        </p:spPr>
      </p:pic>
      <p:pic>
        <p:nvPicPr>
          <p:cNvPr id="18" name="Image 16" descr="preencoded.png"/>
          <p:cNvPicPr>
            <a:picLocks noChangeAspect="1"/>
          </p:cNvPicPr>
          <p:nvPr/>
        </p:nvPicPr>
        <p:blipFill>
          <a:blip r:embed="rId18"/>
          <a:stretch>
            <a:fillRect/>
          </a:stretch>
        </p:blipFill>
        <p:spPr>
          <a:xfrm>
            <a:off x="2444353" y="4233863"/>
            <a:ext cx="171450" cy="152400"/>
          </a:xfrm>
          <a:prstGeom prst="rect">
            <a:avLst/>
          </a:prstGeom>
        </p:spPr>
      </p:pic>
      <p:pic>
        <p:nvPicPr>
          <p:cNvPr id="19" name="Image 17" descr="preencoded.png"/>
          <p:cNvPicPr>
            <a:picLocks noChangeAspect="1"/>
          </p:cNvPicPr>
          <p:nvPr/>
        </p:nvPicPr>
        <p:blipFill>
          <a:blip r:embed="rId19"/>
          <a:stretch>
            <a:fillRect/>
          </a:stretch>
        </p:blipFill>
        <p:spPr>
          <a:xfrm>
            <a:off x="609600" y="5033963"/>
            <a:ext cx="10972800" cy="1790700"/>
          </a:xfrm>
          <a:prstGeom prst="rect">
            <a:avLst/>
          </a:prstGeom>
        </p:spPr>
      </p:pic>
      <p:pic>
        <p:nvPicPr>
          <p:cNvPr id="20" name="Image 18" descr="preencoded.png"/>
          <p:cNvPicPr>
            <a:picLocks noChangeAspect="1"/>
          </p:cNvPicPr>
          <p:nvPr/>
        </p:nvPicPr>
        <p:blipFill>
          <a:blip r:embed="rId20"/>
          <a:stretch>
            <a:fillRect/>
          </a:stretch>
        </p:blipFill>
        <p:spPr>
          <a:xfrm>
            <a:off x="0" y="7286625"/>
            <a:ext cx="12192000" cy="304800"/>
          </a:xfrm>
          <a:prstGeom prst="rect">
            <a:avLst/>
          </a:prstGeom>
        </p:spPr>
      </p:pic>
      <p:sp>
        <p:nvSpPr>
          <p:cNvPr id="21" name="Text 0"/>
          <p:cNvSpPr/>
          <p:nvPr/>
        </p:nvSpPr>
        <p:spPr>
          <a:xfrm>
            <a:off x="609600" y="685800"/>
            <a:ext cx="1790045" cy="342900"/>
          </a:xfrm>
          <a:prstGeom prst="rect">
            <a:avLst/>
          </a:prstGeom>
          <a:noFill/>
          <a:ln/>
        </p:spPr>
        <p:txBody>
          <a:bodyPr vert="horz" wrap="square" lIns="0" tIns="0" rIns="0" bIns="0" rtlCol="0" anchor="t"/>
          <a:lstStyle/>
          <a:p>
            <a:pPr marL="0" indent="0">
              <a:lnSpc>
                <a:spcPts val="2700"/>
              </a:lnSpc>
              <a:buNone/>
            </a:pPr>
            <a:r>
              <a:rPr lang="en-US" sz="2250" b="1" dirty="0">
                <a:solidFill>
                  <a:srgbClr val="232F3E"/>
                </a:solidFill>
                <a:latin typeface="ui-sans-serif" pitchFamily="34" charset="0"/>
                <a:ea typeface="ui-sans-serif" pitchFamily="34" charset="-122"/>
                <a:cs typeface="ui-sans-serif" pitchFamily="34" charset="-120"/>
              </a:rPr>
              <a:t>Answer 5</a:t>
            </a:r>
            <a:endParaRPr lang="en-US" sz="2250" dirty="0"/>
          </a:p>
        </p:txBody>
      </p:sp>
      <p:sp>
        <p:nvSpPr>
          <p:cNvPr id="23" name="Text 2"/>
          <p:cNvSpPr/>
          <p:nvPr/>
        </p:nvSpPr>
        <p:spPr>
          <a:xfrm>
            <a:off x="990600" y="1409700"/>
            <a:ext cx="2943939" cy="228600"/>
          </a:xfrm>
          <a:prstGeom prst="rect">
            <a:avLst/>
          </a:prstGeom>
          <a:noFill/>
          <a:ln/>
        </p:spPr>
        <p:txBody>
          <a:bodyPr vert="horz" wrap="square" lIns="0" tIns="0" rIns="0" bIns="0" rtlCol="0" anchor="t"/>
          <a:lstStyle/>
          <a:p>
            <a:pPr marL="0" indent="0">
              <a:lnSpc>
                <a:spcPts val="1800"/>
              </a:lnSpc>
              <a:buNone/>
            </a:pPr>
            <a:r>
              <a:rPr lang="en-US" sz="1200" b="1" dirty="0">
                <a:solidFill>
                  <a:srgbClr val="166534"/>
                </a:solidFill>
                <a:latin typeface="ui-sans-serif" pitchFamily="34" charset="0"/>
                <a:ea typeface="ui-sans-serif" pitchFamily="34" charset="-122"/>
                <a:cs typeface="ui-sans-serif" pitchFamily="34" charset="-120"/>
              </a:rPr>
              <a:t>Correct Answer: C. Resource</a:t>
            </a:r>
            <a:endParaRPr lang="en-US" sz="1200" dirty="0"/>
          </a:p>
        </p:txBody>
      </p:sp>
      <p:sp>
        <p:nvSpPr>
          <p:cNvPr id="24" name="Text 3"/>
          <p:cNvSpPr/>
          <p:nvPr/>
        </p:nvSpPr>
        <p:spPr>
          <a:xfrm>
            <a:off x="609600" y="1943100"/>
            <a:ext cx="131673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232F3E"/>
                </a:solidFill>
                <a:latin typeface="ui-sans-serif" pitchFamily="34" charset="0"/>
                <a:ea typeface="ui-sans-serif" pitchFamily="34" charset="-122"/>
                <a:cs typeface="ui-sans-serif" pitchFamily="34" charset="-120"/>
              </a:rPr>
              <a:t>A Resource in API Gateway represents a logical entity in your API.</a:t>
            </a:r>
            <a:endParaRPr lang="en-US" sz="1800" dirty="0"/>
          </a:p>
        </p:txBody>
      </p:sp>
      <p:sp>
        <p:nvSpPr>
          <p:cNvPr id="25" name="Text 4"/>
          <p:cNvSpPr/>
          <p:nvPr/>
        </p:nvSpPr>
        <p:spPr>
          <a:xfrm>
            <a:off x="609600" y="2400300"/>
            <a:ext cx="13167360" cy="309563"/>
          </a:xfrm>
          <a:prstGeom prst="rect">
            <a:avLst/>
          </a:prstGeom>
          <a:noFill/>
          <a:ln/>
        </p:spPr>
        <p:txBody>
          <a:bodyPr vert="horz" wrap="square" lIns="0" tIns="0" rIns="0" bIns="0" rtlCol="0" anchor="t"/>
          <a:lstStyle/>
          <a:p>
            <a:pPr marL="0" indent="0">
              <a:lnSpc>
                <a:spcPts val="2438"/>
              </a:lnSpc>
              <a:buNone/>
            </a:pPr>
            <a:r>
              <a:rPr lang="en-US" sz="1500" dirty="0">
                <a:solidFill>
                  <a:srgbClr val="374151"/>
                </a:solidFill>
                <a:latin typeface="ui-sans-serif" pitchFamily="34" charset="0"/>
                <a:ea typeface="ui-sans-serif" pitchFamily="34" charset="-122"/>
                <a:cs typeface="ui-sans-serif" pitchFamily="34" charset="-120"/>
              </a:rPr>
              <a:t>A Resource is a logical entity that represents a specific path or endpoint in your API, such as </a:t>
            </a:r>
            <a:r>
              <a:rPr lang="en-US" sz="1500" dirty="0">
                <a:solidFill>
                  <a:srgbClr val="FF9900"/>
                </a:solidFill>
                <a:latin typeface="ui-sans-serif" pitchFamily="34" charset="0"/>
                <a:ea typeface="ui-sans-serif" pitchFamily="34" charset="-122"/>
                <a:cs typeface="ui-sans-serif" pitchFamily="34" charset="-120"/>
              </a:rPr>
              <a:t>/users</a:t>
            </a:r>
            <a:r>
              <a:rPr lang="en-US" sz="1500" dirty="0">
                <a:solidFill>
                  <a:srgbClr val="374151"/>
                </a:solidFill>
                <a:latin typeface="ui-sans-serif" pitchFamily="34" charset="0"/>
                <a:ea typeface="ui-sans-serif" pitchFamily="34" charset="-122"/>
                <a:cs typeface="ui-sans-serif" pitchFamily="34" charset="-120"/>
              </a:rPr>
              <a:t> or </a:t>
            </a:r>
            <a:r>
              <a:rPr lang="en-US" sz="1500" dirty="0">
                <a:solidFill>
                  <a:srgbClr val="FF9900"/>
                </a:solidFill>
                <a:latin typeface="ui-sans-serif" pitchFamily="34" charset="0"/>
                <a:ea typeface="ui-sans-serif" pitchFamily="34" charset="-122"/>
                <a:cs typeface="ui-sans-serif" pitchFamily="34" charset="-120"/>
              </a:rPr>
              <a:t>/orders</a:t>
            </a:r>
            <a:r>
              <a:rPr lang="en-US" sz="1500" dirty="0">
                <a:solidFill>
                  <a:srgbClr val="374151"/>
                </a:solidFill>
                <a:latin typeface="ui-sans-serif" pitchFamily="34" charset="0"/>
                <a:ea typeface="ui-sans-serif" pitchFamily="34" charset="-122"/>
                <a:cs typeface="ui-sans-serif" pitchFamily="34" charset="-120"/>
              </a:rPr>
              <a:t>.</a:t>
            </a:r>
            <a:endParaRPr lang="en-US" sz="1500" dirty="0"/>
          </a:p>
        </p:txBody>
      </p:sp>
      <p:sp>
        <p:nvSpPr>
          <p:cNvPr id="26" name="Text 5"/>
          <p:cNvSpPr/>
          <p:nvPr/>
        </p:nvSpPr>
        <p:spPr>
          <a:xfrm>
            <a:off x="838200" y="3243263"/>
            <a:ext cx="10515600" cy="266700"/>
          </a:xfrm>
          <a:prstGeom prst="rect">
            <a:avLst/>
          </a:prstGeom>
          <a:noFill/>
          <a:ln/>
        </p:spPr>
        <p:txBody>
          <a:bodyPr vert="horz" wrap="square" lIns="0" tIns="0" rIns="0" bIns="0" rtlCol="0" anchor="t"/>
          <a:lstStyle/>
          <a:p>
            <a:pPr marL="0" indent="0">
              <a:lnSpc>
                <a:spcPts val="2100"/>
              </a:lnSpc>
              <a:buNone/>
            </a:pPr>
            <a:r>
              <a:rPr lang="en-US" sz="1350" dirty="0">
                <a:solidFill>
                  <a:srgbClr val="232F3E"/>
                </a:solidFill>
                <a:latin typeface="ui-sans-serif" pitchFamily="34" charset="0"/>
                <a:ea typeface="ui-sans-serif" pitchFamily="34" charset="-122"/>
                <a:cs typeface="ui-sans-serif" pitchFamily="34" charset="-120"/>
              </a:rPr>
              <a:t>Resource Structure in API Gateway:</a:t>
            </a:r>
            <a:endParaRPr lang="en-US" sz="1350" dirty="0"/>
          </a:p>
        </p:txBody>
      </p:sp>
      <p:sp>
        <p:nvSpPr>
          <p:cNvPr id="27" name="Text 6"/>
          <p:cNvSpPr/>
          <p:nvPr/>
        </p:nvSpPr>
        <p:spPr>
          <a:xfrm>
            <a:off x="1200150" y="3738563"/>
            <a:ext cx="289322"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API</a:t>
            </a:r>
            <a:endParaRPr lang="en-US" sz="1200" dirty="0"/>
          </a:p>
        </p:txBody>
      </p:sp>
      <p:sp>
        <p:nvSpPr>
          <p:cNvPr id="28" name="Text 7"/>
          <p:cNvSpPr/>
          <p:nvPr/>
        </p:nvSpPr>
        <p:spPr>
          <a:xfrm>
            <a:off x="2165152" y="3738563"/>
            <a:ext cx="838676"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Resource</a:t>
            </a:r>
            <a:endParaRPr lang="en-US" sz="1200" dirty="0"/>
          </a:p>
        </p:txBody>
      </p:sp>
      <p:sp>
        <p:nvSpPr>
          <p:cNvPr id="29" name="Text 8"/>
          <p:cNvSpPr/>
          <p:nvPr/>
        </p:nvSpPr>
        <p:spPr>
          <a:xfrm>
            <a:off x="3606998" y="3738563"/>
            <a:ext cx="685979"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Method</a:t>
            </a:r>
            <a:endParaRPr lang="en-US" sz="1200" dirty="0"/>
          </a:p>
        </p:txBody>
      </p:sp>
      <p:sp>
        <p:nvSpPr>
          <p:cNvPr id="30" name="Text 9"/>
          <p:cNvSpPr/>
          <p:nvPr/>
        </p:nvSpPr>
        <p:spPr>
          <a:xfrm>
            <a:off x="1676400" y="4195763"/>
            <a:ext cx="555784"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/users</a:t>
            </a:r>
            <a:endParaRPr lang="en-US" sz="1200" dirty="0"/>
          </a:p>
        </p:txBody>
      </p:sp>
      <p:sp>
        <p:nvSpPr>
          <p:cNvPr id="31" name="Text 10"/>
          <p:cNvSpPr/>
          <p:nvPr/>
        </p:nvSpPr>
        <p:spPr>
          <a:xfrm>
            <a:off x="2692003" y="4195763"/>
            <a:ext cx="644545"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/orders</a:t>
            </a:r>
            <a:endParaRPr lang="en-US" sz="1200" dirty="0"/>
          </a:p>
        </p:txBody>
      </p:sp>
      <p:sp>
        <p:nvSpPr>
          <p:cNvPr id="32" name="Text 11"/>
          <p:cNvSpPr/>
          <p:nvPr/>
        </p:nvSpPr>
        <p:spPr>
          <a:xfrm>
            <a:off x="762000" y="5186363"/>
            <a:ext cx="10668000" cy="266700"/>
          </a:xfrm>
          <a:prstGeom prst="rect">
            <a:avLst/>
          </a:prstGeom>
          <a:noFill/>
          <a:ln/>
        </p:spPr>
        <p:txBody>
          <a:bodyPr vert="horz" wrap="square" lIns="0" tIns="0" rIns="0" bIns="0" rtlCol="0" anchor="t"/>
          <a:lstStyle/>
          <a:p>
            <a:pPr marL="0" indent="0">
              <a:lnSpc>
                <a:spcPts val="2100"/>
              </a:lnSpc>
              <a:buNone/>
            </a:pPr>
            <a:r>
              <a:rPr lang="en-US" sz="1350" dirty="0">
                <a:solidFill>
                  <a:srgbClr val="232F3E"/>
                </a:solidFill>
                <a:latin typeface="ui-sans-serif" pitchFamily="34" charset="0"/>
                <a:ea typeface="ui-sans-serif" pitchFamily="34" charset="-122"/>
                <a:cs typeface="ui-sans-serif" pitchFamily="34" charset="-120"/>
              </a:rPr>
              <a:t>Key Points:</a:t>
            </a:r>
            <a:endParaRPr lang="en-US" sz="1350" dirty="0"/>
          </a:p>
        </p:txBody>
      </p:sp>
      <p:sp>
        <p:nvSpPr>
          <p:cNvPr id="33" name="Text 12"/>
          <p:cNvSpPr/>
          <p:nvPr/>
        </p:nvSpPr>
        <p:spPr>
          <a:xfrm>
            <a:off x="762000" y="5529263"/>
            <a:ext cx="128016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Resources represent specific paths or endpoints in your API</a:t>
            </a:r>
            <a:endParaRPr lang="en-US" sz="1200" dirty="0"/>
          </a:p>
        </p:txBody>
      </p:sp>
      <p:sp>
        <p:nvSpPr>
          <p:cNvPr id="34" name="Text 13"/>
          <p:cNvSpPr/>
          <p:nvPr/>
        </p:nvSpPr>
        <p:spPr>
          <a:xfrm>
            <a:off x="762000" y="5834063"/>
            <a:ext cx="106680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Methods are HTTP verbs associated with a resource</a:t>
            </a:r>
            <a:endParaRPr lang="en-US" sz="1200" dirty="0"/>
          </a:p>
        </p:txBody>
      </p:sp>
      <p:sp>
        <p:nvSpPr>
          <p:cNvPr id="35" name="Text 14"/>
          <p:cNvSpPr/>
          <p:nvPr/>
        </p:nvSpPr>
        <p:spPr>
          <a:xfrm>
            <a:off x="762000" y="6138863"/>
            <a:ext cx="106680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Stages are named references to a deployment</a:t>
            </a:r>
            <a:endParaRPr lang="en-US" sz="1200" dirty="0"/>
          </a:p>
        </p:txBody>
      </p:sp>
      <p:sp>
        <p:nvSpPr>
          <p:cNvPr id="36" name="Text 15"/>
          <p:cNvSpPr/>
          <p:nvPr/>
        </p:nvSpPr>
        <p:spPr>
          <a:xfrm>
            <a:off x="762000" y="6443663"/>
            <a:ext cx="106680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Deployments are snapshots of your API configuration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2049</Words>
  <Application>Microsoft Office PowerPoint</Application>
  <PresentationFormat>Widescreen</PresentationFormat>
  <Paragraphs>343</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ui-monospace</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Ritesh Behal</cp:lastModifiedBy>
  <cp:revision>66</cp:revision>
  <dcterms:created xsi:type="dcterms:W3CDTF">2025-10-28T02:26:16Z</dcterms:created>
  <dcterms:modified xsi:type="dcterms:W3CDTF">2025-11-10T11:29:11Z</dcterms:modified>
</cp:coreProperties>
</file>